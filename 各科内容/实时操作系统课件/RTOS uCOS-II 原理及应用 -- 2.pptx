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3"/>
  </p:notesMasterIdLst>
  <p:sldIdLst>
    <p:sldId id="257" r:id="rId2"/>
    <p:sldId id="256" r:id="rId3"/>
    <p:sldId id="259" r:id="rId4"/>
    <p:sldId id="366" r:id="rId5"/>
    <p:sldId id="260" r:id="rId6"/>
    <p:sldId id="268" r:id="rId7"/>
    <p:sldId id="269" r:id="rId8"/>
    <p:sldId id="270" r:id="rId9"/>
    <p:sldId id="271" r:id="rId10"/>
    <p:sldId id="272" r:id="rId11"/>
    <p:sldId id="273" r:id="rId12"/>
    <p:sldId id="274" r:id="rId13"/>
    <p:sldId id="367" r:id="rId14"/>
    <p:sldId id="275" r:id="rId15"/>
    <p:sldId id="276" r:id="rId16"/>
    <p:sldId id="261" r:id="rId17"/>
    <p:sldId id="277" r:id="rId18"/>
    <p:sldId id="278" r:id="rId19"/>
    <p:sldId id="279" r:id="rId20"/>
    <p:sldId id="262" r:id="rId21"/>
    <p:sldId id="280" r:id="rId22"/>
    <p:sldId id="281" r:id="rId23"/>
    <p:sldId id="282" r:id="rId24"/>
    <p:sldId id="284" r:id="rId25"/>
    <p:sldId id="283" r:id="rId26"/>
    <p:sldId id="286" r:id="rId27"/>
    <p:sldId id="287" r:id="rId28"/>
    <p:sldId id="263" r:id="rId29"/>
    <p:sldId id="303" r:id="rId30"/>
    <p:sldId id="304" r:id="rId31"/>
    <p:sldId id="305" r:id="rId32"/>
    <p:sldId id="306" r:id="rId33"/>
    <p:sldId id="307" r:id="rId34"/>
    <p:sldId id="308" r:id="rId35"/>
    <p:sldId id="309" r:id="rId36"/>
    <p:sldId id="310" r:id="rId37"/>
    <p:sldId id="311" r:id="rId38"/>
    <p:sldId id="288" r:id="rId39"/>
    <p:sldId id="290" r:id="rId40"/>
    <p:sldId id="289" r:id="rId41"/>
    <p:sldId id="291" r:id="rId42"/>
    <p:sldId id="292" r:id="rId43"/>
    <p:sldId id="293" r:id="rId44"/>
    <p:sldId id="294" r:id="rId45"/>
    <p:sldId id="298" r:id="rId46"/>
    <p:sldId id="300" r:id="rId47"/>
    <p:sldId id="299" r:id="rId48"/>
    <p:sldId id="301" r:id="rId49"/>
    <p:sldId id="295" r:id="rId50"/>
    <p:sldId id="369" r:id="rId51"/>
    <p:sldId id="371" r:id="rId52"/>
    <p:sldId id="374" r:id="rId53"/>
    <p:sldId id="302" r:id="rId54"/>
    <p:sldId id="312" r:id="rId55"/>
    <p:sldId id="313" r:id="rId56"/>
    <p:sldId id="373" r:id="rId57"/>
    <p:sldId id="314" r:id="rId58"/>
    <p:sldId id="296" r:id="rId59"/>
    <p:sldId id="315" r:id="rId60"/>
    <p:sldId id="264" r:id="rId61"/>
    <p:sldId id="316" r:id="rId62"/>
    <p:sldId id="317" r:id="rId63"/>
    <p:sldId id="318" r:id="rId64"/>
    <p:sldId id="375" r:id="rId65"/>
    <p:sldId id="376" r:id="rId66"/>
    <p:sldId id="265" r:id="rId67"/>
    <p:sldId id="320" r:id="rId68"/>
    <p:sldId id="319" r:id="rId69"/>
    <p:sldId id="321" r:id="rId70"/>
    <p:sldId id="266" r:id="rId71"/>
    <p:sldId id="323" r:id="rId72"/>
    <p:sldId id="378" r:id="rId73"/>
    <p:sldId id="324" r:id="rId74"/>
    <p:sldId id="325" r:id="rId75"/>
    <p:sldId id="326" r:id="rId76"/>
    <p:sldId id="327" r:id="rId77"/>
    <p:sldId id="328" r:id="rId78"/>
    <p:sldId id="380" r:id="rId79"/>
    <p:sldId id="267" r:id="rId80"/>
    <p:sldId id="329" r:id="rId81"/>
    <p:sldId id="330" r:id="rId82"/>
    <p:sldId id="331" r:id="rId83"/>
    <p:sldId id="381" r:id="rId84"/>
    <p:sldId id="333" r:id="rId85"/>
    <p:sldId id="343" r:id="rId86"/>
    <p:sldId id="342" r:id="rId87"/>
    <p:sldId id="344" r:id="rId88"/>
    <p:sldId id="335" r:id="rId89"/>
    <p:sldId id="345" r:id="rId90"/>
    <p:sldId id="336" r:id="rId91"/>
    <p:sldId id="346" r:id="rId92"/>
    <p:sldId id="347" r:id="rId93"/>
    <p:sldId id="348" r:id="rId94"/>
    <p:sldId id="337" r:id="rId95"/>
    <p:sldId id="354" r:id="rId96"/>
    <p:sldId id="353" r:id="rId97"/>
    <p:sldId id="355" r:id="rId98"/>
    <p:sldId id="356" r:id="rId99"/>
    <p:sldId id="382" r:id="rId100"/>
    <p:sldId id="349" r:id="rId101"/>
    <p:sldId id="357" r:id="rId102"/>
    <p:sldId id="358" r:id="rId103"/>
    <p:sldId id="359" r:id="rId104"/>
    <p:sldId id="360" r:id="rId105"/>
    <p:sldId id="362" r:id="rId106"/>
    <p:sldId id="361" r:id="rId107"/>
    <p:sldId id="350" r:id="rId108"/>
    <p:sldId id="363" r:id="rId109"/>
    <p:sldId id="351" r:id="rId110"/>
    <p:sldId id="364" r:id="rId111"/>
    <p:sldId id="383" r:id="rId112"/>
    <p:sldId id="352" r:id="rId113"/>
    <p:sldId id="365" r:id="rId114"/>
    <p:sldId id="386" r:id="rId115"/>
    <p:sldId id="388" r:id="rId116"/>
    <p:sldId id="387" r:id="rId117"/>
    <p:sldId id="389" r:id="rId118"/>
    <p:sldId id="384" r:id="rId119"/>
    <p:sldId id="385" r:id="rId120"/>
    <p:sldId id="390" r:id="rId121"/>
    <p:sldId id="391" r:id="rId122"/>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66C04"/>
    <a:srgbClr val="3366FF"/>
    <a:srgbClr val="0000FF"/>
    <a:srgbClr val="0066FF"/>
    <a:srgbClr val="CC0000"/>
    <a:srgbClr val="FF0000"/>
    <a:srgbClr val="DB60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12" autoAdjust="0"/>
    <p:restoredTop sz="94665" autoAdjust="0"/>
  </p:normalViewPr>
  <p:slideViewPr>
    <p:cSldViewPr>
      <p:cViewPr varScale="1">
        <p:scale>
          <a:sx n="80" d="100"/>
          <a:sy n="80" d="100"/>
        </p:scale>
        <p:origin x="158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21E5D39-3A83-537C-2538-CB2FD41798D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5123" name="Rectangle 3">
            <a:extLst>
              <a:ext uri="{FF2B5EF4-FFF2-40B4-BE49-F238E27FC236}">
                <a16:creationId xmlns:a16="http://schemas.microsoft.com/office/drawing/2014/main" id="{4167EC62-59E5-9DCA-5BB1-03362C90952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3076" name="Rectangle 4">
            <a:extLst>
              <a:ext uri="{FF2B5EF4-FFF2-40B4-BE49-F238E27FC236}">
                <a16:creationId xmlns:a16="http://schemas.microsoft.com/office/drawing/2014/main" id="{EA5853BA-F631-08A6-A988-2BC8D3A4ED6F}"/>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4C82FCC8-6FB8-5B59-AE50-C257D868705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E5121644-3071-4D1A-9222-D465F852774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5127" name="Rectangle 7">
            <a:extLst>
              <a:ext uri="{FF2B5EF4-FFF2-40B4-BE49-F238E27FC236}">
                <a16:creationId xmlns:a16="http://schemas.microsoft.com/office/drawing/2014/main" id="{147F2C1F-B12D-8AE5-5B9B-986060D2A7E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22BF5EAE-B013-4F48-9D15-34B96AD58EB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7BCCD96-A577-6E10-5ADE-F209BA21B37E}"/>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1937CF07-0EC9-DDBA-321A-C3F962A66327}"/>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b="0">
                <a:latin typeface="Times New Roman" panose="02020603050405020304" pitchFamily="18" charset="0"/>
              </a:endParaRPr>
            </a:p>
          </p:txBody>
        </p:sp>
        <p:sp>
          <p:nvSpPr>
            <p:cNvPr id="4" name="Rectangle 4">
              <a:extLst>
                <a:ext uri="{FF2B5EF4-FFF2-40B4-BE49-F238E27FC236}">
                  <a16:creationId xmlns:a16="http://schemas.microsoft.com/office/drawing/2014/main" id="{DD1492A5-5829-7716-00B8-B47C588B769A}"/>
                </a:ext>
              </a:extLst>
            </p:cNvPr>
            <p:cNvSpPr>
              <a:spLocks noChangeArrowheads="1"/>
            </p:cNvSpPr>
            <p:nvPr/>
          </p:nvSpPr>
          <p:spPr bwMode="hidden">
            <a:xfrm>
              <a:off x="1081" y="1065"/>
              <a:ext cx="4679" cy="1596"/>
            </a:xfrm>
            <a:prstGeom prst="rect">
              <a:avLst/>
            </a:prstGeom>
            <a:solidFill>
              <a:schemeClr val="bg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grpSp>
          <p:nvGrpSpPr>
            <p:cNvPr id="5" name="Group 5">
              <a:extLst>
                <a:ext uri="{FF2B5EF4-FFF2-40B4-BE49-F238E27FC236}">
                  <a16:creationId xmlns:a16="http://schemas.microsoft.com/office/drawing/2014/main" id="{B4EB9ED5-8D2F-C08F-4CCB-F28FDB7D6406}"/>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853FD123-D55B-3247-E9AA-174113348626}"/>
                  </a:ext>
                </a:extLst>
              </p:cNvPr>
              <p:cNvSpPr>
                <a:spLocks noChangeArrowheads="1"/>
              </p:cNvSpPr>
              <p:nvPr userDrawn="1"/>
            </p:nvSpPr>
            <p:spPr bwMode="auto">
              <a:xfrm>
                <a:off x="361" y="2257"/>
                <a:ext cx="363" cy="404"/>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7" name="Rectangle 7">
                <a:extLst>
                  <a:ext uri="{FF2B5EF4-FFF2-40B4-BE49-F238E27FC236}">
                    <a16:creationId xmlns:a16="http://schemas.microsoft.com/office/drawing/2014/main" id="{39A6DDB9-9EA3-2366-5028-F61E8131F8EC}"/>
                  </a:ext>
                </a:extLst>
              </p:cNvPr>
              <p:cNvSpPr>
                <a:spLocks noChangeArrowheads="1"/>
              </p:cNvSpPr>
              <p:nvPr userDrawn="1"/>
            </p:nvSpPr>
            <p:spPr bwMode="auto">
              <a:xfrm>
                <a:off x="1081" y="1065"/>
                <a:ext cx="362" cy="405"/>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8" name="Rectangle 8">
                <a:extLst>
                  <a:ext uri="{FF2B5EF4-FFF2-40B4-BE49-F238E27FC236}">
                    <a16:creationId xmlns:a16="http://schemas.microsoft.com/office/drawing/2014/main" id="{913DE501-5898-B5F7-EBA9-92F597ED44C0}"/>
                  </a:ext>
                </a:extLst>
              </p:cNvPr>
              <p:cNvSpPr>
                <a:spLocks noChangeArrowheads="1"/>
              </p:cNvSpPr>
              <p:nvPr userDrawn="1"/>
            </p:nvSpPr>
            <p:spPr bwMode="auto">
              <a:xfrm>
                <a:off x="1437" y="672"/>
                <a:ext cx="369" cy="400"/>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9" name="Rectangle 9">
                <a:extLst>
                  <a:ext uri="{FF2B5EF4-FFF2-40B4-BE49-F238E27FC236}">
                    <a16:creationId xmlns:a16="http://schemas.microsoft.com/office/drawing/2014/main" id="{7D2FE372-C709-0FA3-DE8B-A5D693FDF7E6}"/>
                  </a:ext>
                </a:extLst>
              </p:cNvPr>
              <p:cNvSpPr>
                <a:spLocks noChangeArrowheads="1"/>
              </p:cNvSpPr>
              <p:nvPr userDrawn="1"/>
            </p:nvSpPr>
            <p:spPr bwMode="auto">
              <a:xfrm>
                <a:off x="719" y="2257"/>
                <a:ext cx="368" cy="404"/>
              </a:xfrm>
              <a:prstGeom prst="rect">
                <a:avLst/>
              </a:prstGeom>
              <a:solidFill>
                <a:schemeClr val="bg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0" name="Rectangle 10">
                <a:extLst>
                  <a:ext uri="{FF2B5EF4-FFF2-40B4-BE49-F238E27FC236}">
                    <a16:creationId xmlns:a16="http://schemas.microsoft.com/office/drawing/2014/main" id="{61E889C5-C19A-F700-2856-35D982D56277}"/>
                  </a:ext>
                </a:extLst>
              </p:cNvPr>
              <p:cNvSpPr>
                <a:spLocks noChangeArrowheads="1"/>
              </p:cNvSpPr>
              <p:nvPr userDrawn="1"/>
            </p:nvSpPr>
            <p:spPr bwMode="auto">
              <a:xfrm>
                <a:off x="1437" y="1065"/>
                <a:ext cx="369" cy="405"/>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1" name="Rectangle 11">
                <a:extLst>
                  <a:ext uri="{FF2B5EF4-FFF2-40B4-BE49-F238E27FC236}">
                    <a16:creationId xmlns:a16="http://schemas.microsoft.com/office/drawing/2014/main" id="{B4891312-7CFB-2D90-79F5-BA9ECB901E8D}"/>
                  </a:ext>
                </a:extLst>
              </p:cNvPr>
              <p:cNvSpPr>
                <a:spLocks noChangeArrowheads="1"/>
              </p:cNvSpPr>
              <p:nvPr userDrawn="1"/>
            </p:nvSpPr>
            <p:spPr bwMode="auto">
              <a:xfrm>
                <a:off x="719" y="1464"/>
                <a:ext cx="368" cy="399"/>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2" name="Rectangle 12">
                <a:extLst>
                  <a:ext uri="{FF2B5EF4-FFF2-40B4-BE49-F238E27FC236}">
                    <a16:creationId xmlns:a16="http://schemas.microsoft.com/office/drawing/2014/main" id="{F963511C-735A-D417-F1F4-38A6437BEBDA}"/>
                  </a:ext>
                </a:extLst>
              </p:cNvPr>
              <p:cNvSpPr>
                <a:spLocks noChangeArrowheads="1"/>
              </p:cNvSpPr>
              <p:nvPr userDrawn="1"/>
            </p:nvSpPr>
            <p:spPr bwMode="auto">
              <a:xfrm>
                <a:off x="0" y="1464"/>
                <a:ext cx="367" cy="399"/>
              </a:xfrm>
              <a:prstGeom prst="rect">
                <a:avLst/>
              </a:prstGeom>
              <a:solidFill>
                <a:schemeClr val="bg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3" name="Rectangle 13">
                <a:extLst>
                  <a:ext uri="{FF2B5EF4-FFF2-40B4-BE49-F238E27FC236}">
                    <a16:creationId xmlns:a16="http://schemas.microsoft.com/office/drawing/2014/main" id="{D2A7AD56-9E19-5D50-0BB7-F3B5D3D26FBE}"/>
                  </a:ext>
                </a:extLst>
              </p:cNvPr>
              <p:cNvSpPr>
                <a:spLocks noChangeArrowheads="1"/>
              </p:cNvSpPr>
              <p:nvPr userDrawn="1"/>
            </p:nvSpPr>
            <p:spPr bwMode="auto">
              <a:xfrm>
                <a:off x="1081" y="1464"/>
                <a:ext cx="362" cy="399"/>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4" name="Rectangle 14">
                <a:extLst>
                  <a:ext uri="{FF2B5EF4-FFF2-40B4-BE49-F238E27FC236}">
                    <a16:creationId xmlns:a16="http://schemas.microsoft.com/office/drawing/2014/main" id="{C15A289A-C224-4EB2-01B5-8A0377217CFE}"/>
                  </a:ext>
                </a:extLst>
              </p:cNvPr>
              <p:cNvSpPr>
                <a:spLocks noChangeArrowheads="1"/>
              </p:cNvSpPr>
              <p:nvPr userDrawn="1"/>
            </p:nvSpPr>
            <p:spPr bwMode="auto">
              <a:xfrm>
                <a:off x="361" y="1857"/>
                <a:ext cx="363" cy="406"/>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5" name="Rectangle 15">
                <a:extLst>
                  <a:ext uri="{FF2B5EF4-FFF2-40B4-BE49-F238E27FC236}">
                    <a16:creationId xmlns:a16="http://schemas.microsoft.com/office/drawing/2014/main" id="{2A5E028E-D4D7-9FC9-DFE7-F99A8A34F342}"/>
                  </a:ext>
                </a:extLst>
              </p:cNvPr>
              <p:cNvSpPr>
                <a:spLocks noChangeArrowheads="1"/>
              </p:cNvSpPr>
              <p:nvPr userDrawn="1"/>
            </p:nvSpPr>
            <p:spPr bwMode="auto">
              <a:xfrm>
                <a:off x="719" y="1857"/>
                <a:ext cx="368" cy="406"/>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grpSp>
      </p:grpSp>
      <p:sp>
        <p:nvSpPr>
          <p:cNvPr id="16" name="Text Box 20">
            <a:extLst>
              <a:ext uri="{FF2B5EF4-FFF2-40B4-BE49-F238E27FC236}">
                <a16:creationId xmlns:a16="http://schemas.microsoft.com/office/drawing/2014/main" id="{B0E090B4-B8FC-67F6-19AE-6C627B3097B5}"/>
              </a:ext>
            </a:extLst>
          </p:cNvPr>
          <p:cNvSpPr txBox="1">
            <a:spLocks noChangeArrowheads="1"/>
          </p:cNvSpPr>
          <p:nvPr userDrawn="1"/>
        </p:nvSpPr>
        <p:spPr bwMode="auto">
          <a:xfrm>
            <a:off x="8134350" y="6491288"/>
            <a:ext cx="649288" cy="366712"/>
          </a:xfrm>
          <a:prstGeom prst="rect">
            <a:avLst/>
          </a:prstGeom>
          <a:noFill/>
          <a:ln>
            <a:noFill/>
          </a:ln>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defRPr/>
            </a:pPr>
            <a:r>
              <a:rPr kumimoji="1" lang="en-US" altLang="zh-CN" b="0">
                <a:solidFill>
                  <a:srgbClr val="3366FF"/>
                </a:solidFill>
                <a:latin typeface="Times New Roman" panose="02020603050405020304" pitchFamily="18" charset="0"/>
                <a:ea typeface="华文新魏" panose="02010800040101010101" pitchFamily="2" charset="-122"/>
              </a:rPr>
              <a:t>page</a:t>
            </a:r>
          </a:p>
        </p:txBody>
      </p:sp>
      <p:sp>
        <p:nvSpPr>
          <p:cNvPr id="41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17" name="Rectangle 16">
            <a:extLst>
              <a:ext uri="{FF2B5EF4-FFF2-40B4-BE49-F238E27FC236}">
                <a16:creationId xmlns:a16="http://schemas.microsoft.com/office/drawing/2014/main" id="{8C2D0EBC-6AD7-F6AD-E065-EEE4F4D942D7}"/>
              </a:ext>
            </a:extLst>
          </p:cNvPr>
          <p:cNvSpPr>
            <a:spLocks noGrp="1" noChangeArrowheads="1"/>
          </p:cNvSpPr>
          <p:nvPr>
            <p:ph type="dt" sz="half" idx="10"/>
          </p:nvPr>
        </p:nvSpPr>
        <p:spPr>
          <a:xfrm>
            <a:off x="61913" y="6489700"/>
            <a:ext cx="2133600" cy="323850"/>
          </a:xfrm>
        </p:spPr>
        <p:txBody>
          <a:bodyPr/>
          <a:lstStyle>
            <a:lvl1pPr>
              <a:defRPr/>
            </a:lvl1pPr>
          </a:lstStyle>
          <a:p>
            <a:pPr>
              <a:defRPr/>
            </a:pPr>
            <a:fld id="{8FEE3E2C-5F33-41BB-9A77-9AFC3602638C}" type="datetime1">
              <a:rPr lang="zh-CN" altLang="en-US"/>
              <a:pPr>
                <a:defRPr/>
              </a:pPr>
              <a:t>2025/4/2</a:t>
            </a:fld>
            <a:endParaRPr lang="en-US" altLang="zh-CN"/>
          </a:p>
        </p:txBody>
      </p:sp>
      <p:sp>
        <p:nvSpPr>
          <p:cNvPr id="18" name="Rectangle 17">
            <a:extLst>
              <a:ext uri="{FF2B5EF4-FFF2-40B4-BE49-F238E27FC236}">
                <a16:creationId xmlns:a16="http://schemas.microsoft.com/office/drawing/2014/main" id="{41798E8B-D000-164D-4984-D124107039F1}"/>
              </a:ext>
            </a:extLst>
          </p:cNvPr>
          <p:cNvSpPr>
            <a:spLocks noGrp="1" noChangeArrowheads="1"/>
          </p:cNvSpPr>
          <p:nvPr>
            <p:ph type="ftr" sz="quarter" idx="11"/>
          </p:nvPr>
        </p:nvSpPr>
        <p:spPr>
          <a:xfrm>
            <a:off x="3189288" y="6453188"/>
            <a:ext cx="2895600" cy="431800"/>
          </a:xfrm>
        </p:spPr>
        <p:txBody>
          <a:bodyPr/>
          <a:lstStyle>
            <a:lvl1pPr>
              <a:defRPr/>
            </a:lvl1pPr>
          </a:lstStyle>
          <a:p>
            <a:pPr>
              <a:defRPr/>
            </a:pPr>
            <a:r>
              <a:rPr lang="zh-CN" altLang="en-US"/>
              <a:t>山东科技大学 电信学院</a:t>
            </a:r>
            <a:endParaRPr lang="en-US" altLang="zh-CN"/>
          </a:p>
        </p:txBody>
      </p:sp>
      <p:sp>
        <p:nvSpPr>
          <p:cNvPr id="19" name="Rectangle 18">
            <a:extLst>
              <a:ext uri="{FF2B5EF4-FFF2-40B4-BE49-F238E27FC236}">
                <a16:creationId xmlns:a16="http://schemas.microsoft.com/office/drawing/2014/main" id="{C234BA87-51CB-AAFF-6EF2-E4238E4825EB}"/>
              </a:ext>
            </a:extLst>
          </p:cNvPr>
          <p:cNvSpPr>
            <a:spLocks noGrp="1" noChangeArrowheads="1"/>
          </p:cNvSpPr>
          <p:nvPr>
            <p:ph type="sldNum" sz="quarter" idx="12"/>
          </p:nvPr>
        </p:nvSpPr>
        <p:spPr>
          <a:xfrm>
            <a:off x="8594725" y="6597650"/>
            <a:ext cx="514350" cy="252413"/>
          </a:xfrm>
        </p:spPr>
        <p:txBody>
          <a:bodyPr/>
          <a:lstStyle>
            <a:lvl1pPr>
              <a:defRPr/>
            </a:lvl1pPr>
          </a:lstStyle>
          <a:p>
            <a:pPr>
              <a:defRPr/>
            </a:pPr>
            <a:fld id="{0BBDA252-2ED7-4C05-B913-822BF15D6B7A}" type="slidenum">
              <a:rPr lang="en-US" altLang="zh-CN"/>
              <a:pPr>
                <a:defRPr/>
              </a:pPr>
              <a:t>‹#›</a:t>
            </a:fld>
            <a:endParaRPr lang="en-US" altLang="zh-CN"/>
          </a:p>
        </p:txBody>
      </p:sp>
    </p:spTree>
    <p:extLst>
      <p:ext uri="{BB962C8B-B14F-4D97-AF65-F5344CB8AC3E}">
        <p14:creationId xmlns:p14="http://schemas.microsoft.com/office/powerpoint/2010/main" val="72973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1294705C-45B0-7C1F-75C8-41737C85D632}"/>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5" name="Rectangle 3">
            <a:extLst>
              <a:ext uri="{FF2B5EF4-FFF2-40B4-BE49-F238E27FC236}">
                <a16:creationId xmlns:a16="http://schemas.microsoft.com/office/drawing/2014/main" id="{6544E617-4DBE-E574-8726-183A381D01C0}"/>
              </a:ext>
            </a:extLst>
          </p:cNvPr>
          <p:cNvSpPr>
            <a:spLocks noGrp="1" noChangeArrowheads="1"/>
          </p:cNvSpPr>
          <p:nvPr>
            <p:ph type="sldNum" sz="quarter" idx="11"/>
          </p:nvPr>
        </p:nvSpPr>
        <p:spPr>
          <a:ln/>
        </p:spPr>
        <p:txBody>
          <a:bodyPr/>
          <a:lstStyle>
            <a:lvl1pPr>
              <a:defRPr/>
            </a:lvl1pPr>
          </a:lstStyle>
          <a:p>
            <a:pPr>
              <a:defRPr/>
            </a:pPr>
            <a:fld id="{A48C3AF3-5A4F-4ECC-97EF-8C14A49A8B80}" type="slidenum">
              <a:rPr lang="en-US" altLang="zh-CN"/>
              <a:pPr>
                <a:defRPr/>
              </a:pPr>
              <a:t>‹#›</a:t>
            </a:fld>
            <a:endParaRPr lang="en-US" altLang="zh-CN"/>
          </a:p>
        </p:txBody>
      </p:sp>
      <p:sp>
        <p:nvSpPr>
          <p:cNvPr id="6" name="Rectangle 16">
            <a:extLst>
              <a:ext uri="{FF2B5EF4-FFF2-40B4-BE49-F238E27FC236}">
                <a16:creationId xmlns:a16="http://schemas.microsoft.com/office/drawing/2014/main" id="{174A285C-07E2-2415-277A-A75E96A3BCEB}"/>
              </a:ext>
            </a:extLst>
          </p:cNvPr>
          <p:cNvSpPr>
            <a:spLocks noGrp="1" noChangeArrowheads="1"/>
          </p:cNvSpPr>
          <p:nvPr>
            <p:ph type="dt" sz="half" idx="12"/>
          </p:nvPr>
        </p:nvSpPr>
        <p:spPr>
          <a:ln/>
        </p:spPr>
        <p:txBody>
          <a:bodyPr/>
          <a:lstStyle>
            <a:lvl1pPr>
              <a:defRPr/>
            </a:lvl1pPr>
          </a:lstStyle>
          <a:p>
            <a:pPr>
              <a:defRPr/>
            </a:pPr>
            <a:fld id="{E4FB37B9-6D4E-4EB9-B7D1-8F832F85E099}" type="datetime1">
              <a:rPr lang="zh-CN" altLang="en-US"/>
              <a:pPr>
                <a:defRPr/>
              </a:pPr>
              <a:t>2025/4/2</a:t>
            </a:fld>
            <a:endParaRPr lang="en-US" altLang="zh-CN"/>
          </a:p>
        </p:txBody>
      </p:sp>
    </p:spTree>
    <p:extLst>
      <p:ext uri="{BB962C8B-B14F-4D97-AF65-F5344CB8AC3E}">
        <p14:creationId xmlns:p14="http://schemas.microsoft.com/office/powerpoint/2010/main" val="4226930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16:creationId xmlns:a16="http://schemas.microsoft.com/office/drawing/2014/main" id="{5D500DBA-7E06-D8B9-EB1A-95B14DA4507A}"/>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5" name="Rectangle 3">
            <a:extLst>
              <a:ext uri="{FF2B5EF4-FFF2-40B4-BE49-F238E27FC236}">
                <a16:creationId xmlns:a16="http://schemas.microsoft.com/office/drawing/2014/main" id="{614B77BF-C093-2C3C-93E6-7D803E03E7BE}"/>
              </a:ext>
            </a:extLst>
          </p:cNvPr>
          <p:cNvSpPr>
            <a:spLocks noGrp="1" noChangeArrowheads="1"/>
          </p:cNvSpPr>
          <p:nvPr>
            <p:ph type="sldNum" sz="quarter" idx="11"/>
          </p:nvPr>
        </p:nvSpPr>
        <p:spPr>
          <a:ln/>
        </p:spPr>
        <p:txBody>
          <a:bodyPr/>
          <a:lstStyle>
            <a:lvl1pPr>
              <a:defRPr/>
            </a:lvl1pPr>
          </a:lstStyle>
          <a:p>
            <a:pPr>
              <a:defRPr/>
            </a:pPr>
            <a:fld id="{F79DFE1D-D4D2-4869-9BAB-7A5775ED733C}" type="slidenum">
              <a:rPr lang="en-US" altLang="zh-CN"/>
              <a:pPr>
                <a:defRPr/>
              </a:pPr>
              <a:t>‹#›</a:t>
            </a:fld>
            <a:endParaRPr lang="en-US" altLang="zh-CN"/>
          </a:p>
        </p:txBody>
      </p:sp>
      <p:sp>
        <p:nvSpPr>
          <p:cNvPr id="6" name="Rectangle 16">
            <a:extLst>
              <a:ext uri="{FF2B5EF4-FFF2-40B4-BE49-F238E27FC236}">
                <a16:creationId xmlns:a16="http://schemas.microsoft.com/office/drawing/2014/main" id="{CEB8C1CD-B775-B499-8BB2-087B891A7355}"/>
              </a:ext>
            </a:extLst>
          </p:cNvPr>
          <p:cNvSpPr>
            <a:spLocks noGrp="1" noChangeArrowheads="1"/>
          </p:cNvSpPr>
          <p:nvPr>
            <p:ph type="dt" sz="half" idx="12"/>
          </p:nvPr>
        </p:nvSpPr>
        <p:spPr>
          <a:ln/>
        </p:spPr>
        <p:txBody>
          <a:bodyPr/>
          <a:lstStyle>
            <a:lvl1pPr>
              <a:defRPr/>
            </a:lvl1pPr>
          </a:lstStyle>
          <a:p>
            <a:pPr>
              <a:defRPr/>
            </a:pPr>
            <a:fld id="{9607E3B7-90BB-496E-A899-BB41A51470E8}" type="datetime1">
              <a:rPr lang="zh-CN" altLang="en-US"/>
              <a:pPr>
                <a:defRPr/>
              </a:pPr>
              <a:t>2025/4/2</a:t>
            </a:fld>
            <a:endParaRPr lang="en-US" altLang="zh-CN"/>
          </a:p>
        </p:txBody>
      </p:sp>
    </p:spTree>
    <p:extLst>
      <p:ext uri="{BB962C8B-B14F-4D97-AF65-F5344CB8AC3E}">
        <p14:creationId xmlns:p14="http://schemas.microsoft.com/office/powerpoint/2010/main" val="3945018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412875"/>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12875"/>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3306BE1C-0710-EBB2-CCF4-532F9C273C7C}"/>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6" name="Rectangle 3">
            <a:extLst>
              <a:ext uri="{FF2B5EF4-FFF2-40B4-BE49-F238E27FC236}">
                <a16:creationId xmlns:a16="http://schemas.microsoft.com/office/drawing/2014/main" id="{B99FF9D8-4CA3-2962-F5C3-E97168283BD6}"/>
              </a:ext>
            </a:extLst>
          </p:cNvPr>
          <p:cNvSpPr>
            <a:spLocks noGrp="1" noChangeArrowheads="1"/>
          </p:cNvSpPr>
          <p:nvPr>
            <p:ph type="sldNum" sz="quarter" idx="11"/>
          </p:nvPr>
        </p:nvSpPr>
        <p:spPr>
          <a:ln/>
        </p:spPr>
        <p:txBody>
          <a:bodyPr/>
          <a:lstStyle>
            <a:lvl1pPr>
              <a:defRPr/>
            </a:lvl1pPr>
          </a:lstStyle>
          <a:p>
            <a:pPr>
              <a:defRPr/>
            </a:pPr>
            <a:fld id="{57E1BACD-AE91-41C0-B3B9-33B0E2DCA8EA}" type="slidenum">
              <a:rPr lang="en-US" altLang="zh-CN"/>
              <a:pPr>
                <a:defRPr/>
              </a:pPr>
              <a:t>‹#›</a:t>
            </a:fld>
            <a:endParaRPr lang="en-US" altLang="zh-CN"/>
          </a:p>
        </p:txBody>
      </p:sp>
      <p:sp>
        <p:nvSpPr>
          <p:cNvPr id="7" name="Rectangle 16">
            <a:extLst>
              <a:ext uri="{FF2B5EF4-FFF2-40B4-BE49-F238E27FC236}">
                <a16:creationId xmlns:a16="http://schemas.microsoft.com/office/drawing/2014/main" id="{6F5780B9-4BF5-527A-EFBA-769B3E8C1E26}"/>
              </a:ext>
            </a:extLst>
          </p:cNvPr>
          <p:cNvSpPr>
            <a:spLocks noGrp="1" noChangeArrowheads="1"/>
          </p:cNvSpPr>
          <p:nvPr>
            <p:ph type="dt" sz="half" idx="12"/>
          </p:nvPr>
        </p:nvSpPr>
        <p:spPr>
          <a:ln/>
        </p:spPr>
        <p:txBody>
          <a:bodyPr/>
          <a:lstStyle>
            <a:lvl1pPr>
              <a:defRPr/>
            </a:lvl1pPr>
          </a:lstStyle>
          <a:p>
            <a:pPr>
              <a:defRPr/>
            </a:pPr>
            <a:fld id="{6DC2AA5B-DCB1-413C-8002-2C5E03CCFBFE}" type="datetime1">
              <a:rPr lang="zh-CN" altLang="en-US"/>
              <a:pPr>
                <a:defRPr/>
              </a:pPr>
              <a:t>2025/4/2</a:t>
            </a:fld>
            <a:endParaRPr lang="en-US" altLang="zh-CN"/>
          </a:p>
        </p:txBody>
      </p:sp>
    </p:spTree>
    <p:extLst>
      <p:ext uri="{BB962C8B-B14F-4D97-AF65-F5344CB8AC3E}">
        <p14:creationId xmlns:p14="http://schemas.microsoft.com/office/powerpoint/2010/main" val="569136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16:creationId xmlns:a16="http://schemas.microsoft.com/office/drawing/2014/main" id="{869B7402-4998-8637-6B9A-5ECA76CC4A56}"/>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8" name="Rectangle 3">
            <a:extLst>
              <a:ext uri="{FF2B5EF4-FFF2-40B4-BE49-F238E27FC236}">
                <a16:creationId xmlns:a16="http://schemas.microsoft.com/office/drawing/2014/main" id="{F28C6D9D-1050-74AE-2D12-B7D45CFD6E4D}"/>
              </a:ext>
            </a:extLst>
          </p:cNvPr>
          <p:cNvSpPr>
            <a:spLocks noGrp="1" noChangeArrowheads="1"/>
          </p:cNvSpPr>
          <p:nvPr>
            <p:ph type="sldNum" sz="quarter" idx="11"/>
          </p:nvPr>
        </p:nvSpPr>
        <p:spPr>
          <a:ln/>
        </p:spPr>
        <p:txBody>
          <a:bodyPr/>
          <a:lstStyle>
            <a:lvl1pPr>
              <a:defRPr/>
            </a:lvl1pPr>
          </a:lstStyle>
          <a:p>
            <a:pPr>
              <a:defRPr/>
            </a:pPr>
            <a:fld id="{1455B97E-6B6A-4729-8CBC-7AC61406B851}" type="slidenum">
              <a:rPr lang="en-US" altLang="zh-CN"/>
              <a:pPr>
                <a:defRPr/>
              </a:pPr>
              <a:t>‹#›</a:t>
            </a:fld>
            <a:endParaRPr lang="en-US" altLang="zh-CN"/>
          </a:p>
        </p:txBody>
      </p:sp>
      <p:sp>
        <p:nvSpPr>
          <p:cNvPr id="9" name="Rectangle 16">
            <a:extLst>
              <a:ext uri="{FF2B5EF4-FFF2-40B4-BE49-F238E27FC236}">
                <a16:creationId xmlns:a16="http://schemas.microsoft.com/office/drawing/2014/main" id="{1F1A7395-D1FC-61C3-6D65-E45E2A5E9152}"/>
              </a:ext>
            </a:extLst>
          </p:cNvPr>
          <p:cNvSpPr>
            <a:spLocks noGrp="1" noChangeArrowheads="1"/>
          </p:cNvSpPr>
          <p:nvPr>
            <p:ph type="dt" sz="half" idx="12"/>
          </p:nvPr>
        </p:nvSpPr>
        <p:spPr>
          <a:ln/>
        </p:spPr>
        <p:txBody>
          <a:bodyPr/>
          <a:lstStyle>
            <a:lvl1pPr>
              <a:defRPr/>
            </a:lvl1pPr>
          </a:lstStyle>
          <a:p>
            <a:pPr>
              <a:defRPr/>
            </a:pPr>
            <a:fld id="{B69DAFD3-1536-4BBA-BD81-7544AF54A8AD}" type="datetime1">
              <a:rPr lang="zh-CN" altLang="en-US"/>
              <a:pPr>
                <a:defRPr/>
              </a:pPr>
              <a:t>2025/4/2</a:t>
            </a:fld>
            <a:endParaRPr lang="en-US" altLang="zh-CN"/>
          </a:p>
        </p:txBody>
      </p:sp>
    </p:spTree>
    <p:extLst>
      <p:ext uri="{BB962C8B-B14F-4D97-AF65-F5344CB8AC3E}">
        <p14:creationId xmlns:p14="http://schemas.microsoft.com/office/powerpoint/2010/main" val="1855949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7DF72A0E-575E-B35A-464B-EF4241EA51F9}"/>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4" name="Rectangle 3">
            <a:extLst>
              <a:ext uri="{FF2B5EF4-FFF2-40B4-BE49-F238E27FC236}">
                <a16:creationId xmlns:a16="http://schemas.microsoft.com/office/drawing/2014/main" id="{CACD5F9E-C6C1-301F-789F-E7866A4727C4}"/>
              </a:ext>
            </a:extLst>
          </p:cNvPr>
          <p:cNvSpPr>
            <a:spLocks noGrp="1" noChangeArrowheads="1"/>
          </p:cNvSpPr>
          <p:nvPr>
            <p:ph type="sldNum" sz="quarter" idx="11"/>
          </p:nvPr>
        </p:nvSpPr>
        <p:spPr>
          <a:ln/>
        </p:spPr>
        <p:txBody>
          <a:bodyPr/>
          <a:lstStyle>
            <a:lvl1pPr>
              <a:defRPr/>
            </a:lvl1pPr>
          </a:lstStyle>
          <a:p>
            <a:pPr>
              <a:defRPr/>
            </a:pPr>
            <a:fld id="{A5FA5401-25BD-4A78-AC88-011E7C2D2985}" type="slidenum">
              <a:rPr lang="en-US" altLang="zh-CN"/>
              <a:pPr>
                <a:defRPr/>
              </a:pPr>
              <a:t>‹#›</a:t>
            </a:fld>
            <a:endParaRPr lang="en-US" altLang="zh-CN"/>
          </a:p>
        </p:txBody>
      </p:sp>
      <p:sp>
        <p:nvSpPr>
          <p:cNvPr id="5" name="Rectangle 16">
            <a:extLst>
              <a:ext uri="{FF2B5EF4-FFF2-40B4-BE49-F238E27FC236}">
                <a16:creationId xmlns:a16="http://schemas.microsoft.com/office/drawing/2014/main" id="{74B03166-3EBF-7BAF-C260-F04BAFCCC40F}"/>
              </a:ext>
            </a:extLst>
          </p:cNvPr>
          <p:cNvSpPr>
            <a:spLocks noGrp="1" noChangeArrowheads="1"/>
          </p:cNvSpPr>
          <p:nvPr>
            <p:ph type="dt" sz="half" idx="12"/>
          </p:nvPr>
        </p:nvSpPr>
        <p:spPr>
          <a:ln/>
        </p:spPr>
        <p:txBody>
          <a:bodyPr/>
          <a:lstStyle>
            <a:lvl1pPr>
              <a:defRPr/>
            </a:lvl1pPr>
          </a:lstStyle>
          <a:p>
            <a:pPr>
              <a:defRPr/>
            </a:pPr>
            <a:fld id="{CF748D8C-9523-4E95-9ED5-BB93A7168E2D}" type="datetime1">
              <a:rPr lang="zh-CN" altLang="en-US"/>
              <a:pPr>
                <a:defRPr/>
              </a:pPr>
              <a:t>2025/4/2</a:t>
            </a:fld>
            <a:endParaRPr lang="en-US" altLang="zh-CN"/>
          </a:p>
        </p:txBody>
      </p:sp>
    </p:spTree>
    <p:extLst>
      <p:ext uri="{BB962C8B-B14F-4D97-AF65-F5344CB8AC3E}">
        <p14:creationId xmlns:p14="http://schemas.microsoft.com/office/powerpoint/2010/main" val="317851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C33BC0C-2820-7339-B896-3BBF90B6C286}"/>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3" name="Rectangle 3">
            <a:extLst>
              <a:ext uri="{FF2B5EF4-FFF2-40B4-BE49-F238E27FC236}">
                <a16:creationId xmlns:a16="http://schemas.microsoft.com/office/drawing/2014/main" id="{2F42533B-738E-D037-A964-47460CD6C35F}"/>
              </a:ext>
            </a:extLst>
          </p:cNvPr>
          <p:cNvSpPr>
            <a:spLocks noGrp="1" noChangeArrowheads="1"/>
          </p:cNvSpPr>
          <p:nvPr>
            <p:ph type="sldNum" sz="quarter" idx="11"/>
          </p:nvPr>
        </p:nvSpPr>
        <p:spPr>
          <a:ln/>
        </p:spPr>
        <p:txBody>
          <a:bodyPr/>
          <a:lstStyle>
            <a:lvl1pPr>
              <a:defRPr/>
            </a:lvl1pPr>
          </a:lstStyle>
          <a:p>
            <a:pPr>
              <a:defRPr/>
            </a:pPr>
            <a:fld id="{6B31A5FE-A7BE-4F1F-A540-6BC4C9D4829A}" type="slidenum">
              <a:rPr lang="en-US" altLang="zh-CN"/>
              <a:pPr>
                <a:defRPr/>
              </a:pPr>
              <a:t>‹#›</a:t>
            </a:fld>
            <a:endParaRPr lang="en-US" altLang="zh-CN"/>
          </a:p>
        </p:txBody>
      </p:sp>
      <p:sp>
        <p:nvSpPr>
          <p:cNvPr id="4" name="Rectangle 16">
            <a:extLst>
              <a:ext uri="{FF2B5EF4-FFF2-40B4-BE49-F238E27FC236}">
                <a16:creationId xmlns:a16="http://schemas.microsoft.com/office/drawing/2014/main" id="{95713671-D31E-3CF9-B34A-5AA9F2C9E629}"/>
              </a:ext>
            </a:extLst>
          </p:cNvPr>
          <p:cNvSpPr>
            <a:spLocks noGrp="1" noChangeArrowheads="1"/>
          </p:cNvSpPr>
          <p:nvPr>
            <p:ph type="dt" sz="half" idx="12"/>
          </p:nvPr>
        </p:nvSpPr>
        <p:spPr>
          <a:ln/>
        </p:spPr>
        <p:txBody>
          <a:bodyPr/>
          <a:lstStyle>
            <a:lvl1pPr>
              <a:defRPr/>
            </a:lvl1pPr>
          </a:lstStyle>
          <a:p>
            <a:pPr>
              <a:defRPr/>
            </a:pPr>
            <a:fld id="{BD8EE16D-1E84-4968-B972-CD66C6C50BAF}" type="datetime1">
              <a:rPr lang="zh-CN" altLang="en-US"/>
              <a:pPr>
                <a:defRPr/>
              </a:pPr>
              <a:t>2025/4/2</a:t>
            </a:fld>
            <a:endParaRPr lang="en-US" altLang="zh-CN"/>
          </a:p>
        </p:txBody>
      </p:sp>
    </p:spTree>
    <p:extLst>
      <p:ext uri="{BB962C8B-B14F-4D97-AF65-F5344CB8AC3E}">
        <p14:creationId xmlns:p14="http://schemas.microsoft.com/office/powerpoint/2010/main" val="1573485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59398657-3D9A-C1AD-D7C6-17A77BA136EC}"/>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6" name="Rectangle 3">
            <a:extLst>
              <a:ext uri="{FF2B5EF4-FFF2-40B4-BE49-F238E27FC236}">
                <a16:creationId xmlns:a16="http://schemas.microsoft.com/office/drawing/2014/main" id="{2D9205E7-8612-1336-AE0C-5A72979E11B1}"/>
              </a:ext>
            </a:extLst>
          </p:cNvPr>
          <p:cNvSpPr>
            <a:spLocks noGrp="1" noChangeArrowheads="1"/>
          </p:cNvSpPr>
          <p:nvPr>
            <p:ph type="sldNum" sz="quarter" idx="11"/>
          </p:nvPr>
        </p:nvSpPr>
        <p:spPr>
          <a:ln/>
        </p:spPr>
        <p:txBody>
          <a:bodyPr/>
          <a:lstStyle>
            <a:lvl1pPr>
              <a:defRPr/>
            </a:lvl1pPr>
          </a:lstStyle>
          <a:p>
            <a:pPr>
              <a:defRPr/>
            </a:pPr>
            <a:fld id="{61E53000-F7E2-4712-B70D-552B39902F06}" type="slidenum">
              <a:rPr lang="en-US" altLang="zh-CN"/>
              <a:pPr>
                <a:defRPr/>
              </a:pPr>
              <a:t>‹#›</a:t>
            </a:fld>
            <a:endParaRPr lang="en-US" altLang="zh-CN"/>
          </a:p>
        </p:txBody>
      </p:sp>
      <p:sp>
        <p:nvSpPr>
          <p:cNvPr id="7" name="Rectangle 16">
            <a:extLst>
              <a:ext uri="{FF2B5EF4-FFF2-40B4-BE49-F238E27FC236}">
                <a16:creationId xmlns:a16="http://schemas.microsoft.com/office/drawing/2014/main" id="{71246633-866E-0098-03DD-B1F3B486E9B4}"/>
              </a:ext>
            </a:extLst>
          </p:cNvPr>
          <p:cNvSpPr>
            <a:spLocks noGrp="1" noChangeArrowheads="1"/>
          </p:cNvSpPr>
          <p:nvPr>
            <p:ph type="dt" sz="half" idx="12"/>
          </p:nvPr>
        </p:nvSpPr>
        <p:spPr>
          <a:ln/>
        </p:spPr>
        <p:txBody>
          <a:bodyPr/>
          <a:lstStyle>
            <a:lvl1pPr>
              <a:defRPr/>
            </a:lvl1pPr>
          </a:lstStyle>
          <a:p>
            <a:pPr>
              <a:defRPr/>
            </a:pPr>
            <a:fld id="{CB3E571F-52EB-4523-8B46-3F73DCB8E7B8}" type="datetime1">
              <a:rPr lang="zh-CN" altLang="en-US"/>
              <a:pPr>
                <a:defRPr/>
              </a:pPr>
              <a:t>2025/4/2</a:t>
            </a:fld>
            <a:endParaRPr lang="en-US" altLang="zh-CN"/>
          </a:p>
        </p:txBody>
      </p:sp>
    </p:spTree>
    <p:extLst>
      <p:ext uri="{BB962C8B-B14F-4D97-AF65-F5344CB8AC3E}">
        <p14:creationId xmlns:p14="http://schemas.microsoft.com/office/powerpoint/2010/main" val="13350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20B16939-AB07-7309-531A-69A5C22E1ED6}"/>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6" name="Rectangle 3">
            <a:extLst>
              <a:ext uri="{FF2B5EF4-FFF2-40B4-BE49-F238E27FC236}">
                <a16:creationId xmlns:a16="http://schemas.microsoft.com/office/drawing/2014/main" id="{96995D37-2FB7-E600-24F5-7656D6B5C8F5}"/>
              </a:ext>
            </a:extLst>
          </p:cNvPr>
          <p:cNvSpPr>
            <a:spLocks noGrp="1" noChangeArrowheads="1"/>
          </p:cNvSpPr>
          <p:nvPr>
            <p:ph type="sldNum" sz="quarter" idx="11"/>
          </p:nvPr>
        </p:nvSpPr>
        <p:spPr>
          <a:ln/>
        </p:spPr>
        <p:txBody>
          <a:bodyPr/>
          <a:lstStyle>
            <a:lvl1pPr>
              <a:defRPr/>
            </a:lvl1pPr>
          </a:lstStyle>
          <a:p>
            <a:pPr>
              <a:defRPr/>
            </a:pPr>
            <a:fld id="{0D3F6EF3-D974-46A0-8F35-8E017A79C977}" type="slidenum">
              <a:rPr lang="en-US" altLang="zh-CN"/>
              <a:pPr>
                <a:defRPr/>
              </a:pPr>
              <a:t>‹#›</a:t>
            </a:fld>
            <a:endParaRPr lang="en-US" altLang="zh-CN"/>
          </a:p>
        </p:txBody>
      </p:sp>
      <p:sp>
        <p:nvSpPr>
          <p:cNvPr id="7" name="Rectangle 16">
            <a:extLst>
              <a:ext uri="{FF2B5EF4-FFF2-40B4-BE49-F238E27FC236}">
                <a16:creationId xmlns:a16="http://schemas.microsoft.com/office/drawing/2014/main" id="{A73C851C-628E-9ACC-9D42-E14400482597}"/>
              </a:ext>
            </a:extLst>
          </p:cNvPr>
          <p:cNvSpPr>
            <a:spLocks noGrp="1" noChangeArrowheads="1"/>
          </p:cNvSpPr>
          <p:nvPr>
            <p:ph type="dt" sz="half" idx="12"/>
          </p:nvPr>
        </p:nvSpPr>
        <p:spPr>
          <a:ln/>
        </p:spPr>
        <p:txBody>
          <a:bodyPr/>
          <a:lstStyle>
            <a:lvl1pPr>
              <a:defRPr/>
            </a:lvl1pPr>
          </a:lstStyle>
          <a:p>
            <a:pPr>
              <a:defRPr/>
            </a:pPr>
            <a:fld id="{138E03BF-B398-4674-9BDA-C722BF39D2DC}" type="datetime1">
              <a:rPr lang="zh-CN" altLang="en-US"/>
              <a:pPr>
                <a:defRPr/>
              </a:pPr>
              <a:t>2025/4/2</a:t>
            </a:fld>
            <a:endParaRPr lang="en-US" altLang="zh-CN"/>
          </a:p>
        </p:txBody>
      </p:sp>
    </p:spTree>
    <p:extLst>
      <p:ext uri="{BB962C8B-B14F-4D97-AF65-F5344CB8AC3E}">
        <p14:creationId xmlns:p14="http://schemas.microsoft.com/office/powerpoint/2010/main" val="1664866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957AA4A5-4E1D-31EF-75CF-5A11466BE38C}"/>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5" name="Rectangle 3">
            <a:extLst>
              <a:ext uri="{FF2B5EF4-FFF2-40B4-BE49-F238E27FC236}">
                <a16:creationId xmlns:a16="http://schemas.microsoft.com/office/drawing/2014/main" id="{4CA24B01-5D25-C02C-4D48-95A3312BC98F}"/>
              </a:ext>
            </a:extLst>
          </p:cNvPr>
          <p:cNvSpPr>
            <a:spLocks noGrp="1" noChangeArrowheads="1"/>
          </p:cNvSpPr>
          <p:nvPr>
            <p:ph type="sldNum" sz="quarter" idx="11"/>
          </p:nvPr>
        </p:nvSpPr>
        <p:spPr>
          <a:ln/>
        </p:spPr>
        <p:txBody>
          <a:bodyPr/>
          <a:lstStyle>
            <a:lvl1pPr>
              <a:defRPr/>
            </a:lvl1pPr>
          </a:lstStyle>
          <a:p>
            <a:pPr>
              <a:defRPr/>
            </a:pPr>
            <a:fld id="{27051D0E-CB25-464D-9AFF-38A264914001}" type="slidenum">
              <a:rPr lang="en-US" altLang="zh-CN"/>
              <a:pPr>
                <a:defRPr/>
              </a:pPr>
              <a:t>‹#›</a:t>
            </a:fld>
            <a:endParaRPr lang="en-US" altLang="zh-CN"/>
          </a:p>
        </p:txBody>
      </p:sp>
      <p:sp>
        <p:nvSpPr>
          <p:cNvPr id="6" name="Rectangle 16">
            <a:extLst>
              <a:ext uri="{FF2B5EF4-FFF2-40B4-BE49-F238E27FC236}">
                <a16:creationId xmlns:a16="http://schemas.microsoft.com/office/drawing/2014/main" id="{599C0533-98A2-784A-5ADF-C865D52D5A36}"/>
              </a:ext>
            </a:extLst>
          </p:cNvPr>
          <p:cNvSpPr>
            <a:spLocks noGrp="1" noChangeArrowheads="1"/>
          </p:cNvSpPr>
          <p:nvPr>
            <p:ph type="dt" sz="half" idx="12"/>
          </p:nvPr>
        </p:nvSpPr>
        <p:spPr>
          <a:ln/>
        </p:spPr>
        <p:txBody>
          <a:bodyPr/>
          <a:lstStyle>
            <a:lvl1pPr>
              <a:defRPr/>
            </a:lvl1pPr>
          </a:lstStyle>
          <a:p>
            <a:pPr>
              <a:defRPr/>
            </a:pPr>
            <a:fld id="{8097C675-909F-4C1F-8DA8-926C1307C6C3}" type="datetime1">
              <a:rPr lang="zh-CN" altLang="en-US"/>
              <a:pPr>
                <a:defRPr/>
              </a:pPr>
              <a:t>2025/4/2</a:t>
            </a:fld>
            <a:endParaRPr lang="en-US" altLang="zh-CN"/>
          </a:p>
        </p:txBody>
      </p:sp>
    </p:spTree>
    <p:extLst>
      <p:ext uri="{BB962C8B-B14F-4D97-AF65-F5344CB8AC3E}">
        <p14:creationId xmlns:p14="http://schemas.microsoft.com/office/powerpoint/2010/main" val="265442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28638"/>
            <a:ext cx="2057400" cy="5637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528638"/>
            <a:ext cx="6019800" cy="5637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EA0788FA-1152-FF59-79EA-CA101665A615}"/>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5" name="Rectangle 3">
            <a:extLst>
              <a:ext uri="{FF2B5EF4-FFF2-40B4-BE49-F238E27FC236}">
                <a16:creationId xmlns:a16="http://schemas.microsoft.com/office/drawing/2014/main" id="{2689E4B2-0DA2-0959-CB95-48C702B161B8}"/>
              </a:ext>
            </a:extLst>
          </p:cNvPr>
          <p:cNvSpPr>
            <a:spLocks noGrp="1" noChangeArrowheads="1"/>
          </p:cNvSpPr>
          <p:nvPr>
            <p:ph type="sldNum" sz="quarter" idx="11"/>
          </p:nvPr>
        </p:nvSpPr>
        <p:spPr>
          <a:ln/>
        </p:spPr>
        <p:txBody>
          <a:bodyPr/>
          <a:lstStyle>
            <a:lvl1pPr>
              <a:defRPr/>
            </a:lvl1pPr>
          </a:lstStyle>
          <a:p>
            <a:pPr>
              <a:defRPr/>
            </a:pPr>
            <a:fld id="{195F7B02-63E0-423F-A30F-16EF14C0B02E}" type="slidenum">
              <a:rPr lang="en-US" altLang="zh-CN"/>
              <a:pPr>
                <a:defRPr/>
              </a:pPr>
              <a:t>‹#›</a:t>
            </a:fld>
            <a:endParaRPr lang="en-US" altLang="zh-CN"/>
          </a:p>
        </p:txBody>
      </p:sp>
      <p:sp>
        <p:nvSpPr>
          <p:cNvPr id="6" name="Rectangle 16">
            <a:extLst>
              <a:ext uri="{FF2B5EF4-FFF2-40B4-BE49-F238E27FC236}">
                <a16:creationId xmlns:a16="http://schemas.microsoft.com/office/drawing/2014/main" id="{B63FAB1C-3AE1-B8C2-19B7-CBD20744E90A}"/>
              </a:ext>
            </a:extLst>
          </p:cNvPr>
          <p:cNvSpPr>
            <a:spLocks noGrp="1" noChangeArrowheads="1"/>
          </p:cNvSpPr>
          <p:nvPr>
            <p:ph type="dt" sz="half" idx="12"/>
          </p:nvPr>
        </p:nvSpPr>
        <p:spPr>
          <a:ln/>
        </p:spPr>
        <p:txBody>
          <a:bodyPr/>
          <a:lstStyle>
            <a:lvl1pPr>
              <a:defRPr/>
            </a:lvl1pPr>
          </a:lstStyle>
          <a:p>
            <a:pPr>
              <a:defRPr/>
            </a:pPr>
            <a:fld id="{6AA85A0F-A720-4E1E-859C-749B26835135}" type="datetime1">
              <a:rPr lang="zh-CN" altLang="en-US"/>
              <a:pPr>
                <a:defRPr/>
              </a:pPr>
              <a:t>2025/4/2</a:t>
            </a:fld>
            <a:endParaRPr lang="en-US" altLang="zh-CN"/>
          </a:p>
        </p:txBody>
      </p:sp>
    </p:spTree>
    <p:extLst>
      <p:ext uri="{BB962C8B-B14F-4D97-AF65-F5344CB8AC3E}">
        <p14:creationId xmlns:p14="http://schemas.microsoft.com/office/powerpoint/2010/main" val="827601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528638"/>
            <a:ext cx="8229600" cy="668337"/>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12875"/>
            <a:ext cx="4038600" cy="4752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12875"/>
            <a:ext cx="4038600" cy="4752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0D9DE4D6-6963-362A-4BBE-AB33E427BF77}"/>
              </a:ext>
            </a:extLst>
          </p:cNvPr>
          <p:cNvSpPr>
            <a:spLocks noGrp="1" noChangeArrowheads="1"/>
          </p:cNvSpPr>
          <p:nvPr>
            <p:ph type="ftr" sz="quarter" idx="10"/>
          </p:nvPr>
        </p:nvSpPr>
        <p:spPr>
          <a:ln/>
        </p:spPr>
        <p:txBody>
          <a:bodyPr/>
          <a:lstStyle>
            <a:lvl1pPr>
              <a:defRPr/>
            </a:lvl1pPr>
          </a:lstStyle>
          <a:p>
            <a:pPr>
              <a:defRPr/>
            </a:pPr>
            <a:r>
              <a:rPr lang="zh-CN" altLang="en-US"/>
              <a:t>山东科技大学 电信学院</a:t>
            </a:r>
            <a:endParaRPr lang="en-US" altLang="zh-CN"/>
          </a:p>
        </p:txBody>
      </p:sp>
      <p:sp>
        <p:nvSpPr>
          <p:cNvPr id="6" name="Rectangle 3">
            <a:extLst>
              <a:ext uri="{FF2B5EF4-FFF2-40B4-BE49-F238E27FC236}">
                <a16:creationId xmlns:a16="http://schemas.microsoft.com/office/drawing/2014/main" id="{533A3790-B80F-17BD-27F4-25B0D495FDE5}"/>
              </a:ext>
            </a:extLst>
          </p:cNvPr>
          <p:cNvSpPr>
            <a:spLocks noGrp="1" noChangeArrowheads="1"/>
          </p:cNvSpPr>
          <p:nvPr>
            <p:ph type="sldNum" sz="quarter" idx="11"/>
          </p:nvPr>
        </p:nvSpPr>
        <p:spPr>
          <a:ln/>
        </p:spPr>
        <p:txBody>
          <a:bodyPr/>
          <a:lstStyle>
            <a:lvl1pPr>
              <a:defRPr/>
            </a:lvl1pPr>
          </a:lstStyle>
          <a:p>
            <a:pPr>
              <a:defRPr/>
            </a:pPr>
            <a:fld id="{8BCA3A2A-0D37-4AFE-99D9-D9BE276C83F3}" type="slidenum">
              <a:rPr lang="en-US" altLang="zh-CN"/>
              <a:pPr>
                <a:defRPr/>
              </a:pPr>
              <a:t>‹#›</a:t>
            </a:fld>
            <a:endParaRPr lang="en-US" altLang="zh-CN"/>
          </a:p>
        </p:txBody>
      </p:sp>
      <p:sp>
        <p:nvSpPr>
          <p:cNvPr id="7" name="Rectangle 16">
            <a:extLst>
              <a:ext uri="{FF2B5EF4-FFF2-40B4-BE49-F238E27FC236}">
                <a16:creationId xmlns:a16="http://schemas.microsoft.com/office/drawing/2014/main" id="{AFE3CB81-840E-0732-627E-C96BEAD164C9}"/>
              </a:ext>
            </a:extLst>
          </p:cNvPr>
          <p:cNvSpPr>
            <a:spLocks noGrp="1" noChangeArrowheads="1"/>
          </p:cNvSpPr>
          <p:nvPr>
            <p:ph type="dt" sz="half" idx="12"/>
          </p:nvPr>
        </p:nvSpPr>
        <p:spPr>
          <a:ln/>
        </p:spPr>
        <p:txBody>
          <a:bodyPr/>
          <a:lstStyle>
            <a:lvl1pPr>
              <a:defRPr/>
            </a:lvl1pPr>
          </a:lstStyle>
          <a:p>
            <a:pPr>
              <a:defRPr/>
            </a:pPr>
            <a:fld id="{89DC7F95-3654-42C6-AC4D-4CF5C32ACF8A}" type="datetime1">
              <a:rPr lang="zh-CN" altLang="en-US"/>
              <a:pPr>
                <a:defRPr/>
              </a:pPr>
              <a:t>2025/4/2</a:t>
            </a:fld>
            <a:endParaRPr lang="en-US" altLang="zh-CN"/>
          </a:p>
        </p:txBody>
      </p:sp>
    </p:spTree>
    <p:extLst>
      <p:ext uri="{BB962C8B-B14F-4D97-AF65-F5344CB8AC3E}">
        <p14:creationId xmlns:p14="http://schemas.microsoft.com/office/powerpoint/2010/main" val="1720698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748C48D-5DDE-51E5-170D-89EE6E24A942}"/>
              </a:ext>
            </a:extLst>
          </p:cNvPr>
          <p:cNvSpPr>
            <a:spLocks noGrp="1" noChangeArrowheads="1"/>
          </p:cNvSpPr>
          <p:nvPr>
            <p:ph type="ftr" sz="quarter" idx="3"/>
          </p:nvPr>
        </p:nvSpPr>
        <p:spPr bwMode="auto">
          <a:xfrm>
            <a:off x="3203575" y="6524625"/>
            <a:ext cx="3024188" cy="3238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solidFill>
                  <a:srgbClr val="3366FF"/>
                </a:solidFill>
                <a:latin typeface="Arial" charset="0"/>
              </a:defRPr>
            </a:lvl1pPr>
          </a:lstStyle>
          <a:p>
            <a:pPr>
              <a:defRPr/>
            </a:pPr>
            <a:r>
              <a:rPr lang="zh-CN" altLang="en-US"/>
              <a:t>山东科技大学 电信学院</a:t>
            </a:r>
            <a:endParaRPr lang="en-US" altLang="zh-CN"/>
          </a:p>
        </p:txBody>
      </p:sp>
      <p:sp>
        <p:nvSpPr>
          <p:cNvPr id="3075" name="Rectangle 3">
            <a:extLst>
              <a:ext uri="{FF2B5EF4-FFF2-40B4-BE49-F238E27FC236}">
                <a16:creationId xmlns:a16="http://schemas.microsoft.com/office/drawing/2014/main" id="{E881D82B-DAFB-7847-7EAD-AB144C5E2949}"/>
              </a:ext>
            </a:extLst>
          </p:cNvPr>
          <p:cNvSpPr>
            <a:spLocks noGrp="1" noChangeArrowheads="1"/>
          </p:cNvSpPr>
          <p:nvPr>
            <p:ph type="sldNum" sz="quarter" idx="4"/>
          </p:nvPr>
        </p:nvSpPr>
        <p:spPr bwMode="auto">
          <a:xfrm>
            <a:off x="8604250" y="6534150"/>
            <a:ext cx="539750" cy="3238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rgbClr val="3366FF"/>
                </a:solidFill>
                <a:latin typeface="Arial Black" panose="020B0A04020102020204" pitchFamily="34" charset="0"/>
              </a:defRPr>
            </a:lvl1pPr>
          </a:lstStyle>
          <a:p>
            <a:pPr>
              <a:defRPr/>
            </a:pPr>
            <a:fld id="{40D3B1AF-8729-489F-A958-1C8EE19BEA25}" type="slidenum">
              <a:rPr lang="en-US" altLang="zh-CN"/>
              <a:pPr>
                <a:defRPr/>
              </a:pPr>
              <a:t>‹#›</a:t>
            </a:fld>
            <a:endParaRPr lang="en-US" altLang="zh-CN"/>
          </a:p>
        </p:txBody>
      </p:sp>
      <p:grpSp>
        <p:nvGrpSpPr>
          <p:cNvPr id="1028" name="Group 4">
            <a:extLst>
              <a:ext uri="{FF2B5EF4-FFF2-40B4-BE49-F238E27FC236}">
                <a16:creationId xmlns:a16="http://schemas.microsoft.com/office/drawing/2014/main" id="{9C5A1139-4AA5-43DA-859B-492909B07B3D}"/>
              </a:ext>
            </a:extLst>
          </p:cNvPr>
          <p:cNvGrpSpPr>
            <a:grpSpLocks/>
          </p:cNvGrpSpPr>
          <p:nvPr/>
        </p:nvGrpSpPr>
        <p:grpSpPr bwMode="auto">
          <a:xfrm>
            <a:off x="0" y="0"/>
            <a:ext cx="9144000" cy="546100"/>
            <a:chOff x="0" y="0"/>
            <a:chExt cx="5760" cy="344"/>
          </a:xfrm>
        </p:grpSpPr>
        <p:sp>
          <p:nvSpPr>
            <p:cNvPr id="1033" name="Rectangle 5">
              <a:extLst>
                <a:ext uri="{FF2B5EF4-FFF2-40B4-BE49-F238E27FC236}">
                  <a16:creationId xmlns:a16="http://schemas.microsoft.com/office/drawing/2014/main" id="{F4497097-01EC-6FC7-FB66-ABD6D5991023}"/>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b="0">
                <a:latin typeface="Times New Roman" panose="02020603050405020304" pitchFamily="18" charset="0"/>
              </a:endParaRPr>
            </a:p>
          </p:txBody>
        </p:sp>
        <p:sp>
          <p:nvSpPr>
            <p:cNvPr id="1034" name="Rectangle 6">
              <a:extLst>
                <a:ext uri="{FF2B5EF4-FFF2-40B4-BE49-F238E27FC236}">
                  <a16:creationId xmlns:a16="http://schemas.microsoft.com/office/drawing/2014/main" id="{41A5EE40-B0F7-C6E0-3F06-F7336C61FFFD}"/>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035" name="Rectangle 7">
              <a:extLst>
                <a:ext uri="{FF2B5EF4-FFF2-40B4-BE49-F238E27FC236}">
                  <a16:creationId xmlns:a16="http://schemas.microsoft.com/office/drawing/2014/main" id="{F7B07F0E-D979-D0D6-49B6-D80A8AD633E6}"/>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hlink"/>
                </a:solidFill>
              </a:endParaRPr>
            </a:p>
          </p:txBody>
        </p:sp>
        <p:sp>
          <p:nvSpPr>
            <p:cNvPr id="1036" name="Rectangle 8">
              <a:extLst>
                <a:ext uri="{FF2B5EF4-FFF2-40B4-BE49-F238E27FC236}">
                  <a16:creationId xmlns:a16="http://schemas.microsoft.com/office/drawing/2014/main" id="{91E346E5-097E-E474-9DC7-BE161AFF2EAE}"/>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hlink"/>
                </a:solidFill>
              </a:endParaRPr>
            </a:p>
          </p:txBody>
        </p:sp>
        <p:sp>
          <p:nvSpPr>
            <p:cNvPr id="1037" name="Rectangle 9">
              <a:extLst>
                <a:ext uri="{FF2B5EF4-FFF2-40B4-BE49-F238E27FC236}">
                  <a16:creationId xmlns:a16="http://schemas.microsoft.com/office/drawing/2014/main" id="{1EF30F11-F73C-5708-4DA2-2A7141686280}"/>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accent2"/>
                </a:solidFill>
              </a:endParaRPr>
            </a:p>
          </p:txBody>
        </p:sp>
        <p:sp>
          <p:nvSpPr>
            <p:cNvPr id="1038" name="Rectangle 10">
              <a:extLst>
                <a:ext uri="{FF2B5EF4-FFF2-40B4-BE49-F238E27FC236}">
                  <a16:creationId xmlns:a16="http://schemas.microsoft.com/office/drawing/2014/main" id="{C6C7A6F9-B8D3-B326-BB1F-15B990DF5AEF}"/>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hlink"/>
                </a:solidFill>
              </a:endParaRPr>
            </a:p>
          </p:txBody>
        </p:sp>
        <p:sp>
          <p:nvSpPr>
            <p:cNvPr id="1039" name="Rectangle 11">
              <a:extLst>
                <a:ext uri="{FF2B5EF4-FFF2-40B4-BE49-F238E27FC236}">
                  <a16:creationId xmlns:a16="http://schemas.microsoft.com/office/drawing/2014/main" id="{BB3BD772-F92A-8B8C-8319-ED1A66695F0E}"/>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b="0">
                <a:latin typeface="Times New Roman" panose="02020603050405020304" pitchFamily="18" charset="0"/>
              </a:endParaRPr>
            </a:p>
          </p:txBody>
        </p:sp>
        <p:sp>
          <p:nvSpPr>
            <p:cNvPr id="1040" name="Rectangle 12">
              <a:extLst>
                <a:ext uri="{FF2B5EF4-FFF2-40B4-BE49-F238E27FC236}">
                  <a16:creationId xmlns:a16="http://schemas.microsoft.com/office/drawing/2014/main" id="{A0D1C805-FB70-F69B-26CC-789CEFD8F3B8}"/>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accent2"/>
                </a:solidFill>
              </a:endParaRPr>
            </a:p>
          </p:txBody>
        </p:sp>
        <p:sp>
          <p:nvSpPr>
            <p:cNvPr id="1041" name="Rectangle 13">
              <a:extLst>
                <a:ext uri="{FF2B5EF4-FFF2-40B4-BE49-F238E27FC236}">
                  <a16:creationId xmlns:a16="http://schemas.microsoft.com/office/drawing/2014/main" id="{448DF877-A2D4-AABA-760A-E805D8171CF9}"/>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b="0">
                <a:solidFill>
                  <a:schemeClr val="accent2"/>
                </a:solidFill>
              </a:endParaRPr>
            </a:p>
          </p:txBody>
        </p:sp>
      </p:grpSp>
      <p:sp>
        <p:nvSpPr>
          <p:cNvPr id="1029" name="Rectangle 14">
            <a:extLst>
              <a:ext uri="{FF2B5EF4-FFF2-40B4-BE49-F238E27FC236}">
                <a16:creationId xmlns:a16="http://schemas.microsoft.com/office/drawing/2014/main" id="{374B02D3-94CD-2FC0-42C8-987204DB1722}"/>
              </a:ext>
            </a:extLst>
          </p:cNvPr>
          <p:cNvSpPr>
            <a:spLocks noGrp="1" noChangeArrowheads="1"/>
          </p:cNvSpPr>
          <p:nvPr>
            <p:ph type="title"/>
          </p:nvPr>
        </p:nvSpPr>
        <p:spPr bwMode="auto">
          <a:xfrm>
            <a:off x="457200" y="5286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a:extLst>
              <a:ext uri="{FF2B5EF4-FFF2-40B4-BE49-F238E27FC236}">
                <a16:creationId xmlns:a16="http://schemas.microsoft.com/office/drawing/2014/main" id="{2410F652-4454-B677-BEEC-C90B99BED8C4}"/>
              </a:ext>
            </a:extLst>
          </p:cNvPr>
          <p:cNvSpPr>
            <a:spLocks noGrp="1" noChangeArrowheads="1"/>
          </p:cNvSpPr>
          <p:nvPr>
            <p:ph type="body" idx="1"/>
          </p:nvPr>
        </p:nvSpPr>
        <p:spPr bwMode="auto">
          <a:xfrm>
            <a:off x="457200" y="1412875"/>
            <a:ext cx="82296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8" name="Rectangle 16">
            <a:extLst>
              <a:ext uri="{FF2B5EF4-FFF2-40B4-BE49-F238E27FC236}">
                <a16:creationId xmlns:a16="http://schemas.microsoft.com/office/drawing/2014/main" id="{EBA36AA5-7230-7700-D927-4385495AF32A}"/>
              </a:ext>
            </a:extLst>
          </p:cNvPr>
          <p:cNvSpPr>
            <a:spLocks noGrp="1" noChangeArrowheads="1"/>
          </p:cNvSpPr>
          <p:nvPr>
            <p:ph type="dt" sz="half" idx="2"/>
          </p:nvPr>
        </p:nvSpPr>
        <p:spPr bwMode="auto">
          <a:xfrm>
            <a:off x="34925" y="6473825"/>
            <a:ext cx="181133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solidFill>
                  <a:srgbClr val="3366FF"/>
                </a:solidFill>
                <a:latin typeface="Arial" charset="0"/>
              </a:defRPr>
            </a:lvl1pPr>
          </a:lstStyle>
          <a:p>
            <a:pPr>
              <a:defRPr/>
            </a:pPr>
            <a:fld id="{1EECC314-4D50-48B9-B34E-99467114DB80}" type="datetime1">
              <a:rPr lang="zh-CN" altLang="en-US"/>
              <a:pPr>
                <a:defRPr/>
              </a:pPr>
              <a:t>2025/4/2</a:t>
            </a:fld>
            <a:endParaRPr lang="en-US" altLang="zh-CN"/>
          </a:p>
        </p:txBody>
      </p:sp>
      <p:sp>
        <p:nvSpPr>
          <p:cNvPr id="1032" name="Text Box 17">
            <a:extLst>
              <a:ext uri="{FF2B5EF4-FFF2-40B4-BE49-F238E27FC236}">
                <a16:creationId xmlns:a16="http://schemas.microsoft.com/office/drawing/2014/main" id="{B09ACD77-5354-B831-0641-C3179F00711D}"/>
              </a:ext>
            </a:extLst>
          </p:cNvPr>
          <p:cNvSpPr txBox="1">
            <a:spLocks noChangeArrowheads="1"/>
          </p:cNvSpPr>
          <p:nvPr userDrawn="1"/>
        </p:nvSpPr>
        <p:spPr bwMode="auto">
          <a:xfrm>
            <a:off x="8101013" y="6491288"/>
            <a:ext cx="649287" cy="366712"/>
          </a:xfrm>
          <a:prstGeom prst="rect">
            <a:avLst/>
          </a:prstGeom>
          <a:noFill/>
          <a:ln>
            <a:noFill/>
          </a:ln>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defRPr/>
            </a:pPr>
            <a:r>
              <a:rPr kumimoji="1" lang="en-US" altLang="zh-CN" b="0">
                <a:solidFill>
                  <a:srgbClr val="3366FF"/>
                </a:solidFill>
                <a:latin typeface="Times New Roman" panose="02020603050405020304" pitchFamily="18" charset="0"/>
                <a:ea typeface="华文新魏" panose="02010800040101010101" pitchFamily="2" charset="-122"/>
              </a:rPr>
              <a:t>page</a:t>
            </a:r>
          </a:p>
        </p:txBody>
      </p:sp>
    </p:spTree>
  </p:cSld>
  <p:clrMap bg1="lt1" tx1="dk1" bg2="lt2" tx2="dk2" accent1="accent1" accent2="accent2" accent3="accent3" accent4="accent4" accent5="accent5" accent6="accent6" hlink="hlink" folHlink="folHlink"/>
  <p:sldLayoutIdLst>
    <p:sldLayoutId id="2147483791"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2">
            <a:extLst>
              <a:ext uri="{FF2B5EF4-FFF2-40B4-BE49-F238E27FC236}">
                <a16:creationId xmlns:a16="http://schemas.microsoft.com/office/drawing/2014/main" id="{2052FC69-D77D-486D-6326-33DA8433F12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31D952F-4A84-4DF0-8A9D-22154A73A30F}" type="slidenum">
              <a:rPr lang="en-US" altLang="zh-CN" sz="1200" smtClean="0">
                <a:solidFill>
                  <a:srgbClr val="3366FF"/>
                </a:solidFill>
                <a:latin typeface="Arial Black" panose="020B0A04020102020204" pitchFamily="34" charset="0"/>
              </a:rPr>
              <a:pPr>
                <a:spcBef>
                  <a:spcPct val="0"/>
                </a:spcBef>
                <a:buClrTx/>
                <a:buSzTx/>
                <a:buFontTx/>
                <a:buNone/>
              </a:pPr>
              <a:t>1</a:t>
            </a:fld>
            <a:endParaRPr lang="en-US" altLang="zh-CN" sz="1200">
              <a:solidFill>
                <a:srgbClr val="3366FF"/>
              </a:solidFill>
              <a:latin typeface="Arial Black" panose="020B0A04020102020204" pitchFamily="34" charset="0"/>
            </a:endParaRPr>
          </a:p>
        </p:txBody>
      </p:sp>
      <p:sp>
        <p:nvSpPr>
          <p:cNvPr id="4099" name="日期占位符 3">
            <a:extLst>
              <a:ext uri="{FF2B5EF4-FFF2-40B4-BE49-F238E27FC236}">
                <a16:creationId xmlns:a16="http://schemas.microsoft.com/office/drawing/2014/main" id="{EF80268D-934F-E270-4277-A9AA3A28A2C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C4EFDF9-4238-43F7-89B5-BF0C1891EC4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100" name="Text Box 2">
            <a:extLst>
              <a:ext uri="{FF2B5EF4-FFF2-40B4-BE49-F238E27FC236}">
                <a16:creationId xmlns:a16="http://schemas.microsoft.com/office/drawing/2014/main" id="{AED01D6C-0D99-3546-4024-E616567BDABD}"/>
              </a:ext>
            </a:extLst>
          </p:cNvPr>
          <p:cNvSpPr txBox="1">
            <a:spLocks noChangeArrowheads="1"/>
          </p:cNvSpPr>
          <p:nvPr/>
        </p:nvSpPr>
        <p:spPr bwMode="auto">
          <a:xfrm>
            <a:off x="990600" y="1600200"/>
            <a:ext cx="7543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4800">
                <a:latin typeface="Tahoma" panose="020B0604030504040204" pitchFamily="34" charset="0"/>
                <a:ea typeface="黑体" panose="02010609060101010101" pitchFamily="49" charset="-122"/>
              </a:rPr>
              <a:t>嵌入式实时操作系统</a:t>
            </a:r>
          </a:p>
          <a:p>
            <a:pPr algn="r" eaLnBrk="1" hangingPunct="1">
              <a:spcBef>
                <a:spcPct val="0"/>
              </a:spcBef>
              <a:buClrTx/>
              <a:buSzTx/>
              <a:buFontTx/>
              <a:buNone/>
            </a:pPr>
            <a:r>
              <a:rPr kumimoji="1" lang="zh-CN" altLang="en-US" sz="4800">
                <a:latin typeface="Tahoma" panose="020B0604030504040204" pitchFamily="34" charset="0"/>
                <a:ea typeface="黑体" panose="02010609060101010101" pitchFamily="49" charset="-122"/>
              </a:rPr>
              <a:t>               </a:t>
            </a:r>
            <a:r>
              <a:rPr kumimoji="1" lang="en-US" altLang="zh-CN" sz="4800" i="1">
                <a:solidFill>
                  <a:srgbClr val="5876F6"/>
                </a:solidFill>
                <a:latin typeface="Tahoma" panose="020B0604030504040204" pitchFamily="34" charset="0"/>
                <a:ea typeface="黑体" panose="02010609060101010101" pitchFamily="49" charset="-122"/>
              </a:rPr>
              <a:t>μ</a:t>
            </a:r>
            <a:r>
              <a:rPr kumimoji="1" lang="en-US" altLang="zh-CN" sz="4800">
                <a:solidFill>
                  <a:srgbClr val="5876F6"/>
                </a:solidFill>
                <a:latin typeface="Tahoma" panose="020B0604030504040204" pitchFamily="34" charset="0"/>
                <a:ea typeface="黑体" panose="02010609060101010101" pitchFamily="49" charset="-122"/>
              </a:rPr>
              <a:t>C/OS-II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a:extLst>
              <a:ext uri="{FF2B5EF4-FFF2-40B4-BE49-F238E27FC236}">
                <a16:creationId xmlns:a16="http://schemas.microsoft.com/office/drawing/2014/main" id="{8801ED5A-BBC0-FFE6-827A-22C693B02320}"/>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568C85C-68B4-4093-A30B-9E3E4FFBF52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123" name="Rectangle 18">
            <a:extLst>
              <a:ext uri="{FF2B5EF4-FFF2-40B4-BE49-F238E27FC236}">
                <a16:creationId xmlns:a16="http://schemas.microsoft.com/office/drawing/2014/main" id="{3DA70559-CA35-A9C3-FC92-E569531843C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60E2924-5B67-4983-8E49-784DA637CE4A}" type="slidenum">
              <a:rPr lang="en-US" altLang="zh-CN" sz="1200" smtClean="0">
                <a:solidFill>
                  <a:srgbClr val="3366FF"/>
                </a:solidFill>
                <a:latin typeface="Arial Black" panose="020B0A04020102020204" pitchFamily="34" charset="0"/>
              </a:rPr>
              <a:pPr>
                <a:spcBef>
                  <a:spcPct val="0"/>
                </a:spcBef>
                <a:buClrTx/>
                <a:buSzTx/>
                <a:buFontTx/>
                <a:buNone/>
              </a:pPr>
              <a:t>2</a:t>
            </a:fld>
            <a:endParaRPr lang="en-US" altLang="zh-CN" sz="1200">
              <a:solidFill>
                <a:srgbClr val="3366FF"/>
              </a:solidFill>
              <a:latin typeface="Arial Black" panose="020B0A04020102020204" pitchFamily="34" charset="0"/>
            </a:endParaRPr>
          </a:p>
        </p:txBody>
      </p:sp>
      <p:sp>
        <p:nvSpPr>
          <p:cNvPr id="5124" name="Rectangle 2">
            <a:extLst>
              <a:ext uri="{FF2B5EF4-FFF2-40B4-BE49-F238E27FC236}">
                <a16:creationId xmlns:a16="http://schemas.microsoft.com/office/drawing/2014/main" id="{0985B40E-A335-01DE-A9EB-95360EC640CC}"/>
              </a:ext>
            </a:extLst>
          </p:cNvPr>
          <p:cNvSpPr>
            <a:spLocks noGrp="1" noChangeArrowheads="1"/>
          </p:cNvSpPr>
          <p:nvPr>
            <p:ph type="ctrTitle"/>
          </p:nvPr>
        </p:nvSpPr>
        <p:spPr/>
        <p:txBody>
          <a:bodyPr/>
          <a:lstStyle/>
          <a:p>
            <a:pPr algn="ctr" eaLnBrk="1" hangingPunct="1"/>
            <a:r>
              <a:rPr lang="zh-CN" altLang="en-US"/>
              <a:t>第</a:t>
            </a:r>
            <a:r>
              <a:rPr lang="en-US" altLang="zh-CN"/>
              <a:t>2</a:t>
            </a:r>
            <a:r>
              <a:rPr lang="zh-CN" altLang="en-US"/>
              <a:t>章   </a:t>
            </a:r>
            <a:r>
              <a:rPr lang="en-US" altLang="zh-CN"/>
              <a:t>uC/OS-II</a:t>
            </a:r>
            <a:br>
              <a:rPr lang="en-US" altLang="zh-CN"/>
            </a:br>
            <a:r>
              <a:rPr lang="zh-CN" altLang="en-US"/>
              <a:t>中的任务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3">
            <a:extLst>
              <a:ext uri="{FF2B5EF4-FFF2-40B4-BE49-F238E27FC236}">
                <a16:creationId xmlns:a16="http://schemas.microsoft.com/office/drawing/2014/main" id="{50ABC240-56C9-6805-0B29-040FE22919D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147" name="灯片编号占位符 4">
            <a:extLst>
              <a:ext uri="{FF2B5EF4-FFF2-40B4-BE49-F238E27FC236}">
                <a16:creationId xmlns:a16="http://schemas.microsoft.com/office/drawing/2014/main" id="{EC82F87E-D47E-AE30-4644-7807A41145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6D556F4-8B56-4C66-A360-7BBB2DC4FA76}" type="slidenum">
              <a:rPr lang="en-US" altLang="zh-CN" sz="1200" smtClean="0">
                <a:solidFill>
                  <a:srgbClr val="3366FF"/>
                </a:solidFill>
                <a:latin typeface="Arial Black" panose="020B0A04020102020204" pitchFamily="34" charset="0"/>
              </a:rPr>
              <a:pPr>
                <a:spcBef>
                  <a:spcPct val="0"/>
                </a:spcBef>
                <a:buClrTx/>
                <a:buSzTx/>
                <a:buFontTx/>
                <a:buNone/>
              </a:pPr>
              <a:t>3</a:t>
            </a:fld>
            <a:endParaRPr lang="en-US" altLang="zh-CN" sz="1200">
              <a:solidFill>
                <a:srgbClr val="3366FF"/>
              </a:solidFill>
              <a:latin typeface="Arial Black" panose="020B0A04020102020204" pitchFamily="34" charset="0"/>
            </a:endParaRPr>
          </a:p>
        </p:txBody>
      </p:sp>
      <p:sp>
        <p:nvSpPr>
          <p:cNvPr id="6148" name="日期占位符 5">
            <a:extLst>
              <a:ext uri="{FF2B5EF4-FFF2-40B4-BE49-F238E27FC236}">
                <a16:creationId xmlns:a16="http://schemas.microsoft.com/office/drawing/2014/main" id="{F8459E90-D4F1-F376-4F5F-DB617874655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7646414-D565-472D-9FB7-EE40FA52E1B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149" name="Rectangle 2">
            <a:extLst>
              <a:ext uri="{FF2B5EF4-FFF2-40B4-BE49-F238E27FC236}">
                <a16:creationId xmlns:a16="http://schemas.microsoft.com/office/drawing/2014/main" id="{7BB799D5-7966-752F-184F-5D2244C21FA4}"/>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6150" name="Rectangle 3">
            <a:extLst>
              <a:ext uri="{FF2B5EF4-FFF2-40B4-BE49-F238E27FC236}">
                <a16:creationId xmlns:a16="http://schemas.microsoft.com/office/drawing/2014/main" id="{197B9106-2B17-C8B8-3B63-00AFD9517955}"/>
              </a:ext>
            </a:extLst>
          </p:cNvPr>
          <p:cNvSpPr>
            <a:spLocks noGrp="1" noChangeArrowheads="1"/>
          </p:cNvSpPr>
          <p:nvPr>
            <p:ph type="body" idx="1"/>
          </p:nvPr>
        </p:nvSpPr>
        <p:spPr>
          <a:xfrm>
            <a:off x="1116013" y="1412875"/>
            <a:ext cx="7499350" cy="4752975"/>
          </a:xfrm>
        </p:spPr>
        <p:txBody>
          <a:bodyPr/>
          <a:lstStyle/>
          <a:p>
            <a:pPr eaLnBrk="1" hangingPunct="1"/>
            <a:r>
              <a:rPr lang="en-US" altLang="zh-CN"/>
              <a:t>1</a:t>
            </a:r>
            <a:r>
              <a:rPr lang="zh-CN" altLang="en-US"/>
              <a:t>、任务的基本概念</a:t>
            </a:r>
          </a:p>
          <a:p>
            <a:pPr eaLnBrk="1" hangingPunct="1"/>
            <a:r>
              <a:rPr lang="en-US" altLang="zh-CN"/>
              <a:t>2</a:t>
            </a:r>
            <a:r>
              <a:rPr lang="zh-CN" altLang="en-US"/>
              <a:t>、任务堆栈</a:t>
            </a:r>
          </a:p>
          <a:p>
            <a:pPr eaLnBrk="1" hangingPunct="1"/>
            <a:r>
              <a:rPr lang="en-US" altLang="zh-CN"/>
              <a:t>3</a:t>
            </a:r>
            <a:r>
              <a:rPr lang="zh-CN" altLang="en-US"/>
              <a:t>、任务控制块及任务控制块链表</a:t>
            </a:r>
          </a:p>
          <a:p>
            <a:pPr eaLnBrk="1" hangingPunct="1"/>
            <a:r>
              <a:rPr lang="en-US" altLang="zh-CN"/>
              <a:t>4</a:t>
            </a:r>
            <a:r>
              <a:rPr lang="zh-CN" altLang="en-US"/>
              <a:t>、任务就绪表及任务调度</a:t>
            </a:r>
          </a:p>
          <a:p>
            <a:pPr eaLnBrk="1" hangingPunct="1"/>
            <a:r>
              <a:rPr lang="en-US" altLang="zh-CN"/>
              <a:t>5</a:t>
            </a:r>
            <a:r>
              <a:rPr lang="zh-CN" altLang="en-US"/>
              <a:t>、任务的创建</a:t>
            </a:r>
          </a:p>
          <a:p>
            <a:pPr eaLnBrk="1" hangingPunct="1"/>
            <a:r>
              <a:rPr lang="en-US" altLang="zh-CN"/>
              <a:t>6</a:t>
            </a:r>
            <a:r>
              <a:rPr lang="zh-CN" altLang="en-US"/>
              <a:t>、任务的挂起和恢复</a:t>
            </a:r>
          </a:p>
          <a:p>
            <a:pPr eaLnBrk="1" hangingPunct="1"/>
            <a:r>
              <a:rPr lang="en-US" altLang="zh-CN"/>
              <a:t>7</a:t>
            </a:r>
            <a:r>
              <a:rPr lang="zh-CN" altLang="en-US"/>
              <a:t>、其他任务管理函数</a:t>
            </a:r>
          </a:p>
          <a:p>
            <a:pPr eaLnBrk="1" hangingPunct="1"/>
            <a:r>
              <a:rPr lang="en-US" altLang="zh-CN"/>
              <a:t>8</a:t>
            </a:r>
            <a:r>
              <a:rPr lang="zh-CN" altLang="en-US"/>
              <a:t>、</a:t>
            </a:r>
            <a:r>
              <a:rPr lang="en-US" altLang="zh-CN"/>
              <a:t>uC/OS-II</a:t>
            </a:r>
            <a:r>
              <a:rPr lang="zh-CN" altLang="en-US"/>
              <a:t>的初始化和任务的启动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3">
            <a:extLst>
              <a:ext uri="{FF2B5EF4-FFF2-40B4-BE49-F238E27FC236}">
                <a16:creationId xmlns:a16="http://schemas.microsoft.com/office/drawing/2014/main" id="{EDBC0292-417A-B6A6-8D5F-5B4AD7FD81D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171" name="灯片编号占位符 4">
            <a:extLst>
              <a:ext uri="{FF2B5EF4-FFF2-40B4-BE49-F238E27FC236}">
                <a16:creationId xmlns:a16="http://schemas.microsoft.com/office/drawing/2014/main" id="{6BC2C515-CF92-5848-577E-F8988F6B5F2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57BAB92-8568-4527-8745-564D8AC180A6}" type="slidenum">
              <a:rPr lang="en-US" altLang="zh-CN" sz="1200" smtClean="0">
                <a:solidFill>
                  <a:srgbClr val="3366FF"/>
                </a:solidFill>
                <a:latin typeface="Arial Black" panose="020B0A04020102020204" pitchFamily="34" charset="0"/>
              </a:rPr>
              <a:pPr>
                <a:spcBef>
                  <a:spcPct val="0"/>
                </a:spcBef>
                <a:buClrTx/>
                <a:buSzTx/>
                <a:buFontTx/>
                <a:buNone/>
              </a:pPr>
              <a:t>4</a:t>
            </a:fld>
            <a:endParaRPr lang="en-US" altLang="zh-CN" sz="1200">
              <a:solidFill>
                <a:srgbClr val="3366FF"/>
              </a:solidFill>
              <a:latin typeface="Arial Black" panose="020B0A04020102020204" pitchFamily="34" charset="0"/>
            </a:endParaRPr>
          </a:p>
        </p:txBody>
      </p:sp>
      <p:sp>
        <p:nvSpPr>
          <p:cNvPr id="7172" name="日期占位符 5">
            <a:extLst>
              <a:ext uri="{FF2B5EF4-FFF2-40B4-BE49-F238E27FC236}">
                <a16:creationId xmlns:a16="http://schemas.microsoft.com/office/drawing/2014/main" id="{CEBF3707-3873-7068-A1A0-E701C55A238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FE2A97-FB2E-4FE8-A0BC-3FCA0C7360B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173" name="Rectangle 2">
            <a:extLst>
              <a:ext uri="{FF2B5EF4-FFF2-40B4-BE49-F238E27FC236}">
                <a16:creationId xmlns:a16="http://schemas.microsoft.com/office/drawing/2014/main" id="{5A45D5BA-44FA-2894-EC0E-415A346EDA75}"/>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7174" name="Rectangle 3">
            <a:extLst>
              <a:ext uri="{FF2B5EF4-FFF2-40B4-BE49-F238E27FC236}">
                <a16:creationId xmlns:a16="http://schemas.microsoft.com/office/drawing/2014/main" id="{80DDBBDD-1639-A6B8-3984-932C9B4D00D5}"/>
              </a:ext>
            </a:extLst>
          </p:cNvPr>
          <p:cNvSpPr>
            <a:spLocks noGrp="1" noChangeArrowheads="1"/>
          </p:cNvSpPr>
          <p:nvPr>
            <p:ph type="body" idx="1"/>
          </p:nvPr>
        </p:nvSpPr>
        <p:spPr>
          <a:xfrm>
            <a:off x="1116013" y="1412875"/>
            <a:ext cx="7499350" cy="4752975"/>
          </a:xfrm>
        </p:spPr>
        <p:txBody>
          <a:bodyPr/>
          <a:lstStyle/>
          <a:p>
            <a:pPr eaLnBrk="1" hangingPunct="1"/>
            <a:r>
              <a:rPr lang="en-US" altLang="zh-CN"/>
              <a:t>1</a:t>
            </a:r>
            <a:r>
              <a:rPr lang="zh-CN" altLang="en-US"/>
              <a:t>、任务的特性</a:t>
            </a:r>
          </a:p>
          <a:p>
            <a:pPr eaLnBrk="1" hangingPunct="1"/>
            <a:r>
              <a:rPr lang="en-US" altLang="zh-CN"/>
              <a:t>2</a:t>
            </a:r>
            <a:r>
              <a:rPr lang="zh-CN" altLang="en-US"/>
              <a:t>、任务的划分目标</a:t>
            </a:r>
          </a:p>
          <a:p>
            <a:pPr eaLnBrk="1" hangingPunct="1"/>
            <a:r>
              <a:rPr lang="en-US" altLang="zh-CN"/>
              <a:t>3</a:t>
            </a:r>
            <a:r>
              <a:rPr lang="zh-CN" altLang="en-US"/>
              <a:t>、任务的划分方法</a:t>
            </a:r>
          </a:p>
          <a:p>
            <a:pPr eaLnBrk="1" hangingPunct="1"/>
            <a:r>
              <a:rPr lang="en-US" altLang="zh-CN"/>
              <a:t>4</a:t>
            </a:r>
            <a:r>
              <a:rPr lang="zh-CN" altLang="en-US"/>
              <a:t>、任务的可调度性分析</a:t>
            </a:r>
          </a:p>
          <a:p>
            <a:pPr eaLnBrk="1" hangingPunct="1"/>
            <a:r>
              <a:rPr lang="en-US" altLang="zh-CN"/>
              <a:t>5</a:t>
            </a:r>
            <a:r>
              <a:rPr lang="zh-CN" altLang="en-US"/>
              <a:t>、任务的执行分类和优先级安排</a:t>
            </a:r>
          </a:p>
          <a:p>
            <a:pPr eaLnBrk="1" hangingPunct="1"/>
            <a:r>
              <a:rPr lang="en-US" altLang="zh-CN"/>
              <a:t>6</a:t>
            </a:r>
            <a:r>
              <a:rPr lang="zh-CN" altLang="en-US"/>
              <a:t>、任务设计中的问题</a:t>
            </a:r>
          </a:p>
          <a:p>
            <a:pPr eaLnBrk="1" hangingPunct="1"/>
            <a:r>
              <a:rPr lang="en-US" altLang="zh-CN"/>
              <a:t>7</a:t>
            </a:r>
            <a:r>
              <a:rPr lang="zh-CN" altLang="en-US"/>
              <a:t>、系统设计编码实现过程</a:t>
            </a:r>
          </a:p>
          <a:p>
            <a:pPr eaLnBrk="1" hangingPunct="1"/>
            <a:r>
              <a:rPr lang="en-US" altLang="zh-CN"/>
              <a:t>8</a:t>
            </a:r>
            <a:r>
              <a:rPr lang="zh-CN" altLang="en-US"/>
              <a:t>、中断服务程序的设计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3">
            <a:extLst>
              <a:ext uri="{FF2B5EF4-FFF2-40B4-BE49-F238E27FC236}">
                <a16:creationId xmlns:a16="http://schemas.microsoft.com/office/drawing/2014/main" id="{AB4B3A80-8253-FC5C-31B2-CC169C28BEA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195" name="灯片编号占位符 4">
            <a:extLst>
              <a:ext uri="{FF2B5EF4-FFF2-40B4-BE49-F238E27FC236}">
                <a16:creationId xmlns:a16="http://schemas.microsoft.com/office/drawing/2014/main" id="{A36E7F69-FE30-E693-D6D6-B37A9BE9BC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5758FA3-671B-475A-949B-70CE5A61C2B0}" type="slidenum">
              <a:rPr lang="en-US" altLang="zh-CN" sz="1200" smtClean="0">
                <a:solidFill>
                  <a:srgbClr val="3366FF"/>
                </a:solidFill>
                <a:latin typeface="Arial Black" panose="020B0A04020102020204" pitchFamily="34" charset="0"/>
              </a:rPr>
              <a:pPr>
                <a:spcBef>
                  <a:spcPct val="0"/>
                </a:spcBef>
                <a:buClrTx/>
                <a:buSzTx/>
                <a:buFontTx/>
                <a:buNone/>
              </a:pPr>
              <a:t>5</a:t>
            </a:fld>
            <a:endParaRPr lang="en-US" altLang="zh-CN" sz="1200">
              <a:solidFill>
                <a:srgbClr val="3366FF"/>
              </a:solidFill>
              <a:latin typeface="Arial Black" panose="020B0A04020102020204" pitchFamily="34" charset="0"/>
            </a:endParaRPr>
          </a:p>
        </p:txBody>
      </p:sp>
      <p:sp>
        <p:nvSpPr>
          <p:cNvPr id="8196" name="日期占位符 5">
            <a:extLst>
              <a:ext uri="{FF2B5EF4-FFF2-40B4-BE49-F238E27FC236}">
                <a16:creationId xmlns:a16="http://schemas.microsoft.com/office/drawing/2014/main" id="{C19314D3-BA9F-9C98-7DF7-EE4FDB91B0C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B023741-17B8-487C-9572-DCE44C09050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197" name="Rectangle 2">
            <a:extLst>
              <a:ext uri="{FF2B5EF4-FFF2-40B4-BE49-F238E27FC236}">
                <a16:creationId xmlns:a16="http://schemas.microsoft.com/office/drawing/2014/main" id="{8376987B-AE86-5386-19F7-72A3FE14EFB4}"/>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8198" name="Rectangle 3">
            <a:extLst>
              <a:ext uri="{FF2B5EF4-FFF2-40B4-BE49-F238E27FC236}">
                <a16:creationId xmlns:a16="http://schemas.microsoft.com/office/drawing/2014/main" id="{5C3BBE6C-862B-317A-E073-16430A01D03A}"/>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rgbClr val="FF0000"/>
                </a:solidFill>
              </a:rPr>
              <a:t>1</a:t>
            </a:r>
            <a:r>
              <a:rPr lang="zh-CN" altLang="en-US">
                <a:solidFill>
                  <a:srgbClr val="FF0000"/>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3">
            <a:extLst>
              <a:ext uri="{FF2B5EF4-FFF2-40B4-BE49-F238E27FC236}">
                <a16:creationId xmlns:a16="http://schemas.microsoft.com/office/drawing/2014/main" id="{3EA9974D-5FDF-BDB2-FB89-B0B98A35783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219" name="灯片编号占位符 4">
            <a:extLst>
              <a:ext uri="{FF2B5EF4-FFF2-40B4-BE49-F238E27FC236}">
                <a16:creationId xmlns:a16="http://schemas.microsoft.com/office/drawing/2014/main" id="{B0F6EAAC-DBA4-A6E5-DF76-E2121B14A4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6CFC04-EDCD-46BA-A681-63D3F08DB32F}" type="slidenum">
              <a:rPr lang="en-US" altLang="zh-CN" sz="1200" smtClean="0">
                <a:solidFill>
                  <a:srgbClr val="3366FF"/>
                </a:solidFill>
                <a:latin typeface="Arial Black" panose="020B0A04020102020204" pitchFamily="34" charset="0"/>
              </a:rPr>
              <a:pPr>
                <a:spcBef>
                  <a:spcPct val="0"/>
                </a:spcBef>
                <a:buClrTx/>
                <a:buSzTx/>
                <a:buFontTx/>
                <a:buNone/>
              </a:pPr>
              <a:t>6</a:t>
            </a:fld>
            <a:endParaRPr lang="en-US" altLang="zh-CN" sz="1200">
              <a:solidFill>
                <a:srgbClr val="3366FF"/>
              </a:solidFill>
              <a:latin typeface="Arial Black" panose="020B0A04020102020204" pitchFamily="34" charset="0"/>
            </a:endParaRPr>
          </a:p>
        </p:txBody>
      </p:sp>
      <p:sp>
        <p:nvSpPr>
          <p:cNvPr id="9220" name="日期占位符 5">
            <a:extLst>
              <a:ext uri="{FF2B5EF4-FFF2-40B4-BE49-F238E27FC236}">
                <a16:creationId xmlns:a16="http://schemas.microsoft.com/office/drawing/2014/main" id="{5DF3D3B5-0E0E-5AE7-3F43-D26473B0DE2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AB677B8-0DE2-4BCB-9B0B-715D9E8564D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221" name="Rectangle 2">
            <a:extLst>
              <a:ext uri="{FF2B5EF4-FFF2-40B4-BE49-F238E27FC236}">
                <a16:creationId xmlns:a16="http://schemas.microsoft.com/office/drawing/2014/main" id="{EBB37F91-0BEB-208B-8BE1-33256E350C70}"/>
              </a:ext>
            </a:extLst>
          </p:cNvPr>
          <p:cNvSpPr>
            <a:spLocks noGrp="1" noChangeArrowheads="1"/>
          </p:cNvSpPr>
          <p:nvPr>
            <p:ph type="title"/>
          </p:nvPr>
        </p:nvSpPr>
        <p:spPr>
          <a:xfrm>
            <a:off x="457200" y="744538"/>
            <a:ext cx="8229600" cy="668337"/>
          </a:xfrm>
        </p:spPr>
        <p:txBody>
          <a:bodyPr/>
          <a:lstStyle/>
          <a:p>
            <a:pPr eaLnBrk="1" hangingPunct="1"/>
            <a:r>
              <a:rPr lang="en-US" altLang="zh-CN" sz="4000" b="1"/>
              <a:t>2.1   </a:t>
            </a:r>
            <a:r>
              <a:rPr lang="zh-CN" altLang="en-US" sz="4000" b="1"/>
              <a:t>任务的基本概念</a:t>
            </a:r>
          </a:p>
        </p:txBody>
      </p:sp>
      <p:sp>
        <p:nvSpPr>
          <p:cNvPr id="9222" name="Rectangle 5">
            <a:extLst>
              <a:ext uri="{FF2B5EF4-FFF2-40B4-BE49-F238E27FC236}">
                <a16:creationId xmlns:a16="http://schemas.microsoft.com/office/drawing/2014/main" id="{6CEE9576-D30C-A256-3BD6-71037D3E0C91}"/>
              </a:ext>
            </a:extLst>
          </p:cNvPr>
          <p:cNvSpPr>
            <a:spLocks noGrp="1" noChangeArrowheads="1"/>
          </p:cNvSpPr>
          <p:nvPr>
            <p:ph type="body" idx="1"/>
          </p:nvPr>
        </p:nvSpPr>
        <p:spPr>
          <a:xfrm>
            <a:off x="457200" y="1555750"/>
            <a:ext cx="8229600" cy="2952750"/>
          </a:xfrm>
        </p:spPr>
        <p:txBody>
          <a:bodyPr/>
          <a:lstStyle/>
          <a:p>
            <a:pPr marL="450850" indent="-450850" eaLnBrk="1" hangingPunct="1">
              <a:buClr>
                <a:srgbClr val="1F29F9"/>
              </a:buClr>
            </a:pPr>
            <a:r>
              <a:rPr lang="zh-CN" altLang="en-US" sz="2800"/>
              <a:t>复杂问题 “分而治之” 的问题解题思路。</a:t>
            </a:r>
          </a:p>
          <a:p>
            <a:pPr marL="450850" indent="-450850" eaLnBrk="1" hangingPunct="1">
              <a:buClr>
                <a:srgbClr val="1F29F9"/>
              </a:buClr>
            </a:pPr>
            <a:r>
              <a:rPr lang="zh-CN" altLang="en-US" sz="2800"/>
              <a:t>针对目标系统拆分后的 “小且易” 的问题的具体处理方法编码和数据结构 </a:t>
            </a:r>
            <a:r>
              <a:rPr lang="en-US" altLang="zh-CN" sz="2800"/>
              <a:t>---- </a:t>
            </a:r>
            <a:r>
              <a:rPr lang="zh-CN" altLang="en-US" sz="2800"/>
              <a:t>任务。</a:t>
            </a:r>
          </a:p>
          <a:p>
            <a:pPr marL="450850" indent="-450850" eaLnBrk="1" hangingPunct="1">
              <a:buClr>
                <a:srgbClr val="1F29F9"/>
              </a:buClr>
            </a:pPr>
            <a:r>
              <a:rPr lang="en-US" altLang="zh-CN" sz="2800"/>
              <a:t>uC/OS-II</a:t>
            </a:r>
            <a:r>
              <a:rPr lang="zh-CN" altLang="en-US" sz="2800"/>
              <a:t>的两种任务：系统任务、用户任务。</a:t>
            </a:r>
          </a:p>
          <a:p>
            <a:pPr marL="450850" indent="-450850" eaLnBrk="1" hangingPunct="1">
              <a:buClr>
                <a:srgbClr val="1F29F9"/>
              </a:buClr>
            </a:pPr>
            <a:r>
              <a:rPr lang="zh-CN" altLang="en-US" sz="2800"/>
              <a:t>任务的组成：</a:t>
            </a:r>
          </a:p>
        </p:txBody>
      </p:sp>
      <p:sp>
        <p:nvSpPr>
          <p:cNvPr id="9223" name="Text Box 6">
            <a:extLst>
              <a:ext uri="{FF2B5EF4-FFF2-40B4-BE49-F238E27FC236}">
                <a16:creationId xmlns:a16="http://schemas.microsoft.com/office/drawing/2014/main" id="{67E0CA38-325F-5504-FC46-2E7CF169E629}"/>
              </a:ext>
            </a:extLst>
          </p:cNvPr>
          <p:cNvSpPr txBox="1">
            <a:spLocks noChangeArrowheads="1"/>
          </p:cNvSpPr>
          <p:nvPr/>
        </p:nvSpPr>
        <p:spPr bwMode="auto">
          <a:xfrm>
            <a:off x="684213" y="4148138"/>
            <a:ext cx="813752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99FF"/>
              </a:buClr>
              <a:buSzPct val="50000"/>
            </a:pPr>
            <a:r>
              <a:rPr lang="zh-CN" altLang="en-US" sz="2600" b="0"/>
              <a:t>任务控制块 </a:t>
            </a:r>
            <a:r>
              <a:rPr lang="en-US" altLang="zh-CN" sz="2600" b="0"/>
              <a:t>---- </a:t>
            </a:r>
            <a:r>
              <a:rPr lang="en-US" altLang="zh-CN" sz="2400" b="0"/>
              <a:t>uC/OS-II</a:t>
            </a:r>
            <a:r>
              <a:rPr lang="zh-CN" altLang="en-US" sz="2400" b="0"/>
              <a:t>进行任务管理用的一个数据结构。</a:t>
            </a:r>
          </a:p>
          <a:p>
            <a:pPr eaLnBrk="1" hangingPunct="1">
              <a:buClr>
                <a:srgbClr val="3399FF"/>
              </a:buClr>
              <a:buSzPct val="50000"/>
            </a:pPr>
            <a:r>
              <a:rPr lang="zh-CN" altLang="en-US" sz="2600" b="0"/>
              <a:t>任务代码 </a:t>
            </a:r>
            <a:r>
              <a:rPr lang="en-US" altLang="zh-CN" sz="2600" b="0"/>
              <a:t>---- </a:t>
            </a:r>
            <a:r>
              <a:rPr lang="zh-CN" altLang="en-US" sz="2400" b="0"/>
              <a:t>描述任务算法的程序编码。</a:t>
            </a:r>
          </a:p>
          <a:p>
            <a:pPr eaLnBrk="1" hangingPunct="1">
              <a:buClr>
                <a:srgbClr val="3399FF"/>
              </a:buClr>
              <a:buSzPct val="50000"/>
            </a:pPr>
            <a:r>
              <a:rPr lang="zh-CN" altLang="en-US" sz="2600" b="0"/>
              <a:t>任务堆栈 </a:t>
            </a:r>
            <a:r>
              <a:rPr lang="en-US" altLang="zh-CN" sz="2600" b="0"/>
              <a:t>---- </a:t>
            </a:r>
            <a:r>
              <a:rPr lang="zh-CN" altLang="en-US" sz="2400" b="0"/>
              <a:t>任务的工作现场环境。</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3">
            <a:extLst>
              <a:ext uri="{FF2B5EF4-FFF2-40B4-BE49-F238E27FC236}">
                <a16:creationId xmlns:a16="http://schemas.microsoft.com/office/drawing/2014/main" id="{C388A87F-A774-BF32-1231-983476E6C7A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243" name="灯片编号占位符 4">
            <a:extLst>
              <a:ext uri="{FF2B5EF4-FFF2-40B4-BE49-F238E27FC236}">
                <a16:creationId xmlns:a16="http://schemas.microsoft.com/office/drawing/2014/main" id="{F94AF5F3-18D6-EB15-7CDD-7E8A3E763AE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DA4D4A4-2F40-4A2A-B784-685DDE4E4D1E}" type="slidenum">
              <a:rPr lang="en-US" altLang="zh-CN" sz="1200" smtClean="0">
                <a:solidFill>
                  <a:srgbClr val="3366FF"/>
                </a:solidFill>
                <a:latin typeface="Arial Black" panose="020B0A04020102020204" pitchFamily="34" charset="0"/>
              </a:rPr>
              <a:pPr>
                <a:spcBef>
                  <a:spcPct val="0"/>
                </a:spcBef>
                <a:buClrTx/>
                <a:buSzTx/>
                <a:buFontTx/>
                <a:buNone/>
              </a:pPr>
              <a:t>7</a:t>
            </a:fld>
            <a:endParaRPr lang="en-US" altLang="zh-CN" sz="1200">
              <a:solidFill>
                <a:srgbClr val="3366FF"/>
              </a:solidFill>
              <a:latin typeface="Arial Black" panose="020B0A04020102020204" pitchFamily="34" charset="0"/>
            </a:endParaRPr>
          </a:p>
        </p:txBody>
      </p:sp>
      <p:sp>
        <p:nvSpPr>
          <p:cNvPr id="10244" name="日期占位符 5">
            <a:extLst>
              <a:ext uri="{FF2B5EF4-FFF2-40B4-BE49-F238E27FC236}">
                <a16:creationId xmlns:a16="http://schemas.microsoft.com/office/drawing/2014/main" id="{A0431270-8E11-1FB9-845E-7033541831F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1F4EF7A-60E1-4A25-91A1-D8E1AD00815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245" name="Rectangle 2">
            <a:extLst>
              <a:ext uri="{FF2B5EF4-FFF2-40B4-BE49-F238E27FC236}">
                <a16:creationId xmlns:a16="http://schemas.microsoft.com/office/drawing/2014/main" id="{7F66FE80-DEDF-1607-2C85-D89CBCB89476}"/>
              </a:ext>
            </a:extLst>
          </p:cNvPr>
          <p:cNvSpPr>
            <a:spLocks noGrp="1" noChangeArrowheads="1"/>
          </p:cNvSpPr>
          <p:nvPr>
            <p:ph type="title"/>
          </p:nvPr>
        </p:nvSpPr>
        <p:spPr/>
        <p:txBody>
          <a:bodyPr/>
          <a:lstStyle/>
          <a:p>
            <a:pPr eaLnBrk="1" hangingPunct="1"/>
            <a:r>
              <a:rPr lang="en-US" altLang="zh-CN" sz="4000" b="1">
                <a:solidFill>
                  <a:srgbClr val="080808"/>
                </a:solidFill>
              </a:rPr>
              <a:t>2.1   </a:t>
            </a:r>
            <a:r>
              <a:rPr lang="zh-CN" altLang="en-US" sz="4000" b="1">
                <a:solidFill>
                  <a:srgbClr val="080808"/>
                </a:solidFill>
              </a:rPr>
              <a:t>任务的基本概念</a:t>
            </a:r>
          </a:p>
        </p:txBody>
      </p:sp>
      <p:pic>
        <p:nvPicPr>
          <p:cNvPr id="34820" name="Picture 4">
            <a:extLst>
              <a:ext uri="{FF2B5EF4-FFF2-40B4-BE49-F238E27FC236}">
                <a16:creationId xmlns:a16="http://schemas.microsoft.com/office/drawing/2014/main" id="{36C515E0-AF82-221F-9DD1-73DE01308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438" t="11458" r="17969" b="19792"/>
          <a:stretch>
            <a:fillRect/>
          </a:stretch>
        </p:blipFill>
        <p:spPr bwMode="auto">
          <a:xfrm>
            <a:off x="468313" y="1411288"/>
            <a:ext cx="7993062"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a:extLst>
              <a:ext uri="{FF2B5EF4-FFF2-40B4-BE49-F238E27FC236}">
                <a16:creationId xmlns:a16="http://schemas.microsoft.com/office/drawing/2014/main" id="{33EFD34E-C416-30A4-A10E-1B594DD48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750" t="14583" r="12500" b="22917"/>
          <a:stretch>
            <a:fillRect/>
          </a:stretch>
        </p:blipFill>
        <p:spPr bwMode="auto">
          <a:xfrm>
            <a:off x="179388" y="1412875"/>
            <a:ext cx="8763000" cy="4897438"/>
          </a:xfrm>
          <a:prstGeom prst="rect">
            <a:avLst/>
          </a:prstGeom>
          <a:noFill/>
          <a:ln w="76200" cmpd="tri">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ox(in)">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4822"/>
                                        </p:tgtEl>
                                        <p:attrNameLst>
                                          <p:attrName>style.visibility</p:attrName>
                                        </p:attrNameLst>
                                      </p:cBhvr>
                                      <p:to>
                                        <p:strVal val="visible"/>
                                      </p:to>
                                    </p:set>
                                    <p:animEffect transition="in" filter="box(out)">
                                      <p:cBhvr>
                                        <p:cTn id="12" dur="500"/>
                                        <p:tgtEl>
                                          <p:spTgt spid="3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a:extLst>
              <a:ext uri="{FF2B5EF4-FFF2-40B4-BE49-F238E27FC236}">
                <a16:creationId xmlns:a16="http://schemas.microsoft.com/office/drawing/2014/main" id="{1A90C17C-8E08-B979-DBA5-F9FA905DCD9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267" name="灯片编号占位符 4">
            <a:extLst>
              <a:ext uri="{FF2B5EF4-FFF2-40B4-BE49-F238E27FC236}">
                <a16:creationId xmlns:a16="http://schemas.microsoft.com/office/drawing/2014/main" id="{6268DF6B-C809-6114-5FD0-C9980BD37D4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E4D786A-7A0D-4998-8D1F-FBB7444708BF}" type="slidenum">
              <a:rPr lang="en-US" altLang="zh-CN" sz="1200" smtClean="0">
                <a:solidFill>
                  <a:srgbClr val="3366FF"/>
                </a:solidFill>
                <a:latin typeface="Arial Black" panose="020B0A04020102020204" pitchFamily="34" charset="0"/>
              </a:rPr>
              <a:pPr>
                <a:spcBef>
                  <a:spcPct val="0"/>
                </a:spcBef>
                <a:buClrTx/>
                <a:buSzTx/>
                <a:buFontTx/>
                <a:buNone/>
              </a:pPr>
              <a:t>8</a:t>
            </a:fld>
            <a:endParaRPr lang="en-US" altLang="zh-CN" sz="1200">
              <a:solidFill>
                <a:srgbClr val="3366FF"/>
              </a:solidFill>
              <a:latin typeface="Arial Black" panose="020B0A04020102020204" pitchFamily="34" charset="0"/>
            </a:endParaRPr>
          </a:p>
        </p:txBody>
      </p:sp>
      <p:sp>
        <p:nvSpPr>
          <p:cNvPr id="11268" name="日期占位符 5">
            <a:extLst>
              <a:ext uri="{FF2B5EF4-FFF2-40B4-BE49-F238E27FC236}">
                <a16:creationId xmlns:a16="http://schemas.microsoft.com/office/drawing/2014/main" id="{A2F6DFFB-0FC1-6225-8E0A-3E3C5F4C38A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7FC9A26-C200-44F3-AEF5-CAEBCACEDAA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269" name="Rectangle 4">
            <a:extLst>
              <a:ext uri="{FF2B5EF4-FFF2-40B4-BE49-F238E27FC236}">
                <a16:creationId xmlns:a16="http://schemas.microsoft.com/office/drawing/2014/main" id="{2F6C333C-4F27-17E6-8E69-0AF7137306E5}"/>
              </a:ext>
            </a:extLst>
          </p:cNvPr>
          <p:cNvSpPr>
            <a:spLocks noGrp="1" noChangeArrowheads="1"/>
          </p:cNvSpPr>
          <p:nvPr>
            <p:ph type="title"/>
          </p:nvPr>
        </p:nvSpPr>
        <p:spPr>
          <a:xfrm>
            <a:off x="457200" y="765175"/>
            <a:ext cx="8229600" cy="668338"/>
          </a:xfrm>
        </p:spPr>
        <p:txBody>
          <a:bodyPr/>
          <a:lstStyle/>
          <a:p>
            <a:pPr eaLnBrk="1" hangingPunct="1"/>
            <a:r>
              <a:rPr lang="en-US" altLang="zh-CN" sz="4000" b="1">
                <a:solidFill>
                  <a:srgbClr val="080808"/>
                </a:solidFill>
              </a:rPr>
              <a:t>2.1    </a:t>
            </a:r>
            <a:r>
              <a:rPr lang="zh-CN" altLang="en-US" sz="4000" b="1">
                <a:solidFill>
                  <a:srgbClr val="080808"/>
                </a:solidFill>
              </a:rPr>
              <a:t>任务的基本概念</a:t>
            </a:r>
          </a:p>
        </p:txBody>
      </p:sp>
      <p:sp>
        <p:nvSpPr>
          <p:cNvPr id="35846" name="Text Box 6" descr="羊皮纸">
            <a:extLst>
              <a:ext uri="{FF2B5EF4-FFF2-40B4-BE49-F238E27FC236}">
                <a16:creationId xmlns:a16="http://schemas.microsoft.com/office/drawing/2014/main" id="{B56799CC-A6AB-4920-2AAE-4E38570F7C57}"/>
              </a:ext>
            </a:extLst>
          </p:cNvPr>
          <p:cNvSpPr txBox="1">
            <a:spLocks noChangeArrowheads="1"/>
          </p:cNvSpPr>
          <p:nvPr/>
        </p:nvSpPr>
        <p:spPr bwMode="auto">
          <a:xfrm>
            <a:off x="682625" y="2060575"/>
            <a:ext cx="7777163" cy="242887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a:t>       “</a:t>
            </a:r>
            <a:r>
              <a:rPr lang="zh-CN" altLang="en-US"/>
              <a:t>宏观” 上的多任务并发，实际上是用单 </a:t>
            </a:r>
            <a:r>
              <a:rPr lang="en-US" altLang="zh-CN"/>
              <a:t>CPU </a:t>
            </a:r>
            <a:r>
              <a:rPr lang="zh-CN" altLang="en-US"/>
              <a:t>进行多任务处理，“微观” 任何时刻，只能运行一个任务，存在</a:t>
            </a:r>
            <a:r>
              <a:rPr lang="en-US" altLang="zh-CN"/>
              <a:t>CPU</a:t>
            </a:r>
            <a:r>
              <a:rPr lang="zh-CN" altLang="en-US"/>
              <a:t>资源竞争 </a:t>
            </a:r>
            <a:r>
              <a:rPr lang="en-US" altLang="zh-CN"/>
              <a:t>---- </a:t>
            </a:r>
            <a:r>
              <a:rPr lang="zh-CN" altLang="en-US"/>
              <a:t>任务调度、任务现场。</a:t>
            </a:r>
          </a:p>
        </p:txBody>
      </p:sp>
      <p:sp>
        <p:nvSpPr>
          <p:cNvPr id="35847" name="Text Box 7" descr="蓝色面巾纸">
            <a:extLst>
              <a:ext uri="{FF2B5EF4-FFF2-40B4-BE49-F238E27FC236}">
                <a16:creationId xmlns:a16="http://schemas.microsoft.com/office/drawing/2014/main" id="{C74757C2-0FCE-BE5C-3743-3931596C230F}"/>
              </a:ext>
            </a:extLst>
          </p:cNvPr>
          <p:cNvSpPr txBox="1">
            <a:spLocks noChangeArrowheads="1"/>
          </p:cNvSpPr>
          <p:nvPr/>
        </p:nvSpPr>
        <p:spPr bwMode="auto">
          <a:xfrm>
            <a:off x="684213" y="2060575"/>
            <a:ext cx="7777162" cy="26733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a:t>     </a:t>
            </a:r>
            <a:r>
              <a:rPr lang="zh-CN" altLang="en-US"/>
              <a:t>各个任务在多任务系统中也随着环境条件的情况而具有不同的状态。</a:t>
            </a:r>
          </a:p>
          <a:p>
            <a:pPr eaLnBrk="1" hangingPunct="1">
              <a:lnSpc>
                <a:spcPct val="120000"/>
              </a:lnSpc>
              <a:spcBef>
                <a:spcPct val="50000"/>
              </a:spcBef>
              <a:buClrTx/>
              <a:buSzTx/>
              <a:buFontTx/>
              <a:buNone/>
            </a:pPr>
            <a:r>
              <a:rPr lang="zh-CN" altLang="en-US"/>
              <a:t>     任务状态划分也是多任务操作系统的管理手段。</a:t>
            </a:r>
          </a:p>
        </p:txBody>
      </p:sp>
      <p:grpSp>
        <p:nvGrpSpPr>
          <p:cNvPr id="2" name="Group 13">
            <a:extLst>
              <a:ext uri="{FF2B5EF4-FFF2-40B4-BE49-F238E27FC236}">
                <a16:creationId xmlns:a16="http://schemas.microsoft.com/office/drawing/2014/main" id="{4B1F4037-A11C-23B5-588E-9C09112FBFED}"/>
              </a:ext>
            </a:extLst>
          </p:cNvPr>
          <p:cNvGrpSpPr>
            <a:grpSpLocks/>
          </p:cNvGrpSpPr>
          <p:nvPr/>
        </p:nvGrpSpPr>
        <p:grpSpPr bwMode="auto">
          <a:xfrm>
            <a:off x="611188" y="1989138"/>
            <a:ext cx="7848600" cy="3484562"/>
            <a:chOff x="385" y="1253"/>
            <a:chExt cx="4944" cy="2195"/>
          </a:xfrm>
        </p:grpSpPr>
        <p:sp>
          <p:nvSpPr>
            <p:cNvPr id="11273" name="Text Box 10" descr="画布">
              <a:extLst>
                <a:ext uri="{FF2B5EF4-FFF2-40B4-BE49-F238E27FC236}">
                  <a16:creationId xmlns:a16="http://schemas.microsoft.com/office/drawing/2014/main" id="{C07BE670-7032-FA4A-ED9A-3337F6F3C124}"/>
                </a:ext>
              </a:extLst>
            </p:cNvPr>
            <p:cNvSpPr txBox="1">
              <a:spLocks noChangeArrowheads="1"/>
            </p:cNvSpPr>
            <p:nvPr/>
          </p:nvSpPr>
          <p:spPr bwMode="auto">
            <a:xfrm>
              <a:off x="385" y="1253"/>
              <a:ext cx="4944" cy="36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
                  <a:srgbClr val="1F29F9"/>
                </a:buClr>
              </a:pPr>
              <a:r>
                <a:rPr lang="en-US" altLang="zh-CN">
                  <a:solidFill>
                    <a:srgbClr val="080808"/>
                  </a:solidFill>
                </a:rPr>
                <a:t>  </a:t>
              </a:r>
              <a:r>
                <a:rPr lang="zh-CN" altLang="en-US">
                  <a:solidFill>
                    <a:srgbClr val="080808"/>
                  </a:solidFill>
                </a:rPr>
                <a:t>任务的 </a:t>
              </a:r>
              <a:r>
                <a:rPr lang="en-US" altLang="zh-CN">
                  <a:solidFill>
                    <a:srgbClr val="080808"/>
                  </a:solidFill>
                </a:rPr>
                <a:t>5 </a:t>
              </a:r>
              <a:r>
                <a:rPr lang="zh-CN" altLang="en-US">
                  <a:solidFill>
                    <a:srgbClr val="080808"/>
                  </a:solidFill>
                </a:rPr>
                <a:t>种状态：</a:t>
              </a:r>
            </a:p>
          </p:txBody>
        </p:sp>
        <p:sp>
          <p:nvSpPr>
            <p:cNvPr id="11274" name="Text Box 11" descr="画布">
              <a:extLst>
                <a:ext uri="{FF2B5EF4-FFF2-40B4-BE49-F238E27FC236}">
                  <a16:creationId xmlns:a16="http://schemas.microsoft.com/office/drawing/2014/main" id="{72722632-E198-DCFC-99AA-12725BCEE1DE}"/>
                </a:ext>
              </a:extLst>
            </p:cNvPr>
            <p:cNvSpPr txBox="1">
              <a:spLocks noChangeArrowheads="1"/>
            </p:cNvSpPr>
            <p:nvPr/>
          </p:nvSpPr>
          <p:spPr bwMode="auto">
            <a:xfrm>
              <a:off x="385" y="1616"/>
              <a:ext cx="4944" cy="18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6575"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
                  <a:srgbClr val="6699FF"/>
                </a:buClr>
                <a:buSzPct val="50000"/>
              </a:pPr>
              <a:r>
                <a:rPr lang="en-US" altLang="zh-CN" sz="2800" b="0">
                  <a:solidFill>
                    <a:srgbClr val="080808"/>
                  </a:solidFill>
                </a:rPr>
                <a:t>Sleep ---- </a:t>
              </a:r>
              <a:r>
                <a:rPr lang="zh-CN" altLang="en-US" sz="2800" b="0">
                  <a:solidFill>
                    <a:srgbClr val="080808"/>
                  </a:solidFill>
                </a:rPr>
                <a:t>仅有编码未激活。</a:t>
              </a:r>
            </a:p>
            <a:p>
              <a:pPr eaLnBrk="1" hangingPunct="1">
                <a:spcBef>
                  <a:spcPct val="15000"/>
                </a:spcBef>
                <a:buClr>
                  <a:srgbClr val="6699FF"/>
                </a:buClr>
                <a:buSzPct val="50000"/>
              </a:pPr>
              <a:r>
                <a:rPr lang="en-US" altLang="zh-CN" sz="2800" b="0">
                  <a:solidFill>
                    <a:srgbClr val="080808"/>
                  </a:solidFill>
                </a:rPr>
                <a:t>Ready ---- </a:t>
              </a:r>
              <a:r>
                <a:rPr lang="zh-CN" altLang="en-US" sz="2800" b="0">
                  <a:solidFill>
                    <a:srgbClr val="080808"/>
                  </a:solidFill>
                </a:rPr>
                <a:t>已激活并“万事俱备，只欠调度”</a:t>
              </a:r>
            </a:p>
            <a:p>
              <a:pPr eaLnBrk="1" hangingPunct="1">
                <a:spcBef>
                  <a:spcPct val="15000"/>
                </a:spcBef>
                <a:buClr>
                  <a:srgbClr val="6699FF"/>
                </a:buClr>
                <a:buSzPct val="50000"/>
              </a:pPr>
              <a:r>
                <a:rPr lang="en-US" altLang="zh-CN" sz="2800" b="0">
                  <a:solidFill>
                    <a:srgbClr val="080808"/>
                  </a:solidFill>
                </a:rPr>
                <a:t>Running ---- </a:t>
              </a:r>
              <a:r>
                <a:rPr lang="zh-CN" altLang="en-US" sz="2800" b="0">
                  <a:solidFill>
                    <a:srgbClr val="080808"/>
                  </a:solidFill>
                </a:rPr>
                <a:t>正占用 </a:t>
              </a:r>
              <a:r>
                <a:rPr lang="en-US" altLang="zh-CN" sz="2800" b="0">
                  <a:solidFill>
                    <a:srgbClr val="080808"/>
                  </a:solidFill>
                </a:rPr>
                <a:t>CPU </a:t>
              </a:r>
              <a:r>
                <a:rPr lang="zh-CN" altLang="en-US" sz="2800" b="0">
                  <a:solidFill>
                    <a:srgbClr val="080808"/>
                  </a:solidFill>
                </a:rPr>
                <a:t>运行自己。</a:t>
              </a:r>
            </a:p>
            <a:p>
              <a:pPr eaLnBrk="1" hangingPunct="1">
                <a:spcBef>
                  <a:spcPct val="15000"/>
                </a:spcBef>
                <a:buClr>
                  <a:srgbClr val="6699FF"/>
                </a:buClr>
                <a:buSzPct val="50000"/>
              </a:pPr>
              <a:r>
                <a:rPr lang="en-US" altLang="zh-CN" sz="2800" b="0">
                  <a:solidFill>
                    <a:srgbClr val="080808"/>
                  </a:solidFill>
                </a:rPr>
                <a:t>Wait ---- </a:t>
              </a:r>
              <a:r>
                <a:rPr lang="zh-CN" altLang="en-US" sz="2800" b="0">
                  <a:solidFill>
                    <a:srgbClr val="080808"/>
                  </a:solidFill>
                </a:rPr>
                <a:t>等待某事件发生。</a:t>
              </a:r>
            </a:p>
            <a:p>
              <a:pPr eaLnBrk="1" hangingPunct="1">
                <a:spcBef>
                  <a:spcPct val="15000"/>
                </a:spcBef>
                <a:buClr>
                  <a:srgbClr val="6699FF"/>
                </a:buClr>
                <a:buSzPct val="50000"/>
              </a:pPr>
              <a:r>
                <a:rPr lang="en-US" altLang="zh-CN" sz="2800" b="0">
                  <a:solidFill>
                    <a:srgbClr val="080808"/>
                  </a:solidFill>
                </a:rPr>
                <a:t>ISR_Sta ---- Running</a:t>
              </a:r>
              <a:r>
                <a:rPr lang="zh-CN" altLang="en-US" sz="2800" b="0">
                  <a:solidFill>
                    <a:srgbClr val="080808"/>
                  </a:solidFill>
                </a:rPr>
                <a:t>状态的任务被中断后进		入的状态。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Effect transition="in" filter="blinds(horizontal)">
                                      <p:cBhvr>
                                        <p:cTn id="7" dur="500"/>
                                        <p:tgtEl>
                                          <p:spTgt spid="35846"/>
                                        </p:tgtEl>
                                      </p:cBhvr>
                                    </p:animEffect>
                                  </p:childTnLst>
                                  <p:subTnLst>
                                    <p:set>
                                      <p:cBhvr override="childStyle">
                                        <p:cTn dur="1" fill="hold" display="0" masterRel="nextClick" afterEffect="1"/>
                                        <p:tgtEl>
                                          <p:spTgt spid="3584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7"/>
                                        </p:tgtEl>
                                        <p:attrNameLst>
                                          <p:attrName>style.visibility</p:attrName>
                                        </p:attrNameLst>
                                      </p:cBhvr>
                                      <p:to>
                                        <p:strVal val="visible"/>
                                      </p:to>
                                    </p:set>
                                    <p:animEffect transition="in" filter="blinds(horizontal)">
                                      <p:cBhvr>
                                        <p:cTn id="12" dur="500"/>
                                        <p:tgtEl>
                                          <p:spTgt spid="35847"/>
                                        </p:tgtEl>
                                      </p:cBhvr>
                                    </p:animEffect>
                                  </p:childTnLst>
                                  <p:subTnLst>
                                    <p:set>
                                      <p:cBhvr override="childStyle">
                                        <p:cTn dur="1" fill="hold" display="0" masterRel="nextClick" afterEffect="1"/>
                                        <p:tgtEl>
                                          <p:spTgt spid="3584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animBg="1"/>
      <p:bldP spid="3584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1">
            <a:extLst>
              <a:ext uri="{FF2B5EF4-FFF2-40B4-BE49-F238E27FC236}">
                <a16:creationId xmlns:a16="http://schemas.microsoft.com/office/drawing/2014/main" id="{48CE4138-0FFA-B2E0-05FA-15790FCDECB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291" name="灯片编号占位符 2">
            <a:extLst>
              <a:ext uri="{FF2B5EF4-FFF2-40B4-BE49-F238E27FC236}">
                <a16:creationId xmlns:a16="http://schemas.microsoft.com/office/drawing/2014/main" id="{26BE96C0-BF07-F3CF-B9DD-F7CA4EA608E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D4D3EF0-C4D2-445E-8027-4E80B8E1803B}" type="slidenum">
              <a:rPr lang="en-US" altLang="zh-CN" sz="1200" smtClean="0">
                <a:solidFill>
                  <a:srgbClr val="3366FF"/>
                </a:solidFill>
                <a:latin typeface="Arial Black" panose="020B0A04020102020204" pitchFamily="34" charset="0"/>
              </a:rPr>
              <a:pPr>
                <a:spcBef>
                  <a:spcPct val="0"/>
                </a:spcBef>
                <a:buClrTx/>
                <a:buSzTx/>
                <a:buFontTx/>
                <a:buNone/>
              </a:pPr>
              <a:t>9</a:t>
            </a:fld>
            <a:endParaRPr lang="en-US" altLang="zh-CN" sz="1200">
              <a:solidFill>
                <a:srgbClr val="3366FF"/>
              </a:solidFill>
              <a:latin typeface="Arial Black" panose="020B0A04020102020204" pitchFamily="34" charset="0"/>
            </a:endParaRPr>
          </a:p>
        </p:txBody>
      </p:sp>
      <p:sp>
        <p:nvSpPr>
          <p:cNvPr id="12292" name="日期占位符 3">
            <a:extLst>
              <a:ext uri="{FF2B5EF4-FFF2-40B4-BE49-F238E27FC236}">
                <a16:creationId xmlns:a16="http://schemas.microsoft.com/office/drawing/2014/main" id="{92F08965-B145-A937-5968-CC0D1038808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CFCFAE4-93C9-47D0-AE1D-1D224DB9D63F}"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2293" name="Text Box 2">
            <a:extLst>
              <a:ext uri="{FF2B5EF4-FFF2-40B4-BE49-F238E27FC236}">
                <a16:creationId xmlns:a16="http://schemas.microsoft.com/office/drawing/2014/main" id="{26DF0D8B-A73C-0118-61BA-419257F7B866}"/>
              </a:ext>
            </a:extLst>
          </p:cNvPr>
          <p:cNvSpPr txBox="1">
            <a:spLocks noChangeArrowheads="1"/>
          </p:cNvSpPr>
          <p:nvPr/>
        </p:nvSpPr>
        <p:spPr bwMode="auto">
          <a:xfrm>
            <a:off x="1066800" y="1524000"/>
            <a:ext cx="7118350" cy="2911475"/>
          </a:xfrm>
          <a:prstGeom prst="rect">
            <a:avLst/>
          </a:prstGeom>
          <a:gradFill rotWithShape="0">
            <a:gsLst>
              <a:gs pos="0">
                <a:srgbClr val="6699FF"/>
              </a:gs>
              <a:gs pos="100000">
                <a:srgbClr val="2F4776"/>
              </a:gs>
            </a:gsLst>
            <a:path path="rect">
              <a:fillToRect r="100000" b="100000"/>
            </a:path>
          </a:gradFill>
          <a:ln w="76200" cmpd="tri">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6000" b="0">
              <a:latin typeface="Times New Roman" panose="02020603050405020304" pitchFamily="18" charset="0"/>
              <a:ea typeface="黑体" panose="02010609060101010101" pitchFamily="49" charset="-122"/>
            </a:endParaRPr>
          </a:p>
          <a:p>
            <a:pPr eaLnBrk="1" hangingPunct="1">
              <a:spcBef>
                <a:spcPct val="0"/>
              </a:spcBef>
              <a:buClrTx/>
              <a:buSzTx/>
              <a:buFontTx/>
              <a:buNone/>
            </a:pPr>
            <a:r>
              <a:rPr kumimoji="1" lang="zh-CN" altLang="en-US" sz="6000" b="0">
                <a:solidFill>
                  <a:schemeClr val="bg1"/>
                </a:solidFill>
                <a:latin typeface="Times New Roman" panose="02020603050405020304" pitchFamily="18" charset="0"/>
                <a:ea typeface="黑体" panose="02010609060101010101" pitchFamily="49" charset="-122"/>
              </a:rPr>
              <a:t>任务的状态及其转换</a:t>
            </a:r>
          </a:p>
          <a:p>
            <a:pPr eaLnBrk="1" hangingPunct="1">
              <a:spcBef>
                <a:spcPct val="0"/>
              </a:spcBef>
              <a:buClrTx/>
              <a:buSzTx/>
              <a:buFontTx/>
              <a:buNone/>
            </a:pPr>
            <a:endParaRPr kumimoji="1" lang="en-US" altLang="zh-CN" sz="6000" b="0">
              <a:latin typeface="Times New Roman" panose="02020603050405020304" pitchFamily="18" charset="0"/>
              <a:ea typeface="黑体" panose="02010609060101010101" pitchFamily="49" charset="-122"/>
            </a:endParaRPr>
          </a:p>
        </p:txBody>
      </p:sp>
      <p:pic>
        <p:nvPicPr>
          <p:cNvPr id="38915" name="Picture 3">
            <a:extLst>
              <a:ext uri="{FF2B5EF4-FFF2-40B4-BE49-F238E27FC236}">
                <a16:creationId xmlns:a16="http://schemas.microsoft.com/office/drawing/2014/main" id="{6BB349FF-BECC-C8E8-7B95-CDCA7ADB6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878" t="11090" r="11133" b="18837"/>
          <a:stretch>
            <a:fillRect/>
          </a:stretch>
        </p:blipFill>
        <p:spPr bwMode="auto">
          <a:xfrm>
            <a:off x="381000" y="381000"/>
            <a:ext cx="853440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AutoShape 4">
            <a:extLst>
              <a:ext uri="{FF2B5EF4-FFF2-40B4-BE49-F238E27FC236}">
                <a16:creationId xmlns:a16="http://schemas.microsoft.com/office/drawing/2014/main" id="{F9CEF62F-91B5-F1EC-7848-BBF238416FEE}"/>
              </a:ext>
            </a:extLst>
          </p:cNvPr>
          <p:cNvSpPr>
            <a:spLocks noChangeArrowheads="1"/>
          </p:cNvSpPr>
          <p:nvPr/>
        </p:nvSpPr>
        <p:spPr bwMode="auto">
          <a:xfrm>
            <a:off x="5334000" y="228600"/>
            <a:ext cx="3048000" cy="2209800"/>
          </a:xfrm>
          <a:prstGeom prst="cloudCallout">
            <a:avLst>
              <a:gd name="adj1" fmla="val -60574"/>
              <a:gd name="adj2" fmla="val 20907"/>
            </a:avLst>
          </a:prstGeom>
          <a:solidFill>
            <a:schemeClr val="bg1"/>
          </a:solidFill>
          <a:ln w="9525">
            <a:solidFill>
              <a:srgbClr val="FFCC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400" b="0">
                <a:latin typeface="黑体" panose="02010609060101010101" pitchFamily="49" charset="-122"/>
                <a:ea typeface="黑体" panose="02010609060101010101" pitchFamily="49" charset="-122"/>
              </a:rPr>
              <a:t>正在运行的任务，需要等待一段时间或需要等待一个事件发生再运行时，该任务就会把</a:t>
            </a:r>
            <a:r>
              <a:rPr kumimoji="1" lang="en-US" altLang="zh-CN" sz="1400" b="0">
                <a:latin typeface="黑体" panose="02010609060101010101" pitchFamily="49" charset="-122"/>
                <a:ea typeface="黑体" panose="02010609060101010101" pitchFamily="49" charset="-122"/>
              </a:rPr>
              <a:t>CPU</a:t>
            </a:r>
            <a:r>
              <a:rPr kumimoji="1" lang="zh-CN" altLang="en-US" sz="1400" b="0">
                <a:latin typeface="黑体" panose="02010609060101010101" pitchFamily="49" charset="-122"/>
                <a:ea typeface="黑体" panose="02010609060101010101" pitchFamily="49" charset="-122"/>
              </a:rPr>
              <a:t>的使用权让给别的任务而使任务进入等待状态</a:t>
            </a:r>
            <a:r>
              <a:rPr kumimoji="1" lang="zh-CN" altLang="en-US" sz="2400" b="0">
                <a:latin typeface="Times New Roman" panose="02020603050405020304" pitchFamily="18" charset="0"/>
              </a:rPr>
              <a:t>。 </a:t>
            </a:r>
          </a:p>
        </p:txBody>
      </p:sp>
      <p:sp>
        <p:nvSpPr>
          <p:cNvPr id="38917" name="AutoShape 5">
            <a:extLst>
              <a:ext uri="{FF2B5EF4-FFF2-40B4-BE49-F238E27FC236}">
                <a16:creationId xmlns:a16="http://schemas.microsoft.com/office/drawing/2014/main" id="{116EC838-4990-D2EF-2FE7-B27E49D85D4A}"/>
              </a:ext>
            </a:extLst>
          </p:cNvPr>
          <p:cNvSpPr>
            <a:spLocks noChangeArrowheads="1"/>
          </p:cNvSpPr>
          <p:nvPr/>
        </p:nvSpPr>
        <p:spPr bwMode="auto">
          <a:xfrm>
            <a:off x="457200" y="1066800"/>
            <a:ext cx="3048000" cy="2209800"/>
          </a:xfrm>
          <a:prstGeom prst="cloudCallout">
            <a:avLst>
              <a:gd name="adj1" fmla="val -3958"/>
              <a:gd name="adj2" fmla="val 82042"/>
            </a:avLst>
          </a:prstGeom>
          <a:solidFill>
            <a:schemeClr val="bg1"/>
          </a:solidFill>
          <a:ln w="9525">
            <a:solidFill>
              <a:srgbClr val="FFCC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0">
                <a:latin typeface="Times New Roman" panose="02020603050405020304" pitchFamily="18" charset="0"/>
                <a:ea typeface="黑体" panose="02010609060101010101" pitchFamily="49" charset="-122"/>
              </a:rPr>
              <a:t>任务在没有被配备任务控制块或被剥夺了任务控制块时的状态叫做任务的睡眠状态</a:t>
            </a:r>
            <a:r>
              <a:rPr kumimoji="1" lang="zh-CN" altLang="en-US" sz="2400" b="0">
                <a:latin typeface="Times New Roman" panose="02020603050405020304" pitchFamily="18" charset="0"/>
              </a:rPr>
              <a:t> </a:t>
            </a:r>
          </a:p>
        </p:txBody>
      </p:sp>
      <p:sp>
        <p:nvSpPr>
          <p:cNvPr id="38918" name="AutoShape 6">
            <a:extLst>
              <a:ext uri="{FF2B5EF4-FFF2-40B4-BE49-F238E27FC236}">
                <a16:creationId xmlns:a16="http://schemas.microsoft.com/office/drawing/2014/main" id="{66483AB5-8162-DECD-5E3F-A01785328E01}"/>
              </a:ext>
            </a:extLst>
          </p:cNvPr>
          <p:cNvSpPr>
            <a:spLocks noChangeArrowheads="1"/>
          </p:cNvSpPr>
          <p:nvPr/>
        </p:nvSpPr>
        <p:spPr bwMode="auto">
          <a:xfrm>
            <a:off x="381000" y="4114800"/>
            <a:ext cx="2514600" cy="2209800"/>
          </a:xfrm>
          <a:prstGeom prst="cloudCallout">
            <a:avLst>
              <a:gd name="adj1" fmla="val 64838"/>
              <a:gd name="adj2" fmla="val -18606"/>
            </a:avLst>
          </a:prstGeom>
          <a:solidFill>
            <a:schemeClr val="bg1"/>
          </a:solidFill>
          <a:ln w="9525">
            <a:solidFill>
              <a:srgbClr val="FFCC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0">
                <a:latin typeface="Times New Roman" panose="02020603050405020304" pitchFamily="18" charset="0"/>
                <a:ea typeface="黑体" panose="02010609060101010101" pitchFamily="49" charset="-122"/>
              </a:rPr>
              <a:t>系统为任务配备了任务控制块且在任务就绪表中进行了就绪登记，这时任务的状态叫做就绪状态。</a:t>
            </a:r>
            <a:r>
              <a:rPr kumimoji="1" lang="zh-CN" altLang="en-US" sz="1600" b="0">
                <a:latin typeface="Times New Roman" panose="02020603050405020304" pitchFamily="18" charset="0"/>
              </a:rPr>
              <a:t> </a:t>
            </a:r>
          </a:p>
        </p:txBody>
      </p:sp>
      <p:sp>
        <p:nvSpPr>
          <p:cNvPr id="38919" name="AutoShape 7">
            <a:extLst>
              <a:ext uri="{FF2B5EF4-FFF2-40B4-BE49-F238E27FC236}">
                <a16:creationId xmlns:a16="http://schemas.microsoft.com/office/drawing/2014/main" id="{E674EBDB-148C-BA04-EFC0-4B09E481A781}"/>
              </a:ext>
            </a:extLst>
          </p:cNvPr>
          <p:cNvSpPr>
            <a:spLocks noChangeArrowheads="1"/>
          </p:cNvSpPr>
          <p:nvPr/>
        </p:nvSpPr>
        <p:spPr bwMode="auto">
          <a:xfrm>
            <a:off x="6096000" y="4267200"/>
            <a:ext cx="2514600" cy="2209800"/>
          </a:xfrm>
          <a:prstGeom prst="cloudCallout">
            <a:avLst>
              <a:gd name="adj1" fmla="val -71463"/>
              <a:gd name="adj2" fmla="val -18532"/>
            </a:avLst>
          </a:prstGeom>
          <a:solidFill>
            <a:schemeClr val="bg1"/>
          </a:solidFill>
          <a:ln w="9525">
            <a:solidFill>
              <a:srgbClr val="FFCC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0">
                <a:latin typeface="黑体" panose="02010609060101010101" pitchFamily="49" charset="-122"/>
                <a:ea typeface="黑体" panose="02010609060101010101" pitchFamily="49" charset="-122"/>
              </a:rPr>
              <a:t>处于就绪状态的任务如果经调度器判断获得了</a:t>
            </a:r>
            <a:r>
              <a:rPr kumimoji="1" lang="en-GB" altLang="zh-CN" sz="1600" b="0">
                <a:latin typeface="Times New Roman" panose="02020603050405020304" pitchFamily="18" charset="0"/>
                <a:ea typeface="黑体" panose="02010609060101010101" pitchFamily="49" charset="-122"/>
              </a:rPr>
              <a:t>CPU</a:t>
            </a:r>
            <a:r>
              <a:rPr kumimoji="1" lang="zh-CN" altLang="en-GB" sz="1600" b="0">
                <a:latin typeface="黑体" panose="02010609060101010101" pitchFamily="49" charset="-122"/>
                <a:ea typeface="黑体" panose="02010609060101010101" pitchFamily="49" charset="-122"/>
              </a:rPr>
              <a:t>的使用权</a:t>
            </a:r>
            <a:r>
              <a:rPr kumimoji="1" lang="zh-CN" altLang="en-US" sz="1600" b="0">
                <a:latin typeface="黑体" panose="02010609060101010101" pitchFamily="49" charset="-122"/>
                <a:ea typeface="黑体" panose="02010609060101010101" pitchFamily="49" charset="-122"/>
              </a:rPr>
              <a:t>，则任务就进入运行状态</a:t>
            </a:r>
            <a:r>
              <a:rPr kumimoji="1" lang="zh-CN" altLang="en-US" sz="1600" b="0">
                <a:latin typeface="Times New Roman" panose="02020603050405020304" pitchFamily="18" charset="0"/>
              </a:rPr>
              <a:t> </a:t>
            </a:r>
          </a:p>
        </p:txBody>
      </p:sp>
      <p:sp>
        <p:nvSpPr>
          <p:cNvPr id="38920" name="AutoShape 8">
            <a:extLst>
              <a:ext uri="{FF2B5EF4-FFF2-40B4-BE49-F238E27FC236}">
                <a16:creationId xmlns:a16="http://schemas.microsoft.com/office/drawing/2014/main" id="{60C708D9-49F1-18FE-8A79-3E0392A8AE40}"/>
              </a:ext>
            </a:extLst>
          </p:cNvPr>
          <p:cNvSpPr>
            <a:spLocks noChangeArrowheads="1"/>
          </p:cNvSpPr>
          <p:nvPr/>
        </p:nvSpPr>
        <p:spPr bwMode="auto">
          <a:xfrm>
            <a:off x="6172200" y="1219200"/>
            <a:ext cx="2514600" cy="2438400"/>
          </a:xfrm>
          <a:prstGeom prst="cloudCallout">
            <a:avLst>
              <a:gd name="adj1" fmla="val 5745"/>
              <a:gd name="adj2" fmla="val 60287"/>
            </a:avLst>
          </a:prstGeom>
          <a:solidFill>
            <a:schemeClr val="bg1"/>
          </a:solidFill>
          <a:ln w="9525">
            <a:solidFill>
              <a:srgbClr val="FFCC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0">
                <a:latin typeface="Times New Roman" panose="02020603050405020304" pitchFamily="18" charset="0"/>
                <a:ea typeface="黑体" panose="02010609060101010101" pitchFamily="49" charset="-122"/>
              </a:rPr>
              <a:t>一个正在运行的任务一旦响应中断申请就会中止运行而去执行中断服务程序，这时任务的状态叫做中断服务状态</a:t>
            </a:r>
            <a:r>
              <a:rPr kumimoji="1" lang="zh-CN" altLang="en-US" sz="1600" b="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box(out)">
                                      <p:cBhvr>
                                        <p:cTn id="7" dur="500"/>
                                        <p:tgtEl>
                                          <p:spTgt spid="38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8917"/>
                                        </p:tgtEl>
                                        <p:attrNameLst>
                                          <p:attrName>style.visibility</p:attrName>
                                        </p:attrNameLst>
                                      </p:cBhvr>
                                      <p:to>
                                        <p:strVal val="visible"/>
                                      </p:to>
                                    </p:set>
                                    <p:animEffect transition="in" filter="box(in)">
                                      <p:cBhvr>
                                        <p:cTn id="12" dur="500"/>
                                        <p:tgtEl>
                                          <p:spTgt spid="38917"/>
                                        </p:tgtEl>
                                      </p:cBhvr>
                                    </p:animEffect>
                                  </p:childTnLst>
                                  <p:subTnLst>
                                    <p:set>
                                      <p:cBhvr override="childStyle">
                                        <p:cTn dur="1" fill="hold" display="0" masterRel="nextClick" afterEffect="1"/>
                                        <p:tgtEl>
                                          <p:spTgt spid="3891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8918"/>
                                        </p:tgtEl>
                                        <p:attrNameLst>
                                          <p:attrName>style.visibility</p:attrName>
                                        </p:attrNameLst>
                                      </p:cBhvr>
                                      <p:to>
                                        <p:strVal val="visible"/>
                                      </p:to>
                                    </p:set>
                                    <p:animEffect transition="in" filter="box(in)">
                                      <p:cBhvr>
                                        <p:cTn id="17" dur="500"/>
                                        <p:tgtEl>
                                          <p:spTgt spid="38918"/>
                                        </p:tgtEl>
                                      </p:cBhvr>
                                    </p:animEffect>
                                  </p:childTnLst>
                                  <p:subTnLst>
                                    <p:set>
                                      <p:cBhvr override="childStyle">
                                        <p:cTn dur="1" fill="hold" display="0" masterRel="nextClick" afterEffect="1"/>
                                        <p:tgtEl>
                                          <p:spTgt spid="38918"/>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8919"/>
                                        </p:tgtEl>
                                        <p:attrNameLst>
                                          <p:attrName>style.visibility</p:attrName>
                                        </p:attrNameLst>
                                      </p:cBhvr>
                                      <p:to>
                                        <p:strVal val="visible"/>
                                      </p:to>
                                    </p:set>
                                    <p:animEffect transition="in" filter="box(in)">
                                      <p:cBhvr>
                                        <p:cTn id="22" dur="500"/>
                                        <p:tgtEl>
                                          <p:spTgt spid="38919"/>
                                        </p:tgtEl>
                                      </p:cBhvr>
                                    </p:animEffect>
                                  </p:childTnLst>
                                  <p:subTnLst>
                                    <p:set>
                                      <p:cBhvr override="childStyle">
                                        <p:cTn dur="1" fill="hold" display="0" masterRel="nextClick" afterEffect="1"/>
                                        <p:tgtEl>
                                          <p:spTgt spid="3891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8920"/>
                                        </p:tgtEl>
                                        <p:attrNameLst>
                                          <p:attrName>style.visibility</p:attrName>
                                        </p:attrNameLst>
                                      </p:cBhvr>
                                      <p:to>
                                        <p:strVal val="visible"/>
                                      </p:to>
                                    </p:set>
                                    <p:animEffect transition="in" filter="box(in)">
                                      <p:cBhvr>
                                        <p:cTn id="27" dur="500"/>
                                        <p:tgtEl>
                                          <p:spTgt spid="38920"/>
                                        </p:tgtEl>
                                      </p:cBhvr>
                                    </p:animEffect>
                                  </p:childTnLst>
                                  <p:subTnLst>
                                    <p:set>
                                      <p:cBhvr override="childStyle">
                                        <p:cTn dur="1" fill="hold" display="0" masterRel="nextClick" afterEffect="1"/>
                                        <p:tgtEl>
                                          <p:spTgt spid="38920"/>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8916"/>
                                        </p:tgtEl>
                                        <p:attrNameLst>
                                          <p:attrName>style.visibility</p:attrName>
                                        </p:attrNameLst>
                                      </p:cBhvr>
                                      <p:to>
                                        <p:strVal val="visible"/>
                                      </p:to>
                                    </p:set>
                                    <p:animEffect transition="in" filter="box(in)">
                                      <p:cBhvr>
                                        <p:cTn id="32" dur="500"/>
                                        <p:tgtEl>
                                          <p:spTgt spid="38916"/>
                                        </p:tgtEl>
                                      </p:cBhvr>
                                    </p:animEffect>
                                  </p:childTnLst>
                                  <p:subTnLst>
                                    <p:set>
                                      <p:cBhvr override="childStyle">
                                        <p:cTn dur="1" fill="hold" display="0" masterRel="nextClick" afterEffect="1"/>
                                        <p:tgtEl>
                                          <p:spTgt spid="389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nimBg="1" autoUpdateAnimBg="0"/>
      <p:bldP spid="38917" grpId="0" animBg="1" autoUpdateAnimBg="0"/>
      <p:bldP spid="38918" grpId="0" animBg="1" autoUpdateAnimBg="0"/>
      <p:bldP spid="38919" grpId="0" animBg="1" autoUpdateAnimBg="0"/>
      <p:bldP spid="38920"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a:extLst>
              <a:ext uri="{FF2B5EF4-FFF2-40B4-BE49-F238E27FC236}">
                <a16:creationId xmlns:a16="http://schemas.microsoft.com/office/drawing/2014/main" id="{A9751DD3-F5F9-1950-C59E-79CD34F254D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3315" name="灯片编号占位符 4">
            <a:extLst>
              <a:ext uri="{FF2B5EF4-FFF2-40B4-BE49-F238E27FC236}">
                <a16:creationId xmlns:a16="http://schemas.microsoft.com/office/drawing/2014/main" id="{A5CB3A1D-51B1-BCB7-38EB-01F0476011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65D8281-2BC1-4087-9D80-F74242932C7B}" type="slidenum">
              <a:rPr lang="en-US" altLang="zh-CN" sz="1200" smtClean="0">
                <a:solidFill>
                  <a:srgbClr val="3366FF"/>
                </a:solidFill>
                <a:latin typeface="Arial Black" panose="020B0A04020102020204" pitchFamily="34" charset="0"/>
              </a:rPr>
              <a:pPr>
                <a:spcBef>
                  <a:spcPct val="0"/>
                </a:spcBef>
                <a:buClrTx/>
                <a:buSzTx/>
                <a:buFontTx/>
                <a:buNone/>
              </a:pPr>
              <a:t>10</a:t>
            </a:fld>
            <a:endParaRPr lang="en-US" altLang="zh-CN" sz="1200">
              <a:solidFill>
                <a:srgbClr val="3366FF"/>
              </a:solidFill>
              <a:latin typeface="Arial Black" panose="020B0A04020102020204" pitchFamily="34" charset="0"/>
            </a:endParaRPr>
          </a:p>
        </p:txBody>
      </p:sp>
      <p:sp>
        <p:nvSpPr>
          <p:cNvPr id="13316" name="日期占位符 5">
            <a:extLst>
              <a:ext uri="{FF2B5EF4-FFF2-40B4-BE49-F238E27FC236}">
                <a16:creationId xmlns:a16="http://schemas.microsoft.com/office/drawing/2014/main" id="{18700DFE-5D00-9C29-A934-8644F5E84A8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2C098C3-97F2-4A59-9DCA-56E34FB505F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3317" name="Rectangle 3">
            <a:extLst>
              <a:ext uri="{FF2B5EF4-FFF2-40B4-BE49-F238E27FC236}">
                <a16:creationId xmlns:a16="http://schemas.microsoft.com/office/drawing/2014/main" id="{231555F8-FE7D-62B3-44AA-A7A127DF875A}"/>
              </a:ext>
            </a:extLst>
          </p:cNvPr>
          <p:cNvSpPr>
            <a:spLocks noGrp="1" noChangeArrowheads="1"/>
          </p:cNvSpPr>
          <p:nvPr>
            <p:ph type="body" idx="1"/>
          </p:nvPr>
        </p:nvSpPr>
        <p:spPr>
          <a:xfrm>
            <a:off x="519113" y="620713"/>
            <a:ext cx="8229600" cy="647700"/>
          </a:xfrm>
        </p:spPr>
        <p:txBody>
          <a:bodyPr/>
          <a:lstStyle/>
          <a:p>
            <a:pPr eaLnBrk="1" hangingPunct="1"/>
            <a:r>
              <a:rPr lang="en-US" altLang="zh-CN"/>
              <a:t> </a:t>
            </a:r>
            <a:r>
              <a:rPr lang="zh-CN" altLang="en-US">
                <a:solidFill>
                  <a:srgbClr val="D60093"/>
                </a:solidFill>
              </a:rPr>
              <a:t>用户任务代码</a:t>
            </a:r>
            <a:r>
              <a:rPr lang="zh-CN" altLang="en-US"/>
              <a:t>的一般结构</a:t>
            </a:r>
          </a:p>
        </p:txBody>
      </p:sp>
      <p:sp>
        <p:nvSpPr>
          <p:cNvPr id="13318" name="Text Box 4">
            <a:extLst>
              <a:ext uri="{FF2B5EF4-FFF2-40B4-BE49-F238E27FC236}">
                <a16:creationId xmlns:a16="http://schemas.microsoft.com/office/drawing/2014/main" id="{B2E075C9-525B-02A9-A6C2-3B7E21DE828A}"/>
              </a:ext>
            </a:extLst>
          </p:cNvPr>
          <p:cNvSpPr txBox="1">
            <a:spLocks noChangeArrowheads="1"/>
          </p:cNvSpPr>
          <p:nvPr/>
        </p:nvSpPr>
        <p:spPr bwMode="auto">
          <a:xfrm>
            <a:off x="755650" y="1327150"/>
            <a:ext cx="792003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ClrTx/>
              <a:buSzTx/>
              <a:buFontTx/>
              <a:buNone/>
            </a:pPr>
            <a:r>
              <a:rPr lang="en-US" altLang="zh-CN" sz="2400"/>
              <a:t>void MyTask(void *pdata)</a:t>
            </a:r>
          </a:p>
          <a:p>
            <a:pPr eaLnBrk="1" hangingPunct="1">
              <a:spcBef>
                <a:spcPct val="25000"/>
              </a:spcBef>
              <a:buClrTx/>
              <a:buSzTx/>
              <a:buFontTx/>
              <a:buNone/>
            </a:pPr>
            <a:r>
              <a:rPr lang="en-US" altLang="zh-CN" sz="2400"/>
              <a:t>{   ……                     </a:t>
            </a:r>
            <a:r>
              <a:rPr lang="en-US" altLang="zh-CN" sz="2400" i="1">
                <a:solidFill>
                  <a:srgbClr val="3399FF"/>
                </a:solidFill>
              </a:rPr>
              <a:t>// </a:t>
            </a:r>
            <a:r>
              <a:rPr lang="zh-CN" altLang="en-US" sz="2400" i="1">
                <a:solidFill>
                  <a:srgbClr val="3399FF"/>
                </a:solidFill>
              </a:rPr>
              <a:t>任务的初始化</a:t>
            </a:r>
          </a:p>
          <a:p>
            <a:pPr eaLnBrk="1" hangingPunct="1">
              <a:spcBef>
                <a:spcPct val="25000"/>
              </a:spcBef>
              <a:buClrTx/>
              <a:buSzTx/>
              <a:buFontTx/>
              <a:buNone/>
            </a:pPr>
            <a:r>
              <a:rPr lang="zh-CN" altLang="en-US" sz="2400"/>
              <a:t>    </a:t>
            </a:r>
            <a:r>
              <a:rPr lang="en-US" altLang="zh-CN" sz="2400"/>
              <a:t>for ( ;  ; )		</a:t>
            </a:r>
            <a:r>
              <a:rPr lang="en-US" altLang="zh-CN" sz="2400" i="1">
                <a:solidFill>
                  <a:srgbClr val="3399FF"/>
                </a:solidFill>
              </a:rPr>
              <a:t>//</a:t>
            </a:r>
            <a:r>
              <a:rPr lang="zh-CN" altLang="en-US" sz="2400" i="1">
                <a:solidFill>
                  <a:srgbClr val="3399FF"/>
                </a:solidFill>
              </a:rPr>
              <a:t>超循环构成任务体 </a:t>
            </a:r>
          </a:p>
          <a:p>
            <a:pPr eaLnBrk="1" hangingPunct="1">
              <a:spcBef>
                <a:spcPct val="25000"/>
              </a:spcBef>
              <a:buClrTx/>
              <a:buSzTx/>
              <a:buFontTx/>
              <a:buNone/>
            </a:pPr>
            <a:r>
              <a:rPr lang="zh-CN" altLang="en-US" sz="2400">
                <a:solidFill>
                  <a:srgbClr val="3399FF"/>
                </a:solidFill>
              </a:rPr>
              <a:t>   </a:t>
            </a:r>
            <a:r>
              <a:rPr lang="en-US" altLang="zh-CN" sz="2400">
                <a:solidFill>
                  <a:srgbClr val="080808"/>
                </a:solidFill>
              </a:rPr>
              <a:t>{</a:t>
            </a:r>
          </a:p>
          <a:p>
            <a:pPr eaLnBrk="1" hangingPunct="1">
              <a:spcBef>
                <a:spcPct val="25000"/>
              </a:spcBef>
              <a:buClrTx/>
              <a:buSzTx/>
              <a:buFontTx/>
              <a:buNone/>
            </a:pPr>
            <a:r>
              <a:rPr lang="en-US" altLang="zh-CN" sz="2400"/>
              <a:t>    </a:t>
            </a:r>
            <a:r>
              <a:rPr lang="zh-CN" altLang="en-US" sz="2400"/>
              <a:t>可被中断的用户代码片断；</a:t>
            </a:r>
          </a:p>
          <a:p>
            <a:pPr eaLnBrk="1" hangingPunct="1">
              <a:spcBef>
                <a:spcPct val="25000"/>
              </a:spcBef>
              <a:buClrTx/>
              <a:buSzTx/>
              <a:buFontTx/>
              <a:buNone/>
            </a:pPr>
            <a:r>
              <a:rPr lang="zh-CN" altLang="en-US" sz="2400"/>
              <a:t>    </a:t>
            </a:r>
            <a:r>
              <a:rPr lang="en-US" altLang="zh-CN" sz="2400">
                <a:solidFill>
                  <a:srgbClr val="3333FF"/>
                </a:solidFill>
              </a:rPr>
              <a:t>OS_ENTER_CRITICAL();</a:t>
            </a:r>
            <a:r>
              <a:rPr lang="en-US" altLang="zh-CN" sz="2400"/>
              <a:t>       </a:t>
            </a:r>
            <a:r>
              <a:rPr lang="en-US" altLang="zh-CN" sz="2400" i="1">
                <a:solidFill>
                  <a:srgbClr val="3399FF"/>
                </a:solidFill>
              </a:rPr>
              <a:t>//</a:t>
            </a:r>
            <a:r>
              <a:rPr lang="zh-CN" altLang="en-US" sz="2400" i="1">
                <a:solidFill>
                  <a:srgbClr val="3399FF"/>
                </a:solidFill>
              </a:rPr>
              <a:t>进入临界区（关中断）</a:t>
            </a:r>
          </a:p>
          <a:p>
            <a:pPr eaLnBrk="1" hangingPunct="1">
              <a:spcBef>
                <a:spcPct val="25000"/>
              </a:spcBef>
              <a:buClrTx/>
              <a:buSzTx/>
              <a:buFontTx/>
              <a:buNone/>
            </a:pPr>
            <a:r>
              <a:rPr lang="zh-CN" altLang="en-US" sz="2400"/>
              <a:t>    </a:t>
            </a:r>
            <a:r>
              <a:rPr lang="zh-CN" altLang="en-US" sz="2400">
                <a:solidFill>
                  <a:srgbClr val="FF9900"/>
                </a:solidFill>
              </a:rPr>
              <a:t>不可被中断的用户代码片断；</a:t>
            </a:r>
          </a:p>
          <a:p>
            <a:pPr eaLnBrk="1" hangingPunct="1">
              <a:spcBef>
                <a:spcPct val="25000"/>
              </a:spcBef>
              <a:buClrTx/>
              <a:buSzTx/>
              <a:buFontTx/>
              <a:buNone/>
            </a:pPr>
            <a:r>
              <a:rPr lang="zh-CN" altLang="en-US" sz="2400"/>
              <a:t>    </a:t>
            </a:r>
            <a:r>
              <a:rPr lang="en-US" altLang="zh-CN" sz="2400">
                <a:solidFill>
                  <a:srgbClr val="3333FF"/>
                </a:solidFill>
              </a:rPr>
              <a:t>OS_EXIT_CRITICAL();</a:t>
            </a:r>
            <a:r>
              <a:rPr lang="en-US" altLang="zh-CN" sz="2400"/>
              <a:t>           </a:t>
            </a:r>
            <a:r>
              <a:rPr lang="en-US" altLang="zh-CN" sz="2400" i="1">
                <a:solidFill>
                  <a:srgbClr val="3399FF"/>
                </a:solidFill>
              </a:rPr>
              <a:t>//</a:t>
            </a:r>
            <a:r>
              <a:rPr lang="zh-CN" altLang="en-US" sz="2400" i="1">
                <a:solidFill>
                  <a:srgbClr val="3399FF"/>
                </a:solidFill>
              </a:rPr>
              <a:t>退出临界区（开中断）</a:t>
            </a:r>
          </a:p>
          <a:p>
            <a:pPr eaLnBrk="1" hangingPunct="1">
              <a:spcBef>
                <a:spcPct val="25000"/>
              </a:spcBef>
              <a:buClrTx/>
              <a:buSzTx/>
              <a:buFontTx/>
              <a:buNone/>
            </a:pPr>
            <a:r>
              <a:rPr lang="zh-CN" altLang="en-US" sz="2400"/>
              <a:t>    可被中断的用户代码片断；</a:t>
            </a:r>
          </a:p>
          <a:p>
            <a:pPr eaLnBrk="1" hangingPunct="1">
              <a:spcBef>
                <a:spcPct val="25000"/>
              </a:spcBef>
              <a:buClrTx/>
              <a:buSzTx/>
              <a:buFontTx/>
              <a:buNone/>
            </a:pPr>
            <a:r>
              <a:rPr lang="zh-CN" altLang="en-US" sz="2400"/>
              <a:t>    </a:t>
            </a:r>
            <a:r>
              <a:rPr lang="en-US" altLang="zh-CN" sz="2400"/>
              <a:t>}</a:t>
            </a:r>
          </a:p>
          <a:p>
            <a:pPr eaLnBrk="1" hangingPunct="1">
              <a:spcBef>
                <a:spcPct val="25000"/>
              </a:spcBef>
              <a:buClrTx/>
              <a:buSzTx/>
              <a:buFontTx/>
              <a:buNone/>
            </a:pPr>
            <a:r>
              <a:rPr lang="en-US" altLang="zh-CN" sz="240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3">
            <a:extLst>
              <a:ext uri="{FF2B5EF4-FFF2-40B4-BE49-F238E27FC236}">
                <a16:creationId xmlns:a16="http://schemas.microsoft.com/office/drawing/2014/main" id="{561CED3A-E82C-0225-2A11-DD167E949C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4339" name="灯片编号占位符 4">
            <a:extLst>
              <a:ext uri="{FF2B5EF4-FFF2-40B4-BE49-F238E27FC236}">
                <a16:creationId xmlns:a16="http://schemas.microsoft.com/office/drawing/2014/main" id="{6644966D-C2F9-F6C8-56AF-9F5EF3DF12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7C29F73-1FC1-4BB7-853F-E48F8D9D5D05}" type="slidenum">
              <a:rPr lang="en-US" altLang="zh-CN" sz="1200" smtClean="0">
                <a:solidFill>
                  <a:srgbClr val="3366FF"/>
                </a:solidFill>
                <a:latin typeface="Arial Black" panose="020B0A04020102020204" pitchFamily="34" charset="0"/>
              </a:rPr>
              <a:pPr>
                <a:spcBef>
                  <a:spcPct val="0"/>
                </a:spcBef>
                <a:buClrTx/>
                <a:buSzTx/>
                <a:buFontTx/>
                <a:buNone/>
              </a:pPr>
              <a:t>11</a:t>
            </a:fld>
            <a:endParaRPr lang="en-US" altLang="zh-CN" sz="1200">
              <a:solidFill>
                <a:srgbClr val="3366FF"/>
              </a:solidFill>
              <a:latin typeface="Arial Black" panose="020B0A04020102020204" pitchFamily="34" charset="0"/>
            </a:endParaRPr>
          </a:p>
        </p:txBody>
      </p:sp>
      <p:sp>
        <p:nvSpPr>
          <p:cNvPr id="14340" name="日期占位符 5">
            <a:extLst>
              <a:ext uri="{FF2B5EF4-FFF2-40B4-BE49-F238E27FC236}">
                <a16:creationId xmlns:a16="http://schemas.microsoft.com/office/drawing/2014/main" id="{FE6D8DAF-0992-758B-D3F2-901A8F35824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7B2BD06-3DB0-4F75-835C-FE319293384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0962" name="Rectangle 2">
            <a:extLst>
              <a:ext uri="{FF2B5EF4-FFF2-40B4-BE49-F238E27FC236}">
                <a16:creationId xmlns:a16="http://schemas.microsoft.com/office/drawing/2014/main" id="{CC812E6E-86BB-CA1F-06BD-EB5CBC00F8F6}"/>
              </a:ext>
            </a:extLst>
          </p:cNvPr>
          <p:cNvSpPr>
            <a:spLocks noGrp="1" noChangeArrowheads="1"/>
          </p:cNvSpPr>
          <p:nvPr>
            <p:ph type="body" idx="1"/>
          </p:nvPr>
        </p:nvSpPr>
        <p:spPr>
          <a:xfrm>
            <a:off x="519113" y="909638"/>
            <a:ext cx="8229600" cy="647700"/>
          </a:xfrm>
        </p:spPr>
        <p:txBody>
          <a:bodyPr/>
          <a:lstStyle/>
          <a:p>
            <a:pPr eaLnBrk="1" hangingPunct="1"/>
            <a:r>
              <a:rPr lang="en-US" altLang="zh-CN"/>
              <a:t> </a:t>
            </a:r>
            <a:r>
              <a:rPr lang="zh-CN" altLang="en-US">
                <a:solidFill>
                  <a:srgbClr val="D60093"/>
                </a:solidFill>
              </a:rPr>
              <a:t>用户应用程序</a:t>
            </a:r>
            <a:r>
              <a:rPr lang="zh-CN" altLang="en-US"/>
              <a:t>的一般结构</a:t>
            </a:r>
          </a:p>
        </p:txBody>
      </p:sp>
      <p:sp>
        <p:nvSpPr>
          <p:cNvPr id="40963" name="Text Box 3">
            <a:extLst>
              <a:ext uri="{FF2B5EF4-FFF2-40B4-BE49-F238E27FC236}">
                <a16:creationId xmlns:a16="http://schemas.microsoft.com/office/drawing/2014/main" id="{655EF5CA-59C7-2869-60D5-863634444484}"/>
              </a:ext>
            </a:extLst>
          </p:cNvPr>
          <p:cNvSpPr txBox="1">
            <a:spLocks noChangeArrowheads="1"/>
          </p:cNvSpPr>
          <p:nvPr/>
        </p:nvSpPr>
        <p:spPr bwMode="auto">
          <a:xfrm>
            <a:off x="900113" y="1974850"/>
            <a:ext cx="7056437"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35000"/>
              </a:spcBef>
              <a:buClr>
                <a:srgbClr val="1F29F9"/>
              </a:buClr>
              <a:buSzPct val="60000"/>
            </a:pPr>
            <a:r>
              <a:rPr lang="en-US" altLang="zh-CN" sz="2400"/>
              <a:t>“</a:t>
            </a:r>
            <a:r>
              <a:rPr lang="zh-CN" altLang="en-US" sz="2400"/>
              <a:t>用户任务” 代码形式上很像 </a:t>
            </a:r>
            <a:r>
              <a:rPr lang="en-US" altLang="zh-CN" sz="2400"/>
              <a:t>C</a:t>
            </a:r>
            <a:r>
              <a:rPr lang="zh-CN" altLang="en-US" sz="2400"/>
              <a:t>函数，但他不是函数！</a:t>
            </a:r>
          </a:p>
          <a:p>
            <a:pPr eaLnBrk="1" hangingPunct="1">
              <a:lnSpc>
                <a:spcPct val="125000"/>
              </a:lnSpc>
              <a:spcBef>
                <a:spcPct val="35000"/>
              </a:spcBef>
              <a:buClr>
                <a:srgbClr val="1F29F9"/>
              </a:buClr>
              <a:buSzPct val="60000"/>
            </a:pPr>
            <a:r>
              <a:rPr lang="zh-CN" altLang="en-US" sz="2400"/>
              <a:t>“任务” 不能被主函数 </a:t>
            </a:r>
            <a:r>
              <a:rPr lang="en-US" altLang="zh-CN" sz="2400"/>
              <a:t>main( ) </a:t>
            </a:r>
            <a:r>
              <a:rPr lang="zh-CN" altLang="en-US" sz="2400"/>
              <a:t>或其他函数调用，只能被主函数或已激活任务</a:t>
            </a:r>
            <a:r>
              <a:rPr lang="zh-CN" altLang="en-US" sz="2400">
                <a:solidFill>
                  <a:srgbClr val="FF0000"/>
                </a:solidFill>
              </a:rPr>
              <a:t>创建</a:t>
            </a:r>
            <a:r>
              <a:rPr lang="zh-CN" altLang="en-US" sz="2400"/>
              <a:t>。</a:t>
            </a:r>
          </a:p>
          <a:p>
            <a:pPr eaLnBrk="1" hangingPunct="1">
              <a:lnSpc>
                <a:spcPct val="125000"/>
              </a:lnSpc>
              <a:spcBef>
                <a:spcPct val="35000"/>
              </a:spcBef>
              <a:buClr>
                <a:srgbClr val="1F29F9"/>
              </a:buClr>
              <a:buSzPct val="60000"/>
            </a:pPr>
            <a:r>
              <a:rPr lang="zh-CN" altLang="en-US" sz="2400"/>
              <a:t>任务的运行由操作系统调度管理。</a:t>
            </a:r>
          </a:p>
        </p:txBody>
      </p:sp>
      <p:sp>
        <p:nvSpPr>
          <p:cNvPr id="40964" name="Text Box 4">
            <a:extLst>
              <a:ext uri="{FF2B5EF4-FFF2-40B4-BE49-F238E27FC236}">
                <a16:creationId xmlns:a16="http://schemas.microsoft.com/office/drawing/2014/main" id="{4145AD94-0553-AA7D-75C5-E2709051E460}"/>
              </a:ext>
            </a:extLst>
          </p:cNvPr>
          <p:cNvSpPr txBox="1">
            <a:spLocks noChangeArrowheads="1"/>
          </p:cNvSpPr>
          <p:nvPr/>
        </p:nvSpPr>
        <p:spPr bwMode="auto">
          <a:xfrm>
            <a:off x="1187450" y="584200"/>
            <a:ext cx="6769100" cy="586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a:t>void </a:t>
            </a:r>
            <a:r>
              <a:rPr lang="en-US" altLang="zh-CN" sz="1800">
                <a:solidFill>
                  <a:srgbClr val="FF0066"/>
                </a:solidFill>
              </a:rPr>
              <a:t>MyTask1</a:t>
            </a:r>
            <a:r>
              <a:rPr lang="en-US" altLang="zh-CN" sz="1800"/>
              <a:t>(void *pdata)</a:t>
            </a:r>
          </a:p>
          <a:p>
            <a:pPr eaLnBrk="1" hangingPunct="1">
              <a:spcBef>
                <a:spcPct val="50000"/>
              </a:spcBef>
              <a:buClrTx/>
              <a:buSzTx/>
              <a:buFontTx/>
              <a:buNone/>
            </a:pPr>
            <a:r>
              <a:rPr lang="en-US" altLang="zh-CN" sz="1800"/>
              <a:t>{   … …  }</a:t>
            </a:r>
          </a:p>
          <a:p>
            <a:pPr eaLnBrk="1" hangingPunct="1">
              <a:spcBef>
                <a:spcPct val="0"/>
              </a:spcBef>
              <a:buClrTx/>
              <a:buSzTx/>
              <a:buFontTx/>
              <a:buNone/>
            </a:pPr>
            <a:r>
              <a:rPr lang="en-US" altLang="zh-CN" sz="1800"/>
              <a:t>void </a:t>
            </a:r>
            <a:r>
              <a:rPr lang="en-US" altLang="zh-CN" sz="1800">
                <a:solidFill>
                  <a:srgbClr val="0066FF"/>
                </a:solidFill>
              </a:rPr>
              <a:t>MyTask2</a:t>
            </a:r>
            <a:r>
              <a:rPr lang="en-US" altLang="zh-CN" sz="1800"/>
              <a:t>(void *pdata)</a:t>
            </a:r>
          </a:p>
          <a:p>
            <a:pPr eaLnBrk="1" hangingPunct="1">
              <a:spcBef>
                <a:spcPct val="0"/>
              </a:spcBef>
              <a:buClrTx/>
              <a:buSzTx/>
              <a:buFontTx/>
              <a:buNone/>
            </a:pPr>
            <a:r>
              <a:rPr lang="en-US" altLang="zh-CN" sz="1800"/>
              <a:t>{   … …  }</a:t>
            </a:r>
          </a:p>
          <a:p>
            <a:pPr eaLnBrk="1" hangingPunct="1">
              <a:spcBef>
                <a:spcPct val="50000"/>
              </a:spcBef>
              <a:buClrTx/>
              <a:buSzTx/>
              <a:buFontTx/>
              <a:buNone/>
            </a:pPr>
            <a:r>
              <a:rPr lang="en-US" altLang="zh-CN" sz="1800"/>
              <a:t>void main( )</a:t>
            </a:r>
          </a:p>
          <a:p>
            <a:pPr eaLnBrk="1" hangingPunct="1">
              <a:spcBef>
                <a:spcPct val="50000"/>
              </a:spcBef>
              <a:buClrTx/>
              <a:buSzTx/>
              <a:buFontTx/>
              <a:buNone/>
            </a:pPr>
            <a:r>
              <a:rPr lang="en-US" altLang="zh-CN" sz="1800"/>
              <a:t>{</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OSInit( );</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a:t>
            </a:r>
            <a:r>
              <a:rPr lang="en-US" altLang="zh-CN" sz="1800">
                <a:solidFill>
                  <a:srgbClr val="FF0066"/>
                </a:solidFill>
              </a:rPr>
              <a:t>OSTaskCreate( MyTask1,… … );</a:t>
            </a:r>
          </a:p>
          <a:p>
            <a:pPr eaLnBrk="1" hangingPunct="1">
              <a:spcBef>
                <a:spcPct val="50000"/>
              </a:spcBef>
              <a:buClrTx/>
              <a:buSzTx/>
              <a:buFontTx/>
              <a:buNone/>
            </a:pPr>
            <a:r>
              <a:rPr lang="en-US" altLang="zh-CN" sz="1800"/>
              <a:t>    </a:t>
            </a:r>
            <a:r>
              <a:rPr lang="en-US" altLang="zh-CN" sz="1800">
                <a:solidFill>
                  <a:srgbClr val="0066FF"/>
                </a:solidFill>
              </a:rPr>
              <a:t>OSTaskCreate( MyTask2,… … );</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OSStart( );</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animEffect transition="in" filter="blinds(horizontal)">
                                      <p:cBhvr>
                                        <p:cTn id="7" dur="500"/>
                                        <p:tgtEl>
                                          <p:spTgt spid="40962">
                                            <p:txEl>
                                              <p:pRg st="0" end="0"/>
                                            </p:txEl>
                                          </p:spTgt>
                                        </p:tgtEl>
                                      </p:cBhvr>
                                    </p:animEffect>
                                  </p:childTnLst>
                                  <p:subTnLst>
                                    <p:set>
                                      <p:cBhvr override="childStyle">
                                        <p:cTn dur="1" fill="hold" display="0" masterRel="nextClick" afterEffect="1"/>
                                        <p:tgtEl>
                                          <p:spTgt spid="40962">
                                            <p:txEl>
                                              <p:pRg st="0" end="0"/>
                                            </p:txEl>
                                          </p:spTgt>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40963"/>
                                        </p:tgtEl>
                                        <p:attrNameLst>
                                          <p:attrName>style.visibility</p:attrName>
                                        </p:attrNameLst>
                                      </p:cBhvr>
                                      <p:to>
                                        <p:strVal val="visible"/>
                                      </p:to>
                                    </p:set>
                                    <p:animEffect transition="in" filter="blinds(horizontal)">
                                      <p:cBhvr>
                                        <p:cTn id="10" dur="500"/>
                                        <p:tgtEl>
                                          <p:spTgt spid="40963"/>
                                        </p:tgtEl>
                                      </p:cBhvr>
                                    </p:animEffect>
                                  </p:childTnLst>
                                  <p:subTnLst>
                                    <p:set>
                                      <p:cBhvr override="childStyle">
                                        <p:cTn dur="1" fill="hold" display="0" masterRel="nextClick" afterEffect="1"/>
                                        <p:tgtEl>
                                          <p:spTgt spid="4096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0964"/>
                                        </p:tgtEl>
                                        <p:attrNameLst>
                                          <p:attrName>style.visibility</p:attrName>
                                        </p:attrNameLst>
                                      </p:cBhvr>
                                      <p:to>
                                        <p:strVal val="visible"/>
                                      </p:to>
                                    </p:set>
                                    <p:animEffect transition="in" filter="blinds(horizontal)">
                                      <p:cBhvr>
                                        <p:cTn id="15" dur="5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P spid="40963" grpId="0"/>
      <p:bldP spid="4096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3">
            <a:extLst>
              <a:ext uri="{FF2B5EF4-FFF2-40B4-BE49-F238E27FC236}">
                <a16:creationId xmlns:a16="http://schemas.microsoft.com/office/drawing/2014/main" id="{E1BA4F62-09B8-864B-213D-B47123DF309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5363" name="灯片编号占位符 4">
            <a:extLst>
              <a:ext uri="{FF2B5EF4-FFF2-40B4-BE49-F238E27FC236}">
                <a16:creationId xmlns:a16="http://schemas.microsoft.com/office/drawing/2014/main" id="{F1BFE953-6898-078F-60A4-F37A733665D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3FB4414-9BAD-4EA0-98E5-ED6DE77C302E}" type="slidenum">
              <a:rPr lang="en-US" altLang="zh-CN" sz="1200" smtClean="0">
                <a:solidFill>
                  <a:srgbClr val="3366FF"/>
                </a:solidFill>
                <a:latin typeface="Arial Black" panose="020B0A04020102020204" pitchFamily="34" charset="0"/>
              </a:rPr>
              <a:pPr>
                <a:spcBef>
                  <a:spcPct val="0"/>
                </a:spcBef>
                <a:buClrTx/>
                <a:buSzTx/>
                <a:buFontTx/>
                <a:buNone/>
              </a:pPr>
              <a:t>12</a:t>
            </a:fld>
            <a:endParaRPr lang="en-US" altLang="zh-CN" sz="1200">
              <a:solidFill>
                <a:srgbClr val="3366FF"/>
              </a:solidFill>
              <a:latin typeface="Arial Black" panose="020B0A04020102020204" pitchFamily="34" charset="0"/>
            </a:endParaRPr>
          </a:p>
        </p:txBody>
      </p:sp>
      <p:sp>
        <p:nvSpPr>
          <p:cNvPr id="15364" name="日期占位符 5">
            <a:extLst>
              <a:ext uri="{FF2B5EF4-FFF2-40B4-BE49-F238E27FC236}">
                <a16:creationId xmlns:a16="http://schemas.microsoft.com/office/drawing/2014/main" id="{6FB095A2-993F-AEC0-EDAE-99075F84548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250D8C8-5238-4772-9589-07112929B527}"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5365" name="Rectangle 2">
            <a:extLst>
              <a:ext uri="{FF2B5EF4-FFF2-40B4-BE49-F238E27FC236}">
                <a16:creationId xmlns:a16="http://schemas.microsoft.com/office/drawing/2014/main" id="{20A6531E-8E15-477E-AA32-B0CE4D7D80C5}"/>
              </a:ext>
            </a:extLst>
          </p:cNvPr>
          <p:cNvSpPr>
            <a:spLocks noGrp="1" noChangeArrowheads="1"/>
          </p:cNvSpPr>
          <p:nvPr>
            <p:ph type="title"/>
          </p:nvPr>
        </p:nvSpPr>
        <p:spPr>
          <a:xfrm>
            <a:off x="457200" y="744538"/>
            <a:ext cx="8229600" cy="668337"/>
          </a:xfrm>
        </p:spPr>
        <p:txBody>
          <a:bodyPr/>
          <a:lstStyle/>
          <a:p>
            <a:pPr eaLnBrk="1" hangingPunct="1"/>
            <a:r>
              <a:rPr lang="en-US" altLang="zh-CN" sz="4000" b="1"/>
              <a:t>2.1   </a:t>
            </a:r>
            <a:r>
              <a:rPr lang="zh-CN" altLang="en-US" sz="4000" b="1"/>
              <a:t>任务的基本概念</a:t>
            </a:r>
          </a:p>
        </p:txBody>
      </p:sp>
      <p:sp>
        <p:nvSpPr>
          <p:cNvPr id="15366" name="Rectangle 3">
            <a:extLst>
              <a:ext uri="{FF2B5EF4-FFF2-40B4-BE49-F238E27FC236}">
                <a16:creationId xmlns:a16="http://schemas.microsoft.com/office/drawing/2014/main" id="{4CDD533F-C08F-F042-0A93-06C894CB66BA}"/>
              </a:ext>
            </a:extLst>
          </p:cNvPr>
          <p:cNvSpPr>
            <a:spLocks noGrp="1" noChangeArrowheads="1"/>
          </p:cNvSpPr>
          <p:nvPr>
            <p:ph type="body" idx="1"/>
          </p:nvPr>
        </p:nvSpPr>
        <p:spPr>
          <a:xfrm>
            <a:off x="206375" y="1844675"/>
            <a:ext cx="8686800" cy="647700"/>
          </a:xfrm>
        </p:spPr>
        <p:txBody>
          <a:bodyPr/>
          <a:lstStyle/>
          <a:p>
            <a:pPr eaLnBrk="1" hangingPunct="1">
              <a:lnSpc>
                <a:spcPct val="90000"/>
              </a:lnSpc>
            </a:pPr>
            <a:r>
              <a:rPr lang="zh-CN" altLang="en-US" sz="2800"/>
              <a:t>在此我们学习了</a:t>
            </a:r>
            <a:r>
              <a:rPr lang="en-US" altLang="zh-CN" sz="2800"/>
              <a:t>uC/OS-II </a:t>
            </a:r>
            <a:r>
              <a:rPr lang="zh-CN" altLang="en-US" sz="2800"/>
              <a:t>的 </a:t>
            </a:r>
            <a:r>
              <a:rPr lang="en-US" altLang="zh-CN" sz="2800"/>
              <a:t>3 </a:t>
            </a:r>
            <a:r>
              <a:rPr lang="zh-CN" altLang="en-US" sz="2800"/>
              <a:t>个系统函数和 </a:t>
            </a:r>
            <a:r>
              <a:rPr lang="en-US" altLang="zh-CN" sz="2800"/>
              <a:t>2</a:t>
            </a:r>
            <a:r>
              <a:rPr lang="zh-CN" altLang="en-US" sz="2800"/>
              <a:t>个宏。</a:t>
            </a:r>
          </a:p>
        </p:txBody>
      </p:sp>
      <p:sp>
        <p:nvSpPr>
          <p:cNvPr id="41988" name="Text Box 4">
            <a:extLst>
              <a:ext uri="{FF2B5EF4-FFF2-40B4-BE49-F238E27FC236}">
                <a16:creationId xmlns:a16="http://schemas.microsoft.com/office/drawing/2014/main" id="{ABC99BE3-2D98-E6A9-6632-4D8F692E5FD2}"/>
              </a:ext>
            </a:extLst>
          </p:cNvPr>
          <p:cNvSpPr txBox="1">
            <a:spLocks noChangeArrowheads="1"/>
          </p:cNvSpPr>
          <p:nvPr/>
        </p:nvSpPr>
        <p:spPr bwMode="auto">
          <a:xfrm>
            <a:off x="827088" y="2725738"/>
            <a:ext cx="7561262"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45000"/>
            </a:pPr>
            <a:r>
              <a:rPr lang="en-US" altLang="zh-CN" sz="2400"/>
              <a:t>OSInit( ) ---- </a:t>
            </a:r>
            <a:r>
              <a:rPr lang="zh-CN" altLang="en-US" sz="2400"/>
              <a:t>初始化 </a:t>
            </a:r>
            <a:r>
              <a:rPr lang="en-US" altLang="zh-CN" sz="2400"/>
              <a:t>uC/OS-II </a:t>
            </a:r>
            <a:r>
              <a:rPr lang="zh-CN" altLang="en-US" sz="2400"/>
              <a:t>环境。</a:t>
            </a:r>
          </a:p>
          <a:p>
            <a:pPr eaLnBrk="1" hangingPunct="1">
              <a:spcBef>
                <a:spcPct val="50000"/>
              </a:spcBef>
              <a:buClr>
                <a:srgbClr val="3399FF"/>
              </a:buClr>
              <a:buSzPct val="45000"/>
            </a:pPr>
            <a:r>
              <a:rPr lang="en-US" altLang="zh-CN" sz="2400"/>
              <a:t>OSTaskCreate( ) ---- </a:t>
            </a:r>
            <a:r>
              <a:rPr lang="zh-CN" altLang="en-US" sz="2400"/>
              <a:t>创建任务系统函数。</a:t>
            </a:r>
          </a:p>
          <a:p>
            <a:pPr eaLnBrk="1" hangingPunct="1">
              <a:spcBef>
                <a:spcPct val="50000"/>
              </a:spcBef>
              <a:buClr>
                <a:srgbClr val="3399FF"/>
              </a:buClr>
              <a:buSzPct val="45000"/>
            </a:pPr>
            <a:r>
              <a:rPr lang="en-US" altLang="zh-CN" sz="2400"/>
              <a:t>OSStart( ) ---- </a:t>
            </a:r>
            <a:r>
              <a:rPr lang="zh-CN" altLang="en-US" sz="2400"/>
              <a:t>启动 </a:t>
            </a:r>
            <a:r>
              <a:rPr lang="en-US" altLang="zh-CN" sz="2400"/>
              <a:t>uC/OS-II </a:t>
            </a:r>
            <a:r>
              <a:rPr lang="zh-CN" altLang="en-US" sz="2400"/>
              <a:t>任务调度器。</a:t>
            </a:r>
          </a:p>
          <a:p>
            <a:pPr eaLnBrk="1" hangingPunct="1">
              <a:spcBef>
                <a:spcPct val="50000"/>
              </a:spcBef>
              <a:buClr>
                <a:srgbClr val="3399FF"/>
              </a:buClr>
              <a:buSzPct val="45000"/>
            </a:pPr>
            <a:r>
              <a:rPr lang="en-US" altLang="zh-CN" sz="2400"/>
              <a:t>OS_ENTER_CRITICAL( ) ---- </a:t>
            </a:r>
            <a:r>
              <a:rPr lang="zh-CN" altLang="en-US" sz="2400"/>
              <a:t>进入临界区 （宏）</a:t>
            </a:r>
          </a:p>
          <a:p>
            <a:pPr eaLnBrk="1" hangingPunct="1">
              <a:spcBef>
                <a:spcPct val="50000"/>
              </a:spcBef>
              <a:buClr>
                <a:srgbClr val="3399FF"/>
              </a:buClr>
              <a:buSzPct val="45000"/>
            </a:pPr>
            <a:r>
              <a:rPr lang="en-US" altLang="zh-CN" sz="2400"/>
              <a:t>OS_EXIT_CRITICAL( ) ---- </a:t>
            </a:r>
            <a:r>
              <a:rPr lang="zh-CN" altLang="en-US" sz="2400"/>
              <a:t>退出临界区 （宏）</a:t>
            </a:r>
          </a:p>
        </p:txBody>
      </p:sp>
      <p:sp>
        <p:nvSpPr>
          <p:cNvPr id="41990" name="Text Box 6" descr="羊皮纸">
            <a:extLst>
              <a:ext uri="{FF2B5EF4-FFF2-40B4-BE49-F238E27FC236}">
                <a16:creationId xmlns:a16="http://schemas.microsoft.com/office/drawing/2014/main" id="{E758784A-4E4C-04B3-F68A-1D9E554BA4D4}"/>
              </a:ext>
            </a:extLst>
          </p:cNvPr>
          <p:cNvSpPr txBox="1">
            <a:spLocks noChangeArrowheads="1"/>
          </p:cNvSpPr>
          <p:nvPr/>
        </p:nvSpPr>
        <p:spPr bwMode="auto">
          <a:xfrm>
            <a:off x="250825" y="1557338"/>
            <a:ext cx="8713788" cy="46497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45000"/>
            </a:pPr>
            <a:r>
              <a:rPr lang="en-US" altLang="zh-CN" sz="2800"/>
              <a:t>OSInit( )   </a:t>
            </a:r>
            <a:r>
              <a:rPr lang="zh-CN" altLang="en-US" sz="2800"/>
              <a:t>函数原型：   </a:t>
            </a:r>
            <a:r>
              <a:rPr lang="en-US" altLang="zh-CN" sz="2800"/>
              <a:t>void  OSInit( void )</a:t>
            </a:r>
          </a:p>
          <a:p>
            <a:pPr eaLnBrk="1" hangingPunct="1">
              <a:spcBef>
                <a:spcPct val="50000"/>
              </a:spcBef>
              <a:buClr>
                <a:srgbClr val="3399FF"/>
              </a:buClr>
              <a:buSzPct val="45000"/>
            </a:pPr>
            <a:r>
              <a:rPr lang="en-US" altLang="zh-CN" sz="2800"/>
              <a:t>OSStar( ) </a:t>
            </a:r>
            <a:r>
              <a:rPr lang="zh-CN" altLang="en-US" sz="2800"/>
              <a:t>函数原型：   </a:t>
            </a:r>
            <a:r>
              <a:rPr lang="en-US" altLang="zh-CN" sz="2800"/>
              <a:t>void  OSStart( void )</a:t>
            </a:r>
          </a:p>
          <a:p>
            <a:pPr eaLnBrk="1" hangingPunct="1">
              <a:spcBef>
                <a:spcPct val="50000"/>
              </a:spcBef>
              <a:buClr>
                <a:srgbClr val="3399FF"/>
              </a:buClr>
              <a:buSzPct val="45000"/>
            </a:pPr>
            <a:r>
              <a:rPr lang="en-US" altLang="zh-CN" sz="2800"/>
              <a:t>OSTaskCreate( ) </a:t>
            </a:r>
            <a:r>
              <a:rPr lang="zh-CN" altLang="en-US" sz="2800"/>
              <a:t>函数原型：</a:t>
            </a:r>
          </a:p>
          <a:p>
            <a:pPr eaLnBrk="1" hangingPunct="1">
              <a:spcBef>
                <a:spcPct val="30000"/>
              </a:spcBef>
              <a:buClr>
                <a:srgbClr val="3399FF"/>
              </a:buClr>
              <a:buSzPct val="45000"/>
              <a:buFont typeface="Wingdings" panose="05000000000000000000" pitchFamily="2" charset="2"/>
              <a:buNone/>
            </a:pPr>
            <a:r>
              <a:rPr lang="zh-CN" altLang="en-US" sz="1800"/>
              <a:t>     </a:t>
            </a:r>
            <a:r>
              <a:rPr lang="en-US" altLang="zh-CN" sz="2400">
                <a:solidFill>
                  <a:srgbClr val="3366FF"/>
                </a:solidFill>
              </a:rPr>
              <a:t>INT8U  OSTaskCreate(</a:t>
            </a:r>
          </a:p>
          <a:p>
            <a:pPr eaLnBrk="1" hangingPunct="1">
              <a:spcBef>
                <a:spcPct val="30000"/>
              </a:spcBef>
              <a:buClr>
                <a:srgbClr val="3399FF"/>
              </a:buClr>
              <a:buSzPct val="45000"/>
              <a:buFont typeface="Wingdings" panose="05000000000000000000" pitchFamily="2" charset="2"/>
              <a:buNone/>
            </a:pPr>
            <a:r>
              <a:rPr lang="en-US" altLang="zh-CN" sz="2400">
                <a:solidFill>
                  <a:srgbClr val="3366FF"/>
                </a:solidFill>
              </a:rPr>
              <a:t>			 void (*task)(void *pd) ,</a:t>
            </a:r>
            <a:r>
              <a:rPr lang="en-US" altLang="zh-CN" sz="2400"/>
              <a:t>    </a:t>
            </a:r>
            <a:r>
              <a:rPr lang="en-US" altLang="zh-CN" sz="2000" i="1">
                <a:solidFill>
                  <a:srgbClr val="339966"/>
                </a:solidFill>
              </a:rPr>
              <a:t>//</a:t>
            </a:r>
            <a:r>
              <a:rPr lang="zh-CN" altLang="en-US" sz="2000" i="1">
                <a:solidFill>
                  <a:srgbClr val="339966"/>
                </a:solidFill>
              </a:rPr>
              <a:t>指向任务的指针</a:t>
            </a:r>
            <a:endParaRPr lang="zh-CN" altLang="en-US" sz="2000"/>
          </a:p>
          <a:p>
            <a:pPr eaLnBrk="1" hangingPunct="1">
              <a:spcBef>
                <a:spcPct val="30000"/>
              </a:spcBef>
              <a:buClr>
                <a:srgbClr val="3399FF"/>
              </a:buClr>
              <a:buSzPct val="45000"/>
              <a:buFont typeface="Wingdings" panose="05000000000000000000" pitchFamily="2" charset="2"/>
              <a:buNone/>
            </a:pPr>
            <a:r>
              <a:rPr lang="zh-CN" altLang="en-US" sz="2400"/>
              <a:t>                       </a:t>
            </a:r>
            <a:r>
              <a:rPr lang="en-US" altLang="zh-CN" sz="2400">
                <a:solidFill>
                  <a:srgbClr val="3366FF"/>
                </a:solidFill>
              </a:rPr>
              <a:t>void *pdata ,</a:t>
            </a:r>
            <a:r>
              <a:rPr lang="en-US" altLang="zh-CN" sz="2400"/>
              <a:t>	          </a:t>
            </a:r>
            <a:r>
              <a:rPr lang="en-US" altLang="zh-CN" sz="2000" i="1">
                <a:solidFill>
                  <a:srgbClr val="339966"/>
                </a:solidFill>
              </a:rPr>
              <a:t>//</a:t>
            </a:r>
            <a:r>
              <a:rPr lang="zh-CN" altLang="en-US" sz="2000" i="1">
                <a:solidFill>
                  <a:srgbClr val="339966"/>
                </a:solidFill>
              </a:rPr>
              <a:t>传递给任务的参数</a:t>
            </a:r>
          </a:p>
          <a:p>
            <a:pPr eaLnBrk="1" hangingPunct="1">
              <a:spcBef>
                <a:spcPct val="30000"/>
              </a:spcBef>
              <a:buClr>
                <a:srgbClr val="3399FF"/>
              </a:buClr>
              <a:buSzPct val="45000"/>
              <a:buFont typeface="Wingdings" panose="05000000000000000000" pitchFamily="2" charset="2"/>
              <a:buNone/>
            </a:pPr>
            <a:r>
              <a:rPr lang="zh-CN" altLang="en-US" sz="2400"/>
              <a:t>                       </a:t>
            </a:r>
            <a:r>
              <a:rPr lang="en-US" altLang="zh-CN" sz="2400">
                <a:solidFill>
                  <a:srgbClr val="3366FF"/>
                </a:solidFill>
              </a:rPr>
              <a:t>OS_STK *ptos ,</a:t>
            </a:r>
            <a:r>
              <a:rPr lang="en-US" altLang="zh-CN" sz="2400"/>
              <a:t> 	          </a:t>
            </a:r>
            <a:r>
              <a:rPr lang="en-US" altLang="zh-CN" sz="2000" i="1">
                <a:solidFill>
                  <a:srgbClr val="339966"/>
                </a:solidFill>
              </a:rPr>
              <a:t>//</a:t>
            </a:r>
            <a:r>
              <a:rPr lang="zh-CN" altLang="en-US" sz="2000" i="1">
                <a:solidFill>
                  <a:srgbClr val="339966"/>
                </a:solidFill>
              </a:rPr>
              <a:t>任务堆栈栈顶的指针</a:t>
            </a:r>
          </a:p>
          <a:p>
            <a:pPr eaLnBrk="1" hangingPunct="1">
              <a:spcBef>
                <a:spcPct val="30000"/>
              </a:spcBef>
              <a:buClr>
                <a:srgbClr val="3399FF"/>
              </a:buClr>
              <a:buSzPct val="45000"/>
              <a:buFont typeface="Wingdings" panose="05000000000000000000" pitchFamily="2" charset="2"/>
              <a:buNone/>
            </a:pPr>
            <a:r>
              <a:rPr lang="zh-CN" altLang="en-US" sz="2400"/>
              <a:t>                       </a:t>
            </a:r>
            <a:r>
              <a:rPr lang="en-US" altLang="zh-CN" sz="2400">
                <a:solidFill>
                  <a:srgbClr val="3366FF"/>
                </a:solidFill>
              </a:rPr>
              <a:t>INT8U prio 	</a:t>
            </a:r>
            <a:r>
              <a:rPr lang="en-US" altLang="zh-CN" sz="2400"/>
              <a:t>	         </a:t>
            </a:r>
            <a:r>
              <a:rPr lang="en-US" altLang="zh-CN" sz="2000" i="1">
                <a:solidFill>
                  <a:srgbClr val="339966"/>
                </a:solidFill>
              </a:rPr>
              <a:t>//</a:t>
            </a:r>
            <a:r>
              <a:rPr lang="zh-CN" altLang="en-US" sz="2000" i="1">
                <a:solidFill>
                  <a:srgbClr val="339966"/>
                </a:solidFill>
              </a:rPr>
              <a:t>任务的优先级别</a:t>
            </a:r>
          </a:p>
          <a:p>
            <a:pPr eaLnBrk="1" hangingPunct="1">
              <a:spcBef>
                <a:spcPct val="30000"/>
              </a:spcBef>
              <a:buClr>
                <a:srgbClr val="3399FF"/>
              </a:buClr>
              <a:buSzPct val="45000"/>
              <a:buFont typeface="Wingdings" panose="05000000000000000000" pitchFamily="2" charset="2"/>
              <a:buNone/>
            </a:pPr>
            <a:r>
              <a:rPr lang="zh-CN" altLang="en-US" sz="2400"/>
              <a:t>    		</a:t>
            </a:r>
            <a:r>
              <a:rPr lang="zh-CN" altLang="en-US" sz="2400">
                <a:solidFill>
                  <a:srgbClr val="3366FF"/>
                </a:solidFill>
              </a:rPr>
              <a:t>	         </a:t>
            </a:r>
            <a:r>
              <a:rPr lang="en-US" altLang="zh-CN" sz="2400">
                <a:solidFill>
                  <a:srgbClr val="3366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linds(horizontal)">
                                      <p:cBhvr>
                                        <p:cTn id="7" dur="500"/>
                                        <p:tgtEl>
                                          <p:spTgt spid="41988"/>
                                        </p:tgtEl>
                                      </p:cBhvr>
                                    </p:animEffect>
                                  </p:childTnLst>
                                  <p:subTnLst>
                                    <p:set>
                                      <p:cBhvr override="childStyle">
                                        <p:cTn dur="1" fill="hold" display="0" masterRel="nextClick" afterEffect="1"/>
                                        <p:tgtEl>
                                          <p:spTgt spid="4198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990"/>
                                        </p:tgtEl>
                                        <p:attrNameLst>
                                          <p:attrName>style.visibility</p:attrName>
                                        </p:attrNameLst>
                                      </p:cBhvr>
                                      <p:to>
                                        <p:strVal val="visible"/>
                                      </p:to>
                                    </p:set>
                                    <p:animEffect transition="in" filter="blinds(horizontal)">
                                      <p:cBhvr>
                                        <p:cTn id="12"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P spid="4199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1">
            <a:extLst>
              <a:ext uri="{FF2B5EF4-FFF2-40B4-BE49-F238E27FC236}">
                <a16:creationId xmlns:a16="http://schemas.microsoft.com/office/drawing/2014/main" id="{A3088C3F-DAFE-A906-8F0B-1A9952D4D2A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6387" name="灯片编号占位符 2">
            <a:extLst>
              <a:ext uri="{FF2B5EF4-FFF2-40B4-BE49-F238E27FC236}">
                <a16:creationId xmlns:a16="http://schemas.microsoft.com/office/drawing/2014/main" id="{F382614B-A6A3-1277-373C-DC26902CBC6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11C11FF-DC0E-412E-874D-9572CFB2E1F4}" type="slidenum">
              <a:rPr lang="en-US" altLang="zh-CN" sz="1200" smtClean="0">
                <a:solidFill>
                  <a:srgbClr val="3366FF"/>
                </a:solidFill>
                <a:latin typeface="Arial Black" panose="020B0A04020102020204" pitchFamily="34" charset="0"/>
              </a:rPr>
              <a:pPr>
                <a:spcBef>
                  <a:spcPct val="0"/>
                </a:spcBef>
                <a:buClrTx/>
                <a:buSzTx/>
                <a:buFontTx/>
                <a:buNone/>
              </a:pPr>
              <a:t>13</a:t>
            </a:fld>
            <a:endParaRPr lang="en-US" altLang="zh-CN" sz="1200">
              <a:solidFill>
                <a:srgbClr val="3366FF"/>
              </a:solidFill>
              <a:latin typeface="Arial Black" panose="020B0A04020102020204" pitchFamily="34" charset="0"/>
            </a:endParaRPr>
          </a:p>
        </p:txBody>
      </p:sp>
      <p:sp>
        <p:nvSpPr>
          <p:cNvPr id="16388" name="日期占位符 3">
            <a:extLst>
              <a:ext uri="{FF2B5EF4-FFF2-40B4-BE49-F238E27FC236}">
                <a16:creationId xmlns:a16="http://schemas.microsoft.com/office/drawing/2014/main" id="{8D0DDEAF-A24E-0C9A-0CFC-BC58588E2D6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32C7E49-2EB9-4B76-A37B-75067EB919DB}"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6389" name="Rectangle 4">
            <a:extLst>
              <a:ext uri="{FF2B5EF4-FFF2-40B4-BE49-F238E27FC236}">
                <a16:creationId xmlns:a16="http://schemas.microsoft.com/office/drawing/2014/main" id="{6E94CAD0-6EC0-550D-73F6-5F23133119C4}"/>
              </a:ext>
            </a:extLst>
          </p:cNvPr>
          <p:cNvSpPr>
            <a:spLocks noChangeArrowheads="1"/>
          </p:cNvSpPr>
          <p:nvPr/>
        </p:nvSpPr>
        <p:spPr bwMode="auto">
          <a:xfrm>
            <a:off x="323850" y="763588"/>
            <a:ext cx="626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b="0">
                <a:latin typeface="Berlin Sans FB" panose="020E0602020502020306" pitchFamily="34" charset="0"/>
              </a:rPr>
              <a:t>OSTaskCreate( ) </a:t>
            </a:r>
            <a:r>
              <a:rPr lang="zh-CN" altLang="en-US" sz="2400" b="0">
                <a:latin typeface="Berlin Sans FB" panose="020E0602020502020306" pitchFamily="34" charset="0"/>
              </a:rPr>
              <a:t>函数使用举例：</a:t>
            </a:r>
          </a:p>
        </p:txBody>
      </p:sp>
      <p:sp>
        <p:nvSpPr>
          <p:cNvPr id="16390" name="Line 5">
            <a:extLst>
              <a:ext uri="{FF2B5EF4-FFF2-40B4-BE49-F238E27FC236}">
                <a16:creationId xmlns:a16="http://schemas.microsoft.com/office/drawing/2014/main" id="{0E8C44B6-A91E-94C7-B1FD-586624BBA012}"/>
              </a:ext>
            </a:extLst>
          </p:cNvPr>
          <p:cNvSpPr>
            <a:spLocks noChangeShapeType="1"/>
          </p:cNvSpPr>
          <p:nvPr/>
        </p:nvSpPr>
        <p:spPr bwMode="auto">
          <a:xfrm>
            <a:off x="4284663" y="1557338"/>
            <a:ext cx="0" cy="4967287"/>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1" name="Text Box 6">
            <a:extLst>
              <a:ext uri="{FF2B5EF4-FFF2-40B4-BE49-F238E27FC236}">
                <a16:creationId xmlns:a16="http://schemas.microsoft.com/office/drawing/2014/main" id="{2E07DE5A-611B-B8F0-F068-5197ED3ABC92}"/>
              </a:ext>
            </a:extLst>
          </p:cNvPr>
          <p:cNvSpPr txBox="1">
            <a:spLocks noChangeArrowheads="1"/>
          </p:cNvSpPr>
          <p:nvPr/>
        </p:nvSpPr>
        <p:spPr bwMode="auto">
          <a:xfrm>
            <a:off x="395288" y="1628775"/>
            <a:ext cx="3382962"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solidFill>
                  <a:srgbClr val="0000FF"/>
                </a:solidFill>
              </a:rPr>
              <a:t>定义任务  </a:t>
            </a:r>
            <a:r>
              <a:rPr lang="en-US" altLang="zh-CN" sz="1800">
                <a:solidFill>
                  <a:srgbClr val="0000FF"/>
                </a:solidFill>
              </a:rPr>
              <a:t>task_A</a:t>
            </a:r>
          </a:p>
          <a:p>
            <a:pPr eaLnBrk="1" hangingPunct="1">
              <a:spcBef>
                <a:spcPct val="50000"/>
              </a:spcBef>
              <a:buClrTx/>
              <a:buSzTx/>
              <a:buFontTx/>
              <a:buNone/>
            </a:pPr>
            <a:endParaRPr lang="en-US" altLang="zh-CN" sz="1800">
              <a:solidFill>
                <a:srgbClr val="0000FF"/>
              </a:solidFill>
            </a:endParaRPr>
          </a:p>
          <a:p>
            <a:pPr eaLnBrk="1" hangingPunct="1">
              <a:spcBef>
                <a:spcPct val="50000"/>
              </a:spcBef>
              <a:buClrTx/>
              <a:buSzTx/>
              <a:buFontTx/>
              <a:buNone/>
            </a:pPr>
            <a:r>
              <a:rPr lang="en-US" altLang="zh-CN" sz="1800"/>
              <a:t>void  task_A(void* pdata)</a:t>
            </a:r>
          </a:p>
          <a:p>
            <a:pPr eaLnBrk="1" hangingPunct="1">
              <a:spcBef>
                <a:spcPct val="50000"/>
              </a:spcBef>
              <a:buClrTx/>
              <a:buSzTx/>
              <a:buFontTx/>
              <a:buNone/>
            </a:pPr>
            <a:r>
              <a:rPr lang="en-US" altLang="zh-CN" sz="1800"/>
              <a:t>{</a:t>
            </a:r>
          </a:p>
          <a:p>
            <a:pPr eaLnBrk="1" hangingPunct="1">
              <a:spcBef>
                <a:spcPct val="50000"/>
              </a:spcBef>
              <a:buClrTx/>
              <a:buSzTx/>
              <a:buFontTx/>
              <a:buNone/>
            </a:pPr>
            <a:r>
              <a:rPr lang="en-US" altLang="zh-CN" sz="1800"/>
              <a:t>    ……;         </a:t>
            </a:r>
            <a:r>
              <a:rPr lang="en-US" altLang="zh-CN" sz="1800" b="0"/>
              <a:t> </a:t>
            </a:r>
            <a:r>
              <a:rPr lang="en-US" altLang="zh-CN" sz="1800" b="0">
                <a:solidFill>
                  <a:srgbClr val="339966"/>
                </a:solidFill>
              </a:rPr>
              <a:t>//</a:t>
            </a:r>
            <a:r>
              <a:rPr lang="zh-CN" altLang="en-US" sz="1800" b="0">
                <a:solidFill>
                  <a:srgbClr val="339966"/>
                </a:solidFill>
              </a:rPr>
              <a:t>任务初始化部分</a:t>
            </a:r>
          </a:p>
          <a:p>
            <a:pPr eaLnBrk="1" hangingPunct="1">
              <a:spcBef>
                <a:spcPct val="50000"/>
              </a:spcBef>
              <a:buClrTx/>
              <a:buSzTx/>
              <a:buFontTx/>
              <a:buNone/>
            </a:pPr>
            <a:r>
              <a:rPr lang="zh-CN" altLang="en-US" sz="1800"/>
              <a:t>    </a:t>
            </a:r>
            <a:r>
              <a:rPr lang="en-US" altLang="zh-CN" sz="1800"/>
              <a:t>while (1)</a:t>
            </a:r>
          </a:p>
          <a:p>
            <a:pPr eaLnBrk="1" hangingPunct="1">
              <a:spcBef>
                <a:spcPct val="50000"/>
              </a:spcBef>
              <a:buClrTx/>
              <a:buSzTx/>
              <a:buFontTx/>
              <a:buNone/>
            </a:pPr>
            <a:r>
              <a:rPr lang="en-US" altLang="zh-CN" sz="1800"/>
              <a:t>    {</a:t>
            </a:r>
          </a:p>
          <a:p>
            <a:pPr eaLnBrk="1" hangingPunct="1">
              <a:spcBef>
                <a:spcPct val="50000"/>
              </a:spcBef>
              <a:buClrTx/>
              <a:buSzTx/>
              <a:buFontTx/>
              <a:buNone/>
            </a:pPr>
            <a:r>
              <a:rPr lang="en-US" altLang="zh-CN" sz="1800"/>
              <a:t>        ……;     </a:t>
            </a:r>
            <a:r>
              <a:rPr lang="en-US" altLang="zh-CN" sz="1800" b="0">
                <a:solidFill>
                  <a:srgbClr val="339966"/>
                </a:solidFill>
              </a:rPr>
              <a:t>//</a:t>
            </a:r>
            <a:r>
              <a:rPr lang="zh-CN" altLang="en-US" sz="1800" b="0">
                <a:solidFill>
                  <a:srgbClr val="339966"/>
                </a:solidFill>
              </a:rPr>
              <a:t>任务功能代码</a:t>
            </a:r>
          </a:p>
          <a:p>
            <a:pPr eaLnBrk="1" hangingPunct="1">
              <a:spcBef>
                <a:spcPct val="50000"/>
              </a:spcBef>
              <a:buClrTx/>
              <a:buSzTx/>
              <a:buFontTx/>
              <a:buNone/>
            </a:pPr>
            <a:r>
              <a:rPr lang="zh-CN" altLang="en-US" sz="1800"/>
              <a:t>    </a:t>
            </a:r>
            <a:r>
              <a:rPr lang="en-US" altLang="zh-CN" sz="1800"/>
              <a:t>}</a:t>
            </a:r>
          </a:p>
          <a:p>
            <a:pPr eaLnBrk="1" hangingPunct="1">
              <a:spcBef>
                <a:spcPct val="50000"/>
              </a:spcBef>
              <a:buClrTx/>
              <a:buSzTx/>
              <a:buFontTx/>
              <a:buNone/>
            </a:pPr>
            <a:r>
              <a:rPr lang="en-US" altLang="zh-CN" sz="1800"/>
              <a:t>}</a:t>
            </a:r>
          </a:p>
        </p:txBody>
      </p:sp>
      <p:sp>
        <p:nvSpPr>
          <p:cNvPr id="16392" name="Text Box 7">
            <a:extLst>
              <a:ext uri="{FF2B5EF4-FFF2-40B4-BE49-F238E27FC236}">
                <a16:creationId xmlns:a16="http://schemas.microsoft.com/office/drawing/2014/main" id="{4F9F1D21-357D-E1BE-14FB-47DA6C74F63F}"/>
              </a:ext>
            </a:extLst>
          </p:cNvPr>
          <p:cNvSpPr txBox="1">
            <a:spLocks noChangeArrowheads="1"/>
          </p:cNvSpPr>
          <p:nvPr/>
        </p:nvSpPr>
        <p:spPr bwMode="auto">
          <a:xfrm>
            <a:off x="4643438" y="1557338"/>
            <a:ext cx="4105275" cy="490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solidFill>
                  <a:srgbClr val="0000FF"/>
                </a:solidFill>
              </a:rPr>
              <a:t>在系统 “创建” 任务  </a:t>
            </a:r>
            <a:r>
              <a:rPr lang="en-US" altLang="zh-CN" sz="1800">
                <a:solidFill>
                  <a:srgbClr val="0000FF"/>
                </a:solidFill>
              </a:rPr>
              <a:t>task_A</a:t>
            </a:r>
          </a:p>
          <a:p>
            <a:pPr eaLnBrk="1" hangingPunct="1">
              <a:spcBef>
                <a:spcPct val="50000"/>
              </a:spcBef>
              <a:buClrTx/>
              <a:buSzTx/>
              <a:buFontTx/>
              <a:buNone/>
            </a:pPr>
            <a:endParaRPr lang="en-US" altLang="zh-CN" sz="1800">
              <a:solidFill>
                <a:srgbClr val="0000FF"/>
              </a:solidFill>
            </a:endParaRPr>
          </a:p>
          <a:p>
            <a:pPr eaLnBrk="1" hangingPunct="1">
              <a:spcBef>
                <a:spcPct val="50000"/>
              </a:spcBef>
              <a:buClrTx/>
              <a:buSzTx/>
              <a:buFontTx/>
              <a:buNone/>
            </a:pPr>
            <a:r>
              <a:rPr lang="en-US" altLang="zh-CN" sz="1800"/>
              <a:t>void main(void)</a:t>
            </a:r>
          </a:p>
          <a:p>
            <a:pPr eaLnBrk="1" hangingPunct="1">
              <a:spcBef>
                <a:spcPct val="50000"/>
              </a:spcBef>
              <a:buClrTx/>
              <a:buSzTx/>
              <a:buFontTx/>
              <a:buNone/>
            </a:pPr>
            <a:r>
              <a:rPr lang="en-US" altLang="zh-CN" sz="1800"/>
              <a:t>{</a:t>
            </a:r>
          </a:p>
          <a:p>
            <a:pPr eaLnBrk="1" hangingPunct="1">
              <a:spcBef>
                <a:spcPct val="50000"/>
              </a:spcBef>
              <a:buClrTx/>
              <a:buSzTx/>
              <a:buFontTx/>
              <a:buNone/>
            </a:pPr>
            <a:r>
              <a:rPr lang="en-US" altLang="zh-CN" sz="1800"/>
              <a:t>    OSInit();    </a:t>
            </a:r>
            <a:r>
              <a:rPr lang="en-US" altLang="zh-CN" sz="1800" b="0">
                <a:solidFill>
                  <a:srgbClr val="339966"/>
                </a:solidFill>
              </a:rPr>
              <a:t>//</a:t>
            </a:r>
            <a:r>
              <a:rPr lang="zh-CN" altLang="en-US" sz="1800" b="0">
                <a:solidFill>
                  <a:srgbClr val="339966"/>
                </a:solidFill>
              </a:rPr>
              <a:t>系统初始化部分</a:t>
            </a:r>
          </a:p>
          <a:p>
            <a:pPr eaLnBrk="1" hangingPunct="1">
              <a:spcBef>
                <a:spcPct val="50000"/>
              </a:spcBef>
              <a:buClrTx/>
              <a:buSzTx/>
              <a:buFontTx/>
              <a:buNone/>
            </a:pPr>
            <a:r>
              <a:rPr lang="zh-CN" altLang="en-US" sz="1800">
                <a:solidFill>
                  <a:srgbClr val="339966"/>
                </a:solidFill>
              </a:rPr>
              <a:t>    </a:t>
            </a:r>
            <a:r>
              <a:rPr lang="en-US" altLang="zh-CN" sz="1800"/>
              <a:t>……</a:t>
            </a:r>
          </a:p>
          <a:p>
            <a:pPr eaLnBrk="1" hangingPunct="1">
              <a:spcBef>
                <a:spcPct val="50000"/>
              </a:spcBef>
              <a:buClrTx/>
              <a:buSzTx/>
              <a:buFontTx/>
              <a:buNone/>
            </a:pPr>
            <a:r>
              <a:rPr lang="en-US" altLang="zh-CN" sz="1800"/>
              <a:t>    </a:t>
            </a:r>
            <a:r>
              <a:rPr lang="en-US" altLang="zh-CN" sz="1800">
                <a:solidFill>
                  <a:srgbClr val="3366FF"/>
                </a:solidFill>
              </a:rPr>
              <a:t>OSTaskCreate( task_A, void * 0, </a:t>
            </a:r>
          </a:p>
          <a:p>
            <a:pPr eaLnBrk="1" hangingPunct="1">
              <a:spcBef>
                <a:spcPct val="50000"/>
              </a:spcBef>
              <a:buClrTx/>
              <a:buSzTx/>
              <a:buFontTx/>
              <a:buNone/>
            </a:pPr>
            <a:r>
              <a:rPr lang="en-US" altLang="zh-CN" sz="1800">
                <a:solidFill>
                  <a:srgbClr val="3366FF"/>
                </a:solidFill>
              </a:rPr>
              <a:t>                            &amp;MystackTop,</a:t>
            </a:r>
          </a:p>
          <a:p>
            <a:pPr eaLnBrk="1" hangingPunct="1">
              <a:spcBef>
                <a:spcPct val="50000"/>
              </a:spcBef>
              <a:buClrTx/>
              <a:buSzTx/>
              <a:buFontTx/>
              <a:buNone/>
            </a:pPr>
            <a:r>
              <a:rPr lang="en-US" altLang="zh-CN" sz="1800">
                <a:solidFill>
                  <a:srgbClr val="3366FF"/>
                </a:solidFill>
              </a:rPr>
              <a:t>                            8</a:t>
            </a:r>
          </a:p>
          <a:p>
            <a:pPr eaLnBrk="1" hangingPunct="1">
              <a:spcBef>
                <a:spcPct val="50000"/>
              </a:spcBef>
              <a:buClrTx/>
              <a:buSzTx/>
              <a:buFontTx/>
              <a:buNone/>
            </a:pPr>
            <a:r>
              <a:rPr lang="en-US" altLang="zh-CN" sz="1800">
                <a:solidFill>
                  <a:srgbClr val="3366FF"/>
                </a:solidFill>
              </a:rPr>
              <a:t>                            );</a:t>
            </a:r>
          </a:p>
          <a:p>
            <a:pPr eaLnBrk="1" hangingPunct="1">
              <a:spcBef>
                <a:spcPct val="50000"/>
              </a:spcBef>
              <a:buClrTx/>
              <a:buSzTx/>
              <a:buFontTx/>
              <a:buNone/>
            </a:pPr>
            <a:r>
              <a:rPr lang="en-US" altLang="zh-CN" sz="1800"/>
              <a:t>    OSStart();</a:t>
            </a:r>
          </a:p>
          <a:p>
            <a:pPr eaLnBrk="1" hangingPunct="1">
              <a:spcBef>
                <a:spcPct val="50000"/>
              </a:spcBef>
              <a:buClrTx/>
              <a:buSzTx/>
              <a:buFontTx/>
              <a:buNone/>
            </a:pPr>
            <a:r>
              <a:rPr lang="en-US" altLang="zh-CN" sz="180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3">
            <a:extLst>
              <a:ext uri="{FF2B5EF4-FFF2-40B4-BE49-F238E27FC236}">
                <a16:creationId xmlns:a16="http://schemas.microsoft.com/office/drawing/2014/main" id="{39966FA4-144A-D22B-3F7E-EA6218DFD09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7411" name="灯片编号占位符 4">
            <a:extLst>
              <a:ext uri="{FF2B5EF4-FFF2-40B4-BE49-F238E27FC236}">
                <a16:creationId xmlns:a16="http://schemas.microsoft.com/office/drawing/2014/main" id="{2D7F6906-6637-3F18-5A26-4ABCB5E0820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2DFAFA3-BE3A-47D7-9B89-4A907694C768}" type="slidenum">
              <a:rPr lang="en-US" altLang="zh-CN" sz="1200" smtClean="0">
                <a:solidFill>
                  <a:srgbClr val="3366FF"/>
                </a:solidFill>
                <a:latin typeface="Arial Black" panose="020B0A04020102020204" pitchFamily="34" charset="0"/>
              </a:rPr>
              <a:pPr>
                <a:spcBef>
                  <a:spcPct val="0"/>
                </a:spcBef>
                <a:buClrTx/>
                <a:buSzTx/>
                <a:buFontTx/>
                <a:buNone/>
              </a:pPr>
              <a:t>14</a:t>
            </a:fld>
            <a:endParaRPr lang="en-US" altLang="zh-CN" sz="1200">
              <a:solidFill>
                <a:srgbClr val="3366FF"/>
              </a:solidFill>
              <a:latin typeface="Arial Black" panose="020B0A04020102020204" pitchFamily="34" charset="0"/>
            </a:endParaRPr>
          </a:p>
        </p:txBody>
      </p:sp>
      <p:sp>
        <p:nvSpPr>
          <p:cNvPr id="17412" name="日期占位符 5">
            <a:extLst>
              <a:ext uri="{FF2B5EF4-FFF2-40B4-BE49-F238E27FC236}">
                <a16:creationId xmlns:a16="http://schemas.microsoft.com/office/drawing/2014/main" id="{2E8F4EE1-65D9-067F-401C-84208CA92E9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715EA58-CD83-478B-AF8C-EBBD19351F32}"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7413" name="Rectangle 2">
            <a:extLst>
              <a:ext uri="{FF2B5EF4-FFF2-40B4-BE49-F238E27FC236}">
                <a16:creationId xmlns:a16="http://schemas.microsoft.com/office/drawing/2014/main" id="{CFB07AF9-8566-7875-29B6-D5209A522C28}"/>
              </a:ext>
            </a:extLst>
          </p:cNvPr>
          <p:cNvSpPr>
            <a:spLocks noGrp="1" noChangeArrowheads="1"/>
          </p:cNvSpPr>
          <p:nvPr>
            <p:ph type="title"/>
          </p:nvPr>
        </p:nvSpPr>
        <p:spPr>
          <a:xfrm>
            <a:off x="457200" y="692150"/>
            <a:ext cx="8229600" cy="668338"/>
          </a:xfrm>
        </p:spPr>
        <p:txBody>
          <a:bodyPr/>
          <a:lstStyle/>
          <a:p>
            <a:pPr eaLnBrk="1" hangingPunct="1"/>
            <a:r>
              <a:rPr lang="en-US" altLang="zh-CN" sz="4000" b="1"/>
              <a:t>2.1   </a:t>
            </a:r>
            <a:r>
              <a:rPr lang="zh-CN" altLang="en-US" sz="4000" b="1"/>
              <a:t>任务的基本概念</a:t>
            </a:r>
          </a:p>
        </p:txBody>
      </p:sp>
      <p:sp>
        <p:nvSpPr>
          <p:cNvPr id="17414" name="Rectangle 3">
            <a:extLst>
              <a:ext uri="{FF2B5EF4-FFF2-40B4-BE49-F238E27FC236}">
                <a16:creationId xmlns:a16="http://schemas.microsoft.com/office/drawing/2014/main" id="{7EDD1CC9-2B78-FBB1-54AF-6EA055909C2C}"/>
              </a:ext>
            </a:extLst>
          </p:cNvPr>
          <p:cNvSpPr>
            <a:spLocks noGrp="1" noChangeArrowheads="1"/>
          </p:cNvSpPr>
          <p:nvPr>
            <p:ph type="body" idx="1"/>
          </p:nvPr>
        </p:nvSpPr>
        <p:spPr>
          <a:xfrm>
            <a:off x="457200" y="1557338"/>
            <a:ext cx="8229600" cy="576262"/>
          </a:xfrm>
        </p:spPr>
        <p:txBody>
          <a:bodyPr/>
          <a:lstStyle/>
          <a:p>
            <a:pPr eaLnBrk="1" hangingPunct="1">
              <a:lnSpc>
                <a:spcPct val="90000"/>
              </a:lnSpc>
            </a:pPr>
            <a:r>
              <a:rPr lang="zh-CN" altLang="en-US"/>
              <a:t>系统任务</a:t>
            </a:r>
          </a:p>
        </p:txBody>
      </p:sp>
      <p:grpSp>
        <p:nvGrpSpPr>
          <p:cNvPr id="2" name="Group 8">
            <a:extLst>
              <a:ext uri="{FF2B5EF4-FFF2-40B4-BE49-F238E27FC236}">
                <a16:creationId xmlns:a16="http://schemas.microsoft.com/office/drawing/2014/main" id="{B9DFEE86-E148-B483-77A6-63BE1C6C2C54}"/>
              </a:ext>
            </a:extLst>
          </p:cNvPr>
          <p:cNvGrpSpPr>
            <a:grpSpLocks/>
          </p:cNvGrpSpPr>
          <p:nvPr/>
        </p:nvGrpSpPr>
        <p:grpSpPr bwMode="auto">
          <a:xfrm>
            <a:off x="827088" y="2492375"/>
            <a:ext cx="7993062" cy="2427288"/>
            <a:chOff x="521" y="1570"/>
            <a:chExt cx="5035" cy="1529"/>
          </a:xfrm>
        </p:grpSpPr>
        <p:sp>
          <p:nvSpPr>
            <p:cNvPr id="17418" name="Text Box 4">
              <a:extLst>
                <a:ext uri="{FF2B5EF4-FFF2-40B4-BE49-F238E27FC236}">
                  <a16:creationId xmlns:a16="http://schemas.microsoft.com/office/drawing/2014/main" id="{DD8646C2-F94C-0FCF-761D-AEC3DA27C05B}"/>
                </a:ext>
              </a:extLst>
            </p:cNvPr>
            <p:cNvSpPr txBox="1">
              <a:spLocks noChangeArrowheads="1"/>
            </p:cNvSpPr>
            <p:nvPr/>
          </p:nvSpPr>
          <p:spPr bwMode="auto">
            <a:xfrm>
              <a:off x="521" y="1570"/>
              <a:ext cx="48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50000"/>
              </a:pPr>
              <a:r>
                <a:rPr lang="zh-CN" altLang="en-US" sz="2400"/>
                <a:t>空闲任务（</a:t>
              </a:r>
              <a:r>
                <a:rPr lang="en-US" altLang="zh-CN" sz="2400"/>
                <a:t>OSTaskIdel( )</a:t>
              </a:r>
              <a:r>
                <a:rPr lang="zh-CN" altLang="en-US" sz="2400">
                  <a:latin typeface="Times New Roman" panose="02020603050405020304" pitchFamily="18" charset="0"/>
                </a:rPr>
                <a:t>）</a:t>
              </a:r>
              <a:endParaRPr lang="zh-CN" altLang="en-US" sz="2400"/>
            </a:p>
          </p:txBody>
        </p:sp>
        <p:sp>
          <p:nvSpPr>
            <p:cNvPr id="17419" name="Text Box 5">
              <a:extLst>
                <a:ext uri="{FF2B5EF4-FFF2-40B4-BE49-F238E27FC236}">
                  <a16:creationId xmlns:a16="http://schemas.microsoft.com/office/drawing/2014/main" id="{F7AB91D7-5FE1-74B3-1100-CCB79179545D}"/>
                </a:ext>
              </a:extLst>
            </p:cNvPr>
            <p:cNvSpPr txBox="1">
              <a:spLocks noChangeArrowheads="1"/>
            </p:cNvSpPr>
            <p:nvPr/>
          </p:nvSpPr>
          <p:spPr bwMode="auto">
            <a:xfrm>
              <a:off x="612" y="2466"/>
              <a:ext cx="48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50000"/>
              </a:pPr>
              <a:r>
                <a:rPr lang="zh-CN" altLang="en-US" sz="2400"/>
                <a:t>统计任务（</a:t>
              </a:r>
              <a:r>
                <a:rPr lang="en-US" altLang="zh-CN" sz="2400"/>
                <a:t>OSTaskStat( )</a:t>
              </a:r>
              <a:r>
                <a:rPr lang="zh-CN" altLang="en-US" sz="2400"/>
                <a:t>）</a:t>
              </a:r>
            </a:p>
          </p:txBody>
        </p:sp>
        <p:sp>
          <p:nvSpPr>
            <p:cNvPr id="17420" name="Text Box 6">
              <a:extLst>
                <a:ext uri="{FF2B5EF4-FFF2-40B4-BE49-F238E27FC236}">
                  <a16:creationId xmlns:a16="http://schemas.microsoft.com/office/drawing/2014/main" id="{27205202-9EB8-3021-F9E7-8355685C25A3}"/>
                </a:ext>
              </a:extLst>
            </p:cNvPr>
            <p:cNvSpPr txBox="1">
              <a:spLocks noChangeArrowheads="1"/>
            </p:cNvSpPr>
            <p:nvPr/>
          </p:nvSpPr>
          <p:spPr bwMode="auto">
            <a:xfrm>
              <a:off x="702" y="1858"/>
              <a:ext cx="48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原型：</a:t>
              </a:r>
              <a:r>
                <a:rPr lang="en-US" altLang="zh-CN" sz="2400"/>
                <a:t>void OSTaskIdel(void* pdata)</a:t>
              </a:r>
            </a:p>
          </p:txBody>
        </p:sp>
        <p:sp>
          <p:nvSpPr>
            <p:cNvPr id="17421" name="Text Box 7">
              <a:extLst>
                <a:ext uri="{FF2B5EF4-FFF2-40B4-BE49-F238E27FC236}">
                  <a16:creationId xmlns:a16="http://schemas.microsoft.com/office/drawing/2014/main" id="{ACE5B9E4-0C3C-2A37-3F90-9AFA5705FC08}"/>
                </a:ext>
              </a:extLst>
            </p:cNvPr>
            <p:cNvSpPr txBox="1">
              <a:spLocks noChangeArrowheads="1"/>
            </p:cNvSpPr>
            <p:nvPr/>
          </p:nvSpPr>
          <p:spPr bwMode="auto">
            <a:xfrm>
              <a:off x="702" y="2811"/>
              <a:ext cx="48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原型：</a:t>
              </a:r>
              <a:r>
                <a:rPr lang="en-US" altLang="zh-CN" sz="2400"/>
                <a:t>void OSTaskStat(void* pdata)</a:t>
              </a:r>
            </a:p>
          </p:txBody>
        </p:sp>
      </p:grpSp>
      <p:sp>
        <p:nvSpPr>
          <p:cNvPr id="43017" name="Text Box 9" descr="羊皮纸">
            <a:extLst>
              <a:ext uri="{FF2B5EF4-FFF2-40B4-BE49-F238E27FC236}">
                <a16:creationId xmlns:a16="http://schemas.microsoft.com/office/drawing/2014/main" id="{116B31CC-6DE9-51D6-CD00-591C2F803D51}"/>
              </a:ext>
            </a:extLst>
          </p:cNvPr>
          <p:cNvSpPr txBox="1">
            <a:spLocks noChangeArrowheads="1"/>
          </p:cNvSpPr>
          <p:nvPr/>
        </p:nvSpPr>
        <p:spPr bwMode="auto">
          <a:xfrm>
            <a:off x="757238" y="2276475"/>
            <a:ext cx="7775575" cy="33782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55000"/>
            </a:pPr>
            <a:r>
              <a:rPr lang="en-US" altLang="zh-CN" sz="2400"/>
              <a:t> </a:t>
            </a:r>
            <a:r>
              <a:rPr lang="zh-CN" altLang="en-US" sz="2400"/>
              <a:t>空闲任务（</a:t>
            </a:r>
            <a:r>
              <a:rPr lang="en-US" altLang="zh-CN" sz="2400"/>
              <a:t>OSTaskIdel( )</a:t>
            </a:r>
            <a:r>
              <a:rPr lang="zh-CN" altLang="en-US" sz="2400"/>
              <a:t>）使用说明：</a:t>
            </a:r>
          </a:p>
          <a:p>
            <a:pPr eaLnBrk="1" hangingPunct="1">
              <a:spcBef>
                <a:spcPct val="50000"/>
              </a:spcBef>
              <a:buClrTx/>
              <a:buSzTx/>
              <a:buFontTx/>
              <a:buNone/>
            </a:pPr>
            <a:r>
              <a:rPr lang="zh-CN" altLang="en-US" sz="2400"/>
              <a:t>  </a:t>
            </a:r>
            <a:r>
              <a:rPr lang="en-US" altLang="zh-CN" sz="2400"/>
              <a:t>1</a:t>
            </a:r>
            <a:r>
              <a:rPr lang="zh-CN" altLang="en-US" sz="2400"/>
              <a:t>、</a:t>
            </a:r>
            <a:r>
              <a:rPr lang="en-US" altLang="zh-CN" sz="2400"/>
              <a:t>uC/OS-II</a:t>
            </a:r>
            <a:r>
              <a:rPr lang="zh-CN" altLang="en-US" sz="2400"/>
              <a:t>规定用户程序中必须使用</a:t>
            </a:r>
            <a:r>
              <a:rPr lang="en-US" altLang="zh-CN" sz="2400"/>
              <a:t>OSTaskIdel</a:t>
            </a:r>
            <a:r>
              <a:rPr lang="zh-CN" altLang="en-US" sz="2400"/>
              <a:t>。</a:t>
            </a:r>
          </a:p>
          <a:p>
            <a:pPr eaLnBrk="1" hangingPunct="1">
              <a:spcBef>
                <a:spcPct val="50000"/>
              </a:spcBef>
              <a:buClrTx/>
              <a:buSzTx/>
              <a:buFontTx/>
              <a:buNone/>
            </a:pPr>
            <a:r>
              <a:rPr lang="zh-CN" altLang="en-US" sz="2400"/>
              <a:t>  </a:t>
            </a:r>
            <a:r>
              <a:rPr lang="en-US" altLang="zh-CN" sz="2400"/>
              <a:t>2</a:t>
            </a:r>
            <a:r>
              <a:rPr lang="zh-CN" altLang="en-US" sz="2400"/>
              <a:t>、该任务不能用软件删除。</a:t>
            </a:r>
          </a:p>
          <a:p>
            <a:pPr eaLnBrk="1" hangingPunct="1">
              <a:spcBef>
                <a:spcPct val="50000"/>
              </a:spcBef>
              <a:buClrTx/>
              <a:buSzTx/>
              <a:buFontTx/>
              <a:buNone/>
            </a:pPr>
            <a:r>
              <a:rPr lang="zh-CN" altLang="en-US" sz="2400"/>
              <a:t>  </a:t>
            </a:r>
            <a:r>
              <a:rPr lang="en-US" altLang="zh-CN" sz="2400"/>
              <a:t>3</a:t>
            </a:r>
            <a:r>
              <a:rPr lang="zh-CN" altLang="en-US" sz="2400"/>
              <a:t>、该任务是</a:t>
            </a:r>
            <a:r>
              <a:rPr lang="en-US" altLang="zh-CN" sz="2400"/>
              <a:t>uC/OS-II</a:t>
            </a:r>
            <a:r>
              <a:rPr lang="zh-CN" altLang="en-US" sz="2400"/>
              <a:t>初始化时自动创建，其任务优先	级固定为最低级，用户也可修改该任务的业务。</a:t>
            </a:r>
          </a:p>
          <a:p>
            <a:pPr eaLnBrk="1" hangingPunct="1">
              <a:spcBef>
                <a:spcPct val="50000"/>
              </a:spcBef>
              <a:buClrTx/>
              <a:buSzTx/>
              <a:buFontTx/>
              <a:buNone/>
            </a:pPr>
            <a:r>
              <a:rPr lang="zh-CN" altLang="en-US" sz="2400"/>
              <a:t>  </a:t>
            </a:r>
            <a:r>
              <a:rPr lang="en-US" altLang="zh-CN" sz="2400"/>
              <a:t>4</a:t>
            </a:r>
            <a:r>
              <a:rPr lang="zh-CN" altLang="en-US" sz="2400"/>
              <a:t>、目的 </a:t>
            </a:r>
            <a:r>
              <a:rPr lang="en-US" altLang="zh-CN" sz="2400"/>
              <a:t>---- </a:t>
            </a:r>
            <a:r>
              <a:rPr lang="zh-CN" altLang="en-US" sz="2400"/>
              <a:t>使 </a:t>
            </a:r>
            <a:r>
              <a:rPr lang="en-US" altLang="zh-CN" sz="2400"/>
              <a:t>CPU </a:t>
            </a:r>
            <a:r>
              <a:rPr lang="zh-CN" altLang="en-US" sz="2400"/>
              <a:t>在没有用户任务可执行时也有事可	做。</a:t>
            </a:r>
          </a:p>
        </p:txBody>
      </p:sp>
      <p:sp>
        <p:nvSpPr>
          <p:cNvPr id="43018" name="Text Box 10" descr="羊皮纸">
            <a:extLst>
              <a:ext uri="{FF2B5EF4-FFF2-40B4-BE49-F238E27FC236}">
                <a16:creationId xmlns:a16="http://schemas.microsoft.com/office/drawing/2014/main" id="{504E80A3-A166-5C9E-05DB-A5A20D795988}"/>
              </a:ext>
            </a:extLst>
          </p:cNvPr>
          <p:cNvSpPr txBox="1">
            <a:spLocks noChangeArrowheads="1"/>
          </p:cNvSpPr>
          <p:nvPr/>
        </p:nvSpPr>
        <p:spPr bwMode="auto">
          <a:xfrm>
            <a:off x="827088" y="2273300"/>
            <a:ext cx="7775575" cy="410845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55000"/>
            </a:pPr>
            <a:r>
              <a:rPr lang="en-US" altLang="zh-CN" sz="2400"/>
              <a:t> </a:t>
            </a:r>
            <a:r>
              <a:rPr lang="zh-CN" altLang="en-US" sz="2400"/>
              <a:t>统计任务（</a:t>
            </a:r>
            <a:r>
              <a:rPr lang="en-US" altLang="zh-CN" sz="2400">
                <a:solidFill>
                  <a:srgbClr val="0000FF"/>
                </a:solidFill>
              </a:rPr>
              <a:t>OSTaskStat( )</a:t>
            </a:r>
            <a:r>
              <a:rPr lang="zh-CN" altLang="en-US" sz="2400"/>
              <a:t>）使用说明：</a:t>
            </a:r>
          </a:p>
          <a:p>
            <a:pPr eaLnBrk="1" hangingPunct="1">
              <a:spcBef>
                <a:spcPct val="50000"/>
              </a:spcBef>
              <a:buClrTx/>
              <a:buSzTx/>
              <a:buFontTx/>
              <a:buNone/>
            </a:pPr>
            <a:r>
              <a:rPr lang="zh-CN" altLang="en-US" sz="2400"/>
              <a:t>  </a:t>
            </a:r>
            <a:r>
              <a:rPr lang="en-US" altLang="zh-CN" sz="2400"/>
              <a:t>1</a:t>
            </a:r>
            <a:r>
              <a:rPr lang="zh-CN" altLang="en-US" sz="2400"/>
              <a:t>、功能完成用户任务 </a:t>
            </a:r>
            <a:r>
              <a:rPr lang="en-US" altLang="zh-CN" sz="2400"/>
              <a:t>CPU </a:t>
            </a:r>
            <a:r>
              <a:rPr lang="zh-CN" altLang="en-US" sz="2400"/>
              <a:t>使用率的统计，结果以百分	比的形式存放在变量 </a:t>
            </a:r>
            <a:r>
              <a:rPr lang="en-US" altLang="zh-CN" sz="2400">
                <a:solidFill>
                  <a:srgbClr val="CC0000"/>
                </a:solidFill>
              </a:rPr>
              <a:t>OSCPUsage</a:t>
            </a:r>
            <a:r>
              <a:rPr lang="en-US" altLang="zh-CN" sz="2400"/>
              <a:t> </a:t>
            </a:r>
            <a:r>
              <a:rPr lang="zh-CN" altLang="en-US" sz="2400"/>
              <a:t>中。</a:t>
            </a:r>
          </a:p>
          <a:p>
            <a:pPr eaLnBrk="1" hangingPunct="1">
              <a:spcBef>
                <a:spcPct val="50000"/>
              </a:spcBef>
              <a:buClrTx/>
              <a:buSzTx/>
              <a:buFontTx/>
              <a:buNone/>
            </a:pPr>
            <a:r>
              <a:rPr lang="zh-CN" altLang="en-US" sz="2400"/>
              <a:t>  </a:t>
            </a:r>
            <a:r>
              <a:rPr lang="en-US" altLang="zh-CN" sz="2400"/>
              <a:t>2</a:t>
            </a:r>
            <a:r>
              <a:rPr lang="zh-CN" altLang="en-US" sz="2400"/>
              <a:t>、该任务用户可选择使用。</a:t>
            </a:r>
            <a:r>
              <a:rPr lang="en-US" altLang="zh-CN" sz="2400"/>
              <a:t>OS_CFG.H</a:t>
            </a:r>
            <a:r>
              <a:rPr lang="zh-CN" altLang="en-US" sz="2400"/>
              <a:t>文件中的常数	</a:t>
            </a:r>
            <a:r>
              <a:rPr lang="en-US" altLang="zh-CN" sz="2400"/>
              <a:t>OS_TASK_STAT_EN </a:t>
            </a:r>
            <a:r>
              <a:rPr lang="zh-CN" altLang="en-US" sz="2400"/>
              <a:t>设置为 </a:t>
            </a:r>
            <a:r>
              <a:rPr lang="en-US" altLang="zh-CN" sz="2400"/>
              <a:t>1</a:t>
            </a:r>
            <a:r>
              <a:rPr lang="zh-CN" altLang="en-US" sz="2400"/>
              <a:t>，使能该函数。 </a:t>
            </a:r>
          </a:p>
          <a:p>
            <a:pPr eaLnBrk="1" hangingPunct="1">
              <a:spcBef>
                <a:spcPct val="50000"/>
              </a:spcBef>
              <a:buClrTx/>
              <a:buSzTx/>
              <a:buFontTx/>
              <a:buNone/>
            </a:pPr>
            <a:r>
              <a:rPr lang="zh-CN" altLang="en-US" sz="2400"/>
              <a:t>  </a:t>
            </a:r>
            <a:r>
              <a:rPr lang="en-US" altLang="zh-CN" sz="2400"/>
              <a:t>3</a:t>
            </a:r>
            <a:r>
              <a:rPr lang="zh-CN" altLang="en-US" sz="2400"/>
              <a:t>、用户在</a:t>
            </a:r>
            <a:r>
              <a:rPr lang="en-US" altLang="zh-CN" sz="2400"/>
              <a:t>OS_CFG.H</a:t>
            </a:r>
            <a:r>
              <a:rPr lang="zh-CN" altLang="en-US" sz="2400"/>
              <a:t>中使能该任务后，系统自动创建	该任务，但在用户使用统计数据前必须调用系统	函数 </a:t>
            </a:r>
            <a:r>
              <a:rPr lang="en-US" altLang="zh-CN" sz="2400"/>
              <a:t>OSStatInit() </a:t>
            </a:r>
            <a:r>
              <a:rPr lang="zh-CN" altLang="en-US" sz="2400"/>
              <a:t>先进行初始化。</a:t>
            </a:r>
          </a:p>
          <a:p>
            <a:pPr eaLnBrk="1" hangingPunct="1">
              <a:spcBef>
                <a:spcPct val="50000"/>
              </a:spcBef>
              <a:buClrTx/>
              <a:buSzTx/>
              <a:buFontTx/>
              <a:buNone/>
            </a:pPr>
            <a:r>
              <a:rPr lang="zh-CN" altLang="en-US" sz="2400"/>
              <a:t>  </a:t>
            </a:r>
            <a:r>
              <a:rPr lang="en-US" altLang="zh-CN" sz="2400"/>
              <a:t>4</a:t>
            </a:r>
            <a:r>
              <a:rPr lang="zh-CN" altLang="en-US" sz="2400"/>
              <a:t>、该任务固定拥有次末任务优先级。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17"/>
                                        </p:tgtEl>
                                        <p:attrNameLst>
                                          <p:attrName>style.visibility</p:attrName>
                                        </p:attrNameLst>
                                      </p:cBhvr>
                                      <p:to>
                                        <p:strVal val="visible"/>
                                      </p:to>
                                    </p:set>
                                    <p:animEffect transition="in" filter="blinds(horizontal)">
                                      <p:cBhvr>
                                        <p:cTn id="12" dur="500"/>
                                        <p:tgtEl>
                                          <p:spTgt spid="43017"/>
                                        </p:tgtEl>
                                      </p:cBhvr>
                                    </p:animEffect>
                                  </p:childTnLst>
                                  <p:subTnLst>
                                    <p:set>
                                      <p:cBhvr override="childStyle">
                                        <p:cTn dur="1" fill="hold" display="0" masterRel="nextClick" afterEffect="1"/>
                                        <p:tgtEl>
                                          <p:spTgt spid="4301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43018"/>
                                        </p:tgtEl>
                                        <p:attrNameLst>
                                          <p:attrName>style.visibility</p:attrName>
                                        </p:attrNameLst>
                                      </p:cBhvr>
                                      <p:to>
                                        <p:strVal val="visible"/>
                                      </p:to>
                                    </p:set>
                                    <p:animEffect transition="in" filter="blinds(vertical)">
                                      <p:cBhvr>
                                        <p:cTn id="17" dur="500"/>
                                        <p:tgtEl>
                                          <p:spTgt spid="43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7" grpId="0" animBg="1"/>
      <p:bldP spid="430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3">
            <a:extLst>
              <a:ext uri="{FF2B5EF4-FFF2-40B4-BE49-F238E27FC236}">
                <a16:creationId xmlns:a16="http://schemas.microsoft.com/office/drawing/2014/main" id="{1EA9857A-AC09-04DA-8B40-FC06F8861A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8435" name="灯片编号占位符 4">
            <a:extLst>
              <a:ext uri="{FF2B5EF4-FFF2-40B4-BE49-F238E27FC236}">
                <a16:creationId xmlns:a16="http://schemas.microsoft.com/office/drawing/2014/main" id="{E665BEA4-BAB5-47A9-66A8-17BBC477611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BE6E230-E221-4656-AC89-C82F5E9EDE2D}" type="slidenum">
              <a:rPr lang="en-US" altLang="zh-CN" sz="1200" smtClean="0">
                <a:solidFill>
                  <a:srgbClr val="3366FF"/>
                </a:solidFill>
                <a:latin typeface="Arial Black" panose="020B0A04020102020204" pitchFamily="34" charset="0"/>
              </a:rPr>
              <a:pPr>
                <a:spcBef>
                  <a:spcPct val="0"/>
                </a:spcBef>
                <a:buClrTx/>
                <a:buSzTx/>
                <a:buFontTx/>
                <a:buNone/>
              </a:pPr>
              <a:t>15</a:t>
            </a:fld>
            <a:endParaRPr lang="en-US" altLang="zh-CN" sz="1200">
              <a:solidFill>
                <a:srgbClr val="3366FF"/>
              </a:solidFill>
              <a:latin typeface="Arial Black" panose="020B0A04020102020204" pitchFamily="34" charset="0"/>
            </a:endParaRPr>
          </a:p>
        </p:txBody>
      </p:sp>
      <p:sp>
        <p:nvSpPr>
          <p:cNvPr id="18436" name="日期占位符 5">
            <a:extLst>
              <a:ext uri="{FF2B5EF4-FFF2-40B4-BE49-F238E27FC236}">
                <a16:creationId xmlns:a16="http://schemas.microsoft.com/office/drawing/2014/main" id="{F55F2412-7FAA-A373-F725-F7B764144AC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1B2A5B8-2916-449D-A3D6-5A2A68DC135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8437" name="Rectangle 2">
            <a:extLst>
              <a:ext uri="{FF2B5EF4-FFF2-40B4-BE49-F238E27FC236}">
                <a16:creationId xmlns:a16="http://schemas.microsoft.com/office/drawing/2014/main" id="{0B3E712B-1A2B-0D92-9BE0-D8237092186B}"/>
              </a:ext>
            </a:extLst>
          </p:cNvPr>
          <p:cNvSpPr>
            <a:spLocks noGrp="1" noChangeArrowheads="1"/>
          </p:cNvSpPr>
          <p:nvPr>
            <p:ph type="title"/>
          </p:nvPr>
        </p:nvSpPr>
        <p:spPr/>
        <p:txBody>
          <a:bodyPr/>
          <a:lstStyle/>
          <a:p>
            <a:pPr eaLnBrk="1" hangingPunct="1"/>
            <a:r>
              <a:rPr lang="en-US" altLang="zh-CN" sz="4000" b="1"/>
              <a:t>2.1   </a:t>
            </a:r>
            <a:r>
              <a:rPr lang="zh-CN" altLang="en-US" sz="4000" b="1"/>
              <a:t>任务的基本概念</a:t>
            </a:r>
          </a:p>
        </p:txBody>
      </p:sp>
      <p:sp>
        <p:nvSpPr>
          <p:cNvPr id="18438" name="Rectangle 3">
            <a:extLst>
              <a:ext uri="{FF2B5EF4-FFF2-40B4-BE49-F238E27FC236}">
                <a16:creationId xmlns:a16="http://schemas.microsoft.com/office/drawing/2014/main" id="{F7247F7E-B56A-02DD-EB1C-EBE8AC310BB0}"/>
              </a:ext>
            </a:extLst>
          </p:cNvPr>
          <p:cNvSpPr>
            <a:spLocks noGrp="1" noChangeArrowheads="1"/>
          </p:cNvSpPr>
          <p:nvPr>
            <p:ph type="body" idx="1"/>
          </p:nvPr>
        </p:nvSpPr>
        <p:spPr>
          <a:xfrm>
            <a:off x="457200" y="1412875"/>
            <a:ext cx="8229600" cy="647700"/>
          </a:xfrm>
        </p:spPr>
        <p:txBody>
          <a:bodyPr/>
          <a:lstStyle/>
          <a:p>
            <a:pPr eaLnBrk="1" hangingPunct="1"/>
            <a:r>
              <a:rPr lang="zh-CN" altLang="en-US" b="1"/>
              <a:t>任务的优先权和优先级别</a:t>
            </a:r>
          </a:p>
        </p:txBody>
      </p:sp>
      <p:sp>
        <p:nvSpPr>
          <p:cNvPr id="18439" name="Text Box 4" descr="羊皮纸">
            <a:extLst>
              <a:ext uri="{FF2B5EF4-FFF2-40B4-BE49-F238E27FC236}">
                <a16:creationId xmlns:a16="http://schemas.microsoft.com/office/drawing/2014/main" id="{3A3F9F2A-45C2-F700-E5C0-5DAAEB432919}"/>
              </a:ext>
            </a:extLst>
          </p:cNvPr>
          <p:cNvSpPr txBox="1">
            <a:spLocks noChangeArrowheads="1"/>
          </p:cNvSpPr>
          <p:nvPr/>
        </p:nvSpPr>
        <p:spPr bwMode="auto">
          <a:xfrm>
            <a:off x="539750" y="2193925"/>
            <a:ext cx="8137525" cy="397192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35000"/>
              </a:spcBef>
              <a:buClr>
                <a:srgbClr val="3399FF"/>
              </a:buClr>
              <a:buSzPct val="50000"/>
            </a:pPr>
            <a:r>
              <a:rPr lang="en-US" altLang="zh-CN" sz="2400" b="0">
                <a:solidFill>
                  <a:srgbClr val="080808"/>
                </a:solidFill>
                <a:latin typeface="Verdana" panose="020B0604030504040204" pitchFamily="34" charset="0"/>
              </a:rPr>
              <a:t>uC/OS-II </a:t>
            </a:r>
            <a:r>
              <a:rPr lang="zh-CN" altLang="en-US" sz="2400" b="0">
                <a:solidFill>
                  <a:srgbClr val="080808"/>
                </a:solidFill>
                <a:latin typeface="Verdana" panose="020B0604030504040204" pitchFamily="34" charset="0"/>
              </a:rPr>
              <a:t>的每个任务都必须有唯一的优先级。</a:t>
            </a:r>
          </a:p>
          <a:p>
            <a:pPr eaLnBrk="1" hangingPunct="1">
              <a:lnSpc>
                <a:spcPct val="115000"/>
              </a:lnSpc>
              <a:spcBef>
                <a:spcPct val="35000"/>
              </a:spcBef>
              <a:buClr>
                <a:srgbClr val="3399FF"/>
              </a:buClr>
              <a:buSzPct val="50000"/>
            </a:pPr>
            <a:r>
              <a:rPr lang="en-US" altLang="zh-CN" sz="2400" b="0">
                <a:solidFill>
                  <a:srgbClr val="080808"/>
                </a:solidFill>
                <a:latin typeface="Verdana" panose="020B0604030504040204" pitchFamily="34" charset="0"/>
              </a:rPr>
              <a:t>uC/OS-II </a:t>
            </a:r>
            <a:r>
              <a:rPr lang="zh-CN" altLang="en-US" sz="2400" b="0">
                <a:solidFill>
                  <a:srgbClr val="080808"/>
                </a:solidFill>
                <a:latin typeface="Verdana" panose="020B0604030504040204" pitchFamily="34" charset="0"/>
              </a:rPr>
              <a:t>最多可以管理</a:t>
            </a:r>
            <a:r>
              <a:rPr lang="en-US" altLang="zh-CN" sz="2400" b="0">
                <a:solidFill>
                  <a:srgbClr val="080808"/>
                </a:solidFill>
                <a:latin typeface="Verdana" panose="020B0604030504040204" pitchFamily="34" charset="0"/>
              </a:rPr>
              <a:t>64</a:t>
            </a:r>
            <a:r>
              <a:rPr lang="zh-CN" altLang="en-US" sz="2400" b="0">
                <a:solidFill>
                  <a:srgbClr val="080808"/>
                </a:solidFill>
                <a:latin typeface="Verdana" panose="020B0604030504040204" pitchFamily="34" charset="0"/>
              </a:rPr>
              <a:t>个优先级别分配给</a:t>
            </a:r>
            <a:r>
              <a:rPr lang="en-US" altLang="zh-CN" sz="2400" b="0">
                <a:solidFill>
                  <a:srgbClr val="080808"/>
                </a:solidFill>
                <a:latin typeface="Verdana" panose="020B0604030504040204" pitchFamily="34" charset="0"/>
              </a:rPr>
              <a:t>64</a:t>
            </a:r>
            <a:r>
              <a:rPr lang="zh-CN" altLang="en-US" sz="2400" b="0">
                <a:solidFill>
                  <a:srgbClr val="080808"/>
                </a:solidFill>
                <a:latin typeface="Verdana" panose="020B0604030504040204" pitchFamily="34" charset="0"/>
              </a:rPr>
              <a:t>个任务。</a:t>
            </a:r>
          </a:p>
          <a:p>
            <a:pPr eaLnBrk="1" hangingPunct="1">
              <a:lnSpc>
                <a:spcPct val="115000"/>
              </a:lnSpc>
              <a:spcBef>
                <a:spcPct val="35000"/>
              </a:spcBef>
              <a:buClr>
                <a:srgbClr val="3399FF"/>
              </a:buClr>
              <a:buSzPct val="50000"/>
            </a:pPr>
            <a:r>
              <a:rPr lang="en-US" altLang="zh-CN" sz="2400" b="0">
                <a:solidFill>
                  <a:srgbClr val="080808"/>
                </a:solidFill>
                <a:latin typeface="Verdana" panose="020B0604030504040204" pitchFamily="34" charset="0"/>
              </a:rPr>
              <a:t>uC/OS-II </a:t>
            </a:r>
            <a:r>
              <a:rPr lang="zh-CN" altLang="en-US" sz="2400" b="0">
                <a:solidFill>
                  <a:srgbClr val="080808"/>
                </a:solidFill>
                <a:latin typeface="Verdana" panose="020B0604030504040204" pitchFamily="34" charset="0"/>
              </a:rPr>
              <a:t>中用一个</a:t>
            </a:r>
            <a:r>
              <a:rPr lang="en-US" altLang="zh-CN" sz="2400" b="0">
                <a:solidFill>
                  <a:srgbClr val="080808"/>
                </a:solidFill>
                <a:latin typeface="Verdana" panose="020B0604030504040204" pitchFamily="34" charset="0"/>
              </a:rPr>
              <a:t>8b</a:t>
            </a:r>
            <a:r>
              <a:rPr lang="zh-CN" altLang="en-US" sz="2400" b="0">
                <a:solidFill>
                  <a:srgbClr val="080808"/>
                </a:solidFill>
                <a:latin typeface="Verdana" panose="020B0604030504040204" pitchFamily="34" charset="0"/>
              </a:rPr>
              <a:t>的整型数来表示优先级别，数字越小，优先级越高，</a:t>
            </a:r>
            <a:r>
              <a:rPr lang="en-US" altLang="zh-CN" sz="2400" b="0">
                <a:solidFill>
                  <a:srgbClr val="080808"/>
                </a:solidFill>
                <a:latin typeface="Verdana" panose="020B0604030504040204" pitchFamily="34" charset="0"/>
              </a:rPr>
              <a:t>prio = 0 </a:t>
            </a:r>
            <a:r>
              <a:rPr lang="zh-CN" altLang="en-US" sz="2400" b="0">
                <a:solidFill>
                  <a:srgbClr val="080808"/>
                </a:solidFill>
                <a:latin typeface="Verdana" panose="020B0604030504040204" pitchFamily="34" charset="0"/>
              </a:rPr>
              <a:t>的任务优先级最高。</a:t>
            </a:r>
          </a:p>
          <a:p>
            <a:pPr eaLnBrk="1" hangingPunct="1">
              <a:lnSpc>
                <a:spcPct val="115000"/>
              </a:lnSpc>
              <a:spcBef>
                <a:spcPct val="35000"/>
              </a:spcBef>
              <a:buClr>
                <a:srgbClr val="3399FF"/>
              </a:buClr>
              <a:buSzPct val="50000"/>
            </a:pPr>
            <a:r>
              <a:rPr lang="en-US" altLang="zh-CN" sz="2400" b="0">
                <a:solidFill>
                  <a:srgbClr val="080808"/>
                </a:solidFill>
                <a:latin typeface="Verdana" panose="020B0604030504040204" pitchFamily="34" charset="0"/>
              </a:rPr>
              <a:t>uC/OS-II </a:t>
            </a:r>
            <a:r>
              <a:rPr lang="zh-CN" altLang="en-US" sz="2400" b="0">
                <a:solidFill>
                  <a:srgbClr val="080808"/>
                </a:solidFill>
                <a:latin typeface="Verdana" panose="020B0604030504040204" pitchFamily="34" charset="0"/>
              </a:rPr>
              <a:t>中使用任务的优先级（</a:t>
            </a:r>
            <a:r>
              <a:rPr lang="en-US" altLang="zh-CN" sz="2400" b="0">
                <a:solidFill>
                  <a:srgbClr val="0000FF"/>
                </a:solidFill>
                <a:latin typeface="Verdana" panose="020B0604030504040204" pitchFamily="34" charset="0"/>
              </a:rPr>
              <a:t>prio</a:t>
            </a:r>
            <a:r>
              <a:rPr lang="zh-CN" altLang="en-US" sz="2400" b="0">
                <a:solidFill>
                  <a:srgbClr val="080808"/>
                </a:solidFill>
                <a:latin typeface="Verdana" panose="020B0604030504040204" pitchFamily="34" charset="0"/>
              </a:rPr>
              <a:t>）作为</a:t>
            </a:r>
            <a:r>
              <a:rPr lang="zh-CN" altLang="en-US" sz="2400" b="0">
                <a:solidFill>
                  <a:srgbClr val="0000FF"/>
                </a:solidFill>
                <a:latin typeface="Verdana" panose="020B0604030504040204" pitchFamily="34" charset="0"/>
              </a:rPr>
              <a:t>任务句柄</a:t>
            </a:r>
            <a:r>
              <a:rPr lang="zh-CN" altLang="en-US" sz="2400" b="0">
                <a:solidFill>
                  <a:srgbClr val="080808"/>
                </a:solidFill>
                <a:latin typeface="Verdana" panose="020B0604030504040204" pitchFamily="34" charset="0"/>
              </a:rPr>
              <a:t>。</a:t>
            </a:r>
          </a:p>
          <a:p>
            <a:pPr eaLnBrk="1" hangingPunct="1">
              <a:lnSpc>
                <a:spcPct val="115000"/>
              </a:lnSpc>
              <a:spcBef>
                <a:spcPct val="35000"/>
              </a:spcBef>
              <a:buClr>
                <a:srgbClr val="3399FF"/>
              </a:buClr>
              <a:buSzPct val="50000"/>
            </a:pPr>
            <a:r>
              <a:rPr lang="zh-CN" altLang="en-US" sz="2400" b="0">
                <a:solidFill>
                  <a:srgbClr val="080808"/>
                </a:solidFill>
                <a:latin typeface="Verdana" panose="020B0604030504040204" pitchFamily="34" charset="0"/>
              </a:rPr>
              <a:t>用户通过修改 </a:t>
            </a:r>
            <a:r>
              <a:rPr lang="en-US" altLang="zh-CN" sz="2400" b="0">
                <a:solidFill>
                  <a:srgbClr val="080808"/>
                </a:solidFill>
                <a:latin typeface="Verdana" panose="020B0604030504040204" pitchFamily="34" charset="0"/>
              </a:rPr>
              <a:t>OS_CFG.H </a:t>
            </a:r>
            <a:r>
              <a:rPr lang="zh-CN" altLang="en-US" sz="2400" b="0">
                <a:solidFill>
                  <a:srgbClr val="080808"/>
                </a:solidFill>
                <a:latin typeface="Verdana" panose="020B0604030504040204" pitchFamily="34" charset="0"/>
              </a:rPr>
              <a:t>中的宏定义常数 </a:t>
            </a:r>
            <a:r>
              <a:rPr lang="en-US" altLang="zh-CN" sz="2400" b="0">
                <a:solidFill>
                  <a:srgbClr val="080808"/>
                </a:solidFill>
                <a:latin typeface="Verdana" panose="020B0604030504040204" pitchFamily="34" charset="0"/>
              </a:rPr>
              <a:t>OS_LOWEST_PRIO </a:t>
            </a:r>
            <a:r>
              <a:rPr lang="zh-CN" altLang="en-US" sz="2400" b="0">
                <a:solidFill>
                  <a:srgbClr val="080808"/>
                </a:solidFill>
                <a:latin typeface="Verdana" panose="020B0604030504040204" pitchFamily="34" charset="0"/>
              </a:rPr>
              <a:t>的值，约定本用户系统的最大优先级数。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3">
            <a:extLst>
              <a:ext uri="{FF2B5EF4-FFF2-40B4-BE49-F238E27FC236}">
                <a16:creationId xmlns:a16="http://schemas.microsoft.com/office/drawing/2014/main" id="{E06C52B1-FE45-F1F9-5D64-B35814BF21D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9459" name="灯片编号占位符 4">
            <a:extLst>
              <a:ext uri="{FF2B5EF4-FFF2-40B4-BE49-F238E27FC236}">
                <a16:creationId xmlns:a16="http://schemas.microsoft.com/office/drawing/2014/main" id="{999CFEE3-69A7-E213-C80D-D251A74E68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090D1EF-85DA-4296-B17A-98CD202B2E72}" type="slidenum">
              <a:rPr lang="en-US" altLang="zh-CN" sz="1200" smtClean="0">
                <a:solidFill>
                  <a:srgbClr val="3366FF"/>
                </a:solidFill>
                <a:latin typeface="Arial Black" panose="020B0A04020102020204" pitchFamily="34" charset="0"/>
              </a:rPr>
              <a:pPr>
                <a:spcBef>
                  <a:spcPct val="0"/>
                </a:spcBef>
                <a:buClrTx/>
                <a:buSzTx/>
                <a:buFontTx/>
                <a:buNone/>
              </a:pPr>
              <a:t>16</a:t>
            </a:fld>
            <a:endParaRPr lang="en-US" altLang="zh-CN" sz="1200">
              <a:solidFill>
                <a:srgbClr val="3366FF"/>
              </a:solidFill>
              <a:latin typeface="Arial Black" panose="020B0A04020102020204" pitchFamily="34" charset="0"/>
            </a:endParaRPr>
          </a:p>
        </p:txBody>
      </p:sp>
      <p:sp>
        <p:nvSpPr>
          <p:cNvPr id="19460" name="日期占位符 5">
            <a:extLst>
              <a:ext uri="{FF2B5EF4-FFF2-40B4-BE49-F238E27FC236}">
                <a16:creationId xmlns:a16="http://schemas.microsoft.com/office/drawing/2014/main" id="{2803C40C-CCDB-1BC0-D0B3-5C6828D2516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C736584-84E8-4687-A101-CE5517D808C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9461" name="Rectangle 2">
            <a:extLst>
              <a:ext uri="{FF2B5EF4-FFF2-40B4-BE49-F238E27FC236}">
                <a16:creationId xmlns:a16="http://schemas.microsoft.com/office/drawing/2014/main" id="{DD249371-E99D-9B87-0C8D-30AABF50B006}"/>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19462" name="Rectangle 3">
            <a:extLst>
              <a:ext uri="{FF2B5EF4-FFF2-40B4-BE49-F238E27FC236}">
                <a16:creationId xmlns:a16="http://schemas.microsoft.com/office/drawing/2014/main" id="{EC7D328F-446B-DBCD-55C7-56782906EE36}"/>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rgbClr val="FF0000"/>
                </a:solidFill>
              </a:rPr>
              <a:t>2</a:t>
            </a:r>
            <a:r>
              <a:rPr lang="zh-CN" altLang="en-US">
                <a:solidFill>
                  <a:srgbClr val="FF0000"/>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a:extLst>
              <a:ext uri="{FF2B5EF4-FFF2-40B4-BE49-F238E27FC236}">
                <a16:creationId xmlns:a16="http://schemas.microsoft.com/office/drawing/2014/main" id="{6BA7584A-8FF7-2C07-852E-981471E0C7D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0483" name="灯片编号占位符 4">
            <a:extLst>
              <a:ext uri="{FF2B5EF4-FFF2-40B4-BE49-F238E27FC236}">
                <a16:creationId xmlns:a16="http://schemas.microsoft.com/office/drawing/2014/main" id="{B00C3166-460F-AFF4-732B-DBBE806F875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C349BC0-C2AE-4432-9778-EE49DBEA280D}" type="slidenum">
              <a:rPr lang="en-US" altLang="zh-CN" sz="1200" smtClean="0">
                <a:solidFill>
                  <a:srgbClr val="3366FF"/>
                </a:solidFill>
                <a:latin typeface="Arial Black" panose="020B0A04020102020204" pitchFamily="34" charset="0"/>
              </a:rPr>
              <a:pPr>
                <a:spcBef>
                  <a:spcPct val="0"/>
                </a:spcBef>
                <a:buClrTx/>
                <a:buSzTx/>
                <a:buFontTx/>
                <a:buNone/>
              </a:pPr>
              <a:t>17</a:t>
            </a:fld>
            <a:endParaRPr lang="en-US" altLang="zh-CN" sz="1200">
              <a:solidFill>
                <a:srgbClr val="3366FF"/>
              </a:solidFill>
              <a:latin typeface="Arial Black" panose="020B0A04020102020204" pitchFamily="34" charset="0"/>
            </a:endParaRPr>
          </a:p>
        </p:txBody>
      </p:sp>
      <p:sp>
        <p:nvSpPr>
          <p:cNvPr id="20484" name="日期占位符 5">
            <a:extLst>
              <a:ext uri="{FF2B5EF4-FFF2-40B4-BE49-F238E27FC236}">
                <a16:creationId xmlns:a16="http://schemas.microsoft.com/office/drawing/2014/main" id="{86854F61-934A-86FD-A0D6-9FB887F2660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B563923-BACD-41C1-BB19-D116B911BE1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0485" name="Rectangle 2">
            <a:extLst>
              <a:ext uri="{FF2B5EF4-FFF2-40B4-BE49-F238E27FC236}">
                <a16:creationId xmlns:a16="http://schemas.microsoft.com/office/drawing/2014/main" id="{7A08F41B-50F3-2F95-505D-3B344AF7D22C}"/>
              </a:ext>
            </a:extLst>
          </p:cNvPr>
          <p:cNvSpPr>
            <a:spLocks noGrp="1" noChangeArrowheads="1"/>
          </p:cNvSpPr>
          <p:nvPr>
            <p:ph type="title"/>
          </p:nvPr>
        </p:nvSpPr>
        <p:spPr>
          <a:xfrm>
            <a:off x="395288" y="960438"/>
            <a:ext cx="8229600" cy="668337"/>
          </a:xfrm>
        </p:spPr>
        <p:txBody>
          <a:bodyPr/>
          <a:lstStyle/>
          <a:p>
            <a:pPr eaLnBrk="1" hangingPunct="1"/>
            <a:r>
              <a:rPr lang="en-US" altLang="zh-CN" sz="4000" b="1"/>
              <a:t>2.2   </a:t>
            </a:r>
            <a:r>
              <a:rPr lang="zh-CN" altLang="en-US" sz="4000" b="1"/>
              <a:t>任务堆栈</a:t>
            </a:r>
          </a:p>
        </p:txBody>
      </p:sp>
      <p:sp>
        <p:nvSpPr>
          <p:cNvPr id="20486" name="Rectangle 3">
            <a:extLst>
              <a:ext uri="{FF2B5EF4-FFF2-40B4-BE49-F238E27FC236}">
                <a16:creationId xmlns:a16="http://schemas.microsoft.com/office/drawing/2014/main" id="{49C34034-3FE9-0824-D97B-2363B957F805}"/>
              </a:ext>
            </a:extLst>
          </p:cNvPr>
          <p:cNvSpPr>
            <a:spLocks noGrp="1" noChangeArrowheads="1"/>
          </p:cNvSpPr>
          <p:nvPr>
            <p:ph type="body" idx="1"/>
          </p:nvPr>
        </p:nvSpPr>
        <p:spPr>
          <a:xfrm>
            <a:off x="468313" y="2060575"/>
            <a:ext cx="8229600" cy="1368425"/>
          </a:xfrm>
        </p:spPr>
        <p:txBody>
          <a:bodyPr/>
          <a:lstStyle/>
          <a:p>
            <a:pPr eaLnBrk="1" hangingPunct="1"/>
            <a:r>
              <a:rPr lang="zh-CN" altLang="en-US" b="1"/>
              <a:t>堆栈 </a:t>
            </a:r>
            <a:r>
              <a:rPr lang="en-US" altLang="zh-CN" b="1"/>
              <a:t>---- LIFO</a:t>
            </a:r>
            <a:r>
              <a:rPr lang="zh-CN" altLang="en-US" b="1"/>
              <a:t>访问原则组织的连续存储器。</a:t>
            </a:r>
          </a:p>
          <a:p>
            <a:pPr eaLnBrk="1" hangingPunct="1"/>
            <a:r>
              <a:rPr lang="zh-CN" altLang="en-US" b="1"/>
              <a:t>任务堆栈在 </a:t>
            </a:r>
            <a:r>
              <a:rPr lang="en-US" altLang="zh-CN" b="1"/>
              <a:t>uC/OS-II </a:t>
            </a:r>
            <a:r>
              <a:rPr lang="zh-CN" altLang="en-US" b="1"/>
              <a:t>中的应用：</a:t>
            </a:r>
            <a:endParaRPr lang="zh-CN" altLang="en-US"/>
          </a:p>
        </p:txBody>
      </p:sp>
      <p:sp>
        <p:nvSpPr>
          <p:cNvPr id="20487" name="Text Box 4">
            <a:extLst>
              <a:ext uri="{FF2B5EF4-FFF2-40B4-BE49-F238E27FC236}">
                <a16:creationId xmlns:a16="http://schemas.microsoft.com/office/drawing/2014/main" id="{EAAC9E06-40A3-5502-AA2D-0BFE98139EF5}"/>
              </a:ext>
            </a:extLst>
          </p:cNvPr>
          <p:cNvSpPr txBox="1">
            <a:spLocks noChangeArrowheads="1"/>
          </p:cNvSpPr>
          <p:nvPr/>
        </p:nvSpPr>
        <p:spPr bwMode="auto">
          <a:xfrm>
            <a:off x="827088" y="3500438"/>
            <a:ext cx="799306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1F29F9"/>
              </a:buClr>
              <a:buSzPct val="80000"/>
            </a:pPr>
            <a:r>
              <a:rPr lang="zh-CN" altLang="en-US" sz="2400"/>
              <a:t>任务堆栈是任务的三大组成部分之一。</a:t>
            </a:r>
          </a:p>
          <a:p>
            <a:pPr eaLnBrk="1" hangingPunct="1">
              <a:spcBef>
                <a:spcPct val="50000"/>
              </a:spcBef>
              <a:buClr>
                <a:srgbClr val="1F29F9"/>
              </a:buClr>
              <a:buSzPct val="80000"/>
            </a:pPr>
            <a:r>
              <a:rPr lang="zh-CN" altLang="en-US" sz="2400"/>
              <a:t>保存 </a:t>
            </a:r>
            <a:r>
              <a:rPr lang="en-US" altLang="zh-CN" sz="2400"/>
              <a:t>CPU </a:t>
            </a:r>
            <a:r>
              <a:rPr lang="zh-CN" altLang="en-US" sz="2400"/>
              <a:t>寄存器现场（</a:t>
            </a:r>
            <a:r>
              <a:rPr lang="en-US" altLang="zh-CN" sz="2400"/>
              <a:t>R0~R12</a:t>
            </a:r>
            <a:r>
              <a:rPr lang="zh-CN" altLang="en-US" sz="2400"/>
              <a:t>、</a:t>
            </a:r>
            <a:r>
              <a:rPr lang="en-US" altLang="zh-CN" sz="2400"/>
              <a:t>LR</a:t>
            </a:r>
            <a:r>
              <a:rPr lang="zh-CN" altLang="en-US" sz="2400"/>
              <a:t>、</a:t>
            </a:r>
            <a:r>
              <a:rPr lang="en-US" altLang="zh-CN" sz="2400"/>
              <a:t>SPSR </a:t>
            </a:r>
            <a:r>
              <a:rPr lang="zh-CN" altLang="en-US" sz="2400"/>
              <a:t>等）。</a:t>
            </a:r>
          </a:p>
          <a:p>
            <a:pPr eaLnBrk="1" hangingPunct="1">
              <a:spcBef>
                <a:spcPct val="50000"/>
              </a:spcBef>
              <a:buClr>
                <a:srgbClr val="1F29F9"/>
              </a:buClr>
              <a:buSzPct val="80000"/>
            </a:pPr>
            <a:r>
              <a:rPr lang="zh-CN" altLang="en-US" sz="2400"/>
              <a:t>本 </a:t>
            </a:r>
            <a:r>
              <a:rPr lang="en-US" altLang="zh-CN" sz="2400"/>
              <a:t>Task </a:t>
            </a:r>
            <a:r>
              <a:rPr lang="zh-CN" altLang="en-US" sz="2400"/>
              <a:t>的私有数据。</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3">
            <a:extLst>
              <a:ext uri="{FF2B5EF4-FFF2-40B4-BE49-F238E27FC236}">
                <a16:creationId xmlns:a16="http://schemas.microsoft.com/office/drawing/2014/main" id="{86C0D4F4-29E7-6C2F-8861-2D184D59BA2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1507" name="灯片编号占位符 4">
            <a:extLst>
              <a:ext uri="{FF2B5EF4-FFF2-40B4-BE49-F238E27FC236}">
                <a16:creationId xmlns:a16="http://schemas.microsoft.com/office/drawing/2014/main" id="{9B1720F9-212E-9CA6-7CBE-3F17E9ECAB4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32DB1F7-6B4E-41ED-8B74-0BF3EA246A56}" type="slidenum">
              <a:rPr lang="en-US" altLang="zh-CN" sz="1200" smtClean="0">
                <a:solidFill>
                  <a:srgbClr val="3366FF"/>
                </a:solidFill>
                <a:latin typeface="Arial Black" panose="020B0A04020102020204" pitchFamily="34" charset="0"/>
              </a:rPr>
              <a:pPr>
                <a:spcBef>
                  <a:spcPct val="0"/>
                </a:spcBef>
                <a:buClrTx/>
                <a:buSzTx/>
                <a:buFontTx/>
                <a:buNone/>
              </a:pPr>
              <a:t>18</a:t>
            </a:fld>
            <a:endParaRPr lang="en-US" altLang="zh-CN" sz="1200">
              <a:solidFill>
                <a:srgbClr val="3366FF"/>
              </a:solidFill>
              <a:latin typeface="Arial Black" panose="020B0A04020102020204" pitchFamily="34" charset="0"/>
            </a:endParaRPr>
          </a:p>
        </p:txBody>
      </p:sp>
      <p:sp>
        <p:nvSpPr>
          <p:cNvPr id="21508" name="日期占位符 5">
            <a:extLst>
              <a:ext uri="{FF2B5EF4-FFF2-40B4-BE49-F238E27FC236}">
                <a16:creationId xmlns:a16="http://schemas.microsoft.com/office/drawing/2014/main" id="{BF165102-69A8-3873-563F-FCC8C988A2F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72F3FD7-106E-42C1-818F-D79C41B5AA9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1509" name="Rectangle 2">
            <a:extLst>
              <a:ext uri="{FF2B5EF4-FFF2-40B4-BE49-F238E27FC236}">
                <a16:creationId xmlns:a16="http://schemas.microsoft.com/office/drawing/2014/main" id="{2D2AB77D-6424-CCD9-8787-68D80EB56071}"/>
              </a:ext>
            </a:extLst>
          </p:cNvPr>
          <p:cNvSpPr>
            <a:spLocks noGrp="1" noChangeArrowheads="1"/>
          </p:cNvSpPr>
          <p:nvPr>
            <p:ph type="title"/>
          </p:nvPr>
        </p:nvSpPr>
        <p:spPr>
          <a:xfrm>
            <a:off x="395288" y="692150"/>
            <a:ext cx="8229600" cy="668338"/>
          </a:xfrm>
        </p:spPr>
        <p:txBody>
          <a:bodyPr/>
          <a:lstStyle/>
          <a:p>
            <a:pPr eaLnBrk="1" hangingPunct="1"/>
            <a:r>
              <a:rPr lang="en-US" altLang="zh-CN" sz="4000" b="1"/>
              <a:t>2.2   </a:t>
            </a:r>
            <a:r>
              <a:rPr lang="zh-CN" altLang="en-US" sz="4000" b="1"/>
              <a:t>任务堆栈</a:t>
            </a:r>
          </a:p>
        </p:txBody>
      </p:sp>
      <p:sp>
        <p:nvSpPr>
          <p:cNvPr id="21510" name="Rectangle 3">
            <a:extLst>
              <a:ext uri="{FF2B5EF4-FFF2-40B4-BE49-F238E27FC236}">
                <a16:creationId xmlns:a16="http://schemas.microsoft.com/office/drawing/2014/main" id="{9A16B78E-9528-5842-238F-6EA77C8E0E1A}"/>
              </a:ext>
            </a:extLst>
          </p:cNvPr>
          <p:cNvSpPr>
            <a:spLocks noGrp="1" noChangeArrowheads="1"/>
          </p:cNvSpPr>
          <p:nvPr>
            <p:ph type="body" idx="1"/>
          </p:nvPr>
        </p:nvSpPr>
        <p:spPr>
          <a:xfrm>
            <a:off x="612775" y="1484313"/>
            <a:ext cx="7127875" cy="720725"/>
          </a:xfrm>
        </p:spPr>
        <p:txBody>
          <a:bodyPr/>
          <a:lstStyle/>
          <a:p>
            <a:pPr eaLnBrk="1" hangingPunct="1"/>
            <a:r>
              <a:rPr lang="zh-CN" altLang="en-US" b="1"/>
              <a:t>任务堆栈的创建</a:t>
            </a:r>
          </a:p>
        </p:txBody>
      </p:sp>
      <p:sp>
        <p:nvSpPr>
          <p:cNvPr id="46084" name="Text Box 4">
            <a:extLst>
              <a:ext uri="{FF2B5EF4-FFF2-40B4-BE49-F238E27FC236}">
                <a16:creationId xmlns:a16="http://schemas.microsoft.com/office/drawing/2014/main" id="{29186053-D30B-EE75-25EA-469468FDF7F4}"/>
              </a:ext>
            </a:extLst>
          </p:cNvPr>
          <p:cNvSpPr txBox="1">
            <a:spLocks noChangeArrowheads="1"/>
          </p:cNvSpPr>
          <p:nvPr/>
        </p:nvSpPr>
        <p:spPr bwMode="auto">
          <a:xfrm>
            <a:off x="1690688" y="2349500"/>
            <a:ext cx="676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1F29F9"/>
              </a:buClr>
              <a:buSzPct val="50000"/>
              <a:buFont typeface="Wingdings" panose="05000000000000000000" pitchFamily="2" charset="2"/>
              <a:buNone/>
            </a:pPr>
            <a:r>
              <a:rPr lang="en-US" altLang="zh-CN" sz="2400"/>
              <a:t>----- </a:t>
            </a:r>
            <a:r>
              <a:rPr lang="zh-CN" altLang="en-US" sz="2400"/>
              <a:t>在创建任务的同时，任务堆栈即被创建。</a:t>
            </a:r>
          </a:p>
        </p:txBody>
      </p:sp>
      <p:sp>
        <p:nvSpPr>
          <p:cNvPr id="46085" name="Text Box 5">
            <a:extLst>
              <a:ext uri="{FF2B5EF4-FFF2-40B4-BE49-F238E27FC236}">
                <a16:creationId xmlns:a16="http://schemas.microsoft.com/office/drawing/2014/main" id="{C8AA3904-B3E9-9D46-52E8-00489F9F1B65}"/>
              </a:ext>
            </a:extLst>
          </p:cNvPr>
          <p:cNvSpPr txBox="1">
            <a:spLocks noChangeArrowheads="1"/>
          </p:cNvSpPr>
          <p:nvPr/>
        </p:nvSpPr>
        <p:spPr bwMode="auto">
          <a:xfrm>
            <a:off x="611188" y="2209800"/>
            <a:ext cx="8137525"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举例</a:t>
            </a:r>
            <a:r>
              <a:rPr lang="en-US" altLang="zh-CN" sz="2400"/>
              <a:t>:</a:t>
            </a:r>
          </a:p>
          <a:p>
            <a:pPr eaLnBrk="1" hangingPunct="1">
              <a:spcBef>
                <a:spcPct val="50000"/>
              </a:spcBef>
              <a:buClrTx/>
              <a:buSzTx/>
              <a:buFontTx/>
              <a:buNone/>
            </a:pPr>
            <a:r>
              <a:rPr lang="en-US" altLang="zh-CN" sz="1800">
                <a:solidFill>
                  <a:srgbClr val="0000FF"/>
                </a:solidFill>
              </a:rPr>
              <a:t>#define    MyTaskStkSize   64</a:t>
            </a:r>
          </a:p>
          <a:p>
            <a:pPr eaLnBrk="1" hangingPunct="1">
              <a:spcBef>
                <a:spcPct val="50000"/>
              </a:spcBef>
              <a:buClrTx/>
              <a:buSzTx/>
              <a:buFontTx/>
              <a:buNone/>
            </a:pPr>
            <a:r>
              <a:rPr lang="en-US" altLang="zh-CN" sz="1800">
                <a:solidFill>
                  <a:srgbClr val="0000FF"/>
                </a:solidFill>
              </a:rPr>
              <a:t>OS_STK    MyTaskStk[ MyTaskStkSize ]   </a:t>
            </a:r>
            <a:r>
              <a:rPr lang="en-US" altLang="zh-CN" sz="1800" i="1">
                <a:solidFill>
                  <a:srgbClr val="339966"/>
                </a:solidFill>
                <a:latin typeface="Arial Narrow" panose="020B0606020202030204" pitchFamily="34" charset="0"/>
              </a:rPr>
              <a:t>//</a:t>
            </a:r>
            <a:r>
              <a:rPr lang="zh-CN" altLang="en-US" sz="1800" i="1">
                <a:solidFill>
                  <a:srgbClr val="339966"/>
                </a:solidFill>
                <a:latin typeface="Arial Narrow" panose="020B0606020202030204" pitchFamily="34" charset="0"/>
              </a:rPr>
              <a:t>在 </a:t>
            </a:r>
            <a:r>
              <a:rPr lang="en-US" altLang="zh-CN" sz="1800" i="1">
                <a:solidFill>
                  <a:srgbClr val="339966"/>
                </a:solidFill>
                <a:latin typeface="Arial Narrow" panose="020B0606020202030204" pitchFamily="34" charset="0"/>
              </a:rPr>
              <a:t>OS_CPU.H</a:t>
            </a:r>
            <a:r>
              <a:rPr lang="zh-CN" altLang="en-US" sz="1800" i="1">
                <a:solidFill>
                  <a:srgbClr val="339966"/>
                </a:solidFill>
                <a:latin typeface="Arial Narrow" panose="020B0606020202030204" pitchFamily="34" charset="0"/>
              </a:rPr>
              <a:t>中定义 </a:t>
            </a:r>
            <a:r>
              <a:rPr lang="en-US" altLang="zh-CN" sz="1800" i="1">
                <a:solidFill>
                  <a:srgbClr val="339966"/>
                </a:solidFill>
                <a:latin typeface="Arial Narrow" panose="020B0606020202030204" pitchFamily="34" charset="0"/>
              </a:rPr>
              <a:t>OS_STK</a:t>
            </a:r>
          </a:p>
          <a:p>
            <a:pPr eaLnBrk="1" hangingPunct="1">
              <a:spcBef>
                <a:spcPct val="50000"/>
              </a:spcBef>
              <a:buClrTx/>
              <a:buSzTx/>
              <a:buFontTx/>
              <a:buNone/>
            </a:pPr>
            <a:r>
              <a:rPr lang="en-US" altLang="zh-CN" sz="1800"/>
              <a:t>… …					</a:t>
            </a:r>
            <a:r>
              <a:rPr lang="en-US" altLang="zh-CN" sz="1800" i="1">
                <a:solidFill>
                  <a:srgbClr val="339966"/>
                </a:solidFill>
                <a:latin typeface="Arial Narrow" panose="020B0606020202030204" pitchFamily="34" charset="0"/>
              </a:rPr>
              <a:t>// typedef   INT32U  OS_STK</a:t>
            </a:r>
          </a:p>
          <a:p>
            <a:pPr eaLnBrk="1" hangingPunct="1">
              <a:spcBef>
                <a:spcPct val="50000"/>
              </a:spcBef>
              <a:buClrTx/>
              <a:buSzTx/>
              <a:buFontTx/>
              <a:buNone/>
            </a:pPr>
            <a:r>
              <a:rPr lang="en-US" altLang="zh-CN" sz="1800"/>
              <a:t>INT8U  OSTaskCreate(</a:t>
            </a:r>
          </a:p>
          <a:p>
            <a:pPr eaLnBrk="1" hangingPunct="1">
              <a:spcBef>
                <a:spcPct val="50000"/>
              </a:spcBef>
              <a:buClrTx/>
              <a:buSzTx/>
              <a:buFontTx/>
              <a:buNone/>
            </a:pPr>
            <a:r>
              <a:rPr lang="en-US" altLang="zh-CN" sz="1800"/>
              <a:t>		 void (*task) (void *pd),   </a:t>
            </a:r>
            <a:r>
              <a:rPr lang="en-US" altLang="zh-CN" sz="1800" i="1">
                <a:solidFill>
                  <a:srgbClr val="339966"/>
                </a:solidFill>
              </a:rPr>
              <a:t>//</a:t>
            </a:r>
            <a:r>
              <a:rPr lang="zh-CN" altLang="en-US" sz="1800" i="1">
                <a:solidFill>
                  <a:srgbClr val="339966"/>
                </a:solidFill>
              </a:rPr>
              <a:t>指向任务的指针</a:t>
            </a:r>
          </a:p>
          <a:p>
            <a:pPr eaLnBrk="1" hangingPunct="1">
              <a:spcBef>
                <a:spcPct val="50000"/>
              </a:spcBef>
              <a:buClrTx/>
              <a:buSzTx/>
              <a:buFontTx/>
              <a:buNone/>
            </a:pPr>
            <a:r>
              <a:rPr lang="zh-CN" altLang="en-US" sz="1800"/>
              <a:t>		 </a:t>
            </a:r>
            <a:r>
              <a:rPr lang="en-US" altLang="zh-CN" sz="1800"/>
              <a:t>void * pdata,	             </a:t>
            </a:r>
            <a:r>
              <a:rPr lang="en-US" altLang="zh-CN" sz="1800" i="1">
                <a:solidFill>
                  <a:srgbClr val="339966"/>
                </a:solidFill>
              </a:rPr>
              <a:t>//</a:t>
            </a:r>
            <a:r>
              <a:rPr lang="zh-CN" altLang="en-US" sz="1800" i="1">
                <a:solidFill>
                  <a:srgbClr val="339966"/>
                </a:solidFill>
              </a:rPr>
              <a:t>传递给任务的参数</a:t>
            </a:r>
          </a:p>
          <a:p>
            <a:pPr eaLnBrk="1" hangingPunct="1">
              <a:spcBef>
                <a:spcPct val="50000"/>
              </a:spcBef>
              <a:buClrTx/>
              <a:buSzTx/>
              <a:buFontTx/>
              <a:buNone/>
            </a:pPr>
            <a:r>
              <a:rPr lang="zh-CN" altLang="en-US" sz="1800"/>
              <a:t>		 </a:t>
            </a:r>
            <a:r>
              <a:rPr lang="en-US" altLang="zh-CN" sz="1800">
                <a:solidFill>
                  <a:srgbClr val="0000FF"/>
                </a:solidFill>
              </a:rPr>
              <a:t>MyTaskStk[ MyTaskStkSize </a:t>
            </a:r>
            <a:r>
              <a:rPr lang="zh-CN" altLang="en-US" sz="1800">
                <a:solidFill>
                  <a:srgbClr val="0000FF"/>
                </a:solidFill>
              </a:rPr>
              <a:t>－</a:t>
            </a:r>
            <a:r>
              <a:rPr lang="en-US" altLang="zh-CN" sz="1800">
                <a:solidFill>
                  <a:srgbClr val="0000FF"/>
                </a:solidFill>
              </a:rPr>
              <a:t>1 ]</a:t>
            </a:r>
            <a:r>
              <a:rPr lang="en-US" altLang="zh-CN" sz="1800"/>
              <a:t>    </a:t>
            </a:r>
            <a:r>
              <a:rPr lang="en-US" altLang="zh-CN" sz="1800" i="1">
                <a:solidFill>
                  <a:srgbClr val="339966"/>
                </a:solidFill>
              </a:rPr>
              <a:t>//</a:t>
            </a:r>
            <a:r>
              <a:rPr lang="zh-CN" altLang="en-US" sz="1800" i="1">
                <a:solidFill>
                  <a:srgbClr val="339966"/>
                </a:solidFill>
              </a:rPr>
              <a:t>任务堆栈</a:t>
            </a:r>
            <a:r>
              <a:rPr lang="zh-CN" altLang="en-US" sz="1800" i="1">
                <a:solidFill>
                  <a:srgbClr val="CC0000"/>
                </a:solidFill>
              </a:rPr>
              <a:t>栈顶</a:t>
            </a:r>
            <a:r>
              <a:rPr lang="zh-CN" altLang="en-US" sz="1800" i="1">
                <a:solidFill>
                  <a:srgbClr val="339966"/>
                </a:solidFill>
              </a:rPr>
              <a:t>的指针</a:t>
            </a:r>
          </a:p>
          <a:p>
            <a:pPr eaLnBrk="1" hangingPunct="1">
              <a:spcBef>
                <a:spcPct val="50000"/>
              </a:spcBef>
              <a:buClrTx/>
              <a:buSzTx/>
              <a:buFontTx/>
              <a:buNone/>
            </a:pPr>
            <a:r>
              <a:rPr lang="zh-CN" altLang="en-US" sz="1800"/>
              <a:t>		 </a:t>
            </a:r>
            <a:r>
              <a:rPr lang="en-US" altLang="zh-CN" sz="1800"/>
              <a:t>INT8U prio	            </a:t>
            </a:r>
            <a:r>
              <a:rPr lang="en-US" altLang="zh-CN" sz="1800" i="1">
                <a:solidFill>
                  <a:srgbClr val="339966"/>
                </a:solidFill>
              </a:rPr>
              <a:t>//</a:t>
            </a:r>
            <a:r>
              <a:rPr lang="zh-CN" altLang="en-US" sz="1800" i="1">
                <a:solidFill>
                  <a:srgbClr val="339966"/>
                </a:solidFill>
              </a:rPr>
              <a:t>任务的优先级别</a:t>
            </a:r>
          </a:p>
          <a:p>
            <a:pPr eaLnBrk="1" hangingPunct="1">
              <a:spcBef>
                <a:spcPct val="50000"/>
              </a:spcBef>
              <a:buClrTx/>
              <a:buSzTx/>
              <a:buFontTx/>
              <a:buNone/>
            </a:pPr>
            <a:r>
              <a:rPr lang="zh-CN" altLang="en-US" sz="1800"/>
              <a:t>		        </a:t>
            </a:r>
            <a:r>
              <a:rPr lang="en-US" altLang="zh-CN"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blinds(vertical)">
                                      <p:cBhvr>
                                        <p:cTn id="7" dur="500"/>
                                        <p:tgtEl>
                                          <p:spTgt spid="46084"/>
                                        </p:tgtEl>
                                      </p:cBhvr>
                                    </p:animEffect>
                                  </p:childTnLst>
                                  <p:subTnLst>
                                    <p:set>
                                      <p:cBhvr override="childStyle">
                                        <p:cTn dur="1" fill="hold" display="0" masterRel="nextClick" afterEffect="1"/>
                                        <p:tgtEl>
                                          <p:spTgt spid="4608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46085"/>
                                        </p:tgtEl>
                                        <p:attrNameLst>
                                          <p:attrName>style.visibility</p:attrName>
                                        </p:attrNameLst>
                                      </p:cBhvr>
                                      <p:to>
                                        <p:strVal val="visible"/>
                                      </p:to>
                                    </p:set>
                                    <p:animEffect transition="in" filter="blinds(vertical)">
                                      <p:cBhvr>
                                        <p:cTn id="12" dur="500"/>
                                        <p:tgtEl>
                                          <p:spTgt spid="4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3">
            <a:extLst>
              <a:ext uri="{FF2B5EF4-FFF2-40B4-BE49-F238E27FC236}">
                <a16:creationId xmlns:a16="http://schemas.microsoft.com/office/drawing/2014/main" id="{4A7DE10E-29FE-31E9-D82A-0E329B6AD4E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2531" name="灯片编号占位符 4">
            <a:extLst>
              <a:ext uri="{FF2B5EF4-FFF2-40B4-BE49-F238E27FC236}">
                <a16:creationId xmlns:a16="http://schemas.microsoft.com/office/drawing/2014/main" id="{7983B170-03DD-F2F4-D5B8-ACEC04B845F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BD0F381-88EE-49F5-A5F8-DA5FF5D6C005}" type="slidenum">
              <a:rPr lang="en-US" altLang="zh-CN" sz="1200" smtClean="0">
                <a:solidFill>
                  <a:srgbClr val="3366FF"/>
                </a:solidFill>
                <a:latin typeface="Arial Black" panose="020B0A04020102020204" pitchFamily="34" charset="0"/>
              </a:rPr>
              <a:pPr>
                <a:spcBef>
                  <a:spcPct val="0"/>
                </a:spcBef>
                <a:buClrTx/>
                <a:buSzTx/>
                <a:buFontTx/>
                <a:buNone/>
              </a:pPr>
              <a:t>19</a:t>
            </a:fld>
            <a:endParaRPr lang="en-US" altLang="zh-CN" sz="1200">
              <a:solidFill>
                <a:srgbClr val="3366FF"/>
              </a:solidFill>
              <a:latin typeface="Arial Black" panose="020B0A04020102020204" pitchFamily="34" charset="0"/>
            </a:endParaRPr>
          </a:p>
        </p:txBody>
      </p:sp>
      <p:sp>
        <p:nvSpPr>
          <p:cNvPr id="22532" name="日期占位符 5">
            <a:extLst>
              <a:ext uri="{FF2B5EF4-FFF2-40B4-BE49-F238E27FC236}">
                <a16:creationId xmlns:a16="http://schemas.microsoft.com/office/drawing/2014/main" id="{0E06E7AE-3554-397E-C5F2-B9BAFFCF84C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0F40276-23E7-4CD8-ABA6-877FCEB0304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2533" name="Rectangle 2">
            <a:extLst>
              <a:ext uri="{FF2B5EF4-FFF2-40B4-BE49-F238E27FC236}">
                <a16:creationId xmlns:a16="http://schemas.microsoft.com/office/drawing/2014/main" id="{DC165421-A69A-4803-AC95-32BAC14134EA}"/>
              </a:ext>
            </a:extLst>
          </p:cNvPr>
          <p:cNvSpPr>
            <a:spLocks noGrp="1" noChangeArrowheads="1"/>
          </p:cNvSpPr>
          <p:nvPr>
            <p:ph type="title"/>
          </p:nvPr>
        </p:nvSpPr>
        <p:spPr>
          <a:xfrm>
            <a:off x="395288" y="692150"/>
            <a:ext cx="8229600" cy="668338"/>
          </a:xfrm>
        </p:spPr>
        <p:txBody>
          <a:bodyPr/>
          <a:lstStyle/>
          <a:p>
            <a:pPr eaLnBrk="1" hangingPunct="1"/>
            <a:r>
              <a:rPr lang="en-US" altLang="zh-CN" sz="4000" b="1"/>
              <a:t>2.2   </a:t>
            </a:r>
            <a:r>
              <a:rPr lang="zh-CN" altLang="en-US" sz="4000" b="1"/>
              <a:t>任务堆栈</a:t>
            </a:r>
          </a:p>
        </p:txBody>
      </p:sp>
      <p:sp>
        <p:nvSpPr>
          <p:cNvPr id="22534" name="Rectangle 3">
            <a:extLst>
              <a:ext uri="{FF2B5EF4-FFF2-40B4-BE49-F238E27FC236}">
                <a16:creationId xmlns:a16="http://schemas.microsoft.com/office/drawing/2014/main" id="{93E444FD-DEE9-B3AC-0F4D-312BECEAAF37}"/>
              </a:ext>
            </a:extLst>
          </p:cNvPr>
          <p:cNvSpPr>
            <a:spLocks noGrp="1" noChangeArrowheads="1"/>
          </p:cNvSpPr>
          <p:nvPr>
            <p:ph type="body" idx="1"/>
          </p:nvPr>
        </p:nvSpPr>
        <p:spPr>
          <a:xfrm>
            <a:off x="612775" y="1484313"/>
            <a:ext cx="7920038" cy="504825"/>
          </a:xfrm>
        </p:spPr>
        <p:txBody>
          <a:bodyPr/>
          <a:lstStyle/>
          <a:p>
            <a:pPr eaLnBrk="1" hangingPunct="1">
              <a:lnSpc>
                <a:spcPct val="80000"/>
              </a:lnSpc>
            </a:pPr>
            <a:r>
              <a:rPr lang="zh-CN" altLang="en-US" sz="2800" b="1"/>
              <a:t>任务堆栈的使用注意事项 </a:t>
            </a:r>
            <a:r>
              <a:rPr lang="en-US" altLang="zh-CN" sz="2000" b="1"/>
              <a:t>__ </a:t>
            </a:r>
            <a:r>
              <a:rPr lang="zh-CN" altLang="en-US" sz="2400" b="1"/>
              <a:t>存在两种堆栈形式</a:t>
            </a:r>
          </a:p>
        </p:txBody>
      </p:sp>
      <p:sp>
        <p:nvSpPr>
          <p:cNvPr id="47109" name="Text Box 5">
            <a:extLst>
              <a:ext uri="{FF2B5EF4-FFF2-40B4-BE49-F238E27FC236}">
                <a16:creationId xmlns:a16="http://schemas.microsoft.com/office/drawing/2014/main" id="{9E845B4F-4258-B3BB-0660-DAD2D9A6AFD7}"/>
              </a:ext>
            </a:extLst>
          </p:cNvPr>
          <p:cNvSpPr txBox="1">
            <a:spLocks noChangeArrowheads="1"/>
          </p:cNvSpPr>
          <p:nvPr/>
        </p:nvSpPr>
        <p:spPr bwMode="auto">
          <a:xfrm>
            <a:off x="4787900" y="2174875"/>
            <a:ext cx="35274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45000"/>
            </a:pPr>
            <a:r>
              <a:rPr lang="zh-CN" altLang="en-US" sz="2400">
                <a:solidFill>
                  <a:srgbClr val="3333FF"/>
                </a:solidFill>
              </a:rPr>
              <a:t>递增堆栈 </a:t>
            </a:r>
            <a:r>
              <a:rPr lang="en-US" altLang="zh-CN" sz="2400">
                <a:solidFill>
                  <a:srgbClr val="3333FF"/>
                </a:solidFill>
              </a:rPr>
              <a:t>---- </a:t>
            </a:r>
            <a:r>
              <a:rPr lang="zh-CN" altLang="en-US" sz="2400">
                <a:solidFill>
                  <a:srgbClr val="3333FF"/>
                </a:solidFill>
              </a:rPr>
              <a:t>进栈操作向大地址方向发展。</a:t>
            </a:r>
          </a:p>
        </p:txBody>
      </p:sp>
      <p:sp>
        <p:nvSpPr>
          <p:cNvPr id="47110" name="Text Box 6">
            <a:extLst>
              <a:ext uri="{FF2B5EF4-FFF2-40B4-BE49-F238E27FC236}">
                <a16:creationId xmlns:a16="http://schemas.microsoft.com/office/drawing/2014/main" id="{B8885039-FA41-3F1B-5804-4AECA9E2E54B}"/>
              </a:ext>
            </a:extLst>
          </p:cNvPr>
          <p:cNvSpPr txBox="1">
            <a:spLocks noChangeArrowheads="1"/>
          </p:cNvSpPr>
          <p:nvPr/>
        </p:nvSpPr>
        <p:spPr bwMode="auto">
          <a:xfrm>
            <a:off x="468313" y="2174875"/>
            <a:ext cx="35274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45000"/>
            </a:pPr>
            <a:r>
              <a:rPr lang="zh-CN" altLang="en-US" sz="2400">
                <a:solidFill>
                  <a:srgbClr val="3333FF"/>
                </a:solidFill>
              </a:rPr>
              <a:t>递减堆栈 </a:t>
            </a:r>
            <a:r>
              <a:rPr lang="en-US" altLang="zh-CN" sz="2400">
                <a:solidFill>
                  <a:srgbClr val="3333FF"/>
                </a:solidFill>
              </a:rPr>
              <a:t>---- </a:t>
            </a:r>
            <a:r>
              <a:rPr lang="zh-CN" altLang="en-US" sz="2400">
                <a:solidFill>
                  <a:srgbClr val="3333FF"/>
                </a:solidFill>
              </a:rPr>
              <a:t>进栈操作向小地址方向发展。</a:t>
            </a:r>
          </a:p>
        </p:txBody>
      </p:sp>
      <p:sp>
        <p:nvSpPr>
          <p:cNvPr id="22537" name="Line 7">
            <a:extLst>
              <a:ext uri="{FF2B5EF4-FFF2-40B4-BE49-F238E27FC236}">
                <a16:creationId xmlns:a16="http://schemas.microsoft.com/office/drawing/2014/main" id="{5FB7DA15-7B5C-7C2D-371C-DB2A188B3F2E}"/>
              </a:ext>
            </a:extLst>
          </p:cNvPr>
          <p:cNvSpPr>
            <a:spLocks noChangeShapeType="1"/>
          </p:cNvSpPr>
          <p:nvPr/>
        </p:nvSpPr>
        <p:spPr bwMode="auto">
          <a:xfrm>
            <a:off x="4356100" y="2205038"/>
            <a:ext cx="0" cy="3240087"/>
          </a:xfrm>
          <a:prstGeom prst="line">
            <a:avLst/>
          </a:prstGeom>
          <a:noFill/>
          <a:ln w="19050">
            <a:solidFill>
              <a:srgbClr val="6699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8" name="Text Box 8">
            <a:extLst>
              <a:ext uri="{FF2B5EF4-FFF2-40B4-BE49-F238E27FC236}">
                <a16:creationId xmlns:a16="http://schemas.microsoft.com/office/drawing/2014/main" id="{1B81C4DA-D08D-C9F1-0295-3094459993F9}"/>
              </a:ext>
            </a:extLst>
          </p:cNvPr>
          <p:cNvSpPr txBox="1">
            <a:spLocks noChangeArrowheads="1"/>
          </p:cNvSpPr>
          <p:nvPr/>
        </p:nvSpPr>
        <p:spPr bwMode="auto">
          <a:xfrm>
            <a:off x="250825" y="3284538"/>
            <a:ext cx="3889375"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a:t>OSTaskCreate(</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a:t>
            </a:r>
            <a:r>
              <a:rPr lang="en-US" altLang="zh-CN" sz="1800">
                <a:solidFill>
                  <a:srgbClr val="D60093"/>
                </a:solidFill>
              </a:rPr>
              <a:t>&amp;MyTaskStk[StkSize - 1],</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a:t>
            </a:r>
          </a:p>
        </p:txBody>
      </p:sp>
      <p:sp>
        <p:nvSpPr>
          <p:cNvPr id="22539" name="Text Box 9">
            <a:extLst>
              <a:ext uri="{FF2B5EF4-FFF2-40B4-BE49-F238E27FC236}">
                <a16:creationId xmlns:a16="http://schemas.microsoft.com/office/drawing/2014/main" id="{BD12A3F1-1399-41F4-CBEF-983694E1CEED}"/>
              </a:ext>
            </a:extLst>
          </p:cNvPr>
          <p:cNvSpPr txBox="1">
            <a:spLocks noChangeArrowheads="1"/>
          </p:cNvSpPr>
          <p:nvPr/>
        </p:nvSpPr>
        <p:spPr bwMode="auto">
          <a:xfrm>
            <a:off x="5003800" y="3213100"/>
            <a:ext cx="3529013"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a:t>OSTaskCreate(</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a:t>
            </a:r>
            <a:r>
              <a:rPr lang="en-US" altLang="zh-CN" sz="1800">
                <a:solidFill>
                  <a:srgbClr val="D60093"/>
                </a:solidFill>
              </a:rPr>
              <a:t>&amp;MyTaskStk[ 0 ],</a:t>
            </a:r>
          </a:p>
          <a:p>
            <a:pPr eaLnBrk="1" hangingPunct="1">
              <a:spcBef>
                <a:spcPct val="50000"/>
              </a:spcBef>
              <a:buClrTx/>
              <a:buSzTx/>
              <a:buFontTx/>
              <a:buNone/>
            </a:pPr>
            <a:r>
              <a:rPr lang="en-US" altLang="zh-CN" sz="1800"/>
              <a:t>	… …</a:t>
            </a:r>
          </a:p>
          <a:p>
            <a:pPr eaLnBrk="1" hangingPunct="1">
              <a:spcBef>
                <a:spcPct val="50000"/>
              </a:spcBef>
              <a:buClrTx/>
              <a:buSzTx/>
              <a:buFontTx/>
              <a:buNone/>
            </a:pPr>
            <a:r>
              <a:rPr lang="en-US" altLang="zh-CN" sz="1800"/>
              <a:t>	    )</a:t>
            </a:r>
          </a:p>
        </p:txBody>
      </p:sp>
      <p:sp>
        <p:nvSpPr>
          <p:cNvPr id="47114" name="Text Box 10">
            <a:extLst>
              <a:ext uri="{FF2B5EF4-FFF2-40B4-BE49-F238E27FC236}">
                <a16:creationId xmlns:a16="http://schemas.microsoft.com/office/drawing/2014/main" id="{6852F2F7-579E-EA54-63C4-0E71C168B234}"/>
              </a:ext>
            </a:extLst>
          </p:cNvPr>
          <p:cNvSpPr txBox="1">
            <a:spLocks noChangeArrowheads="1"/>
          </p:cNvSpPr>
          <p:nvPr/>
        </p:nvSpPr>
        <p:spPr bwMode="auto">
          <a:xfrm>
            <a:off x="539750" y="5589588"/>
            <a:ext cx="81359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5963" indent="-7159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000">
                <a:latin typeface="Arial Narrow" panose="020B0606020202030204" pitchFamily="34" charset="0"/>
              </a:rPr>
              <a:t>备注：利用条件编译技术和 </a:t>
            </a:r>
            <a:r>
              <a:rPr lang="en-US" altLang="zh-CN" sz="2000">
                <a:latin typeface="Arial Narrow" panose="020B0606020202030204" pitchFamily="34" charset="0"/>
              </a:rPr>
              <a:t>OS_CPU.H </a:t>
            </a:r>
            <a:r>
              <a:rPr lang="zh-CN" altLang="en-US" sz="2000">
                <a:latin typeface="Arial Narrow" panose="020B0606020202030204" pitchFamily="34" charset="0"/>
              </a:rPr>
              <a:t>中的宏定义常数</a:t>
            </a:r>
            <a:r>
              <a:rPr lang="en-US" altLang="zh-CN" sz="2000">
                <a:latin typeface="Arial Narrow" panose="020B0606020202030204" pitchFamily="34" charset="0"/>
              </a:rPr>
              <a:t>OS_STK_GROWTH </a:t>
            </a:r>
            <a:r>
              <a:rPr lang="zh-CN" altLang="en-US" sz="2000">
                <a:latin typeface="Arial Narrow" panose="020B0606020202030204" pitchFamily="34" charset="0"/>
              </a:rPr>
              <a:t>编写易移植用户系统；“</a:t>
            </a:r>
            <a:r>
              <a:rPr lang="en-US" altLang="zh-CN" sz="2000">
                <a:latin typeface="Arial Narrow" panose="020B0606020202030204" pitchFamily="34" charset="0"/>
              </a:rPr>
              <a:t>1” --- </a:t>
            </a:r>
            <a:r>
              <a:rPr lang="zh-CN" altLang="en-US" sz="2000">
                <a:latin typeface="Arial Narrow" panose="020B0606020202030204" pitchFamily="34" charset="0"/>
              </a:rPr>
              <a:t>递减堆栈 </a:t>
            </a:r>
            <a:r>
              <a:rPr lang="en-US" altLang="zh-CN" sz="2000">
                <a:latin typeface="Arial Narrow" panose="020B0606020202030204" pitchFamily="34" charset="0"/>
              </a:rPr>
              <a:t>for ARM CPU</a:t>
            </a:r>
            <a:r>
              <a:rPr lang="zh-CN" altLang="en-US" sz="2000">
                <a:latin typeface="Arial Narrow" panose="020B060602020203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blinds(vertical)">
                                      <p:cBhvr>
                                        <p:cTn id="7" dur="500"/>
                                        <p:tgtEl>
                                          <p:spTgt spid="47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47110"/>
                                        </p:tgtEl>
                                        <p:attrNameLst>
                                          <p:attrName>style.visibility</p:attrName>
                                        </p:attrNameLst>
                                      </p:cBhvr>
                                      <p:to>
                                        <p:strVal val="visible"/>
                                      </p:to>
                                    </p:set>
                                    <p:animEffect transition="in" filter="blinds(vertical)">
                                      <p:cBhvr>
                                        <p:cTn id="12" dur="500"/>
                                        <p:tgtEl>
                                          <p:spTgt spid="471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14"/>
                                        </p:tgtEl>
                                        <p:attrNameLst>
                                          <p:attrName>style.visibility</p:attrName>
                                        </p:attrNameLst>
                                      </p:cBhvr>
                                      <p:to>
                                        <p:strVal val="visible"/>
                                      </p:to>
                                    </p:set>
                                    <p:animEffect transition="in" filter="blinds(horizontal)">
                                      <p:cBhvr>
                                        <p:cTn id="17" dur="500"/>
                                        <p:tgtEl>
                                          <p:spTgt spid="47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P spid="47110" grpId="0"/>
      <p:bldP spid="471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3">
            <a:extLst>
              <a:ext uri="{FF2B5EF4-FFF2-40B4-BE49-F238E27FC236}">
                <a16:creationId xmlns:a16="http://schemas.microsoft.com/office/drawing/2014/main" id="{9AC55BEF-2812-17DD-A2A1-C2EAE0D0FE0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3555" name="灯片编号占位符 4">
            <a:extLst>
              <a:ext uri="{FF2B5EF4-FFF2-40B4-BE49-F238E27FC236}">
                <a16:creationId xmlns:a16="http://schemas.microsoft.com/office/drawing/2014/main" id="{FF2B1123-5505-D526-CBFB-11ADA42DC28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BF5A92D-013A-48B3-9009-80DD1FFEEBB8}" type="slidenum">
              <a:rPr lang="en-US" altLang="zh-CN" sz="1200" smtClean="0">
                <a:solidFill>
                  <a:srgbClr val="3366FF"/>
                </a:solidFill>
                <a:latin typeface="Arial Black" panose="020B0A04020102020204" pitchFamily="34" charset="0"/>
              </a:rPr>
              <a:pPr>
                <a:spcBef>
                  <a:spcPct val="0"/>
                </a:spcBef>
                <a:buClrTx/>
                <a:buSzTx/>
                <a:buFontTx/>
                <a:buNone/>
              </a:pPr>
              <a:t>20</a:t>
            </a:fld>
            <a:endParaRPr lang="en-US" altLang="zh-CN" sz="1200">
              <a:solidFill>
                <a:srgbClr val="3366FF"/>
              </a:solidFill>
              <a:latin typeface="Arial Black" panose="020B0A04020102020204" pitchFamily="34" charset="0"/>
            </a:endParaRPr>
          </a:p>
        </p:txBody>
      </p:sp>
      <p:sp>
        <p:nvSpPr>
          <p:cNvPr id="23556" name="日期占位符 5">
            <a:extLst>
              <a:ext uri="{FF2B5EF4-FFF2-40B4-BE49-F238E27FC236}">
                <a16:creationId xmlns:a16="http://schemas.microsoft.com/office/drawing/2014/main" id="{2386EC09-5592-517F-6455-D892AB54363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76CC80B-5FEC-44DB-A729-53E40DCFE2D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3557" name="Rectangle 2">
            <a:extLst>
              <a:ext uri="{FF2B5EF4-FFF2-40B4-BE49-F238E27FC236}">
                <a16:creationId xmlns:a16="http://schemas.microsoft.com/office/drawing/2014/main" id="{81F2EB95-72F7-B943-70A1-3B6A3AA2033E}"/>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23558" name="Rectangle 3">
            <a:extLst>
              <a:ext uri="{FF2B5EF4-FFF2-40B4-BE49-F238E27FC236}">
                <a16:creationId xmlns:a16="http://schemas.microsoft.com/office/drawing/2014/main" id="{C8A1CA5D-161E-FD9C-114A-D2244B281C92}"/>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rgbClr val="FF0000"/>
                </a:solidFill>
              </a:rPr>
              <a:t>3</a:t>
            </a:r>
            <a:r>
              <a:rPr lang="zh-CN" altLang="en-US">
                <a:solidFill>
                  <a:srgbClr val="FF0000"/>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3">
            <a:extLst>
              <a:ext uri="{FF2B5EF4-FFF2-40B4-BE49-F238E27FC236}">
                <a16:creationId xmlns:a16="http://schemas.microsoft.com/office/drawing/2014/main" id="{CE8DB2B2-D585-0067-6626-9AE1C5026A4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4579" name="灯片编号占位符 4">
            <a:extLst>
              <a:ext uri="{FF2B5EF4-FFF2-40B4-BE49-F238E27FC236}">
                <a16:creationId xmlns:a16="http://schemas.microsoft.com/office/drawing/2014/main" id="{818CAE3E-3AE0-E04D-6D5F-B3CDC0B6BDB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413E1D0-5E49-4B94-8954-BAC17F7CBC90}" type="slidenum">
              <a:rPr lang="en-US" altLang="zh-CN" sz="1200" smtClean="0">
                <a:solidFill>
                  <a:srgbClr val="3366FF"/>
                </a:solidFill>
                <a:latin typeface="Arial Black" panose="020B0A04020102020204" pitchFamily="34" charset="0"/>
              </a:rPr>
              <a:pPr>
                <a:spcBef>
                  <a:spcPct val="0"/>
                </a:spcBef>
                <a:buClrTx/>
                <a:buSzTx/>
                <a:buFontTx/>
                <a:buNone/>
              </a:pPr>
              <a:t>21</a:t>
            </a:fld>
            <a:endParaRPr lang="en-US" altLang="zh-CN" sz="1200">
              <a:solidFill>
                <a:srgbClr val="3366FF"/>
              </a:solidFill>
              <a:latin typeface="Arial Black" panose="020B0A04020102020204" pitchFamily="34" charset="0"/>
            </a:endParaRPr>
          </a:p>
        </p:txBody>
      </p:sp>
      <p:sp>
        <p:nvSpPr>
          <p:cNvPr id="24580" name="日期占位符 5">
            <a:extLst>
              <a:ext uri="{FF2B5EF4-FFF2-40B4-BE49-F238E27FC236}">
                <a16:creationId xmlns:a16="http://schemas.microsoft.com/office/drawing/2014/main" id="{1E441491-EC37-F454-5B28-E85ECC5E8E3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12AB213-92F9-4024-93C1-11D76341CEF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4581" name="Rectangle 2">
            <a:extLst>
              <a:ext uri="{FF2B5EF4-FFF2-40B4-BE49-F238E27FC236}">
                <a16:creationId xmlns:a16="http://schemas.microsoft.com/office/drawing/2014/main" id="{72E40116-89DA-E6AB-6ED9-02CAB59104EA}"/>
              </a:ext>
            </a:extLst>
          </p:cNvPr>
          <p:cNvSpPr>
            <a:spLocks noGrp="1" noChangeArrowheads="1"/>
          </p:cNvSpPr>
          <p:nvPr>
            <p:ph type="title"/>
          </p:nvPr>
        </p:nvSpPr>
        <p:spPr>
          <a:xfrm>
            <a:off x="457200" y="673100"/>
            <a:ext cx="8229600" cy="668338"/>
          </a:xfrm>
        </p:spPr>
        <p:txBody>
          <a:bodyPr/>
          <a:lstStyle/>
          <a:p>
            <a:pPr eaLnBrk="1" hangingPunct="1"/>
            <a:r>
              <a:rPr lang="en-US" altLang="zh-CN" sz="4000"/>
              <a:t>2.3  </a:t>
            </a:r>
            <a:r>
              <a:rPr lang="zh-CN" altLang="en-US" sz="4000" b="1">
                <a:solidFill>
                  <a:srgbClr val="080808"/>
                </a:solidFill>
              </a:rPr>
              <a:t>任务控制块及任务控制块链表</a:t>
            </a:r>
          </a:p>
        </p:txBody>
      </p:sp>
      <p:sp>
        <p:nvSpPr>
          <p:cNvPr id="24582" name="Rectangle 3">
            <a:extLst>
              <a:ext uri="{FF2B5EF4-FFF2-40B4-BE49-F238E27FC236}">
                <a16:creationId xmlns:a16="http://schemas.microsoft.com/office/drawing/2014/main" id="{11538D4C-DA94-F89D-ACAB-C261DA11CD31}"/>
              </a:ext>
            </a:extLst>
          </p:cNvPr>
          <p:cNvSpPr>
            <a:spLocks noGrp="1" noChangeArrowheads="1"/>
          </p:cNvSpPr>
          <p:nvPr>
            <p:ph type="body" idx="1"/>
          </p:nvPr>
        </p:nvSpPr>
        <p:spPr>
          <a:xfrm>
            <a:off x="457200" y="1558925"/>
            <a:ext cx="8229600" cy="647700"/>
          </a:xfrm>
        </p:spPr>
        <p:txBody>
          <a:bodyPr/>
          <a:lstStyle/>
          <a:p>
            <a:pPr eaLnBrk="1" hangingPunct="1"/>
            <a:r>
              <a:rPr lang="zh-CN" altLang="en-US" sz="2800" b="1"/>
              <a:t>任务控制块（</a:t>
            </a:r>
            <a:r>
              <a:rPr lang="en-US" altLang="zh-CN" sz="2800" b="1"/>
              <a:t>TCB</a:t>
            </a:r>
            <a:r>
              <a:rPr lang="zh-CN" altLang="en-US" sz="2800" b="1"/>
              <a:t>）</a:t>
            </a:r>
            <a:r>
              <a:rPr lang="en-US" altLang="zh-CN" sz="2800"/>
              <a:t>---- </a:t>
            </a:r>
            <a:r>
              <a:rPr lang="zh-CN" altLang="en-US" sz="2800"/>
              <a:t>任务在系统中的身份证</a:t>
            </a:r>
          </a:p>
        </p:txBody>
      </p:sp>
      <p:sp>
        <p:nvSpPr>
          <p:cNvPr id="24583" name="Text Box 4">
            <a:extLst>
              <a:ext uri="{FF2B5EF4-FFF2-40B4-BE49-F238E27FC236}">
                <a16:creationId xmlns:a16="http://schemas.microsoft.com/office/drawing/2014/main" id="{C964625B-7722-CAE2-2F64-BE39E056726D}"/>
              </a:ext>
            </a:extLst>
          </p:cNvPr>
          <p:cNvSpPr txBox="1">
            <a:spLocks noChangeArrowheads="1"/>
          </p:cNvSpPr>
          <p:nvPr/>
        </p:nvSpPr>
        <p:spPr bwMode="auto">
          <a:xfrm>
            <a:off x="755650" y="2279650"/>
            <a:ext cx="7704138"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3538" indent="-3635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65000"/>
            </a:pPr>
            <a:r>
              <a:rPr lang="en-US" altLang="zh-CN" sz="2400">
                <a:latin typeface="Arial Narrow" panose="020B0606020202030204" pitchFamily="34" charset="0"/>
              </a:rPr>
              <a:t>TCB ---- uC/OS-II </a:t>
            </a:r>
            <a:r>
              <a:rPr lang="zh-CN" altLang="en-US" sz="2400">
                <a:latin typeface="Arial Narrow" panose="020B0606020202030204" pitchFamily="34" charset="0"/>
              </a:rPr>
              <a:t>中用于记录任务信息（任务堆栈指针、任务当前状态、任务优先级别等）的数据结构。</a:t>
            </a:r>
          </a:p>
          <a:p>
            <a:pPr eaLnBrk="1" hangingPunct="1">
              <a:spcBef>
                <a:spcPct val="50000"/>
              </a:spcBef>
              <a:buClr>
                <a:srgbClr val="3399FF"/>
              </a:buClr>
              <a:buSzPct val="65000"/>
            </a:pPr>
            <a:r>
              <a:rPr lang="en-US" altLang="zh-CN" sz="2400">
                <a:latin typeface="Arial Narrow" panose="020B0606020202030204" pitchFamily="34" charset="0"/>
              </a:rPr>
              <a:t>uC/OS-II </a:t>
            </a:r>
            <a:r>
              <a:rPr lang="zh-CN" altLang="en-US" sz="2400">
                <a:latin typeface="Arial Narrow" panose="020B0606020202030204" pitchFamily="34" charset="0"/>
              </a:rPr>
              <a:t>将系统中的所有 </a:t>
            </a:r>
            <a:r>
              <a:rPr lang="en-US" altLang="zh-CN" sz="2400">
                <a:latin typeface="Arial Narrow" panose="020B0606020202030204" pitchFamily="34" charset="0"/>
              </a:rPr>
              <a:t>TCB </a:t>
            </a:r>
            <a:r>
              <a:rPr lang="zh-CN" altLang="en-US" sz="2400">
                <a:latin typeface="Arial Narrow" panose="020B0606020202030204" pitchFamily="34" charset="0"/>
              </a:rPr>
              <a:t>构成两个链表（</a:t>
            </a:r>
            <a:r>
              <a:rPr lang="en-US" altLang="zh-CN" sz="2400">
                <a:latin typeface="Arial Narrow" panose="020B0606020202030204" pitchFamily="34" charset="0"/>
              </a:rPr>
              <a:t>OSTCBList</a:t>
            </a:r>
            <a:r>
              <a:rPr lang="zh-CN" altLang="en-US" sz="2400">
                <a:latin typeface="Arial Narrow" panose="020B0606020202030204" pitchFamily="34" charset="0"/>
              </a:rPr>
              <a:t>、</a:t>
            </a:r>
            <a:r>
              <a:rPr lang="en-US" altLang="zh-CN" sz="2400">
                <a:latin typeface="Arial Narrow" panose="020B0606020202030204" pitchFamily="34" charset="0"/>
              </a:rPr>
              <a:t>OSTCBFreeList</a:t>
            </a:r>
            <a:r>
              <a:rPr lang="zh-CN" altLang="en-US" sz="2400">
                <a:latin typeface="Arial Narrow" panose="020B0606020202030204" pitchFamily="34" charset="0"/>
              </a:rPr>
              <a:t>）进行任务管理。</a:t>
            </a:r>
          </a:p>
        </p:txBody>
      </p:sp>
      <p:sp>
        <p:nvSpPr>
          <p:cNvPr id="24584" name="Text Box 5">
            <a:extLst>
              <a:ext uri="{FF2B5EF4-FFF2-40B4-BE49-F238E27FC236}">
                <a16:creationId xmlns:a16="http://schemas.microsoft.com/office/drawing/2014/main" id="{FF25A988-2F4D-1297-840E-9E80CC2C360D}"/>
              </a:ext>
            </a:extLst>
          </p:cNvPr>
          <p:cNvSpPr txBox="1">
            <a:spLocks noChangeArrowheads="1"/>
          </p:cNvSpPr>
          <p:nvPr/>
        </p:nvSpPr>
        <p:spPr bwMode="auto">
          <a:xfrm>
            <a:off x="898525" y="4224338"/>
            <a:ext cx="81375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9900"/>
              </a:buClr>
              <a:buSzPct val="40000"/>
              <a:buFont typeface="Wingdings" panose="05000000000000000000" pitchFamily="2" charset="2"/>
              <a:buChar char="u"/>
            </a:pPr>
            <a:r>
              <a:rPr lang="zh-CN" altLang="en-US" sz="2400">
                <a:latin typeface="Arial Narrow" panose="020B0606020202030204" pitchFamily="34" charset="0"/>
              </a:rPr>
              <a:t>空任务控制块链表 </a:t>
            </a:r>
            <a:r>
              <a:rPr lang="en-US" altLang="zh-CN" sz="2400">
                <a:latin typeface="Arial Narrow" panose="020B0606020202030204" pitchFamily="34" charset="0"/>
              </a:rPr>
              <a:t>---- </a:t>
            </a:r>
            <a:r>
              <a:rPr lang="zh-CN" altLang="en-US" sz="2400">
                <a:latin typeface="Arial Narrow" panose="020B0606020202030204" pitchFamily="34" charset="0"/>
              </a:rPr>
              <a:t>未被分配的 </a:t>
            </a:r>
            <a:r>
              <a:rPr lang="en-US" altLang="zh-CN" sz="2400">
                <a:latin typeface="Arial Narrow" panose="020B0606020202030204" pitchFamily="34" charset="0"/>
              </a:rPr>
              <a:t>TCB </a:t>
            </a:r>
            <a:r>
              <a:rPr lang="zh-CN" altLang="en-US" sz="2400">
                <a:latin typeface="Arial Narrow" panose="020B0606020202030204" pitchFamily="34" charset="0"/>
              </a:rPr>
              <a:t>链 </a:t>
            </a:r>
            <a:r>
              <a:rPr lang="en-US" altLang="zh-CN" sz="2400">
                <a:solidFill>
                  <a:srgbClr val="0000FF"/>
                </a:solidFill>
                <a:latin typeface="Arial Narrow" panose="020B0606020202030204" pitchFamily="34" charset="0"/>
              </a:rPr>
              <a:t>OSTCBFreeList</a:t>
            </a:r>
            <a:r>
              <a:rPr lang="zh-CN" altLang="en-US" sz="2400">
                <a:latin typeface="Arial Narrow" panose="020B0606020202030204" pitchFamily="34" charset="0"/>
              </a:rPr>
              <a:t>。</a:t>
            </a:r>
          </a:p>
          <a:p>
            <a:pPr eaLnBrk="1" hangingPunct="1">
              <a:spcBef>
                <a:spcPct val="50000"/>
              </a:spcBef>
              <a:buClr>
                <a:srgbClr val="FF9900"/>
              </a:buClr>
              <a:buSzPct val="40000"/>
              <a:buFont typeface="Wingdings" panose="05000000000000000000" pitchFamily="2" charset="2"/>
              <a:buChar char="u"/>
            </a:pPr>
            <a:r>
              <a:rPr lang="zh-CN" altLang="en-US" sz="2400">
                <a:latin typeface="Arial Narrow" panose="020B0606020202030204" pitchFamily="34" charset="0"/>
              </a:rPr>
              <a:t>任务控制块链表 </a:t>
            </a:r>
            <a:r>
              <a:rPr lang="en-US" altLang="zh-CN" sz="2400">
                <a:latin typeface="Arial Narrow" panose="020B0606020202030204" pitchFamily="34" charset="0"/>
              </a:rPr>
              <a:t>---- </a:t>
            </a:r>
            <a:r>
              <a:rPr lang="zh-CN" altLang="en-US" sz="2400">
                <a:latin typeface="Arial Narrow" panose="020B0606020202030204" pitchFamily="34" charset="0"/>
              </a:rPr>
              <a:t>已分配的 </a:t>
            </a:r>
            <a:r>
              <a:rPr lang="en-US" altLang="zh-CN" sz="2400">
                <a:latin typeface="Arial Narrow" panose="020B0606020202030204" pitchFamily="34" charset="0"/>
              </a:rPr>
              <a:t>TCB </a:t>
            </a:r>
            <a:r>
              <a:rPr lang="zh-CN" altLang="en-US" sz="2400">
                <a:latin typeface="Arial Narrow" panose="020B0606020202030204" pitchFamily="34" charset="0"/>
              </a:rPr>
              <a:t>链 </a:t>
            </a:r>
            <a:r>
              <a:rPr lang="en-US" altLang="zh-CN" sz="2400">
                <a:solidFill>
                  <a:srgbClr val="0000FF"/>
                </a:solidFill>
                <a:latin typeface="Arial Narrow" panose="020B0606020202030204" pitchFamily="34" charset="0"/>
              </a:rPr>
              <a:t>OSTCBList</a:t>
            </a:r>
            <a:r>
              <a:rPr lang="zh-CN" altLang="en-US" sz="2400">
                <a:latin typeface="Arial Narrow" panose="020B0606020202030204" pitchFamily="34"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3">
            <a:extLst>
              <a:ext uri="{FF2B5EF4-FFF2-40B4-BE49-F238E27FC236}">
                <a16:creationId xmlns:a16="http://schemas.microsoft.com/office/drawing/2014/main" id="{93E68AFE-7C3D-7CE8-8952-761FEF2E262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5603" name="灯片编号占位符 4">
            <a:extLst>
              <a:ext uri="{FF2B5EF4-FFF2-40B4-BE49-F238E27FC236}">
                <a16:creationId xmlns:a16="http://schemas.microsoft.com/office/drawing/2014/main" id="{707AAB65-7B50-6DAD-E11A-9BCEDDD21D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9840CCF-D985-4E46-91BE-2A4A9339BB24}" type="slidenum">
              <a:rPr lang="en-US" altLang="zh-CN" sz="1200" smtClean="0">
                <a:solidFill>
                  <a:srgbClr val="3366FF"/>
                </a:solidFill>
                <a:latin typeface="Arial Black" panose="020B0A04020102020204" pitchFamily="34" charset="0"/>
              </a:rPr>
              <a:pPr>
                <a:spcBef>
                  <a:spcPct val="0"/>
                </a:spcBef>
                <a:buClrTx/>
                <a:buSzTx/>
                <a:buFontTx/>
                <a:buNone/>
              </a:pPr>
              <a:t>22</a:t>
            </a:fld>
            <a:endParaRPr lang="en-US" altLang="zh-CN" sz="1200">
              <a:solidFill>
                <a:srgbClr val="3366FF"/>
              </a:solidFill>
              <a:latin typeface="Arial Black" panose="020B0A04020102020204" pitchFamily="34" charset="0"/>
            </a:endParaRPr>
          </a:p>
        </p:txBody>
      </p:sp>
      <p:sp>
        <p:nvSpPr>
          <p:cNvPr id="25604" name="日期占位符 5">
            <a:extLst>
              <a:ext uri="{FF2B5EF4-FFF2-40B4-BE49-F238E27FC236}">
                <a16:creationId xmlns:a16="http://schemas.microsoft.com/office/drawing/2014/main" id="{B2DA6A65-C71F-DC07-B7C8-70D307EA856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53B336B-C697-4759-B7DC-6A81EBE8685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5605" name="Rectangle 2">
            <a:extLst>
              <a:ext uri="{FF2B5EF4-FFF2-40B4-BE49-F238E27FC236}">
                <a16:creationId xmlns:a16="http://schemas.microsoft.com/office/drawing/2014/main" id="{373E8B65-C8BE-D218-164E-1E4BC7137AEC}"/>
              </a:ext>
            </a:extLst>
          </p:cNvPr>
          <p:cNvSpPr>
            <a:spLocks noGrp="1" noChangeArrowheads="1"/>
          </p:cNvSpPr>
          <p:nvPr>
            <p:ph type="title"/>
          </p:nvPr>
        </p:nvSpPr>
        <p:spPr>
          <a:xfrm>
            <a:off x="457200" y="673100"/>
            <a:ext cx="8229600" cy="668338"/>
          </a:xfrm>
        </p:spPr>
        <p:txBody>
          <a:bodyPr/>
          <a:lstStyle/>
          <a:p>
            <a:pPr eaLnBrk="1" hangingPunct="1"/>
            <a:r>
              <a:rPr lang="en-US" altLang="zh-CN" sz="4000"/>
              <a:t>2.3  </a:t>
            </a:r>
            <a:r>
              <a:rPr lang="zh-CN" altLang="en-US" sz="4000" b="1">
                <a:solidFill>
                  <a:srgbClr val="080808"/>
                </a:solidFill>
              </a:rPr>
              <a:t>任务控制块及任务控制块链表</a:t>
            </a:r>
          </a:p>
        </p:txBody>
      </p:sp>
      <p:sp>
        <p:nvSpPr>
          <p:cNvPr id="25606" name="Rectangle 3">
            <a:extLst>
              <a:ext uri="{FF2B5EF4-FFF2-40B4-BE49-F238E27FC236}">
                <a16:creationId xmlns:a16="http://schemas.microsoft.com/office/drawing/2014/main" id="{E92B1CD0-D859-6FF7-5DF1-C81FEB8DF4E8}"/>
              </a:ext>
            </a:extLst>
          </p:cNvPr>
          <p:cNvSpPr>
            <a:spLocks noGrp="1" noChangeArrowheads="1"/>
          </p:cNvSpPr>
          <p:nvPr>
            <p:ph type="body" idx="1"/>
          </p:nvPr>
        </p:nvSpPr>
        <p:spPr>
          <a:xfrm>
            <a:off x="457200" y="1412875"/>
            <a:ext cx="8229600" cy="720725"/>
          </a:xfrm>
        </p:spPr>
        <p:txBody>
          <a:bodyPr/>
          <a:lstStyle/>
          <a:p>
            <a:pPr eaLnBrk="1" hangingPunct="1"/>
            <a:r>
              <a:rPr lang="zh-CN" altLang="en-US" b="1"/>
              <a:t>任务控制块（</a:t>
            </a:r>
            <a:r>
              <a:rPr lang="en-US" altLang="zh-CN" b="1"/>
              <a:t>TCB</a:t>
            </a:r>
            <a:r>
              <a:rPr lang="zh-CN" altLang="en-US" b="1"/>
              <a:t>）的结构</a:t>
            </a:r>
          </a:p>
        </p:txBody>
      </p:sp>
      <p:sp>
        <p:nvSpPr>
          <p:cNvPr id="25607" name="Text Box 4" descr="羊皮纸">
            <a:extLst>
              <a:ext uri="{FF2B5EF4-FFF2-40B4-BE49-F238E27FC236}">
                <a16:creationId xmlns:a16="http://schemas.microsoft.com/office/drawing/2014/main" id="{89F81713-D560-301D-C682-87BD2322659F}"/>
              </a:ext>
            </a:extLst>
          </p:cNvPr>
          <p:cNvSpPr txBox="1">
            <a:spLocks noChangeArrowheads="1"/>
          </p:cNvSpPr>
          <p:nvPr/>
        </p:nvSpPr>
        <p:spPr bwMode="auto">
          <a:xfrm>
            <a:off x="539750" y="2051050"/>
            <a:ext cx="8281988" cy="447357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chemeClr val="tx2"/>
                </a:solidFill>
              </a:rPr>
              <a:t>任务控制块结构的主要成员</a:t>
            </a:r>
            <a:endParaRPr kumimoji="1" lang="zh-CN" altLang="en-US" sz="1000">
              <a:solidFill>
                <a:schemeClr val="tx2"/>
              </a:solidFill>
            </a:endParaRPr>
          </a:p>
          <a:p>
            <a:pPr eaLnBrk="1" hangingPunct="1">
              <a:spcBef>
                <a:spcPct val="10000"/>
              </a:spcBef>
              <a:buClrTx/>
              <a:buSzTx/>
              <a:buFontTx/>
              <a:buNone/>
            </a:pPr>
            <a:r>
              <a:rPr kumimoji="1" lang="en-US" altLang="zh-CN" sz="2400"/>
              <a:t>typedef struct os_tcb {</a:t>
            </a:r>
          </a:p>
          <a:p>
            <a:pPr eaLnBrk="1" hangingPunct="1">
              <a:spcBef>
                <a:spcPct val="10000"/>
              </a:spcBef>
              <a:buClrTx/>
              <a:buSzTx/>
              <a:buFontTx/>
              <a:buNone/>
            </a:pPr>
            <a:r>
              <a:rPr kumimoji="1" lang="en-US" altLang="zh-CN" sz="2400"/>
              <a:t>    struct  os_tcb *OSTCBNext;  </a:t>
            </a:r>
            <a:r>
              <a:rPr kumimoji="1" lang="en-US" altLang="zh-CN" sz="1800" i="1">
                <a:solidFill>
                  <a:srgbClr val="339966"/>
                </a:solidFill>
              </a:rPr>
              <a:t>//</a:t>
            </a:r>
            <a:r>
              <a:rPr kumimoji="1" lang="zh-CN" altLang="en-US" sz="1800" i="1">
                <a:solidFill>
                  <a:srgbClr val="339966"/>
                </a:solidFill>
              </a:rPr>
              <a:t>指向下一个</a:t>
            </a:r>
            <a:r>
              <a:rPr kumimoji="1" lang="en-US" altLang="zh-CN" sz="1800" i="1">
                <a:solidFill>
                  <a:srgbClr val="339966"/>
                </a:solidFill>
              </a:rPr>
              <a:t>TCB</a:t>
            </a:r>
            <a:r>
              <a:rPr kumimoji="1" lang="zh-CN" altLang="en-US" sz="1800" i="1">
                <a:solidFill>
                  <a:srgbClr val="339966"/>
                </a:solidFill>
              </a:rPr>
              <a:t>的指针</a:t>
            </a:r>
          </a:p>
          <a:p>
            <a:pPr eaLnBrk="1" hangingPunct="1">
              <a:spcBef>
                <a:spcPct val="10000"/>
              </a:spcBef>
              <a:buClrTx/>
              <a:buSzTx/>
              <a:buFontTx/>
              <a:buNone/>
            </a:pPr>
            <a:r>
              <a:rPr kumimoji="1" lang="zh-CN" altLang="en-US" sz="2400"/>
              <a:t>    </a:t>
            </a:r>
            <a:r>
              <a:rPr kumimoji="1" lang="en-US" altLang="zh-CN" sz="2400"/>
              <a:t>struct  os_tcb *OSTCBPrev;  </a:t>
            </a:r>
            <a:r>
              <a:rPr kumimoji="1" lang="en-US" altLang="zh-CN" sz="1800" i="1">
                <a:solidFill>
                  <a:srgbClr val="339966"/>
                </a:solidFill>
              </a:rPr>
              <a:t>//</a:t>
            </a:r>
            <a:r>
              <a:rPr kumimoji="1" lang="zh-CN" altLang="en-US" sz="1800" i="1">
                <a:solidFill>
                  <a:srgbClr val="339966"/>
                </a:solidFill>
              </a:rPr>
              <a:t>指向前一个</a:t>
            </a:r>
            <a:r>
              <a:rPr kumimoji="1" lang="en-US" altLang="zh-CN" sz="1800" i="1">
                <a:solidFill>
                  <a:srgbClr val="339966"/>
                </a:solidFill>
              </a:rPr>
              <a:t>TCB</a:t>
            </a:r>
            <a:r>
              <a:rPr kumimoji="1" lang="zh-CN" altLang="en-US" sz="1800" i="1">
                <a:solidFill>
                  <a:srgbClr val="339966"/>
                </a:solidFill>
              </a:rPr>
              <a:t>的指针</a:t>
            </a:r>
            <a:endParaRPr kumimoji="1" lang="zh-CN" altLang="en-US" sz="2400" i="1">
              <a:solidFill>
                <a:srgbClr val="339966"/>
              </a:solidFill>
            </a:endParaRPr>
          </a:p>
          <a:p>
            <a:pPr eaLnBrk="1" hangingPunct="1">
              <a:spcBef>
                <a:spcPct val="10000"/>
              </a:spcBef>
              <a:buClrTx/>
              <a:buSzTx/>
              <a:buFontTx/>
              <a:buNone/>
            </a:pPr>
            <a:r>
              <a:rPr kumimoji="1" lang="zh-CN" altLang="en-US" sz="2400"/>
              <a:t>    </a:t>
            </a:r>
            <a:r>
              <a:rPr kumimoji="1" lang="en-US" altLang="zh-CN" sz="2400"/>
              <a:t>OS_STK  *OSTCBStkPtr;       </a:t>
            </a:r>
            <a:r>
              <a:rPr kumimoji="1" lang="en-US" altLang="zh-CN" sz="1800" i="1">
                <a:solidFill>
                  <a:srgbClr val="339966"/>
                </a:solidFill>
              </a:rPr>
              <a:t>//</a:t>
            </a:r>
            <a:r>
              <a:rPr kumimoji="1" lang="zh-CN" altLang="en-US" sz="1800" i="1">
                <a:solidFill>
                  <a:srgbClr val="339966"/>
                </a:solidFill>
              </a:rPr>
              <a:t>指向任务堆栈栈顶的指针</a:t>
            </a:r>
          </a:p>
          <a:p>
            <a:pPr eaLnBrk="1" hangingPunct="1">
              <a:spcBef>
                <a:spcPct val="10000"/>
              </a:spcBef>
              <a:buClrTx/>
              <a:buSzTx/>
              <a:buFontTx/>
              <a:buNone/>
            </a:pPr>
            <a:r>
              <a:rPr kumimoji="1" lang="zh-CN" altLang="en-US" sz="2400"/>
              <a:t>    </a:t>
            </a:r>
            <a:r>
              <a:rPr kumimoji="1" lang="en-US" altLang="zh-CN" sz="2400"/>
              <a:t>……</a:t>
            </a:r>
          </a:p>
          <a:p>
            <a:pPr eaLnBrk="1" hangingPunct="1">
              <a:spcBef>
                <a:spcPct val="10000"/>
              </a:spcBef>
              <a:buClrTx/>
              <a:buSzTx/>
              <a:buFontTx/>
              <a:buNone/>
            </a:pPr>
            <a:r>
              <a:rPr kumimoji="1" lang="en-US" altLang="zh-CN" sz="2400"/>
              <a:t>    INT16U     OSTCBDly;            </a:t>
            </a:r>
            <a:r>
              <a:rPr kumimoji="1" lang="en-US" altLang="zh-CN" sz="1800" i="1">
                <a:solidFill>
                  <a:srgbClr val="339966"/>
                </a:solidFill>
              </a:rPr>
              <a:t>//</a:t>
            </a:r>
            <a:r>
              <a:rPr kumimoji="1" lang="zh-CN" altLang="en-US" sz="1800" i="1">
                <a:solidFill>
                  <a:srgbClr val="339966"/>
                </a:solidFill>
              </a:rPr>
              <a:t>任务等待时间</a:t>
            </a:r>
          </a:p>
          <a:p>
            <a:pPr eaLnBrk="1" hangingPunct="1">
              <a:spcBef>
                <a:spcPct val="10000"/>
              </a:spcBef>
              <a:buClrTx/>
              <a:buSzTx/>
              <a:buFontTx/>
              <a:buNone/>
            </a:pPr>
            <a:r>
              <a:rPr kumimoji="1" lang="zh-CN" altLang="en-US" sz="2400"/>
              <a:t>    </a:t>
            </a:r>
            <a:r>
              <a:rPr kumimoji="1" lang="en-US" altLang="zh-CN" sz="2400"/>
              <a:t>INT8U      	OSTCBStat;	         </a:t>
            </a:r>
            <a:r>
              <a:rPr kumimoji="1" lang="en-US" altLang="zh-CN" sz="1800" i="1">
                <a:solidFill>
                  <a:srgbClr val="339966"/>
                </a:solidFill>
              </a:rPr>
              <a:t>//</a:t>
            </a:r>
            <a:r>
              <a:rPr kumimoji="1" lang="zh-CN" altLang="en-US" sz="1800" i="1">
                <a:solidFill>
                  <a:srgbClr val="339966"/>
                </a:solidFill>
              </a:rPr>
              <a:t>任务的当前状态标志</a:t>
            </a:r>
          </a:p>
          <a:p>
            <a:pPr eaLnBrk="1" hangingPunct="1">
              <a:spcBef>
                <a:spcPct val="10000"/>
              </a:spcBef>
              <a:buClrTx/>
              <a:buSzTx/>
              <a:buFontTx/>
              <a:buNone/>
            </a:pPr>
            <a:r>
              <a:rPr kumimoji="1" lang="zh-CN" altLang="en-US" sz="2400"/>
              <a:t>    </a:t>
            </a:r>
            <a:r>
              <a:rPr kumimoji="1" lang="en-US" altLang="zh-CN" sz="2400"/>
              <a:t>INT8U     	OSTCBPrio;          </a:t>
            </a:r>
            <a:r>
              <a:rPr kumimoji="1" lang="en-US" altLang="zh-CN" sz="1800" i="1">
                <a:solidFill>
                  <a:srgbClr val="339966"/>
                </a:solidFill>
              </a:rPr>
              <a:t>//</a:t>
            </a:r>
            <a:r>
              <a:rPr kumimoji="1" lang="zh-CN" altLang="en-US" sz="1800" i="1">
                <a:solidFill>
                  <a:srgbClr val="339966"/>
                </a:solidFill>
              </a:rPr>
              <a:t>任务的优先级别</a:t>
            </a:r>
            <a:r>
              <a:rPr kumimoji="1" lang="zh-CN" altLang="en-US" sz="2400"/>
              <a:t> </a:t>
            </a:r>
          </a:p>
          <a:p>
            <a:pPr eaLnBrk="1" hangingPunct="1">
              <a:spcBef>
                <a:spcPct val="10000"/>
              </a:spcBef>
              <a:buClrTx/>
              <a:buSzTx/>
              <a:buFontTx/>
              <a:buNone/>
            </a:pPr>
            <a:r>
              <a:rPr kumimoji="1" lang="zh-CN" altLang="en-US" sz="2400"/>
              <a:t>    </a:t>
            </a:r>
            <a:r>
              <a:rPr kumimoji="1" lang="en-US" altLang="zh-CN" sz="2400"/>
              <a:t>……</a:t>
            </a:r>
          </a:p>
          <a:p>
            <a:pPr eaLnBrk="1" hangingPunct="1">
              <a:spcBef>
                <a:spcPct val="10000"/>
              </a:spcBef>
              <a:buClrTx/>
              <a:buSzTx/>
              <a:buFontTx/>
              <a:buNone/>
            </a:pPr>
            <a:r>
              <a:rPr kumimoji="1" lang="en-US" altLang="zh-CN" sz="2400"/>
              <a:t>} </a:t>
            </a:r>
            <a:r>
              <a:rPr kumimoji="1" lang="en-US" altLang="zh-CN" sz="2400">
                <a:solidFill>
                  <a:srgbClr val="FF0066"/>
                </a:solidFill>
              </a:rPr>
              <a:t>OS_TCB</a:t>
            </a:r>
            <a:r>
              <a:rPr kumimoji="1" lang="en-US" altLang="zh-CN" sz="240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3">
            <a:extLst>
              <a:ext uri="{FF2B5EF4-FFF2-40B4-BE49-F238E27FC236}">
                <a16:creationId xmlns:a16="http://schemas.microsoft.com/office/drawing/2014/main" id="{C9E1CB3F-DD37-6601-09CA-6ECEDBE09A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6627" name="灯片编号占位符 4">
            <a:extLst>
              <a:ext uri="{FF2B5EF4-FFF2-40B4-BE49-F238E27FC236}">
                <a16:creationId xmlns:a16="http://schemas.microsoft.com/office/drawing/2014/main" id="{C0639FF4-49A2-3DD0-D7C1-37785751E98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9422699-D8A4-43D2-A093-EB31BBFCD6AE}" type="slidenum">
              <a:rPr lang="en-US" altLang="zh-CN" sz="1200" smtClean="0">
                <a:solidFill>
                  <a:srgbClr val="3366FF"/>
                </a:solidFill>
                <a:latin typeface="Arial Black" panose="020B0A04020102020204" pitchFamily="34" charset="0"/>
              </a:rPr>
              <a:pPr>
                <a:spcBef>
                  <a:spcPct val="0"/>
                </a:spcBef>
                <a:buClrTx/>
                <a:buSzTx/>
                <a:buFontTx/>
                <a:buNone/>
              </a:pPr>
              <a:t>23</a:t>
            </a:fld>
            <a:endParaRPr lang="en-US" altLang="zh-CN" sz="1200">
              <a:solidFill>
                <a:srgbClr val="3366FF"/>
              </a:solidFill>
              <a:latin typeface="Arial Black" panose="020B0A04020102020204" pitchFamily="34" charset="0"/>
            </a:endParaRPr>
          </a:p>
        </p:txBody>
      </p:sp>
      <p:sp>
        <p:nvSpPr>
          <p:cNvPr id="26628" name="日期占位符 5">
            <a:extLst>
              <a:ext uri="{FF2B5EF4-FFF2-40B4-BE49-F238E27FC236}">
                <a16:creationId xmlns:a16="http://schemas.microsoft.com/office/drawing/2014/main" id="{877B846E-53BB-96BC-5B5B-56E6325822F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1FE9CE5-96AA-431D-86D2-B60ECD57EC7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6629" name="Rectangle 2">
            <a:extLst>
              <a:ext uri="{FF2B5EF4-FFF2-40B4-BE49-F238E27FC236}">
                <a16:creationId xmlns:a16="http://schemas.microsoft.com/office/drawing/2014/main" id="{DF2820E9-0FD8-4DFD-06B1-55276755601E}"/>
              </a:ext>
            </a:extLst>
          </p:cNvPr>
          <p:cNvSpPr>
            <a:spLocks noGrp="1" noChangeArrowheads="1"/>
          </p:cNvSpPr>
          <p:nvPr>
            <p:ph type="title"/>
          </p:nvPr>
        </p:nvSpPr>
        <p:spPr>
          <a:xfrm>
            <a:off x="457200" y="620713"/>
            <a:ext cx="8229600" cy="668337"/>
          </a:xfrm>
        </p:spPr>
        <p:txBody>
          <a:bodyPr/>
          <a:lstStyle/>
          <a:p>
            <a:pPr eaLnBrk="1" hangingPunct="1"/>
            <a:r>
              <a:rPr lang="en-US" altLang="zh-CN" sz="4000"/>
              <a:t>2.3  </a:t>
            </a:r>
            <a:r>
              <a:rPr lang="zh-CN" altLang="en-US" sz="4000" b="1">
                <a:solidFill>
                  <a:srgbClr val="080808"/>
                </a:solidFill>
              </a:rPr>
              <a:t>任务控制块及任务控制块链表</a:t>
            </a:r>
          </a:p>
        </p:txBody>
      </p:sp>
      <p:sp>
        <p:nvSpPr>
          <p:cNvPr id="26630" name="Rectangle 3">
            <a:extLst>
              <a:ext uri="{FF2B5EF4-FFF2-40B4-BE49-F238E27FC236}">
                <a16:creationId xmlns:a16="http://schemas.microsoft.com/office/drawing/2014/main" id="{13979775-BE31-78EC-1794-94EAD89F6FDC}"/>
              </a:ext>
            </a:extLst>
          </p:cNvPr>
          <p:cNvSpPr>
            <a:spLocks noGrp="1" noChangeArrowheads="1"/>
          </p:cNvSpPr>
          <p:nvPr>
            <p:ph type="body" idx="1"/>
          </p:nvPr>
        </p:nvSpPr>
        <p:spPr>
          <a:xfrm>
            <a:off x="457200" y="1412875"/>
            <a:ext cx="8229600" cy="576263"/>
          </a:xfrm>
        </p:spPr>
        <p:txBody>
          <a:bodyPr/>
          <a:lstStyle/>
          <a:p>
            <a:pPr eaLnBrk="1" hangingPunct="1">
              <a:lnSpc>
                <a:spcPct val="90000"/>
              </a:lnSpc>
            </a:pPr>
            <a:r>
              <a:rPr lang="zh-CN" altLang="en-US" b="1"/>
              <a:t>任务控制块链表</a:t>
            </a:r>
          </a:p>
        </p:txBody>
      </p:sp>
      <p:sp>
        <p:nvSpPr>
          <p:cNvPr id="26631" name="Text Box 4" descr="羊皮纸">
            <a:extLst>
              <a:ext uri="{FF2B5EF4-FFF2-40B4-BE49-F238E27FC236}">
                <a16:creationId xmlns:a16="http://schemas.microsoft.com/office/drawing/2014/main" id="{FFE56530-0C0F-D44C-80B9-34CA32F0931D}"/>
              </a:ext>
            </a:extLst>
          </p:cNvPr>
          <p:cNvSpPr txBox="1">
            <a:spLocks noChangeArrowheads="1"/>
          </p:cNvSpPr>
          <p:nvPr/>
        </p:nvSpPr>
        <p:spPr bwMode="auto">
          <a:xfrm>
            <a:off x="539750" y="3260725"/>
            <a:ext cx="8281988" cy="103187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1F29F9"/>
              </a:buClr>
              <a:buSzPct val="50000"/>
            </a:pPr>
            <a:r>
              <a:rPr kumimoji="1" lang="zh-CN" altLang="en-US" sz="2800"/>
              <a:t>空任务控制块链表（</a:t>
            </a:r>
            <a:r>
              <a:rPr kumimoji="1" lang="en-US" altLang="zh-CN" sz="2800" b="0"/>
              <a:t>OSTCBFreeList</a:t>
            </a:r>
            <a:r>
              <a:rPr kumimoji="1" lang="zh-CN" altLang="en-US" sz="2800"/>
              <a:t>）</a:t>
            </a:r>
          </a:p>
          <a:p>
            <a:pPr eaLnBrk="1" hangingPunct="1">
              <a:buClr>
                <a:srgbClr val="1F29F9"/>
              </a:buClr>
              <a:buSzPct val="50000"/>
            </a:pPr>
            <a:r>
              <a:rPr kumimoji="1" lang="zh-CN" altLang="en-US" sz="2800"/>
              <a:t>任务控制块链表    （</a:t>
            </a:r>
            <a:r>
              <a:rPr kumimoji="1" lang="en-US" altLang="zh-CN" sz="2800" b="0"/>
              <a:t>OSTCBList</a:t>
            </a:r>
            <a:r>
              <a:rPr kumimoji="1" lang="zh-CN" altLang="en-US" sz="2800"/>
              <a:t>）</a:t>
            </a:r>
          </a:p>
        </p:txBody>
      </p:sp>
      <p:sp>
        <p:nvSpPr>
          <p:cNvPr id="26632" name="Text Box 6">
            <a:extLst>
              <a:ext uri="{FF2B5EF4-FFF2-40B4-BE49-F238E27FC236}">
                <a16:creationId xmlns:a16="http://schemas.microsoft.com/office/drawing/2014/main" id="{ACA29782-9BFB-A333-33FF-C05FF984DE7A}"/>
              </a:ext>
            </a:extLst>
          </p:cNvPr>
          <p:cNvSpPr txBox="1">
            <a:spLocks noChangeArrowheads="1"/>
          </p:cNvSpPr>
          <p:nvPr/>
        </p:nvSpPr>
        <p:spPr bwMode="auto">
          <a:xfrm>
            <a:off x="3059113" y="2324100"/>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 </a:t>
            </a:r>
            <a:r>
              <a:rPr kumimoji="1" lang="en-US" altLang="zh-CN" sz="2400">
                <a:solidFill>
                  <a:schemeClr val="tx2"/>
                </a:solidFill>
              </a:rPr>
              <a:t>uC/OS-II </a:t>
            </a:r>
            <a:r>
              <a:rPr kumimoji="1" lang="zh-CN" altLang="en-US" sz="2400">
                <a:solidFill>
                  <a:schemeClr val="tx2"/>
                </a:solidFill>
              </a:rPr>
              <a:t>用两个链表来管理 </a:t>
            </a:r>
            <a:r>
              <a:rPr kumimoji="1" lang="en-US" altLang="zh-CN" sz="2400">
                <a:solidFill>
                  <a:schemeClr val="tx2"/>
                </a:solidFill>
              </a:rPr>
              <a:t>TCB</a:t>
            </a:r>
          </a:p>
        </p:txBody>
      </p:sp>
      <p:pic>
        <p:nvPicPr>
          <p:cNvPr id="50183" name="Picture 7">
            <a:extLst>
              <a:ext uri="{FF2B5EF4-FFF2-40B4-BE49-F238E27FC236}">
                <a16:creationId xmlns:a16="http://schemas.microsoft.com/office/drawing/2014/main" id="{60C3AF94-60E3-7E3E-4A15-371171A128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63" t="13542" r="17969" b="22917"/>
          <a:stretch>
            <a:fillRect/>
          </a:stretch>
        </p:blipFill>
        <p:spPr bwMode="auto">
          <a:xfrm>
            <a:off x="0" y="2060575"/>
            <a:ext cx="91440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0183"/>
                                        </p:tgtEl>
                                        <p:attrNameLst>
                                          <p:attrName>style.visibility</p:attrName>
                                        </p:attrNameLst>
                                      </p:cBhvr>
                                      <p:to>
                                        <p:strVal val="visible"/>
                                      </p:to>
                                    </p:set>
                                    <p:animEffect transition="in" filter="box(in)">
                                      <p:cBhvr>
                                        <p:cTn id="7"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页脚占位符 3">
            <a:extLst>
              <a:ext uri="{FF2B5EF4-FFF2-40B4-BE49-F238E27FC236}">
                <a16:creationId xmlns:a16="http://schemas.microsoft.com/office/drawing/2014/main" id="{7855A172-69B6-30CF-33E6-B8106A15F81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7651" name="灯片编号占位符 4">
            <a:extLst>
              <a:ext uri="{FF2B5EF4-FFF2-40B4-BE49-F238E27FC236}">
                <a16:creationId xmlns:a16="http://schemas.microsoft.com/office/drawing/2014/main" id="{F902976B-51CF-11E0-AB16-E30AD96400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49B4320-AA1A-4DD0-B257-FD28BFFB97FE}" type="slidenum">
              <a:rPr lang="en-US" altLang="zh-CN" sz="1200" smtClean="0">
                <a:solidFill>
                  <a:srgbClr val="3366FF"/>
                </a:solidFill>
                <a:latin typeface="Arial Black" panose="020B0A04020102020204" pitchFamily="34" charset="0"/>
              </a:rPr>
              <a:pPr>
                <a:spcBef>
                  <a:spcPct val="0"/>
                </a:spcBef>
                <a:buClrTx/>
                <a:buSzTx/>
                <a:buFontTx/>
                <a:buNone/>
              </a:pPr>
              <a:t>24</a:t>
            </a:fld>
            <a:endParaRPr lang="en-US" altLang="zh-CN" sz="1200">
              <a:solidFill>
                <a:srgbClr val="3366FF"/>
              </a:solidFill>
              <a:latin typeface="Arial Black" panose="020B0A04020102020204" pitchFamily="34" charset="0"/>
            </a:endParaRPr>
          </a:p>
        </p:txBody>
      </p:sp>
      <p:sp>
        <p:nvSpPr>
          <p:cNvPr id="27652" name="日期占位符 5">
            <a:extLst>
              <a:ext uri="{FF2B5EF4-FFF2-40B4-BE49-F238E27FC236}">
                <a16:creationId xmlns:a16="http://schemas.microsoft.com/office/drawing/2014/main" id="{859B1DE4-CBE1-3CAA-BB3D-8F8227B0315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67AA2C0-34C1-49F7-9B40-9AAC1D21483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27653" name="Rectangle 2">
            <a:extLst>
              <a:ext uri="{FF2B5EF4-FFF2-40B4-BE49-F238E27FC236}">
                <a16:creationId xmlns:a16="http://schemas.microsoft.com/office/drawing/2014/main" id="{16985CE0-6954-AFDD-9604-E7F83C1D4CBD}"/>
              </a:ext>
            </a:extLst>
          </p:cNvPr>
          <p:cNvSpPr>
            <a:spLocks noGrp="1" noChangeArrowheads="1"/>
          </p:cNvSpPr>
          <p:nvPr>
            <p:ph type="title"/>
          </p:nvPr>
        </p:nvSpPr>
        <p:spPr>
          <a:xfrm>
            <a:off x="457200" y="600075"/>
            <a:ext cx="8229600" cy="668338"/>
          </a:xfrm>
        </p:spPr>
        <p:txBody>
          <a:bodyPr/>
          <a:lstStyle/>
          <a:p>
            <a:pPr eaLnBrk="1" hangingPunct="1"/>
            <a:r>
              <a:rPr lang="en-US" altLang="zh-CN" sz="4000"/>
              <a:t>2.3  </a:t>
            </a:r>
            <a:r>
              <a:rPr lang="zh-CN" altLang="en-US" sz="4000" b="1">
                <a:solidFill>
                  <a:srgbClr val="080808"/>
                </a:solidFill>
              </a:rPr>
              <a:t>任务控制块及任务控制块链表</a:t>
            </a:r>
          </a:p>
        </p:txBody>
      </p:sp>
      <p:sp>
        <p:nvSpPr>
          <p:cNvPr id="27654" name="Rectangle 3">
            <a:extLst>
              <a:ext uri="{FF2B5EF4-FFF2-40B4-BE49-F238E27FC236}">
                <a16:creationId xmlns:a16="http://schemas.microsoft.com/office/drawing/2014/main" id="{E200EDE8-A75C-D7E1-B812-AEF8AA92950A}"/>
              </a:ext>
            </a:extLst>
          </p:cNvPr>
          <p:cNvSpPr>
            <a:spLocks noGrp="1" noChangeArrowheads="1"/>
          </p:cNvSpPr>
          <p:nvPr>
            <p:ph type="body" idx="1"/>
          </p:nvPr>
        </p:nvSpPr>
        <p:spPr>
          <a:xfrm>
            <a:off x="457200" y="1485900"/>
            <a:ext cx="8229600" cy="647700"/>
          </a:xfrm>
        </p:spPr>
        <p:txBody>
          <a:bodyPr/>
          <a:lstStyle/>
          <a:p>
            <a:pPr eaLnBrk="1" hangingPunct="1"/>
            <a:r>
              <a:rPr lang="zh-CN" altLang="en-US" b="1"/>
              <a:t>任务控制块链表</a:t>
            </a:r>
          </a:p>
        </p:txBody>
      </p:sp>
      <p:sp>
        <p:nvSpPr>
          <p:cNvPr id="27655" name="Text Box 16">
            <a:extLst>
              <a:ext uri="{FF2B5EF4-FFF2-40B4-BE49-F238E27FC236}">
                <a16:creationId xmlns:a16="http://schemas.microsoft.com/office/drawing/2014/main" id="{5593F676-A392-5198-2E67-5843707575BE}"/>
              </a:ext>
            </a:extLst>
          </p:cNvPr>
          <p:cNvSpPr txBox="1">
            <a:spLocks noChangeArrowheads="1"/>
          </p:cNvSpPr>
          <p:nvPr/>
        </p:nvSpPr>
        <p:spPr bwMode="auto">
          <a:xfrm>
            <a:off x="6424613" y="31464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zh-CN" sz="1800"/>
          </a:p>
        </p:txBody>
      </p:sp>
      <p:sp>
        <p:nvSpPr>
          <p:cNvPr id="27656" name="Text Box 18">
            <a:extLst>
              <a:ext uri="{FF2B5EF4-FFF2-40B4-BE49-F238E27FC236}">
                <a16:creationId xmlns:a16="http://schemas.microsoft.com/office/drawing/2014/main" id="{D069DC99-FB9B-F3C9-966E-286A19A72BD2}"/>
              </a:ext>
            </a:extLst>
          </p:cNvPr>
          <p:cNvSpPr txBox="1">
            <a:spLocks noChangeArrowheads="1"/>
          </p:cNvSpPr>
          <p:nvPr/>
        </p:nvSpPr>
        <p:spPr bwMode="auto">
          <a:xfrm>
            <a:off x="539750" y="2287588"/>
            <a:ext cx="81359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buClrTx/>
              <a:buSzTx/>
              <a:buFontTx/>
              <a:buNone/>
            </a:pPr>
            <a:r>
              <a:rPr lang="en-US" altLang="zh-CN" sz="2400"/>
              <a:t>          </a:t>
            </a:r>
            <a:r>
              <a:rPr lang="zh-CN" altLang="en-US" sz="2400"/>
              <a:t>空任务块链表是在 </a:t>
            </a:r>
            <a:r>
              <a:rPr lang="en-US" altLang="zh-CN" sz="2400"/>
              <a:t>uC/OS-II </a:t>
            </a:r>
            <a:r>
              <a:rPr lang="zh-CN" altLang="en-US" sz="2400"/>
              <a:t>初始化（</a:t>
            </a:r>
            <a:r>
              <a:rPr lang="en-US" altLang="zh-CN" sz="2400"/>
              <a:t>OSInit()</a:t>
            </a:r>
            <a:r>
              <a:rPr lang="zh-CN" altLang="en-US" sz="2400"/>
              <a:t>）时系统自建的，用户可依据目标系统的实际需求，设定其链表长度。</a:t>
            </a:r>
          </a:p>
          <a:p>
            <a:pPr eaLnBrk="1" hangingPunct="1">
              <a:lnSpc>
                <a:spcPct val="125000"/>
              </a:lnSpc>
              <a:spcBef>
                <a:spcPct val="50000"/>
              </a:spcBef>
              <a:buClr>
                <a:srgbClr val="3399FF"/>
              </a:buClr>
              <a:buSzPct val="50000"/>
            </a:pPr>
            <a:r>
              <a:rPr lang="en-US" altLang="zh-CN" sz="2400"/>
              <a:t>OS_CFG.H </a:t>
            </a:r>
            <a:r>
              <a:rPr lang="zh-CN" altLang="en-US" sz="2400"/>
              <a:t>文件中的宏常数 </a:t>
            </a:r>
            <a:r>
              <a:rPr lang="en-US" altLang="zh-CN" sz="2400"/>
              <a:t>OS_MAX_TASKS ---- </a:t>
            </a:r>
            <a:r>
              <a:rPr lang="zh-CN" altLang="en-US" sz="2400"/>
              <a:t>用于定义最大用户任务数。</a:t>
            </a:r>
          </a:p>
          <a:p>
            <a:pPr eaLnBrk="1" hangingPunct="1">
              <a:lnSpc>
                <a:spcPct val="125000"/>
              </a:lnSpc>
              <a:spcBef>
                <a:spcPct val="50000"/>
              </a:spcBef>
              <a:buClr>
                <a:srgbClr val="3399FF"/>
              </a:buClr>
              <a:buSzPct val="50000"/>
            </a:pPr>
            <a:r>
              <a:rPr lang="en-US" altLang="zh-CN" sz="2400"/>
              <a:t>UCOS_II.H </a:t>
            </a:r>
            <a:r>
              <a:rPr lang="zh-CN" altLang="en-US" sz="2400"/>
              <a:t>文件中的宏常数 </a:t>
            </a:r>
            <a:r>
              <a:rPr lang="en-US" altLang="zh-CN" sz="2400"/>
              <a:t>OS_N_SYS_TASKS ---- </a:t>
            </a:r>
            <a:r>
              <a:rPr lang="zh-CN" altLang="en-US" sz="2400"/>
              <a:t>用于约定系统任务数，其值固定为 </a:t>
            </a:r>
            <a:r>
              <a:rPr lang="en-US" altLang="zh-CN" sz="2400"/>
              <a:t>2 </a:t>
            </a:r>
            <a:r>
              <a:rPr lang="zh-CN" altLang="en-US" sz="2400"/>
              <a:t>。</a:t>
            </a:r>
          </a:p>
        </p:txBody>
      </p:sp>
      <p:sp>
        <p:nvSpPr>
          <p:cNvPr id="52243" name="Text Box 19">
            <a:extLst>
              <a:ext uri="{FF2B5EF4-FFF2-40B4-BE49-F238E27FC236}">
                <a16:creationId xmlns:a16="http://schemas.microsoft.com/office/drawing/2014/main" id="{7A8F67D8-77A2-C944-04FB-CCAE82AC952D}"/>
              </a:ext>
            </a:extLst>
          </p:cNvPr>
          <p:cNvSpPr txBox="1">
            <a:spLocks noChangeArrowheads="1"/>
          </p:cNvSpPr>
          <p:nvPr/>
        </p:nvSpPr>
        <p:spPr bwMode="auto">
          <a:xfrm>
            <a:off x="539750" y="2276475"/>
            <a:ext cx="7993063" cy="4067175"/>
          </a:xfrm>
          <a:prstGeom prst="rect">
            <a:avLst/>
          </a:prstGeom>
          <a:solidFill>
            <a:srgbClr val="D9E8FF"/>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0">
                <a:latin typeface="黑体" panose="02010609060101010101" pitchFamily="49" charset="-122"/>
                <a:ea typeface="黑体" panose="02010609060101010101" pitchFamily="49" charset="-122"/>
              </a:rPr>
              <a:t>当应用程序调用函数</a:t>
            </a:r>
            <a:r>
              <a:rPr kumimoji="1" lang="en-US" altLang="zh-CN" b="0">
                <a:latin typeface="黑体" panose="02010609060101010101" pitchFamily="49" charset="-122"/>
                <a:ea typeface="黑体" panose="02010609060101010101" pitchFamily="49" charset="-122"/>
              </a:rPr>
              <a:t>OSTaskCreate( )</a:t>
            </a:r>
            <a:r>
              <a:rPr kumimoji="1" lang="zh-CN" altLang="en-US" b="0">
                <a:latin typeface="黑体" panose="02010609060101010101" pitchFamily="49" charset="-122"/>
                <a:ea typeface="黑体" panose="02010609060101010101" pitchFamily="49" charset="-122"/>
              </a:rPr>
              <a:t>创建一个任务时，这个函数会调用系统函数</a:t>
            </a:r>
            <a:r>
              <a:rPr kumimoji="1" lang="en-US" altLang="zh-CN" b="0">
                <a:latin typeface="黑体" panose="02010609060101010101" pitchFamily="49" charset="-122"/>
                <a:ea typeface="黑体" panose="02010609060101010101" pitchFamily="49" charset="-122"/>
              </a:rPr>
              <a:t>OSTCBInit( )</a:t>
            </a:r>
            <a:r>
              <a:rPr kumimoji="1" lang="zh-CN" altLang="en-US" b="0">
                <a:latin typeface="黑体" panose="02010609060101010101" pitchFamily="49" charset="-122"/>
                <a:ea typeface="黑体" panose="02010609060101010101" pitchFamily="49" charset="-122"/>
              </a:rPr>
              <a:t>来为任务控制块进行初始化。这个函数首先为被创建任务从空任务控制块链表获取一个任务控制块，然后用任务的属性对任务控制块各个成员进行赋值，最后再把这个任务控制块链入到任务控制块链表的头部。</a:t>
            </a:r>
          </a:p>
        </p:txBody>
      </p:sp>
      <p:sp>
        <p:nvSpPr>
          <p:cNvPr id="52244" name="Text Box 20">
            <a:extLst>
              <a:ext uri="{FF2B5EF4-FFF2-40B4-BE49-F238E27FC236}">
                <a16:creationId xmlns:a16="http://schemas.microsoft.com/office/drawing/2014/main" id="{0017BA78-01E9-7A96-102D-7AB5A37973F9}"/>
              </a:ext>
            </a:extLst>
          </p:cNvPr>
          <p:cNvSpPr txBox="1">
            <a:spLocks noChangeArrowheads="1"/>
          </p:cNvSpPr>
          <p:nvPr/>
        </p:nvSpPr>
        <p:spPr bwMode="auto">
          <a:xfrm>
            <a:off x="611188" y="2276475"/>
            <a:ext cx="7848600" cy="4013200"/>
          </a:xfrm>
          <a:prstGeom prst="rect">
            <a:avLst/>
          </a:prstGeom>
          <a:solidFill>
            <a:srgbClr val="CCFFCC"/>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3600" b="0">
                <a:latin typeface="黑体" panose="02010609060101010101" pitchFamily="49" charset="-122"/>
                <a:ea typeface="黑体" panose="02010609060101010101" pitchFamily="49" charset="-122"/>
              </a:rPr>
              <a:t>  </a:t>
            </a:r>
            <a:r>
              <a:rPr kumimoji="1" lang="zh-CN" altLang="en-US" sz="3600" b="0">
                <a:latin typeface="黑体" panose="02010609060101010101" pitchFamily="49" charset="-122"/>
                <a:ea typeface="黑体" panose="02010609060101010101" pitchFamily="49" charset="-122"/>
              </a:rPr>
              <a:t>当进行系统初始化时，初始化函数会按用户提供的任务数为系统创建具有相应数量的任务控制块并把它们链接为一个链表。</a:t>
            </a:r>
          </a:p>
          <a:p>
            <a:pPr eaLnBrk="1" hangingPunct="1">
              <a:spcBef>
                <a:spcPct val="0"/>
              </a:spcBef>
              <a:buClrTx/>
              <a:buSzTx/>
              <a:buFontTx/>
              <a:buNone/>
            </a:pPr>
            <a:r>
              <a:rPr kumimoji="1" lang="zh-CN" altLang="en-US" sz="3600" b="0">
                <a:latin typeface="黑体" panose="02010609060101010101" pitchFamily="49" charset="-122"/>
                <a:ea typeface="黑体" panose="02010609060101010101" pitchFamily="49" charset="-122"/>
              </a:rPr>
              <a:t>  由于这些任务控制块还没有对应的任务，故这个链表叫做</a:t>
            </a:r>
            <a:r>
              <a:rPr kumimoji="1" lang="zh-CN" altLang="en-US" sz="3600" b="0">
                <a:solidFill>
                  <a:srgbClr val="CC0066"/>
                </a:solidFill>
                <a:latin typeface="黑体" panose="02010609060101010101" pitchFamily="49" charset="-122"/>
                <a:ea typeface="黑体" panose="02010609060101010101" pitchFamily="49" charset="-122"/>
              </a:rPr>
              <a:t>空任务块链表</a:t>
            </a:r>
            <a:r>
              <a:rPr kumimoji="1" lang="zh-CN" altLang="en-US" sz="3600" b="0">
                <a:latin typeface="黑体" panose="02010609060101010101" pitchFamily="49" charset="-122"/>
                <a:ea typeface="黑体" panose="02010609060101010101" pitchFamily="49" charset="-122"/>
              </a:rPr>
              <a:t>。即相当于是一些空白的身份证。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244"/>
                                        </p:tgtEl>
                                        <p:attrNameLst>
                                          <p:attrName>style.visibility</p:attrName>
                                        </p:attrNameLst>
                                      </p:cBhvr>
                                      <p:to>
                                        <p:strVal val="visible"/>
                                      </p:to>
                                    </p:set>
                                    <p:animEffect transition="in" filter="box(in)">
                                      <p:cBhvr>
                                        <p:cTn id="7" dur="500"/>
                                        <p:tgtEl>
                                          <p:spTgt spid="52244"/>
                                        </p:tgtEl>
                                      </p:cBhvr>
                                    </p:animEffect>
                                  </p:childTnLst>
                                  <p:subTnLst>
                                    <p:set>
                                      <p:cBhvr override="childStyle">
                                        <p:cTn dur="1" fill="hold" display="0" masterRel="nextClick" afterEffect="1"/>
                                        <p:tgtEl>
                                          <p:spTgt spid="5224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2243"/>
                                        </p:tgtEl>
                                        <p:attrNameLst>
                                          <p:attrName>style.visibility</p:attrName>
                                        </p:attrNameLst>
                                      </p:cBhvr>
                                      <p:to>
                                        <p:strVal val="visible"/>
                                      </p:to>
                                    </p:set>
                                    <p:animEffect transition="in" filter="box(in)">
                                      <p:cBhvr>
                                        <p:cTn id="12" dur="500"/>
                                        <p:tgtEl>
                                          <p:spTgt spid="52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3" grpId="0" animBg="1" autoUpdateAnimBg="0"/>
      <p:bldP spid="52244"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3">
            <a:extLst>
              <a:ext uri="{FF2B5EF4-FFF2-40B4-BE49-F238E27FC236}">
                <a16:creationId xmlns:a16="http://schemas.microsoft.com/office/drawing/2014/main" id="{0E73B87F-4065-127E-20F7-853C7054108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8675" name="灯片编号占位符 4">
            <a:extLst>
              <a:ext uri="{FF2B5EF4-FFF2-40B4-BE49-F238E27FC236}">
                <a16:creationId xmlns:a16="http://schemas.microsoft.com/office/drawing/2014/main" id="{BA204ABD-3FEE-2183-C8B0-8EFB5BFDC2C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E8341B0-C0FD-449D-A7C4-5C04DA56F3F9}" type="slidenum">
              <a:rPr lang="en-US" altLang="zh-CN" sz="1200" smtClean="0">
                <a:solidFill>
                  <a:srgbClr val="3366FF"/>
                </a:solidFill>
                <a:latin typeface="Arial Black" panose="020B0A04020102020204" pitchFamily="34" charset="0"/>
              </a:rPr>
              <a:pPr>
                <a:spcBef>
                  <a:spcPct val="0"/>
                </a:spcBef>
                <a:buClrTx/>
                <a:buSzTx/>
                <a:buFontTx/>
                <a:buNone/>
              </a:pPr>
              <a:t>25</a:t>
            </a:fld>
            <a:endParaRPr lang="en-US" altLang="zh-CN" sz="1200">
              <a:solidFill>
                <a:srgbClr val="3366FF"/>
              </a:solidFill>
              <a:latin typeface="Arial Black" panose="020B0A04020102020204" pitchFamily="34" charset="0"/>
            </a:endParaRPr>
          </a:p>
        </p:txBody>
      </p:sp>
      <p:sp>
        <p:nvSpPr>
          <p:cNvPr id="28676" name="日期占位符 5">
            <a:extLst>
              <a:ext uri="{FF2B5EF4-FFF2-40B4-BE49-F238E27FC236}">
                <a16:creationId xmlns:a16="http://schemas.microsoft.com/office/drawing/2014/main" id="{C0BE1D86-13E2-9F5D-1643-CD04D9621CA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9566E9D-3E3C-4ED2-A10A-718DD0BF111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pic>
        <p:nvPicPr>
          <p:cNvPr id="28677" name="Picture 9">
            <a:extLst>
              <a:ext uri="{FF2B5EF4-FFF2-40B4-BE49-F238E27FC236}">
                <a16:creationId xmlns:a16="http://schemas.microsoft.com/office/drawing/2014/main" id="{EBB03469-5D19-3552-F875-C3839A508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063" t="12500" r="18750" b="22917"/>
          <a:stretch>
            <a:fillRect/>
          </a:stretch>
        </p:blipFill>
        <p:spPr bwMode="auto">
          <a:xfrm>
            <a:off x="0" y="222250"/>
            <a:ext cx="9144000"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0" name="AutoShape 10">
            <a:extLst>
              <a:ext uri="{FF2B5EF4-FFF2-40B4-BE49-F238E27FC236}">
                <a16:creationId xmlns:a16="http://schemas.microsoft.com/office/drawing/2014/main" id="{6AC18C8D-5F93-D9FF-BED8-BFF35E613AC4}"/>
              </a:ext>
            </a:extLst>
          </p:cNvPr>
          <p:cNvSpPr>
            <a:spLocks noChangeArrowheads="1"/>
          </p:cNvSpPr>
          <p:nvPr/>
        </p:nvSpPr>
        <p:spPr bwMode="auto">
          <a:xfrm>
            <a:off x="196850" y="3663950"/>
            <a:ext cx="3657600" cy="914400"/>
          </a:xfrm>
          <a:prstGeom prst="cloudCallout">
            <a:avLst>
              <a:gd name="adj1" fmla="val -36458"/>
              <a:gd name="adj2" fmla="val -198264"/>
            </a:avLst>
          </a:prstGeom>
          <a:solidFill>
            <a:srgbClr val="CCFF33"/>
          </a:solidFill>
          <a:ln w="9525">
            <a:solidFill>
              <a:schemeClr val="accent2"/>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imes New Roman" panose="02020603050405020304" pitchFamily="18" charset="0"/>
              </a:rPr>
              <a:t>任务控制块链表</a:t>
            </a:r>
          </a:p>
        </p:txBody>
      </p:sp>
      <p:sp>
        <p:nvSpPr>
          <p:cNvPr id="51211" name="AutoShape 11">
            <a:extLst>
              <a:ext uri="{FF2B5EF4-FFF2-40B4-BE49-F238E27FC236}">
                <a16:creationId xmlns:a16="http://schemas.microsoft.com/office/drawing/2014/main" id="{42471FDD-DFCF-F856-29E1-494B63821C9D}"/>
              </a:ext>
            </a:extLst>
          </p:cNvPr>
          <p:cNvSpPr>
            <a:spLocks noChangeArrowheads="1"/>
          </p:cNvSpPr>
          <p:nvPr/>
        </p:nvSpPr>
        <p:spPr bwMode="auto">
          <a:xfrm>
            <a:off x="4616450" y="3511550"/>
            <a:ext cx="4038600" cy="914400"/>
          </a:xfrm>
          <a:prstGeom prst="cloudCallout">
            <a:avLst>
              <a:gd name="adj1" fmla="val -75866"/>
              <a:gd name="adj2" fmla="val -178648"/>
            </a:avLst>
          </a:prstGeom>
          <a:solidFill>
            <a:schemeClr val="accent1"/>
          </a:solidFill>
          <a:ln w="9525">
            <a:solidFill>
              <a:schemeClr val="accent2"/>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imes New Roman" panose="02020603050405020304" pitchFamily="18" charset="0"/>
              </a:rPr>
              <a:t>空任务控制块链表</a:t>
            </a:r>
          </a:p>
        </p:txBody>
      </p:sp>
      <p:sp>
        <p:nvSpPr>
          <p:cNvPr id="28680" name="Oval 12">
            <a:extLst>
              <a:ext uri="{FF2B5EF4-FFF2-40B4-BE49-F238E27FC236}">
                <a16:creationId xmlns:a16="http://schemas.microsoft.com/office/drawing/2014/main" id="{00C74C16-7C48-E6DA-F5A0-ADD905E932CE}"/>
              </a:ext>
            </a:extLst>
          </p:cNvPr>
          <p:cNvSpPr>
            <a:spLocks noChangeArrowheads="1"/>
          </p:cNvSpPr>
          <p:nvPr/>
        </p:nvSpPr>
        <p:spPr bwMode="auto">
          <a:xfrm>
            <a:off x="395288" y="908050"/>
            <a:ext cx="1152525" cy="360363"/>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681" name="Oval 13">
            <a:extLst>
              <a:ext uri="{FF2B5EF4-FFF2-40B4-BE49-F238E27FC236}">
                <a16:creationId xmlns:a16="http://schemas.microsoft.com/office/drawing/2014/main" id="{AA9F15C2-601D-6978-22BB-9191E158DEEA}"/>
              </a:ext>
            </a:extLst>
          </p:cNvPr>
          <p:cNvSpPr>
            <a:spLocks noChangeArrowheads="1"/>
          </p:cNvSpPr>
          <p:nvPr/>
        </p:nvSpPr>
        <p:spPr bwMode="auto">
          <a:xfrm>
            <a:off x="1979613" y="908050"/>
            <a:ext cx="1368425" cy="360363"/>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210"/>
                                        </p:tgtEl>
                                        <p:attrNameLst>
                                          <p:attrName>style.visibility</p:attrName>
                                        </p:attrNameLst>
                                      </p:cBhvr>
                                      <p:to>
                                        <p:strVal val="visible"/>
                                      </p:to>
                                    </p:set>
                                    <p:animEffect transition="in" filter="dissolve">
                                      <p:cBhvr>
                                        <p:cTn id="7" dur="500"/>
                                        <p:tgtEl>
                                          <p:spTgt spid="51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211"/>
                                        </p:tgtEl>
                                        <p:attrNameLst>
                                          <p:attrName>style.visibility</p:attrName>
                                        </p:attrNameLst>
                                      </p:cBhvr>
                                      <p:to>
                                        <p:strVal val="visible"/>
                                      </p:to>
                                    </p:set>
                                    <p:animEffect transition="in" filter="dissolve">
                                      <p:cBhvr>
                                        <p:cTn id="12" dur="500"/>
                                        <p:tgtEl>
                                          <p:spTgt spid="51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0" grpId="0" animBg="1" autoUpdateAnimBg="0"/>
      <p:bldP spid="51211"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1">
            <a:extLst>
              <a:ext uri="{FF2B5EF4-FFF2-40B4-BE49-F238E27FC236}">
                <a16:creationId xmlns:a16="http://schemas.microsoft.com/office/drawing/2014/main" id="{93D28EED-D93A-6C6B-CB6F-6826D349773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29699" name="灯片编号占位符 2">
            <a:extLst>
              <a:ext uri="{FF2B5EF4-FFF2-40B4-BE49-F238E27FC236}">
                <a16:creationId xmlns:a16="http://schemas.microsoft.com/office/drawing/2014/main" id="{C5A780A4-649F-3F60-1CDF-F55426BB061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EFFAC2C-3256-44C1-8CB2-87ED644EFA6E}" type="slidenum">
              <a:rPr lang="en-US" altLang="zh-CN" sz="1200" smtClean="0">
                <a:solidFill>
                  <a:srgbClr val="3366FF"/>
                </a:solidFill>
                <a:latin typeface="Arial Black" panose="020B0A04020102020204" pitchFamily="34" charset="0"/>
              </a:rPr>
              <a:pPr>
                <a:spcBef>
                  <a:spcPct val="0"/>
                </a:spcBef>
                <a:buClrTx/>
                <a:buSzTx/>
                <a:buFontTx/>
                <a:buNone/>
              </a:pPr>
              <a:t>26</a:t>
            </a:fld>
            <a:endParaRPr lang="en-US" altLang="zh-CN" sz="1200">
              <a:solidFill>
                <a:srgbClr val="3366FF"/>
              </a:solidFill>
              <a:latin typeface="Arial Black" panose="020B0A04020102020204" pitchFamily="34" charset="0"/>
            </a:endParaRPr>
          </a:p>
        </p:txBody>
      </p:sp>
      <p:sp>
        <p:nvSpPr>
          <p:cNvPr id="29700" name="日期占位符 3">
            <a:extLst>
              <a:ext uri="{FF2B5EF4-FFF2-40B4-BE49-F238E27FC236}">
                <a16:creationId xmlns:a16="http://schemas.microsoft.com/office/drawing/2014/main" id="{D052970A-68E2-7793-8EE7-F27C1D26FB2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E5547D4-0907-4E61-B477-01EFB1B4EBC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4276" name="Text Box 4" descr="羊皮纸">
            <a:extLst>
              <a:ext uri="{FF2B5EF4-FFF2-40B4-BE49-F238E27FC236}">
                <a16:creationId xmlns:a16="http://schemas.microsoft.com/office/drawing/2014/main" id="{924F6DFC-3A83-D6F7-4E3C-901CE89894E3}"/>
              </a:ext>
            </a:extLst>
          </p:cNvPr>
          <p:cNvSpPr txBox="1">
            <a:spLocks noChangeArrowheads="1"/>
          </p:cNvSpPr>
          <p:nvPr/>
        </p:nvSpPr>
        <p:spPr bwMode="auto">
          <a:xfrm>
            <a:off x="395288" y="2852738"/>
            <a:ext cx="8353425" cy="2365375"/>
          </a:xfrm>
          <a:prstGeom prst="rect">
            <a:avLst/>
          </a:prstGeom>
          <a:blipFill dpi="0" rotWithShape="1">
            <a:blip r:embed="rId2"/>
            <a:srcRect/>
            <a:tile tx="0" ty="0" sx="100000" sy="100000" flip="none" algn="tl"/>
          </a:blipFill>
          <a:ln w="76200" cmpd="tri">
            <a:solidFill>
              <a:schemeClr val="bg2"/>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3600" b="0">
                <a:latin typeface="Arial Narrow" panose="020B0606020202030204" pitchFamily="34" charset="0"/>
                <a:ea typeface="华文新魏" panose="02010800040101010101" pitchFamily="2" charset="-122"/>
              </a:rPr>
              <a:t>uC/OS-II </a:t>
            </a:r>
            <a:r>
              <a:rPr kumimoji="1" lang="zh-CN" altLang="en-US" sz="3600" b="0">
                <a:latin typeface="华文新魏" panose="02010800040101010101" pitchFamily="2" charset="-122"/>
                <a:ea typeface="华文新魏" panose="02010800040101010101" pitchFamily="2" charset="-122"/>
              </a:rPr>
              <a:t>中提供了系统函数 </a:t>
            </a:r>
            <a:r>
              <a:rPr kumimoji="1" lang="en-US" altLang="zh-CN" sz="3600" b="0">
                <a:latin typeface="Arial Narrow" panose="020B0606020202030204" pitchFamily="34" charset="0"/>
                <a:ea typeface="华文新魏" panose="02010800040101010101" pitchFamily="2" charset="-122"/>
              </a:rPr>
              <a:t>OSTaskDel( )</a:t>
            </a:r>
            <a:r>
              <a:rPr kumimoji="1" lang="zh-CN" altLang="en-US" sz="3600" b="0">
                <a:latin typeface="华文新魏" panose="02010800040101010101" pitchFamily="2" charset="-122"/>
                <a:ea typeface="华文新魏" panose="02010800040101010101" pitchFamily="2" charset="-122"/>
              </a:rPr>
              <a:t>，用于删除一个任务 </a:t>
            </a:r>
            <a:r>
              <a:rPr kumimoji="1" lang="en-US" altLang="zh-CN" sz="3600" b="0">
                <a:latin typeface="华文新魏" panose="02010800040101010101" pitchFamily="2" charset="-122"/>
                <a:ea typeface="华文新魏" panose="02010800040101010101" pitchFamily="2" charset="-122"/>
              </a:rPr>
              <a:t>---- </a:t>
            </a:r>
            <a:r>
              <a:rPr kumimoji="1" lang="zh-CN" altLang="en-US" sz="3600" b="0">
                <a:latin typeface="华文新魏" panose="02010800040101010101" pitchFamily="2" charset="-122"/>
                <a:ea typeface="华文新魏" panose="02010800040101010101" pitchFamily="2" charset="-122"/>
              </a:rPr>
              <a:t>实质就是将该任务的</a:t>
            </a:r>
            <a:r>
              <a:rPr kumimoji="1" lang="en-US" altLang="zh-CN" sz="3600" b="0">
                <a:latin typeface="Arial Narrow" panose="020B0606020202030204" pitchFamily="34" charset="0"/>
                <a:ea typeface="华文新魏" panose="02010800040101010101" pitchFamily="2" charset="-122"/>
              </a:rPr>
              <a:t>TCB</a:t>
            </a:r>
            <a:r>
              <a:rPr kumimoji="1" lang="zh-CN" altLang="en-US" sz="3600" b="0">
                <a:latin typeface="华文新魏" panose="02010800040101010101" pitchFamily="2" charset="-122"/>
                <a:ea typeface="华文新魏" panose="02010800040101010101" pitchFamily="2" charset="-122"/>
              </a:rPr>
              <a:t>从</a:t>
            </a:r>
            <a:r>
              <a:rPr kumimoji="1" lang="zh-CN" altLang="en-US" sz="3600" b="0">
                <a:latin typeface="Times New Roman" panose="02020603050405020304" pitchFamily="18" charset="0"/>
                <a:ea typeface="华文新魏" panose="02010800040101010101" pitchFamily="2" charset="-122"/>
              </a:rPr>
              <a:t>“</a:t>
            </a:r>
            <a:r>
              <a:rPr kumimoji="1" lang="zh-CN" altLang="en-US" sz="3600" b="0">
                <a:solidFill>
                  <a:srgbClr val="D60093"/>
                </a:solidFill>
                <a:latin typeface="华文新魏" panose="02010800040101010101" pitchFamily="2" charset="-122"/>
                <a:ea typeface="华文新魏" panose="02010800040101010101" pitchFamily="2" charset="-122"/>
              </a:rPr>
              <a:t>任务控制块列表</a:t>
            </a:r>
            <a:r>
              <a:rPr kumimoji="1" lang="zh-CN" altLang="en-US" sz="3600" b="0">
                <a:latin typeface="Times New Roman" panose="02020603050405020304" pitchFamily="18" charset="0"/>
                <a:ea typeface="华文新魏" panose="02010800040101010101" pitchFamily="2" charset="-122"/>
              </a:rPr>
              <a:t>”</a:t>
            </a:r>
            <a:r>
              <a:rPr kumimoji="1" lang="zh-CN" altLang="en-US" sz="3600" b="0">
                <a:latin typeface="华文新魏" panose="02010800040101010101" pitchFamily="2" charset="-122"/>
                <a:ea typeface="华文新魏" panose="02010800040101010101" pitchFamily="2" charset="-122"/>
              </a:rPr>
              <a:t> 移到了</a:t>
            </a:r>
            <a:r>
              <a:rPr kumimoji="1" lang="zh-CN" altLang="en-US" sz="3600" b="0">
                <a:latin typeface="Times New Roman" panose="02020603050405020304" pitchFamily="18" charset="0"/>
                <a:ea typeface="华文新魏" panose="02010800040101010101" pitchFamily="2" charset="-122"/>
              </a:rPr>
              <a:t>“</a:t>
            </a:r>
            <a:r>
              <a:rPr kumimoji="1" lang="zh-CN" altLang="en-US" sz="3600" b="0">
                <a:solidFill>
                  <a:srgbClr val="0066FF"/>
                </a:solidFill>
                <a:latin typeface="华文新魏" panose="02010800040101010101" pitchFamily="2" charset="-122"/>
                <a:ea typeface="华文新魏" panose="02010800040101010101" pitchFamily="2" charset="-122"/>
              </a:rPr>
              <a:t>空任务控制块列表</a:t>
            </a:r>
            <a:r>
              <a:rPr kumimoji="1" lang="zh-CN" altLang="en-US" sz="3600" b="0">
                <a:latin typeface="Times New Roman" panose="02020603050405020304" pitchFamily="18" charset="0"/>
                <a:ea typeface="华文新魏" panose="02010800040101010101" pitchFamily="2" charset="-122"/>
              </a:rPr>
              <a:t>”</a:t>
            </a:r>
            <a:r>
              <a:rPr kumimoji="1" lang="zh-CN" altLang="en-US" sz="3600" b="0">
                <a:latin typeface="华文新魏" panose="02010800040101010101" pitchFamily="2" charset="-122"/>
                <a:ea typeface="华文新魏" panose="02010800040101010101" pitchFamily="2" charset="-122"/>
              </a:rPr>
              <a:t> 。 </a:t>
            </a:r>
          </a:p>
        </p:txBody>
      </p:sp>
      <p:sp>
        <p:nvSpPr>
          <p:cNvPr id="29702" name="Rectangle 10">
            <a:extLst>
              <a:ext uri="{FF2B5EF4-FFF2-40B4-BE49-F238E27FC236}">
                <a16:creationId xmlns:a16="http://schemas.microsoft.com/office/drawing/2014/main" id="{09A65BE9-870A-1594-0DAA-3418E711DD3C}"/>
              </a:ext>
            </a:extLst>
          </p:cNvPr>
          <p:cNvSpPr>
            <a:spLocks noChangeArrowheads="1"/>
          </p:cNvSpPr>
          <p:nvPr/>
        </p:nvSpPr>
        <p:spPr bwMode="auto">
          <a:xfrm>
            <a:off x="457200" y="815975"/>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b="0"/>
              <a:t>2.3  </a:t>
            </a:r>
            <a:r>
              <a:rPr lang="zh-CN" altLang="en-US" sz="4000">
                <a:solidFill>
                  <a:srgbClr val="080808"/>
                </a:solidFill>
              </a:rPr>
              <a:t>任务控制块及任务控制块链表</a:t>
            </a:r>
          </a:p>
        </p:txBody>
      </p:sp>
      <p:sp>
        <p:nvSpPr>
          <p:cNvPr id="54283" name="Text Box 11">
            <a:extLst>
              <a:ext uri="{FF2B5EF4-FFF2-40B4-BE49-F238E27FC236}">
                <a16:creationId xmlns:a16="http://schemas.microsoft.com/office/drawing/2014/main" id="{678DE529-76FF-51EC-19FA-C8407AF8ABFF}"/>
              </a:ext>
            </a:extLst>
          </p:cNvPr>
          <p:cNvSpPr txBox="1">
            <a:spLocks noChangeArrowheads="1"/>
          </p:cNvSpPr>
          <p:nvPr/>
        </p:nvSpPr>
        <p:spPr bwMode="auto">
          <a:xfrm>
            <a:off x="900113" y="2781300"/>
            <a:ext cx="7010400" cy="2847975"/>
          </a:xfrm>
          <a:prstGeom prst="rect">
            <a:avLst/>
          </a:prstGeom>
          <a:solidFill>
            <a:srgbClr val="CCECFF"/>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4400" b="0">
                <a:latin typeface="Times New Roman" panose="02020603050405020304" pitchFamily="18" charset="0"/>
                <a:ea typeface="黑体" panose="02010609060101010101" pitchFamily="49" charset="-122"/>
              </a:rPr>
              <a:t>《</a:t>
            </a:r>
            <a:r>
              <a:rPr kumimoji="1" lang="zh-CN" altLang="en-US" sz="4400" b="0">
                <a:solidFill>
                  <a:srgbClr val="CC0000"/>
                </a:solidFill>
                <a:latin typeface="Times New Roman" panose="02020603050405020304" pitchFamily="18" charset="0"/>
                <a:ea typeface="黑体" panose="02010609060101010101" pitchFamily="49" charset="-122"/>
              </a:rPr>
              <a:t>任务控制块</a:t>
            </a:r>
            <a:r>
              <a:rPr kumimoji="1" lang="en-US" altLang="zh-CN" sz="4400" b="0">
                <a:latin typeface="Times New Roman" panose="02020603050405020304" pitchFamily="18" charset="0"/>
                <a:ea typeface="黑体" panose="02010609060101010101" pitchFamily="49" charset="-122"/>
              </a:rPr>
              <a:t>》</a:t>
            </a:r>
            <a:r>
              <a:rPr kumimoji="1" lang="zh-CN" altLang="en-US" sz="4400" b="0">
                <a:latin typeface="Times New Roman" panose="02020603050405020304" pitchFamily="18" charset="0"/>
                <a:ea typeface="黑体" panose="02010609060101010101" pitchFamily="49" charset="-122"/>
              </a:rPr>
              <a:t>就相当于是一个任务的身份证，没有任务控制块的任务是不能被系统承认和管理。</a:t>
            </a:r>
            <a:r>
              <a:rPr kumimoji="1" lang="zh-CN" altLang="en-US" sz="2400" b="0">
                <a:latin typeface="Times New Roman" panose="02020603050405020304" pitchFamily="18" charset="0"/>
              </a:rPr>
              <a:t> </a:t>
            </a:r>
          </a:p>
        </p:txBody>
      </p:sp>
      <p:sp>
        <p:nvSpPr>
          <p:cNvPr id="29704" name="Rectangle 12">
            <a:extLst>
              <a:ext uri="{FF2B5EF4-FFF2-40B4-BE49-F238E27FC236}">
                <a16:creationId xmlns:a16="http://schemas.microsoft.com/office/drawing/2014/main" id="{465A62DF-80F7-CF52-E374-1C517D83319F}"/>
              </a:ext>
            </a:extLst>
          </p:cNvPr>
          <p:cNvSpPr>
            <a:spLocks noChangeArrowheads="1"/>
          </p:cNvSpPr>
          <p:nvPr/>
        </p:nvSpPr>
        <p:spPr bwMode="auto">
          <a:xfrm>
            <a:off x="457200" y="1701800"/>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a:t>任务控制块链表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blinds(vertical)">
                                      <p:cBhvr>
                                        <p:cTn id="7" dur="500"/>
                                        <p:tgtEl>
                                          <p:spTgt spid="54276"/>
                                        </p:tgtEl>
                                      </p:cBhvr>
                                    </p:animEffect>
                                  </p:childTnLst>
                                  <p:subTnLst>
                                    <p:set>
                                      <p:cBhvr override="childStyle">
                                        <p:cTn dur="1" fill="hold" display="0" masterRel="nextClick" afterEffect="1"/>
                                        <p:tgtEl>
                                          <p:spTgt spid="5427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54283"/>
                                        </p:tgtEl>
                                        <p:attrNameLst>
                                          <p:attrName>style.visibility</p:attrName>
                                        </p:attrNameLst>
                                      </p:cBhvr>
                                      <p:to>
                                        <p:strVal val="visible"/>
                                      </p:to>
                                    </p:set>
                                    <p:animEffect transition="in" filter="blinds(vertical)">
                                      <p:cBhvr>
                                        <p:cTn id="12" dur="500"/>
                                        <p:tgtEl>
                                          <p:spTgt spid="54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nimBg="1"/>
      <p:bldP spid="5428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1">
            <a:extLst>
              <a:ext uri="{FF2B5EF4-FFF2-40B4-BE49-F238E27FC236}">
                <a16:creationId xmlns:a16="http://schemas.microsoft.com/office/drawing/2014/main" id="{2661B697-3E74-3DEC-95F0-1EE4D0B8B08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0723" name="灯片编号占位符 2">
            <a:extLst>
              <a:ext uri="{FF2B5EF4-FFF2-40B4-BE49-F238E27FC236}">
                <a16:creationId xmlns:a16="http://schemas.microsoft.com/office/drawing/2014/main" id="{2A345A5C-82C5-FD74-C045-735316EA62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A1126F0-3CF5-438D-AED5-660118F9C7D8}" type="slidenum">
              <a:rPr lang="en-US" altLang="zh-CN" sz="1200" smtClean="0">
                <a:solidFill>
                  <a:srgbClr val="3366FF"/>
                </a:solidFill>
                <a:latin typeface="Arial Black" panose="020B0A04020102020204" pitchFamily="34" charset="0"/>
              </a:rPr>
              <a:pPr>
                <a:spcBef>
                  <a:spcPct val="0"/>
                </a:spcBef>
                <a:buClrTx/>
                <a:buSzTx/>
                <a:buFontTx/>
                <a:buNone/>
              </a:pPr>
              <a:t>27</a:t>
            </a:fld>
            <a:endParaRPr lang="en-US" altLang="zh-CN" sz="1200">
              <a:solidFill>
                <a:srgbClr val="3366FF"/>
              </a:solidFill>
              <a:latin typeface="Arial Black" panose="020B0A04020102020204" pitchFamily="34" charset="0"/>
            </a:endParaRPr>
          </a:p>
        </p:txBody>
      </p:sp>
      <p:sp>
        <p:nvSpPr>
          <p:cNvPr id="30724" name="日期占位符 3">
            <a:extLst>
              <a:ext uri="{FF2B5EF4-FFF2-40B4-BE49-F238E27FC236}">
                <a16:creationId xmlns:a16="http://schemas.microsoft.com/office/drawing/2014/main" id="{1D3D17F2-227B-4655-E1E6-94A465CA306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6FA8CF9-0A06-4938-BA01-7A54DC16A3C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0725" name="Rectangle 3">
            <a:extLst>
              <a:ext uri="{FF2B5EF4-FFF2-40B4-BE49-F238E27FC236}">
                <a16:creationId xmlns:a16="http://schemas.microsoft.com/office/drawing/2014/main" id="{A7356698-850B-CAF6-B6BE-69F4C73495CB}"/>
              </a:ext>
            </a:extLst>
          </p:cNvPr>
          <p:cNvSpPr>
            <a:spLocks noChangeArrowheads="1"/>
          </p:cNvSpPr>
          <p:nvPr/>
        </p:nvSpPr>
        <p:spPr bwMode="auto">
          <a:xfrm>
            <a:off x="457200" y="815975"/>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b="0"/>
              <a:t>2.3  </a:t>
            </a:r>
            <a:r>
              <a:rPr lang="zh-CN" altLang="en-US" sz="4000">
                <a:solidFill>
                  <a:srgbClr val="080808"/>
                </a:solidFill>
              </a:rPr>
              <a:t>任务控制块及任务控制块链表</a:t>
            </a:r>
          </a:p>
        </p:txBody>
      </p:sp>
      <p:sp>
        <p:nvSpPr>
          <p:cNvPr id="30726" name="Rectangle 5">
            <a:extLst>
              <a:ext uri="{FF2B5EF4-FFF2-40B4-BE49-F238E27FC236}">
                <a16:creationId xmlns:a16="http://schemas.microsoft.com/office/drawing/2014/main" id="{A779FC86-763F-30C8-FEF9-4D019E38234F}"/>
              </a:ext>
            </a:extLst>
          </p:cNvPr>
          <p:cNvSpPr>
            <a:spLocks noChangeArrowheads="1"/>
          </p:cNvSpPr>
          <p:nvPr/>
        </p:nvSpPr>
        <p:spPr bwMode="auto">
          <a:xfrm>
            <a:off x="457200" y="1773238"/>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a:t>任务控制块链表其他相关系统管理变量</a:t>
            </a:r>
          </a:p>
        </p:txBody>
      </p:sp>
      <p:sp>
        <p:nvSpPr>
          <p:cNvPr id="55303" name="Text Box 7">
            <a:extLst>
              <a:ext uri="{FF2B5EF4-FFF2-40B4-BE49-F238E27FC236}">
                <a16:creationId xmlns:a16="http://schemas.microsoft.com/office/drawing/2014/main" id="{2D1FFB5D-DD9A-9535-7B38-4E36F1AEDA94}"/>
              </a:ext>
            </a:extLst>
          </p:cNvPr>
          <p:cNvSpPr txBox="1">
            <a:spLocks noChangeArrowheads="1"/>
          </p:cNvSpPr>
          <p:nvPr/>
        </p:nvSpPr>
        <p:spPr bwMode="auto">
          <a:xfrm>
            <a:off x="1042988" y="2792413"/>
            <a:ext cx="7273925"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
                <a:srgbClr val="0066FF"/>
              </a:buClr>
              <a:buSzPct val="50000"/>
            </a:pPr>
            <a:r>
              <a:rPr lang="en-US" altLang="zh-CN" sz="2800">
                <a:latin typeface="Arial Narrow" panose="020B0606020202030204" pitchFamily="34" charset="0"/>
              </a:rPr>
              <a:t>OSTCBPrioTbl[ ]</a:t>
            </a:r>
            <a:r>
              <a:rPr lang="en-US" altLang="zh-CN" sz="2800"/>
              <a:t> </a:t>
            </a:r>
            <a:r>
              <a:rPr lang="zh-CN" altLang="en-US" sz="2800"/>
              <a:t>：</a:t>
            </a:r>
            <a:r>
              <a:rPr lang="en-US" altLang="zh-CN" sz="2800">
                <a:latin typeface="Arial Narrow" panose="020B0606020202030204" pitchFamily="34" charset="0"/>
              </a:rPr>
              <a:t>OS_TCB* </a:t>
            </a:r>
            <a:r>
              <a:rPr lang="zh-CN" altLang="en-US" sz="2800">
                <a:latin typeface="Arial Narrow" panose="020B0606020202030204" pitchFamily="34" charset="0"/>
              </a:rPr>
              <a:t>数据类型的数组，以 </a:t>
            </a:r>
            <a:r>
              <a:rPr lang="en-US" altLang="zh-CN" sz="2800">
                <a:latin typeface="Arial Narrow" panose="020B0606020202030204" pitchFamily="34" charset="0"/>
              </a:rPr>
              <a:t>Prio </a:t>
            </a:r>
            <a:r>
              <a:rPr lang="zh-CN" altLang="en-US" sz="2800">
                <a:latin typeface="Arial Narrow" panose="020B0606020202030204" pitchFamily="34" charset="0"/>
              </a:rPr>
              <a:t>为下标存放已使能的 </a:t>
            </a:r>
            <a:r>
              <a:rPr lang="en-US" altLang="zh-CN" sz="2800">
                <a:latin typeface="Arial Narrow" panose="020B0606020202030204" pitchFamily="34" charset="0"/>
              </a:rPr>
              <a:t>TCB </a:t>
            </a:r>
            <a:r>
              <a:rPr lang="zh-CN" altLang="en-US" sz="2800">
                <a:latin typeface="Arial Narrow" panose="020B0606020202030204" pitchFamily="34" charset="0"/>
              </a:rPr>
              <a:t>指针。用于加速 </a:t>
            </a:r>
            <a:r>
              <a:rPr lang="en-US" altLang="zh-CN" sz="2800">
                <a:latin typeface="Arial Narrow" panose="020B0606020202030204" pitchFamily="34" charset="0"/>
              </a:rPr>
              <a:t>TCB </a:t>
            </a:r>
            <a:r>
              <a:rPr lang="zh-CN" altLang="en-US" sz="2800">
                <a:latin typeface="Arial Narrow" panose="020B0606020202030204" pitchFamily="34" charset="0"/>
              </a:rPr>
              <a:t>的访问。</a:t>
            </a:r>
          </a:p>
          <a:p>
            <a:pPr eaLnBrk="1" hangingPunct="1">
              <a:lnSpc>
                <a:spcPct val="130000"/>
              </a:lnSpc>
              <a:spcBef>
                <a:spcPct val="50000"/>
              </a:spcBef>
              <a:buClr>
                <a:srgbClr val="0066FF"/>
              </a:buClr>
              <a:buSzPct val="50000"/>
            </a:pPr>
            <a:r>
              <a:rPr lang="en-US" altLang="zh-CN" sz="2800">
                <a:latin typeface="Arial Narrow" panose="020B0606020202030204" pitchFamily="34" charset="0"/>
              </a:rPr>
              <a:t>OSTCBCur</a:t>
            </a:r>
            <a:r>
              <a:rPr lang="zh-CN" altLang="en-US" sz="2800">
                <a:latin typeface="Arial Narrow" panose="020B0606020202030204" pitchFamily="34" charset="0"/>
              </a:rPr>
              <a:t>：全局系统变量，指向当前正在运行的任务的 </a:t>
            </a:r>
            <a:r>
              <a:rPr lang="en-US" altLang="zh-CN" sz="2800">
                <a:latin typeface="Arial Narrow" panose="020B0606020202030204" pitchFamily="34" charset="0"/>
              </a:rPr>
              <a:t>TCB </a:t>
            </a:r>
            <a:r>
              <a:rPr lang="zh-CN" altLang="en-US" sz="2800">
                <a:latin typeface="Arial Narrow" panose="020B0606020202030204" pitchFamily="34" charset="0"/>
              </a:rPr>
              <a:t>。</a:t>
            </a:r>
          </a:p>
        </p:txBody>
      </p:sp>
      <p:sp>
        <p:nvSpPr>
          <p:cNvPr id="55304" name="Text Box 8">
            <a:extLst>
              <a:ext uri="{FF2B5EF4-FFF2-40B4-BE49-F238E27FC236}">
                <a16:creationId xmlns:a16="http://schemas.microsoft.com/office/drawing/2014/main" id="{721E7F64-7129-9213-CB36-85DD669179C3}"/>
              </a:ext>
            </a:extLst>
          </p:cNvPr>
          <p:cNvSpPr txBox="1">
            <a:spLocks noChangeArrowheads="1"/>
          </p:cNvSpPr>
          <p:nvPr/>
        </p:nvSpPr>
        <p:spPr bwMode="auto">
          <a:xfrm>
            <a:off x="1042988" y="2765425"/>
            <a:ext cx="7777162" cy="29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
                <a:srgbClr val="FF9900"/>
              </a:buClr>
              <a:buSzPct val="60000"/>
              <a:buFont typeface="Wingdings" panose="05000000000000000000" pitchFamily="2" charset="2"/>
              <a:buChar char="Ø"/>
            </a:pPr>
            <a:r>
              <a:rPr lang="en-US" altLang="zh-CN" sz="2800">
                <a:latin typeface="Arial Narrow" panose="020B0606020202030204" pitchFamily="34" charset="0"/>
              </a:rPr>
              <a:t>OSTCBFreeList</a:t>
            </a:r>
            <a:r>
              <a:rPr lang="zh-CN" altLang="en-US" sz="2800">
                <a:latin typeface="Arial Narrow" panose="020B0606020202030204" pitchFamily="34" charset="0"/>
              </a:rPr>
              <a:t>、</a:t>
            </a:r>
            <a:r>
              <a:rPr lang="en-US" altLang="zh-CN" sz="2800">
                <a:latin typeface="Arial Narrow" panose="020B0606020202030204" pitchFamily="34" charset="0"/>
              </a:rPr>
              <a:t>OSTCBList</a:t>
            </a:r>
          </a:p>
          <a:p>
            <a:pPr eaLnBrk="1" hangingPunct="1">
              <a:lnSpc>
                <a:spcPct val="130000"/>
              </a:lnSpc>
              <a:spcBef>
                <a:spcPct val="50000"/>
              </a:spcBef>
              <a:buClr>
                <a:srgbClr val="FF9900"/>
              </a:buClr>
              <a:buSzPct val="60000"/>
              <a:buFont typeface="Wingdings" panose="05000000000000000000" pitchFamily="2" charset="2"/>
              <a:buChar char="Ø"/>
            </a:pPr>
            <a:r>
              <a:rPr lang="en-US" altLang="zh-CN" sz="2800">
                <a:latin typeface="Arial Narrow" panose="020B0606020202030204" pitchFamily="34" charset="0"/>
              </a:rPr>
              <a:t>OSTCBTbl[ ] ---- OSInit()</a:t>
            </a:r>
            <a:r>
              <a:rPr lang="zh-CN" altLang="en-US" sz="2800">
                <a:latin typeface="Arial Narrow" panose="020B0606020202030204" pitchFamily="34" charset="0"/>
              </a:rPr>
              <a:t>建立的任务控制块数组</a:t>
            </a:r>
          </a:p>
          <a:p>
            <a:pPr eaLnBrk="1" hangingPunct="1">
              <a:lnSpc>
                <a:spcPct val="130000"/>
              </a:lnSpc>
              <a:spcBef>
                <a:spcPct val="50000"/>
              </a:spcBef>
              <a:buClr>
                <a:srgbClr val="FF9900"/>
              </a:buClr>
              <a:buSzPct val="60000"/>
              <a:buFont typeface="Wingdings" panose="05000000000000000000" pitchFamily="2" charset="2"/>
              <a:buChar char="Ø"/>
            </a:pPr>
            <a:r>
              <a:rPr lang="en-US" altLang="zh-CN" sz="2800">
                <a:latin typeface="Arial Narrow" panose="020B0606020202030204" pitchFamily="34" charset="0"/>
              </a:rPr>
              <a:t>OSTCBPrioTbl[ ]</a:t>
            </a:r>
            <a:r>
              <a:rPr lang="en-US" altLang="zh-CN" sz="2800"/>
              <a:t> ---- </a:t>
            </a:r>
            <a:r>
              <a:rPr lang="zh-CN" altLang="en-US" sz="2800"/>
              <a:t>任务控制块优先级数组</a:t>
            </a:r>
            <a:endParaRPr lang="zh-CN" altLang="en-US" sz="2800">
              <a:latin typeface="Arial Narrow" panose="020B0606020202030204" pitchFamily="34" charset="0"/>
            </a:endParaRPr>
          </a:p>
          <a:p>
            <a:pPr eaLnBrk="1" hangingPunct="1">
              <a:lnSpc>
                <a:spcPct val="130000"/>
              </a:lnSpc>
              <a:spcBef>
                <a:spcPct val="50000"/>
              </a:spcBef>
              <a:buClr>
                <a:srgbClr val="FF9900"/>
              </a:buClr>
              <a:buSzPct val="60000"/>
              <a:buFont typeface="Wingdings" panose="05000000000000000000" pitchFamily="2" charset="2"/>
              <a:buChar char="Ø"/>
            </a:pPr>
            <a:r>
              <a:rPr lang="en-US" altLang="zh-CN" sz="2800">
                <a:latin typeface="Arial Narrow" panose="020B0606020202030204" pitchFamily="34" charset="0"/>
              </a:rPr>
              <a:t>OSTCBCur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3"/>
                                        </p:tgtEl>
                                        <p:attrNameLst>
                                          <p:attrName>style.visibility</p:attrName>
                                        </p:attrNameLst>
                                      </p:cBhvr>
                                      <p:to>
                                        <p:strVal val="visible"/>
                                      </p:to>
                                    </p:set>
                                    <p:animEffect transition="in" filter="blinds(horizontal)">
                                      <p:cBhvr>
                                        <p:cTn id="7" dur="500"/>
                                        <p:tgtEl>
                                          <p:spTgt spid="55303"/>
                                        </p:tgtEl>
                                      </p:cBhvr>
                                    </p:animEffect>
                                  </p:childTnLst>
                                  <p:subTnLst>
                                    <p:set>
                                      <p:cBhvr override="childStyle">
                                        <p:cTn dur="1" fill="hold" display="0" masterRel="nextClick" afterEffect="1"/>
                                        <p:tgtEl>
                                          <p:spTgt spid="5530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04"/>
                                        </p:tgtEl>
                                        <p:attrNameLst>
                                          <p:attrName>style.visibility</p:attrName>
                                        </p:attrNameLst>
                                      </p:cBhvr>
                                      <p:to>
                                        <p:strVal val="visible"/>
                                      </p:to>
                                    </p:set>
                                    <p:animEffect transition="in" filter="blinds(horizontal)">
                                      <p:cBhvr>
                                        <p:cTn id="12" dur="500"/>
                                        <p:tgtEl>
                                          <p:spTgt spid="55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p:bldP spid="5530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3">
            <a:extLst>
              <a:ext uri="{FF2B5EF4-FFF2-40B4-BE49-F238E27FC236}">
                <a16:creationId xmlns:a16="http://schemas.microsoft.com/office/drawing/2014/main" id="{5DA0BFC7-8F3C-E74E-E5B1-889095549EF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1747" name="灯片编号占位符 4">
            <a:extLst>
              <a:ext uri="{FF2B5EF4-FFF2-40B4-BE49-F238E27FC236}">
                <a16:creationId xmlns:a16="http://schemas.microsoft.com/office/drawing/2014/main" id="{ECD49714-1CC2-E51F-D818-67DF56CBBE9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AAE54F8-F98C-44D1-A66E-DE70AF10839F}" type="slidenum">
              <a:rPr lang="en-US" altLang="zh-CN" sz="1200" smtClean="0">
                <a:solidFill>
                  <a:srgbClr val="3366FF"/>
                </a:solidFill>
                <a:latin typeface="Arial Black" panose="020B0A04020102020204" pitchFamily="34" charset="0"/>
              </a:rPr>
              <a:pPr>
                <a:spcBef>
                  <a:spcPct val="0"/>
                </a:spcBef>
                <a:buClrTx/>
                <a:buSzTx/>
                <a:buFontTx/>
                <a:buNone/>
              </a:pPr>
              <a:t>28</a:t>
            </a:fld>
            <a:endParaRPr lang="en-US" altLang="zh-CN" sz="1200">
              <a:solidFill>
                <a:srgbClr val="3366FF"/>
              </a:solidFill>
              <a:latin typeface="Arial Black" panose="020B0A04020102020204" pitchFamily="34" charset="0"/>
            </a:endParaRPr>
          </a:p>
        </p:txBody>
      </p:sp>
      <p:sp>
        <p:nvSpPr>
          <p:cNvPr id="31748" name="日期占位符 5">
            <a:extLst>
              <a:ext uri="{FF2B5EF4-FFF2-40B4-BE49-F238E27FC236}">
                <a16:creationId xmlns:a16="http://schemas.microsoft.com/office/drawing/2014/main" id="{E2049B88-2BD0-CC81-2F71-EB668A4574B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C96E861-5C32-4704-804A-48D5D30F7AE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1749" name="Rectangle 2">
            <a:extLst>
              <a:ext uri="{FF2B5EF4-FFF2-40B4-BE49-F238E27FC236}">
                <a16:creationId xmlns:a16="http://schemas.microsoft.com/office/drawing/2014/main" id="{141CCBE0-3C0B-1AEB-2F7B-430D584DDAA2}"/>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31750" name="Rectangle 3">
            <a:extLst>
              <a:ext uri="{FF2B5EF4-FFF2-40B4-BE49-F238E27FC236}">
                <a16:creationId xmlns:a16="http://schemas.microsoft.com/office/drawing/2014/main" id="{B6DDF5E1-13B8-08D9-1C86-DAE9243F6CE8}"/>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rgbClr val="FF0000"/>
                </a:solidFill>
              </a:rPr>
              <a:t>4</a:t>
            </a:r>
            <a:r>
              <a:rPr lang="zh-CN" altLang="en-US">
                <a:solidFill>
                  <a:srgbClr val="FF0000"/>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3">
            <a:extLst>
              <a:ext uri="{FF2B5EF4-FFF2-40B4-BE49-F238E27FC236}">
                <a16:creationId xmlns:a16="http://schemas.microsoft.com/office/drawing/2014/main" id="{F3A5463E-1A49-F086-BB26-8F149FED42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2771" name="灯片编号占位符 4">
            <a:extLst>
              <a:ext uri="{FF2B5EF4-FFF2-40B4-BE49-F238E27FC236}">
                <a16:creationId xmlns:a16="http://schemas.microsoft.com/office/drawing/2014/main" id="{BB321405-F57B-DCAE-7292-CB2795B2D4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753768-CE90-4C0C-A414-5194344E0C21}" type="slidenum">
              <a:rPr lang="en-US" altLang="zh-CN" sz="1200" smtClean="0">
                <a:solidFill>
                  <a:srgbClr val="3366FF"/>
                </a:solidFill>
                <a:latin typeface="Arial Black" panose="020B0A04020102020204" pitchFamily="34" charset="0"/>
              </a:rPr>
              <a:pPr>
                <a:spcBef>
                  <a:spcPct val="0"/>
                </a:spcBef>
                <a:buClrTx/>
                <a:buSzTx/>
                <a:buFontTx/>
                <a:buNone/>
              </a:pPr>
              <a:t>29</a:t>
            </a:fld>
            <a:endParaRPr lang="en-US" altLang="zh-CN" sz="1200">
              <a:solidFill>
                <a:srgbClr val="3366FF"/>
              </a:solidFill>
              <a:latin typeface="Arial Black" panose="020B0A04020102020204" pitchFamily="34" charset="0"/>
            </a:endParaRPr>
          </a:p>
        </p:txBody>
      </p:sp>
      <p:sp>
        <p:nvSpPr>
          <p:cNvPr id="32772" name="日期占位符 5">
            <a:extLst>
              <a:ext uri="{FF2B5EF4-FFF2-40B4-BE49-F238E27FC236}">
                <a16:creationId xmlns:a16="http://schemas.microsoft.com/office/drawing/2014/main" id="{9B843725-133F-99D6-C160-4F85A4840DF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5912F0C-EDC5-4FC3-B5B5-1ACA7185995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2773" name="Rectangle 2">
            <a:extLst>
              <a:ext uri="{FF2B5EF4-FFF2-40B4-BE49-F238E27FC236}">
                <a16:creationId xmlns:a16="http://schemas.microsoft.com/office/drawing/2014/main" id="{6B2108EC-8456-6E6D-6BFD-C0FC1514CCDE}"/>
              </a:ext>
            </a:extLst>
          </p:cNvPr>
          <p:cNvSpPr>
            <a:spLocks noGrp="1" noChangeArrowheads="1"/>
          </p:cNvSpPr>
          <p:nvPr>
            <p:ph type="title"/>
          </p:nvPr>
        </p:nvSpPr>
        <p:spPr>
          <a:xfrm>
            <a:off x="457200" y="2473325"/>
            <a:ext cx="8229600" cy="1676400"/>
          </a:xfrm>
        </p:spPr>
        <p:txBody>
          <a:bodyPr/>
          <a:lstStyle/>
          <a:p>
            <a:pPr eaLnBrk="1" hangingPunct="1"/>
            <a:r>
              <a:rPr lang="zh-CN" altLang="en-US" b="1"/>
              <a:t>补充：多任务 </a:t>
            </a:r>
            <a:r>
              <a:rPr lang="en-US" altLang="zh-CN" b="1">
                <a:latin typeface="Arial Narrow" panose="020B0606020202030204" pitchFamily="34" charset="0"/>
              </a:rPr>
              <a:t>OS</a:t>
            </a:r>
            <a:br>
              <a:rPr lang="en-US" altLang="zh-CN" b="1"/>
            </a:br>
            <a:r>
              <a:rPr lang="en-US" altLang="zh-CN" b="1"/>
              <a:t>               ---- </a:t>
            </a:r>
            <a:r>
              <a:rPr lang="zh-CN" altLang="en-US" b="1"/>
              <a:t>的基本工作方式</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1">
            <a:extLst>
              <a:ext uri="{FF2B5EF4-FFF2-40B4-BE49-F238E27FC236}">
                <a16:creationId xmlns:a16="http://schemas.microsoft.com/office/drawing/2014/main" id="{E5A0E66F-223C-243D-9DE9-5E08B78D20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3795" name="灯片编号占位符 2">
            <a:extLst>
              <a:ext uri="{FF2B5EF4-FFF2-40B4-BE49-F238E27FC236}">
                <a16:creationId xmlns:a16="http://schemas.microsoft.com/office/drawing/2014/main" id="{6EFC0AFB-1D37-FDDE-7664-A85C95033E5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092D1B9-EA66-4D7A-8D63-C6D115A5C99C}" type="slidenum">
              <a:rPr lang="en-US" altLang="zh-CN" sz="1200" smtClean="0">
                <a:solidFill>
                  <a:srgbClr val="3366FF"/>
                </a:solidFill>
                <a:latin typeface="Arial Black" panose="020B0A04020102020204" pitchFamily="34" charset="0"/>
              </a:rPr>
              <a:pPr>
                <a:spcBef>
                  <a:spcPct val="0"/>
                </a:spcBef>
                <a:buClrTx/>
                <a:buSzTx/>
                <a:buFontTx/>
                <a:buNone/>
              </a:pPr>
              <a:t>30</a:t>
            </a:fld>
            <a:endParaRPr lang="en-US" altLang="zh-CN" sz="1200">
              <a:solidFill>
                <a:srgbClr val="3366FF"/>
              </a:solidFill>
              <a:latin typeface="Arial Black" panose="020B0A04020102020204" pitchFamily="34" charset="0"/>
            </a:endParaRPr>
          </a:p>
        </p:txBody>
      </p:sp>
      <p:sp>
        <p:nvSpPr>
          <p:cNvPr id="33796" name="日期占位符 3">
            <a:extLst>
              <a:ext uri="{FF2B5EF4-FFF2-40B4-BE49-F238E27FC236}">
                <a16:creationId xmlns:a16="http://schemas.microsoft.com/office/drawing/2014/main" id="{B656DEAD-1624-F6C4-72BC-5605574C55F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0FCDED-F2DB-49C2-AB54-0EABAC2297A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3797" name="Text Box 2">
            <a:extLst>
              <a:ext uri="{FF2B5EF4-FFF2-40B4-BE49-F238E27FC236}">
                <a16:creationId xmlns:a16="http://schemas.microsoft.com/office/drawing/2014/main" id="{E14223C4-38C2-D0DF-4972-7B061CE3C8E4}"/>
              </a:ext>
            </a:extLst>
          </p:cNvPr>
          <p:cNvSpPr txBox="1">
            <a:spLocks noChangeArrowheads="1"/>
          </p:cNvSpPr>
          <p:nvPr/>
        </p:nvSpPr>
        <p:spPr bwMode="auto">
          <a:xfrm>
            <a:off x="1035050" y="457200"/>
            <a:ext cx="5670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solidFill>
                  <a:srgbClr val="990033"/>
                </a:solidFill>
                <a:latin typeface="Tahoma" panose="020B0604030504040204" pitchFamily="34" charset="0"/>
                <a:ea typeface="隶书" pitchFamily="49" charset="-122"/>
              </a:rPr>
              <a:t>什么是多任务系统</a:t>
            </a:r>
          </a:p>
        </p:txBody>
      </p:sp>
      <p:sp>
        <p:nvSpPr>
          <p:cNvPr id="33798" name="Text Box 3">
            <a:extLst>
              <a:ext uri="{FF2B5EF4-FFF2-40B4-BE49-F238E27FC236}">
                <a16:creationId xmlns:a16="http://schemas.microsoft.com/office/drawing/2014/main" id="{61ACF327-0085-849B-619F-DC376DC17B31}"/>
              </a:ext>
            </a:extLst>
          </p:cNvPr>
          <p:cNvSpPr txBox="1">
            <a:spLocks noChangeArrowheads="1"/>
          </p:cNvSpPr>
          <p:nvPr/>
        </p:nvSpPr>
        <p:spPr bwMode="auto">
          <a:xfrm>
            <a:off x="457200" y="1752600"/>
            <a:ext cx="7766050" cy="3643313"/>
          </a:xfrm>
          <a:prstGeom prst="rect">
            <a:avLst/>
          </a:prstGeom>
          <a:solidFill>
            <a:schemeClr val="folHlink"/>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a:p>
            <a:pPr eaLnBrk="1" hangingPunct="1">
              <a:spcBef>
                <a:spcPct val="0"/>
              </a:spcBef>
              <a:buClrTx/>
              <a:buSzTx/>
              <a:buFontTx/>
              <a:buNone/>
            </a:pPr>
            <a:r>
              <a:rPr kumimoji="1" lang="zh-CN" altLang="en-US" sz="3600" b="0">
                <a:latin typeface="Tahoma" panose="020B0604030504040204" pitchFamily="34" charset="0"/>
                <a:ea typeface="隶书" pitchFamily="49" charset="-122"/>
              </a:rPr>
              <a:t>简单地说，就是能用一个处理器</a:t>
            </a:r>
          </a:p>
          <a:p>
            <a:pPr eaLnBrk="1" hangingPunct="1">
              <a:spcBef>
                <a:spcPct val="0"/>
              </a:spcBef>
              <a:buClrTx/>
              <a:buSzTx/>
              <a:buFontTx/>
              <a:buNone/>
            </a:pPr>
            <a:r>
              <a:rPr kumimoji="1" lang="zh-CN" altLang="en-US" sz="4800" b="0">
                <a:solidFill>
                  <a:srgbClr val="FF0000"/>
                </a:solidFill>
                <a:latin typeface="Tahoma" panose="020B0604030504040204" pitchFamily="34" charset="0"/>
                <a:ea typeface="隶书" pitchFamily="49" charset="-122"/>
              </a:rPr>
              <a:t>并发（注意，不是同时！ ）</a:t>
            </a:r>
          </a:p>
          <a:p>
            <a:pPr eaLnBrk="1" hangingPunct="1">
              <a:spcBef>
                <a:spcPct val="0"/>
              </a:spcBef>
              <a:buClrTx/>
              <a:buSzTx/>
              <a:buFontTx/>
              <a:buNone/>
            </a:pPr>
            <a:r>
              <a:rPr kumimoji="1" lang="zh-CN" altLang="en-US" sz="3600" b="0">
                <a:latin typeface="Tahoma" panose="020B0604030504040204" pitchFamily="34" charset="0"/>
                <a:ea typeface="隶书" pitchFamily="49" charset="-122"/>
              </a:rPr>
              <a:t>地运行多个程序的计算机管理系统。</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sp>
        <p:nvSpPr>
          <p:cNvPr id="74756" name="Text Box 4">
            <a:extLst>
              <a:ext uri="{FF2B5EF4-FFF2-40B4-BE49-F238E27FC236}">
                <a16:creationId xmlns:a16="http://schemas.microsoft.com/office/drawing/2014/main" id="{4EE55B96-6707-643A-497C-F2F16EFC75B4}"/>
              </a:ext>
            </a:extLst>
          </p:cNvPr>
          <p:cNvSpPr txBox="1">
            <a:spLocks noChangeArrowheads="1"/>
          </p:cNvSpPr>
          <p:nvPr/>
        </p:nvSpPr>
        <p:spPr bwMode="auto">
          <a:xfrm>
            <a:off x="381000" y="1371600"/>
            <a:ext cx="8642350" cy="5314950"/>
          </a:xfrm>
          <a:prstGeom prst="rect">
            <a:avLst/>
          </a:prstGeom>
          <a:solidFill>
            <a:schemeClr val="folHlink"/>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a:p>
            <a:pPr eaLnBrk="1" hangingPunct="1">
              <a:spcBef>
                <a:spcPct val="0"/>
              </a:spcBef>
              <a:buClrTx/>
              <a:buSzTx/>
              <a:buFontTx/>
              <a:buNone/>
            </a:pPr>
            <a:r>
              <a:rPr kumimoji="1" lang="zh-CN" altLang="en-US" sz="5400" b="0">
                <a:solidFill>
                  <a:srgbClr val="FF0000"/>
                </a:solidFill>
                <a:latin typeface="Tahoma" panose="020B0604030504040204" pitchFamily="34" charset="0"/>
                <a:ea typeface="隶书" pitchFamily="49" charset="-122"/>
              </a:rPr>
              <a:t>并发</a:t>
            </a:r>
            <a:r>
              <a:rPr kumimoji="1" lang="zh-CN" altLang="en-US" sz="5400" b="0">
                <a:latin typeface="Tahoma" panose="020B0604030504040204" pitchFamily="34" charset="0"/>
                <a:ea typeface="隶书" pitchFamily="49" charset="-122"/>
              </a:rPr>
              <a:t>：</a:t>
            </a:r>
            <a:r>
              <a:rPr kumimoji="1" lang="zh-CN" altLang="en-US" sz="4400" b="0">
                <a:latin typeface="Tahoma" panose="020B0604030504040204" pitchFamily="34" charset="0"/>
                <a:ea typeface="隶书" pitchFamily="49" charset="-122"/>
              </a:rPr>
              <a:t>由同一个处理器轮换地</a:t>
            </a:r>
          </a:p>
          <a:p>
            <a:pPr eaLnBrk="1" hangingPunct="1">
              <a:spcBef>
                <a:spcPct val="0"/>
              </a:spcBef>
              <a:buClrTx/>
              <a:buSzTx/>
              <a:buFontTx/>
              <a:buNone/>
            </a:pPr>
            <a:r>
              <a:rPr kumimoji="1" lang="zh-CN" altLang="en-US" sz="4400" b="0">
                <a:latin typeface="Tahoma" panose="020B0604030504040204" pitchFamily="34" charset="0"/>
                <a:ea typeface="隶书" pitchFamily="49" charset="-122"/>
              </a:rPr>
              <a:t>运行多个程序。或者说是由多个</a:t>
            </a:r>
          </a:p>
          <a:p>
            <a:pPr eaLnBrk="1" hangingPunct="1">
              <a:spcBef>
                <a:spcPct val="0"/>
              </a:spcBef>
              <a:buClrTx/>
              <a:buSzTx/>
              <a:buFontTx/>
              <a:buNone/>
            </a:pPr>
            <a:r>
              <a:rPr kumimoji="1" lang="zh-CN" altLang="en-US" sz="4400" b="0">
                <a:latin typeface="Tahoma" panose="020B0604030504040204" pitchFamily="34" charset="0"/>
                <a:ea typeface="隶书" pitchFamily="49" charset="-122"/>
              </a:rPr>
              <a:t>程序轮班地</a:t>
            </a:r>
            <a:r>
              <a:rPr kumimoji="1" lang="zh-CN" altLang="en-US" sz="4400" b="0">
                <a:solidFill>
                  <a:srgbClr val="CC0066"/>
                </a:solidFill>
                <a:latin typeface="Tahoma" panose="020B0604030504040204" pitchFamily="34" charset="0"/>
                <a:ea typeface="隶书" pitchFamily="49" charset="-122"/>
              </a:rPr>
              <a:t>占用</a:t>
            </a:r>
            <a:r>
              <a:rPr kumimoji="1" lang="zh-CN" altLang="en-US" sz="4400" b="0">
                <a:latin typeface="Tahoma" panose="020B0604030504040204" pitchFamily="34" charset="0"/>
                <a:ea typeface="隶书" pitchFamily="49" charset="-122"/>
              </a:rPr>
              <a:t>处理器这个资源。</a:t>
            </a:r>
          </a:p>
          <a:p>
            <a:pPr eaLnBrk="1" hangingPunct="1">
              <a:spcBef>
                <a:spcPct val="0"/>
              </a:spcBef>
              <a:buClrTx/>
              <a:buSzTx/>
              <a:buFontTx/>
              <a:buNone/>
            </a:pPr>
            <a:r>
              <a:rPr kumimoji="1" lang="zh-CN" altLang="en-US" sz="4400" b="0">
                <a:latin typeface="Tahoma" panose="020B0604030504040204" pitchFamily="34" charset="0"/>
                <a:ea typeface="隶书" pitchFamily="49" charset="-122"/>
              </a:rPr>
              <a:t>且在占用这个资源期间，并不一</a:t>
            </a:r>
          </a:p>
          <a:p>
            <a:pPr eaLnBrk="1" hangingPunct="1">
              <a:spcBef>
                <a:spcPct val="0"/>
              </a:spcBef>
              <a:buClrTx/>
              <a:buSzTx/>
              <a:buFontTx/>
              <a:buNone/>
            </a:pPr>
            <a:r>
              <a:rPr kumimoji="1" lang="zh-CN" altLang="en-US" sz="4400" b="0">
                <a:latin typeface="Tahoma" panose="020B0604030504040204" pitchFamily="34" charset="0"/>
                <a:ea typeface="隶书" pitchFamily="49" charset="-122"/>
              </a:rPr>
              <a:t>定能够把程序运行完毕。</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grpSp>
        <p:nvGrpSpPr>
          <p:cNvPr id="2" name="Group 5">
            <a:extLst>
              <a:ext uri="{FF2B5EF4-FFF2-40B4-BE49-F238E27FC236}">
                <a16:creationId xmlns:a16="http://schemas.microsoft.com/office/drawing/2014/main" id="{D0BCDA2D-D258-99F5-4C4B-CEABB6D9997B}"/>
              </a:ext>
            </a:extLst>
          </p:cNvPr>
          <p:cNvGrpSpPr>
            <a:grpSpLocks/>
          </p:cNvGrpSpPr>
          <p:nvPr/>
        </p:nvGrpSpPr>
        <p:grpSpPr bwMode="auto">
          <a:xfrm>
            <a:off x="1600200" y="1905000"/>
            <a:ext cx="7239000" cy="4240213"/>
            <a:chOff x="1056" y="1200"/>
            <a:chExt cx="4560" cy="2671"/>
          </a:xfrm>
        </p:grpSpPr>
        <p:pic>
          <p:nvPicPr>
            <p:cNvPr id="33802" name="Picture 6">
              <a:extLst>
                <a:ext uri="{FF2B5EF4-FFF2-40B4-BE49-F238E27FC236}">
                  <a16:creationId xmlns:a16="http://schemas.microsoft.com/office/drawing/2014/main" id="{21B5712A-7DC9-0215-FDED-1BA2FD492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375" t="25000" r="35938" b="32292"/>
            <a:stretch>
              <a:fillRect/>
            </a:stretch>
          </p:blipFill>
          <p:spPr bwMode="auto">
            <a:xfrm>
              <a:off x="1056" y="1200"/>
              <a:ext cx="4560" cy="2671"/>
            </a:xfrm>
            <a:prstGeom prst="rect">
              <a:avLst/>
            </a:prstGeom>
            <a:noFill/>
            <a:ln w="762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3803" name="Text Box 7">
              <a:extLst>
                <a:ext uri="{FF2B5EF4-FFF2-40B4-BE49-F238E27FC236}">
                  <a16:creationId xmlns:a16="http://schemas.microsoft.com/office/drawing/2014/main" id="{15273496-5DDD-1422-9860-18D3F8A238AD}"/>
                </a:ext>
              </a:extLst>
            </p:cNvPr>
            <p:cNvSpPr txBox="1">
              <a:spLocks noChangeArrowheads="1"/>
            </p:cNvSpPr>
            <p:nvPr/>
          </p:nvSpPr>
          <p:spPr bwMode="auto">
            <a:xfrm>
              <a:off x="3840" y="1296"/>
              <a:ext cx="1684" cy="672"/>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b="0">
                  <a:solidFill>
                    <a:srgbClr val="FF0000"/>
                  </a:solidFill>
                  <a:latin typeface="Tahoma" panose="020B0604030504040204" pitchFamily="34" charset="0"/>
                  <a:ea typeface="隶书" pitchFamily="49" charset="-122"/>
                </a:rPr>
                <a:t>并发过程</a:t>
              </a:r>
            </a:p>
            <a:p>
              <a:pPr algn="ctr" eaLnBrk="1" hangingPunct="1">
                <a:spcBef>
                  <a:spcPct val="0"/>
                </a:spcBef>
                <a:buClrTx/>
                <a:buSzTx/>
                <a:buFontTx/>
                <a:buNone/>
              </a:pPr>
              <a:r>
                <a:rPr kumimoji="1" lang="zh-CN" altLang="en-US" b="0">
                  <a:solidFill>
                    <a:srgbClr val="FF0000"/>
                  </a:solidFill>
                  <a:latin typeface="Tahoma" panose="020B0604030504040204" pitchFamily="34" charset="0"/>
                  <a:ea typeface="隶书" pitchFamily="49" charset="-122"/>
                </a:rPr>
                <a:t>示意图</a:t>
              </a:r>
              <a:endParaRPr kumimoji="1" lang="zh-CN" altLang="en-US" b="0">
                <a:latin typeface="Tahoma" panose="020B0604030504040204" pitchFamily="34" charset="0"/>
                <a:ea typeface="隶书" pitchFamily="49" charset="-122"/>
              </a:endParaRPr>
            </a:p>
          </p:txBody>
        </p:sp>
      </p:grpSp>
      <p:sp>
        <p:nvSpPr>
          <p:cNvPr id="74760" name="AutoShape 8">
            <a:extLst>
              <a:ext uri="{FF2B5EF4-FFF2-40B4-BE49-F238E27FC236}">
                <a16:creationId xmlns:a16="http://schemas.microsoft.com/office/drawing/2014/main" id="{CA972395-8824-16F0-B8AF-2714871CE08A}"/>
              </a:ext>
            </a:extLst>
          </p:cNvPr>
          <p:cNvSpPr>
            <a:spLocks noChangeArrowheads="1"/>
          </p:cNvSpPr>
          <p:nvPr/>
        </p:nvSpPr>
        <p:spPr bwMode="auto">
          <a:xfrm>
            <a:off x="914400" y="1524000"/>
            <a:ext cx="5029200" cy="1981200"/>
          </a:xfrm>
          <a:prstGeom prst="wedgeRectCallout">
            <a:avLst>
              <a:gd name="adj1" fmla="val -93"/>
              <a:gd name="adj2" fmla="val 66185"/>
            </a:avLst>
          </a:prstGeom>
          <a:solidFill>
            <a:srgbClr val="75F98B"/>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3600" b="0">
                <a:latin typeface="Tahoma" panose="020B0604030504040204" pitchFamily="34" charset="0"/>
                <a:ea typeface="隶书" pitchFamily="49" charset="-122"/>
              </a:rPr>
              <a:t>处理器如何进行程序的</a:t>
            </a:r>
          </a:p>
          <a:p>
            <a:pPr algn="ctr" eaLnBrk="1" hangingPunct="1">
              <a:spcBef>
                <a:spcPct val="0"/>
              </a:spcBef>
              <a:buClrTx/>
              <a:buSzTx/>
              <a:buFontTx/>
              <a:buNone/>
            </a:pPr>
            <a:r>
              <a:rPr kumimoji="1" lang="zh-CN" altLang="en-US" sz="8000" b="0">
                <a:solidFill>
                  <a:srgbClr val="FF0000"/>
                </a:solidFill>
                <a:latin typeface="Tahoma" panose="020B0604030504040204" pitchFamily="34" charset="0"/>
                <a:ea typeface="隶书" pitchFamily="49" charset="-122"/>
              </a:rPr>
              <a:t>切换？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56"/>
                                        </p:tgtEl>
                                        <p:attrNameLst>
                                          <p:attrName>style.visibility</p:attrName>
                                        </p:attrNameLst>
                                      </p:cBhvr>
                                      <p:to>
                                        <p:strVal val="visible"/>
                                      </p:to>
                                    </p:set>
                                    <p:anim calcmode="lin" valueType="num">
                                      <p:cBhvr additive="base">
                                        <p:cTn id="7" dur="500" fill="hold"/>
                                        <p:tgtEl>
                                          <p:spTgt spid="74756"/>
                                        </p:tgtEl>
                                        <p:attrNameLst>
                                          <p:attrName>ppt_x</p:attrName>
                                        </p:attrNameLst>
                                      </p:cBhvr>
                                      <p:tavLst>
                                        <p:tav tm="0">
                                          <p:val>
                                            <p:strVal val="0-#ppt_w/2"/>
                                          </p:val>
                                        </p:tav>
                                        <p:tav tm="100000">
                                          <p:val>
                                            <p:strVal val="#ppt_x"/>
                                          </p:val>
                                        </p:tav>
                                      </p:tavLst>
                                    </p:anim>
                                    <p:anim calcmode="lin" valueType="num">
                                      <p:cBhvr additive="base">
                                        <p:cTn id="8" dur="500" fill="hold"/>
                                        <p:tgtEl>
                                          <p:spTgt spid="747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60"/>
                                        </p:tgtEl>
                                        <p:attrNameLst>
                                          <p:attrName>style.visibility</p:attrName>
                                        </p:attrNameLst>
                                      </p:cBhvr>
                                      <p:to>
                                        <p:strVal val="visible"/>
                                      </p:to>
                                    </p:set>
                                    <p:anim calcmode="lin" valueType="num">
                                      <p:cBhvr additive="base">
                                        <p:cTn id="19" dur="500" fill="hold"/>
                                        <p:tgtEl>
                                          <p:spTgt spid="74760"/>
                                        </p:tgtEl>
                                        <p:attrNameLst>
                                          <p:attrName>ppt_x</p:attrName>
                                        </p:attrNameLst>
                                      </p:cBhvr>
                                      <p:tavLst>
                                        <p:tav tm="0">
                                          <p:val>
                                            <p:strVal val="0-#ppt_w/2"/>
                                          </p:val>
                                        </p:tav>
                                        <p:tav tm="100000">
                                          <p:val>
                                            <p:strVal val="#ppt_x"/>
                                          </p:val>
                                        </p:tav>
                                      </p:tavLst>
                                    </p:anim>
                                    <p:anim calcmode="lin" valueType="num">
                                      <p:cBhvr additive="base">
                                        <p:cTn id="20" dur="500" fill="hold"/>
                                        <p:tgtEl>
                                          <p:spTgt spid="747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nimBg="1" autoUpdateAnimBg="0"/>
      <p:bldP spid="74760"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1">
            <a:extLst>
              <a:ext uri="{FF2B5EF4-FFF2-40B4-BE49-F238E27FC236}">
                <a16:creationId xmlns:a16="http://schemas.microsoft.com/office/drawing/2014/main" id="{CB478349-6612-B8C4-F25B-562A382A3D3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4819" name="灯片编号占位符 2">
            <a:extLst>
              <a:ext uri="{FF2B5EF4-FFF2-40B4-BE49-F238E27FC236}">
                <a16:creationId xmlns:a16="http://schemas.microsoft.com/office/drawing/2014/main" id="{DC5DF64F-8F69-46FF-0A16-BD17D16BE06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01851C9-44EE-4E73-8ACA-8B2A448EAA7D}" type="slidenum">
              <a:rPr lang="en-US" altLang="zh-CN" sz="1200" smtClean="0">
                <a:solidFill>
                  <a:srgbClr val="3366FF"/>
                </a:solidFill>
                <a:latin typeface="Arial Black" panose="020B0A04020102020204" pitchFamily="34" charset="0"/>
              </a:rPr>
              <a:pPr>
                <a:spcBef>
                  <a:spcPct val="0"/>
                </a:spcBef>
                <a:buClrTx/>
                <a:buSzTx/>
                <a:buFontTx/>
                <a:buNone/>
              </a:pPr>
              <a:t>31</a:t>
            </a:fld>
            <a:endParaRPr lang="en-US" altLang="zh-CN" sz="1200">
              <a:solidFill>
                <a:srgbClr val="3366FF"/>
              </a:solidFill>
              <a:latin typeface="Arial Black" panose="020B0A04020102020204" pitchFamily="34" charset="0"/>
            </a:endParaRPr>
          </a:p>
        </p:txBody>
      </p:sp>
      <p:sp>
        <p:nvSpPr>
          <p:cNvPr id="34820" name="日期占位符 3">
            <a:extLst>
              <a:ext uri="{FF2B5EF4-FFF2-40B4-BE49-F238E27FC236}">
                <a16:creationId xmlns:a16="http://schemas.microsoft.com/office/drawing/2014/main" id="{636860F5-E493-6198-772F-B4FA776E4C7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E92673B-9E41-4786-B90A-677A515A66E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4821" name="Text Box 2">
            <a:extLst>
              <a:ext uri="{FF2B5EF4-FFF2-40B4-BE49-F238E27FC236}">
                <a16:creationId xmlns:a16="http://schemas.microsoft.com/office/drawing/2014/main" id="{CA2E1FEF-255B-F3C2-9183-7EFF305A70D1}"/>
              </a:ext>
            </a:extLst>
          </p:cNvPr>
          <p:cNvSpPr txBox="1">
            <a:spLocks noChangeArrowheads="1"/>
          </p:cNvSpPr>
          <p:nvPr/>
        </p:nvSpPr>
        <p:spPr bwMode="auto">
          <a:xfrm>
            <a:off x="1035050" y="457200"/>
            <a:ext cx="70421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solidFill>
                  <a:srgbClr val="990033"/>
                </a:solidFill>
                <a:latin typeface="Tahoma" panose="020B0604030504040204" pitchFamily="34" charset="0"/>
                <a:ea typeface="隶书" pitchFamily="49" charset="-122"/>
              </a:rPr>
              <a:t>程序的切换（两句话）</a:t>
            </a:r>
          </a:p>
        </p:txBody>
      </p:sp>
      <p:sp>
        <p:nvSpPr>
          <p:cNvPr id="34822" name="Text Box 3">
            <a:extLst>
              <a:ext uri="{FF2B5EF4-FFF2-40B4-BE49-F238E27FC236}">
                <a16:creationId xmlns:a16="http://schemas.microsoft.com/office/drawing/2014/main" id="{6EC51D13-84C3-0ED8-730B-1953FA840E83}"/>
              </a:ext>
            </a:extLst>
          </p:cNvPr>
          <p:cNvSpPr txBox="1">
            <a:spLocks noChangeArrowheads="1"/>
          </p:cNvSpPr>
          <p:nvPr/>
        </p:nvSpPr>
        <p:spPr bwMode="auto">
          <a:xfrm>
            <a:off x="914400" y="1747838"/>
            <a:ext cx="7696200" cy="1812925"/>
          </a:xfrm>
          <a:prstGeom prst="rect">
            <a:avLst/>
          </a:prstGeom>
          <a:solidFill>
            <a:schemeClr val="folHlink"/>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latin typeface="Tahoma" panose="020B0604030504040204" pitchFamily="34" charset="0"/>
                <a:ea typeface="隶书" pitchFamily="49" charset="-122"/>
              </a:rPr>
              <a:t>处理器是个傻瓜，</a:t>
            </a:r>
            <a:r>
              <a:rPr kumimoji="1" lang="en-US" altLang="zh-CN" sz="4800">
                <a:solidFill>
                  <a:srgbClr val="FF0000"/>
                </a:solidFill>
                <a:latin typeface="Times New Roman" panose="02020603050405020304" pitchFamily="18" charset="0"/>
                <a:ea typeface="隶书" pitchFamily="49" charset="-122"/>
              </a:rPr>
              <a:t>PC</a:t>
            </a:r>
            <a:r>
              <a:rPr kumimoji="1" lang="zh-CN" altLang="en-US" sz="5400" b="0">
                <a:latin typeface="Tahoma" panose="020B0604030504040204" pitchFamily="34" charset="0"/>
                <a:ea typeface="隶书" pitchFamily="49" charset="-122"/>
              </a:rPr>
              <a:t>让它干啥，它就干啥。</a:t>
            </a:r>
          </a:p>
        </p:txBody>
      </p:sp>
      <p:sp>
        <p:nvSpPr>
          <p:cNvPr id="34823" name="Text Box 4">
            <a:extLst>
              <a:ext uri="{FF2B5EF4-FFF2-40B4-BE49-F238E27FC236}">
                <a16:creationId xmlns:a16="http://schemas.microsoft.com/office/drawing/2014/main" id="{BB35E74D-AC3E-A9AD-1C2F-D1404506797A}"/>
              </a:ext>
            </a:extLst>
          </p:cNvPr>
          <p:cNvSpPr txBox="1">
            <a:spLocks noChangeArrowheads="1"/>
          </p:cNvSpPr>
          <p:nvPr/>
        </p:nvSpPr>
        <p:spPr bwMode="auto">
          <a:xfrm>
            <a:off x="914400" y="3978275"/>
            <a:ext cx="8032750" cy="1812925"/>
          </a:xfrm>
          <a:prstGeom prst="rect">
            <a:avLst/>
          </a:prstGeom>
          <a:solidFill>
            <a:schemeClr val="folHlink"/>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5400">
                <a:solidFill>
                  <a:srgbClr val="FF0000"/>
                </a:solidFill>
                <a:latin typeface="Times New Roman" panose="02020603050405020304" pitchFamily="18" charset="0"/>
                <a:ea typeface="隶书" pitchFamily="49" charset="-122"/>
              </a:rPr>
              <a:t>PC</a:t>
            </a:r>
            <a:r>
              <a:rPr kumimoji="1" lang="zh-CN" altLang="en-US" sz="5400" b="0">
                <a:latin typeface="Tahoma" panose="020B0604030504040204" pitchFamily="34" charset="0"/>
                <a:ea typeface="隶书" pitchFamily="49" charset="-122"/>
              </a:rPr>
              <a:t>是个指路器，它指向哪</a:t>
            </a:r>
          </a:p>
          <a:p>
            <a:pPr eaLnBrk="1" hangingPunct="1">
              <a:spcBef>
                <a:spcPct val="0"/>
              </a:spcBef>
              <a:buClrTx/>
              <a:buSzTx/>
              <a:buFontTx/>
              <a:buNone/>
            </a:pPr>
            <a:r>
              <a:rPr kumimoji="1" lang="zh-CN" altLang="en-US" sz="5400" b="0">
                <a:latin typeface="Tahoma" panose="020B0604030504040204" pitchFamily="34" charset="0"/>
                <a:ea typeface="隶书" pitchFamily="49" charset="-122"/>
              </a:rPr>
              <a:t>儿，处理器就去哪儿。</a:t>
            </a:r>
          </a:p>
        </p:txBody>
      </p:sp>
      <p:sp>
        <p:nvSpPr>
          <p:cNvPr id="75781" name="Text Box 5">
            <a:extLst>
              <a:ext uri="{FF2B5EF4-FFF2-40B4-BE49-F238E27FC236}">
                <a16:creationId xmlns:a16="http://schemas.microsoft.com/office/drawing/2014/main" id="{C26178DB-2269-7D3B-1AF4-A1B39D0C9557}"/>
              </a:ext>
            </a:extLst>
          </p:cNvPr>
          <p:cNvSpPr txBox="1">
            <a:spLocks noChangeArrowheads="1"/>
          </p:cNvSpPr>
          <p:nvPr/>
        </p:nvSpPr>
        <p:spPr bwMode="auto">
          <a:xfrm>
            <a:off x="1096963" y="1931988"/>
            <a:ext cx="7239000" cy="3416300"/>
          </a:xfrm>
          <a:prstGeom prst="rect">
            <a:avLst/>
          </a:prstGeom>
          <a:solidFill>
            <a:schemeClr val="folHlink"/>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latin typeface="Tahoma" panose="020B0604030504040204" pitchFamily="34" charset="0"/>
                <a:ea typeface="隶书" pitchFamily="49" charset="-122"/>
              </a:rPr>
              <a:t>从此可以知道，哪个程序占有了</a:t>
            </a:r>
            <a:r>
              <a:rPr kumimoji="1" lang="en-US" altLang="zh-CN" sz="4800">
                <a:solidFill>
                  <a:srgbClr val="FF0000"/>
                </a:solidFill>
                <a:latin typeface="Times New Roman" panose="02020603050405020304" pitchFamily="18" charset="0"/>
                <a:ea typeface="隶书" pitchFamily="49" charset="-122"/>
              </a:rPr>
              <a:t>PC</a:t>
            </a:r>
            <a:r>
              <a:rPr kumimoji="1" lang="zh-CN" altLang="en-US" sz="5400" b="0">
                <a:latin typeface="Tahoma" panose="020B0604030504040204" pitchFamily="34" charset="0"/>
                <a:ea typeface="隶书" pitchFamily="49" charset="-122"/>
              </a:rPr>
              <a:t>，哪个程序就占有了处理器。</a:t>
            </a:r>
          </a:p>
          <a:p>
            <a:pPr eaLnBrk="1" hangingPunct="1">
              <a:spcBef>
                <a:spcPct val="0"/>
              </a:spcBef>
              <a:buClrTx/>
              <a:buSzTx/>
              <a:buFontTx/>
              <a:buNone/>
            </a:pPr>
            <a:endParaRPr kumimoji="1" lang="zh-CN" altLang="en-US" sz="5400" b="0">
              <a:latin typeface="Tahoma" panose="020B0604030504040204" pitchFamily="34" charset="0"/>
              <a:ea typeface="隶书" pitchFamily="49" charset="-122"/>
            </a:endParaRPr>
          </a:p>
        </p:txBody>
      </p:sp>
      <p:sp>
        <p:nvSpPr>
          <p:cNvPr id="75785" name="Text Box 9">
            <a:extLst>
              <a:ext uri="{FF2B5EF4-FFF2-40B4-BE49-F238E27FC236}">
                <a16:creationId xmlns:a16="http://schemas.microsoft.com/office/drawing/2014/main" id="{668E38A9-D6C1-7C7D-C5B5-D99C08C65333}"/>
              </a:ext>
            </a:extLst>
          </p:cNvPr>
          <p:cNvSpPr txBox="1">
            <a:spLocks noChangeArrowheads="1"/>
          </p:cNvSpPr>
          <p:nvPr/>
        </p:nvSpPr>
        <p:spPr bwMode="auto">
          <a:xfrm>
            <a:off x="654050" y="1844675"/>
            <a:ext cx="8489950" cy="3732213"/>
          </a:xfrm>
          <a:prstGeom prst="rect">
            <a:avLst/>
          </a:prstGeom>
          <a:solidFill>
            <a:srgbClr val="72FCEF"/>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a:latin typeface="Times New Roman" panose="02020603050405020304" pitchFamily="18" charset="0"/>
              <a:ea typeface="隶书" pitchFamily="49" charset="-122"/>
            </a:endParaRPr>
          </a:p>
          <a:p>
            <a:pPr eaLnBrk="1" hangingPunct="1">
              <a:spcBef>
                <a:spcPct val="0"/>
              </a:spcBef>
              <a:buClrTx/>
              <a:buSzTx/>
              <a:buFontTx/>
              <a:buNone/>
            </a:pPr>
            <a:r>
              <a:rPr kumimoji="1" lang="zh-CN" altLang="en-US" sz="5400">
                <a:latin typeface="Times New Roman" panose="02020603050405020304" pitchFamily="18" charset="0"/>
                <a:ea typeface="隶书" pitchFamily="49" charset="-122"/>
              </a:rPr>
              <a:t>深刻地理解</a:t>
            </a:r>
            <a:r>
              <a:rPr kumimoji="1" lang="en-US" altLang="zh-CN" sz="7200">
                <a:solidFill>
                  <a:srgbClr val="FF0000"/>
                </a:solidFill>
                <a:latin typeface="Times New Roman" panose="02020603050405020304" pitchFamily="18" charset="0"/>
                <a:ea typeface="隶书" pitchFamily="49" charset="-122"/>
              </a:rPr>
              <a:t>PC</a:t>
            </a:r>
            <a:r>
              <a:rPr kumimoji="1" lang="zh-CN" altLang="en-US" sz="5400" b="0">
                <a:latin typeface="Tahoma" panose="020B0604030504040204" pitchFamily="34" charset="0"/>
                <a:ea typeface="隶书" pitchFamily="49" charset="-122"/>
              </a:rPr>
              <a:t>是理解系统</a:t>
            </a:r>
          </a:p>
          <a:p>
            <a:pPr eaLnBrk="1" hangingPunct="1">
              <a:spcBef>
                <a:spcPct val="0"/>
              </a:spcBef>
              <a:buClrTx/>
              <a:buSzTx/>
              <a:buFontTx/>
              <a:buNone/>
            </a:pPr>
            <a:r>
              <a:rPr kumimoji="1" lang="zh-CN" altLang="en-US" sz="5400" b="0">
                <a:latin typeface="Tahoma" panose="020B0604030504040204" pitchFamily="34" charset="0"/>
                <a:ea typeface="隶书" pitchFamily="49" charset="-122"/>
              </a:rPr>
              <a:t>进行程序切换动作的关键。</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1"/>
                                        </p:tgtEl>
                                        <p:attrNameLst>
                                          <p:attrName>style.visibility</p:attrName>
                                        </p:attrNameLst>
                                      </p:cBhvr>
                                      <p:to>
                                        <p:strVal val="visible"/>
                                      </p:to>
                                    </p:set>
                                    <p:anim calcmode="lin" valueType="num">
                                      <p:cBhvr additive="base">
                                        <p:cTn id="7" dur="500" fill="hold"/>
                                        <p:tgtEl>
                                          <p:spTgt spid="75781"/>
                                        </p:tgtEl>
                                        <p:attrNameLst>
                                          <p:attrName>ppt_x</p:attrName>
                                        </p:attrNameLst>
                                      </p:cBhvr>
                                      <p:tavLst>
                                        <p:tav tm="0">
                                          <p:val>
                                            <p:strVal val="0-#ppt_w/2"/>
                                          </p:val>
                                        </p:tav>
                                        <p:tav tm="100000">
                                          <p:val>
                                            <p:strVal val="#ppt_x"/>
                                          </p:val>
                                        </p:tav>
                                      </p:tavLst>
                                    </p:anim>
                                    <p:anim calcmode="lin" valueType="num">
                                      <p:cBhvr additive="base">
                                        <p:cTn id="8" dur="500" fill="hold"/>
                                        <p:tgtEl>
                                          <p:spTgt spid="7578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785"/>
                                        </p:tgtEl>
                                        <p:attrNameLst>
                                          <p:attrName>style.visibility</p:attrName>
                                        </p:attrNameLst>
                                      </p:cBhvr>
                                      <p:to>
                                        <p:strVal val="visible"/>
                                      </p:to>
                                    </p:set>
                                    <p:anim calcmode="lin" valueType="num">
                                      <p:cBhvr additive="base">
                                        <p:cTn id="13" dur="500" fill="hold"/>
                                        <p:tgtEl>
                                          <p:spTgt spid="75785"/>
                                        </p:tgtEl>
                                        <p:attrNameLst>
                                          <p:attrName>ppt_x</p:attrName>
                                        </p:attrNameLst>
                                      </p:cBhvr>
                                      <p:tavLst>
                                        <p:tav tm="0">
                                          <p:val>
                                            <p:strVal val="0-#ppt_w/2"/>
                                          </p:val>
                                        </p:tav>
                                        <p:tav tm="100000">
                                          <p:val>
                                            <p:strVal val="#ppt_x"/>
                                          </p:val>
                                        </p:tav>
                                      </p:tavLst>
                                    </p:anim>
                                    <p:anim calcmode="lin" valueType="num">
                                      <p:cBhvr additive="base">
                                        <p:cTn id="14" dur="500" fill="hold"/>
                                        <p:tgtEl>
                                          <p:spTgt spid="757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animBg="1" autoUpdateAnimBg="0"/>
      <p:bldP spid="75785"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1">
            <a:extLst>
              <a:ext uri="{FF2B5EF4-FFF2-40B4-BE49-F238E27FC236}">
                <a16:creationId xmlns:a16="http://schemas.microsoft.com/office/drawing/2014/main" id="{E58A961C-5E9B-3B1D-9BF6-4243487BBF0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5843" name="灯片编号占位符 2">
            <a:extLst>
              <a:ext uri="{FF2B5EF4-FFF2-40B4-BE49-F238E27FC236}">
                <a16:creationId xmlns:a16="http://schemas.microsoft.com/office/drawing/2014/main" id="{80566C99-7E76-BDE8-1EAA-C979CBED55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04D93B4-BBDA-476C-9CDA-21F1E35838A1}" type="slidenum">
              <a:rPr lang="en-US" altLang="zh-CN" sz="1200" smtClean="0">
                <a:solidFill>
                  <a:srgbClr val="3366FF"/>
                </a:solidFill>
                <a:latin typeface="Arial Black" panose="020B0A04020102020204" pitchFamily="34" charset="0"/>
              </a:rPr>
              <a:pPr>
                <a:spcBef>
                  <a:spcPct val="0"/>
                </a:spcBef>
                <a:buClrTx/>
                <a:buSzTx/>
                <a:buFontTx/>
                <a:buNone/>
              </a:pPr>
              <a:t>32</a:t>
            </a:fld>
            <a:endParaRPr lang="en-US" altLang="zh-CN" sz="1200">
              <a:solidFill>
                <a:srgbClr val="3366FF"/>
              </a:solidFill>
              <a:latin typeface="Arial Black" panose="020B0A04020102020204" pitchFamily="34" charset="0"/>
            </a:endParaRPr>
          </a:p>
        </p:txBody>
      </p:sp>
      <p:sp>
        <p:nvSpPr>
          <p:cNvPr id="35844" name="日期占位符 3">
            <a:extLst>
              <a:ext uri="{FF2B5EF4-FFF2-40B4-BE49-F238E27FC236}">
                <a16:creationId xmlns:a16="http://schemas.microsoft.com/office/drawing/2014/main" id="{23AE4095-60C9-52A1-35B3-A5301648B6D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870FFE3-9AFD-42F9-ACFA-760A0ECEFDB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35845" name="Group 2">
            <a:extLst>
              <a:ext uri="{FF2B5EF4-FFF2-40B4-BE49-F238E27FC236}">
                <a16:creationId xmlns:a16="http://schemas.microsoft.com/office/drawing/2014/main" id="{10FD7C8C-309D-B53C-7FD1-3315E33CE1F4}"/>
              </a:ext>
            </a:extLst>
          </p:cNvPr>
          <p:cNvGrpSpPr>
            <a:grpSpLocks/>
          </p:cNvGrpSpPr>
          <p:nvPr/>
        </p:nvGrpSpPr>
        <p:grpSpPr bwMode="auto">
          <a:xfrm>
            <a:off x="1116013" y="2349500"/>
            <a:ext cx="7239000" cy="2635250"/>
            <a:chOff x="703" y="1480"/>
            <a:chExt cx="4560" cy="1660"/>
          </a:xfrm>
        </p:grpSpPr>
        <p:sp>
          <p:nvSpPr>
            <p:cNvPr id="35849" name="Text Box 3">
              <a:extLst>
                <a:ext uri="{FF2B5EF4-FFF2-40B4-BE49-F238E27FC236}">
                  <a16:creationId xmlns:a16="http://schemas.microsoft.com/office/drawing/2014/main" id="{4472A946-83E6-8087-408F-8EC942051306}"/>
                </a:ext>
              </a:extLst>
            </p:cNvPr>
            <p:cNvSpPr txBox="1">
              <a:spLocks noChangeArrowheads="1"/>
            </p:cNvSpPr>
            <p:nvPr/>
          </p:nvSpPr>
          <p:spPr bwMode="auto">
            <a:xfrm>
              <a:off x="703" y="1480"/>
              <a:ext cx="4560" cy="1660"/>
            </a:xfrm>
            <a:prstGeom prst="rect">
              <a:avLst/>
            </a:prstGeom>
            <a:solidFill>
              <a:schemeClr val="folHlink"/>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latin typeface="Tahoma" panose="020B0604030504040204" pitchFamily="34" charset="0"/>
                  <a:ea typeface="隶书" pitchFamily="49" charset="-122"/>
                </a:rPr>
                <a:t>所谓切换就是：</a:t>
              </a:r>
            </a:p>
            <a:p>
              <a:pPr algn="ctr" eaLnBrk="1" hangingPunct="1">
                <a:spcBef>
                  <a:spcPct val="0"/>
                </a:spcBef>
                <a:buClrTx/>
                <a:buSzTx/>
                <a:buFontTx/>
                <a:buNone/>
              </a:pPr>
              <a:r>
                <a:rPr kumimoji="1" lang="en-US" altLang="zh-CN" sz="5400" b="0">
                  <a:latin typeface="Tahoma" panose="020B0604030504040204" pitchFamily="34" charset="0"/>
                  <a:ea typeface="隶书" pitchFamily="49" charset="-122"/>
                </a:rPr>
                <a:t>PC     </a:t>
              </a:r>
              <a:r>
                <a:rPr kumimoji="1" lang="zh-CN" altLang="en-US" sz="5400" b="0">
                  <a:latin typeface="Tahoma" panose="020B0604030504040204" pitchFamily="34" charset="0"/>
                  <a:ea typeface="隶书" pitchFamily="49" charset="-122"/>
                </a:rPr>
                <a:t>目标地址</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sp>
          <p:nvSpPr>
            <p:cNvPr id="35850" name="AutoShape 4">
              <a:extLst>
                <a:ext uri="{FF2B5EF4-FFF2-40B4-BE49-F238E27FC236}">
                  <a16:creationId xmlns:a16="http://schemas.microsoft.com/office/drawing/2014/main" id="{476EA9DE-4244-28AE-9C2D-888B3C801867}"/>
                </a:ext>
              </a:extLst>
            </p:cNvPr>
            <p:cNvSpPr>
              <a:spLocks noChangeArrowheads="1"/>
            </p:cNvSpPr>
            <p:nvPr/>
          </p:nvSpPr>
          <p:spPr bwMode="auto">
            <a:xfrm flipH="1">
              <a:off x="2173" y="2200"/>
              <a:ext cx="480" cy="240"/>
            </a:xfrm>
            <a:prstGeom prst="rightArrow">
              <a:avLst>
                <a:gd name="adj1" fmla="val 50000"/>
                <a:gd name="adj2" fmla="val 50000"/>
              </a:avLst>
            </a:prstGeom>
            <a:solidFill>
              <a:schemeClr val="tx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sp>
        <p:nvSpPr>
          <p:cNvPr id="35846" name="Text Box 5">
            <a:extLst>
              <a:ext uri="{FF2B5EF4-FFF2-40B4-BE49-F238E27FC236}">
                <a16:creationId xmlns:a16="http://schemas.microsoft.com/office/drawing/2014/main" id="{9408268B-8022-7FF7-2663-55AADB00B32D}"/>
              </a:ext>
            </a:extLst>
          </p:cNvPr>
          <p:cNvSpPr txBox="1">
            <a:spLocks noChangeArrowheads="1"/>
          </p:cNvSpPr>
          <p:nvPr/>
        </p:nvSpPr>
        <p:spPr bwMode="auto">
          <a:xfrm>
            <a:off x="1035050" y="481013"/>
            <a:ext cx="37163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solidFill>
                  <a:srgbClr val="990033"/>
                </a:solidFill>
                <a:latin typeface="Tahoma" panose="020B0604030504040204" pitchFamily="34" charset="0"/>
                <a:ea typeface="隶书" pitchFamily="49" charset="-122"/>
              </a:rPr>
              <a:t>如何操作</a:t>
            </a:r>
            <a:r>
              <a:rPr kumimoji="1" lang="en-US" altLang="zh-CN" sz="5400" b="0">
                <a:solidFill>
                  <a:srgbClr val="990033"/>
                </a:solidFill>
                <a:latin typeface="Tahoma" panose="020B0604030504040204" pitchFamily="34" charset="0"/>
                <a:ea typeface="隶书" pitchFamily="49" charset="-122"/>
              </a:rPr>
              <a:t>PC</a:t>
            </a:r>
          </a:p>
        </p:txBody>
      </p:sp>
      <p:sp>
        <p:nvSpPr>
          <p:cNvPr id="76806" name="Text Box 6">
            <a:extLst>
              <a:ext uri="{FF2B5EF4-FFF2-40B4-BE49-F238E27FC236}">
                <a16:creationId xmlns:a16="http://schemas.microsoft.com/office/drawing/2014/main" id="{776E73B5-DE79-353B-9EC5-25212EF11A0F}"/>
              </a:ext>
            </a:extLst>
          </p:cNvPr>
          <p:cNvSpPr txBox="1">
            <a:spLocks noChangeArrowheads="1"/>
          </p:cNvSpPr>
          <p:nvPr/>
        </p:nvSpPr>
        <p:spPr bwMode="auto">
          <a:xfrm>
            <a:off x="1116013" y="1916113"/>
            <a:ext cx="7239000" cy="3457575"/>
          </a:xfrm>
          <a:prstGeom prst="rect">
            <a:avLst/>
          </a:prstGeom>
          <a:solidFill>
            <a:schemeClr val="folHlink"/>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b="0">
                <a:latin typeface="Tahoma" panose="020B0604030504040204" pitchFamily="34" charset="0"/>
                <a:ea typeface="隶书" pitchFamily="49" charset="-122"/>
              </a:rPr>
              <a:t>指令：</a:t>
            </a:r>
          </a:p>
          <a:p>
            <a:pPr eaLnBrk="1" hangingPunct="1">
              <a:spcBef>
                <a:spcPct val="0"/>
              </a:spcBef>
              <a:buClrTx/>
              <a:buSzTx/>
              <a:buFontTx/>
              <a:buNone/>
            </a:pPr>
            <a:r>
              <a:rPr kumimoji="1" lang="zh-CN" altLang="en-US" sz="5400" b="0">
                <a:latin typeface="Tahoma" panose="020B0604030504040204" pitchFamily="34" charset="0"/>
                <a:ea typeface="隶书" pitchFamily="49" charset="-122"/>
              </a:rPr>
              <a:t>不同的计算机类型的指令是不同的。</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sp>
        <p:nvSpPr>
          <p:cNvPr id="76807" name="Text Box 7">
            <a:extLst>
              <a:ext uri="{FF2B5EF4-FFF2-40B4-BE49-F238E27FC236}">
                <a16:creationId xmlns:a16="http://schemas.microsoft.com/office/drawing/2014/main" id="{4910E4F6-7141-6F7E-FA33-2ADABF468708}"/>
              </a:ext>
            </a:extLst>
          </p:cNvPr>
          <p:cNvSpPr txBox="1">
            <a:spLocks noChangeArrowheads="1"/>
          </p:cNvSpPr>
          <p:nvPr/>
        </p:nvSpPr>
        <p:spPr bwMode="auto">
          <a:xfrm>
            <a:off x="1042988" y="1670050"/>
            <a:ext cx="7389812" cy="4279900"/>
          </a:xfrm>
          <a:prstGeom prst="rect">
            <a:avLst/>
          </a:prstGeom>
          <a:solidFill>
            <a:schemeClr val="folHlink"/>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Char char="•"/>
            </a:pPr>
            <a:r>
              <a:rPr kumimoji="1" lang="zh-CN" altLang="en-US" sz="5400">
                <a:latin typeface="Times New Roman" panose="02020603050405020304" pitchFamily="18" charset="0"/>
                <a:ea typeface="隶书" pitchFamily="49" charset="-122"/>
              </a:rPr>
              <a:t>数据传送指令</a:t>
            </a:r>
          </a:p>
          <a:p>
            <a:pPr eaLnBrk="1" hangingPunct="1">
              <a:spcBef>
                <a:spcPct val="0"/>
              </a:spcBef>
              <a:buClrTx/>
              <a:buSzTx/>
              <a:buFontTx/>
              <a:buChar char="•"/>
            </a:pPr>
            <a:r>
              <a:rPr kumimoji="1" lang="zh-CN" altLang="en-US" sz="5400">
                <a:latin typeface="Times New Roman" panose="02020603050405020304" pitchFamily="18" charset="0"/>
                <a:ea typeface="隶书" pitchFamily="49" charset="-122"/>
              </a:rPr>
              <a:t>子程序返回指令（</a:t>
            </a:r>
            <a:r>
              <a:rPr kumimoji="1" lang="zh-CN" altLang="en-US" sz="5400">
                <a:solidFill>
                  <a:srgbClr val="FF0000"/>
                </a:solidFill>
                <a:latin typeface="Times New Roman" panose="02020603050405020304" pitchFamily="18" charset="0"/>
                <a:ea typeface="隶书" pitchFamily="49" charset="-122"/>
              </a:rPr>
              <a:t>由堆</a:t>
            </a:r>
          </a:p>
          <a:p>
            <a:pPr eaLnBrk="1" hangingPunct="1">
              <a:spcBef>
                <a:spcPct val="0"/>
              </a:spcBef>
              <a:buClrTx/>
              <a:buSzTx/>
              <a:buFontTx/>
              <a:buNone/>
            </a:pPr>
            <a:r>
              <a:rPr kumimoji="1" lang="zh-CN" altLang="en-US" sz="5400">
                <a:solidFill>
                  <a:srgbClr val="FF0000"/>
                </a:solidFill>
                <a:latin typeface="Times New Roman" panose="02020603050405020304" pitchFamily="18" charset="0"/>
                <a:ea typeface="隶书" pitchFamily="49" charset="-122"/>
              </a:rPr>
              <a:t>栈弹出</a:t>
            </a:r>
            <a:r>
              <a:rPr kumimoji="1" lang="zh-CN" altLang="en-US" sz="5400">
                <a:latin typeface="Times New Roman" panose="02020603050405020304" pitchFamily="18" charset="0"/>
                <a:ea typeface="隶书" pitchFamily="49" charset="-122"/>
              </a:rPr>
              <a:t>）</a:t>
            </a:r>
          </a:p>
          <a:p>
            <a:pPr eaLnBrk="1" hangingPunct="1">
              <a:spcBef>
                <a:spcPct val="0"/>
              </a:spcBef>
              <a:buClrTx/>
              <a:buSzTx/>
              <a:buFontTx/>
              <a:buChar char="•"/>
            </a:pPr>
            <a:r>
              <a:rPr kumimoji="1" lang="zh-CN" altLang="en-US" sz="5400">
                <a:latin typeface="Times New Roman" panose="02020603050405020304" pitchFamily="18" charset="0"/>
                <a:ea typeface="隶书" pitchFamily="49" charset="-122"/>
              </a:rPr>
              <a:t>中断、中断返回指令</a:t>
            </a:r>
          </a:p>
          <a:p>
            <a:pPr eaLnBrk="1" hangingPunct="1">
              <a:spcBef>
                <a:spcPct val="0"/>
              </a:spcBef>
              <a:buClrTx/>
              <a:buSzTx/>
              <a:buFontTx/>
              <a:buNone/>
            </a:pPr>
            <a:r>
              <a:rPr kumimoji="1" lang="zh-CN" altLang="en-US" sz="5400">
                <a:latin typeface="Times New Roman" panose="02020603050405020304" pitchFamily="18" charset="0"/>
                <a:ea typeface="隶书" pitchFamily="49" charset="-122"/>
              </a:rPr>
              <a:t>（</a:t>
            </a:r>
            <a:r>
              <a:rPr kumimoji="1" lang="zh-CN" altLang="en-US" sz="5400">
                <a:solidFill>
                  <a:srgbClr val="FF0000"/>
                </a:solidFill>
                <a:latin typeface="Times New Roman" panose="02020603050405020304" pitchFamily="18" charset="0"/>
                <a:ea typeface="隶书" pitchFamily="49" charset="-122"/>
              </a:rPr>
              <a:t>由堆栈弹出</a:t>
            </a:r>
            <a:r>
              <a:rPr kumimoji="1" lang="zh-CN" altLang="en-US" sz="5400">
                <a:latin typeface="Times New Roman" panose="02020603050405020304" pitchFamily="18" charset="0"/>
                <a:ea typeface="隶书"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6"/>
                                        </p:tgtEl>
                                        <p:attrNameLst>
                                          <p:attrName>style.visibility</p:attrName>
                                        </p:attrNameLst>
                                      </p:cBhvr>
                                      <p:to>
                                        <p:strVal val="visible"/>
                                      </p:to>
                                    </p:set>
                                    <p:anim calcmode="lin" valueType="num">
                                      <p:cBhvr additive="base">
                                        <p:cTn id="7" dur="500" fill="hold"/>
                                        <p:tgtEl>
                                          <p:spTgt spid="76806"/>
                                        </p:tgtEl>
                                        <p:attrNameLst>
                                          <p:attrName>ppt_x</p:attrName>
                                        </p:attrNameLst>
                                      </p:cBhvr>
                                      <p:tavLst>
                                        <p:tav tm="0">
                                          <p:val>
                                            <p:strVal val="0-#ppt_w/2"/>
                                          </p:val>
                                        </p:tav>
                                        <p:tav tm="100000">
                                          <p:val>
                                            <p:strVal val="#ppt_x"/>
                                          </p:val>
                                        </p:tav>
                                      </p:tavLst>
                                    </p:anim>
                                    <p:anim calcmode="lin" valueType="num">
                                      <p:cBhvr additive="base">
                                        <p:cTn id="8" dur="500" fill="hold"/>
                                        <p:tgtEl>
                                          <p:spTgt spid="768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6807"/>
                                        </p:tgtEl>
                                        <p:attrNameLst>
                                          <p:attrName>style.visibility</p:attrName>
                                        </p:attrNameLst>
                                      </p:cBhvr>
                                      <p:to>
                                        <p:strVal val="visible"/>
                                      </p:to>
                                    </p:set>
                                    <p:anim calcmode="lin" valueType="num">
                                      <p:cBhvr additive="base">
                                        <p:cTn id="13" dur="500" fill="hold"/>
                                        <p:tgtEl>
                                          <p:spTgt spid="76807"/>
                                        </p:tgtEl>
                                        <p:attrNameLst>
                                          <p:attrName>ppt_x</p:attrName>
                                        </p:attrNameLst>
                                      </p:cBhvr>
                                      <p:tavLst>
                                        <p:tav tm="0">
                                          <p:val>
                                            <p:strVal val="0-#ppt_w/2"/>
                                          </p:val>
                                        </p:tav>
                                        <p:tav tm="100000">
                                          <p:val>
                                            <p:strVal val="#ppt_x"/>
                                          </p:val>
                                        </p:tav>
                                      </p:tavLst>
                                    </p:anim>
                                    <p:anim calcmode="lin" valueType="num">
                                      <p:cBhvr additive="base">
                                        <p:cTn id="14" dur="500" fill="hold"/>
                                        <p:tgtEl>
                                          <p:spTgt spid="768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animBg="1" autoUpdateAnimBg="0"/>
      <p:bldP spid="76807"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1">
            <a:extLst>
              <a:ext uri="{FF2B5EF4-FFF2-40B4-BE49-F238E27FC236}">
                <a16:creationId xmlns:a16="http://schemas.microsoft.com/office/drawing/2014/main" id="{60E3C9F3-1586-ADDF-5FBB-4482886FFF5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6867" name="灯片编号占位符 2">
            <a:extLst>
              <a:ext uri="{FF2B5EF4-FFF2-40B4-BE49-F238E27FC236}">
                <a16:creationId xmlns:a16="http://schemas.microsoft.com/office/drawing/2014/main" id="{3C060BBD-CD4A-E786-318E-DF7089EC15B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97F38F7-B8F9-4F0B-88E0-57A0B06DFCFB}" type="slidenum">
              <a:rPr lang="en-US" altLang="zh-CN" sz="1200" smtClean="0">
                <a:solidFill>
                  <a:srgbClr val="3366FF"/>
                </a:solidFill>
                <a:latin typeface="Arial Black" panose="020B0A04020102020204" pitchFamily="34" charset="0"/>
              </a:rPr>
              <a:pPr>
                <a:spcBef>
                  <a:spcPct val="0"/>
                </a:spcBef>
                <a:buClrTx/>
                <a:buSzTx/>
                <a:buFontTx/>
                <a:buNone/>
              </a:pPr>
              <a:t>33</a:t>
            </a:fld>
            <a:endParaRPr lang="en-US" altLang="zh-CN" sz="1200">
              <a:solidFill>
                <a:srgbClr val="3366FF"/>
              </a:solidFill>
              <a:latin typeface="Arial Black" panose="020B0A04020102020204" pitchFamily="34" charset="0"/>
            </a:endParaRPr>
          </a:p>
        </p:txBody>
      </p:sp>
      <p:sp>
        <p:nvSpPr>
          <p:cNvPr id="36868" name="日期占位符 3">
            <a:extLst>
              <a:ext uri="{FF2B5EF4-FFF2-40B4-BE49-F238E27FC236}">
                <a16:creationId xmlns:a16="http://schemas.microsoft.com/office/drawing/2014/main" id="{EC93B7CC-96A3-E71E-E37F-92F60A5D431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3C4B954-2DEA-42ED-92F8-90F00F6F1E7F}"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7826" name="Text Box 2">
            <a:extLst>
              <a:ext uri="{FF2B5EF4-FFF2-40B4-BE49-F238E27FC236}">
                <a16:creationId xmlns:a16="http://schemas.microsoft.com/office/drawing/2014/main" id="{C788C50F-FC00-FD50-1C62-88EAD97D31A5}"/>
              </a:ext>
            </a:extLst>
          </p:cNvPr>
          <p:cNvSpPr txBox="1">
            <a:spLocks noChangeArrowheads="1"/>
          </p:cNvSpPr>
          <p:nvPr/>
        </p:nvSpPr>
        <p:spPr bwMode="auto">
          <a:xfrm>
            <a:off x="1116013" y="620713"/>
            <a:ext cx="1800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a:latin typeface="Times New Roman" panose="02020603050405020304" pitchFamily="18" charset="0"/>
                <a:ea typeface="隶书" pitchFamily="49" charset="-122"/>
              </a:rPr>
              <a:t>小结</a:t>
            </a:r>
          </a:p>
        </p:txBody>
      </p:sp>
      <p:sp>
        <p:nvSpPr>
          <p:cNvPr id="77827" name="Text Box 3">
            <a:extLst>
              <a:ext uri="{FF2B5EF4-FFF2-40B4-BE49-F238E27FC236}">
                <a16:creationId xmlns:a16="http://schemas.microsoft.com/office/drawing/2014/main" id="{173B05CF-57B6-737D-7710-5F43BCC881D0}"/>
              </a:ext>
            </a:extLst>
          </p:cNvPr>
          <p:cNvSpPr txBox="1">
            <a:spLocks noChangeArrowheads="1"/>
          </p:cNvSpPr>
          <p:nvPr/>
        </p:nvSpPr>
        <p:spPr bwMode="auto">
          <a:xfrm>
            <a:off x="838200" y="1676400"/>
            <a:ext cx="7315200" cy="3457575"/>
          </a:xfrm>
          <a:prstGeom prst="rect">
            <a:avLst/>
          </a:prstGeom>
          <a:solidFill>
            <a:schemeClr val="folHlink"/>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5400">
                <a:latin typeface="Times New Roman" panose="02020603050405020304" pitchFamily="18" charset="0"/>
                <a:ea typeface="隶书" pitchFamily="49" charset="-122"/>
              </a:rPr>
              <a:t>系统是通过把待运行程序的地址赋予程序计数器</a:t>
            </a:r>
            <a:r>
              <a:rPr kumimoji="1" lang="en-US" altLang="zh-CN" sz="5400">
                <a:solidFill>
                  <a:srgbClr val="FF0000"/>
                </a:solidFill>
                <a:latin typeface="Times New Roman" panose="02020603050405020304" pitchFamily="18" charset="0"/>
                <a:ea typeface="隶书" pitchFamily="49" charset="-122"/>
              </a:rPr>
              <a:t>PC</a:t>
            </a:r>
            <a:r>
              <a:rPr kumimoji="1" lang="zh-CN" altLang="en-US" sz="5400">
                <a:latin typeface="Times New Roman" panose="02020603050405020304" pitchFamily="18" charset="0"/>
                <a:ea typeface="隶书" pitchFamily="49" charset="-122"/>
              </a:rPr>
              <a:t>来实现程序的切换的。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additive="base">
                                        <p:cTn id="7" dur="500" fill="hold"/>
                                        <p:tgtEl>
                                          <p:spTgt spid="77826"/>
                                        </p:tgtEl>
                                        <p:attrNameLst>
                                          <p:attrName>ppt_x</p:attrName>
                                        </p:attrNameLst>
                                      </p:cBhvr>
                                      <p:tavLst>
                                        <p:tav tm="0">
                                          <p:val>
                                            <p:strVal val="0-#ppt_w/2"/>
                                          </p:val>
                                        </p:tav>
                                        <p:tav tm="100000">
                                          <p:val>
                                            <p:strVal val="#ppt_x"/>
                                          </p:val>
                                        </p:tav>
                                      </p:tavLst>
                                    </p:anim>
                                    <p:anim calcmode="lin" valueType="num">
                                      <p:cBhvr additive="base">
                                        <p:cTn id="8" dur="500" fill="hold"/>
                                        <p:tgtEl>
                                          <p:spTgt spid="778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27"/>
                                        </p:tgtEl>
                                        <p:attrNameLst>
                                          <p:attrName>style.visibility</p:attrName>
                                        </p:attrNameLst>
                                      </p:cBhvr>
                                      <p:to>
                                        <p:strVal val="visible"/>
                                      </p:to>
                                    </p:set>
                                    <p:anim calcmode="lin" valueType="num">
                                      <p:cBhvr additive="base">
                                        <p:cTn id="13" dur="500" fill="hold"/>
                                        <p:tgtEl>
                                          <p:spTgt spid="77827"/>
                                        </p:tgtEl>
                                        <p:attrNameLst>
                                          <p:attrName>ppt_x</p:attrName>
                                        </p:attrNameLst>
                                      </p:cBhvr>
                                      <p:tavLst>
                                        <p:tav tm="0">
                                          <p:val>
                                            <p:strVal val="0-#ppt_w/2"/>
                                          </p:val>
                                        </p:tav>
                                        <p:tav tm="100000">
                                          <p:val>
                                            <p:strVal val="#ppt_x"/>
                                          </p:val>
                                        </p:tav>
                                      </p:tavLst>
                                    </p:anim>
                                    <p:anim calcmode="lin" valueType="num">
                                      <p:cBhvr additive="base">
                                        <p:cTn id="14"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utoUpdateAnimBg="0"/>
      <p:bldP spid="77827"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1">
            <a:extLst>
              <a:ext uri="{FF2B5EF4-FFF2-40B4-BE49-F238E27FC236}">
                <a16:creationId xmlns:a16="http://schemas.microsoft.com/office/drawing/2014/main" id="{D6425087-26F1-E1D7-D556-A5626FD04D3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7891" name="灯片编号占位符 2">
            <a:extLst>
              <a:ext uri="{FF2B5EF4-FFF2-40B4-BE49-F238E27FC236}">
                <a16:creationId xmlns:a16="http://schemas.microsoft.com/office/drawing/2014/main" id="{724E1A53-8AF4-56E3-2397-89684A26AB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BCD4EE3-5867-46C7-872C-40B38880EE3B}" type="slidenum">
              <a:rPr lang="en-US" altLang="zh-CN" sz="1200" smtClean="0">
                <a:solidFill>
                  <a:srgbClr val="3366FF"/>
                </a:solidFill>
                <a:latin typeface="Arial Black" panose="020B0A04020102020204" pitchFamily="34" charset="0"/>
              </a:rPr>
              <a:pPr>
                <a:spcBef>
                  <a:spcPct val="0"/>
                </a:spcBef>
                <a:buClrTx/>
                <a:buSzTx/>
                <a:buFontTx/>
                <a:buNone/>
              </a:pPr>
              <a:t>34</a:t>
            </a:fld>
            <a:endParaRPr lang="en-US" altLang="zh-CN" sz="1200">
              <a:solidFill>
                <a:srgbClr val="3366FF"/>
              </a:solidFill>
              <a:latin typeface="Arial Black" panose="020B0A04020102020204" pitchFamily="34" charset="0"/>
            </a:endParaRPr>
          </a:p>
        </p:txBody>
      </p:sp>
      <p:sp>
        <p:nvSpPr>
          <p:cNvPr id="37892" name="日期占位符 3">
            <a:extLst>
              <a:ext uri="{FF2B5EF4-FFF2-40B4-BE49-F238E27FC236}">
                <a16:creationId xmlns:a16="http://schemas.microsoft.com/office/drawing/2014/main" id="{001C9BCB-C24D-F96C-D92B-7B033FDB182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5FEDBC4-3CD1-4DC0-8F6A-CA08A884D5C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37893" name="AutoShape 2">
            <a:extLst>
              <a:ext uri="{FF2B5EF4-FFF2-40B4-BE49-F238E27FC236}">
                <a16:creationId xmlns:a16="http://schemas.microsoft.com/office/drawing/2014/main" id="{DBAA9323-8883-4DBE-D72B-45807054E7E2}"/>
              </a:ext>
            </a:extLst>
          </p:cNvPr>
          <p:cNvSpPr>
            <a:spLocks noChangeArrowheads="1"/>
          </p:cNvSpPr>
          <p:nvPr/>
        </p:nvSpPr>
        <p:spPr bwMode="auto">
          <a:xfrm>
            <a:off x="5029200" y="1752600"/>
            <a:ext cx="1447800" cy="99060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894" name="AutoShape 3">
            <a:extLst>
              <a:ext uri="{FF2B5EF4-FFF2-40B4-BE49-F238E27FC236}">
                <a16:creationId xmlns:a16="http://schemas.microsoft.com/office/drawing/2014/main" id="{DD000DA4-174C-5064-8A9A-1B3EF36895B1}"/>
              </a:ext>
            </a:extLst>
          </p:cNvPr>
          <p:cNvSpPr>
            <a:spLocks noChangeArrowheads="1"/>
          </p:cNvSpPr>
          <p:nvPr/>
        </p:nvSpPr>
        <p:spPr bwMode="auto">
          <a:xfrm>
            <a:off x="5029200" y="5410200"/>
            <a:ext cx="1447800" cy="99060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895" name="AutoShape 4">
            <a:extLst>
              <a:ext uri="{FF2B5EF4-FFF2-40B4-BE49-F238E27FC236}">
                <a16:creationId xmlns:a16="http://schemas.microsoft.com/office/drawing/2014/main" id="{AC738FFB-DC89-BAB4-313E-A51B1E5C4683}"/>
              </a:ext>
            </a:extLst>
          </p:cNvPr>
          <p:cNvSpPr>
            <a:spLocks noChangeArrowheads="1"/>
          </p:cNvSpPr>
          <p:nvPr/>
        </p:nvSpPr>
        <p:spPr bwMode="auto">
          <a:xfrm>
            <a:off x="5029200" y="3505200"/>
            <a:ext cx="1447800" cy="114300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896" name="Rectangle 5">
            <a:extLst>
              <a:ext uri="{FF2B5EF4-FFF2-40B4-BE49-F238E27FC236}">
                <a16:creationId xmlns:a16="http://schemas.microsoft.com/office/drawing/2014/main" id="{1782161E-2206-A6E3-E928-2DEDFAB707BC}"/>
              </a:ext>
            </a:extLst>
          </p:cNvPr>
          <p:cNvSpPr>
            <a:spLocks noChangeArrowheads="1"/>
          </p:cNvSpPr>
          <p:nvPr/>
        </p:nvSpPr>
        <p:spPr bwMode="auto">
          <a:xfrm>
            <a:off x="5029200" y="2514600"/>
            <a:ext cx="1447800" cy="12192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897" name="Rectangle 6">
            <a:extLst>
              <a:ext uri="{FF2B5EF4-FFF2-40B4-BE49-F238E27FC236}">
                <a16:creationId xmlns:a16="http://schemas.microsoft.com/office/drawing/2014/main" id="{948C7204-3E10-6E0E-66E9-FC9CCE777931}"/>
              </a:ext>
            </a:extLst>
          </p:cNvPr>
          <p:cNvSpPr>
            <a:spLocks noChangeArrowheads="1"/>
          </p:cNvSpPr>
          <p:nvPr/>
        </p:nvSpPr>
        <p:spPr bwMode="auto">
          <a:xfrm>
            <a:off x="5029200" y="4419600"/>
            <a:ext cx="1447800" cy="1219200"/>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898" name="Line 7">
            <a:extLst>
              <a:ext uri="{FF2B5EF4-FFF2-40B4-BE49-F238E27FC236}">
                <a16:creationId xmlns:a16="http://schemas.microsoft.com/office/drawing/2014/main" id="{34A67283-D5DC-F61A-7C56-8452FD22D668}"/>
              </a:ext>
            </a:extLst>
          </p:cNvPr>
          <p:cNvSpPr>
            <a:spLocks noChangeShapeType="1"/>
          </p:cNvSpPr>
          <p:nvPr/>
        </p:nvSpPr>
        <p:spPr bwMode="auto">
          <a:xfrm>
            <a:off x="6477000" y="1752600"/>
            <a:ext cx="0" cy="457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899" name="Text Box 8">
            <a:extLst>
              <a:ext uri="{FF2B5EF4-FFF2-40B4-BE49-F238E27FC236}">
                <a16:creationId xmlns:a16="http://schemas.microsoft.com/office/drawing/2014/main" id="{518A732C-3ABC-6501-BE7B-0D983348620A}"/>
              </a:ext>
            </a:extLst>
          </p:cNvPr>
          <p:cNvSpPr txBox="1">
            <a:spLocks noChangeArrowheads="1"/>
          </p:cNvSpPr>
          <p:nvPr/>
        </p:nvSpPr>
        <p:spPr bwMode="auto">
          <a:xfrm>
            <a:off x="5029200" y="2895600"/>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任务代码</a:t>
            </a:r>
          </a:p>
        </p:txBody>
      </p:sp>
      <p:sp>
        <p:nvSpPr>
          <p:cNvPr id="37900" name="Text Box 9">
            <a:extLst>
              <a:ext uri="{FF2B5EF4-FFF2-40B4-BE49-F238E27FC236}">
                <a16:creationId xmlns:a16="http://schemas.microsoft.com/office/drawing/2014/main" id="{36110D29-7FC5-8578-6255-13F1CFE8B783}"/>
              </a:ext>
            </a:extLst>
          </p:cNvPr>
          <p:cNvSpPr txBox="1">
            <a:spLocks noChangeArrowheads="1"/>
          </p:cNvSpPr>
          <p:nvPr/>
        </p:nvSpPr>
        <p:spPr bwMode="auto">
          <a:xfrm>
            <a:off x="5029200" y="4800600"/>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任务堆栈</a:t>
            </a:r>
          </a:p>
        </p:txBody>
      </p:sp>
      <p:sp>
        <p:nvSpPr>
          <p:cNvPr id="78858" name="Text Box 10">
            <a:extLst>
              <a:ext uri="{FF2B5EF4-FFF2-40B4-BE49-F238E27FC236}">
                <a16:creationId xmlns:a16="http://schemas.microsoft.com/office/drawing/2014/main" id="{E01D45F9-DBD2-F5F6-9D83-991DCD2D51DE}"/>
              </a:ext>
            </a:extLst>
          </p:cNvPr>
          <p:cNvSpPr txBox="1">
            <a:spLocks noChangeArrowheads="1"/>
          </p:cNvSpPr>
          <p:nvPr/>
        </p:nvSpPr>
        <p:spPr bwMode="auto">
          <a:xfrm>
            <a:off x="5286375" y="1981200"/>
            <a:ext cx="941388" cy="457200"/>
          </a:xfrm>
          <a:prstGeom prst="rect">
            <a:avLst/>
          </a:prstGeom>
          <a:noFill/>
          <a:ln w="9525">
            <a:noFill/>
            <a:miter lim="800000"/>
            <a:headEnd/>
            <a:tailEnd/>
          </a:ln>
          <a:effectLst/>
        </p:spPr>
        <p:txBody>
          <a:bodyPr>
            <a:spAutoFit/>
          </a:bodyPr>
          <a:lstStyle/>
          <a:p>
            <a:pPr algn="ctr" eaLnBrk="1" hangingPunct="1">
              <a:defRPr/>
            </a:pPr>
            <a:r>
              <a:rPr kumimoji="1" lang="zh-CN" altLang="en-US" sz="2400">
                <a:effectLst>
                  <a:outerShdw blurRad="38100" dist="38100" dir="2700000" algn="tl">
                    <a:srgbClr val="C0C0C0"/>
                  </a:outerShdw>
                </a:effectLst>
                <a:latin typeface="Tahoma" pitchFamily="34" charset="0"/>
                <a:ea typeface="黑体" pitchFamily="2" charset="-122"/>
              </a:rPr>
              <a:t>内存</a:t>
            </a:r>
          </a:p>
        </p:txBody>
      </p:sp>
      <p:sp>
        <p:nvSpPr>
          <p:cNvPr id="37902" name="Line 11">
            <a:extLst>
              <a:ext uri="{FF2B5EF4-FFF2-40B4-BE49-F238E27FC236}">
                <a16:creationId xmlns:a16="http://schemas.microsoft.com/office/drawing/2014/main" id="{7EFF897A-8EF3-ADE2-6707-669251DF84B6}"/>
              </a:ext>
            </a:extLst>
          </p:cNvPr>
          <p:cNvSpPr>
            <a:spLocks noChangeShapeType="1"/>
          </p:cNvSpPr>
          <p:nvPr/>
        </p:nvSpPr>
        <p:spPr bwMode="auto">
          <a:xfrm>
            <a:off x="5029200" y="1752600"/>
            <a:ext cx="0" cy="457200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903" name="Rectangle 12">
            <a:extLst>
              <a:ext uri="{FF2B5EF4-FFF2-40B4-BE49-F238E27FC236}">
                <a16:creationId xmlns:a16="http://schemas.microsoft.com/office/drawing/2014/main" id="{80D900B2-BB94-B564-A554-F2901069E9E1}"/>
              </a:ext>
            </a:extLst>
          </p:cNvPr>
          <p:cNvSpPr>
            <a:spLocks noChangeArrowheads="1"/>
          </p:cNvSpPr>
          <p:nvPr/>
        </p:nvSpPr>
        <p:spPr bwMode="auto">
          <a:xfrm>
            <a:off x="1905000" y="2438400"/>
            <a:ext cx="1524000" cy="3352800"/>
          </a:xfrm>
          <a:prstGeom prst="rect">
            <a:avLst/>
          </a:prstGeom>
          <a:solidFill>
            <a:srgbClr val="CCFF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904" name="Text Box 13">
            <a:extLst>
              <a:ext uri="{FF2B5EF4-FFF2-40B4-BE49-F238E27FC236}">
                <a16:creationId xmlns:a16="http://schemas.microsoft.com/office/drawing/2014/main" id="{D05F3A9E-4B76-B840-83B8-B2ED5580237E}"/>
              </a:ext>
            </a:extLst>
          </p:cNvPr>
          <p:cNvSpPr txBox="1">
            <a:spLocks noChangeArrowheads="1"/>
          </p:cNvSpPr>
          <p:nvPr/>
        </p:nvSpPr>
        <p:spPr bwMode="auto">
          <a:xfrm>
            <a:off x="2057400" y="2590800"/>
            <a:ext cx="1098550" cy="457200"/>
          </a:xfrm>
          <a:prstGeom prst="rect">
            <a:avLst/>
          </a:prstGeom>
          <a:solidFill>
            <a:srgbClr val="CCFF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grpSp>
        <p:nvGrpSpPr>
          <p:cNvPr id="2" name="Group 14">
            <a:extLst>
              <a:ext uri="{FF2B5EF4-FFF2-40B4-BE49-F238E27FC236}">
                <a16:creationId xmlns:a16="http://schemas.microsoft.com/office/drawing/2014/main" id="{983F9CBD-2455-3533-CAED-735581F68E36}"/>
              </a:ext>
            </a:extLst>
          </p:cNvPr>
          <p:cNvGrpSpPr>
            <a:grpSpLocks/>
          </p:cNvGrpSpPr>
          <p:nvPr/>
        </p:nvGrpSpPr>
        <p:grpSpPr bwMode="auto">
          <a:xfrm>
            <a:off x="2057400" y="3048000"/>
            <a:ext cx="2971800" cy="609600"/>
            <a:chOff x="960" y="1392"/>
            <a:chExt cx="1872" cy="384"/>
          </a:xfrm>
        </p:grpSpPr>
        <p:sp>
          <p:nvSpPr>
            <p:cNvPr id="37917" name="Rectangle 15">
              <a:extLst>
                <a:ext uri="{FF2B5EF4-FFF2-40B4-BE49-F238E27FC236}">
                  <a16:creationId xmlns:a16="http://schemas.microsoft.com/office/drawing/2014/main" id="{74F0B35F-C7EA-D3F2-0ED1-711784FAC569}"/>
                </a:ext>
              </a:extLst>
            </p:cNvPr>
            <p:cNvSpPr>
              <a:spLocks noChangeArrowheads="1"/>
            </p:cNvSpPr>
            <p:nvPr/>
          </p:nvSpPr>
          <p:spPr bwMode="auto">
            <a:xfrm>
              <a:off x="960" y="1392"/>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918" name="Text Box 16">
              <a:extLst>
                <a:ext uri="{FF2B5EF4-FFF2-40B4-BE49-F238E27FC236}">
                  <a16:creationId xmlns:a16="http://schemas.microsoft.com/office/drawing/2014/main" id="{4C7BA54B-184F-1AB0-A871-3BB22837D183}"/>
                </a:ext>
              </a:extLst>
            </p:cNvPr>
            <p:cNvSpPr txBox="1">
              <a:spLocks noChangeArrowheads="1"/>
            </p:cNvSpPr>
            <p:nvPr/>
          </p:nvSpPr>
          <p:spPr bwMode="auto">
            <a:xfrm>
              <a:off x="1152" y="1440"/>
              <a:ext cx="337" cy="288"/>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37919" name="Line 17">
              <a:extLst>
                <a:ext uri="{FF2B5EF4-FFF2-40B4-BE49-F238E27FC236}">
                  <a16:creationId xmlns:a16="http://schemas.microsoft.com/office/drawing/2014/main" id="{576A1643-05DD-B9EE-1074-948773236634}"/>
                </a:ext>
              </a:extLst>
            </p:cNvPr>
            <p:cNvSpPr>
              <a:spLocks noChangeShapeType="1"/>
            </p:cNvSpPr>
            <p:nvPr/>
          </p:nvSpPr>
          <p:spPr bwMode="auto">
            <a:xfrm>
              <a:off x="1680" y="1584"/>
              <a:ext cx="1152" cy="0"/>
            </a:xfrm>
            <a:prstGeom prst="line">
              <a:avLst/>
            </a:prstGeom>
            <a:noFill/>
            <a:ln w="57150">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18">
            <a:extLst>
              <a:ext uri="{FF2B5EF4-FFF2-40B4-BE49-F238E27FC236}">
                <a16:creationId xmlns:a16="http://schemas.microsoft.com/office/drawing/2014/main" id="{DC7141F9-F5BC-E189-ADAB-E0D2734D20C2}"/>
              </a:ext>
            </a:extLst>
          </p:cNvPr>
          <p:cNvGrpSpPr>
            <a:grpSpLocks/>
          </p:cNvGrpSpPr>
          <p:nvPr/>
        </p:nvGrpSpPr>
        <p:grpSpPr bwMode="auto">
          <a:xfrm>
            <a:off x="2057400" y="4419600"/>
            <a:ext cx="2971800" cy="609600"/>
            <a:chOff x="960" y="2256"/>
            <a:chExt cx="1872" cy="384"/>
          </a:xfrm>
        </p:grpSpPr>
        <p:sp>
          <p:nvSpPr>
            <p:cNvPr id="37914" name="Rectangle 19">
              <a:extLst>
                <a:ext uri="{FF2B5EF4-FFF2-40B4-BE49-F238E27FC236}">
                  <a16:creationId xmlns:a16="http://schemas.microsoft.com/office/drawing/2014/main" id="{2F210C47-3718-02D6-E7E0-E730CEBC669D}"/>
                </a:ext>
              </a:extLst>
            </p:cNvPr>
            <p:cNvSpPr>
              <a:spLocks noChangeArrowheads="1"/>
            </p:cNvSpPr>
            <p:nvPr/>
          </p:nvSpPr>
          <p:spPr bwMode="auto">
            <a:xfrm>
              <a:off x="960" y="2256"/>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7915" name="Text Box 20">
              <a:extLst>
                <a:ext uri="{FF2B5EF4-FFF2-40B4-BE49-F238E27FC236}">
                  <a16:creationId xmlns:a16="http://schemas.microsoft.com/office/drawing/2014/main" id="{DDD04097-FE3D-7C8D-57C6-436CAF5F4972}"/>
                </a:ext>
              </a:extLst>
            </p:cNvPr>
            <p:cNvSpPr txBox="1">
              <a:spLocks noChangeArrowheads="1"/>
            </p:cNvSpPr>
            <p:nvPr/>
          </p:nvSpPr>
          <p:spPr bwMode="auto">
            <a:xfrm>
              <a:off x="1152" y="2304"/>
              <a:ext cx="329" cy="288"/>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sp>
          <p:nvSpPr>
            <p:cNvPr id="37916" name="Line 21">
              <a:extLst>
                <a:ext uri="{FF2B5EF4-FFF2-40B4-BE49-F238E27FC236}">
                  <a16:creationId xmlns:a16="http://schemas.microsoft.com/office/drawing/2014/main" id="{AA08D64D-5328-29B1-3837-6C769A8D2E5A}"/>
                </a:ext>
              </a:extLst>
            </p:cNvPr>
            <p:cNvSpPr>
              <a:spLocks noChangeShapeType="1"/>
            </p:cNvSpPr>
            <p:nvPr/>
          </p:nvSpPr>
          <p:spPr bwMode="auto">
            <a:xfrm>
              <a:off x="1680" y="2448"/>
              <a:ext cx="1152" cy="0"/>
            </a:xfrm>
            <a:prstGeom prst="line">
              <a:avLst/>
            </a:prstGeom>
            <a:noFill/>
            <a:ln w="57150">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37907" name="Rectangle 22">
            <a:extLst>
              <a:ext uri="{FF2B5EF4-FFF2-40B4-BE49-F238E27FC236}">
                <a16:creationId xmlns:a16="http://schemas.microsoft.com/office/drawing/2014/main" id="{C9548A67-09B7-4C86-946B-66A45E297E81}"/>
              </a:ext>
            </a:extLst>
          </p:cNvPr>
          <p:cNvSpPr>
            <a:spLocks noChangeArrowheads="1"/>
          </p:cNvSpPr>
          <p:nvPr/>
        </p:nvSpPr>
        <p:spPr bwMode="auto">
          <a:xfrm>
            <a:off x="685800" y="8382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65000"/>
              </a:lnSpc>
              <a:spcBef>
                <a:spcPct val="0"/>
              </a:spcBef>
              <a:buClrTx/>
              <a:buSzTx/>
              <a:buFontTx/>
              <a:buNone/>
            </a:pPr>
            <a:r>
              <a:rPr kumimoji="1" lang="zh-CN" altLang="en-US" sz="4900" b="0">
                <a:latin typeface="隶书" pitchFamily="49" charset="-122"/>
                <a:ea typeface="隶书" pitchFamily="49" charset="-122"/>
              </a:rPr>
              <a:t>任务运行时与</a:t>
            </a:r>
          </a:p>
          <a:p>
            <a:pPr eaLnBrk="1" hangingPunct="1">
              <a:lnSpc>
                <a:spcPct val="65000"/>
              </a:lnSpc>
              <a:spcBef>
                <a:spcPct val="0"/>
              </a:spcBef>
              <a:buClrTx/>
              <a:buSzTx/>
              <a:buFontTx/>
              <a:buNone/>
            </a:pPr>
            <a:r>
              <a:rPr kumimoji="1" lang="zh-CN" altLang="en-US" sz="4900" b="0">
                <a:latin typeface="隶书" pitchFamily="49" charset="-122"/>
                <a:ea typeface="隶书" pitchFamily="49" charset="-122"/>
              </a:rPr>
              <a:t>       处理器之间的关系</a:t>
            </a:r>
            <a:endParaRPr kumimoji="1" lang="zh-CN" altLang="en-US" sz="4900" b="0">
              <a:latin typeface="隶书" pitchFamily="49" charset="-122"/>
              <a:ea typeface="隶书" pitchFamily="49" charset="-122"/>
              <a:hlinkClick r:id="rId2" action="ppaction://hlinksldjump"/>
            </a:endParaRPr>
          </a:p>
        </p:txBody>
      </p:sp>
      <p:sp>
        <p:nvSpPr>
          <p:cNvPr id="78871" name="AutoShape 23">
            <a:extLst>
              <a:ext uri="{FF2B5EF4-FFF2-40B4-BE49-F238E27FC236}">
                <a16:creationId xmlns:a16="http://schemas.microsoft.com/office/drawing/2014/main" id="{4378E481-69CA-1791-017B-8C9074C1F305}"/>
              </a:ext>
            </a:extLst>
          </p:cNvPr>
          <p:cNvSpPr>
            <a:spLocks noChangeArrowheads="1"/>
          </p:cNvSpPr>
          <p:nvPr/>
        </p:nvSpPr>
        <p:spPr bwMode="auto">
          <a:xfrm>
            <a:off x="381000" y="4953000"/>
            <a:ext cx="3733800" cy="1676400"/>
          </a:xfrm>
          <a:prstGeom prst="wedgeRoundRectCallout">
            <a:avLst>
              <a:gd name="adj1" fmla="val 46597"/>
              <a:gd name="adj2" fmla="val -60889"/>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处理器通过两个指针寄存器（</a:t>
            </a:r>
            <a:r>
              <a:rPr kumimoji="1" lang="en-US" altLang="zh-CN" sz="2400" b="0">
                <a:latin typeface="Tahoma" panose="020B0604030504040204" pitchFamily="34" charset="0"/>
                <a:ea typeface="黑体" panose="02010609060101010101" pitchFamily="49" charset="-122"/>
              </a:rPr>
              <a:t>PC</a:t>
            </a:r>
            <a:r>
              <a:rPr kumimoji="1" lang="zh-CN" altLang="en-US" sz="2400" b="0">
                <a:latin typeface="Tahoma" panose="020B0604030504040204" pitchFamily="34" charset="0"/>
                <a:ea typeface="黑体" panose="02010609060101010101" pitchFamily="49" charset="-122"/>
              </a:rPr>
              <a:t>和</a:t>
            </a:r>
            <a:r>
              <a:rPr kumimoji="1" lang="en-US" altLang="zh-CN" sz="2400" b="0">
                <a:latin typeface="Tahoma" panose="020B0604030504040204" pitchFamily="34" charset="0"/>
                <a:ea typeface="黑体" panose="02010609060101010101" pitchFamily="49" charset="-122"/>
              </a:rPr>
              <a:t>SP</a:t>
            </a:r>
            <a:r>
              <a:rPr kumimoji="1" lang="zh-CN" altLang="en-US" sz="2400" b="0">
                <a:latin typeface="Tahoma" panose="020B0604030504040204" pitchFamily="34" charset="0"/>
                <a:ea typeface="黑体" panose="02010609060101010101" pitchFamily="49" charset="-122"/>
              </a:rPr>
              <a:t>）来与任务代码和任务堆栈建立联系并运行它</a:t>
            </a:r>
          </a:p>
        </p:txBody>
      </p:sp>
      <p:sp>
        <p:nvSpPr>
          <p:cNvPr id="37909" name="Text Box 24">
            <a:extLst>
              <a:ext uri="{FF2B5EF4-FFF2-40B4-BE49-F238E27FC236}">
                <a16:creationId xmlns:a16="http://schemas.microsoft.com/office/drawing/2014/main" id="{3C98C783-1F33-7693-5C18-3A31E36D4B77}"/>
              </a:ext>
            </a:extLst>
          </p:cNvPr>
          <p:cNvSpPr txBox="1">
            <a:spLocks noChangeArrowheads="1"/>
          </p:cNvSpPr>
          <p:nvPr/>
        </p:nvSpPr>
        <p:spPr bwMode="auto">
          <a:xfrm>
            <a:off x="1939925" y="3733800"/>
            <a:ext cx="1412875" cy="466725"/>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寄存器组</a:t>
            </a:r>
          </a:p>
        </p:txBody>
      </p:sp>
      <p:grpSp>
        <p:nvGrpSpPr>
          <p:cNvPr id="4" name="Group 25">
            <a:extLst>
              <a:ext uri="{FF2B5EF4-FFF2-40B4-BE49-F238E27FC236}">
                <a16:creationId xmlns:a16="http://schemas.microsoft.com/office/drawing/2014/main" id="{1BFD9AD2-3A72-8010-2F3B-FA9B409C256F}"/>
              </a:ext>
            </a:extLst>
          </p:cNvPr>
          <p:cNvGrpSpPr>
            <a:grpSpLocks/>
          </p:cNvGrpSpPr>
          <p:nvPr/>
        </p:nvGrpSpPr>
        <p:grpSpPr bwMode="auto">
          <a:xfrm>
            <a:off x="762000" y="2362200"/>
            <a:ext cx="7467600" cy="3873500"/>
            <a:chOff x="296" y="1520"/>
            <a:chExt cx="4704" cy="2440"/>
          </a:xfrm>
        </p:grpSpPr>
        <p:sp>
          <p:nvSpPr>
            <p:cNvPr id="37912" name="Freeform 26">
              <a:extLst>
                <a:ext uri="{FF2B5EF4-FFF2-40B4-BE49-F238E27FC236}">
                  <a16:creationId xmlns:a16="http://schemas.microsoft.com/office/drawing/2014/main" id="{79FCF14A-8501-F636-EA74-6B205494CF98}"/>
                </a:ext>
              </a:extLst>
            </p:cNvPr>
            <p:cNvSpPr>
              <a:spLocks/>
            </p:cNvSpPr>
            <p:nvPr/>
          </p:nvSpPr>
          <p:spPr bwMode="auto">
            <a:xfrm>
              <a:off x="296" y="1520"/>
              <a:ext cx="4704" cy="2440"/>
            </a:xfrm>
            <a:custGeom>
              <a:avLst/>
              <a:gdLst>
                <a:gd name="T0" fmla="*/ 712 w 4704"/>
                <a:gd name="T1" fmla="*/ 304 h 2440"/>
                <a:gd name="T2" fmla="*/ 2200 w 4704"/>
                <a:gd name="T3" fmla="*/ 304 h 2440"/>
                <a:gd name="T4" fmla="*/ 2296 w 4704"/>
                <a:gd name="T5" fmla="*/ 1120 h 2440"/>
                <a:gd name="T6" fmla="*/ 4072 w 4704"/>
                <a:gd name="T7" fmla="*/ 1168 h 2440"/>
                <a:gd name="T8" fmla="*/ 4120 w 4704"/>
                <a:gd name="T9" fmla="*/ 2176 h 2440"/>
                <a:gd name="T10" fmla="*/ 568 w 4704"/>
                <a:gd name="T11" fmla="*/ 2128 h 2440"/>
                <a:gd name="T12" fmla="*/ 712 w 4704"/>
                <a:gd name="T13" fmla="*/ 304 h 2440"/>
                <a:gd name="T14" fmla="*/ 0 60000 65536"/>
                <a:gd name="T15" fmla="*/ 0 60000 65536"/>
                <a:gd name="T16" fmla="*/ 0 60000 65536"/>
                <a:gd name="T17" fmla="*/ 0 60000 65536"/>
                <a:gd name="T18" fmla="*/ 0 60000 65536"/>
                <a:gd name="T19" fmla="*/ 0 60000 65536"/>
                <a:gd name="T20" fmla="*/ 0 60000 65536"/>
                <a:gd name="T21" fmla="*/ 0 w 4704"/>
                <a:gd name="T22" fmla="*/ 0 h 2440"/>
                <a:gd name="T23" fmla="*/ 4704 w 4704"/>
                <a:gd name="T24" fmla="*/ 2440 h 24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04" h="2440">
                  <a:moveTo>
                    <a:pt x="712" y="304"/>
                  </a:moveTo>
                  <a:cubicBezTo>
                    <a:pt x="984" y="0"/>
                    <a:pt x="1936" y="168"/>
                    <a:pt x="2200" y="304"/>
                  </a:cubicBezTo>
                  <a:cubicBezTo>
                    <a:pt x="2464" y="440"/>
                    <a:pt x="1984" y="976"/>
                    <a:pt x="2296" y="1120"/>
                  </a:cubicBezTo>
                  <a:cubicBezTo>
                    <a:pt x="2608" y="1264"/>
                    <a:pt x="3768" y="992"/>
                    <a:pt x="4072" y="1168"/>
                  </a:cubicBezTo>
                  <a:cubicBezTo>
                    <a:pt x="4376" y="1344"/>
                    <a:pt x="4704" y="2016"/>
                    <a:pt x="4120" y="2176"/>
                  </a:cubicBezTo>
                  <a:cubicBezTo>
                    <a:pt x="3536" y="2336"/>
                    <a:pt x="1136" y="2440"/>
                    <a:pt x="568" y="2128"/>
                  </a:cubicBezTo>
                  <a:cubicBezTo>
                    <a:pt x="0" y="1816"/>
                    <a:pt x="440" y="608"/>
                    <a:pt x="712" y="304"/>
                  </a:cubicBezTo>
                  <a:close/>
                </a:path>
              </a:pathLst>
            </a:custGeom>
            <a:solidFill>
              <a:srgbClr val="FF0000">
                <a:alpha val="50195"/>
              </a:srgbClr>
            </a:solidFill>
            <a:ln w="9525">
              <a:solidFill>
                <a:schemeClr val="tx1"/>
              </a:solidFill>
              <a:round/>
              <a:headEnd/>
              <a:tailEnd/>
            </a:ln>
          </p:spPr>
          <p:txBody>
            <a:bodyPr wrap="none"/>
            <a:lstStyle/>
            <a:p>
              <a:endParaRPr lang="zh-CN" altLang="en-US"/>
            </a:p>
          </p:txBody>
        </p:sp>
        <p:sp>
          <p:nvSpPr>
            <p:cNvPr id="37913" name="Text Box 27">
              <a:extLst>
                <a:ext uri="{FF2B5EF4-FFF2-40B4-BE49-F238E27FC236}">
                  <a16:creationId xmlns:a16="http://schemas.microsoft.com/office/drawing/2014/main" id="{EA06F404-9A4E-C9A1-4EF0-7386CEE252A8}"/>
                </a:ext>
              </a:extLst>
            </p:cNvPr>
            <p:cNvSpPr txBox="1">
              <a:spLocks noChangeArrowheads="1"/>
            </p:cNvSpPr>
            <p:nvPr/>
          </p:nvSpPr>
          <p:spPr bwMode="auto">
            <a:xfrm>
              <a:off x="2256" y="3504"/>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程序运行环境</a:t>
              </a:r>
            </a:p>
          </p:txBody>
        </p:sp>
      </p:grpSp>
      <p:sp>
        <p:nvSpPr>
          <p:cNvPr id="78876" name="AutoShape 28">
            <a:extLst>
              <a:ext uri="{FF2B5EF4-FFF2-40B4-BE49-F238E27FC236}">
                <a16:creationId xmlns:a16="http://schemas.microsoft.com/office/drawing/2014/main" id="{F000C08D-63E5-D585-4482-5B624E98B168}"/>
              </a:ext>
            </a:extLst>
          </p:cNvPr>
          <p:cNvSpPr>
            <a:spLocks noChangeArrowheads="1"/>
          </p:cNvSpPr>
          <p:nvPr/>
        </p:nvSpPr>
        <p:spPr bwMode="auto">
          <a:xfrm>
            <a:off x="533400" y="1752600"/>
            <a:ext cx="3581400" cy="1295400"/>
          </a:xfrm>
          <a:prstGeom prst="wedgeRoundRectCallout">
            <a:avLst>
              <a:gd name="adj1" fmla="val 37412"/>
              <a:gd name="adj2" fmla="val 100736"/>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运行环境包括了两部分：处理器中的运行环境和内存中的运行环境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8871"/>
                                        </p:tgtEl>
                                        <p:attrNameLst>
                                          <p:attrName>style.visibility</p:attrName>
                                        </p:attrNameLst>
                                      </p:cBhvr>
                                      <p:to>
                                        <p:strVal val="visible"/>
                                      </p:to>
                                    </p:set>
                                    <p:animEffect transition="in" filter="box(in)">
                                      <p:cBhvr>
                                        <p:cTn id="17" dur="500"/>
                                        <p:tgtEl>
                                          <p:spTgt spid="78871"/>
                                        </p:tgtEl>
                                      </p:cBhvr>
                                    </p:animEffect>
                                  </p:childTnLst>
                                  <p:subTnLst>
                                    <p:set>
                                      <p:cBhvr override="childStyle">
                                        <p:cTn dur="1" fill="hold" display="0" masterRel="nextClick" afterEffect="1"/>
                                        <p:tgtEl>
                                          <p:spTgt spid="7887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8876"/>
                                        </p:tgtEl>
                                        <p:attrNameLst>
                                          <p:attrName>style.visibility</p:attrName>
                                        </p:attrNameLst>
                                      </p:cBhvr>
                                      <p:to>
                                        <p:strVal val="visible"/>
                                      </p:to>
                                    </p:set>
                                    <p:animEffect transition="in" filter="box(in)">
                                      <p:cBhvr>
                                        <p:cTn id="27" dur="500"/>
                                        <p:tgtEl>
                                          <p:spTgt spid="78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71" grpId="0" animBg="1" autoUpdateAnimBg="0"/>
      <p:bldP spid="78876"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1">
            <a:extLst>
              <a:ext uri="{FF2B5EF4-FFF2-40B4-BE49-F238E27FC236}">
                <a16:creationId xmlns:a16="http://schemas.microsoft.com/office/drawing/2014/main" id="{65ADF149-0BBD-5382-7161-DF9D070C7C3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8915" name="灯片编号占位符 2">
            <a:extLst>
              <a:ext uri="{FF2B5EF4-FFF2-40B4-BE49-F238E27FC236}">
                <a16:creationId xmlns:a16="http://schemas.microsoft.com/office/drawing/2014/main" id="{87102AC6-2313-7703-FB6C-AAEB5A59F29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1F13F96-0C10-4148-9635-6D49D40C90E9}" type="slidenum">
              <a:rPr lang="en-US" altLang="zh-CN" sz="1200" smtClean="0">
                <a:solidFill>
                  <a:srgbClr val="3366FF"/>
                </a:solidFill>
                <a:latin typeface="Arial Black" panose="020B0A04020102020204" pitchFamily="34" charset="0"/>
              </a:rPr>
              <a:pPr>
                <a:spcBef>
                  <a:spcPct val="0"/>
                </a:spcBef>
                <a:buClrTx/>
                <a:buSzTx/>
                <a:buFontTx/>
                <a:buNone/>
              </a:pPr>
              <a:t>35</a:t>
            </a:fld>
            <a:endParaRPr lang="en-US" altLang="zh-CN" sz="1200">
              <a:solidFill>
                <a:srgbClr val="3366FF"/>
              </a:solidFill>
              <a:latin typeface="Arial Black" panose="020B0A04020102020204" pitchFamily="34" charset="0"/>
            </a:endParaRPr>
          </a:p>
        </p:txBody>
      </p:sp>
      <p:sp>
        <p:nvSpPr>
          <p:cNvPr id="38916" name="日期占位符 3">
            <a:extLst>
              <a:ext uri="{FF2B5EF4-FFF2-40B4-BE49-F238E27FC236}">
                <a16:creationId xmlns:a16="http://schemas.microsoft.com/office/drawing/2014/main" id="{14303530-AF49-B3C5-4E1A-06D8BA642C4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8391B3C-09F9-4862-BBDB-2CA921C16C8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38917" name="Group 2">
            <a:extLst>
              <a:ext uri="{FF2B5EF4-FFF2-40B4-BE49-F238E27FC236}">
                <a16:creationId xmlns:a16="http://schemas.microsoft.com/office/drawing/2014/main" id="{15DA0FE2-C043-333C-488E-57D25F9E9F4B}"/>
              </a:ext>
            </a:extLst>
          </p:cNvPr>
          <p:cNvGrpSpPr>
            <a:grpSpLocks/>
          </p:cNvGrpSpPr>
          <p:nvPr/>
        </p:nvGrpSpPr>
        <p:grpSpPr bwMode="auto">
          <a:xfrm>
            <a:off x="5029200" y="1600200"/>
            <a:ext cx="1447800" cy="4648200"/>
            <a:chOff x="3168" y="1104"/>
            <a:chExt cx="912" cy="2928"/>
          </a:xfrm>
        </p:grpSpPr>
        <p:sp>
          <p:nvSpPr>
            <p:cNvPr id="38957" name="AutoShape 3">
              <a:extLst>
                <a:ext uri="{FF2B5EF4-FFF2-40B4-BE49-F238E27FC236}">
                  <a16:creationId xmlns:a16="http://schemas.microsoft.com/office/drawing/2014/main" id="{D5CEA5D3-06D0-26E5-EE8F-A35DF90AF02F}"/>
                </a:ext>
              </a:extLst>
            </p:cNvPr>
            <p:cNvSpPr>
              <a:spLocks noChangeArrowheads="1"/>
            </p:cNvSpPr>
            <p:nvPr/>
          </p:nvSpPr>
          <p:spPr bwMode="auto">
            <a:xfrm>
              <a:off x="3168" y="1104"/>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58" name="AutoShape 4">
              <a:extLst>
                <a:ext uri="{FF2B5EF4-FFF2-40B4-BE49-F238E27FC236}">
                  <a16:creationId xmlns:a16="http://schemas.microsoft.com/office/drawing/2014/main" id="{1729463A-1FD5-16F2-3A67-864FD94E6F5F}"/>
                </a:ext>
              </a:extLst>
            </p:cNvPr>
            <p:cNvSpPr>
              <a:spLocks noChangeArrowheads="1"/>
            </p:cNvSpPr>
            <p:nvPr/>
          </p:nvSpPr>
          <p:spPr bwMode="auto">
            <a:xfrm>
              <a:off x="3168" y="3408"/>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59" name="AutoShape 5">
              <a:extLst>
                <a:ext uri="{FF2B5EF4-FFF2-40B4-BE49-F238E27FC236}">
                  <a16:creationId xmlns:a16="http://schemas.microsoft.com/office/drawing/2014/main" id="{BD77CA93-EA7B-57AF-C516-E0DE4A0AEC7C}"/>
                </a:ext>
              </a:extLst>
            </p:cNvPr>
            <p:cNvSpPr>
              <a:spLocks noChangeArrowheads="1"/>
            </p:cNvSpPr>
            <p:nvPr/>
          </p:nvSpPr>
          <p:spPr bwMode="auto">
            <a:xfrm>
              <a:off x="3168" y="2208"/>
              <a:ext cx="912" cy="72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60" name="Rectangle 6">
              <a:extLst>
                <a:ext uri="{FF2B5EF4-FFF2-40B4-BE49-F238E27FC236}">
                  <a16:creationId xmlns:a16="http://schemas.microsoft.com/office/drawing/2014/main" id="{9B27E421-1F79-BA28-DF46-3590F44429BC}"/>
                </a:ext>
              </a:extLst>
            </p:cNvPr>
            <p:cNvSpPr>
              <a:spLocks noChangeArrowheads="1"/>
            </p:cNvSpPr>
            <p:nvPr/>
          </p:nvSpPr>
          <p:spPr bwMode="auto">
            <a:xfrm>
              <a:off x="3168" y="1584"/>
              <a:ext cx="912" cy="768"/>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61" name="Rectangle 7">
              <a:extLst>
                <a:ext uri="{FF2B5EF4-FFF2-40B4-BE49-F238E27FC236}">
                  <a16:creationId xmlns:a16="http://schemas.microsoft.com/office/drawing/2014/main" id="{DFCBB64A-D5FC-F1CB-0B8B-07E6DC16DDB7}"/>
                </a:ext>
              </a:extLst>
            </p:cNvPr>
            <p:cNvSpPr>
              <a:spLocks noChangeArrowheads="1"/>
            </p:cNvSpPr>
            <p:nvPr/>
          </p:nvSpPr>
          <p:spPr bwMode="auto">
            <a:xfrm>
              <a:off x="3168" y="2784"/>
              <a:ext cx="912" cy="768"/>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62" name="Line 8">
              <a:extLst>
                <a:ext uri="{FF2B5EF4-FFF2-40B4-BE49-F238E27FC236}">
                  <a16:creationId xmlns:a16="http://schemas.microsoft.com/office/drawing/2014/main" id="{F5D903CE-980A-058B-8E6E-EE02CA89C7C1}"/>
                </a:ext>
              </a:extLst>
            </p:cNvPr>
            <p:cNvSpPr>
              <a:spLocks noChangeShapeType="1"/>
            </p:cNvSpPr>
            <p:nvPr/>
          </p:nvSpPr>
          <p:spPr bwMode="auto">
            <a:xfrm>
              <a:off x="4080"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963" name="Text Box 9">
              <a:extLst>
                <a:ext uri="{FF2B5EF4-FFF2-40B4-BE49-F238E27FC236}">
                  <a16:creationId xmlns:a16="http://schemas.microsoft.com/office/drawing/2014/main" id="{8EF210D2-A8CE-3E9B-8FCC-FAA4C25F1565}"/>
                </a:ext>
              </a:extLst>
            </p:cNvPr>
            <p:cNvSpPr txBox="1">
              <a:spLocks noChangeArrowheads="1"/>
            </p:cNvSpPr>
            <p:nvPr/>
          </p:nvSpPr>
          <p:spPr bwMode="auto">
            <a:xfrm>
              <a:off x="3168" y="18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任务代码</a:t>
              </a:r>
            </a:p>
          </p:txBody>
        </p:sp>
        <p:sp>
          <p:nvSpPr>
            <p:cNvPr id="38964" name="Text Box 10">
              <a:extLst>
                <a:ext uri="{FF2B5EF4-FFF2-40B4-BE49-F238E27FC236}">
                  <a16:creationId xmlns:a16="http://schemas.microsoft.com/office/drawing/2014/main" id="{6068E19C-18C4-729A-9859-FBA3C42C5C96}"/>
                </a:ext>
              </a:extLst>
            </p:cNvPr>
            <p:cNvSpPr txBox="1">
              <a:spLocks noChangeArrowheads="1"/>
            </p:cNvSpPr>
            <p:nvPr/>
          </p:nvSpPr>
          <p:spPr bwMode="auto">
            <a:xfrm>
              <a:off x="3168" y="30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任务堆栈</a:t>
              </a:r>
            </a:p>
          </p:txBody>
        </p:sp>
        <p:sp>
          <p:nvSpPr>
            <p:cNvPr id="38965" name="Text Box 11">
              <a:extLst>
                <a:ext uri="{FF2B5EF4-FFF2-40B4-BE49-F238E27FC236}">
                  <a16:creationId xmlns:a16="http://schemas.microsoft.com/office/drawing/2014/main" id="{F47E1F65-9066-4921-3349-312394703CF9}"/>
                </a:ext>
              </a:extLst>
            </p:cNvPr>
            <p:cNvSpPr txBox="1">
              <a:spLocks noChangeArrowheads="1"/>
            </p:cNvSpPr>
            <p:nvPr/>
          </p:nvSpPr>
          <p:spPr bwMode="auto">
            <a:xfrm>
              <a:off x="3360" y="1248"/>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内存</a:t>
              </a:r>
            </a:p>
          </p:txBody>
        </p:sp>
        <p:sp>
          <p:nvSpPr>
            <p:cNvPr id="38966" name="Line 12">
              <a:extLst>
                <a:ext uri="{FF2B5EF4-FFF2-40B4-BE49-F238E27FC236}">
                  <a16:creationId xmlns:a16="http://schemas.microsoft.com/office/drawing/2014/main" id="{FA724A7A-50E2-3A03-2DB6-A578BAFC6D4F}"/>
                </a:ext>
              </a:extLst>
            </p:cNvPr>
            <p:cNvSpPr>
              <a:spLocks noChangeShapeType="1"/>
            </p:cNvSpPr>
            <p:nvPr/>
          </p:nvSpPr>
          <p:spPr bwMode="auto">
            <a:xfrm>
              <a:off x="3168"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38918" name="Rectangle 13">
            <a:extLst>
              <a:ext uri="{FF2B5EF4-FFF2-40B4-BE49-F238E27FC236}">
                <a16:creationId xmlns:a16="http://schemas.microsoft.com/office/drawing/2014/main" id="{8EA9AB2D-303B-C61B-8317-3A59974CAEBC}"/>
              </a:ext>
            </a:extLst>
          </p:cNvPr>
          <p:cNvSpPr>
            <a:spLocks noChangeArrowheads="1"/>
          </p:cNvSpPr>
          <p:nvPr/>
        </p:nvSpPr>
        <p:spPr bwMode="auto">
          <a:xfrm>
            <a:off x="1905000" y="2286000"/>
            <a:ext cx="1600200" cy="3352800"/>
          </a:xfrm>
          <a:prstGeom prst="rect">
            <a:avLst/>
          </a:prstGeom>
          <a:solidFill>
            <a:srgbClr val="CCFF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19" name="Text Box 14">
            <a:extLst>
              <a:ext uri="{FF2B5EF4-FFF2-40B4-BE49-F238E27FC236}">
                <a16:creationId xmlns:a16="http://schemas.microsoft.com/office/drawing/2014/main" id="{FE63C52E-9D5B-54B4-3DC3-A6AB9EDE3A7A}"/>
              </a:ext>
            </a:extLst>
          </p:cNvPr>
          <p:cNvSpPr txBox="1">
            <a:spLocks noChangeArrowheads="1"/>
          </p:cNvSpPr>
          <p:nvPr/>
        </p:nvSpPr>
        <p:spPr bwMode="auto">
          <a:xfrm>
            <a:off x="2057400" y="2438400"/>
            <a:ext cx="1098550" cy="457200"/>
          </a:xfrm>
          <a:prstGeom prst="rect">
            <a:avLst/>
          </a:prstGeom>
          <a:solidFill>
            <a:srgbClr val="CCFF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grpSp>
        <p:nvGrpSpPr>
          <p:cNvPr id="3" name="Group 15">
            <a:extLst>
              <a:ext uri="{FF2B5EF4-FFF2-40B4-BE49-F238E27FC236}">
                <a16:creationId xmlns:a16="http://schemas.microsoft.com/office/drawing/2014/main" id="{F1068A35-E3AE-98B7-96F5-9354B3058778}"/>
              </a:ext>
            </a:extLst>
          </p:cNvPr>
          <p:cNvGrpSpPr>
            <a:grpSpLocks/>
          </p:cNvGrpSpPr>
          <p:nvPr/>
        </p:nvGrpSpPr>
        <p:grpSpPr bwMode="auto">
          <a:xfrm>
            <a:off x="2057400" y="2895600"/>
            <a:ext cx="2971800" cy="609600"/>
            <a:chOff x="960" y="1392"/>
            <a:chExt cx="1872" cy="384"/>
          </a:xfrm>
        </p:grpSpPr>
        <p:sp>
          <p:nvSpPr>
            <p:cNvPr id="38954" name="Rectangle 16">
              <a:extLst>
                <a:ext uri="{FF2B5EF4-FFF2-40B4-BE49-F238E27FC236}">
                  <a16:creationId xmlns:a16="http://schemas.microsoft.com/office/drawing/2014/main" id="{F3AC2394-8796-9A8F-5231-D2BA7538A481}"/>
                </a:ext>
              </a:extLst>
            </p:cNvPr>
            <p:cNvSpPr>
              <a:spLocks noChangeArrowheads="1"/>
            </p:cNvSpPr>
            <p:nvPr/>
          </p:nvSpPr>
          <p:spPr bwMode="auto">
            <a:xfrm>
              <a:off x="960" y="1392"/>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55" name="Text Box 17">
              <a:extLst>
                <a:ext uri="{FF2B5EF4-FFF2-40B4-BE49-F238E27FC236}">
                  <a16:creationId xmlns:a16="http://schemas.microsoft.com/office/drawing/2014/main" id="{B4A35258-E60F-740A-6940-C8DA37FEF6E8}"/>
                </a:ext>
              </a:extLst>
            </p:cNvPr>
            <p:cNvSpPr txBox="1">
              <a:spLocks noChangeArrowheads="1"/>
            </p:cNvSpPr>
            <p:nvPr/>
          </p:nvSpPr>
          <p:spPr bwMode="auto">
            <a:xfrm>
              <a:off x="1152" y="1440"/>
              <a:ext cx="337" cy="288"/>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38956" name="Line 18">
              <a:extLst>
                <a:ext uri="{FF2B5EF4-FFF2-40B4-BE49-F238E27FC236}">
                  <a16:creationId xmlns:a16="http://schemas.microsoft.com/office/drawing/2014/main" id="{8D28B35F-280A-E071-F7B5-F399DB0DA847}"/>
                </a:ext>
              </a:extLst>
            </p:cNvPr>
            <p:cNvSpPr>
              <a:spLocks noChangeShapeType="1"/>
            </p:cNvSpPr>
            <p:nvPr/>
          </p:nvSpPr>
          <p:spPr bwMode="auto">
            <a:xfrm>
              <a:off x="1680" y="1584"/>
              <a:ext cx="1152" cy="0"/>
            </a:xfrm>
            <a:prstGeom prst="line">
              <a:avLst/>
            </a:prstGeom>
            <a:noFill/>
            <a:ln w="57150">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19">
            <a:extLst>
              <a:ext uri="{FF2B5EF4-FFF2-40B4-BE49-F238E27FC236}">
                <a16:creationId xmlns:a16="http://schemas.microsoft.com/office/drawing/2014/main" id="{ACBD3E16-8DA8-AED5-E785-09BFECB41BF4}"/>
              </a:ext>
            </a:extLst>
          </p:cNvPr>
          <p:cNvGrpSpPr>
            <a:grpSpLocks/>
          </p:cNvGrpSpPr>
          <p:nvPr/>
        </p:nvGrpSpPr>
        <p:grpSpPr bwMode="auto">
          <a:xfrm>
            <a:off x="2057400" y="4267200"/>
            <a:ext cx="2971800" cy="609600"/>
            <a:chOff x="960" y="2256"/>
            <a:chExt cx="1872" cy="384"/>
          </a:xfrm>
        </p:grpSpPr>
        <p:sp>
          <p:nvSpPr>
            <p:cNvPr id="38951" name="Rectangle 20">
              <a:extLst>
                <a:ext uri="{FF2B5EF4-FFF2-40B4-BE49-F238E27FC236}">
                  <a16:creationId xmlns:a16="http://schemas.microsoft.com/office/drawing/2014/main" id="{8854C6F5-85A6-8254-738B-33BD356DEE6F}"/>
                </a:ext>
              </a:extLst>
            </p:cNvPr>
            <p:cNvSpPr>
              <a:spLocks noChangeArrowheads="1"/>
            </p:cNvSpPr>
            <p:nvPr/>
          </p:nvSpPr>
          <p:spPr bwMode="auto">
            <a:xfrm>
              <a:off x="960" y="2256"/>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52" name="Text Box 21">
              <a:extLst>
                <a:ext uri="{FF2B5EF4-FFF2-40B4-BE49-F238E27FC236}">
                  <a16:creationId xmlns:a16="http://schemas.microsoft.com/office/drawing/2014/main" id="{C060D74C-C75A-A651-6F3E-9A30D0358753}"/>
                </a:ext>
              </a:extLst>
            </p:cNvPr>
            <p:cNvSpPr txBox="1">
              <a:spLocks noChangeArrowheads="1"/>
            </p:cNvSpPr>
            <p:nvPr/>
          </p:nvSpPr>
          <p:spPr bwMode="auto">
            <a:xfrm>
              <a:off x="1152" y="2304"/>
              <a:ext cx="329" cy="288"/>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sp>
          <p:nvSpPr>
            <p:cNvPr id="38953" name="Line 22">
              <a:extLst>
                <a:ext uri="{FF2B5EF4-FFF2-40B4-BE49-F238E27FC236}">
                  <a16:creationId xmlns:a16="http://schemas.microsoft.com/office/drawing/2014/main" id="{B914D2BE-DD6F-8D1B-7BF1-F0CB84235C48}"/>
                </a:ext>
              </a:extLst>
            </p:cNvPr>
            <p:cNvSpPr>
              <a:spLocks noChangeShapeType="1"/>
            </p:cNvSpPr>
            <p:nvPr/>
          </p:nvSpPr>
          <p:spPr bwMode="auto">
            <a:xfrm>
              <a:off x="1680" y="2448"/>
              <a:ext cx="1152" cy="0"/>
            </a:xfrm>
            <a:prstGeom prst="line">
              <a:avLst/>
            </a:prstGeom>
            <a:noFill/>
            <a:ln w="57150">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38922" name="Rectangle 23">
            <a:extLst>
              <a:ext uri="{FF2B5EF4-FFF2-40B4-BE49-F238E27FC236}">
                <a16:creationId xmlns:a16="http://schemas.microsoft.com/office/drawing/2014/main" id="{C018A4C4-D4EF-9761-F800-A2FE07019328}"/>
              </a:ext>
            </a:extLst>
          </p:cNvPr>
          <p:cNvSpPr>
            <a:spLocks noChangeArrowheads="1"/>
          </p:cNvSpPr>
          <p:nvPr/>
        </p:nvSpPr>
        <p:spPr bwMode="auto">
          <a:xfrm>
            <a:off x="685800" y="8382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4900" b="0">
                <a:latin typeface="隶书" pitchFamily="49" charset="-122"/>
                <a:ea typeface="隶书" pitchFamily="49" charset="-122"/>
              </a:rPr>
              <a:t>多任务时的问题</a:t>
            </a:r>
            <a:endParaRPr kumimoji="1" lang="zh-CN" altLang="en-US" sz="4900" b="0">
              <a:latin typeface="隶书" pitchFamily="49" charset="-122"/>
              <a:ea typeface="隶书" pitchFamily="49" charset="-122"/>
              <a:hlinkClick r:id="rId2" action="ppaction://hlinksldjump"/>
            </a:endParaRPr>
          </a:p>
        </p:txBody>
      </p:sp>
      <p:grpSp>
        <p:nvGrpSpPr>
          <p:cNvPr id="38923" name="Group 24">
            <a:extLst>
              <a:ext uri="{FF2B5EF4-FFF2-40B4-BE49-F238E27FC236}">
                <a16:creationId xmlns:a16="http://schemas.microsoft.com/office/drawing/2014/main" id="{C9CA5678-44CB-B978-D3FB-9060331BA324}"/>
              </a:ext>
            </a:extLst>
          </p:cNvPr>
          <p:cNvGrpSpPr>
            <a:grpSpLocks/>
          </p:cNvGrpSpPr>
          <p:nvPr/>
        </p:nvGrpSpPr>
        <p:grpSpPr bwMode="auto">
          <a:xfrm>
            <a:off x="5257800" y="1828800"/>
            <a:ext cx="1447800" cy="4648200"/>
            <a:chOff x="3168" y="1104"/>
            <a:chExt cx="912" cy="2928"/>
          </a:xfrm>
        </p:grpSpPr>
        <p:sp>
          <p:nvSpPr>
            <p:cNvPr id="38941" name="AutoShape 25">
              <a:extLst>
                <a:ext uri="{FF2B5EF4-FFF2-40B4-BE49-F238E27FC236}">
                  <a16:creationId xmlns:a16="http://schemas.microsoft.com/office/drawing/2014/main" id="{EF11DC0C-05C2-7622-D0F5-16DC6932E972}"/>
                </a:ext>
              </a:extLst>
            </p:cNvPr>
            <p:cNvSpPr>
              <a:spLocks noChangeArrowheads="1"/>
            </p:cNvSpPr>
            <p:nvPr/>
          </p:nvSpPr>
          <p:spPr bwMode="auto">
            <a:xfrm>
              <a:off x="3168" y="1104"/>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42" name="AutoShape 26">
              <a:extLst>
                <a:ext uri="{FF2B5EF4-FFF2-40B4-BE49-F238E27FC236}">
                  <a16:creationId xmlns:a16="http://schemas.microsoft.com/office/drawing/2014/main" id="{BDAFF4F1-4AFB-C5B5-9AE2-12E8D3D0253C}"/>
                </a:ext>
              </a:extLst>
            </p:cNvPr>
            <p:cNvSpPr>
              <a:spLocks noChangeArrowheads="1"/>
            </p:cNvSpPr>
            <p:nvPr/>
          </p:nvSpPr>
          <p:spPr bwMode="auto">
            <a:xfrm>
              <a:off x="3168" y="3408"/>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43" name="AutoShape 27">
              <a:extLst>
                <a:ext uri="{FF2B5EF4-FFF2-40B4-BE49-F238E27FC236}">
                  <a16:creationId xmlns:a16="http://schemas.microsoft.com/office/drawing/2014/main" id="{B2272B2B-FF8C-CA37-8244-96FA33965A2B}"/>
                </a:ext>
              </a:extLst>
            </p:cNvPr>
            <p:cNvSpPr>
              <a:spLocks noChangeArrowheads="1"/>
            </p:cNvSpPr>
            <p:nvPr/>
          </p:nvSpPr>
          <p:spPr bwMode="auto">
            <a:xfrm>
              <a:off x="3168" y="2208"/>
              <a:ext cx="912" cy="72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44" name="Rectangle 28">
              <a:extLst>
                <a:ext uri="{FF2B5EF4-FFF2-40B4-BE49-F238E27FC236}">
                  <a16:creationId xmlns:a16="http://schemas.microsoft.com/office/drawing/2014/main" id="{497DF538-87AD-B8BB-A4C9-074E6DFE83E6}"/>
                </a:ext>
              </a:extLst>
            </p:cNvPr>
            <p:cNvSpPr>
              <a:spLocks noChangeArrowheads="1"/>
            </p:cNvSpPr>
            <p:nvPr/>
          </p:nvSpPr>
          <p:spPr bwMode="auto">
            <a:xfrm>
              <a:off x="3168" y="1584"/>
              <a:ext cx="912" cy="768"/>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45" name="Rectangle 29">
              <a:extLst>
                <a:ext uri="{FF2B5EF4-FFF2-40B4-BE49-F238E27FC236}">
                  <a16:creationId xmlns:a16="http://schemas.microsoft.com/office/drawing/2014/main" id="{5CC38850-4444-7113-E9D1-E6B062BA8FE6}"/>
                </a:ext>
              </a:extLst>
            </p:cNvPr>
            <p:cNvSpPr>
              <a:spLocks noChangeArrowheads="1"/>
            </p:cNvSpPr>
            <p:nvPr/>
          </p:nvSpPr>
          <p:spPr bwMode="auto">
            <a:xfrm>
              <a:off x="3168" y="2784"/>
              <a:ext cx="912" cy="768"/>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46" name="Line 30">
              <a:extLst>
                <a:ext uri="{FF2B5EF4-FFF2-40B4-BE49-F238E27FC236}">
                  <a16:creationId xmlns:a16="http://schemas.microsoft.com/office/drawing/2014/main" id="{F5562331-EDD2-E843-9CB5-E8C78F896A66}"/>
                </a:ext>
              </a:extLst>
            </p:cNvPr>
            <p:cNvSpPr>
              <a:spLocks noChangeShapeType="1"/>
            </p:cNvSpPr>
            <p:nvPr/>
          </p:nvSpPr>
          <p:spPr bwMode="auto">
            <a:xfrm>
              <a:off x="4080"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947" name="Text Box 31">
              <a:extLst>
                <a:ext uri="{FF2B5EF4-FFF2-40B4-BE49-F238E27FC236}">
                  <a16:creationId xmlns:a16="http://schemas.microsoft.com/office/drawing/2014/main" id="{34FC3C34-A25B-2945-797D-FAC44B62ADCF}"/>
                </a:ext>
              </a:extLst>
            </p:cNvPr>
            <p:cNvSpPr txBox="1">
              <a:spLocks noChangeArrowheads="1"/>
            </p:cNvSpPr>
            <p:nvPr/>
          </p:nvSpPr>
          <p:spPr bwMode="auto">
            <a:xfrm>
              <a:off x="3168" y="18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任务代码</a:t>
              </a:r>
            </a:p>
          </p:txBody>
        </p:sp>
        <p:sp>
          <p:nvSpPr>
            <p:cNvPr id="38948" name="Text Box 32">
              <a:extLst>
                <a:ext uri="{FF2B5EF4-FFF2-40B4-BE49-F238E27FC236}">
                  <a16:creationId xmlns:a16="http://schemas.microsoft.com/office/drawing/2014/main" id="{2B26DE76-023B-8B3A-46E7-32C59852BAFC}"/>
                </a:ext>
              </a:extLst>
            </p:cNvPr>
            <p:cNvSpPr txBox="1">
              <a:spLocks noChangeArrowheads="1"/>
            </p:cNvSpPr>
            <p:nvPr/>
          </p:nvSpPr>
          <p:spPr bwMode="auto">
            <a:xfrm>
              <a:off x="3168" y="30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任务堆栈</a:t>
              </a:r>
            </a:p>
          </p:txBody>
        </p:sp>
        <p:sp>
          <p:nvSpPr>
            <p:cNvPr id="38949" name="Text Box 33">
              <a:extLst>
                <a:ext uri="{FF2B5EF4-FFF2-40B4-BE49-F238E27FC236}">
                  <a16:creationId xmlns:a16="http://schemas.microsoft.com/office/drawing/2014/main" id="{15BC5341-291A-05AD-6BB9-4C2EABE43FA2}"/>
                </a:ext>
              </a:extLst>
            </p:cNvPr>
            <p:cNvSpPr txBox="1">
              <a:spLocks noChangeArrowheads="1"/>
            </p:cNvSpPr>
            <p:nvPr/>
          </p:nvSpPr>
          <p:spPr bwMode="auto">
            <a:xfrm>
              <a:off x="3360" y="1248"/>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内存</a:t>
              </a:r>
            </a:p>
          </p:txBody>
        </p:sp>
        <p:sp>
          <p:nvSpPr>
            <p:cNvPr id="38950" name="Line 34">
              <a:extLst>
                <a:ext uri="{FF2B5EF4-FFF2-40B4-BE49-F238E27FC236}">
                  <a16:creationId xmlns:a16="http://schemas.microsoft.com/office/drawing/2014/main" id="{F2D9FB70-C2AD-2E12-D738-B43AE490B5E4}"/>
                </a:ext>
              </a:extLst>
            </p:cNvPr>
            <p:cNvSpPr>
              <a:spLocks noChangeShapeType="1"/>
            </p:cNvSpPr>
            <p:nvPr/>
          </p:nvSpPr>
          <p:spPr bwMode="auto">
            <a:xfrm>
              <a:off x="3168"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8924" name="Group 35">
            <a:extLst>
              <a:ext uri="{FF2B5EF4-FFF2-40B4-BE49-F238E27FC236}">
                <a16:creationId xmlns:a16="http://schemas.microsoft.com/office/drawing/2014/main" id="{E163B145-1DB2-9C03-3750-8B153C62DBDE}"/>
              </a:ext>
            </a:extLst>
          </p:cNvPr>
          <p:cNvGrpSpPr>
            <a:grpSpLocks/>
          </p:cNvGrpSpPr>
          <p:nvPr/>
        </p:nvGrpSpPr>
        <p:grpSpPr bwMode="auto">
          <a:xfrm>
            <a:off x="5486400" y="2057400"/>
            <a:ext cx="1447800" cy="4648200"/>
            <a:chOff x="3168" y="1104"/>
            <a:chExt cx="912" cy="2928"/>
          </a:xfrm>
        </p:grpSpPr>
        <p:sp>
          <p:nvSpPr>
            <p:cNvPr id="38931" name="AutoShape 36">
              <a:extLst>
                <a:ext uri="{FF2B5EF4-FFF2-40B4-BE49-F238E27FC236}">
                  <a16:creationId xmlns:a16="http://schemas.microsoft.com/office/drawing/2014/main" id="{4F69200A-79F6-3BC2-61D5-04FA3F51F45E}"/>
                </a:ext>
              </a:extLst>
            </p:cNvPr>
            <p:cNvSpPr>
              <a:spLocks noChangeArrowheads="1"/>
            </p:cNvSpPr>
            <p:nvPr/>
          </p:nvSpPr>
          <p:spPr bwMode="auto">
            <a:xfrm>
              <a:off x="3168" y="1104"/>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2" name="AutoShape 37">
              <a:extLst>
                <a:ext uri="{FF2B5EF4-FFF2-40B4-BE49-F238E27FC236}">
                  <a16:creationId xmlns:a16="http://schemas.microsoft.com/office/drawing/2014/main" id="{BD619870-2FAB-6BE5-9919-30B6ACB65886}"/>
                </a:ext>
              </a:extLst>
            </p:cNvPr>
            <p:cNvSpPr>
              <a:spLocks noChangeArrowheads="1"/>
            </p:cNvSpPr>
            <p:nvPr/>
          </p:nvSpPr>
          <p:spPr bwMode="auto">
            <a:xfrm>
              <a:off x="3168" y="3408"/>
              <a:ext cx="912" cy="624"/>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3" name="AutoShape 38">
              <a:extLst>
                <a:ext uri="{FF2B5EF4-FFF2-40B4-BE49-F238E27FC236}">
                  <a16:creationId xmlns:a16="http://schemas.microsoft.com/office/drawing/2014/main" id="{56FBC4CF-B843-8679-79C0-EA125F208D3B}"/>
                </a:ext>
              </a:extLst>
            </p:cNvPr>
            <p:cNvSpPr>
              <a:spLocks noChangeArrowheads="1"/>
            </p:cNvSpPr>
            <p:nvPr/>
          </p:nvSpPr>
          <p:spPr bwMode="auto">
            <a:xfrm>
              <a:off x="3168" y="2208"/>
              <a:ext cx="912" cy="720"/>
            </a:xfrm>
            <a:prstGeom prst="flowChartPunchedTape">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4" name="Rectangle 39">
              <a:extLst>
                <a:ext uri="{FF2B5EF4-FFF2-40B4-BE49-F238E27FC236}">
                  <a16:creationId xmlns:a16="http://schemas.microsoft.com/office/drawing/2014/main" id="{C1BE0CC1-9D3B-7B8E-C2FD-252B96E01D4A}"/>
                </a:ext>
              </a:extLst>
            </p:cNvPr>
            <p:cNvSpPr>
              <a:spLocks noChangeArrowheads="1"/>
            </p:cNvSpPr>
            <p:nvPr/>
          </p:nvSpPr>
          <p:spPr bwMode="auto">
            <a:xfrm>
              <a:off x="3168" y="1584"/>
              <a:ext cx="912" cy="768"/>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5" name="Rectangle 40">
              <a:extLst>
                <a:ext uri="{FF2B5EF4-FFF2-40B4-BE49-F238E27FC236}">
                  <a16:creationId xmlns:a16="http://schemas.microsoft.com/office/drawing/2014/main" id="{69029624-50E9-03D6-D73E-59EE217293A0}"/>
                </a:ext>
              </a:extLst>
            </p:cNvPr>
            <p:cNvSpPr>
              <a:spLocks noChangeArrowheads="1"/>
            </p:cNvSpPr>
            <p:nvPr/>
          </p:nvSpPr>
          <p:spPr bwMode="auto">
            <a:xfrm>
              <a:off x="3168" y="2784"/>
              <a:ext cx="912" cy="768"/>
            </a:xfrm>
            <a:prstGeom prst="rect">
              <a:avLst/>
            </a:prstGeom>
            <a:solidFill>
              <a:srgbClr val="CC99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6" name="Line 41">
              <a:extLst>
                <a:ext uri="{FF2B5EF4-FFF2-40B4-BE49-F238E27FC236}">
                  <a16:creationId xmlns:a16="http://schemas.microsoft.com/office/drawing/2014/main" id="{D4C737BC-8EB6-09C2-876F-AB45371D2E9F}"/>
                </a:ext>
              </a:extLst>
            </p:cNvPr>
            <p:cNvSpPr>
              <a:spLocks noChangeShapeType="1"/>
            </p:cNvSpPr>
            <p:nvPr/>
          </p:nvSpPr>
          <p:spPr bwMode="auto">
            <a:xfrm>
              <a:off x="4080"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937" name="Text Box 42">
              <a:extLst>
                <a:ext uri="{FF2B5EF4-FFF2-40B4-BE49-F238E27FC236}">
                  <a16:creationId xmlns:a16="http://schemas.microsoft.com/office/drawing/2014/main" id="{77AA13EC-F24A-3E6C-0C85-D61CBACE1346}"/>
                </a:ext>
              </a:extLst>
            </p:cNvPr>
            <p:cNvSpPr txBox="1">
              <a:spLocks noChangeArrowheads="1"/>
            </p:cNvSpPr>
            <p:nvPr/>
          </p:nvSpPr>
          <p:spPr bwMode="auto">
            <a:xfrm>
              <a:off x="3168" y="18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任务代码</a:t>
              </a:r>
            </a:p>
          </p:txBody>
        </p:sp>
        <p:sp>
          <p:nvSpPr>
            <p:cNvPr id="38938" name="Text Box 43">
              <a:extLst>
                <a:ext uri="{FF2B5EF4-FFF2-40B4-BE49-F238E27FC236}">
                  <a16:creationId xmlns:a16="http://schemas.microsoft.com/office/drawing/2014/main" id="{137B1A69-194D-6416-0891-C50D1231AADC}"/>
                </a:ext>
              </a:extLst>
            </p:cNvPr>
            <p:cNvSpPr txBox="1">
              <a:spLocks noChangeArrowheads="1"/>
            </p:cNvSpPr>
            <p:nvPr/>
          </p:nvSpPr>
          <p:spPr bwMode="auto">
            <a:xfrm>
              <a:off x="3168" y="30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任务堆栈</a:t>
              </a:r>
            </a:p>
          </p:txBody>
        </p:sp>
        <p:sp>
          <p:nvSpPr>
            <p:cNvPr id="38939" name="Text Box 44">
              <a:extLst>
                <a:ext uri="{FF2B5EF4-FFF2-40B4-BE49-F238E27FC236}">
                  <a16:creationId xmlns:a16="http://schemas.microsoft.com/office/drawing/2014/main" id="{0737543B-D8F2-9B0D-329E-F2EE9470139D}"/>
                </a:ext>
              </a:extLst>
            </p:cNvPr>
            <p:cNvSpPr txBox="1">
              <a:spLocks noChangeArrowheads="1"/>
            </p:cNvSpPr>
            <p:nvPr/>
          </p:nvSpPr>
          <p:spPr bwMode="auto">
            <a:xfrm>
              <a:off x="3360" y="1248"/>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内存</a:t>
              </a:r>
            </a:p>
          </p:txBody>
        </p:sp>
        <p:sp>
          <p:nvSpPr>
            <p:cNvPr id="38940" name="Line 45">
              <a:extLst>
                <a:ext uri="{FF2B5EF4-FFF2-40B4-BE49-F238E27FC236}">
                  <a16:creationId xmlns:a16="http://schemas.microsoft.com/office/drawing/2014/main" id="{8ADFEE5E-4741-2091-6D77-F993E8D9E834}"/>
                </a:ext>
              </a:extLst>
            </p:cNvPr>
            <p:cNvSpPr>
              <a:spLocks noChangeShapeType="1"/>
            </p:cNvSpPr>
            <p:nvPr/>
          </p:nvSpPr>
          <p:spPr bwMode="auto">
            <a:xfrm>
              <a:off x="3168" y="1104"/>
              <a:ext cx="0" cy="2880"/>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79918" name="Text Box 46">
            <a:extLst>
              <a:ext uri="{FF2B5EF4-FFF2-40B4-BE49-F238E27FC236}">
                <a16:creationId xmlns:a16="http://schemas.microsoft.com/office/drawing/2014/main" id="{F5A323DB-581B-E4BA-3832-FDC55EC5BA41}"/>
              </a:ext>
            </a:extLst>
          </p:cNvPr>
          <p:cNvSpPr txBox="1">
            <a:spLocks noChangeArrowheads="1"/>
          </p:cNvSpPr>
          <p:nvPr/>
        </p:nvSpPr>
        <p:spPr bwMode="auto">
          <a:xfrm>
            <a:off x="3505200" y="3200400"/>
            <a:ext cx="1066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9600" b="0">
                <a:solidFill>
                  <a:srgbClr val="FF0000"/>
                </a:solidFill>
                <a:latin typeface="Tahoma" panose="020B0604030504040204" pitchFamily="34" charset="0"/>
              </a:rPr>
              <a:t>？</a:t>
            </a:r>
          </a:p>
        </p:txBody>
      </p:sp>
      <p:sp>
        <p:nvSpPr>
          <p:cNvPr id="79919" name="AutoShape 47">
            <a:extLst>
              <a:ext uri="{FF2B5EF4-FFF2-40B4-BE49-F238E27FC236}">
                <a16:creationId xmlns:a16="http://schemas.microsoft.com/office/drawing/2014/main" id="{6DA2FF9A-4BD1-B135-CEEA-B045351060C3}"/>
              </a:ext>
            </a:extLst>
          </p:cNvPr>
          <p:cNvSpPr>
            <a:spLocks noChangeArrowheads="1"/>
          </p:cNvSpPr>
          <p:nvPr/>
        </p:nvSpPr>
        <p:spPr bwMode="auto">
          <a:xfrm>
            <a:off x="4724400" y="1676400"/>
            <a:ext cx="3505200" cy="1219200"/>
          </a:xfrm>
          <a:prstGeom prst="wedgeRoundRectCallout">
            <a:avLst>
              <a:gd name="adj1" fmla="val -67208"/>
              <a:gd name="adj2" fmla="val 130079"/>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当有多个任务时，处理器中的运行环境应该怎么办？</a:t>
            </a:r>
          </a:p>
        </p:txBody>
      </p:sp>
      <p:sp>
        <p:nvSpPr>
          <p:cNvPr id="38927" name="Text Box 48">
            <a:extLst>
              <a:ext uri="{FF2B5EF4-FFF2-40B4-BE49-F238E27FC236}">
                <a16:creationId xmlns:a16="http://schemas.microsoft.com/office/drawing/2014/main" id="{994FA293-016A-E628-CFCF-947A498C34B4}"/>
              </a:ext>
            </a:extLst>
          </p:cNvPr>
          <p:cNvSpPr txBox="1">
            <a:spLocks noChangeArrowheads="1"/>
          </p:cNvSpPr>
          <p:nvPr/>
        </p:nvSpPr>
        <p:spPr bwMode="auto">
          <a:xfrm>
            <a:off x="1939925" y="3733800"/>
            <a:ext cx="1412875" cy="466725"/>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寄存器组</a:t>
            </a:r>
          </a:p>
        </p:txBody>
      </p:sp>
      <p:sp>
        <p:nvSpPr>
          <p:cNvPr id="38928" name="Freeform 49">
            <a:extLst>
              <a:ext uri="{FF2B5EF4-FFF2-40B4-BE49-F238E27FC236}">
                <a16:creationId xmlns:a16="http://schemas.microsoft.com/office/drawing/2014/main" id="{FA8E3585-CB5E-8DFF-5D8F-279084C7D876}"/>
              </a:ext>
            </a:extLst>
          </p:cNvPr>
          <p:cNvSpPr>
            <a:spLocks/>
          </p:cNvSpPr>
          <p:nvPr/>
        </p:nvSpPr>
        <p:spPr bwMode="auto">
          <a:xfrm>
            <a:off x="914400" y="2362200"/>
            <a:ext cx="3309938" cy="4087813"/>
          </a:xfrm>
          <a:custGeom>
            <a:avLst/>
            <a:gdLst>
              <a:gd name="T0" fmla="*/ 2147483646 w 2085"/>
              <a:gd name="T1" fmla="*/ 2147483646 h 2575"/>
              <a:gd name="T2" fmla="*/ 2147483646 w 2085"/>
              <a:gd name="T3" fmla="*/ 2147483646 h 2575"/>
              <a:gd name="T4" fmla="*/ 2147483646 w 2085"/>
              <a:gd name="T5" fmla="*/ 2147483646 h 2575"/>
              <a:gd name="T6" fmla="*/ 2147483646 w 2085"/>
              <a:gd name="T7" fmla="*/ 2147483646 h 2575"/>
              <a:gd name="T8" fmla="*/ 2147483646 w 2085"/>
              <a:gd name="T9" fmla="*/ 2147483646 h 2575"/>
              <a:gd name="T10" fmla="*/ 2147483646 w 2085"/>
              <a:gd name="T11" fmla="*/ 2147483646 h 2575"/>
              <a:gd name="T12" fmla="*/ 2147483646 w 2085"/>
              <a:gd name="T13" fmla="*/ 2147483646 h 2575"/>
              <a:gd name="T14" fmla="*/ 0 60000 65536"/>
              <a:gd name="T15" fmla="*/ 0 60000 65536"/>
              <a:gd name="T16" fmla="*/ 0 60000 65536"/>
              <a:gd name="T17" fmla="*/ 0 60000 65536"/>
              <a:gd name="T18" fmla="*/ 0 60000 65536"/>
              <a:gd name="T19" fmla="*/ 0 60000 65536"/>
              <a:gd name="T20" fmla="*/ 0 60000 65536"/>
              <a:gd name="T21" fmla="*/ 0 w 2085"/>
              <a:gd name="T22" fmla="*/ 0 h 2575"/>
              <a:gd name="T23" fmla="*/ 2085 w 2085"/>
              <a:gd name="T24" fmla="*/ 2575 h 25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85" h="2575">
                <a:moveTo>
                  <a:pt x="333" y="304"/>
                </a:moveTo>
                <a:cubicBezTo>
                  <a:pt x="605" y="0"/>
                  <a:pt x="1557" y="168"/>
                  <a:pt x="1821" y="304"/>
                </a:cubicBezTo>
                <a:cubicBezTo>
                  <a:pt x="2085" y="440"/>
                  <a:pt x="1908" y="839"/>
                  <a:pt x="1917" y="1120"/>
                </a:cubicBezTo>
                <a:cubicBezTo>
                  <a:pt x="1926" y="1401"/>
                  <a:pt x="1950" y="1752"/>
                  <a:pt x="1875" y="1991"/>
                </a:cubicBezTo>
                <a:cubicBezTo>
                  <a:pt x="1800" y="2230"/>
                  <a:pt x="1749" y="2529"/>
                  <a:pt x="1468" y="2552"/>
                </a:cubicBezTo>
                <a:cubicBezTo>
                  <a:pt x="1187" y="2575"/>
                  <a:pt x="378" y="2503"/>
                  <a:pt x="189" y="2128"/>
                </a:cubicBezTo>
                <a:cubicBezTo>
                  <a:pt x="0" y="1753"/>
                  <a:pt x="61" y="608"/>
                  <a:pt x="333" y="304"/>
                </a:cubicBezTo>
                <a:close/>
              </a:path>
            </a:pathLst>
          </a:custGeom>
          <a:solidFill>
            <a:srgbClr val="FF0000">
              <a:alpha val="50195"/>
            </a:srgbClr>
          </a:solidFill>
          <a:ln w="9525">
            <a:solidFill>
              <a:schemeClr val="tx1"/>
            </a:solidFill>
            <a:round/>
            <a:headEnd/>
            <a:tailEnd/>
          </a:ln>
        </p:spPr>
        <p:txBody>
          <a:bodyPr wrap="none"/>
          <a:lstStyle/>
          <a:p>
            <a:endParaRPr lang="zh-CN" altLang="en-US"/>
          </a:p>
        </p:txBody>
      </p:sp>
      <p:sp>
        <p:nvSpPr>
          <p:cNvPr id="38929" name="Freeform 50">
            <a:extLst>
              <a:ext uri="{FF2B5EF4-FFF2-40B4-BE49-F238E27FC236}">
                <a16:creationId xmlns:a16="http://schemas.microsoft.com/office/drawing/2014/main" id="{3130C099-9446-0C53-95FE-F6A8B5E9EDDF}"/>
              </a:ext>
            </a:extLst>
          </p:cNvPr>
          <p:cNvSpPr>
            <a:spLocks/>
          </p:cNvSpPr>
          <p:nvPr/>
        </p:nvSpPr>
        <p:spPr bwMode="auto">
          <a:xfrm>
            <a:off x="4572000" y="4267200"/>
            <a:ext cx="2971800" cy="1981200"/>
          </a:xfrm>
          <a:custGeom>
            <a:avLst/>
            <a:gdLst>
              <a:gd name="T0" fmla="*/ 2147483646 w 2085"/>
              <a:gd name="T1" fmla="*/ 2147483646 h 2575"/>
              <a:gd name="T2" fmla="*/ 2147483646 w 2085"/>
              <a:gd name="T3" fmla="*/ 2147483646 h 2575"/>
              <a:gd name="T4" fmla="*/ 2147483646 w 2085"/>
              <a:gd name="T5" fmla="*/ 2147483646 h 2575"/>
              <a:gd name="T6" fmla="*/ 2147483646 w 2085"/>
              <a:gd name="T7" fmla="*/ 2147483646 h 2575"/>
              <a:gd name="T8" fmla="*/ 2147483646 w 2085"/>
              <a:gd name="T9" fmla="*/ 2147483646 h 2575"/>
              <a:gd name="T10" fmla="*/ 2147483646 w 2085"/>
              <a:gd name="T11" fmla="*/ 2147483646 h 2575"/>
              <a:gd name="T12" fmla="*/ 2147483646 w 2085"/>
              <a:gd name="T13" fmla="*/ 2147483646 h 2575"/>
              <a:gd name="T14" fmla="*/ 0 60000 65536"/>
              <a:gd name="T15" fmla="*/ 0 60000 65536"/>
              <a:gd name="T16" fmla="*/ 0 60000 65536"/>
              <a:gd name="T17" fmla="*/ 0 60000 65536"/>
              <a:gd name="T18" fmla="*/ 0 60000 65536"/>
              <a:gd name="T19" fmla="*/ 0 60000 65536"/>
              <a:gd name="T20" fmla="*/ 0 60000 65536"/>
              <a:gd name="T21" fmla="*/ 0 w 2085"/>
              <a:gd name="T22" fmla="*/ 0 h 2575"/>
              <a:gd name="T23" fmla="*/ 2085 w 2085"/>
              <a:gd name="T24" fmla="*/ 2575 h 25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85" h="2575">
                <a:moveTo>
                  <a:pt x="333" y="304"/>
                </a:moveTo>
                <a:cubicBezTo>
                  <a:pt x="605" y="0"/>
                  <a:pt x="1557" y="168"/>
                  <a:pt x="1821" y="304"/>
                </a:cubicBezTo>
                <a:cubicBezTo>
                  <a:pt x="2085" y="440"/>
                  <a:pt x="1908" y="839"/>
                  <a:pt x="1917" y="1120"/>
                </a:cubicBezTo>
                <a:cubicBezTo>
                  <a:pt x="1926" y="1401"/>
                  <a:pt x="1950" y="1752"/>
                  <a:pt x="1875" y="1991"/>
                </a:cubicBezTo>
                <a:cubicBezTo>
                  <a:pt x="1800" y="2230"/>
                  <a:pt x="1749" y="2529"/>
                  <a:pt x="1468" y="2552"/>
                </a:cubicBezTo>
                <a:cubicBezTo>
                  <a:pt x="1187" y="2575"/>
                  <a:pt x="378" y="2503"/>
                  <a:pt x="189" y="2128"/>
                </a:cubicBezTo>
                <a:cubicBezTo>
                  <a:pt x="0" y="1753"/>
                  <a:pt x="61" y="608"/>
                  <a:pt x="333" y="304"/>
                </a:cubicBezTo>
                <a:close/>
              </a:path>
            </a:pathLst>
          </a:custGeom>
          <a:solidFill>
            <a:srgbClr val="CCFFFF">
              <a:alpha val="50195"/>
            </a:srgbClr>
          </a:solidFill>
          <a:ln w="9525">
            <a:solidFill>
              <a:schemeClr val="tx1"/>
            </a:solidFill>
            <a:round/>
            <a:headEnd/>
            <a:tailEnd/>
          </a:ln>
        </p:spPr>
        <p:txBody>
          <a:bodyPr wrap="none"/>
          <a:lstStyle/>
          <a:p>
            <a:endParaRPr lang="zh-CN" altLang="en-US"/>
          </a:p>
        </p:txBody>
      </p:sp>
      <p:sp>
        <p:nvSpPr>
          <p:cNvPr id="38930" name="Text Box 51">
            <a:extLst>
              <a:ext uri="{FF2B5EF4-FFF2-40B4-BE49-F238E27FC236}">
                <a16:creationId xmlns:a16="http://schemas.microsoft.com/office/drawing/2014/main" id="{9358B072-B5A6-AC4B-AEA5-41482BC78C4D}"/>
              </a:ext>
            </a:extLst>
          </p:cNvPr>
          <p:cNvSpPr txBox="1">
            <a:spLocks noChangeArrowheads="1"/>
          </p:cNvSpPr>
          <p:nvPr/>
        </p:nvSpPr>
        <p:spPr bwMode="auto">
          <a:xfrm>
            <a:off x="3581400" y="548640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程序运行环境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9918"/>
                                        </p:tgtEl>
                                        <p:attrNameLst>
                                          <p:attrName>style.visibility</p:attrName>
                                        </p:attrNameLst>
                                      </p:cBhvr>
                                      <p:to>
                                        <p:strVal val="visible"/>
                                      </p:to>
                                    </p:set>
                                    <p:animEffect transition="in" filter="box(out)">
                                      <p:cBhvr>
                                        <p:cTn id="17" dur="500"/>
                                        <p:tgtEl>
                                          <p:spTgt spid="799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9919"/>
                                        </p:tgtEl>
                                        <p:attrNameLst>
                                          <p:attrName>style.visibility</p:attrName>
                                        </p:attrNameLst>
                                      </p:cBhvr>
                                      <p:to>
                                        <p:strVal val="visible"/>
                                      </p:to>
                                    </p:set>
                                    <p:animEffect transition="in" filter="box(in)">
                                      <p:cBhvr>
                                        <p:cTn id="22" dur="500"/>
                                        <p:tgtEl>
                                          <p:spTgt spid="7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18" grpId="0" autoUpdateAnimBg="0"/>
      <p:bldP spid="79919"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1">
            <a:extLst>
              <a:ext uri="{FF2B5EF4-FFF2-40B4-BE49-F238E27FC236}">
                <a16:creationId xmlns:a16="http://schemas.microsoft.com/office/drawing/2014/main" id="{AE70D9D3-5323-26DF-1CD0-929478E9BCB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39939" name="灯片编号占位符 2">
            <a:extLst>
              <a:ext uri="{FF2B5EF4-FFF2-40B4-BE49-F238E27FC236}">
                <a16:creationId xmlns:a16="http://schemas.microsoft.com/office/drawing/2014/main" id="{B7962D65-DB85-F7F5-FDD4-F8A0E78AA2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2AE8AD6-0D48-48DB-876A-B0BA037476DF}" type="slidenum">
              <a:rPr lang="en-US" altLang="zh-CN" sz="1200" smtClean="0">
                <a:solidFill>
                  <a:srgbClr val="3366FF"/>
                </a:solidFill>
                <a:latin typeface="Arial Black" panose="020B0A04020102020204" pitchFamily="34" charset="0"/>
              </a:rPr>
              <a:pPr>
                <a:spcBef>
                  <a:spcPct val="0"/>
                </a:spcBef>
                <a:buClrTx/>
                <a:buSzTx/>
                <a:buFontTx/>
                <a:buNone/>
              </a:pPr>
              <a:t>36</a:t>
            </a:fld>
            <a:endParaRPr lang="en-US" altLang="zh-CN" sz="1200">
              <a:solidFill>
                <a:srgbClr val="3366FF"/>
              </a:solidFill>
              <a:latin typeface="Arial Black" panose="020B0A04020102020204" pitchFamily="34" charset="0"/>
            </a:endParaRPr>
          </a:p>
        </p:txBody>
      </p:sp>
      <p:sp>
        <p:nvSpPr>
          <p:cNvPr id="39940" name="日期占位符 3">
            <a:extLst>
              <a:ext uri="{FF2B5EF4-FFF2-40B4-BE49-F238E27FC236}">
                <a16:creationId xmlns:a16="http://schemas.microsoft.com/office/drawing/2014/main" id="{DCB3BFC2-F2EF-8EA3-5ECD-8ED25550E47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E338C23-BF08-42F3-B8EA-59F5880C31C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39941" name="Group 2">
            <a:extLst>
              <a:ext uri="{FF2B5EF4-FFF2-40B4-BE49-F238E27FC236}">
                <a16:creationId xmlns:a16="http://schemas.microsoft.com/office/drawing/2014/main" id="{9BBCF4C4-05DC-A286-B612-8E936921C735}"/>
              </a:ext>
            </a:extLst>
          </p:cNvPr>
          <p:cNvGrpSpPr>
            <a:grpSpLocks/>
          </p:cNvGrpSpPr>
          <p:nvPr/>
        </p:nvGrpSpPr>
        <p:grpSpPr bwMode="auto">
          <a:xfrm>
            <a:off x="2286000" y="1143000"/>
            <a:ext cx="5791200" cy="5105400"/>
            <a:chOff x="1440" y="720"/>
            <a:chExt cx="3648" cy="3216"/>
          </a:xfrm>
        </p:grpSpPr>
        <p:sp>
          <p:nvSpPr>
            <p:cNvPr id="39974" name="Oval 3">
              <a:extLst>
                <a:ext uri="{FF2B5EF4-FFF2-40B4-BE49-F238E27FC236}">
                  <a16:creationId xmlns:a16="http://schemas.microsoft.com/office/drawing/2014/main" id="{E40B9DBE-BCE6-C900-0A36-51A1DC5EF71C}"/>
                </a:ext>
              </a:extLst>
            </p:cNvPr>
            <p:cNvSpPr>
              <a:spLocks noChangeArrowheads="1"/>
            </p:cNvSpPr>
            <p:nvPr/>
          </p:nvSpPr>
          <p:spPr bwMode="auto">
            <a:xfrm>
              <a:off x="1440" y="720"/>
              <a:ext cx="2304" cy="3216"/>
            </a:xfrm>
            <a:prstGeom prst="ellipse">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75" name="AutoShape 4">
              <a:extLst>
                <a:ext uri="{FF2B5EF4-FFF2-40B4-BE49-F238E27FC236}">
                  <a16:creationId xmlns:a16="http://schemas.microsoft.com/office/drawing/2014/main" id="{CE73771E-0FBE-D926-2F08-0044740DAE07}"/>
                </a:ext>
              </a:extLst>
            </p:cNvPr>
            <p:cNvSpPr>
              <a:spLocks noChangeArrowheads="1"/>
            </p:cNvSpPr>
            <p:nvPr/>
          </p:nvSpPr>
          <p:spPr bwMode="auto">
            <a:xfrm rot="-5400000">
              <a:off x="3744" y="1584"/>
              <a:ext cx="1152" cy="9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21600" y="0"/>
                  </a:moveTo>
                  <a:lnTo>
                    <a:pt x="21600" y="0"/>
                  </a:lnTo>
                  <a:lnTo>
                    <a:pt x="3375" y="0"/>
                  </a:lnTo>
                  <a:lnTo>
                    <a:pt x="3375" y="21600"/>
                  </a:lnTo>
                  <a:lnTo>
                    <a:pt x="21600" y="21600"/>
                  </a:lnTo>
                  <a:lnTo>
                    <a:pt x="21600" y="10800"/>
                  </a:lnTo>
                  <a:lnTo>
                    <a:pt x="21600" y="0"/>
                  </a:lnTo>
                  <a:close/>
                </a:path>
                <a:path w="21600" h="21600">
                  <a:moveTo>
                    <a:pt x="1350" y="0"/>
                  </a:moveTo>
                  <a:lnTo>
                    <a:pt x="1350" y="21600"/>
                  </a:lnTo>
                  <a:lnTo>
                    <a:pt x="2700" y="21600"/>
                  </a:lnTo>
                  <a:lnTo>
                    <a:pt x="2700" y="0"/>
                  </a:lnTo>
                  <a:lnTo>
                    <a:pt x="1350" y="0"/>
                  </a:lnTo>
                  <a:close/>
                </a:path>
                <a:path w="21600" h="21600">
                  <a:moveTo>
                    <a:pt x="0" y="0"/>
                  </a:moveTo>
                  <a:lnTo>
                    <a:pt x="0" y="21600"/>
                  </a:lnTo>
                  <a:lnTo>
                    <a:pt x="675" y="21600"/>
                  </a:lnTo>
                  <a:lnTo>
                    <a:pt x="675" y="0"/>
                  </a:lnTo>
                  <a:lnTo>
                    <a:pt x="0" y="0"/>
                  </a:lnTo>
                  <a:close/>
                </a:path>
              </a:pathLst>
            </a:custGeom>
            <a:solidFill>
              <a:srgbClr val="CCECFF"/>
            </a:solidFill>
            <a:ln w="9525">
              <a:solidFill>
                <a:schemeClr val="tx1"/>
              </a:solidFill>
              <a:miter lim="800000"/>
              <a:headEnd/>
              <a:tailEnd/>
            </a:ln>
          </p:spPr>
          <p:txBody>
            <a:bodyPr wrap="none" anchor="ctr"/>
            <a:lstStyle/>
            <a:p>
              <a:endParaRPr lang="zh-CN" altLang="en-US"/>
            </a:p>
          </p:txBody>
        </p:sp>
        <p:sp>
          <p:nvSpPr>
            <p:cNvPr id="39976" name="AutoShape 5">
              <a:extLst>
                <a:ext uri="{FF2B5EF4-FFF2-40B4-BE49-F238E27FC236}">
                  <a16:creationId xmlns:a16="http://schemas.microsoft.com/office/drawing/2014/main" id="{C2F68349-3D81-4FDC-D9CC-292B5B165C4A}"/>
                </a:ext>
              </a:extLst>
            </p:cNvPr>
            <p:cNvSpPr>
              <a:spLocks noChangeArrowheads="1"/>
            </p:cNvSpPr>
            <p:nvPr/>
          </p:nvSpPr>
          <p:spPr bwMode="auto">
            <a:xfrm rot="-5400000">
              <a:off x="3840" y="1680"/>
              <a:ext cx="1152" cy="9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21600" y="0"/>
                  </a:moveTo>
                  <a:lnTo>
                    <a:pt x="21600" y="0"/>
                  </a:lnTo>
                  <a:lnTo>
                    <a:pt x="3375" y="0"/>
                  </a:lnTo>
                  <a:lnTo>
                    <a:pt x="3375" y="21600"/>
                  </a:lnTo>
                  <a:lnTo>
                    <a:pt x="21600" y="21600"/>
                  </a:lnTo>
                  <a:lnTo>
                    <a:pt x="21600" y="10800"/>
                  </a:lnTo>
                  <a:lnTo>
                    <a:pt x="21600" y="0"/>
                  </a:lnTo>
                  <a:close/>
                </a:path>
                <a:path w="21600" h="21600">
                  <a:moveTo>
                    <a:pt x="1350" y="0"/>
                  </a:moveTo>
                  <a:lnTo>
                    <a:pt x="1350" y="21600"/>
                  </a:lnTo>
                  <a:lnTo>
                    <a:pt x="2700" y="21600"/>
                  </a:lnTo>
                  <a:lnTo>
                    <a:pt x="2700" y="0"/>
                  </a:lnTo>
                  <a:lnTo>
                    <a:pt x="1350" y="0"/>
                  </a:lnTo>
                  <a:close/>
                </a:path>
                <a:path w="21600" h="21600">
                  <a:moveTo>
                    <a:pt x="0" y="0"/>
                  </a:moveTo>
                  <a:lnTo>
                    <a:pt x="0" y="21600"/>
                  </a:lnTo>
                  <a:lnTo>
                    <a:pt x="675" y="21600"/>
                  </a:lnTo>
                  <a:lnTo>
                    <a:pt x="675" y="0"/>
                  </a:lnTo>
                  <a:lnTo>
                    <a:pt x="0" y="0"/>
                  </a:lnTo>
                  <a:close/>
                </a:path>
              </a:pathLst>
            </a:custGeom>
            <a:solidFill>
              <a:srgbClr val="CCECFF"/>
            </a:solidFill>
            <a:ln w="9525">
              <a:solidFill>
                <a:schemeClr val="tx1"/>
              </a:solidFill>
              <a:miter lim="800000"/>
              <a:headEnd/>
              <a:tailEnd/>
            </a:ln>
          </p:spPr>
          <p:txBody>
            <a:bodyPr wrap="none" anchor="ctr"/>
            <a:lstStyle/>
            <a:p>
              <a:endParaRPr lang="zh-CN" altLang="en-US"/>
            </a:p>
          </p:txBody>
        </p:sp>
        <p:sp>
          <p:nvSpPr>
            <p:cNvPr id="39977" name="AutoShape 6">
              <a:extLst>
                <a:ext uri="{FF2B5EF4-FFF2-40B4-BE49-F238E27FC236}">
                  <a16:creationId xmlns:a16="http://schemas.microsoft.com/office/drawing/2014/main" id="{D2CF15A1-7B25-4CF1-7731-0C04EFBBF8AA}"/>
                </a:ext>
              </a:extLst>
            </p:cNvPr>
            <p:cNvSpPr>
              <a:spLocks noChangeArrowheads="1"/>
            </p:cNvSpPr>
            <p:nvPr/>
          </p:nvSpPr>
          <p:spPr bwMode="auto">
            <a:xfrm rot="-5400000">
              <a:off x="3936" y="1776"/>
              <a:ext cx="1152" cy="9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21600" y="0"/>
                  </a:moveTo>
                  <a:lnTo>
                    <a:pt x="21600" y="0"/>
                  </a:lnTo>
                  <a:lnTo>
                    <a:pt x="3375" y="0"/>
                  </a:lnTo>
                  <a:lnTo>
                    <a:pt x="3375" y="21600"/>
                  </a:lnTo>
                  <a:lnTo>
                    <a:pt x="21600" y="21600"/>
                  </a:lnTo>
                  <a:lnTo>
                    <a:pt x="21600" y="10800"/>
                  </a:lnTo>
                  <a:lnTo>
                    <a:pt x="21600" y="0"/>
                  </a:lnTo>
                  <a:close/>
                </a:path>
                <a:path w="21600" h="21600">
                  <a:moveTo>
                    <a:pt x="1350" y="0"/>
                  </a:moveTo>
                  <a:lnTo>
                    <a:pt x="1350" y="21600"/>
                  </a:lnTo>
                  <a:lnTo>
                    <a:pt x="2700" y="21600"/>
                  </a:lnTo>
                  <a:lnTo>
                    <a:pt x="2700" y="0"/>
                  </a:lnTo>
                  <a:lnTo>
                    <a:pt x="1350" y="0"/>
                  </a:lnTo>
                  <a:close/>
                </a:path>
                <a:path w="21600" h="21600">
                  <a:moveTo>
                    <a:pt x="0" y="0"/>
                  </a:moveTo>
                  <a:lnTo>
                    <a:pt x="0" y="21600"/>
                  </a:lnTo>
                  <a:lnTo>
                    <a:pt x="675" y="21600"/>
                  </a:lnTo>
                  <a:lnTo>
                    <a:pt x="675" y="0"/>
                  </a:lnTo>
                  <a:lnTo>
                    <a:pt x="0" y="0"/>
                  </a:lnTo>
                  <a:close/>
                </a:path>
              </a:pathLst>
            </a:custGeom>
            <a:solidFill>
              <a:srgbClr val="CCECFF"/>
            </a:solidFill>
            <a:ln w="9525">
              <a:solidFill>
                <a:schemeClr val="tx1"/>
              </a:solidFill>
              <a:miter lim="800000"/>
              <a:headEnd/>
              <a:tailEnd/>
            </a:ln>
          </p:spPr>
          <p:txBody>
            <a:bodyPr wrap="none" anchor="ctr"/>
            <a:lstStyle/>
            <a:p>
              <a:endParaRPr lang="zh-CN" altLang="en-US"/>
            </a:p>
          </p:txBody>
        </p:sp>
        <p:sp>
          <p:nvSpPr>
            <p:cNvPr id="39978" name="AutoShape 7">
              <a:extLst>
                <a:ext uri="{FF2B5EF4-FFF2-40B4-BE49-F238E27FC236}">
                  <a16:creationId xmlns:a16="http://schemas.microsoft.com/office/drawing/2014/main" id="{DDDD8371-F8B6-1EFE-C2E6-A9BBB9A1141C}"/>
                </a:ext>
              </a:extLst>
            </p:cNvPr>
            <p:cNvSpPr>
              <a:spLocks noChangeArrowheads="1"/>
            </p:cNvSpPr>
            <p:nvPr/>
          </p:nvSpPr>
          <p:spPr bwMode="auto">
            <a:xfrm rot="-5400000">
              <a:off x="4032" y="1872"/>
              <a:ext cx="1152" cy="9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21600" y="0"/>
                  </a:moveTo>
                  <a:lnTo>
                    <a:pt x="21600" y="0"/>
                  </a:lnTo>
                  <a:lnTo>
                    <a:pt x="3375" y="0"/>
                  </a:lnTo>
                  <a:lnTo>
                    <a:pt x="3375" y="21600"/>
                  </a:lnTo>
                  <a:lnTo>
                    <a:pt x="21600" y="21600"/>
                  </a:lnTo>
                  <a:lnTo>
                    <a:pt x="21600" y="10800"/>
                  </a:lnTo>
                  <a:lnTo>
                    <a:pt x="21600" y="0"/>
                  </a:lnTo>
                  <a:close/>
                </a:path>
                <a:path w="21600" h="21600">
                  <a:moveTo>
                    <a:pt x="1350" y="0"/>
                  </a:moveTo>
                  <a:lnTo>
                    <a:pt x="1350" y="21600"/>
                  </a:lnTo>
                  <a:lnTo>
                    <a:pt x="2700" y="21600"/>
                  </a:lnTo>
                  <a:lnTo>
                    <a:pt x="2700" y="0"/>
                  </a:lnTo>
                  <a:lnTo>
                    <a:pt x="1350" y="0"/>
                  </a:lnTo>
                  <a:close/>
                </a:path>
                <a:path w="21600" h="21600">
                  <a:moveTo>
                    <a:pt x="0" y="0"/>
                  </a:moveTo>
                  <a:lnTo>
                    <a:pt x="0" y="21600"/>
                  </a:lnTo>
                  <a:lnTo>
                    <a:pt x="675" y="21600"/>
                  </a:lnTo>
                  <a:lnTo>
                    <a:pt x="675" y="0"/>
                  </a:lnTo>
                  <a:lnTo>
                    <a:pt x="0" y="0"/>
                  </a:lnTo>
                  <a:close/>
                </a:path>
              </a:pathLst>
            </a:custGeom>
            <a:solidFill>
              <a:srgbClr val="CCECFF"/>
            </a:solidFill>
            <a:ln w="9525">
              <a:solidFill>
                <a:schemeClr val="tx1"/>
              </a:solidFill>
              <a:miter lim="800000"/>
              <a:headEnd/>
              <a:tailEnd/>
            </a:ln>
          </p:spPr>
          <p:txBody>
            <a:bodyPr wrap="none" anchor="ctr"/>
            <a:lstStyle/>
            <a:p>
              <a:endParaRPr lang="zh-CN" altLang="en-US"/>
            </a:p>
          </p:txBody>
        </p:sp>
        <p:sp>
          <p:nvSpPr>
            <p:cNvPr id="39979" name="Text Box 8">
              <a:extLst>
                <a:ext uri="{FF2B5EF4-FFF2-40B4-BE49-F238E27FC236}">
                  <a16:creationId xmlns:a16="http://schemas.microsoft.com/office/drawing/2014/main" id="{1B50AD95-EBEA-D537-CE93-B47E78F769B0}"/>
                </a:ext>
              </a:extLst>
            </p:cNvPr>
            <p:cNvSpPr txBox="1">
              <a:spLocks noChangeArrowheads="1"/>
            </p:cNvSpPr>
            <p:nvPr/>
          </p:nvSpPr>
          <p:spPr bwMode="auto">
            <a:xfrm>
              <a:off x="4368" y="1968"/>
              <a:ext cx="500"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程序</a:t>
              </a:r>
            </a:p>
          </p:txBody>
        </p:sp>
        <p:grpSp>
          <p:nvGrpSpPr>
            <p:cNvPr id="39980" name="Group 9">
              <a:extLst>
                <a:ext uri="{FF2B5EF4-FFF2-40B4-BE49-F238E27FC236}">
                  <a16:creationId xmlns:a16="http://schemas.microsoft.com/office/drawing/2014/main" id="{58021EC8-82AA-FEC5-FB24-374093392B8F}"/>
                </a:ext>
              </a:extLst>
            </p:cNvPr>
            <p:cNvGrpSpPr>
              <a:grpSpLocks/>
            </p:cNvGrpSpPr>
            <p:nvPr/>
          </p:nvGrpSpPr>
          <p:grpSpPr bwMode="auto">
            <a:xfrm>
              <a:off x="1872" y="1056"/>
              <a:ext cx="1968" cy="2112"/>
              <a:chOff x="1872" y="1056"/>
              <a:chExt cx="1968" cy="2112"/>
            </a:xfrm>
          </p:grpSpPr>
          <p:sp>
            <p:nvSpPr>
              <p:cNvPr id="40008" name="Rectangle 10">
                <a:extLst>
                  <a:ext uri="{FF2B5EF4-FFF2-40B4-BE49-F238E27FC236}">
                    <a16:creationId xmlns:a16="http://schemas.microsoft.com/office/drawing/2014/main" id="{F7531B47-40F8-39FE-BC53-96A4E77FE516}"/>
                  </a:ext>
                </a:extLst>
              </p:cNvPr>
              <p:cNvSpPr>
                <a:spLocks noChangeArrowheads="1"/>
              </p:cNvSpPr>
              <p:nvPr/>
            </p:nvSpPr>
            <p:spPr bwMode="auto">
              <a:xfrm>
                <a:off x="1872" y="1056"/>
                <a:ext cx="912" cy="2112"/>
              </a:xfrm>
              <a:prstGeom prst="rect">
                <a:avLst/>
              </a:prstGeom>
              <a:solidFill>
                <a:srgbClr val="CCEC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09" name="Rectangle 11">
                <a:extLst>
                  <a:ext uri="{FF2B5EF4-FFF2-40B4-BE49-F238E27FC236}">
                    <a16:creationId xmlns:a16="http://schemas.microsoft.com/office/drawing/2014/main" id="{43FE423E-9931-1FC7-A5DE-25559862244E}"/>
                  </a:ext>
                </a:extLst>
              </p:cNvPr>
              <p:cNvSpPr>
                <a:spLocks noChangeArrowheads="1"/>
              </p:cNvSpPr>
              <p:nvPr/>
            </p:nvSpPr>
            <p:spPr bwMode="auto">
              <a:xfrm>
                <a:off x="1968" y="1440"/>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10" name="Line 12">
                <a:extLst>
                  <a:ext uri="{FF2B5EF4-FFF2-40B4-BE49-F238E27FC236}">
                    <a16:creationId xmlns:a16="http://schemas.microsoft.com/office/drawing/2014/main" id="{D1953650-2412-1118-28E1-1078E3A50ED4}"/>
                  </a:ext>
                </a:extLst>
              </p:cNvPr>
              <p:cNvSpPr>
                <a:spLocks noChangeShapeType="1"/>
              </p:cNvSpPr>
              <p:nvPr/>
            </p:nvSpPr>
            <p:spPr bwMode="auto">
              <a:xfrm>
                <a:off x="2688" y="1632"/>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0011" name="Rectangle 13">
                <a:extLst>
                  <a:ext uri="{FF2B5EF4-FFF2-40B4-BE49-F238E27FC236}">
                    <a16:creationId xmlns:a16="http://schemas.microsoft.com/office/drawing/2014/main" id="{FBCADA05-558A-4826-9C8A-06BF3B1CA655}"/>
                  </a:ext>
                </a:extLst>
              </p:cNvPr>
              <p:cNvSpPr>
                <a:spLocks noChangeArrowheads="1"/>
              </p:cNvSpPr>
              <p:nvPr/>
            </p:nvSpPr>
            <p:spPr bwMode="auto">
              <a:xfrm>
                <a:off x="1968" y="2208"/>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12" name="Line 14">
                <a:extLst>
                  <a:ext uri="{FF2B5EF4-FFF2-40B4-BE49-F238E27FC236}">
                    <a16:creationId xmlns:a16="http://schemas.microsoft.com/office/drawing/2014/main" id="{1A706296-1F26-D17B-326A-10EC7E95BD6C}"/>
                  </a:ext>
                </a:extLst>
              </p:cNvPr>
              <p:cNvSpPr>
                <a:spLocks noChangeShapeType="1"/>
              </p:cNvSpPr>
              <p:nvPr/>
            </p:nvSpPr>
            <p:spPr bwMode="auto">
              <a:xfrm>
                <a:off x="2688" y="2496"/>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0013" name="Text Box 15">
                <a:extLst>
                  <a:ext uri="{FF2B5EF4-FFF2-40B4-BE49-F238E27FC236}">
                    <a16:creationId xmlns:a16="http://schemas.microsoft.com/office/drawing/2014/main" id="{DCF60BF4-320E-C418-1039-7672A56036C3}"/>
                  </a:ext>
                </a:extLst>
              </p:cNvPr>
              <p:cNvSpPr txBox="1">
                <a:spLocks noChangeArrowheads="1"/>
              </p:cNvSpPr>
              <p:nvPr/>
            </p:nvSpPr>
            <p:spPr bwMode="auto">
              <a:xfrm>
                <a:off x="1968" y="2592"/>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  </a:t>
                </a:r>
                <a:r>
                  <a:rPr kumimoji="1" lang="zh-CN" altLang="en-US" sz="2400" b="0">
                    <a:latin typeface="Tahoma" panose="020B0604030504040204" pitchFamily="34" charset="0"/>
                    <a:ea typeface="黑体" panose="02010609060101010101" pitchFamily="49" charset="-122"/>
                  </a:rPr>
                  <a:t>虚拟</a:t>
                </a:r>
              </a:p>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sp>
            <p:nvSpPr>
              <p:cNvPr id="40014" name="Text Box 16">
                <a:extLst>
                  <a:ext uri="{FF2B5EF4-FFF2-40B4-BE49-F238E27FC236}">
                    <a16:creationId xmlns:a16="http://schemas.microsoft.com/office/drawing/2014/main" id="{AEE3790E-BACE-5CF6-BC35-BFF5A030C3BE}"/>
                  </a:ext>
                </a:extLst>
              </p:cNvPr>
              <p:cNvSpPr txBox="1">
                <a:spLocks noChangeArrowheads="1"/>
              </p:cNvSpPr>
              <p:nvPr/>
            </p:nvSpPr>
            <p:spPr bwMode="auto">
              <a:xfrm>
                <a:off x="2160" y="1488"/>
                <a:ext cx="337"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40015" name="Text Box 17">
                <a:extLst>
                  <a:ext uri="{FF2B5EF4-FFF2-40B4-BE49-F238E27FC236}">
                    <a16:creationId xmlns:a16="http://schemas.microsoft.com/office/drawing/2014/main" id="{67312DC1-F7DA-5289-FDF6-E5D85FA7359D}"/>
                  </a:ext>
                </a:extLst>
              </p:cNvPr>
              <p:cNvSpPr txBox="1">
                <a:spLocks noChangeArrowheads="1"/>
              </p:cNvSpPr>
              <p:nvPr/>
            </p:nvSpPr>
            <p:spPr bwMode="auto">
              <a:xfrm>
                <a:off x="2167" y="2256"/>
                <a:ext cx="329"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grpSp>
        <p:grpSp>
          <p:nvGrpSpPr>
            <p:cNvPr id="39981" name="Group 18">
              <a:extLst>
                <a:ext uri="{FF2B5EF4-FFF2-40B4-BE49-F238E27FC236}">
                  <a16:creationId xmlns:a16="http://schemas.microsoft.com/office/drawing/2014/main" id="{CB81A552-EE7B-6B02-4C50-81E750375026}"/>
                </a:ext>
              </a:extLst>
            </p:cNvPr>
            <p:cNvGrpSpPr>
              <a:grpSpLocks/>
            </p:cNvGrpSpPr>
            <p:nvPr/>
          </p:nvGrpSpPr>
          <p:grpSpPr bwMode="auto">
            <a:xfrm>
              <a:off x="1968" y="1152"/>
              <a:ext cx="1968" cy="2112"/>
              <a:chOff x="1872" y="1056"/>
              <a:chExt cx="1968" cy="2112"/>
            </a:xfrm>
          </p:grpSpPr>
          <p:sp>
            <p:nvSpPr>
              <p:cNvPr id="40000" name="Rectangle 19">
                <a:extLst>
                  <a:ext uri="{FF2B5EF4-FFF2-40B4-BE49-F238E27FC236}">
                    <a16:creationId xmlns:a16="http://schemas.microsoft.com/office/drawing/2014/main" id="{98E9F661-81F5-9EB7-857E-B457BD827575}"/>
                  </a:ext>
                </a:extLst>
              </p:cNvPr>
              <p:cNvSpPr>
                <a:spLocks noChangeArrowheads="1"/>
              </p:cNvSpPr>
              <p:nvPr/>
            </p:nvSpPr>
            <p:spPr bwMode="auto">
              <a:xfrm>
                <a:off x="1872" y="1056"/>
                <a:ext cx="912" cy="2112"/>
              </a:xfrm>
              <a:prstGeom prst="rect">
                <a:avLst/>
              </a:prstGeom>
              <a:solidFill>
                <a:srgbClr val="CCEC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01" name="Rectangle 20">
                <a:extLst>
                  <a:ext uri="{FF2B5EF4-FFF2-40B4-BE49-F238E27FC236}">
                    <a16:creationId xmlns:a16="http://schemas.microsoft.com/office/drawing/2014/main" id="{5C47A0D9-5AF3-0BF6-168D-D90AD5C3C259}"/>
                  </a:ext>
                </a:extLst>
              </p:cNvPr>
              <p:cNvSpPr>
                <a:spLocks noChangeArrowheads="1"/>
              </p:cNvSpPr>
              <p:nvPr/>
            </p:nvSpPr>
            <p:spPr bwMode="auto">
              <a:xfrm>
                <a:off x="1968" y="1440"/>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02" name="Line 21">
                <a:extLst>
                  <a:ext uri="{FF2B5EF4-FFF2-40B4-BE49-F238E27FC236}">
                    <a16:creationId xmlns:a16="http://schemas.microsoft.com/office/drawing/2014/main" id="{0272B076-FC4F-7C56-DE9A-EF6E585C8F1E}"/>
                  </a:ext>
                </a:extLst>
              </p:cNvPr>
              <p:cNvSpPr>
                <a:spLocks noChangeShapeType="1"/>
              </p:cNvSpPr>
              <p:nvPr/>
            </p:nvSpPr>
            <p:spPr bwMode="auto">
              <a:xfrm>
                <a:off x="2688" y="1632"/>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0003" name="Rectangle 22">
                <a:extLst>
                  <a:ext uri="{FF2B5EF4-FFF2-40B4-BE49-F238E27FC236}">
                    <a16:creationId xmlns:a16="http://schemas.microsoft.com/office/drawing/2014/main" id="{633BAEBC-EB1C-EA6B-ED59-F5A885F70717}"/>
                  </a:ext>
                </a:extLst>
              </p:cNvPr>
              <p:cNvSpPr>
                <a:spLocks noChangeArrowheads="1"/>
              </p:cNvSpPr>
              <p:nvPr/>
            </p:nvSpPr>
            <p:spPr bwMode="auto">
              <a:xfrm>
                <a:off x="1968" y="2208"/>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0004" name="Line 23">
                <a:extLst>
                  <a:ext uri="{FF2B5EF4-FFF2-40B4-BE49-F238E27FC236}">
                    <a16:creationId xmlns:a16="http://schemas.microsoft.com/office/drawing/2014/main" id="{F3FC9B8D-49EF-A412-66EC-4B65ADC7DB77}"/>
                  </a:ext>
                </a:extLst>
              </p:cNvPr>
              <p:cNvSpPr>
                <a:spLocks noChangeShapeType="1"/>
              </p:cNvSpPr>
              <p:nvPr/>
            </p:nvSpPr>
            <p:spPr bwMode="auto">
              <a:xfrm>
                <a:off x="2688" y="2496"/>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40005" name="Text Box 24">
                <a:extLst>
                  <a:ext uri="{FF2B5EF4-FFF2-40B4-BE49-F238E27FC236}">
                    <a16:creationId xmlns:a16="http://schemas.microsoft.com/office/drawing/2014/main" id="{4B403159-3E90-FF14-E8CE-5464D9529256}"/>
                  </a:ext>
                </a:extLst>
              </p:cNvPr>
              <p:cNvSpPr txBox="1">
                <a:spLocks noChangeArrowheads="1"/>
              </p:cNvSpPr>
              <p:nvPr/>
            </p:nvSpPr>
            <p:spPr bwMode="auto">
              <a:xfrm>
                <a:off x="1968" y="2592"/>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  </a:t>
                </a:r>
                <a:r>
                  <a:rPr kumimoji="1" lang="zh-CN" altLang="en-US" sz="2400" b="0">
                    <a:latin typeface="Tahoma" panose="020B0604030504040204" pitchFamily="34" charset="0"/>
                    <a:ea typeface="黑体" panose="02010609060101010101" pitchFamily="49" charset="-122"/>
                  </a:rPr>
                  <a:t>虚拟</a:t>
                </a:r>
              </a:p>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sp>
            <p:nvSpPr>
              <p:cNvPr id="40006" name="Text Box 25">
                <a:extLst>
                  <a:ext uri="{FF2B5EF4-FFF2-40B4-BE49-F238E27FC236}">
                    <a16:creationId xmlns:a16="http://schemas.microsoft.com/office/drawing/2014/main" id="{896A0E12-CB91-3BF1-7ADE-5D454C76B93B}"/>
                  </a:ext>
                </a:extLst>
              </p:cNvPr>
              <p:cNvSpPr txBox="1">
                <a:spLocks noChangeArrowheads="1"/>
              </p:cNvSpPr>
              <p:nvPr/>
            </p:nvSpPr>
            <p:spPr bwMode="auto">
              <a:xfrm>
                <a:off x="2160" y="1488"/>
                <a:ext cx="337"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40007" name="Text Box 26">
                <a:extLst>
                  <a:ext uri="{FF2B5EF4-FFF2-40B4-BE49-F238E27FC236}">
                    <a16:creationId xmlns:a16="http://schemas.microsoft.com/office/drawing/2014/main" id="{4B95F397-5574-7E81-8D14-C6B4F194FE45}"/>
                  </a:ext>
                </a:extLst>
              </p:cNvPr>
              <p:cNvSpPr txBox="1">
                <a:spLocks noChangeArrowheads="1"/>
              </p:cNvSpPr>
              <p:nvPr/>
            </p:nvSpPr>
            <p:spPr bwMode="auto">
              <a:xfrm>
                <a:off x="2167" y="2256"/>
                <a:ext cx="329"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grpSp>
        <p:grpSp>
          <p:nvGrpSpPr>
            <p:cNvPr id="39982" name="Group 27">
              <a:extLst>
                <a:ext uri="{FF2B5EF4-FFF2-40B4-BE49-F238E27FC236}">
                  <a16:creationId xmlns:a16="http://schemas.microsoft.com/office/drawing/2014/main" id="{CD289084-CC75-D3BC-6D8C-F3FFEC65F960}"/>
                </a:ext>
              </a:extLst>
            </p:cNvPr>
            <p:cNvGrpSpPr>
              <a:grpSpLocks/>
            </p:cNvGrpSpPr>
            <p:nvPr/>
          </p:nvGrpSpPr>
          <p:grpSpPr bwMode="auto">
            <a:xfrm>
              <a:off x="2064" y="1248"/>
              <a:ext cx="1968" cy="2112"/>
              <a:chOff x="1872" y="1056"/>
              <a:chExt cx="1968" cy="2112"/>
            </a:xfrm>
          </p:grpSpPr>
          <p:sp>
            <p:nvSpPr>
              <p:cNvPr id="39992" name="Rectangle 28">
                <a:extLst>
                  <a:ext uri="{FF2B5EF4-FFF2-40B4-BE49-F238E27FC236}">
                    <a16:creationId xmlns:a16="http://schemas.microsoft.com/office/drawing/2014/main" id="{8DF7CE82-B75E-42E2-3269-AED24FF0D77E}"/>
                  </a:ext>
                </a:extLst>
              </p:cNvPr>
              <p:cNvSpPr>
                <a:spLocks noChangeArrowheads="1"/>
              </p:cNvSpPr>
              <p:nvPr/>
            </p:nvSpPr>
            <p:spPr bwMode="auto">
              <a:xfrm>
                <a:off x="1872" y="1056"/>
                <a:ext cx="912" cy="2112"/>
              </a:xfrm>
              <a:prstGeom prst="rect">
                <a:avLst/>
              </a:prstGeom>
              <a:solidFill>
                <a:srgbClr val="CCEC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93" name="Rectangle 29">
                <a:extLst>
                  <a:ext uri="{FF2B5EF4-FFF2-40B4-BE49-F238E27FC236}">
                    <a16:creationId xmlns:a16="http://schemas.microsoft.com/office/drawing/2014/main" id="{132DD3F8-7126-2EC3-40EC-16476AF54A22}"/>
                  </a:ext>
                </a:extLst>
              </p:cNvPr>
              <p:cNvSpPr>
                <a:spLocks noChangeArrowheads="1"/>
              </p:cNvSpPr>
              <p:nvPr/>
            </p:nvSpPr>
            <p:spPr bwMode="auto">
              <a:xfrm>
                <a:off x="1968" y="1440"/>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94" name="Line 30">
                <a:extLst>
                  <a:ext uri="{FF2B5EF4-FFF2-40B4-BE49-F238E27FC236}">
                    <a16:creationId xmlns:a16="http://schemas.microsoft.com/office/drawing/2014/main" id="{4045EDB6-3E4B-EDD7-D284-0DD15520402C}"/>
                  </a:ext>
                </a:extLst>
              </p:cNvPr>
              <p:cNvSpPr>
                <a:spLocks noChangeShapeType="1"/>
              </p:cNvSpPr>
              <p:nvPr/>
            </p:nvSpPr>
            <p:spPr bwMode="auto">
              <a:xfrm>
                <a:off x="2688" y="1632"/>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39995" name="Rectangle 31">
                <a:extLst>
                  <a:ext uri="{FF2B5EF4-FFF2-40B4-BE49-F238E27FC236}">
                    <a16:creationId xmlns:a16="http://schemas.microsoft.com/office/drawing/2014/main" id="{4874EC3A-1358-9631-BF91-0FCB264CB968}"/>
                  </a:ext>
                </a:extLst>
              </p:cNvPr>
              <p:cNvSpPr>
                <a:spLocks noChangeArrowheads="1"/>
              </p:cNvSpPr>
              <p:nvPr/>
            </p:nvSpPr>
            <p:spPr bwMode="auto">
              <a:xfrm>
                <a:off x="1968" y="2208"/>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96" name="Line 32">
                <a:extLst>
                  <a:ext uri="{FF2B5EF4-FFF2-40B4-BE49-F238E27FC236}">
                    <a16:creationId xmlns:a16="http://schemas.microsoft.com/office/drawing/2014/main" id="{79515921-823B-902E-5BCC-73A7606CF883}"/>
                  </a:ext>
                </a:extLst>
              </p:cNvPr>
              <p:cNvSpPr>
                <a:spLocks noChangeShapeType="1"/>
              </p:cNvSpPr>
              <p:nvPr/>
            </p:nvSpPr>
            <p:spPr bwMode="auto">
              <a:xfrm>
                <a:off x="2688" y="2496"/>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39997" name="Text Box 33">
                <a:extLst>
                  <a:ext uri="{FF2B5EF4-FFF2-40B4-BE49-F238E27FC236}">
                    <a16:creationId xmlns:a16="http://schemas.microsoft.com/office/drawing/2014/main" id="{B06465FD-2770-BA2C-7593-FA7ADE087B50}"/>
                  </a:ext>
                </a:extLst>
              </p:cNvPr>
              <p:cNvSpPr txBox="1">
                <a:spLocks noChangeArrowheads="1"/>
              </p:cNvSpPr>
              <p:nvPr/>
            </p:nvSpPr>
            <p:spPr bwMode="auto">
              <a:xfrm>
                <a:off x="1968" y="2592"/>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  </a:t>
                </a:r>
                <a:r>
                  <a:rPr kumimoji="1" lang="zh-CN" altLang="en-US" sz="2400" b="0">
                    <a:latin typeface="Tahoma" panose="020B0604030504040204" pitchFamily="34" charset="0"/>
                    <a:ea typeface="黑体" panose="02010609060101010101" pitchFamily="49" charset="-122"/>
                  </a:rPr>
                  <a:t>虚拟</a:t>
                </a:r>
              </a:p>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sp>
            <p:nvSpPr>
              <p:cNvPr id="39998" name="Text Box 34">
                <a:extLst>
                  <a:ext uri="{FF2B5EF4-FFF2-40B4-BE49-F238E27FC236}">
                    <a16:creationId xmlns:a16="http://schemas.microsoft.com/office/drawing/2014/main" id="{DA23A1C9-6895-6B96-AF1F-BE79D1FBB06B}"/>
                  </a:ext>
                </a:extLst>
              </p:cNvPr>
              <p:cNvSpPr txBox="1">
                <a:spLocks noChangeArrowheads="1"/>
              </p:cNvSpPr>
              <p:nvPr/>
            </p:nvSpPr>
            <p:spPr bwMode="auto">
              <a:xfrm>
                <a:off x="2160" y="1488"/>
                <a:ext cx="337"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39999" name="Text Box 35">
                <a:extLst>
                  <a:ext uri="{FF2B5EF4-FFF2-40B4-BE49-F238E27FC236}">
                    <a16:creationId xmlns:a16="http://schemas.microsoft.com/office/drawing/2014/main" id="{2404D804-60FA-9FF0-F062-C4B821FFA2B3}"/>
                  </a:ext>
                </a:extLst>
              </p:cNvPr>
              <p:cNvSpPr txBox="1">
                <a:spLocks noChangeArrowheads="1"/>
              </p:cNvSpPr>
              <p:nvPr/>
            </p:nvSpPr>
            <p:spPr bwMode="auto">
              <a:xfrm>
                <a:off x="2167" y="2256"/>
                <a:ext cx="329"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grpSp>
        <p:grpSp>
          <p:nvGrpSpPr>
            <p:cNvPr id="39983" name="Group 36">
              <a:extLst>
                <a:ext uri="{FF2B5EF4-FFF2-40B4-BE49-F238E27FC236}">
                  <a16:creationId xmlns:a16="http://schemas.microsoft.com/office/drawing/2014/main" id="{2DD0F6BB-AC80-BF2C-F6C0-6C500E32CE49}"/>
                </a:ext>
              </a:extLst>
            </p:cNvPr>
            <p:cNvGrpSpPr>
              <a:grpSpLocks/>
            </p:cNvGrpSpPr>
            <p:nvPr/>
          </p:nvGrpSpPr>
          <p:grpSpPr bwMode="auto">
            <a:xfrm>
              <a:off x="2160" y="1344"/>
              <a:ext cx="1968" cy="2112"/>
              <a:chOff x="1872" y="1056"/>
              <a:chExt cx="1968" cy="2112"/>
            </a:xfrm>
          </p:grpSpPr>
          <p:sp>
            <p:nvSpPr>
              <p:cNvPr id="39984" name="Rectangle 37">
                <a:extLst>
                  <a:ext uri="{FF2B5EF4-FFF2-40B4-BE49-F238E27FC236}">
                    <a16:creationId xmlns:a16="http://schemas.microsoft.com/office/drawing/2014/main" id="{59B57EC1-0ECC-A04A-733C-D8EFE8362D22}"/>
                  </a:ext>
                </a:extLst>
              </p:cNvPr>
              <p:cNvSpPr>
                <a:spLocks noChangeArrowheads="1"/>
              </p:cNvSpPr>
              <p:nvPr/>
            </p:nvSpPr>
            <p:spPr bwMode="auto">
              <a:xfrm>
                <a:off x="1872" y="1056"/>
                <a:ext cx="912" cy="2112"/>
              </a:xfrm>
              <a:prstGeom prst="rect">
                <a:avLst/>
              </a:prstGeom>
              <a:solidFill>
                <a:srgbClr val="CCECFF"/>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85" name="Rectangle 38">
                <a:extLst>
                  <a:ext uri="{FF2B5EF4-FFF2-40B4-BE49-F238E27FC236}">
                    <a16:creationId xmlns:a16="http://schemas.microsoft.com/office/drawing/2014/main" id="{C6818F33-ABE7-01EE-D11A-14FFACD7E584}"/>
                  </a:ext>
                </a:extLst>
              </p:cNvPr>
              <p:cNvSpPr>
                <a:spLocks noChangeArrowheads="1"/>
              </p:cNvSpPr>
              <p:nvPr/>
            </p:nvSpPr>
            <p:spPr bwMode="auto">
              <a:xfrm>
                <a:off x="1968" y="1440"/>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86" name="Line 39">
                <a:extLst>
                  <a:ext uri="{FF2B5EF4-FFF2-40B4-BE49-F238E27FC236}">
                    <a16:creationId xmlns:a16="http://schemas.microsoft.com/office/drawing/2014/main" id="{86A0F8B0-2FDD-5C51-5E90-0D06A45B6924}"/>
                  </a:ext>
                </a:extLst>
              </p:cNvPr>
              <p:cNvSpPr>
                <a:spLocks noChangeShapeType="1"/>
              </p:cNvSpPr>
              <p:nvPr/>
            </p:nvSpPr>
            <p:spPr bwMode="auto">
              <a:xfrm>
                <a:off x="2688" y="1632"/>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39987" name="Rectangle 40">
                <a:extLst>
                  <a:ext uri="{FF2B5EF4-FFF2-40B4-BE49-F238E27FC236}">
                    <a16:creationId xmlns:a16="http://schemas.microsoft.com/office/drawing/2014/main" id="{3521D7D9-5AFC-70D9-4CC9-BB748F616F25}"/>
                  </a:ext>
                </a:extLst>
              </p:cNvPr>
              <p:cNvSpPr>
                <a:spLocks noChangeArrowheads="1"/>
              </p:cNvSpPr>
              <p:nvPr/>
            </p:nvSpPr>
            <p:spPr bwMode="auto">
              <a:xfrm>
                <a:off x="1968" y="2208"/>
                <a:ext cx="720" cy="384"/>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88" name="Line 41">
                <a:extLst>
                  <a:ext uri="{FF2B5EF4-FFF2-40B4-BE49-F238E27FC236}">
                    <a16:creationId xmlns:a16="http://schemas.microsoft.com/office/drawing/2014/main" id="{9A99C71E-43B8-2DBF-F334-BA410C7B2A42}"/>
                  </a:ext>
                </a:extLst>
              </p:cNvPr>
              <p:cNvSpPr>
                <a:spLocks noChangeShapeType="1"/>
              </p:cNvSpPr>
              <p:nvPr/>
            </p:nvSpPr>
            <p:spPr bwMode="auto">
              <a:xfrm>
                <a:off x="2688" y="2496"/>
                <a:ext cx="1152" cy="0"/>
              </a:xfrm>
              <a:prstGeom prst="line">
                <a:avLst/>
              </a:prstGeom>
              <a:noFill/>
              <a:ln w="47625">
                <a:solidFill>
                  <a:schemeClr val="tx1"/>
                </a:solidFill>
                <a:miter lim="800000"/>
                <a:headEnd/>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39989" name="Text Box 42">
                <a:extLst>
                  <a:ext uri="{FF2B5EF4-FFF2-40B4-BE49-F238E27FC236}">
                    <a16:creationId xmlns:a16="http://schemas.microsoft.com/office/drawing/2014/main" id="{78E583E9-9788-9E82-45FC-B0FBAC7C792E}"/>
                  </a:ext>
                </a:extLst>
              </p:cNvPr>
              <p:cNvSpPr txBox="1">
                <a:spLocks noChangeArrowheads="1"/>
              </p:cNvSpPr>
              <p:nvPr/>
            </p:nvSpPr>
            <p:spPr bwMode="auto">
              <a:xfrm>
                <a:off x="1968" y="2592"/>
                <a:ext cx="6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  </a:t>
                </a:r>
                <a:r>
                  <a:rPr kumimoji="1" lang="zh-CN" altLang="en-US" sz="2400" b="0">
                    <a:latin typeface="Tahoma" panose="020B0604030504040204" pitchFamily="34" charset="0"/>
                    <a:ea typeface="黑体" panose="02010609060101010101" pitchFamily="49" charset="-122"/>
                  </a:rPr>
                  <a:t>虚拟</a:t>
                </a:r>
              </a:p>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sp>
            <p:nvSpPr>
              <p:cNvPr id="39990" name="Text Box 43">
                <a:extLst>
                  <a:ext uri="{FF2B5EF4-FFF2-40B4-BE49-F238E27FC236}">
                    <a16:creationId xmlns:a16="http://schemas.microsoft.com/office/drawing/2014/main" id="{DC3E9909-B6BF-FB53-1BD1-A3ECA05911D9}"/>
                  </a:ext>
                </a:extLst>
              </p:cNvPr>
              <p:cNvSpPr txBox="1">
                <a:spLocks noChangeArrowheads="1"/>
              </p:cNvSpPr>
              <p:nvPr/>
            </p:nvSpPr>
            <p:spPr bwMode="auto">
              <a:xfrm>
                <a:off x="2160" y="1488"/>
                <a:ext cx="337"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39991" name="Text Box 44">
                <a:extLst>
                  <a:ext uri="{FF2B5EF4-FFF2-40B4-BE49-F238E27FC236}">
                    <a16:creationId xmlns:a16="http://schemas.microsoft.com/office/drawing/2014/main" id="{63AB735D-802C-F408-82D7-368469F0DBA7}"/>
                  </a:ext>
                </a:extLst>
              </p:cNvPr>
              <p:cNvSpPr txBox="1">
                <a:spLocks noChangeArrowheads="1"/>
              </p:cNvSpPr>
              <p:nvPr/>
            </p:nvSpPr>
            <p:spPr bwMode="auto">
              <a:xfrm>
                <a:off x="2167" y="2256"/>
                <a:ext cx="329" cy="288"/>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grpSp>
      </p:grpSp>
      <p:grpSp>
        <p:nvGrpSpPr>
          <p:cNvPr id="7" name="Group 45">
            <a:extLst>
              <a:ext uri="{FF2B5EF4-FFF2-40B4-BE49-F238E27FC236}">
                <a16:creationId xmlns:a16="http://schemas.microsoft.com/office/drawing/2014/main" id="{69CC0B92-1334-79E9-8096-47E5405B963E}"/>
              </a:ext>
            </a:extLst>
          </p:cNvPr>
          <p:cNvGrpSpPr>
            <a:grpSpLocks/>
          </p:cNvGrpSpPr>
          <p:nvPr/>
        </p:nvGrpSpPr>
        <p:grpSpPr bwMode="auto">
          <a:xfrm>
            <a:off x="1600200" y="1371600"/>
            <a:ext cx="1524000" cy="3429000"/>
            <a:chOff x="1008" y="864"/>
            <a:chExt cx="960" cy="2160"/>
          </a:xfrm>
        </p:grpSpPr>
        <p:sp>
          <p:nvSpPr>
            <p:cNvPr id="39972" name="Oval 46">
              <a:extLst>
                <a:ext uri="{FF2B5EF4-FFF2-40B4-BE49-F238E27FC236}">
                  <a16:creationId xmlns:a16="http://schemas.microsoft.com/office/drawing/2014/main" id="{7AFB8796-A451-1B80-92DD-05912E7F8A21}"/>
                </a:ext>
              </a:extLst>
            </p:cNvPr>
            <p:cNvSpPr>
              <a:spLocks noChangeArrowheads="1"/>
            </p:cNvSpPr>
            <p:nvPr/>
          </p:nvSpPr>
          <p:spPr bwMode="auto">
            <a:xfrm>
              <a:off x="1008" y="864"/>
              <a:ext cx="960" cy="2160"/>
            </a:xfrm>
            <a:prstGeom prst="ellipse">
              <a:avLst/>
            </a:prstGeom>
            <a:solidFill>
              <a:schemeClr val="hlink"/>
            </a:solidFill>
            <a:ln w="9525">
              <a:solidFill>
                <a:schemeClr val="hlink"/>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zh-CN" sz="2400" b="0">
                <a:latin typeface="Tahoma" panose="020B0604030504040204" pitchFamily="34" charset="0"/>
              </a:endParaRPr>
            </a:p>
          </p:txBody>
        </p:sp>
        <p:sp>
          <p:nvSpPr>
            <p:cNvPr id="39973" name="Text Box 47">
              <a:extLst>
                <a:ext uri="{FF2B5EF4-FFF2-40B4-BE49-F238E27FC236}">
                  <a16:creationId xmlns:a16="http://schemas.microsoft.com/office/drawing/2014/main" id="{997653C4-F5F4-97A5-4D7D-D7D2EEE4815D}"/>
                </a:ext>
              </a:extLst>
            </p:cNvPr>
            <p:cNvSpPr txBox="1">
              <a:spLocks noChangeArrowheads="1"/>
            </p:cNvSpPr>
            <p:nvPr/>
          </p:nvSpPr>
          <p:spPr bwMode="auto">
            <a:xfrm>
              <a:off x="1152" y="1152"/>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solidFill>
                    <a:schemeClr val="bg1"/>
                  </a:solidFill>
                  <a:latin typeface="Tahoma" panose="020B0604030504040204" pitchFamily="34" charset="0"/>
                  <a:ea typeface="黑体" panose="02010609060101010101" pitchFamily="49" charset="-122"/>
                </a:rPr>
                <a:t>调度器</a:t>
              </a:r>
            </a:p>
          </p:txBody>
        </p:sp>
      </p:grpSp>
      <p:sp>
        <p:nvSpPr>
          <p:cNvPr id="39943" name="Rectangle 48">
            <a:extLst>
              <a:ext uri="{FF2B5EF4-FFF2-40B4-BE49-F238E27FC236}">
                <a16:creationId xmlns:a16="http://schemas.microsoft.com/office/drawing/2014/main" id="{A91CD7E9-A164-36F6-FEA0-04956B6E2F65}"/>
              </a:ext>
            </a:extLst>
          </p:cNvPr>
          <p:cNvSpPr>
            <a:spLocks noChangeArrowheads="1"/>
          </p:cNvSpPr>
          <p:nvPr/>
        </p:nvSpPr>
        <p:spPr bwMode="auto">
          <a:xfrm>
            <a:off x="525463" y="333375"/>
            <a:ext cx="82232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60000"/>
              </a:lnSpc>
              <a:spcBef>
                <a:spcPct val="0"/>
              </a:spcBef>
              <a:buClrTx/>
              <a:buSzTx/>
              <a:buFontTx/>
              <a:buNone/>
            </a:pPr>
            <a:r>
              <a:rPr kumimoji="1" lang="zh-CN" altLang="en-US" sz="3600" b="0">
                <a:latin typeface="隶书" pitchFamily="49" charset="-122"/>
                <a:ea typeface="隶书" pitchFamily="49" charset="-122"/>
              </a:rPr>
              <a:t>多任务时任务与处理器之间关系的处理</a:t>
            </a:r>
            <a:endParaRPr kumimoji="1" lang="zh-CN" altLang="en-US" sz="3600" b="0">
              <a:latin typeface="隶书" pitchFamily="49" charset="-122"/>
              <a:ea typeface="隶书" pitchFamily="49" charset="-122"/>
              <a:hlinkClick r:id="rId2" action="ppaction://hlinksldjump"/>
            </a:endParaRPr>
          </a:p>
        </p:txBody>
      </p:sp>
      <p:sp>
        <p:nvSpPr>
          <p:cNvPr id="39944" name="Text Box 49">
            <a:extLst>
              <a:ext uri="{FF2B5EF4-FFF2-40B4-BE49-F238E27FC236}">
                <a16:creationId xmlns:a16="http://schemas.microsoft.com/office/drawing/2014/main" id="{C14E5908-EBA0-0308-F43C-64A97D1DC4EB}"/>
              </a:ext>
            </a:extLst>
          </p:cNvPr>
          <p:cNvSpPr txBox="1">
            <a:spLocks noChangeArrowheads="1"/>
          </p:cNvSpPr>
          <p:nvPr/>
        </p:nvSpPr>
        <p:spPr bwMode="auto">
          <a:xfrm>
            <a:off x="6858000" y="3124200"/>
            <a:ext cx="793750" cy="457200"/>
          </a:xfrm>
          <a:prstGeom prst="rect">
            <a:avLst/>
          </a:prstGeom>
          <a:solidFill>
            <a:srgbClr val="CCEC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程序</a:t>
            </a:r>
          </a:p>
        </p:txBody>
      </p:sp>
      <p:grpSp>
        <p:nvGrpSpPr>
          <p:cNvPr id="39945" name="Group 50">
            <a:extLst>
              <a:ext uri="{FF2B5EF4-FFF2-40B4-BE49-F238E27FC236}">
                <a16:creationId xmlns:a16="http://schemas.microsoft.com/office/drawing/2014/main" id="{77DBF2BB-8B59-A6DE-0B20-5C7BB8F5F2EB}"/>
              </a:ext>
            </a:extLst>
          </p:cNvPr>
          <p:cNvGrpSpPr>
            <a:grpSpLocks/>
          </p:cNvGrpSpPr>
          <p:nvPr/>
        </p:nvGrpSpPr>
        <p:grpSpPr bwMode="auto">
          <a:xfrm>
            <a:off x="152400" y="1676400"/>
            <a:ext cx="1600200" cy="3048000"/>
            <a:chOff x="192" y="1056"/>
            <a:chExt cx="912" cy="2112"/>
          </a:xfrm>
        </p:grpSpPr>
        <p:sp>
          <p:nvSpPr>
            <p:cNvPr id="39966" name="Rectangle 51">
              <a:extLst>
                <a:ext uri="{FF2B5EF4-FFF2-40B4-BE49-F238E27FC236}">
                  <a16:creationId xmlns:a16="http://schemas.microsoft.com/office/drawing/2014/main" id="{4F2C166F-61F2-3B15-1BF3-A49B31D9C6CA}"/>
                </a:ext>
              </a:extLst>
            </p:cNvPr>
            <p:cNvSpPr>
              <a:spLocks noChangeArrowheads="1"/>
            </p:cNvSpPr>
            <p:nvPr/>
          </p:nvSpPr>
          <p:spPr bwMode="auto">
            <a:xfrm>
              <a:off x="192" y="1056"/>
              <a:ext cx="912" cy="2112"/>
            </a:xfrm>
            <a:prstGeom prst="rect">
              <a:avLst/>
            </a:prstGeom>
            <a:solidFill>
              <a:schemeClr val="accent1"/>
            </a:solidFill>
            <a:ln w="222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67" name="Text Box 52">
              <a:extLst>
                <a:ext uri="{FF2B5EF4-FFF2-40B4-BE49-F238E27FC236}">
                  <a16:creationId xmlns:a16="http://schemas.microsoft.com/office/drawing/2014/main" id="{FFADC383-7EF7-B532-F2F6-97D45C5959F4}"/>
                </a:ext>
              </a:extLst>
            </p:cNvPr>
            <p:cNvSpPr txBox="1">
              <a:spLocks noChangeArrowheads="1"/>
            </p:cNvSpPr>
            <p:nvPr/>
          </p:nvSpPr>
          <p:spPr bwMode="auto">
            <a:xfrm>
              <a:off x="288" y="1152"/>
              <a:ext cx="626" cy="317"/>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处理器</a:t>
              </a:r>
            </a:p>
          </p:txBody>
        </p:sp>
        <p:sp>
          <p:nvSpPr>
            <p:cNvPr id="39968" name="Rectangle 53">
              <a:extLst>
                <a:ext uri="{FF2B5EF4-FFF2-40B4-BE49-F238E27FC236}">
                  <a16:creationId xmlns:a16="http://schemas.microsoft.com/office/drawing/2014/main" id="{5110E9ED-1AB3-32FC-290D-9C4A81C26FA5}"/>
                </a:ext>
              </a:extLst>
            </p:cNvPr>
            <p:cNvSpPr>
              <a:spLocks noChangeArrowheads="1"/>
            </p:cNvSpPr>
            <p:nvPr/>
          </p:nvSpPr>
          <p:spPr bwMode="auto">
            <a:xfrm>
              <a:off x="288" y="1440"/>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69" name="Text Box 54">
              <a:extLst>
                <a:ext uri="{FF2B5EF4-FFF2-40B4-BE49-F238E27FC236}">
                  <a16:creationId xmlns:a16="http://schemas.microsoft.com/office/drawing/2014/main" id="{B1F18B9C-C243-353D-1459-5547B2824588}"/>
                </a:ext>
              </a:extLst>
            </p:cNvPr>
            <p:cNvSpPr txBox="1">
              <a:spLocks noChangeArrowheads="1"/>
            </p:cNvSpPr>
            <p:nvPr/>
          </p:nvSpPr>
          <p:spPr bwMode="auto">
            <a:xfrm>
              <a:off x="480" y="1488"/>
              <a:ext cx="305" cy="317"/>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PC</a:t>
              </a:r>
            </a:p>
          </p:txBody>
        </p:sp>
        <p:sp>
          <p:nvSpPr>
            <p:cNvPr id="39970" name="Rectangle 55">
              <a:extLst>
                <a:ext uri="{FF2B5EF4-FFF2-40B4-BE49-F238E27FC236}">
                  <a16:creationId xmlns:a16="http://schemas.microsoft.com/office/drawing/2014/main" id="{03733750-DDC2-93CA-9B44-F81411C87640}"/>
                </a:ext>
              </a:extLst>
            </p:cNvPr>
            <p:cNvSpPr>
              <a:spLocks noChangeArrowheads="1"/>
            </p:cNvSpPr>
            <p:nvPr/>
          </p:nvSpPr>
          <p:spPr bwMode="auto">
            <a:xfrm>
              <a:off x="288" y="2304"/>
              <a:ext cx="720" cy="38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71" name="Text Box 56">
              <a:extLst>
                <a:ext uri="{FF2B5EF4-FFF2-40B4-BE49-F238E27FC236}">
                  <a16:creationId xmlns:a16="http://schemas.microsoft.com/office/drawing/2014/main" id="{8D44ED96-EE79-C339-71E8-6F1938FCF378}"/>
                </a:ext>
              </a:extLst>
            </p:cNvPr>
            <p:cNvSpPr txBox="1">
              <a:spLocks noChangeArrowheads="1"/>
            </p:cNvSpPr>
            <p:nvPr/>
          </p:nvSpPr>
          <p:spPr bwMode="auto">
            <a:xfrm>
              <a:off x="480" y="2352"/>
              <a:ext cx="297" cy="317"/>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SP</a:t>
              </a:r>
            </a:p>
          </p:txBody>
        </p:sp>
      </p:grpSp>
      <p:sp>
        <p:nvSpPr>
          <p:cNvPr id="80953" name="AutoShape 57">
            <a:extLst>
              <a:ext uri="{FF2B5EF4-FFF2-40B4-BE49-F238E27FC236}">
                <a16:creationId xmlns:a16="http://schemas.microsoft.com/office/drawing/2014/main" id="{11D03581-37E5-DE97-CC58-25180C0A5F1F}"/>
              </a:ext>
            </a:extLst>
          </p:cNvPr>
          <p:cNvSpPr>
            <a:spLocks noChangeArrowheads="1"/>
          </p:cNvSpPr>
          <p:nvPr/>
        </p:nvSpPr>
        <p:spPr bwMode="auto">
          <a:xfrm>
            <a:off x="5257800" y="990600"/>
            <a:ext cx="3048000" cy="1752600"/>
          </a:xfrm>
          <a:prstGeom prst="wedgeRoundRectCallout">
            <a:avLst>
              <a:gd name="adj1" fmla="val -65259"/>
              <a:gd name="adj2" fmla="val 32699"/>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在内存中为每个任务创建一个虚拟的处理器（处理器部分的运行环境</a:t>
            </a:r>
          </a:p>
        </p:txBody>
      </p:sp>
      <p:sp>
        <p:nvSpPr>
          <p:cNvPr id="80954" name="AutoShape 58">
            <a:extLst>
              <a:ext uri="{FF2B5EF4-FFF2-40B4-BE49-F238E27FC236}">
                <a16:creationId xmlns:a16="http://schemas.microsoft.com/office/drawing/2014/main" id="{AC5D69FD-40E3-8CB7-F914-4C96A72FED57}"/>
              </a:ext>
            </a:extLst>
          </p:cNvPr>
          <p:cNvSpPr>
            <a:spLocks noChangeArrowheads="1"/>
          </p:cNvSpPr>
          <p:nvPr/>
        </p:nvSpPr>
        <p:spPr bwMode="auto">
          <a:xfrm>
            <a:off x="304800" y="5257800"/>
            <a:ext cx="2971800" cy="1371600"/>
          </a:xfrm>
          <a:prstGeom prst="wedgeRoundRectCallout">
            <a:avLst>
              <a:gd name="adj1" fmla="val 14370"/>
              <a:gd name="adj2" fmla="val -98843"/>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由操作系统的</a:t>
            </a:r>
            <a:r>
              <a:rPr kumimoji="1" lang="zh-CN" altLang="en-US" sz="2400" b="0">
                <a:solidFill>
                  <a:srgbClr val="FF0000"/>
                </a:solidFill>
                <a:latin typeface="Tahoma" panose="020B0604030504040204" pitchFamily="34" charset="0"/>
                <a:ea typeface="黑体" panose="02010609060101010101" pitchFamily="49" charset="-122"/>
              </a:rPr>
              <a:t>调度器</a:t>
            </a:r>
            <a:r>
              <a:rPr kumimoji="1" lang="zh-CN" altLang="en-US" sz="2400" b="0">
                <a:latin typeface="Tahoma" panose="020B0604030504040204" pitchFamily="34" charset="0"/>
                <a:ea typeface="黑体" panose="02010609060101010101" pitchFamily="49" charset="-122"/>
              </a:rPr>
              <a:t>按某种规则来进行这两个复制工作</a:t>
            </a:r>
          </a:p>
        </p:txBody>
      </p:sp>
      <p:grpSp>
        <p:nvGrpSpPr>
          <p:cNvPr id="9" name="Group 59">
            <a:extLst>
              <a:ext uri="{FF2B5EF4-FFF2-40B4-BE49-F238E27FC236}">
                <a16:creationId xmlns:a16="http://schemas.microsoft.com/office/drawing/2014/main" id="{7AEB850E-2433-B409-CC67-375D5BF04DDD}"/>
              </a:ext>
            </a:extLst>
          </p:cNvPr>
          <p:cNvGrpSpPr>
            <a:grpSpLocks/>
          </p:cNvGrpSpPr>
          <p:nvPr/>
        </p:nvGrpSpPr>
        <p:grpSpPr bwMode="auto">
          <a:xfrm>
            <a:off x="1752600" y="3276600"/>
            <a:ext cx="4953000" cy="2819400"/>
            <a:chOff x="1104" y="2064"/>
            <a:chExt cx="3120" cy="1776"/>
          </a:xfrm>
        </p:grpSpPr>
        <p:grpSp>
          <p:nvGrpSpPr>
            <p:cNvPr id="39962" name="Group 60">
              <a:extLst>
                <a:ext uri="{FF2B5EF4-FFF2-40B4-BE49-F238E27FC236}">
                  <a16:creationId xmlns:a16="http://schemas.microsoft.com/office/drawing/2014/main" id="{B717143B-DC25-6ED8-D5DA-E14172A84741}"/>
                </a:ext>
              </a:extLst>
            </p:cNvPr>
            <p:cNvGrpSpPr>
              <a:grpSpLocks/>
            </p:cNvGrpSpPr>
            <p:nvPr/>
          </p:nvGrpSpPr>
          <p:grpSpPr bwMode="auto">
            <a:xfrm>
              <a:off x="1104" y="2064"/>
              <a:ext cx="864" cy="672"/>
              <a:chOff x="1104" y="2064"/>
              <a:chExt cx="768" cy="672"/>
            </a:xfrm>
          </p:grpSpPr>
          <p:sp>
            <p:nvSpPr>
              <p:cNvPr id="39964" name="AutoShape 61">
                <a:extLst>
                  <a:ext uri="{FF2B5EF4-FFF2-40B4-BE49-F238E27FC236}">
                    <a16:creationId xmlns:a16="http://schemas.microsoft.com/office/drawing/2014/main" id="{ABBD4ACD-33BE-0CC3-BC65-4AEF5B8A66EF}"/>
                  </a:ext>
                </a:extLst>
              </p:cNvPr>
              <p:cNvSpPr>
                <a:spLocks noChangeArrowheads="1"/>
              </p:cNvSpPr>
              <p:nvPr/>
            </p:nvSpPr>
            <p:spPr bwMode="auto">
              <a:xfrm>
                <a:off x="1104" y="2064"/>
                <a:ext cx="768" cy="672"/>
              </a:xfrm>
              <a:prstGeom prst="leftArrow">
                <a:avLst>
                  <a:gd name="adj1" fmla="val 50000"/>
                  <a:gd name="adj2" fmla="val 28571"/>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65" name="Text Box 62">
                <a:extLst>
                  <a:ext uri="{FF2B5EF4-FFF2-40B4-BE49-F238E27FC236}">
                    <a16:creationId xmlns:a16="http://schemas.microsoft.com/office/drawing/2014/main" id="{BA16FF40-4052-A9B5-0CA0-F31D1F489F08}"/>
                  </a:ext>
                </a:extLst>
              </p:cNvPr>
              <p:cNvSpPr txBox="1">
                <a:spLocks noChangeArrowheads="1"/>
              </p:cNvSpPr>
              <p:nvPr/>
            </p:nvSpPr>
            <p:spPr bwMode="auto">
              <a:xfrm>
                <a:off x="1248" y="2256"/>
                <a:ext cx="444" cy="2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solidFill>
                      <a:schemeClr val="bg1"/>
                    </a:solidFill>
                    <a:latin typeface="Tahoma" panose="020B0604030504040204" pitchFamily="34" charset="0"/>
                    <a:ea typeface="黑体" panose="02010609060101010101" pitchFamily="49" charset="-122"/>
                  </a:rPr>
                  <a:t>复制</a:t>
                </a:r>
              </a:p>
            </p:txBody>
          </p:sp>
        </p:grpSp>
        <p:sp>
          <p:nvSpPr>
            <p:cNvPr id="39963" name="AutoShape 63">
              <a:extLst>
                <a:ext uri="{FF2B5EF4-FFF2-40B4-BE49-F238E27FC236}">
                  <a16:creationId xmlns:a16="http://schemas.microsoft.com/office/drawing/2014/main" id="{2DA99132-E512-2BCE-AFB7-B3390AFD9964}"/>
                </a:ext>
              </a:extLst>
            </p:cNvPr>
            <p:cNvSpPr>
              <a:spLocks noChangeArrowheads="1"/>
            </p:cNvSpPr>
            <p:nvPr/>
          </p:nvSpPr>
          <p:spPr bwMode="auto">
            <a:xfrm>
              <a:off x="2016" y="2976"/>
              <a:ext cx="2208" cy="864"/>
            </a:xfrm>
            <a:prstGeom prst="wedgeRoundRectCallout">
              <a:avLst>
                <a:gd name="adj1" fmla="val -69250"/>
                <a:gd name="adj2" fmla="val -105093"/>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当需要运行某个任务时就把该任务的虚拟处理器复制到实际处理器中</a:t>
              </a:r>
            </a:p>
          </p:txBody>
        </p:sp>
      </p:grpSp>
      <p:grpSp>
        <p:nvGrpSpPr>
          <p:cNvPr id="11" name="Group 64">
            <a:extLst>
              <a:ext uri="{FF2B5EF4-FFF2-40B4-BE49-F238E27FC236}">
                <a16:creationId xmlns:a16="http://schemas.microsoft.com/office/drawing/2014/main" id="{C83D49BF-D4A3-E85B-2F53-ACED0704ADC2}"/>
              </a:ext>
            </a:extLst>
          </p:cNvPr>
          <p:cNvGrpSpPr>
            <a:grpSpLocks/>
          </p:cNvGrpSpPr>
          <p:nvPr/>
        </p:nvGrpSpPr>
        <p:grpSpPr bwMode="auto">
          <a:xfrm>
            <a:off x="1752600" y="2209800"/>
            <a:ext cx="4191000" cy="3962400"/>
            <a:chOff x="1104" y="1392"/>
            <a:chExt cx="2640" cy="2496"/>
          </a:xfrm>
        </p:grpSpPr>
        <p:grpSp>
          <p:nvGrpSpPr>
            <p:cNvPr id="39958" name="Group 65">
              <a:extLst>
                <a:ext uri="{FF2B5EF4-FFF2-40B4-BE49-F238E27FC236}">
                  <a16:creationId xmlns:a16="http://schemas.microsoft.com/office/drawing/2014/main" id="{01092EF8-0566-BA38-64EE-786F5C6D77BE}"/>
                </a:ext>
              </a:extLst>
            </p:cNvPr>
            <p:cNvGrpSpPr>
              <a:grpSpLocks/>
            </p:cNvGrpSpPr>
            <p:nvPr/>
          </p:nvGrpSpPr>
          <p:grpSpPr bwMode="auto">
            <a:xfrm>
              <a:off x="1104" y="1392"/>
              <a:ext cx="864" cy="624"/>
              <a:chOff x="1104" y="1392"/>
              <a:chExt cx="864" cy="624"/>
            </a:xfrm>
          </p:grpSpPr>
          <p:sp>
            <p:nvSpPr>
              <p:cNvPr id="39960" name="AutoShape 66">
                <a:extLst>
                  <a:ext uri="{FF2B5EF4-FFF2-40B4-BE49-F238E27FC236}">
                    <a16:creationId xmlns:a16="http://schemas.microsoft.com/office/drawing/2014/main" id="{CB95F0BE-D124-974C-C8DB-B0B462BA94CF}"/>
                  </a:ext>
                </a:extLst>
              </p:cNvPr>
              <p:cNvSpPr>
                <a:spLocks noChangeArrowheads="1"/>
              </p:cNvSpPr>
              <p:nvPr/>
            </p:nvSpPr>
            <p:spPr bwMode="auto">
              <a:xfrm>
                <a:off x="1104" y="1392"/>
                <a:ext cx="864" cy="624"/>
              </a:xfrm>
              <a:prstGeom prst="rightArrow">
                <a:avLst>
                  <a:gd name="adj1" fmla="val 50000"/>
                  <a:gd name="adj2" fmla="val 34615"/>
                </a:avLst>
              </a:prstGeom>
              <a:solidFill>
                <a:srgbClr val="99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61" name="Text Box 67">
                <a:extLst>
                  <a:ext uri="{FF2B5EF4-FFF2-40B4-BE49-F238E27FC236}">
                    <a16:creationId xmlns:a16="http://schemas.microsoft.com/office/drawing/2014/main" id="{5BA6D45E-A571-87FA-673F-E41E11F634DF}"/>
                  </a:ext>
                </a:extLst>
              </p:cNvPr>
              <p:cNvSpPr txBox="1">
                <a:spLocks noChangeArrowheads="1"/>
              </p:cNvSpPr>
              <p:nvPr/>
            </p:nvSpPr>
            <p:spPr bwMode="auto">
              <a:xfrm>
                <a:off x="1200" y="153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solidFill>
                      <a:schemeClr val="bg1"/>
                    </a:solidFill>
                    <a:latin typeface="Tahoma" panose="020B0604030504040204" pitchFamily="34" charset="0"/>
                    <a:ea typeface="黑体" panose="02010609060101010101" pitchFamily="49" charset="-122"/>
                  </a:rPr>
                  <a:t>复制</a:t>
                </a:r>
              </a:p>
            </p:txBody>
          </p:sp>
        </p:grpSp>
        <p:sp>
          <p:nvSpPr>
            <p:cNvPr id="39959" name="AutoShape 68">
              <a:extLst>
                <a:ext uri="{FF2B5EF4-FFF2-40B4-BE49-F238E27FC236}">
                  <a16:creationId xmlns:a16="http://schemas.microsoft.com/office/drawing/2014/main" id="{4E83D1DD-AE9B-F4F7-0407-1BC838086746}"/>
                </a:ext>
              </a:extLst>
            </p:cNvPr>
            <p:cNvSpPr>
              <a:spLocks noChangeArrowheads="1"/>
            </p:cNvSpPr>
            <p:nvPr/>
          </p:nvSpPr>
          <p:spPr bwMode="auto">
            <a:xfrm>
              <a:off x="1872" y="2832"/>
              <a:ext cx="1872" cy="1056"/>
            </a:xfrm>
            <a:prstGeom prst="wedgeRoundRectCallout">
              <a:avLst>
                <a:gd name="adj1" fmla="val -53310"/>
                <a:gd name="adj2" fmla="val -147634"/>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当需要中止当前任务时，则把任务对应的虚拟处理器复制到内存</a:t>
              </a:r>
            </a:p>
          </p:txBody>
        </p:sp>
      </p:grpSp>
      <p:grpSp>
        <p:nvGrpSpPr>
          <p:cNvPr id="13" name="Group 69">
            <a:extLst>
              <a:ext uri="{FF2B5EF4-FFF2-40B4-BE49-F238E27FC236}">
                <a16:creationId xmlns:a16="http://schemas.microsoft.com/office/drawing/2014/main" id="{CE13A2BA-7B42-3CE7-EC3E-F9F8B1B415B2}"/>
              </a:ext>
            </a:extLst>
          </p:cNvPr>
          <p:cNvGrpSpPr>
            <a:grpSpLocks/>
          </p:cNvGrpSpPr>
          <p:nvPr/>
        </p:nvGrpSpPr>
        <p:grpSpPr bwMode="auto">
          <a:xfrm>
            <a:off x="1752600" y="3429000"/>
            <a:ext cx="5341938" cy="2819400"/>
            <a:chOff x="1104" y="2160"/>
            <a:chExt cx="3365" cy="1776"/>
          </a:xfrm>
        </p:grpSpPr>
        <p:grpSp>
          <p:nvGrpSpPr>
            <p:cNvPr id="39954" name="Group 70">
              <a:extLst>
                <a:ext uri="{FF2B5EF4-FFF2-40B4-BE49-F238E27FC236}">
                  <a16:creationId xmlns:a16="http://schemas.microsoft.com/office/drawing/2014/main" id="{404EFCC2-4785-CAE4-C813-C29904FCC2EB}"/>
                </a:ext>
              </a:extLst>
            </p:cNvPr>
            <p:cNvGrpSpPr>
              <a:grpSpLocks/>
            </p:cNvGrpSpPr>
            <p:nvPr/>
          </p:nvGrpSpPr>
          <p:grpSpPr bwMode="auto">
            <a:xfrm>
              <a:off x="1104" y="2160"/>
              <a:ext cx="960" cy="672"/>
              <a:chOff x="1104" y="2064"/>
              <a:chExt cx="768" cy="672"/>
            </a:xfrm>
          </p:grpSpPr>
          <p:sp>
            <p:nvSpPr>
              <p:cNvPr id="39956" name="AutoShape 71">
                <a:extLst>
                  <a:ext uri="{FF2B5EF4-FFF2-40B4-BE49-F238E27FC236}">
                    <a16:creationId xmlns:a16="http://schemas.microsoft.com/office/drawing/2014/main" id="{23C83011-799E-843B-C99D-E35E35FC192D}"/>
                  </a:ext>
                </a:extLst>
              </p:cNvPr>
              <p:cNvSpPr>
                <a:spLocks noChangeArrowheads="1"/>
              </p:cNvSpPr>
              <p:nvPr/>
            </p:nvSpPr>
            <p:spPr bwMode="auto">
              <a:xfrm>
                <a:off x="1104" y="2064"/>
                <a:ext cx="768" cy="672"/>
              </a:xfrm>
              <a:prstGeom prst="leftArrow">
                <a:avLst>
                  <a:gd name="adj1" fmla="val 50000"/>
                  <a:gd name="adj2" fmla="val 28571"/>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57" name="Text Box 72">
                <a:extLst>
                  <a:ext uri="{FF2B5EF4-FFF2-40B4-BE49-F238E27FC236}">
                    <a16:creationId xmlns:a16="http://schemas.microsoft.com/office/drawing/2014/main" id="{B7B8028E-ADEF-058E-06F8-855BE9FF8854}"/>
                  </a:ext>
                </a:extLst>
              </p:cNvPr>
              <p:cNvSpPr txBox="1">
                <a:spLocks noChangeArrowheads="1"/>
              </p:cNvSpPr>
              <p:nvPr/>
            </p:nvSpPr>
            <p:spPr bwMode="auto">
              <a:xfrm>
                <a:off x="1248" y="2256"/>
                <a:ext cx="400" cy="2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solidFill>
                      <a:schemeClr val="bg1"/>
                    </a:solidFill>
                    <a:latin typeface="Tahoma" panose="020B0604030504040204" pitchFamily="34" charset="0"/>
                    <a:ea typeface="黑体" panose="02010609060101010101" pitchFamily="49" charset="-122"/>
                  </a:rPr>
                  <a:t>复制</a:t>
                </a:r>
              </a:p>
            </p:txBody>
          </p:sp>
        </p:grpSp>
        <p:sp>
          <p:nvSpPr>
            <p:cNvPr id="39955" name="AutoShape 73">
              <a:extLst>
                <a:ext uri="{FF2B5EF4-FFF2-40B4-BE49-F238E27FC236}">
                  <a16:creationId xmlns:a16="http://schemas.microsoft.com/office/drawing/2014/main" id="{B3C5117C-3356-752B-2875-BE30CFC7BDD3}"/>
                </a:ext>
              </a:extLst>
            </p:cNvPr>
            <p:cNvSpPr>
              <a:spLocks noChangeArrowheads="1"/>
            </p:cNvSpPr>
            <p:nvPr/>
          </p:nvSpPr>
          <p:spPr bwMode="auto">
            <a:xfrm>
              <a:off x="2016" y="3072"/>
              <a:ext cx="2453" cy="864"/>
            </a:xfrm>
            <a:prstGeom prst="wedgeRoundRectCallout">
              <a:avLst>
                <a:gd name="adj1" fmla="val -67324"/>
                <a:gd name="adj2" fmla="val -105093"/>
                <a:gd name="adj3" fmla="val 16667"/>
              </a:avLst>
            </a:prstGeom>
            <a:solidFill>
              <a:schemeClr val="accent1"/>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再把另一个需要运行的任务的虚拟处理器复制到实际处理器中</a:t>
              </a:r>
            </a:p>
          </p:txBody>
        </p:sp>
      </p:grpSp>
      <p:sp>
        <p:nvSpPr>
          <p:cNvPr id="39951" name="Text Box 74">
            <a:extLst>
              <a:ext uri="{FF2B5EF4-FFF2-40B4-BE49-F238E27FC236}">
                <a16:creationId xmlns:a16="http://schemas.microsoft.com/office/drawing/2014/main" id="{3586CE30-E557-670D-3EC1-0DC8AF0C9166}"/>
              </a:ext>
            </a:extLst>
          </p:cNvPr>
          <p:cNvSpPr txBox="1">
            <a:spLocks noChangeArrowheads="1"/>
          </p:cNvSpPr>
          <p:nvPr/>
        </p:nvSpPr>
        <p:spPr bwMode="auto">
          <a:xfrm>
            <a:off x="228600" y="2895600"/>
            <a:ext cx="1412875" cy="466725"/>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寄存器组</a:t>
            </a:r>
          </a:p>
        </p:txBody>
      </p:sp>
      <p:sp>
        <p:nvSpPr>
          <p:cNvPr id="39952" name="Text Box 75">
            <a:extLst>
              <a:ext uri="{FF2B5EF4-FFF2-40B4-BE49-F238E27FC236}">
                <a16:creationId xmlns:a16="http://schemas.microsoft.com/office/drawing/2014/main" id="{D761AF54-EF85-92E6-1F7E-F58DC3E75597}"/>
              </a:ext>
            </a:extLst>
          </p:cNvPr>
          <p:cNvSpPr txBox="1">
            <a:spLocks noChangeArrowheads="1"/>
          </p:cNvSpPr>
          <p:nvPr/>
        </p:nvSpPr>
        <p:spPr bwMode="auto">
          <a:xfrm>
            <a:off x="3429000" y="3429000"/>
            <a:ext cx="1412875" cy="466725"/>
          </a:xfrm>
          <a:prstGeom prst="rect">
            <a:avLst/>
          </a:prstGeom>
          <a:solidFill>
            <a:schemeClr val="bg1"/>
          </a:solidFill>
          <a:ln w="9525">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寄存器组</a:t>
            </a:r>
          </a:p>
        </p:txBody>
      </p:sp>
      <p:sp>
        <p:nvSpPr>
          <p:cNvPr id="80972" name="Text Box 76">
            <a:extLst>
              <a:ext uri="{FF2B5EF4-FFF2-40B4-BE49-F238E27FC236}">
                <a16:creationId xmlns:a16="http://schemas.microsoft.com/office/drawing/2014/main" id="{C29FA6FB-7D9B-7C64-696E-F8D51B22ED91}"/>
              </a:ext>
            </a:extLst>
          </p:cNvPr>
          <p:cNvSpPr txBox="1">
            <a:spLocks noChangeArrowheads="1"/>
          </p:cNvSpPr>
          <p:nvPr/>
        </p:nvSpPr>
        <p:spPr bwMode="auto">
          <a:xfrm>
            <a:off x="533400" y="2895600"/>
            <a:ext cx="7804150" cy="3457575"/>
          </a:xfrm>
          <a:prstGeom prst="rect">
            <a:avLst/>
          </a:prstGeom>
          <a:solidFill>
            <a:srgbClr val="72FCEF"/>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a:p>
            <a:pPr eaLnBrk="1" hangingPunct="1">
              <a:spcBef>
                <a:spcPct val="0"/>
              </a:spcBef>
              <a:buClrTx/>
              <a:buSzTx/>
              <a:buFontTx/>
              <a:buNone/>
            </a:pPr>
            <a:r>
              <a:rPr kumimoji="1" lang="zh-CN" altLang="en-US" sz="5400" b="0">
                <a:latin typeface="Tahoma" panose="020B0604030504040204" pitchFamily="34" charset="0"/>
                <a:ea typeface="隶书" pitchFamily="49" charset="-122"/>
              </a:rPr>
              <a:t>也就是说，任务的切换是</a:t>
            </a:r>
          </a:p>
          <a:p>
            <a:pPr eaLnBrk="1" hangingPunct="1">
              <a:spcBef>
                <a:spcPct val="0"/>
              </a:spcBef>
              <a:buClrTx/>
              <a:buSzTx/>
              <a:buFontTx/>
              <a:buNone/>
            </a:pPr>
            <a:r>
              <a:rPr kumimoji="1" lang="zh-CN" altLang="en-US" sz="5400" b="0">
                <a:latin typeface="Tahoma" panose="020B0604030504040204" pitchFamily="34" charset="0"/>
                <a:ea typeface="隶书" pitchFamily="49" charset="-122"/>
              </a:rPr>
              <a:t>任务</a:t>
            </a:r>
            <a:r>
              <a:rPr kumimoji="1" lang="zh-CN" altLang="en-US" sz="5400" b="0">
                <a:solidFill>
                  <a:srgbClr val="FF0000"/>
                </a:solidFill>
                <a:latin typeface="Tahoma" panose="020B0604030504040204" pitchFamily="34" charset="0"/>
                <a:ea typeface="隶书" pitchFamily="49" charset="-122"/>
              </a:rPr>
              <a:t>运行环境的切换</a:t>
            </a:r>
          </a:p>
          <a:p>
            <a:pPr eaLnBrk="1" hangingPunct="1">
              <a:spcBef>
                <a:spcPct val="0"/>
              </a:spcBef>
              <a:buClrTx/>
              <a:buSzTx/>
              <a:buFontTx/>
              <a:buNone/>
            </a:pPr>
            <a:endParaRPr kumimoji="1" lang="en-US" altLang="zh-CN" sz="5400" b="0">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953"/>
                                        </p:tgtEl>
                                        <p:attrNameLst>
                                          <p:attrName>style.visibility</p:attrName>
                                        </p:attrNameLst>
                                      </p:cBhvr>
                                      <p:to>
                                        <p:strVal val="visible"/>
                                      </p:to>
                                    </p:set>
                                    <p:animEffect transition="in" filter="box(in)">
                                      <p:cBhvr>
                                        <p:cTn id="7" dur="500"/>
                                        <p:tgtEl>
                                          <p:spTgt spid="809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heckerboard(across)">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80954"/>
                                        </p:tgtEl>
                                        <p:attrNameLst>
                                          <p:attrName>style.visibility</p:attrName>
                                        </p:attrNameLst>
                                      </p:cBhvr>
                                      <p:to>
                                        <p:strVal val="visible"/>
                                      </p:to>
                                    </p:set>
                                    <p:animEffect transition="in" filter="box(in)">
                                      <p:cBhvr>
                                        <p:cTn id="32" dur="500"/>
                                        <p:tgtEl>
                                          <p:spTgt spid="809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0972"/>
                                        </p:tgtEl>
                                        <p:attrNameLst>
                                          <p:attrName>style.visibility</p:attrName>
                                        </p:attrNameLst>
                                      </p:cBhvr>
                                      <p:to>
                                        <p:strVal val="visible"/>
                                      </p:to>
                                    </p:set>
                                    <p:animEffect transition="in" filter="box(in)">
                                      <p:cBhvr>
                                        <p:cTn id="37" dur="500"/>
                                        <p:tgtEl>
                                          <p:spTgt spid="80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53" grpId="0" animBg="1" autoUpdateAnimBg="0"/>
      <p:bldP spid="80954" grpId="0" animBg="1" autoUpdateAnimBg="0"/>
      <p:bldP spid="80972"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1">
            <a:extLst>
              <a:ext uri="{FF2B5EF4-FFF2-40B4-BE49-F238E27FC236}">
                <a16:creationId xmlns:a16="http://schemas.microsoft.com/office/drawing/2014/main" id="{9C7767D9-CD93-32AB-5C47-2233CA6C270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0963" name="灯片编号占位符 2">
            <a:extLst>
              <a:ext uri="{FF2B5EF4-FFF2-40B4-BE49-F238E27FC236}">
                <a16:creationId xmlns:a16="http://schemas.microsoft.com/office/drawing/2014/main" id="{4365D366-5310-1A8F-7A43-CFA1953715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C9F593-27F2-42BF-B015-C8DFB16C6750}" type="slidenum">
              <a:rPr lang="en-US" altLang="zh-CN" sz="1200" smtClean="0">
                <a:solidFill>
                  <a:srgbClr val="3366FF"/>
                </a:solidFill>
                <a:latin typeface="Arial Black" panose="020B0A04020102020204" pitchFamily="34" charset="0"/>
              </a:rPr>
              <a:pPr>
                <a:spcBef>
                  <a:spcPct val="0"/>
                </a:spcBef>
                <a:buClrTx/>
                <a:buSzTx/>
                <a:buFontTx/>
                <a:buNone/>
              </a:pPr>
              <a:t>37</a:t>
            </a:fld>
            <a:endParaRPr lang="en-US" altLang="zh-CN" sz="1200">
              <a:solidFill>
                <a:srgbClr val="3366FF"/>
              </a:solidFill>
              <a:latin typeface="Arial Black" panose="020B0A04020102020204" pitchFamily="34" charset="0"/>
            </a:endParaRPr>
          </a:p>
        </p:txBody>
      </p:sp>
      <p:sp>
        <p:nvSpPr>
          <p:cNvPr id="40964" name="日期占位符 3">
            <a:extLst>
              <a:ext uri="{FF2B5EF4-FFF2-40B4-BE49-F238E27FC236}">
                <a16:creationId xmlns:a16="http://schemas.microsoft.com/office/drawing/2014/main" id="{03C63AC6-AB97-CEDE-07BC-52DAF1D8B8D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3F6EC2-094F-43F8-91AE-EC51CB635327}"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0965" name="Rectangle 2">
            <a:extLst>
              <a:ext uri="{FF2B5EF4-FFF2-40B4-BE49-F238E27FC236}">
                <a16:creationId xmlns:a16="http://schemas.microsoft.com/office/drawing/2014/main" id="{0007D0C7-977F-5FCE-76BF-C66AF58D95D6}"/>
              </a:ext>
            </a:extLst>
          </p:cNvPr>
          <p:cNvSpPr>
            <a:spLocks noChangeArrowheads="1"/>
          </p:cNvSpPr>
          <p:nvPr/>
        </p:nvSpPr>
        <p:spPr bwMode="auto">
          <a:xfrm>
            <a:off x="609600" y="620713"/>
            <a:ext cx="411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4900" b="0">
                <a:latin typeface="隶书" pitchFamily="49" charset="-122"/>
                <a:ea typeface="隶书" pitchFamily="49" charset="-122"/>
              </a:rPr>
              <a:t>虚拟处理器</a:t>
            </a:r>
            <a:endParaRPr kumimoji="1" lang="zh-CN" altLang="en-US" sz="4900" b="0">
              <a:latin typeface="隶书" pitchFamily="49" charset="-122"/>
              <a:ea typeface="隶书" pitchFamily="49" charset="-122"/>
              <a:hlinkClick r:id="rId2" action="ppaction://hlinksldjump"/>
            </a:endParaRPr>
          </a:p>
        </p:txBody>
      </p:sp>
      <p:sp>
        <p:nvSpPr>
          <p:cNvPr id="40966" name="Text Box 3">
            <a:extLst>
              <a:ext uri="{FF2B5EF4-FFF2-40B4-BE49-F238E27FC236}">
                <a16:creationId xmlns:a16="http://schemas.microsoft.com/office/drawing/2014/main" id="{DC7BC11A-7504-84D4-F4B7-97657503047E}"/>
              </a:ext>
            </a:extLst>
          </p:cNvPr>
          <p:cNvSpPr txBox="1">
            <a:spLocks noChangeArrowheads="1"/>
          </p:cNvSpPr>
          <p:nvPr/>
        </p:nvSpPr>
        <p:spPr bwMode="auto">
          <a:xfrm>
            <a:off x="971550" y="2492375"/>
            <a:ext cx="4968875" cy="2724150"/>
          </a:xfrm>
          <a:prstGeom prst="rect">
            <a:avLst/>
          </a:prstGeom>
          <a:solidFill>
            <a:srgbClr val="CCFFFF"/>
          </a:solidFill>
          <a:ln w="76200">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虚拟处理器应该存储的主要信息：</a:t>
            </a:r>
          </a:p>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1</a:t>
            </a:r>
            <a:r>
              <a:rPr kumimoji="1" lang="zh-CN" altLang="en-US" sz="2400" b="0">
                <a:latin typeface="Tahoma" panose="020B0604030504040204" pitchFamily="34" charset="0"/>
                <a:ea typeface="黑体" panose="02010609060101010101" pitchFamily="49" charset="-122"/>
              </a:rPr>
              <a:t>。程序的断点地址（</a:t>
            </a:r>
            <a:r>
              <a:rPr kumimoji="1" lang="en-US" altLang="zh-CN" sz="2400" b="0">
                <a:latin typeface="Tahoma" panose="020B0604030504040204" pitchFamily="34" charset="0"/>
                <a:ea typeface="黑体" panose="02010609060101010101" pitchFamily="49" charset="-122"/>
              </a:rPr>
              <a:t>PC</a:t>
            </a:r>
            <a:r>
              <a:rPr kumimoji="1" lang="zh-CN" altLang="en-US" sz="2400" b="0">
                <a:latin typeface="Tahoma" panose="020B0604030504040204" pitchFamily="34" charset="0"/>
                <a:ea typeface="黑体" panose="02010609060101010101" pitchFamily="49" charset="-122"/>
              </a:rPr>
              <a:t>）</a:t>
            </a:r>
          </a:p>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2</a:t>
            </a:r>
            <a:r>
              <a:rPr kumimoji="1" lang="zh-CN" altLang="en-US" sz="2400" b="0">
                <a:latin typeface="Tahoma" panose="020B0604030504040204" pitchFamily="34" charset="0"/>
                <a:ea typeface="黑体" panose="02010609060101010101" pitchFamily="49" charset="-122"/>
              </a:rPr>
              <a:t>。任务堆栈指针（</a:t>
            </a:r>
            <a:r>
              <a:rPr kumimoji="1" lang="en-US" altLang="zh-CN" sz="2400" b="0">
                <a:latin typeface="Tahoma" panose="020B0604030504040204" pitchFamily="34" charset="0"/>
                <a:ea typeface="黑体" panose="02010609060101010101" pitchFamily="49" charset="-122"/>
              </a:rPr>
              <a:t>SP</a:t>
            </a:r>
            <a:r>
              <a:rPr kumimoji="1" lang="zh-CN" altLang="en-US" sz="2400" b="0">
                <a:latin typeface="Tahoma" panose="020B0604030504040204" pitchFamily="34" charset="0"/>
                <a:ea typeface="黑体" panose="02010609060101010101" pitchFamily="49" charset="-122"/>
              </a:rPr>
              <a:t>）</a:t>
            </a:r>
          </a:p>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3</a:t>
            </a:r>
            <a:r>
              <a:rPr kumimoji="1" lang="zh-CN" altLang="en-US" sz="2400" b="0">
                <a:latin typeface="Tahoma" panose="020B0604030504040204" pitchFamily="34" charset="0"/>
                <a:ea typeface="黑体" panose="02010609060101010101" pitchFamily="49" charset="-122"/>
              </a:rPr>
              <a:t>。程序状态字寄存器（</a:t>
            </a:r>
            <a:r>
              <a:rPr kumimoji="1" lang="en-US" altLang="zh-CN" sz="2400" b="0">
                <a:latin typeface="Tahoma" panose="020B0604030504040204" pitchFamily="34" charset="0"/>
                <a:ea typeface="黑体" panose="02010609060101010101" pitchFamily="49" charset="-122"/>
              </a:rPr>
              <a:t>PSW</a:t>
            </a:r>
            <a:r>
              <a:rPr kumimoji="1" lang="zh-CN" altLang="en-US" sz="2400" b="0">
                <a:latin typeface="Tahoma" panose="020B0604030504040204" pitchFamily="34" charset="0"/>
                <a:ea typeface="黑体" panose="02010609060101010101" pitchFamily="49" charset="-122"/>
              </a:rPr>
              <a:t>）</a:t>
            </a:r>
          </a:p>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4</a:t>
            </a:r>
            <a:r>
              <a:rPr kumimoji="1" lang="zh-CN" altLang="en-US" sz="2400" b="0">
                <a:latin typeface="Tahoma" panose="020B0604030504040204" pitchFamily="34" charset="0"/>
                <a:ea typeface="黑体" panose="02010609060101010101" pitchFamily="49" charset="-122"/>
              </a:rPr>
              <a:t>。通用寄存器内容</a:t>
            </a:r>
          </a:p>
          <a:p>
            <a:pPr eaLnBrk="1" hangingPunct="1">
              <a:spcBef>
                <a:spcPct val="0"/>
              </a:spcBef>
              <a:buClrTx/>
              <a:buSzTx/>
              <a:buFontTx/>
              <a:buNone/>
            </a:pPr>
            <a:r>
              <a:rPr kumimoji="1" lang="en-US" altLang="zh-CN" sz="2400" b="0">
                <a:latin typeface="Tahoma" panose="020B0604030504040204" pitchFamily="34" charset="0"/>
                <a:ea typeface="黑体" panose="02010609060101010101" pitchFamily="49" charset="-122"/>
              </a:rPr>
              <a:t>5</a:t>
            </a:r>
            <a:r>
              <a:rPr kumimoji="1" lang="zh-CN" altLang="en-US" sz="2400" b="0">
                <a:latin typeface="Tahoma" panose="020B0604030504040204" pitchFamily="34" charset="0"/>
                <a:ea typeface="黑体" panose="02010609060101010101" pitchFamily="49" charset="-122"/>
              </a:rPr>
              <a:t>。函数调用信息（已存在于堆栈）</a:t>
            </a:r>
          </a:p>
          <a:p>
            <a:pPr eaLnBrk="1" hangingPunct="1">
              <a:spcBef>
                <a:spcPct val="0"/>
              </a:spcBef>
              <a:buClrTx/>
              <a:buSzTx/>
              <a:buFontTx/>
              <a:buNone/>
            </a:pPr>
            <a:endParaRPr kumimoji="1" lang="en-US" altLang="zh-CN" sz="2400" b="0">
              <a:latin typeface="Tahoma" panose="020B0604030504040204" pitchFamily="34" charset="0"/>
              <a:ea typeface="黑体" panose="02010609060101010101" pitchFamily="49" charset="-122"/>
            </a:endParaRPr>
          </a:p>
        </p:txBody>
      </p:sp>
      <p:sp>
        <p:nvSpPr>
          <p:cNvPr id="40967" name="AutoShape 5">
            <a:extLst>
              <a:ext uri="{FF2B5EF4-FFF2-40B4-BE49-F238E27FC236}">
                <a16:creationId xmlns:a16="http://schemas.microsoft.com/office/drawing/2014/main" id="{AFD881C3-E4EF-625B-BB7A-DFDD4604BECD}"/>
              </a:ext>
            </a:extLst>
          </p:cNvPr>
          <p:cNvSpPr>
            <a:spLocks noChangeArrowheads="1"/>
          </p:cNvSpPr>
          <p:nvPr/>
        </p:nvSpPr>
        <p:spPr bwMode="auto">
          <a:xfrm>
            <a:off x="6091238" y="2209800"/>
            <a:ext cx="2873375" cy="1795463"/>
          </a:xfrm>
          <a:prstGeom prst="wedgeRoundRectCallout">
            <a:avLst>
              <a:gd name="adj1" fmla="val -57236"/>
              <a:gd name="adj2" fmla="val 12954"/>
              <a:gd name="adj3" fmla="val 16667"/>
            </a:avLst>
          </a:prstGeom>
          <a:solidFill>
            <a:srgbClr val="CCFFCC"/>
          </a:solidFill>
          <a:ln w="9525">
            <a:solidFill>
              <a:schemeClr val="tx1"/>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Tahoma" panose="020B0604030504040204" pitchFamily="34" charset="0"/>
                <a:ea typeface="黑体" panose="02010609060101010101" pitchFamily="49" charset="-122"/>
              </a:rPr>
              <a:t>这些内容通常保存在任务堆栈中，这些内容也常叫做任务的上下文。</a:t>
            </a:r>
          </a:p>
        </p:txBody>
      </p:sp>
      <p:sp>
        <p:nvSpPr>
          <p:cNvPr id="81942" name="Text Box 22">
            <a:extLst>
              <a:ext uri="{FF2B5EF4-FFF2-40B4-BE49-F238E27FC236}">
                <a16:creationId xmlns:a16="http://schemas.microsoft.com/office/drawing/2014/main" id="{23FA47FC-CEA1-0DF7-2542-AB47DF50E47F}"/>
              </a:ext>
            </a:extLst>
          </p:cNvPr>
          <p:cNvSpPr txBox="1">
            <a:spLocks noChangeArrowheads="1"/>
          </p:cNvSpPr>
          <p:nvPr/>
        </p:nvSpPr>
        <p:spPr bwMode="auto">
          <a:xfrm>
            <a:off x="755650" y="1773238"/>
            <a:ext cx="7804150" cy="4676775"/>
          </a:xfrm>
          <a:prstGeom prst="rect">
            <a:avLst/>
          </a:prstGeom>
          <a:solidFill>
            <a:srgbClr val="CCFFCC"/>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b="0">
              <a:latin typeface="隶书" pitchFamily="49" charset="-122"/>
              <a:ea typeface="隶书" pitchFamily="49" charset="-122"/>
            </a:endParaRPr>
          </a:p>
          <a:p>
            <a:pPr eaLnBrk="1" hangingPunct="1">
              <a:spcBef>
                <a:spcPct val="0"/>
              </a:spcBef>
              <a:buClrTx/>
              <a:buSzTx/>
              <a:buFontTx/>
              <a:buNone/>
            </a:pPr>
            <a:r>
              <a:rPr kumimoji="1" lang="zh-CN" altLang="en-US" sz="5400" b="0">
                <a:latin typeface="隶书" pitchFamily="49" charset="-122"/>
                <a:ea typeface="隶书" pitchFamily="49" charset="-122"/>
              </a:rPr>
              <a:t>其实，程序切换的关键是</a:t>
            </a:r>
          </a:p>
          <a:p>
            <a:pPr eaLnBrk="1" hangingPunct="1">
              <a:spcBef>
                <a:spcPct val="0"/>
              </a:spcBef>
              <a:buClrTx/>
              <a:buSzTx/>
              <a:buFontTx/>
              <a:buNone/>
            </a:pPr>
            <a:r>
              <a:rPr kumimoji="1" lang="zh-CN" altLang="en-US" sz="5400" b="0">
                <a:latin typeface="隶书" pitchFamily="49" charset="-122"/>
                <a:ea typeface="隶书" pitchFamily="49" charset="-122"/>
              </a:rPr>
              <a:t>把程序的</a:t>
            </a:r>
            <a:r>
              <a:rPr kumimoji="1" lang="zh-CN" altLang="en-US" sz="5400" b="0">
                <a:solidFill>
                  <a:srgbClr val="FF0000"/>
                </a:solidFill>
                <a:latin typeface="隶书" pitchFamily="49" charset="-122"/>
                <a:ea typeface="隶书" pitchFamily="49" charset="-122"/>
              </a:rPr>
              <a:t>私有堆栈指针</a:t>
            </a:r>
            <a:r>
              <a:rPr kumimoji="1" lang="zh-CN" altLang="en-US" sz="5400" b="0">
                <a:latin typeface="隶书" pitchFamily="49" charset="-122"/>
                <a:ea typeface="隶书" pitchFamily="49" charset="-122"/>
              </a:rPr>
              <a:t>赋</a:t>
            </a:r>
          </a:p>
          <a:p>
            <a:pPr eaLnBrk="1" hangingPunct="1">
              <a:spcBef>
                <a:spcPct val="0"/>
              </a:spcBef>
              <a:buClrTx/>
              <a:buSzTx/>
              <a:buFontTx/>
              <a:buNone/>
            </a:pPr>
            <a:r>
              <a:rPr kumimoji="1" lang="zh-CN" altLang="en-US" sz="5400" b="0">
                <a:latin typeface="隶书" pitchFamily="49" charset="-122"/>
                <a:ea typeface="隶书" pitchFamily="49" charset="-122"/>
              </a:rPr>
              <a:t>予处理器的堆栈指针</a:t>
            </a:r>
            <a:r>
              <a:rPr kumimoji="1" lang="en-US" altLang="zh-CN" sz="8000">
                <a:solidFill>
                  <a:srgbClr val="FF0000"/>
                </a:solidFill>
                <a:latin typeface="隶书" pitchFamily="49" charset="-122"/>
                <a:ea typeface="隶书" pitchFamily="49" charset="-122"/>
              </a:rPr>
              <a:t>SP</a:t>
            </a:r>
          </a:p>
          <a:p>
            <a:pPr eaLnBrk="1" hangingPunct="1">
              <a:spcBef>
                <a:spcPct val="0"/>
              </a:spcBef>
              <a:buClrTx/>
              <a:buSzTx/>
              <a:buFontTx/>
              <a:buNone/>
            </a:pPr>
            <a:endParaRPr kumimoji="1" lang="en-US" altLang="zh-CN" sz="5400" b="0">
              <a:latin typeface="隶书" pitchFamily="49" charset="-122"/>
              <a:ea typeface="隶书" pitchFamily="49" charset="-122"/>
            </a:endParaRPr>
          </a:p>
        </p:txBody>
      </p:sp>
      <p:sp>
        <p:nvSpPr>
          <p:cNvPr id="81943" name="Text Box 23">
            <a:extLst>
              <a:ext uri="{FF2B5EF4-FFF2-40B4-BE49-F238E27FC236}">
                <a16:creationId xmlns:a16="http://schemas.microsoft.com/office/drawing/2014/main" id="{49E70BFE-98BB-1976-6E8D-0AEC3ABB986D}"/>
              </a:ext>
            </a:extLst>
          </p:cNvPr>
          <p:cNvSpPr txBox="1">
            <a:spLocks noChangeArrowheads="1"/>
          </p:cNvSpPr>
          <p:nvPr/>
        </p:nvSpPr>
        <p:spPr bwMode="auto">
          <a:xfrm>
            <a:off x="395288" y="2276475"/>
            <a:ext cx="8489950" cy="3457575"/>
          </a:xfrm>
          <a:prstGeom prst="rect">
            <a:avLst/>
          </a:prstGeom>
          <a:solidFill>
            <a:srgbClr val="CCFFFF"/>
          </a:solidFill>
          <a:ln w="76200">
            <a:solidFill>
              <a:schemeClr val="tx1"/>
            </a:solidFill>
            <a:miter lim="800000"/>
            <a:headEnd/>
            <a:tailEnd/>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5400" b="0">
              <a:latin typeface="隶书" pitchFamily="49" charset="-122"/>
              <a:ea typeface="隶书" pitchFamily="49" charset="-122"/>
            </a:endParaRPr>
          </a:p>
          <a:p>
            <a:pPr eaLnBrk="1" hangingPunct="1">
              <a:spcBef>
                <a:spcPct val="0"/>
              </a:spcBef>
              <a:buClrTx/>
              <a:buSzTx/>
              <a:buFontTx/>
              <a:buNone/>
            </a:pPr>
            <a:r>
              <a:rPr kumimoji="1" lang="zh-CN" altLang="en-US" sz="5400" b="0">
                <a:latin typeface="隶书" pitchFamily="49" charset="-122"/>
                <a:ea typeface="隶书" pitchFamily="49" charset="-122"/>
              </a:rPr>
              <a:t>实质上系统是通过</a:t>
            </a:r>
            <a:r>
              <a:rPr kumimoji="1" lang="en-US" altLang="zh-CN" sz="5400" b="0">
                <a:latin typeface="隶书" pitchFamily="49" charset="-122"/>
                <a:ea typeface="隶书" pitchFamily="49" charset="-122"/>
              </a:rPr>
              <a:t>SP</a:t>
            </a:r>
            <a:r>
              <a:rPr kumimoji="1" lang="zh-CN" altLang="en-US" sz="5400" b="0">
                <a:latin typeface="隶书" pitchFamily="49" charset="-122"/>
                <a:ea typeface="隶书" pitchFamily="49" charset="-122"/>
              </a:rPr>
              <a:t>的切换</a:t>
            </a:r>
          </a:p>
          <a:p>
            <a:pPr eaLnBrk="1" hangingPunct="1">
              <a:spcBef>
                <a:spcPct val="0"/>
              </a:spcBef>
              <a:buClrTx/>
              <a:buSzTx/>
              <a:buFontTx/>
              <a:buNone/>
            </a:pPr>
            <a:r>
              <a:rPr kumimoji="1" lang="zh-CN" altLang="en-US" sz="5400" b="0">
                <a:latin typeface="隶书" pitchFamily="49" charset="-122"/>
                <a:ea typeface="隶书" pitchFamily="49" charset="-122"/>
              </a:rPr>
              <a:t>来实现程序的切换的。</a:t>
            </a:r>
            <a:endParaRPr kumimoji="1" lang="zh-CN" altLang="en-US" sz="8000">
              <a:solidFill>
                <a:srgbClr val="FF0000"/>
              </a:solidFill>
              <a:latin typeface="隶书" pitchFamily="49" charset="-122"/>
              <a:ea typeface="隶书" pitchFamily="49" charset="-122"/>
            </a:endParaRPr>
          </a:p>
          <a:p>
            <a:pPr eaLnBrk="1" hangingPunct="1">
              <a:spcBef>
                <a:spcPct val="0"/>
              </a:spcBef>
              <a:buClrTx/>
              <a:buSzTx/>
              <a:buFontTx/>
              <a:buNone/>
            </a:pPr>
            <a:endParaRPr kumimoji="1" lang="en-US" altLang="zh-CN" sz="5400" b="0">
              <a:latin typeface="隶书" pitchFamily="49" charset="-122"/>
              <a:ea typeface="隶书" pitchFamily="49" charset="-122"/>
            </a:endParaRPr>
          </a:p>
        </p:txBody>
      </p:sp>
      <p:sp>
        <p:nvSpPr>
          <p:cNvPr id="81944" name="Text Box 24" descr="羊皮纸">
            <a:extLst>
              <a:ext uri="{FF2B5EF4-FFF2-40B4-BE49-F238E27FC236}">
                <a16:creationId xmlns:a16="http://schemas.microsoft.com/office/drawing/2014/main" id="{029AF0FB-5716-1F06-2C6D-09ECBDB4293C}"/>
              </a:ext>
            </a:extLst>
          </p:cNvPr>
          <p:cNvSpPr txBox="1">
            <a:spLocks noChangeArrowheads="1"/>
          </p:cNvSpPr>
          <p:nvPr/>
        </p:nvSpPr>
        <p:spPr bwMode="auto">
          <a:xfrm>
            <a:off x="684213" y="1557338"/>
            <a:ext cx="7777162" cy="4435475"/>
          </a:xfrm>
          <a:prstGeom prst="rect">
            <a:avLst/>
          </a:prstGeom>
          <a:blipFill dpi="0" rotWithShape="1">
            <a:blip r:embed="rId3"/>
            <a:srcRect/>
            <a:tile tx="0" ty="0" sx="100000" sy="100000" flip="none" algn="tl"/>
          </a:blipFill>
          <a:ln w="76200">
            <a:solidFill>
              <a:schemeClr val="tx1"/>
            </a:solidFill>
            <a:miter lim="800000"/>
            <a:headEnd/>
            <a:tailEnd/>
          </a:ln>
        </p:spPr>
        <p:txBody>
          <a:bodyPr>
            <a:spAutoFit/>
          </a:bodyPr>
          <a:lstStyle>
            <a:lvl1pPr marL="361950" indent="-3619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4000" b="0">
                <a:latin typeface="隶书" pitchFamily="49" charset="-122"/>
                <a:ea typeface="隶书" pitchFamily="49" charset="-122"/>
              </a:rPr>
              <a:t>要建立一个概念：</a:t>
            </a:r>
          </a:p>
          <a:p>
            <a:pPr eaLnBrk="1" hangingPunct="1">
              <a:spcBef>
                <a:spcPct val="0"/>
              </a:spcBef>
              <a:buClr>
                <a:srgbClr val="6699FF"/>
              </a:buClr>
              <a:buSzPct val="55000"/>
              <a:buFont typeface="Wingdings" panose="05000000000000000000" pitchFamily="2" charset="2"/>
              <a:buChar char="u"/>
            </a:pPr>
            <a:r>
              <a:rPr kumimoji="1" lang="zh-CN" altLang="en-US" sz="4000" b="0">
                <a:latin typeface="隶书" pitchFamily="49" charset="-122"/>
                <a:ea typeface="隶书" pitchFamily="49" charset="-122"/>
              </a:rPr>
              <a:t>具有控制块的程序才是一个可以被系统所运行的任务。</a:t>
            </a:r>
          </a:p>
          <a:p>
            <a:pPr eaLnBrk="1" hangingPunct="1">
              <a:spcBef>
                <a:spcPct val="0"/>
              </a:spcBef>
              <a:buClr>
                <a:srgbClr val="6699FF"/>
              </a:buClr>
              <a:buSzPct val="55000"/>
              <a:buFont typeface="Wingdings" panose="05000000000000000000" pitchFamily="2" charset="2"/>
              <a:buChar char="u"/>
            </a:pPr>
            <a:r>
              <a:rPr kumimoji="1" lang="zh-CN" altLang="en-US" sz="4000" b="0">
                <a:solidFill>
                  <a:srgbClr val="FF0000"/>
                </a:solidFill>
                <a:latin typeface="隶书" pitchFamily="49" charset="-122"/>
                <a:ea typeface="隶书" pitchFamily="49" charset="-122"/>
              </a:rPr>
              <a:t>程序代码、私有堆栈、任务控制块 </a:t>
            </a:r>
            <a:r>
              <a:rPr kumimoji="1" lang="zh-CN" altLang="en-US" sz="4000" b="0">
                <a:latin typeface="隶书" pitchFamily="49" charset="-122"/>
                <a:ea typeface="隶书" pitchFamily="49" charset="-122"/>
              </a:rPr>
              <a:t>是任务的三要件。</a:t>
            </a:r>
          </a:p>
          <a:p>
            <a:pPr eaLnBrk="1" hangingPunct="1">
              <a:spcBef>
                <a:spcPct val="0"/>
              </a:spcBef>
              <a:buClr>
                <a:srgbClr val="6699FF"/>
              </a:buClr>
              <a:buSzPct val="55000"/>
              <a:buFont typeface="Wingdings" panose="05000000000000000000" pitchFamily="2" charset="2"/>
              <a:buChar char="u"/>
            </a:pPr>
            <a:r>
              <a:rPr kumimoji="1" lang="zh-CN" altLang="en-US" sz="4000" b="0">
                <a:latin typeface="隶书" pitchFamily="49" charset="-122"/>
                <a:ea typeface="隶书" pitchFamily="49" charset="-122"/>
              </a:rPr>
              <a:t>任务控制块提供了运行环境的存储位置。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42"/>
                                        </p:tgtEl>
                                        <p:attrNameLst>
                                          <p:attrName>style.visibility</p:attrName>
                                        </p:attrNameLst>
                                      </p:cBhvr>
                                      <p:to>
                                        <p:strVal val="visible"/>
                                      </p:to>
                                    </p:set>
                                    <p:anim calcmode="lin" valueType="num">
                                      <p:cBhvr additive="base">
                                        <p:cTn id="7" dur="500" fill="hold"/>
                                        <p:tgtEl>
                                          <p:spTgt spid="81942"/>
                                        </p:tgtEl>
                                        <p:attrNameLst>
                                          <p:attrName>ppt_x</p:attrName>
                                        </p:attrNameLst>
                                      </p:cBhvr>
                                      <p:tavLst>
                                        <p:tav tm="0">
                                          <p:val>
                                            <p:strVal val="0-#ppt_w/2"/>
                                          </p:val>
                                        </p:tav>
                                        <p:tav tm="100000">
                                          <p:val>
                                            <p:strVal val="#ppt_x"/>
                                          </p:val>
                                        </p:tav>
                                      </p:tavLst>
                                    </p:anim>
                                    <p:anim calcmode="lin" valueType="num">
                                      <p:cBhvr additive="base">
                                        <p:cTn id="8" dur="500" fill="hold"/>
                                        <p:tgtEl>
                                          <p:spTgt spid="819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43"/>
                                        </p:tgtEl>
                                        <p:attrNameLst>
                                          <p:attrName>style.visibility</p:attrName>
                                        </p:attrNameLst>
                                      </p:cBhvr>
                                      <p:to>
                                        <p:strVal val="visible"/>
                                      </p:to>
                                    </p:set>
                                    <p:anim calcmode="lin" valueType="num">
                                      <p:cBhvr additive="base">
                                        <p:cTn id="13" dur="500" fill="hold"/>
                                        <p:tgtEl>
                                          <p:spTgt spid="81943"/>
                                        </p:tgtEl>
                                        <p:attrNameLst>
                                          <p:attrName>ppt_x</p:attrName>
                                        </p:attrNameLst>
                                      </p:cBhvr>
                                      <p:tavLst>
                                        <p:tav tm="0">
                                          <p:val>
                                            <p:strVal val="0-#ppt_w/2"/>
                                          </p:val>
                                        </p:tav>
                                        <p:tav tm="100000">
                                          <p:val>
                                            <p:strVal val="#ppt_x"/>
                                          </p:val>
                                        </p:tav>
                                      </p:tavLst>
                                    </p:anim>
                                    <p:anim calcmode="lin" valueType="num">
                                      <p:cBhvr additive="base">
                                        <p:cTn id="14" dur="500" fill="hold"/>
                                        <p:tgtEl>
                                          <p:spTgt spid="8194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44"/>
                                        </p:tgtEl>
                                        <p:attrNameLst>
                                          <p:attrName>style.visibility</p:attrName>
                                        </p:attrNameLst>
                                      </p:cBhvr>
                                      <p:to>
                                        <p:strVal val="visible"/>
                                      </p:to>
                                    </p:set>
                                    <p:anim calcmode="lin" valueType="num">
                                      <p:cBhvr additive="base">
                                        <p:cTn id="19" dur="500" fill="hold"/>
                                        <p:tgtEl>
                                          <p:spTgt spid="81944"/>
                                        </p:tgtEl>
                                        <p:attrNameLst>
                                          <p:attrName>ppt_x</p:attrName>
                                        </p:attrNameLst>
                                      </p:cBhvr>
                                      <p:tavLst>
                                        <p:tav tm="0">
                                          <p:val>
                                            <p:strVal val="0-#ppt_w/2"/>
                                          </p:val>
                                        </p:tav>
                                        <p:tav tm="100000">
                                          <p:val>
                                            <p:strVal val="#ppt_x"/>
                                          </p:val>
                                        </p:tav>
                                      </p:tavLst>
                                    </p:anim>
                                    <p:anim calcmode="lin" valueType="num">
                                      <p:cBhvr additive="base">
                                        <p:cTn id="20" dur="500" fill="hold"/>
                                        <p:tgtEl>
                                          <p:spTgt spid="819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2" grpId="0" animBg="1" autoUpdateAnimBg="0"/>
      <p:bldP spid="81943" grpId="0" animBg="1" autoUpdateAnimBg="0"/>
      <p:bldP spid="81944"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1">
            <a:extLst>
              <a:ext uri="{FF2B5EF4-FFF2-40B4-BE49-F238E27FC236}">
                <a16:creationId xmlns:a16="http://schemas.microsoft.com/office/drawing/2014/main" id="{B1E944D2-92AB-27EC-A53B-1ED25D394AE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1987" name="灯片编号占位符 2">
            <a:extLst>
              <a:ext uri="{FF2B5EF4-FFF2-40B4-BE49-F238E27FC236}">
                <a16:creationId xmlns:a16="http://schemas.microsoft.com/office/drawing/2014/main" id="{E5AE9AD2-2DC6-0C1C-A056-003E34BC753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406AD32-95DD-4AD4-9346-E4FBCEEC7AD2}" type="slidenum">
              <a:rPr lang="en-US" altLang="zh-CN" sz="1200" smtClean="0">
                <a:solidFill>
                  <a:srgbClr val="3366FF"/>
                </a:solidFill>
                <a:latin typeface="Arial Black" panose="020B0A04020102020204" pitchFamily="34" charset="0"/>
              </a:rPr>
              <a:pPr>
                <a:spcBef>
                  <a:spcPct val="0"/>
                </a:spcBef>
                <a:buClrTx/>
                <a:buSzTx/>
                <a:buFontTx/>
                <a:buNone/>
              </a:pPr>
              <a:t>38</a:t>
            </a:fld>
            <a:endParaRPr lang="en-US" altLang="zh-CN" sz="1200">
              <a:solidFill>
                <a:srgbClr val="3366FF"/>
              </a:solidFill>
              <a:latin typeface="Arial Black" panose="020B0A04020102020204" pitchFamily="34" charset="0"/>
            </a:endParaRPr>
          </a:p>
        </p:txBody>
      </p:sp>
      <p:sp>
        <p:nvSpPr>
          <p:cNvPr id="41988" name="日期占位符 3">
            <a:extLst>
              <a:ext uri="{FF2B5EF4-FFF2-40B4-BE49-F238E27FC236}">
                <a16:creationId xmlns:a16="http://schemas.microsoft.com/office/drawing/2014/main" id="{57DAEBCC-8A7C-CD7F-C948-B2A8F940274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8F8C48A-4D74-4739-9536-0FEEF0E5D5F2}"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1989" name="Rectangle 2">
            <a:extLst>
              <a:ext uri="{FF2B5EF4-FFF2-40B4-BE49-F238E27FC236}">
                <a16:creationId xmlns:a16="http://schemas.microsoft.com/office/drawing/2014/main" id="{3A14DB4F-3A86-AEE1-29CE-4216983933CC}"/>
              </a:ext>
            </a:extLst>
          </p:cNvPr>
          <p:cNvSpPr>
            <a:spLocks noChangeArrowheads="1"/>
          </p:cNvSpPr>
          <p:nvPr/>
        </p:nvSpPr>
        <p:spPr bwMode="auto">
          <a:xfrm>
            <a:off x="457200" y="7445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b="0"/>
              <a:t>2.4  </a:t>
            </a:r>
            <a:r>
              <a:rPr lang="zh-CN" altLang="en-US" sz="4000">
                <a:solidFill>
                  <a:srgbClr val="080808"/>
                </a:solidFill>
              </a:rPr>
              <a:t>任务就绪表及任务调度</a:t>
            </a:r>
          </a:p>
        </p:txBody>
      </p:sp>
      <p:sp>
        <p:nvSpPr>
          <p:cNvPr id="56325" name="Text Box 5">
            <a:extLst>
              <a:ext uri="{FF2B5EF4-FFF2-40B4-BE49-F238E27FC236}">
                <a16:creationId xmlns:a16="http://schemas.microsoft.com/office/drawing/2014/main" id="{6C878063-2187-8DDC-A1E0-B12CEA40A565}"/>
              </a:ext>
            </a:extLst>
          </p:cNvPr>
          <p:cNvSpPr txBox="1">
            <a:spLocks noChangeArrowheads="1"/>
          </p:cNvSpPr>
          <p:nvPr/>
        </p:nvSpPr>
        <p:spPr bwMode="auto">
          <a:xfrm>
            <a:off x="611188" y="1654175"/>
            <a:ext cx="7646987" cy="4438650"/>
          </a:xfrm>
          <a:prstGeom prst="rect">
            <a:avLst/>
          </a:prstGeom>
          <a:solidFill>
            <a:srgbClr val="D9E8FF"/>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en-US" altLang="zh-CN" sz="2800" b="0">
                <a:latin typeface="黑体" panose="02010609060101010101" pitchFamily="49" charset="-122"/>
                <a:ea typeface="黑体" panose="02010609060101010101" pitchFamily="49" charset="-122"/>
              </a:rPr>
              <a:t>   </a:t>
            </a:r>
            <a:r>
              <a:rPr kumimoji="1" lang="zh-CN" altLang="en-US" sz="2800" b="0">
                <a:latin typeface="黑体" panose="02010609060101010101" pitchFamily="49" charset="-122"/>
                <a:ea typeface="黑体" panose="02010609060101010101" pitchFamily="49" charset="-122"/>
              </a:rPr>
              <a:t>多任务操作系统的核心工作就是任务调度。</a:t>
            </a:r>
          </a:p>
          <a:p>
            <a:pPr algn="just" eaLnBrk="1" hangingPunct="1">
              <a:spcBef>
                <a:spcPct val="0"/>
              </a:spcBef>
              <a:buClrTx/>
              <a:buSzTx/>
              <a:buFontTx/>
              <a:buNone/>
            </a:pPr>
            <a:r>
              <a:rPr kumimoji="1" lang="zh-CN" altLang="en-US" sz="2800" b="0">
                <a:latin typeface="黑体" panose="02010609060101010101" pitchFamily="49" charset="-122"/>
                <a:ea typeface="黑体" panose="02010609060101010101" pitchFamily="49" charset="-122"/>
              </a:rPr>
              <a:t>   所谓</a:t>
            </a:r>
            <a:r>
              <a:rPr kumimoji="1" lang="zh-CN" altLang="en-US" sz="2800" b="0">
                <a:solidFill>
                  <a:srgbClr val="0000FF"/>
                </a:solidFill>
                <a:latin typeface="黑体" panose="02010609060101010101" pitchFamily="49" charset="-122"/>
                <a:ea typeface="黑体" panose="02010609060101010101" pitchFamily="49" charset="-122"/>
              </a:rPr>
              <a:t>调度</a:t>
            </a:r>
            <a:r>
              <a:rPr kumimoji="1" lang="zh-CN" altLang="en-US" sz="2800" b="0">
                <a:latin typeface="黑体" panose="02010609060101010101" pitchFamily="49" charset="-122"/>
                <a:ea typeface="黑体" panose="02010609060101010101" pitchFamily="49" charset="-122"/>
              </a:rPr>
              <a:t>，就是通过一个算法在多个任务中确定该运行的任务，做这项工作的函数就叫做调度器。</a:t>
            </a:r>
          </a:p>
          <a:p>
            <a:pPr eaLnBrk="1" hangingPunct="1">
              <a:spcBef>
                <a:spcPct val="0"/>
              </a:spcBef>
              <a:buClrTx/>
              <a:buSzTx/>
              <a:buFontTx/>
              <a:buNone/>
            </a:pPr>
            <a:r>
              <a:rPr kumimoji="1" lang="zh-CN" altLang="en-US" sz="2800" b="0" i="1">
                <a:latin typeface="黑体" panose="02010609060101010101" pitchFamily="49" charset="-122"/>
                <a:ea typeface="黑体" panose="02010609060101010101" pitchFamily="49" charset="-122"/>
              </a:rPr>
              <a:t>   </a:t>
            </a:r>
            <a:r>
              <a:rPr kumimoji="1" lang="en-US" altLang="zh-CN" sz="2800" b="0" i="1">
                <a:latin typeface="Times New Roman" panose="02020603050405020304" pitchFamily="18" charset="0"/>
                <a:ea typeface="黑体" panose="02010609060101010101" pitchFamily="49" charset="-122"/>
              </a:rPr>
              <a:t>μ</a:t>
            </a:r>
            <a:r>
              <a:rPr kumimoji="1" lang="en-US" altLang="zh-CN" sz="2800" b="0">
                <a:latin typeface="Times New Roman" panose="02020603050405020304" pitchFamily="18" charset="0"/>
                <a:ea typeface="黑体" panose="02010609060101010101" pitchFamily="49" charset="-122"/>
              </a:rPr>
              <a:t>C/OS_II</a:t>
            </a:r>
            <a:r>
              <a:rPr kumimoji="1" lang="zh-CN" altLang="en-US" sz="2800" b="0">
                <a:latin typeface="黑体" panose="02010609060101010101" pitchFamily="49" charset="-122"/>
                <a:ea typeface="黑体" panose="02010609060101010101" pitchFamily="49" charset="-122"/>
              </a:rPr>
              <a:t>进行任务调度的思想是 </a:t>
            </a:r>
            <a:r>
              <a:rPr kumimoji="1" lang="zh-CN" altLang="en-US" sz="2800" b="0">
                <a:latin typeface="Times New Roman" panose="02020603050405020304" pitchFamily="18" charset="0"/>
                <a:ea typeface="黑体" panose="02010609060101010101" pitchFamily="49" charset="-122"/>
              </a:rPr>
              <a:t>“</a:t>
            </a:r>
            <a:r>
              <a:rPr kumimoji="1" lang="zh-CN" altLang="en-US" sz="2800" b="0">
                <a:solidFill>
                  <a:srgbClr val="FF0000"/>
                </a:solidFill>
                <a:latin typeface="黑体" panose="02010609060101010101" pitchFamily="49" charset="-122"/>
                <a:ea typeface="黑体" panose="02010609060101010101" pitchFamily="49" charset="-122"/>
              </a:rPr>
              <a:t>近似地每时每刻总是让优先级最高的就绪任务处于运行状态</a:t>
            </a:r>
            <a:r>
              <a:rPr kumimoji="1" lang="zh-CN" altLang="en-US" sz="2800" b="0">
                <a:latin typeface="Times New Roman" panose="02020603050405020304" pitchFamily="18" charset="0"/>
                <a:ea typeface="黑体" panose="02010609060101010101" pitchFamily="49" charset="-122"/>
              </a:rPr>
              <a:t>”</a:t>
            </a:r>
            <a:r>
              <a:rPr kumimoji="1" lang="zh-CN" altLang="en-US" sz="2800" b="0">
                <a:latin typeface="黑体" panose="02010609060101010101" pitchFamily="49" charset="-122"/>
                <a:ea typeface="黑体" panose="02010609060101010101" pitchFamily="49" charset="-122"/>
              </a:rPr>
              <a:t> 。为了保证这一点，它</a:t>
            </a:r>
            <a:r>
              <a:rPr kumimoji="1" lang="zh-CN" altLang="en-US" sz="2800" b="0">
                <a:solidFill>
                  <a:srgbClr val="FF0000"/>
                </a:solidFill>
                <a:latin typeface="黑体" panose="02010609060101010101" pitchFamily="49" charset="-122"/>
                <a:ea typeface="黑体" panose="02010609060101010101" pitchFamily="49" charset="-122"/>
              </a:rPr>
              <a:t>在系统或用户任务调用系统函数及执行中断服务程序结束时总是调用调度器，来确定应该运行的任务并运行它</a:t>
            </a:r>
            <a:r>
              <a:rPr kumimoji="1" lang="zh-CN" altLang="en-US" sz="2800" b="0">
                <a:latin typeface="黑体" panose="02010609060101010101" pitchFamily="49" charset="-122"/>
                <a:ea typeface="黑体" panose="02010609060101010101" pitchFamily="49" charset="-122"/>
              </a:rPr>
              <a:t> 。</a:t>
            </a:r>
          </a:p>
        </p:txBody>
      </p:sp>
      <p:sp>
        <p:nvSpPr>
          <p:cNvPr id="56326" name="Text Box 6">
            <a:extLst>
              <a:ext uri="{FF2B5EF4-FFF2-40B4-BE49-F238E27FC236}">
                <a16:creationId xmlns:a16="http://schemas.microsoft.com/office/drawing/2014/main" id="{44B0CB7B-10FB-38A0-B44D-D433940FA3CB}"/>
              </a:ext>
            </a:extLst>
          </p:cNvPr>
          <p:cNvSpPr txBox="1">
            <a:spLocks noChangeArrowheads="1"/>
          </p:cNvSpPr>
          <p:nvPr/>
        </p:nvSpPr>
        <p:spPr bwMode="auto">
          <a:xfrm>
            <a:off x="369888" y="1989138"/>
            <a:ext cx="8305800" cy="3336925"/>
          </a:xfrm>
          <a:prstGeom prst="rect">
            <a:avLst/>
          </a:prstGeom>
          <a:solidFill>
            <a:srgbClr val="FFFFCC"/>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4000" b="0" i="1">
              <a:latin typeface="Times New Roman" panose="02020603050405020304" pitchFamily="18" charset="0"/>
              <a:ea typeface="黑体" panose="02010609060101010101" pitchFamily="49" charset="-122"/>
            </a:endParaRPr>
          </a:p>
          <a:p>
            <a:pPr eaLnBrk="1" hangingPunct="1">
              <a:spcBef>
                <a:spcPct val="0"/>
              </a:spcBef>
              <a:buClrTx/>
              <a:buSzTx/>
              <a:buFontTx/>
              <a:buNone/>
            </a:pPr>
            <a:r>
              <a:rPr kumimoji="1" lang="en-US" altLang="zh-CN" sz="6000" b="0" i="1">
                <a:latin typeface="Times New Roman" panose="02020603050405020304" pitchFamily="18" charset="0"/>
                <a:ea typeface="黑体" panose="02010609060101010101" pitchFamily="49" charset="-122"/>
              </a:rPr>
              <a:t>μ</a:t>
            </a:r>
            <a:r>
              <a:rPr kumimoji="1" lang="en-US" altLang="zh-CN" sz="6000" b="0">
                <a:latin typeface="Times New Roman" panose="02020603050405020304" pitchFamily="18" charset="0"/>
                <a:ea typeface="黑体" panose="02010609060101010101" pitchFamily="49" charset="-122"/>
              </a:rPr>
              <a:t>C/OS_II</a:t>
            </a:r>
            <a:r>
              <a:rPr kumimoji="1" lang="zh-CN" altLang="en-US" sz="6000" b="0">
                <a:latin typeface="Times New Roman" panose="02020603050405020304" pitchFamily="18" charset="0"/>
                <a:ea typeface="黑体" panose="02010609060101010101" pitchFamily="49" charset="-122"/>
              </a:rPr>
              <a:t>进行任务调度的依据就是</a:t>
            </a:r>
            <a:r>
              <a:rPr kumimoji="1" lang="zh-CN" altLang="en-US" sz="6000" b="0">
                <a:solidFill>
                  <a:srgbClr val="FF3300"/>
                </a:solidFill>
                <a:latin typeface="Times New Roman" panose="02020603050405020304" pitchFamily="18" charset="0"/>
                <a:ea typeface="黑体" panose="02010609060101010101" pitchFamily="49" charset="-122"/>
              </a:rPr>
              <a:t>任务就绪表</a:t>
            </a:r>
            <a:r>
              <a:rPr kumimoji="1" lang="zh-CN" altLang="en-US" sz="2400" b="0">
                <a:latin typeface="Times New Roman" panose="02020603050405020304" pitchFamily="18" charset="0"/>
              </a:rPr>
              <a:t> </a:t>
            </a:r>
          </a:p>
          <a:p>
            <a:pPr eaLnBrk="1" hangingPunct="1">
              <a:spcBef>
                <a:spcPct val="0"/>
              </a:spcBef>
              <a:buClrTx/>
              <a:buSzTx/>
              <a:buFontTx/>
              <a:buNone/>
            </a:pPr>
            <a:endParaRPr kumimoji="1" lang="zh-CN" altLang="en-US" sz="2400" b="0">
              <a:latin typeface="Times New Roman" panose="02020603050405020304" pitchFamily="18" charset="0"/>
            </a:endParaRPr>
          </a:p>
          <a:p>
            <a:pPr eaLnBrk="1" hangingPunct="1">
              <a:spcBef>
                <a:spcPct val="0"/>
              </a:spcBef>
              <a:buClrTx/>
              <a:buSzTx/>
              <a:buFontTx/>
              <a:buNone/>
            </a:pPr>
            <a:endParaRPr kumimoji="1" lang="en-US" altLang="zh-CN" sz="2400" b="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Effect transition="in" filter="blinds(vertical)">
                                      <p:cBhvr>
                                        <p:cTn id="7" dur="500"/>
                                        <p:tgtEl>
                                          <p:spTgt spid="56325"/>
                                        </p:tgtEl>
                                      </p:cBhvr>
                                    </p:animEffect>
                                  </p:childTnLst>
                                  <p:subTnLst>
                                    <p:set>
                                      <p:cBhvr override="childStyle">
                                        <p:cTn dur="1" fill="hold" display="0" masterRel="nextClick" afterEffect="1"/>
                                        <p:tgtEl>
                                          <p:spTgt spid="5632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56326"/>
                                        </p:tgtEl>
                                        <p:attrNameLst>
                                          <p:attrName>style.visibility</p:attrName>
                                        </p:attrNameLst>
                                      </p:cBhvr>
                                      <p:to>
                                        <p:strVal val="visible"/>
                                      </p:to>
                                    </p:set>
                                    <p:animEffect transition="in" filter="blinds(vertical)">
                                      <p:cBhvr>
                                        <p:cTn id="12" dur="500"/>
                                        <p:tgtEl>
                                          <p:spTgt spid="56326"/>
                                        </p:tgtEl>
                                      </p:cBhvr>
                                    </p:animEffect>
                                  </p:childTnLst>
                                  <p:subTnLst>
                                    <p:set>
                                      <p:cBhvr override="childStyle">
                                        <p:cTn dur="1" fill="hold" display="0" masterRel="nextClick" afterEffect="1"/>
                                        <p:tgtEl>
                                          <p:spTgt spid="563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animBg="1"/>
      <p:bldP spid="5632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1">
            <a:extLst>
              <a:ext uri="{FF2B5EF4-FFF2-40B4-BE49-F238E27FC236}">
                <a16:creationId xmlns:a16="http://schemas.microsoft.com/office/drawing/2014/main" id="{3F8BB6A9-CFB0-E554-C165-45256680938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3011" name="灯片编号占位符 2">
            <a:extLst>
              <a:ext uri="{FF2B5EF4-FFF2-40B4-BE49-F238E27FC236}">
                <a16:creationId xmlns:a16="http://schemas.microsoft.com/office/drawing/2014/main" id="{313C3998-2E20-F5BF-D277-81A5273BD6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13F00FF-FAD1-46EC-984B-8088AFC22D0E}" type="slidenum">
              <a:rPr lang="en-US" altLang="zh-CN" sz="1200" smtClean="0">
                <a:solidFill>
                  <a:srgbClr val="3366FF"/>
                </a:solidFill>
                <a:latin typeface="Arial Black" panose="020B0A04020102020204" pitchFamily="34" charset="0"/>
              </a:rPr>
              <a:pPr>
                <a:spcBef>
                  <a:spcPct val="0"/>
                </a:spcBef>
                <a:buClrTx/>
                <a:buSzTx/>
                <a:buFontTx/>
                <a:buNone/>
              </a:pPr>
              <a:t>39</a:t>
            </a:fld>
            <a:endParaRPr lang="en-US" altLang="zh-CN" sz="1200">
              <a:solidFill>
                <a:srgbClr val="3366FF"/>
              </a:solidFill>
              <a:latin typeface="Arial Black" panose="020B0A04020102020204" pitchFamily="34" charset="0"/>
            </a:endParaRPr>
          </a:p>
        </p:txBody>
      </p:sp>
      <p:sp>
        <p:nvSpPr>
          <p:cNvPr id="43012" name="日期占位符 3">
            <a:extLst>
              <a:ext uri="{FF2B5EF4-FFF2-40B4-BE49-F238E27FC236}">
                <a16:creationId xmlns:a16="http://schemas.microsoft.com/office/drawing/2014/main" id="{3FE271D8-255F-5450-D475-22209B18A7B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0AED1F-4E4A-4918-B4FA-68C4BA5FF55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3013" name="Rectangle 2">
            <a:extLst>
              <a:ext uri="{FF2B5EF4-FFF2-40B4-BE49-F238E27FC236}">
                <a16:creationId xmlns:a16="http://schemas.microsoft.com/office/drawing/2014/main" id="{A272FD4F-46B6-0F56-D793-917AE1F3079B}"/>
              </a:ext>
            </a:extLst>
          </p:cNvPr>
          <p:cNvSpPr>
            <a:spLocks noChangeArrowheads="1"/>
          </p:cNvSpPr>
          <p:nvPr/>
        </p:nvSpPr>
        <p:spPr bwMode="auto">
          <a:xfrm>
            <a:off x="457200" y="7445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4000" b="0"/>
              <a:t>2.4  </a:t>
            </a:r>
            <a:r>
              <a:rPr lang="zh-CN" altLang="en-US" sz="4000">
                <a:solidFill>
                  <a:srgbClr val="080808"/>
                </a:solidFill>
              </a:rPr>
              <a:t>任务就绪表及任务调度</a:t>
            </a:r>
          </a:p>
        </p:txBody>
      </p:sp>
      <p:sp>
        <p:nvSpPr>
          <p:cNvPr id="43014" name="Rectangle 5">
            <a:extLst>
              <a:ext uri="{FF2B5EF4-FFF2-40B4-BE49-F238E27FC236}">
                <a16:creationId xmlns:a16="http://schemas.microsoft.com/office/drawing/2014/main" id="{F115254A-F07A-2F6A-BBB9-B700B0D98F47}"/>
              </a:ext>
            </a:extLst>
          </p:cNvPr>
          <p:cNvSpPr>
            <a:spLocks noChangeArrowheads="1"/>
          </p:cNvSpPr>
          <p:nvPr/>
        </p:nvSpPr>
        <p:spPr bwMode="auto">
          <a:xfrm>
            <a:off x="457200" y="1701800"/>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a:t>任务就绪表的结构</a:t>
            </a:r>
          </a:p>
        </p:txBody>
      </p:sp>
      <p:sp>
        <p:nvSpPr>
          <p:cNvPr id="43015" name="Text Box 8">
            <a:extLst>
              <a:ext uri="{FF2B5EF4-FFF2-40B4-BE49-F238E27FC236}">
                <a16:creationId xmlns:a16="http://schemas.microsoft.com/office/drawing/2014/main" id="{CF7FE415-0D5F-8D86-B022-47F04CB84743}"/>
              </a:ext>
            </a:extLst>
          </p:cNvPr>
          <p:cNvSpPr txBox="1">
            <a:spLocks noChangeArrowheads="1"/>
          </p:cNvSpPr>
          <p:nvPr/>
        </p:nvSpPr>
        <p:spPr bwMode="auto">
          <a:xfrm>
            <a:off x="827088" y="2406650"/>
            <a:ext cx="74168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kumimoji="1" lang="zh-CN" altLang="en-US" sz="2600"/>
              <a:t>为了能够使系统清楚地知道，系统中哪些任务已经就绪，哪些还没有就绪，</a:t>
            </a:r>
            <a:r>
              <a:rPr kumimoji="1" lang="en-US" altLang="zh-CN" sz="2600">
                <a:latin typeface="Arial Narrow" panose="020B0606020202030204" pitchFamily="34" charset="0"/>
              </a:rPr>
              <a:t>μC/OS_II </a:t>
            </a:r>
            <a:r>
              <a:rPr kumimoji="1" lang="zh-CN" altLang="en-US" sz="2600"/>
              <a:t>在 </a:t>
            </a:r>
            <a:r>
              <a:rPr kumimoji="1" lang="en-US" altLang="zh-CN" sz="2600">
                <a:latin typeface="Arial Narrow" panose="020B0606020202030204" pitchFamily="34" charset="0"/>
              </a:rPr>
              <a:t>RAM</a:t>
            </a:r>
            <a:r>
              <a:rPr kumimoji="1" lang="zh-CN" altLang="en-US" sz="2600"/>
              <a:t>中设立了一个记录表，</a:t>
            </a:r>
            <a:r>
              <a:rPr kumimoji="1" lang="zh-CN" altLang="en-US" sz="2600">
                <a:solidFill>
                  <a:srgbClr val="FF0066"/>
                </a:solidFill>
              </a:rPr>
              <a:t>系统中的每个任务都在这个表中占据一 </a:t>
            </a:r>
            <a:r>
              <a:rPr kumimoji="1" lang="en-US" altLang="zh-CN" sz="2600">
                <a:solidFill>
                  <a:srgbClr val="FF0066"/>
                </a:solidFill>
                <a:latin typeface="Arial Narrow" panose="020B0606020202030204" pitchFamily="34" charset="0"/>
              </a:rPr>
              <a:t>Bit</a:t>
            </a:r>
            <a:r>
              <a:rPr kumimoji="1" lang="en-US" altLang="zh-CN" sz="2600">
                <a:solidFill>
                  <a:srgbClr val="FF0066"/>
                </a:solidFill>
              </a:rPr>
              <a:t> </a:t>
            </a:r>
            <a:r>
              <a:rPr kumimoji="1" lang="zh-CN" altLang="en-US" sz="2600">
                <a:solidFill>
                  <a:srgbClr val="FF0066"/>
                </a:solidFill>
              </a:rPr>
              <a:t>的位置，并用这个位置的状态（</a:t>
            </a:r>
            <a:r>
              <a:rPr kumimoji="1" lang="en-US" altLang="zh-CN" sz="2600">
                <a:solidFill>
                  <a:srgbClr val="FF0066"/>
                </a:solidFill>
              </a:rPr>
              <a:t>1</a:t>
            </a:r>
            <a:r>
              <a:rPr kumimoji="1" lang="zh-CN" altLang="en-US" sz="2600">
                <a:solidFill>
                  <a:srgbClr val="FF0066"/>
                </a:solidFill>
              </a:rPr>
              <a:t>或者</a:t>
            </a:r>
            <a:r>
              <a:rPr kumimoji="1" lang="en-US" altLang="zh-CN" sz="2600">
                <a:solidFill>
                  <a:srgbClr val="FF0066"/>
                </a:solidFill>
              </a:rPr>
              <a:t>0</a:t>
            </a:r>
            <a:r>
              <a:rPr kumimoji="1" lang="zh-CN" altLang="en-US" sz="2600">
                <a:solidFill>
                  <a:srgbClr val="FF0066"/>
                </a:solidFill>
              </a:rPr>
              <a:t>）来表示任务是否处于就绪状态</a:t>
            </a:r>
            <a:r>
              <a:rPr kumimoji="1" lang="zh-CN" altLang="en-US" sz="2600"/>
              <a:t>，这个表就叫做任务就绪状态表，简称叫</a:t>
            </a:r>
            <a:r>
              <a:rPr kumimoji="1" lang="zh-CN" altLang="en-US" sz="2600">
                <a:solidFill>
                  <a:srgbClr val="0066FF"/>
                </a:solidFill>
              </a:rPr>
              <a:t>任务就绪表</a:t>
            </a:r>
            <a:r>
              <a:rPr kumimoji="1" lang="zh-CN" altLang="en-US" sz="2600"/>
              <a:t> </a:t>
            </a:r>
            <a:r>
              <a:rPr kumimoji="1" lang="en-US" altLang="zh-CN" sz="2600" b="0"/>
              <a:t>----</a:t>
            </a:r>
            <a:r>
              <a:rPr kumimoji="1" lang="en-US" altLang="zh-CN" sz="2600"/>
              <a:t> </a:t>
            </a:r>
            <a:r>
              <a:rPr kumimoji="1" lang="zh-CN" altLang="en-US" sz="2600"/>
              <a:t>一个 </a:t>
            </a:r>
            <a:r>
              <a:rPr kumimoji="1" lang="en-US" altLang="zh-CN" sz="2600">
                <a:latin typeface="Arial Narrow" panose="020B0606020202030204" pitchFamily="34" charset="0"/>
              </a:rPr>
              <a:t>INT8U </a:t>
            </a:r>
            <a:r>
              <a:rPr kumimoji="1" lang="zh-CN" altLang="en-US" sz="2600"/>
              <a:t>的数组 </a:t>
            </a:r>
            <a:r>
              <a:rPr kumimoji="1" lang="en-US" altLang="zh-CN" sz="2600">
                <a:solidFill>
                  <a:srgbClr val="3366FF"/>
                </a:solidFill>
                <a:latin typeface="Arial Narrow" panose="020B0606020202030204" pitchFamily="34" charset="0"/>
              </a:rPr>
              <a:t>OSRdyTbl[ ]</a:t>
            </a:r>
            <a:r>
              <a:rPr kumimoji="1" lang="en-US" altLang="zh-CN" sz="2600">
                <a:latin typeface="Arial Narrow" panose="020B0606020202030204" pitchFamily="34" charset="0"/>
              </a:rPr>
              <a:t> </a:t>
            </a:r>
            <a:r>
              <a:rPr kumimoji="1" lang="zh-CN" altLang="en-US" sz="2600"/>
              <a:t>充当，最多</a:t>
            </a:r>
            <a:r>
              <a:rPr kumimoji="1" lang="en-US" altLang="zh-CN" sz="2600"/>
              <a:t>8</a:t>
            </a:r>
            <a:r>
              <a:rPr kumimoji="1" lang="zh-CN" altLang="en-US" sz="2600"/>
              <a:t>个元素，可以标示</a:t>
            </a:r>
            <a:r>
              <a:rPr kumimoji="1" lang="en-US" altLang="zh-CN" sz="2600"/>
              <a:t>64</a:t>
            </a:r>
            <a:r>
              <a:rPr kumimoji="1" lang="zh-CN" altLang="en-US" sz="2600"/>
              <a:t>个任务。</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1">
            <a:extLst>
              <a:ext uri="{FF2B5EF4-FFF2-40B4-BE49-F238E27FC236}">
                <a16:creationId xmlns:a16="http://schemas.microsoft.com/office/drawing/2014/main" id="{F3398152-F35E-7F66-4A15-662C2C18179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4035" name="灯片编号占位符 2">
            <a:extLst>
              <a:ext uri="{FF2B5EF4-FFF2-40B4-BE49-F238E27FC236}">
                <a16:creationId xmlns:a16="http://schemas.microsoft.com/office/drawing/2014/main" id="{A2F19A57-A421-F4CA-08C4-CF28685F03A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C38AD19-0D13-489E-911B-31A23D59D519}" type="slidenum">
              <a:rPr lang="en-US" altLang="zh-CN" sz="1200" smtClean="0">
                <a:solidFill>
                  <a:srgbClr val="3366FF"/>
                </a:solidFill>
                <a:latin typeface="Arial Black" panose="020B0A04020102020204" pitchFamily="34" charset="0"/>
              </a:rPr>
              <a:pPr>
                <a:spcBef>
                  <a:spcPct val="0"/>
                </a:spcBef>
                <a:buClrTx/>
                <a:buSzTx/>
                <a:buFontTx/>
                <a:buNone/>
              </a:pPr>
              <a:t>40</a:t>
            </a:fld>
            <a:endParaRPr lang="en-US" altLang="zh-CN" sz="1200">
              <a:solidFill>
                <a:srgbClr val="3366FF"/>
              </a:solidFill>
              <a:latin typeface="Arial Black" panose="020B0A04020102020204" pitchFamily="34" charset="0"/>
            </a:endParaRPr>
          </a:p>
        </p:txBody>
      </p:sp>
      <p:sp>
        <p:nvSpPr>
          <p:cNvPr id="44036" name="日期占位符 3">
            <a:extLst>
              <a:ext uri="{FF2B5EF4-FFF2-40B4-BE49-F238E27FC236}">
                <a16:creationId xmlns:a16="http://schemas.microsoft.com/office/drawing/2014/main" id="{91F80919-28E4-FF65-D4D5-F8FC9059660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2C56F2-3BAA-42EB-AFA6-87223345364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44037" name="Group 10">
            <a:extLst>
              <a:ext uri="{FF2B5EF4-FFF2-40B4-BE49-F238E27FC236}">
                <a16:creationId xmlns:a16="http://schemas.microsoft.com/office/drawing/2014/main" id="{F56D7DB3-1ED1-73AF-FD1E-79F0288FD6E4}"/>
              </a:ext>
            </a:extLst>
          </p:cNvPr>
          <p:cNvGrpSpPr>
            <a:grpSpLocks/>
          </p:cNvGrpSpPr>
          <p:nvPr/>
        </p:nvGrpSpPr>
        <p:grpSpPr bwMode="auto">
          <a:xfrm>
            <a:off x="323850" y="549275"/>
            <a:ext cx="8569325" cy="5975350"/>
            <a:chOff x="204" y="346"/>
            <a:chExt cx="5398" cy="3764"/>
          </a:xfrm>
        </p:grpSpPr>
        <p:pic>
          <p:nvPicPr>
            <p:cNvPr id="44039" name="Picture 7">
              <a:extLst>
                <a:ext uri="{FF2B5EF4-FFF2-40B4-BE49-F238E27FC236}">
                  <a16:creationId xmlns:a16="http://schemas.microsoft.com/office/drawing/2014/main" id="{EB960813-715B-9F22-430D-98EC93FFB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753" t="10434" r="10927" b="18753"/>
            <a:stretch>
              <a:fillRect/>
            </a:stretch>
          </p:blipFill>
          <p:spPr bwMode="auto">
            <a:xfrm>
              <a:off x="204" y="346"/>
              <a:ext cx="5398" cy="376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4040" name="Text Box 8" descr="p6060023">
              <a:extLst>
                <a:ext uri="{FF2B5EF4-FFF2-40B4-BE49-F238E27FC236}">
                  <a16:creationId xmlns:a16="http://schemas.microsoft.com/office/drawing/2014/main" id="{A26289D9-735A-748E-9F07-A1FE9E0C7ADA}"/>
                </a:ext>
              </a:extLst>
            </p:cNvPr>
            <p:cNvSpPr txBox="1">
              <a:spLocks noChangeArrowheads="1"/>
            </p:cNvSpPr>
            <p:nvPr/>
          </p:nvSpPr>
          <p:spPr bwMode="auto">
            <a:xfrm>
              <a:off x="2336" y="3657"/>
              <a:ext cx="27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黑体" panose="02010609060101010101" pitchFamily="49" charset="-122"/>
                  <a:ea typeface="黑体" panose="02010609060101010101" pitchFamily="49" charset="-122"/>
                </a:rPr>
                <a:t>就是一个二维数组</a:t>
              </a:r>
              <a:r>
                <a:rPr kumimoji="1" lang="en-US" altLang="zh-CN" sz="2400" b="0">
                  <a:latin typeface="黑体" panose="02010609060101010101" pitchFamily="49" charset="-122"/>
                  <a:ea typeface="黑体" panose="02010609060101010101" pitchFamily="49" charset="-122"/>
                </a:rPr>
                <a:t>OSRdyTbl[ ]</a:t>
              </a:r>
            </a:p>
          </p:txBody>
        </p:sp>
      </p:grpSp>
      <p:sp>
        <p:nvSpPr>
          <p:cNvPr id="44038" name="Line 9">
            <a:extLst>
              <a:ext uri="{FF2B5EF4-FFF2-40B4-BE49-F238E27FC236}">
                <a16:creationId xmlns:a16="http://schemas.microsoft.com/office/drawing/2014/main" id="{57EC3575-A7B0-08C8-FE21-07D0EAF88732}"/>
              </a:ext>
            </a:extLst>
          </p:cNvPr>
          <p:cNvSpPr>
            <a:spLocks noChangeShapeType="1"/>
          </p:cNvSpPr>
          <p:nvPr/>
        </p:nvSpPr>
        <p:spPr bwMode="auto">
          <a:xfrm>
            <a:off x="2916238" y="6092825"/>
            <a:ext cx="7921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1">
            <a:extLst>
              <a:ext uri="{FF2B5EF4-FFF2-40B4-BE49-F238E27FC236}">
                <a16:creationId xmlns:a16="http://schemas.microsoft.com/office/drawing/2014/main" id="{426320C4-04DA-AFBE-2C21-5A2AECF889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5059" name="灯片编号占位符 2">
            <a:extLst>
              <a:ext uri="{FF2B5EF4-FFF2-40B4-BE49-F238E27FC236}">
                <a16:creationId xmlns:a16="http://schemas.microsoft.com/office/drawing/2014/main" id="{ADE91478-3CAF-2C5C-89DC-E1E34B2819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B8142ED-A86A-4ECF-89DA-8F22A8FC5462}" type="slidenum">
              <a:rPr lang="en-US" altLang="zh-CN" sz="1200" smtClean="0">
                <a:solidFill>
                  <a:srgbClr val="3366FF"/>
                </a:solidFill>
                <a:latin typeface="Arial Black" panose="020B0A04020102020204" pitchFamily="34" charset="0"/>
              </a:rPr>
              <a:pPr>
                <a:spcBef>
                  <a:spcPct val="0"/>
                </a:spcBef>
                <a:buClrTx/>
                <a:buSzTx/>
                <a:buFontTx/>
                <a:buNone/>
              </a:pPr>
              <a:t>41</a:t>
            </a:fld>
            <a:endParaRPr lang="en-US" altLang="zh-CN" sz="1200">
              <a:solidFill>
                <a:srgbClr val="3366FF"/>
              </a:solidFill>
              <a:latin typeface="Arial Black" panose="020B0A04020102020204" pitchFamily="34" charset="0"/>
            </a:endParaRPr>
          </a:p>
        </p:txBody>
      </p:sp>
      <p:sp>
        <p:nvSpPr>
          <p:cNvPr id="45060" name="日期占位符 3">
            <a:extLst>
              <a:ext uri="{FF2B5EF4-FFF2-40B4-BE49-F238E27FC236}">
                <a16:creationId xmlns:a16="http://schemas.microsoft.com/office/drawing/2014/main" id="{FAE8AF8B-1C2D-618F-22F5-E19FC2F1204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E25101-6CEE-4747-B1F8-3C91C50D1C9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45061" name="Group 2">
            <a:extLst>
              <a:ext uri="{FF2B5EF4-FFF2-40B4-BE49-F238E27FC236}">
                <a16:creationId xmlns:a16="http://schemas.microsoft.com/office/drawing/2014/main" id="{143F436A-F0F0-B3DD-3958-3733F2883458}"/>
              </a:ext>
            </a:extLst>
          </p:cNvPr>
          <p:cNvGrpSpPr>
            <a:grpSpLocks/>
          </p:cNvGrpSpPr>
          <p:nvPr/>
        </p:nvGrpSpPr>
        <p:grpSpPr bwMode="auto">
          <a:xfrm>
            <a:off x="0" y="0"/>
            <a:ext cx="9144000" cy="6883400"/>
            <a:chOff x="0" y="0"/>
            <a:chExt cx="5760" cy="4336"/>
          </a:xfrm>
        </p:grpSpPr>
        <p:pic>
          <p:nvPicPr>
            <p:cNvPr id="45062" name="Picture 3">
              <a:extLst>
                <a:ext uri="{FF2B5EF4-FFF2-40B4-BE49-F238E27FC236}">
                  <a16:creationId xmlns:a16="http://schemas.microsoft.com/office/drawing/2014/main" id="{CF8A449E-D084-1C9D-FDD8-550B4CC595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188" t="10417" r="10156" b="16667"/>
            <a:stretch>
              <a:fillRect/>
            </a:stretch>
          </p:blipFill>
          <p:spPr bwMode="auto">
            <a:xfrm>
              <a:off x="0" y="0"/>
              <a:ext cx="5760" cy="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3" name="Text Box 4">
              <a:extLst>
                <a:ext uri="{FF2B5EF4-FFF2-40B4-BE49-F238E27FC236}">
                  <a16:creationId xmlns:a16="http://schemas.microsoft.com/office/drawing/2014/main" id="{27CD5F99-5773-E4A2-6554-D297CECB17D6}"/>
                </a:ext>
              </a:extLst>
            </p:cNvPr>
            <p:cNvSpPr txBox="1">
              <a:spLocks noChangeArrowheads="1"/>
            </p:cNvSpPr>
            <p:nvPr/>
          </p:nvSpPr>
          <p:spPr bwMode="auto">
            <a:xfrm>
              <a:off x="3054" y="144"/>
              <a:ext cx="2466" cy="1026"/>
            </a:xfrm>
            <a:prstGeom prst="rect">
              <a:avLst/>
            </a:prstGeom>
            <a:solidFill>
              <a:srgbClr val="CCFFFF"/>
            </a:solidFill>
            <a:ln w="76200" cmpd="tri">
              <a:solidFill>
                <a:schemeClr val="tx1"/>
              </a:solidFill>
              <a:miter lim="800000"/>
              <a:headEnd/>
              <a:tailEnd/>
            </a:ln>
          </p:spPr>
          <p:txBody>
            <a:bodyPr wrap="none" lIns="90000" tIns="46800" rIns="90000" bIns="468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b="0">
                  <a:latin typeface="隶书" pitchFamily="49" charset="-122"/>
                  <a:ea typeface="隶书" pitchFamily="49" charset="-122"/>
                </a:rPr>
                <a:t>为加快访问任务就绪表的</a:t>
              </a:r>
            </a:p>
            <a:p>
              <a:pPr eaLnBrk="1" hangingPunct="1">
                <a:spcBef>
                  <a:spcPct val="0"/>
                </a:spcBef>
                <a:buClrTx/>
                <a:buSzTx/>
                <a:buFontTx/>
                <a:buNone/>
              </a:pPr>
              <a:r>
                <a:rPr kumimoji="1" lang="zh-CN" altLang="en-US" sz="2400" b="0">
                  <a:latin typeface="隶书" pitchFamily="49" charset="-122"/>
                  <a:ea typeface="隶书" pitchFamily="49" charset="-122"/>
                </a:rPr>
                <a:t>速度，系统定义了一个变</a:t>
              </a:r>
            </a:p>
            <a:p>
              <a:pPr eaLnBrk="1" hangingPunct="1">
                <a:spcBef>
                  <a:spcPct val="0"/>
                </a:spcBef>
                <a:buClrTx/>
                <a:buSzTx/>
                <a:buFontTx/>
                <a:buNone/>
              </a:pPr>
              <a:r>
                <a:rPr kumimoji="1" lang="zh-CN" altLang="en-US" sz="2400" b="0">
                  <a:latin typeface="隶书" pitchFamily="49" charset="-122"/>
                  <a:ea typeface="隶书" pitchFamily="49" charset="-122"/>
                </a:rPr>
                <a:t>量</a:t>
              </a:r>
              <a:r>
                <a:rPr kumimoji="1" lang="en-US" altLang="zh-CN" sz="2400" b="0">
                  <a:latin typeface="隶书" pitchFamily="49" charset="-122"/>
                  <a:ea typeface="隶书" pitchFamily="49" charset="-122"/>
                </a:rPr>
                <a:t>OSRdyGrp</a:t>
              </a:r>
              <a:r>
                <a:rPr kumimoji="1" lang="zh-CN" altLang="en-US" sz="2400" b="0">
                  <a:latin typeface="隶书" pitchFamily="49" charset="-122"/>
                  <a:ea typeface="隶书" pitchFamily="49" charset="-122"/>
                </a:rPr>
                <a:t>来表明就绪表</a:t>
              </a:r>
            </a:p>
            <a:p>
              <a:pPr eaLnBrk="1" hangingPunct="1">
                <a:spcBef>
                  <a:spcPct val="0"/>
                </a:spcBef>
                <a:buClrTx/>
                <a:buSzTx/>
                <a:buFontTx/>
                <a:buNone/>
              </a:pPr>
              <a:r>
                <a:rPr kumimoji="1" lang="zh-CN" altLang="en-US" sz="2400" b="0">
                  <a:latin typeface="隶书" pitchFamily="49" charset="-122"/>
                  <a:ea typeface="隶书" pitchFamily="49" charset="-122"/>
                </a:rPr>
                <a:t>每行中是否存在就绪任务。</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4B7742C-E7CF-C94A-DD4D-ABAB37B6BA84}"/>
              </a:ext>
            </a:extLst>
          </p:cNvPr>
          <p:cNvSpPr>
            <a:spLocks noChangeArrowheads="1"/>
          </p:cNvSpPr>
          <p:nvPr/>
        </p:nvSpPr>
        <p:spPr bwMode="auto">
          <a:xfrm>
            <a:off x="4648200" y="16764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083" name="Line 3">
            <a:extLst>
              <a:ext uri="{FF2B5EF4-FFF2-40B4-BE49-F238E27FC236}">
                <a16:creationId xmlns:a16="http://schemas.microsoft.com/office/drawing/2014/main" id="{98AD98CC-0F00-7042-D08D-EF4EC0594C60}"/>
              </a:ext>
            </a:extLst>
          </p:cNvPr>
          <p:cNvSpPr>
            <a:spLocks noChangeShapeType="1"/>
          </p:cNvSpPr>
          <p:nvPr/>
        </p:nvSpPr>
        <p:spPr bwMode="auto">
          <a:xfrm>
            <a:off x="51816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4" name="Line 4">
            <a:extLst>
              <a:ext uri="{FF2B5EF4-FFF2-40B4-BE49-F238E27FC236}">
                <a16:creationId xmlns:a16="http://schemas.microsoft.com/office/drawing/2014/main" id="{BC00F1E6-970A-829E-330F-9B15B9931CAC}"/>
              </a:ext>
            </a:extLst>
          </p:cNvPr>
          <p:cNvSpPr>
            <a:spLocks noChangeShapeType="1"/>
          </p:cNvSpPr>
          <p:nvPr/>
        </p:nvSpPr>
        <p:spPr bwMode="auto">
          <a:xfrm>
            <a:off x="57150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5" name="Line 5">
            <a:extLst>
              <a:ext uri="{FF2B5EF4-FFF2-40B4-BE49-F238E27FC236}">
                <a16:creationId xmlns:a16="http://schemas.microsoft.com/office/drawing/2014/main" id="{BD248D09-B2DC-AC45-8D4B-89DEB9561BE9}"/>
              </a:ext>
            </a:extLst>
          </p:cNvPr>
          <p:cNvSpPr>
            <a:spLocks noChangeShapeType="1"/>
          </p:cNvSpPr>
          <p:nvPr/>
        </p:nvSpPr>
        <p:spPr bwMode="auto">
          <a:xfrm>
            <a:off x="62484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6" name="Line 6">
            <a:extLst>
              <a:ext uri="{FF2B5EF4-FFF2-40B4-BE49-F238E27FC236}">
                <a16:creationId xmlns:a16="http://schemas.microsoft.com/office/drawing/2014/main" id="{4551D619-CD63-FDEE-CA0C-041FED2D4106}"/>
              </a:ext>
            </a:extLst>
          </p:cNvPr>
          <p:cNvSpPr>
            <a:spLocks noChangeShapeType="1"/>
          </p:cNvSpPr>
          <p:nvPr/>
        </p:nvSpPr>
        <p:spPr bwMode="auto">
          <a:xfrm>
            <a:off x="67818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7" name="Line 7">
            <a:extLst>
              <a:ext uri="{FF2B5EF4-FFF2-40B4-BE49-F238E27FC236}">
                <a16:creationId xmlns:a16="http://schemas.microsoft.com/office/drawing/2014/main" id="{8C6C8644-A39F-546E-E7FE-7DF9E6B936E8}"/>
              </a:ext>
            </a:extLst>
          </p:cNvPr>
          <p:cNvSpPr>
            <a:spLocks noChangeShapeType="1"/>
          </p:cNvSpPr>
          <p:nvPr/>
        </p:nvSpPr>
        <p:spPr bwMode="auto">
          <a:xfrm>
            <a:off x="73152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8" name="Line 8">
            <a:extLst>
              <a:ext uri="{FF2B5EF4-FFF2-40B4-BE49-F238E27FC236}">
                <a16:creationId xmlns:a16="http://schemas.microsoft.com/office/drawing/2014/main" id="{3EAA3879-EF9D-B034-73FD-78BD981C550F}"/>
              </a:ext>
            </a:extLst>
          </p:cNvPr>
          <p:cNvSpPr>
            <a:spLocks noChangeShapeType="1"/>
          </p:cNvSpPr>
          <p:nvPr/>
        </p:nvSpPr>
        <p:spPr bwMode="auto">
          <a:xfrm>
            <a:off x="78486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9" name="Line 9">
            <a:extLst>
              <a:ext uri="{FF2B5EF4-FFF2-40B4-BE49-F238E27FC236}">
                <a16:creationId xmlns:a16="http://schemas.microsoft.com/office/drawing/2014/main" id="{4EDCC7CA-3D71-E2EC-E451-04F9482FAA92}"/>
              </a:ext>
            </a:extLst>
          </p:cNvPr>
          <p:cNvSpPr>
            <a:spLocks noChangeShapeType="1"/>
          </p:cNvSpPr>
          <p:nvPr/>
        </p:nvSpPr>
        <p:spPr bwMode="auto">
          <a:xfrm>
            <a:off x="8382000" y="1676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0" name="Line 10">
            <a:extLst>
              <a:ext uri="{FF2B5EF4-FFF2-40B4-BE49-F238E27FC236}">
                <a16:creationId xmlns:a16="http://schemas.microsoft.com/office/drawing/2014/main" id="{AF999A72-B8F5-6CDB-A69D-1A240DAAC11A}"/>
              </a:ext>
            </a:extLst>
          </p:cNvPr>
          <p:cNvSpPr>
            <a:spLocks noChangeShapeType="1"/>
          </p:cNvSpPr>
          <p:nvPr/>
        </p:nvSpPr>
        <p:spPr bwMode="auto">
          <a:xfrm>
            <a:off x="4648200" y="22098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1" name="Rectangle 11">
            <a:extLst>
              <a:ext uri="{FF2B5EF4-FFF2-40B4-BE49-F238E27FC236}">
                <a16:creationId xmlns:a16="http://schemas.microsoft.com/office/drawing/2014/main" id="{591ABBF0-0BDF-FB8A-D489-8CC3D85F8B6C}"/>
              </a:ext>
            </a:extLst>
          </p:cNvPr>
          <p:cNvSpPr>
            <a:spLocks noChangeArrowheads="1"/>
          </p:cNvSpPr>
          <p:nvPr/>
        </p:nvSpPr>
        <p:spPr bwMode="auto">
          <a:xfrm>
            <a:off x="4648200" y="22098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092" name="Line 12">
            <a:extLst>
              <a:ext uri="{FF2B5EF4-FFF2-40B4-BE49-F238E27FC236}">
                <a16:creationId xmlns:a16="http://schemas.microsoft.com/office/drawing/2014/main" id="{6EBF4187-47C0-091C-7F22-2728F83C5AF9}"/>
              </a:ext>
            </a:extLst>
          </p:cNvPr>
          <p:cNvSpPr>
            <a:spLocks noChangeShapeType="1"/>
          </p:cNvSpPr>
          <p:nvPr/>
        </p:nvSpPr>
        <p:spPr bwMode="auto">
          <a:xfrm>
            <a:off x="51816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3" name="Line 13">
            <a:extLst>
              <a:ext uri="{FF2B5EF4-FFF2-40B4-BE49-F238E27FC236}">
                <a16:creationId xmlns:a16="http://schemas.microsoft.com/office/drawing/2014/main" id="{15AD6008-D408-694C-FEC1-2A499F5EFE53}"/>
              </a:ext>
            </a:extLst>
          </p:cNvPr>
          <p:cNvSpPr>
            <a:spLocks noChangeShapeType="1"/>
          </p:cNvSpPr>
          <p:nvPr/>
        </p:nvSpPr>
        <p:spPr bwMode="auto">
          <a:xfrm>
            <a:off x="57150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4" name="Line 14">
            <a:extLst>
              <a:ext uri="{FF2B5EF4-FFF2-40B4-BE49-F238E27FC236}">
                <a16:creationId xmlns:a16="http://schemas.microsoft.com/office/drawing/2014/main" id="{045BBED7-CCD1-E380-9BC5-B0FAC670BFEE}"/>
              </a:ext>
            </a:extLst>
          </p:cNvPr>
          <p:cNvSpPr>
            <a:spLocks noChangeShapeType="1"/>
          </p:cNvSpPr>
          <p:nvPr/>
        </p:nvSpPr>
        <p:spPr bwMode="auto">
          <a:xfrm>
            <a:off x="62484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5" name="Line 15">
            <a:extLst>
              <a:ext uri="{FF2B5EF4-FFF2-40B4-BE49-F238E27FC236}">
                <a16:creationId xmlns:a16="http://schemas.microsoft.com/office/drawing/2014/main" id="{6554045E-359C-0759-4198-0AF6B740BF32}"/>
              </a:ext>
            </a:extLst>
          </p:cNvPr>
          <p:cNvSpPr>
            <a:spLocks noChangeShapeType="1"/>
          </p:cNvSpPr>
          <p:nvPr/>
        </p:nvSpPr>
        <p:spPr bwMode="auto">
          <a:xfrm>
            <a:off x="67818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6" name="Line 16">
            <a:extLst>
              <a:ext uri="{FF2B5EF4-FFF2-40B4-BE49-F238E27FC236}">
                <a16:creationId xmlns:a16="http://schemas.microsoft.com/office/drawing/2014/main" id="{B39140A7-08D6-20CA-4D5E-63930B31ABF8}"/>
              </a:ext>
            </a:extLst>
          </p:cNvPr>
          <p:cNvSpPr>
            <a:spLocks noChangeShapeType="1"/>
          </p:cNvSpPr>
          <p:nvPr/>
        </p:nvSpPr>
        <p:spPr bwMode="auto">
          <a:xfrm>
            <a:off x="73152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7" name="Line 17">
            <a:extLst>
              <a:ext uri="{FF2B5EF4-FFF2-40B4-BE49-F238E27FC236}">
                <a16:creationId xmlns:a16="http://schemas.microsoft.com/office/drawing/2014/main" id="{B31117CA-A018-4A7A-59C1-B227DBA055C7}"/>
              </a:ext>
            </a:extLst>
          </p:cNvPr>
          <p:cNvSpPr>
            <a:spLocks noChangeShapeType="1"/>
          </p:cNvSpPr>
          <p:nvPr/>
        </p:nvSpPr>
        <p:spPr bwMode="auto">
          <a:xfrm>
            <a:off x="78486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8" name="Line 18">
            <a:extLst>
              <a:ext uri="{FF2B5EF4-FFF2-40B4-BE49-F238E27FC236}">
                <a16:creationId xmlns:a16="http://schemas.microsoft.com/office/drawing/2014/main" id="{5211936E-19F7-C772-1405-50E8D459A820}"/>
              </a:ext>
            </a:extLst>
          </p:cNvPr>
          <p:cNvSpPr>
            <a:spLocks noChangeShapeType="1"/>
          </p:cNvSpPr>
          <p:nvPr/>
        </p:nvSpPr>
        <p:spPr bwMode="auto">
          <a:xfrm>
            <a:off x="8382000" y="2209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9" name="Line 19">
            <a:extLst>
              <a:ext uri="{FF2B5EF4-FFF2-40B4-BE49-F238E27FC236}">
                <a16:creationId xmlns:a16="http://schemas.microsoft.com/office/drawing/2014/main" id="{B854136B-C6B5-C5C8-8668-D0C48AE0FAAD}"/>
              </a:ext>
            </a:extLst>
          </p:cNvPr>
          <p:cNvSpPr>
            <a:spLocks noChangeShapeType="1"/>
          </p:cNvSpPr>
          <p:nvPr/>
        </p:nvSpPr>
        <p:spPr bwMode="auto">
          <a:xfrm>
            <a:off x="4648200" y="27432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0" name="Rectangle 20">
            <a:extLst>
              <a:ext uri="{FF2B5EF4-FFF2-40B4-BE49-F238E27FC236}">
                <a16:creationId xmlns:a16="http://schemas.microsoft.com/office/drawing/2014/main" id="{19336F43-AE09-B6AB-DCB8-06B9EACADEF7}"/>
              </a:ext>
            </a:extLst>
          </p:cNvPr>
          <p:cNvSpPr>
            <a:spLocks noChangeArrowheads="1"/>
          </p:cNvSpPr>
          <p:nvPr/>
        </p:nvSpPr>
        <p:spPr bwMode="auto">
          <a:xfrm>
            <a:off x="4648200" y="27432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01" name="Line 21">
            <a:extLst>
              <a:ext uri="{FF2B5EF4-FFF2-40B4-BE49-F238E27FC236}">
                <a16:creationId xmlns:a16="http://schemas.microsoft.com/office/drawing/2014/main" id="{7A7831AA-6062-73E7-E273-8F12CF55E4EC}"/>
              </a:ext>
            </a:extLst>
          </p:cNvPr>
          <p:cNvSpPr>
            <a:spLocks noChangeShapeType="1"/>
          </p:cNvSpPr>
          <p:nvPr/>
        </p:nvSpPr>
        <p:spPr bwMode="auto">
          <a:xfrm>
            <a:off x="51816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2" name="Line 22">
            <a:extLst>
              <a:ext uri="{FF2B5EF4-FFF2-40B4-BE49-F238E27FC236}">
                <a16:creationId xmlns:a16="http://schemas.microsoft.com/office/drawing/2014/main" id="{79571CCF-498A-CAF6-3E95-D74CD4B0032A}"/>
              </a:ext>
            </a:extLst>
          </p:cNvPr>
          <p:cNvSpPr>
            <a:spLocks noChangeShapeType="1"/>
          </p:cNvSpPr>
          <p:nvPr/>
        </p:nvSpPr>
        <p:spPr bwMode="auto">
          <a:xfrm>
            <a:off x="57150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3" name="Line 23">
            <a:extLst>
              <a:ext uri="{FF2B5EF4-FFF2-40B4-BE49-F238E27FC236}">
                <a16:creationId xmlns:a16="http://schemas.microsoft.com/office/drawing/2014/main" id="{60FE0BA4-7C24-7D02-0248-9D42ADBA4942}"/>
              </a:ext>
            </a:extLst>
          </p:cNvPr>
          <p:cNvSpPr>
            <a:spLocks noChangeShapeType="1"/>
          </p:cNvSpPr>
          <p:nvPr/>
        </p:nvSpPr>
        <p:spPr bwMode="auto">
          <a:xfrm>
            <a:off x="62484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4" name="Line 24">
            <a:extLst>
              <a:ext uri="{FF2B5EF4-FFF2-40B4-BE49-F238E27FC236}">
                <a16:creationId xmlns:a16="http://schemas.microsoft.com/office/drawing/2014/main" id="{EB2355D5-6C98-3867-53F9-A4B8FB525B53}"/>
              </a:ext>
            </a:extLst>
          </p:cNvPr>
          <p:cNvSpPr>
            <a:spLocks noChangeShapeType="1"/>
          </p:cNvSpPr>
          <p:nvPr/>
        </p:nvSpPr>
        <p:spPr bwMode="auto">
          <a:xfrm>
            <a:off x="67818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5" name="Line 25">
            <a:extLst>
              <a:ext uri="{FF2B5EF4-FFF2-40B4-BE49-F238E27FC236}">
                <a16:creationId xmlns:a16="http://schemas.microsoft.com/office/drawing/2014/main" id="{1E2D02D4-E8D5-470C-5EF8-01A394F842CF}"/>
              </a:ext>
            </a:extLst>
          </p:cNvPr>
          <p:cNvSpPr>
            <a:spLocks noChangeShapeType="1"/>
          </p:cNvSpPr>
          <p:nvPr/>
        </p:nvSpPr>
        <p:spPr bwMode="auto">
          <a:xfrm>
            <a:off x="73152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6" name="Line 26">
            <a:extLst>
              <a:ext uri="{FF2B5EF4-FFF2-40B4-BE49-F238E27FC236}">
                <a16:creationId xmlns:a16="http://schemas.microsoft.com/office/drawing/2014/main" id="{DD3DCB9E-BEFD-3084-A701-AE5688A89B70}"/>
              </a:ext>
            </a:extLst>
          </p:cNvPr>
          <p:cNvSpPr>
            <a:spLocks noChangeShapeType="1"/>
          </p:cNvSpPr>
          <p:nvPr/>
        </p:nvSpPr>
        <p:spPr bwMode="auto">
          <a:xfrm>
            <a:off x="78486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7" name="Line 27">
            <a:extLst>
              <a:ext uri="{FF2B5EF4-FFF2-40B4-BE49-F238E27FC236}">
                <a16:creationId xmlns:a16="http://schemas.microsoft.com/office/drawing/2014/main" id="{4638065F-49C5-DAA2-773E-C5923E0FD099}"/>
              </a:ext>
            </a:extLst>
          </p:cNvPr>
          <p:cNvSpPr>
            <a:spLocks noChangeShapeType="1"/>
          </p:cNvSpPr>
          <p:nvPr/>
        </p:nvSpPr>
        <p:spPr bwMode="auto">
          <a:xfrm>
            <a:off x="8382000" y="2743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8" name="Line 28">
            <a:extLst>
              <a:ext uri="{FF2B5EF4-FFF2-40B4-BE49-F238E27FC236}">
                <a16:creationId xmlns:a16="http://schemas.microsoft.com/office/drawing/2014/main" id="{EA7E0E27-AFC4-B8DE-ABE1-551F23552938}"/>
              </a:ext>
            </a:extLst>
          </p:cNvPr>
          <p:cNvSpPr>
            <a:spLocks noChangeShapeType="1"/>
          </p:cNvSpPr>
          <p:nvPr/>
        </p:nvSpPr>
        <p:spPr bwMode="auto">
          <a:xfrm>
            <a:off x="4648200" y="32766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9" name="Rectangle 29">
            <a:extLst>
              <a:ext uri="{FF2B5EF4-FFF2-40B4-BE49-F238E27FC236}">
                <a16:creationId xmlns:a16="http://schemas.microsoft.com/office/drawing/2014/main" id="{BB9682E6-21EA-172E-B47D-BA30E1F6EC1D}"/>
              </a:ext>
            </a:extLst>
          </p:cNvPr>
          <p:cNvSpPr>
            <a:spLocks noChangeArrowheads="1"/>
          </p:cNvSpPr>
          <p:nvPr/>
        </p:nvSpPr>
        <p:spPr bwMode="auto">
          <a:xfrm>
            <a:off x="4648200" y="32766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10" name="Line 30">
            <a:extLst>
              <a:ext uri="{FF2B5EF4-FFF2-40B4-BE49-F238E27FC236}">
                <a16:creationId xmlns:a16="http://schemas.microsoft.com/office/drawing/2014/main" id="{67016C0F-FD55-372F-45B3-AB253510C2D9}"/>
              </a:ext>
            </a:extLst>
          </p:cNvPr>
          <p:cNvSpPr>
            <a:spLocks noChangeShapeType="1"/>
          </p:cNvSpPr>
          <p:nvPr/>
        </p:nvSpPr>
        <p:spPr bwMode="auto">
          <a:xfrm>
            <a:off x="51816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1" name="Line 31">
            <a:extLst>
              <a:ext uri="{FF2B5EF4-FFF2-40B4-BE49-F238E27FC236}">
                <a16:creationId xmlns:a16="http://schemas.microsoft.com/office/drawing/2014/main" id="{339CCC46-B375-CFC3-8527-0A0C9D03AADF}"/>
              </a:ext>
            </a:extLst>
          </p:cNvPr>
          <p:cNvSpPr>
            <a:spLocks noChangeShapeType="1"/>
          </p:cNvSpPr>
          <p:nvPr/>
        </p:nvSpPr>
        <p:spPr bwMode="auto">
          <a:xfrm>
            <a:off x="57150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2" name="Line 32">
            <a:extLst>
              <a:ext uri="{FF2B5EF4-FFF2-40B4-BE49-F238E27FC236}">
                <a16:creationId xmlns:a16="http://schemas.microsoft.com/office/drawing/2014/main" id="{275CB8DD-2FA8-4D7C-A367-6DDB3E77C28D}"/>
              </a:ext>
            </a:extLst>
          </p:cNvPr>
          <p:cNvSpPr>
            <a:spLocks noChangeShapeType="1"/>
          </p:cNvSpPr>
          <p:nvPr/>
        </p:nvSpPr>
        <p:spPr bwMode="auto">
          <a:xfrm>
            <a:off x="62484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3" name="Line 33">
            <a:extLst>
              <a:ext uri="{FF2B5EF4-FFF2-40B4-BE49-F238E27FC236}">
                <a16:creationId xmlns:a16="http://schemas.microsoft.com/office/drawing/2014/main" id="{8308EF8E-FA0C-6621-7654-6834F57E4C2D}"/>
              </a:ext>
            </a:extLst>
          </p:cNvPr>
          <p:cNvSpPr>
            <a:spLocks noChangeShapeType="1"/>
          </p:cNvSpPr>
          <p:nvPr/>
        </p:nvSpPr>
        <p:spPr bwMode="auto">
          <a:xfrm>
            <a:off x="67818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4" name="Line 34">
            <a:extLst>
              <a:ext uri="{FF2B5EF4-FFF2-40B4-BE49-F238E27FC236}">
                <a16:creationId xmlns:a16="http://schemas.microsoft.com/office/drawing/2014/main" id="{400D7B79-F2F2-EDDE-6963-BA5689766200}"/>
              </a:ext>
            </a:extLst>
          </p:cNvPr>
          <p:cNvSpPr>
            <a:spLocks noChangeShapeType="1"/>
          </p:cNvSpPr>
          <p:nvPr/>
        </p:nvSpPr>
        <p:spPr bwMode="auto">
          <a:xfrm>
            <a:off x="73152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5" name="Line 35">
            <a:extLst>
              <a:ext uri="{FF2B5EF4-FFF2-40B4-BE49-F238E27FC236}">
                <a16:creationId xmlns:a16="http://schemas.microsoft.com/office/drawing/2014/main" id="{7773B2DE-16CB-4F02-8D83-777735F1F904}"/>
              </a:ext>
            </a:extLst>
          </p:cNvPr>
          <p:cNvSpPr>
            <a:spLocks noChangeShapeType="1"/>
          </p:cNvSpPr>
          <p:nvPr/>
        </p:nvSpPr>
        <p:spPr bwMode="auto">
          <a:xfrm>
            <a:off x="78486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6" name="Line 36">
            <a:extLst>
              <a:ext uri="{FF2B5EF4-FFF2-40B4-BE49-F238E27FC236}">
                <a16:creationId xmlns:a16="http://schemas.microsoft.com/office/drawing/2014/main" id="{DC92D3FD-B062-864C-8542-A8A296078879}"/>
              </a:ext>
            </a:extLst>
          </p:cNvPr>
          <p:cNvSpPr>
            <a:spLocks noChangeShapeType="1"/>
          </p:cNvSpPr>
          <p:nvPr/>
        </p:nvSpPr>
        <p:spPr bwMode="auto">
          <a:xfrm>
            <a:off x="8382000" y="3276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7" name="Line 37">
            <a:extLst>
              <a:ext uri="{FF2B5EF4-FFF2-40B4-BE49-F238E27FC236}">
                <a16:creationId xmlns:a16="http://schemas.microsoft.com/office/drawing/2014/main" id="{A932C1BB-E16B-1E35-14C2-01C56A1EBEE4}"/>
              </a:ext>
            </a:extLst>
          </p:cNvPr>
          <p:cNvSpPr>
            <a:spLocks noChangeShapeType="1"/>
          </p:cNvSpPr>
          <p:nvPr/>
        </p:nvSpPr>
        <p:spPr bwMode="auto">
          <a:xfrm>
            <a:off x="4648200" y="38100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8" name="Text Box 38">
            <a:extLst>
              <a:ext uri="{FF2B5EF4-FFF2-40B4-BE49-F238E27FC236}">
                <a16:creationId xmlns:a16="http://schemas.microsoft.com/office/drawing/2014/main" id="{C6153E0E-1C21-640F-7AE7-30FBBBBD3D57}"/>
              </a:ext>
            </a:extLst>
          </p:cNvPr>
          <p:cNvSpPr txBox="1">
            <a:spLocks noChangeArrowheads="1"/>
          </p:cNvSpPr>
          <p:nvPr/>
        </p:nvSpPr>
        <p:spPr bwMode="auto">
          <a:xfrm>
            <a:off x="5943600" y="762000"/>
            <a:ext cx="1517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OSRdyTbl[ ]</a:t>
            </a:r>
          </a:p>
        </p:txBody>
      </p:sp>
      <p:sp>
        <p:nvSpPr>
          <p:cNvPr id="46119" name="Text Box 39">
            <a:extLst>
              <a:ext uri="{FF2B5EF4-FFF2-40B4-BE49-F238E27FC236}">
                <a16:creationId xmlns:a16="http://schemas.microsoft.com/office/drawing/2014/main" id="{7C3F2382-B363-19AB-4DF3-9C86996886FD}"/>
              </a:ext>
            </a:extLst>
          </p:cNvPr>
          <p:cNvSpPr txBox="1">
            <a:spLocks noChangeArrowheads="1"/>
          </p:cNvSpPr>
          <p:nvPr/>
        </p:nvSpPr>
        <p:spPr bwMode="auto">
          <a:xfrm>
            <a:off x="4648200" y="1752600"/>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20" name="Text Box 40">
            <a:extLst>
              <a:ext uri="{FF2B5EF4-FFF2-40B4-BE49-F238E27FC236}">
                <a16:creationId xmlns:a16="http://schemas.microsoft.com/office/drawing/2014/main" id="{A76BADBD-774F-BC16-BD0B-B6E631244761}"/>
              </a:ext>
            </a:extLst>
          </p:cNvPr>
          <p:cNvSpPr txBox="1">
            <a:spLocks noChangeArrowheads="1"/>
          </p:cNvSpPr>
          <p:nvPr/>
        </p:nvSpPr>
        <p:spPr bwMode="auto">
          <a:xfrm>
            <a:off x="4679950" y="2301875"/>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21" name="Text Box 41">
            <a:extLst>
              <a:ext uri="{FF2B5EF4-FFF2-40B4-BE49-F238E27FC236}">
                <a16:creationId xmlns:a16="http://schemas.microsoft.com/office/drawing/2014/main" id="{E778E560-4C7B-C089-C83C-DD9335C1AAF5}"/>
              </a:ext>
            </a:extLst>
          </p:cNvPr>
          <p:cNvSpPr txBox="1">
            <a:spLocks noChangeArrowheads="1"/>
          </p:cNvSpPr>
          <p:nvPr/>
        </p:nvSpPr>
        <p:spPr bwMode="auto">
          <a:xfrm>
            <a:off x="4648200" y="2819400"/>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22" name="Text Box 42">
            <a:extLst>
              <a:ext uri="{FF2B5EF4-FFF2-40B4-BE49-F238E27FC236}">
                <a16:creationId xmlns:a16="http://schemas.microsoft.com/office/drawing/2014/main" id="{D0ACF643-4311-D00A-773C-12DA95EDD026}"/>
              </a:ext>
            </a:extLst>
          </p:cNvPr>
          <p:cNvSpPr txBox="1">
            <a:spLocks noChangeArrowheads="1"/>
          </p:cNvSpPr>
          <p:nvPr/>
        </p:nvSpPr>
        <p:spPr bwMode="auto">
          <a:xfrm>
            <a:off x="4648200" y="3336925"/>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23" name="Rectangle 43">
            <a:extLst>
              <a:ext uri="{FF2B5EF4-FFF2-40B4-BE49-F238E27FC236}">
                <a16:creationId xmlns:a16="http://schemas.microsoft.com/office/drawing/2014/main" id="{6CAD8E6B-DA37-59C4-3976-07E84DCC70C0}"/>
              </a:ext>
            </a:extLst>
          </p:cNvPr>
          <p:cNvSpPr>
            <a:spLocks noChangeArrowheads="1"/>
          </p:cNvSpPr>
          <p:nvPr/>
        </p:nvSpPr>
        <p:spPr bwMode="auto">
          <a:xfrm>
            <a:off x="4648200" y="38100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24" name="Line 44">
            <a:extLst>
              <a:ext uri="{FF2B5EF4-FFF2-40B4-BE49-F238E27FC236}">
                <a16:creationId xmlns:a16="http://schemas.microsoft.com/office/drawing/2014/main" id="{BFD200BC-B5C1-3D2D-E747-FF85513BBE2E}"/>
              </a:ext>
            </a:extLst>
          </p:cNvPr>
          <p:cNvSpPr>
            <a:spLocks noChangeShapeType="1"/>
          </p:cNvSpPr>
          <p:nvPr/>
        </p:nvSpPr>
        <p:spPr bwMode="auto">
          <a:xfrm>
            <a:off x="51816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5" name="Line 45">
            <a:extLst>
              <a:ext uri="{FF2B5EF4-FFF2-40B4-BE49-F238E27FC236}">
                <a16:creationId xmlns:a16="http://schemas.microsoft.com/office/drawing/2014/main" id="{A2C95A5F-C73B-B03F-70FF-625477F08E0D}"/>
              </a:ext>
            </a:extLst>
          </p:cNvPr>
          <p:cNvSpPr>
            <a:spLocks noChangeShapeType="1"/>
          </p:cNvSpPr>
          <p:nvPr/>
        </p:nvSpPr>
        <p:spPr bwMode="auto">
          <a:xfrm>
            <a:off x="57150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6" name="Line 46">
            <a:extLst>
              <a:ext uri="{FF2B5EF4-FFF2-40B4-BE49-F238E27FC236}">
                <a16:creationId xmlns:a16="http://schemas.microsoft.com/office/drawing/2014/main" id="{FA413C8C-CDBB-9D39-CAE4-015BD98D55E1}"/>
              </a:ext>
            </a:extLst>
          </p:cNvPr>
          <p:cNvSpPr>
            <a:spLocks noChangeShapeType="1"/>
          </p:cNvSpPr>
          <p:nvPr/>
        </p:nvSpPr>
        <p:spPr bwMode="auto">
          <a:xfrm>
            <a:off x="62484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Line 47">
            <a:extLst>
              <a:ext uri="{FF2B5EF4-FFF2-40B4-BE49-F238E27FC236}">
                <a16:creationId xmlns:a16="http://schemas.microsoft.com/office/drawing/2014/main" id="{2F5AED83-260D-01C8-D878-A89717F874B2}"/>
              </a:ext>
            </a:extLst>
          </p:cNvPr>
          <p:cNvSpPr>
            <a:spLocks noChangeShapeType="1"/>
          </p:cNvSpPr>
          <p:nvPr/>
        </p:nvSpPr>
        <p:spPr bwMode="auto">
          <a:xfrm>
            <a:off x="67818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Line 48">
            <a:extLst>
              <a:ext uri="{FF2B5EF4-FFF2-40B4-BE49-F238E27FC236}">
                <a16:creationId xmlns:a16="http://schemas.microsoft.com/office/drawing/2014/main" id="{405CB03B-B8CD-5C11-F8FE-3AFDDD0E97D2}"/>
              </a:ext>
            </a:extLst>
          </p:cNvPr>
          <p:cNvSpPr>
            <a:spLocks noChangeShapeType="1"/>
          </p:cNvSpPr>
          <p:nvPr/>
        </p:nvSpPr>
        <p:spPr bwMode="auto">
          <a:xfrm>
            <a:off x="73152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9" name="Line 49">
            <a:extLst>
              <a:ext uri="{FF2B5EF4-FFF2-40B4-BE49-F238E27FC236}">
                <a16:creationId xmlns:a16="http://schemas.microsoft.com/office/drawing/2014/main" id="{C50C9358-EE0B-E3ED-EABD-763A7FED50F8}"/>
              </a:ext>
            </a:extLst>
          </p:cNvPr>
          <p:cNvSpPr>
            <a:spLocks noChangeShapeType="1"/>
          </p:cNvSpPr>
          <p:nvPr/>
        </p:nvSpPr>
        <p:spPr bwMode="auto">
          <a:xfrm>
            <a:off x="78486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0" name="Line 50">
            <a:extLst>
              <a:ext uri="{FF2B5EF4-FFF2-40B4-BE49-F238E27FC236}">
                <a16:creationId xmlns:a16="http://schemas.microsoft.com/office/drawing/2014/main" id="{AFE569E8-77F7-D1C7-6AEB-020F13A3FC86}"/>
              </a:ext>
            </a:extLst>
          </p:cNvPr>
          <p:cNvSpPr>
            <a:spLocks noChangeShapeType="1"/>
          </p:cNvSpPr>
          <p:nvPr/>
        </p:nvSpPr>
        <p:spPr bwMode="auto">
          <a:xfrm>
            <a:off x="8382000" y="3810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1" name="Line 51">
            <a:extLst>
              <a:ext uri="{FF2B5EF4-FFF2-40B4-BE49-F238E27FC236}">
                <a16:creationId xmlns:a16="http://schemas.microsoft.com/office/drawing/2014/main" id="{52D42F45-DF7B-A5DF-9174-34584B60DFC9}"/>
              </a:ext>
            </a:extLst>
          </p:cNvPr>
          <p:cNvSpPr>
            <a:spLocks noChangeShapeType="1"/>
          </p:cNvSpPr>
          <p:nvPr/>
        </p:nvSpPr>
        <p:spPr bwMode="auto">
          <a:xfrm>
            <a:off x="4648200" y="43434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2" name="Rectangle 52">
            <a:extLst>
              <a:ext uri="{FF2B5EF4-FFF2-40B4-BE49-F238E27FC236}">
                <a16:creationId xmlns:a16="http://schemas.microsoft.com/office/drawing/2014/main" id="{6890F270-24F0-AA57-1213-37A96E77C676}"/>
              </a:ext>
            </a:extLst>
          </p:cNvPr>
          <p:cNvSpPr>
            <a:spLocks noChangeArrowheads="1"/>
          </p:cNvSpPr>
          <p:nvPr/>
        </p:nvSpPr>
        <p:spPr bwMode="auto">
          <a:xfrm>
            <a:off x="4648200" y="43434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33" name="Line 53">
            <a:extLst>
              <a:ext uri="{FF2B5EF4-FFF2-40B4-BE49-F238E27FC236}">
                <a16:creationId xmlns:a16="http://schemas.microsoft.com/office/drawing/2014/main" id="{8547693E-3DFD-5BC5-DB4B-19408F00A845}"/>
              </a:ext>
            </a:extLst>
          </p:cNvPr>
          <p:cNvSpPr>
            <a:spLocks noChangeShapeType="1"/>
          </p:cNvSpPr>
          <p:nvPr/>
        </p:nvSpPr>
        <p:spPr bwMode="auto">
          <a:xfrm>
            <a:off x="51816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4" name="Line 54">
            <a:extLst>
              <a:ext uri="{FF2B5EF4-FFF2-40B4-BE49-F238E27FC236}">
                <a16:creationId xmlns:a16="http://schemas.microsoft.com/office/drawing/2014/main" id="{C128E462-9018-CA37-3CB6-61C6369F9A99}"/>
              </a:ext>
            </a:extLst>
          </p:cNvPr>
          <p:cNvSpPr>
            <a:spLocks noChangeShapeType="1"/>
          </p:cNvSpPr>
          <p:nvPr/>
        </p:nvSpPr>
        <p:spPr bwMode="auto">
          <a:xfrm>
            <a:off x="57150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5" name="Line 55">
            <a:extLst>
              <a:ext uri="{FF2B5EF4-FFF2-40B4-BE49-F238E27FC236}">
                <a16:creationId xmlns:a16="http://schemas.microsoft.com/office/drawing/2014/main" id="{DF50CAAE-080A-90E4-473F-B2B987246D26}"/>
              </a:ext>
            </a:extLst>
          </p:cNvPr>
          <p:cNvSpPr>
            <a:spLocks noChangeShapeType="1"/>
          </p:cNvSpPr>
          <p:nvPr/>
        </p:nvSpPr>
        <p:spPr bwMode="auto">
          <a:xfrm>
            <a:off x="62484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6" name="Line 56">
            <a:extLst>
              <a:ext uri="{FF2B5EF4-FFF2-40B4-BE49-F238E27FC236}">
                <a16:creationId xmlns:a16="http://schemas.microsoft.com/office/drawing/2014/main" id="{B56C8235-0C33-D718-0B9D-A44D21869229}"/>
              </a:ext>
            </a:extLst>
          </p:cNvPr>
          <p:cNvSpPr>
            <a:spLocks noChangeShapeType="1"/>
          </p:cNvSpPr>
          <p:nvPr/>
        </p:nvSpPr>
        <p:spPr bwMode="auto">
          <a:xfrm>
            <a:off x="67818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7" name="Line 57">
            <a:extLst>
              <a:ext uri="{FF2B5EF4-FFF2-40B4-BE49-F238E27FC236}">
                <a16:creationId xmlns:a16="http://schemas.microsoft.com/office/drawing/2014/main" id="{C4D398FF-5B2B-44B8-588B-AB5017D3AF02}"/>
              </a:ext>
            </a:extLst>
          </p:cNvPr>
          <p:cNvSpPr>
            <a:spLocks noChangeShapeType="1"/>
          </p:cNvSpPr>
          <p:nvPr/>
        </p:nvSpPr>
        <p:spPr bwMode="auto">
          <a:xfrm>
            <a:off x="73152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8" name="Line 58">
            <a:extLst>
              <a:ext uri="{FF2B5EF4-FFF2-40B4-BE49-F238E27FC236}">
                <a16:creationId xmlns:a16="http://schemas.microsoft.com/office/drawing/2014/main" id="{6AE8AACA-8360-3856-6A57-B1D89C12DAA9}"/>
              </a:ext>
            </a:extLst>
          </p:cNvPr>
          <p:cNvSpPr>
            <a:spLocks noChangeShapeType="1"/>
          </p:cNvSpPr>
          <p:nvPr/>
        </p:nvSpPr>
        <p:spPr bwMode="auto">
          <a:xfrm>
            <a:off x="78486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9" name="Line 59">
            <a:extLst>
              <a:ext uri="{FF2B5EF4-FFF2-40B4-BE49-F238E27FC236}">
                <a16:creationId xmlns:a16="http://schemas.microsoft.com/office/drawing/2014/main" id="{3C8B71B2-239A-4BEC-B1C8-D388791850B2}"/>
              </a:ext>
            </a:extLst>
          </p:cNvPr>
          <p:cNvSpPr>
            <a:spLocks noChangeShapeType="1"/>
          </p:cNvSpPr>
          <p:nvPr/>
        </p:nvSpPr>
        <p:spPr bwMode="auto">
          <a:xfrm>
            <a:off x="8382000" y="4343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0" name="Line 60">
            <a:extLst>
              <a:ext uri="{FF2B5EF4-FFF2-40B4-BE49-F238E27FC236}">
                <a16:creationId xmlns:a16="http://schemas.microsoft.com/office/drawing/2014/main" id="{E4630487-9736-D857-8151-6D2F5E623894}"/>
              </a:ext>
            </a:extLst>
          </p:cNvPr>
          <p:cNvSpPr>
            <a:spLocks noChangeShapeType="1"/>
          </p:cNvSpPr>
          <p:nvPr/>
        </p:nvSpPr>
        <p:spPr bwMode="auto">
          <a:xfrm>
            <a:off x="4648200" y="48768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1" name="Rectangle 61">
            <a:extLst>
              <a:ext uri="{FF2B5EF4-FFF2-40B4-BE49-F238E27FC236}">
                <a16:creationId xmlns:a16="http://schemas.microsoft.com/office/drawing/2014/main" id="{6218DCDB-E5C5-941E-6790-1C4B757AF20E}"/>
              </a:ext>
            </a:extLst>
          </p:cNvPr>
          <p:cNvSpPr>
            <a:spLocks noChangeArrowheads="1"/>
          </p:cNvSpPr>
          <p:nvPr/>
        </p:nvSpPr>
        <p:spPr bwMode="auto">
          <a:xfrm>
            <a:off x="4648200" y="48768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42" name="Line 62">
            <a:extLst>
              <a:ext uri="{FF2B5EF4-FFF2-40B4-BE49-F238E27FC236}">
                <a16:creationId xmlns:a16="http://schemas.microsoft.com/office/drawing/2014/main" id="{DD68ADA5-CAD0-FCF0-EB2B-8696D4D5E1DF}"/>
              </a:ext>
            </a:extLst>
          </p:cNvPr>
          <p:cNvSpPr>
            <a:spLocks noChangeShapeType="1"/>
          </p:cNvSpPr>
          <p:nvPr/>
        </p:nvSpPr>
        <p:spPr bwMode="auto">
          <a:xfrm>
            <a:off x="51816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3" name="Line 63">
            <a:extLst>
              <a:ext uri="{FF2B5EF4-FFF2-40B4-BE49-F238E27FC236}">
                <a16:creationId xmlns:a16="http://schemas.microsoft.com/office/drawing/2014/main" id="{D7B1FE77-7837-6DC4-26B2-59372853D4CB}"/>
              </a:ext>
            </a:extLst>
          </p:cNvPr>
          <p:cNvSpPr>
            <a:spLocks noChangeShapeType="1"/>
          </p:cNvSpPr>
          <p:nvPr/>
        </p:nvSpPr>
        <p:spPr bwMode="auto">
          <a:xfrm>
            <a:off x="57150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4" name="Line 64">
            <a:extLst>
              <a:ext uri="{FF2B5EF4-FFF2-40B4-BE49-F238E27FC236}">
                <a16:creationId xmlns:a16="http://schemas.microsoft.com/office/drawing/2014/main" id="{535159E9-A16C-B58C-C5A3-BFF140F2FD66}"/>
              </a:ext>
            </a:extLst>
          </p:cNvPr>
          <p:cNvSpPr>
            <a:spLocks noChangeShapeType="1"/>
          </p:cNvSpPr>
          <p:nvPr/>
        </p:nvSpPr>
        <p:spPr bwMode="auto">
          <a:xfrm>
            <a:off x="62484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5" name="Line 65">
            <a:extLst>
              <a:ext uri="{FF2B5EF4-FFF2-40B4-BE49-F238E27FC236}">
                <a16:creationId xmlns:a16="http://schemas.microsoft.com/office/drawing/2014/main" id="{ADA2C496-7C3D-53EB-0AA8-77FAE886D4A7}"/>
              </a:ext>
            </a:extLst>
          </p:cNvPr>
          <p:cNvSpPr>
            <a:spLocks noChangeShapeType="1"/>
          </p:cNvSpPr>
          <p:nvPr/>
        </p:nvSpPr>
        <p:spPr bwMode="auto">
          <a:xfrm>
            <a:off x="67818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6" name="Line 66">
            <a:extLst>
              <a:ext uri="{FF2B5EF4-FFF2-40B4-BE49-F238E27FC236}">
                <a16:creationId xmlns:a16="http://schemas.microsoft.com/office/drawing/2014/main" id="{BF7DA0D4-D4CB-CE4D-FF7F-5A035E235264}"/>
              </a:ext>
            </a:extLst>
          </p:cNvPr>
          <p:cNvSpPr>
            <a:spLocks noChangeShapeType="1"/>
          </p:cNvSpPr>
          <p:nvPr/>
        </p:nvSpPr>
        <p:spPr bwMode="auto">
          <a:xfrm>
            <a:off x="73152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7" name="Line 67">
            <a:extLst>
              <a:ext uri="{FF2B5EF4-FFF2-40B4-BE49-F238E27FC236}">
                <a16:creationId xmlns:a16="http://schemas.microsoft.com/office/drawing/2014/main" id="{7A1263F6-14D3-CA7E-68AA-DBE17FAE7ADB}"/>
              </a:ext>
            </a:extLst>
          </p:cNvPr>
          <p:cNvSpPr>
            <a:spLocks noChangeShapeType="1"/>
          </p:cNvSpPr>
          <p:nvPr/>
        </p:nvSpPr>
        <p:spPr bwMode="auto">
          <a:xfrm>
            <a:off x="78486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8" name="Line 68">
            <a:extLst>
              <a:ext uri="{FF2B5EF4-FFF2-40B4-BE49-F238E27FC236}">
                <a16:creationId xmlns:a16="http://schemas.microsoft.com/office/drawing/2014/main" id="{0218BE96-51D1-B249-D608-E8D3980FCF54}"/>
              </a:ext>
            </a:extLst>
          </p:cNvPr>
          <p:cNvSpPr>
            <a:spLocks noChangeShapeType="1"/>
          </p:cNvSpPr>
          <p:nvPr/>
        </p:nvSpPr>
        <p:spPr bwMode="auto">
          <a:xfrm>
            <a:off x="83820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49" name="Line 69">
            <a:extLst>
              <a:ext uri="{FF2B5EF4-FFF2-40B4-BE49-F238E27FC236}">
                <a16:creationId xmlns:a16="http://schemas.microsoft.com/office/drawing/2014/main" id="{4714A6BB-1D8E-9E5E-0EBF-61CB621C2A06}"/>
              </a:ext>
            </a:extLst>
          </p:cNvPr>
          <p:cNvSpPr>
            <a:spLocks noChangeShapeType="1"/>
          </p:cNvSpPr>
          <p:nvPr/>
        </p:nvSpPr>
        <p:spPr bwMode="auto">
          <a:xfrm>
            <a:off x="4648200" y="54102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0" name="Rectangle 70">
            <a:extLst>
              <a:ext uri="{FF2B5EF4-FFF2-40B4-BE49-F238E27FC236}">
                <a16:creationId xmlns:a16="http://schemas.microsoft.com/office/drawing/2014/main" id="{BDD2D8E1-D8D5-92EE-FFE3-1C8BEB1F98EF}"/>
              </a:ext>
            </a:extLst>
          </p:cNvPr>
          <p:cNvSpPr>
            <a:spLocks noChangeArrowheads="1"/>
          </p:cNvSpPr>
          <p:nvPr/>
        </p:nvSpPr>
        <p:spPr bwMode="auto">
          <a:xfrm>
            <a:off x="4648200" y="54102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51" name="Line 71">
            <a:extLst>
              <a:ext uri="{FF2B5EF4-FFF2-40B4-BE49-F238E27FC236}">
                <a16:creationId xmlns:a16="http://schemas.microsoft.com/office/drawing/2014/main" id="{BB97A9E8-14FB-577C-A8F9-71188BECC7B6}"/>
              </a:ext>
            </a:extLst>
          </p:cNvPr>
          <p:cNvSpPr>
            <a:spLocks noChangeShapeType="1"/>
          </p:cNvSpPr>
          <p:nvPr/>
        </p:nvSpPr>
        <p:spPr bwMode="auto">
          <a:xfrm>
            <a:off x="51816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2" name="Line 72">
            <a:extLst>
              <a:ext uri="{FF2B5EF4-FFF2-40B4-BE49-F238E27FC236}">
                <a16:creationId xmlns:a16="http://schemas.microsoft.com/office/drawing/2014/main" id="{1B991DF8-962B-D9DD-6AF1-533E383B8FF3}"/>
              </a:ext>
            </a:extLst>
          </p:cNvPr>
          <p:cNvSpPr>
            <a:spLocks noChangeShapeType="1"/>
          </p:cNvSpPr>
          <p:nvPr/>
        </p:nvSpPr>
        <p:spPr bwMode="auto">
          <a:xfrm>
            <a:off x="57150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3" name="Line 73">
            <a:extLst>
              <a:ext uri="{FF2B5EF4-FFF2-40B4-BE49-F238E27FC236}">
                <a16:creationId xmlns:a16="http://schemas.microsoft.com/office/drawing/2014/main" id="{ACBE00D4-9B92-EA04-2CE5-68D420F68423}"/>
              </a:ext>
            </a:extLst>
          </p:cNvPr>
          <p:cNvSpPr>
            <a:spLocks noChangeShapeType="1"/>
          </p:cNvSpPr>
          <p:nvPr/>
        </p:nvSpPr>
        <p:spPr bwMode="auto">
          <a:xfrm>
            <a:off x="62484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4" name="Line 74">
            <a:extLst>
              <a:ext uri="{FF2B5EF4-FFF2-40B4-BE49-F238E27FC236}">
                <a16:creationId xmlns:a16="http://schemas.microsoft.com/office/drawing/2014/main" id="{A2EA4A60-C19E-D3EB-61B4-D82DEEC14A3C}"/>
              </a:ext>
            </a:extLst>
          </p:cNvPr>
          <p:cNvSpPr>
            <a:spLocks noChangeShapeType="1"/>
          </p:cNvSpPr>
          <p:nvPr/>
        </p:nvSpPr>
        <p:spPr bwMode="auto">
          <a:xfrm>
            <a:off x="67818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5" name="Line 75">
            <a:extLst>
              <a:ext uri="{FF2B5EF4-FFF2-40B4-BE49-F238E27FC236}">
                <a16:creationId xmlns:a16="http://schemas.microsoft.com/office/drawing/2014/main" id="{32706B8E-70F4-C034-A641-364B58EE242A}"/>
              </a:ext>
            </a:extLst>
          </p:cNvPr>
          <p:cNvSpPr>
            <a:spLocks noChangeShapeType="1"/>
          </p:cNvSpPr>
          <p:nvPr/>
        </p:nvSpPr>
        <p:spPr bwMode="auto">
          <a:xfrm>
            <a:off x="73152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6" name="Line 76">
            <a:extLst>
              <a:ext uri="{FF2B5EF4-FFF2-40B4-BE49-F238E27FC236}">
                <a16:creationId xmlns:a16="http://schemas.microsoft.com/office/drawing/2014/main" id="{829A8177-9C9C-8FDC-7323-A53D3E747A66}"/>
              </a:ext>
            </a:extLst>
          </p:cNvPr>
          <p:cNvSpPr>
            <a:spLocks noChangeShapeType="1"/>
          </p:cNvSpPr>
          <p:nvPr/>
        </p:nvSpPr>
        <p:spPr bwMode="auto">
          <a:xfrm>
            <a:off x="78486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7" name="Line 77">
            <a:extLst>
              <a:ext uri="{FF2B5EF4-FFF2-40B4-BE49-F238E27FC236}">
                <a16:creationId xmlns:a16="http://schemas.microsoft.com/office/drawing/2014/main" id="{52CAD176-672F-24FB-7780-42051410827C}"/>
              </a:ext>
            </a:extLst>
          </p:cNvPr>
          <p:cNvSpPr>
            <a:spLocks noChangeShapeType="1"/>
          </p:cNvSpPr>
          <p:nvPr/>
        </p:nvSpPr>
        <p:spPr bwMode="auto">
          <a:xfrm>
            <a:off x="8382000" y="5410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8" name="Line 78">
            <a:extLst>
              <a:ext uri="{FF2B5EF4-FFF2-40B4-BE49-F238E27FC236}">
                <a16:creationId xmlns:a16="http://schemas.microsoft.com/office/drawing/2014/main" id="{60E602B0-3A3C-3130-713F-BABBDF97B7E5}"/>
              </a:ext>
            </a:extLst>
          </p:cNvPr>
          <p:cNvSpPr>
            <a:spLocks noChangeShapeType="1"/>
          </p:cNvSpPr>
          <p:nvPr/>
        </p:nvSpPr>
        <p:spPr bwMode="auto">
          <a:xfrm>
            <a:off x="4648200" y="59436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59" name="Text Box 79">
            <a:extLst>
              <a:ext uri="{FF2B5EF4-FFF2-40B4-BE49-F238E27FC236}">
                <a16:creationId xmlns:a16="http://schemas.microsoft.com/office/drawing/2014/main" id="{16C7903E-5F5E-F377-5918-3A9A5BA5DAD4}"/>
              </a:ext>
            </a:extLst>
          </p:cNvPr>
          <p:cNvSpPr txBox="1">
            <a:spLocks noChangeArrowheads="1"/>
          </p:cNvSpPr>
          <p:nvPr/>
        </p:nvSpPr>
        <p:spPr bwMode="auto">
          <a:xfrm>
            <a:off x="4648200" y="3886200"/>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60" name="Text Box 80">
            <a:extLst>
              <a:ext uri="{FF2B5EF4-FFF2-40B4-BE49-F238E27FC236}">
                <a16:creationId xmlns:a16="http://schemas.microsoft.com/office/drawing/2014/main" id="{BA483512-00DE-2C6A-57F6-F8D758DD19AF}"/>
              </a:ext>
            </a:extLst>
          </p:cNvPr>
          <p:cNvSpPr txBox="1">
            <a:spLocks noChangeArrowheads="1"/>
          </p:cNvSpPr>
          <p:nvPr/>
        </p:nvSpPr>
        <p:spPr bwMode="auto">
          <a:xfrm>
            <a:off x="4679950" y="4435475"/>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61" name="Text Box 81">
            <a:extLst>
              <a:ext uri="{FF2B5EF4-FFF2-40B4-BE49-F238E27FC236}">
                <a16:creationId xmlns:a16="http://schemas.microsoft.com/office/drawing/2014/main" id="{A7D1A7A3-229C-081B-9394-DD88E5780C37}"/>
              </a:ext>
            </a:extLst>
          </p:cNvPr>
          <p:cNvSpPr txBox="1">
            <a:spLocks noChangeArrowheads="1"/>
          </p:cNvSpPr>
          <p:nvPr/>
        </p:nvSpPr>
        <p:spPr bwMode="auto">
          <a:xfrm>
            <a:off x="4648200" y="4953000"/>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62" name="Text Box 82">
            <a:extLst>
              <a:ext uri="{FF2B5EF4-FFF2-40B4-BE49-F238E27FC236}">
                <a16:creationId xmlns:a16="http://schemas.microsoft.com/office/drawing/2014/main" id="{33621870-7E92-888B-3932-244A9C06CA1E}"/>
              </a:ext>
            </a:extLst>
          </p:cNvPr>
          <p:cNvSpPr txBox="1">
            <a:spLocks noChangeArrowheads="1"/>
          </p:cNvSpPr>
          <p:nvPr/>
        </p:nvSpPr>
        <p:spPr bwMode="auto">
          <a:xfrm>
            <a:off x="4648200" y="5470525"/>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63" name="Rectangle 83">
            <a:extLst>
              <a:ext uri="{FF2B5EF4-FFF2-40B4-BE49-F238E27FC236}">
                <a16:creationId xmlns:a16="http://schemas.microsoft.com/office/drawing/2014/main" id="{114CFCDC-C311-F566-4DE2-63CB835C92E6}"/>
              </a:ext>
            </a:extLst>
          </p:cNvPr>
          <p:cNvSpPr>
            <a:spLocks noChangeArrowheads="1"/>
          </p:cNvSpPr>
          <p:nvPr/>
        </p:nvSpPr>
        <p:spPr bwMode="auto">
          <a:xfrm>
            <a:off x="152400" y="990600"/>
            <a:ext cx="4267200" cy="533400"/>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64" name="Line 84">
            <a:extLst>
              <a:ext uri="{FF2B5EF4-FFF2-40B4-BE49-F238E27FC236}">
                <a16:creationId xmlns:a16="http://schemas.microsoft.com/office/drawing/2014/main" id="{55EC55CA-B20B-2ADC-B85E-5A4BE3F428C9}"/>
              </a:ext>
            </a:extLst>
          </p:cNvPr>
          <p:cNvSpPr>
            <a:spLocks noChangeShapeType="1"/>
          </p:cNvSpPr>
          <p:nvPr/>
        </p:nvSpPr>
        <p:spPr bwMode="auto">
          <a:xfrm>
            <a:off x="6858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5" name="Line 85">
            <a:extLst>
              <a:ext uri="{FF2B5EF4-FFF2-40B4-BE49-F238E27FC236}">
                <a16:creationId xmlns:a16="http://schemas.microsoft.com/office/drawing/2014/main" id="{DB60A41E-9AA3-45C1-F811-5F74536FFC6E}"/>
              </a:ext>
            </a:extLst>
          </p:cNvPr>
          <p:cNvSpPr>
            <a:spLocks noChangeShapeType="1"/>
          </p:cNvSpPr>
          <p:nvPr/>
        </p:nvSpPr>
        <p:spPr bwMode="auto">
          <a:xfrm>
            <a:off x="12192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6" name="Line 86">
            <a:extLst>
              <a:ext uri="{FF2B5EF4-FFF2-40B4-BE49-F238E27FC236}">
                <a16:creationId xmlns:a16="http://schemas.microsoft.com/office/drawing/2014/main" id="{49F40F01-96B6-A0B5-6430-ED3A2EC2DAF8}"/>
              </a:ext>
            </a:extLst>
          </p:cNvPr>
          <p:cNvSpPr>
            <a:spLocks noChangeShapeType="1"/>
          </p:cNvSpPr>
          <p:nvPr/>
        </p:nvSpPr>
        <p:spPr bwMode="auto">
          <a:xfrm>
            <a:off x="17526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7" name="Line 87">
            <a:extLst>
              <a:ext uri="{FF2B5EF4-FFF2-40B4-BE49-F238E27FC236}">
                <a16:creationId xmlns:a16="http://schemas.microsoft.com/office/drawing/2014/main" id="{0AC8A1B0-45CD-7FE6-4B4F-223A9E10E6C5}"/>
              </a:ext>
            </a:extLst>
          </p:cNvPr>
          <p:cNvSpPr>
            <a:spLocks noChangeShapeType="1"/>
          </p:cNvSpPr>
          <p:nvPr/>
        </p:nvSpPr>
        <p:spPr bwMode="auto">
          <a:xfrm>
            <a:off x="22860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8" name="Line 88">
            <a:extLst>
              <a:ext uri="{FF2B5EF4-FFF2-40B4-BE49-F238E27FC236}">
                <a16:creationId xmlns:a16="http://schemas.microsoft.com/office/drawing/2014/main" id="{F58EEB8B-1DCB-5A37-9FB7-36C663271008}"/>
              </a:ext>
            </a:extLst>
          </p:cNvPr>
          <p:cNvSpPr>
            <a:spLocks noChangeShapeType="1"/>
          </p:cNvSpPr>
          <p:nvPr/>
        </p:nvSpPr>
        <p:spPr bwMode="auto">
          <a:xfrm>
            <a:off x="28194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69" name="Line 89">
            <a:extLst>
              <a:ext uri="{FF2B5EF4-FFF2-40B4-BE49-F238E27FC236}">
                <a16:creationId xmlns:a16="http://schemas.microsoft.com/office/drawing/2014/main" id="{DB214D58-9D5F-CAF6-E18B-F4E58B330122}"/>
              </a:ext>
            </a:extLst>
          </p:cNvPr>
          <p:cNvSpPr>
            <a:spLocks noChangeShapeType="1"/>
          </p:cNvSpPr>
          <p:nvPr/>
        </p:nvSpPr>
        <p:spPr bwMode="auto">
          <a:xfrm>
            <a:off x="33528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0" name="Line 90">
            <a:extLst>
              <a:ext uri="{FF2B5EF4-FFF2-40B4-BE49-F238E27FC236}">
                <a16:creationId xmlns:a16="http://schemas.microsoft.com/office/drawing/2014/main" id="{D9B30EE2-76CE-8E38-7EAF-73B3B6F20BCB}"/>
              </a:ext>
            </a:extLst>
          </p:cNvPr>
          <p:cNvSpPr>
            <a:spLocks noChangeShapeType="1"/>
          </p:cNvSpPr>
          <p:nvPr/>
        </p:nvSpPr>
        <p:spPr bwMode="auto">
          <a:xfrm>
            <a:off x="3886200"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1" name="Text Box 91">
            <a:extLst>
              <a:ext uri="{FF2B5EF4-FFF2-40B4-BE49-F238E27FC236}">
                <a16:creationId xmlns:a16="http://schemas.microsoft.com/office/drawing/2014/main" id="{F2DB66ED-8961-ED7B-CA48-15E411F81EFA}"/>
              </a:ext>
            </a:extLst>
          </p:cNvPr>
          <p:cNvSpPr txBox="1">
            <a:spLocks noChangeArrowheads="1"/>
          </p:cNvSpPr>
          <p:nvPr/>
        </p:nvSpPr>
        <p:spPr bwMode="auto">
          <a:xfrm>
            <a:off x="1490663" y="152400"/>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OSRdyGrp</a:t>
            </a:r>
            <a:r>
              <a:rPr kumimoji="1" lang="en-US" altLang="zh-CN" sz="2400" b="0">
                <a:latin typeface="Times New Roman" panose="02020603050405020304" pitchFamily="18" charset="0"/>
              </a:rPr>
              <a:t> </a:t>
            </a:r>
          </a:p>
        </p:txBody>
      </p:sp>
      <p:sp>
        <p:nvSpPr>
          <p:cNvPr id="46172" name="Text Box 92">
            <a:extLst>
              <a:ext uri="{FF2B5EF4-FFF2-40B4-BE49-F238E27FC236}">
                <a16:creationId xmlns:a16="http://schemas.microsoft.com/office/drawing/2014/main" id="{BD9BF3FA-228E-C5C0-901E-F7344F525DF9}"/>
              </a:ext>
            </a:extLst>
          </p:cNvPr>
          <p:cNvSpPr txBox="1">
            <a:spLocks noChangeArrowheads="1"/>
          </p:cNvSpPr>
          <p:nvPr/>
        </p:nvSpPr>
        <p:spPr bwMode="auto">
          <a:xfrm>
            <a:off x="374650" y="609600"/>
            <a:ext cx="422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46173" name="Line 93">
            <a:extLst>
              <a:ext uri="{FF2B5EF4-FFF2-40B4-BE49-F238E27FC236}">
                <a16:creationId xmlns:a16="http://schemas.microsoft.com/office/drawing/2014/main" id="{0E0C249C-A4BB-1A49-3999-98EE83A7C3CF}"/>
              </a:ext>
            </a:extLst>
          </p:cNvPr>
          <p:cNvSpPr>
            <a:spLocks noChangeShapeType="1"/>
          </p:cNvSpPr>
          <p:nvPr/>
        </p:nvSpPr>
        <p:spPr bwMode="auto">
          <a:xfrm>
            <a:off x="4114800" y="1600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4" name="Line 94">
            <a:extLst>
              <a:ext uri="{FF2B5EF4-FFF2-40B4-BE49-F238E27FC236}">
                <a16:creationId xmlns:a16="http://schemas.microsoft.com/office/drawing/2014/main" id="{C7FEC643-72EF-995B-BAD8-37BBD946E799}"/>
              </a:ext>
            </a:extLst>
          </p:cNvPr>
          <p:cNvSpPr>
            <a:spLocks noChangeShapeType="1"/>
          </p:cNvSpPr>
          <p:nvPr/>
        </p:nvSpPr>
        <p:spPr bwMode="auto">
          <a:xfrm>
            <a:off x="4114800" y="19812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5" name="Line 95">
            <a:extLst>
              <a:ext uri="{FF2B5EF4-FFF2-40B4-BE49-F238E27FC236}">
                <a16:creationId xmlns:a16="http://schemas.microsoft.com/office/drawing/2014/main" id="{5E40BE03-511F-2708-B538-8C1E406006B9}"/>
              </a:ext>
            </a:extLst>
          </p:cNvPr>
          <p:cNvSpPr>
            <a:spLocks noChangeShapeType="1"/>
          </p:cNvSpPr>
          <p:nvPr/>
        </p:nvSpPr>
        <p:spPr bwMode="auto">
          <a:xfrm>
            <a:off x="3581400" y="16002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6" name="Line 96">
            <a:extLst>
              <a:ext uri="{FF2B5EF4-FFF2-40B4-BE49-F238E27FC236}">
                <a16:creationId xmlns:a16="http://schemas.microsoft.com/office/drawing/2014/main" id="{2DB79BA4-00BE-26C7-B421-E68EB3C11940}"/>
              </a:ext>
            </a:extLst>
          </p:cNvPr>
          <p:cNvSpPr>
            <a:spLocks noChangeShapeType="1"/>
          </p:cNvSpPr>
          <p:nvPr/>
        </p:nvSpPr>
        <p:spPr bwMode="auto">
          <a:xfrm>
            <a:off x="3581400" y="2438400"/>
            <a:ext cx="106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7" name="Line 97">
            <a:extLst>
              <a:ext uri="{FF2B5EF4-FFF2-40B4-BE49-F238E27FC236}">
                <a16:creationId xmlns:a16="http://schemas.microsoft.com/office/drawing/2014/main" id="{EBC66844-F6BB-BDFD-35C7-48B93F72EAD0}"/>
              </a:ext>
            </a:extLst>
          </p:cNvPr>
          <p:cNvSpPr>
            <a:spLocks noChangeShapeType="1"/>
          </p:cNvSpPr>
          <p:nvPr/>
        </p:nvSpPr>
        <p:spPr bwMode="auto">
          <a:xfrm>
            <a:off x="3048000" y="1600200"/>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8" name="Line 98">
            <a:extLst>
              <a:ext uri="{FF2B5EF4-FFF2-40B4-BE49-F238E27FC236}">
                <a16:creationId xmlns:a16="http://schemas.microsoft.com/office/drawing/2014/main" id="{C12DBD4D-BF56-1C69-D406-59AA8AF8D6BB}"/>
              </a:ext>
            </a:extLst>
          </p:cNvPr>
          <p:cNvSpPr>
            <a:spLocks noChangeShapeType="1"/>
          </p:cNvSpPr>
          <p:nvPr/>
        </p:nvSpPr>
        <p:spPr bwMode="auto">
          <a:xfrm>
            <a:off x="3048000" y="2971800"/>
            <a:ext cx="1600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79" name="Line 99">
            <a:extLst>
              <a:ext uri="{FF2B5EF4-FFF2-40B4-BE49-F238E27FC236}">
                <a16:creationId xmlns:a16="http://schemas.microsoft.com/office/drawing/2014/main" id="{01A24EC1-4771-B752-7758-870226001934}"/>
              </a:ext>
            </a:extLst>
          </p:cNvPr>
          <p:cNvSpPr>
            <a:spLocks noChangeShapeType="1"/>
          </p:cNvSpPr>
          <p:nvPr/>
        </p:nvSpPr>
        <p:spPr bwMode="auto">
          <a:xfrm>
            <a:off x="2514600" y="16002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0" name="Line 100">
            <a:extLst>
              <a:ext uri="{FF2B5EF4-FFF2-40B4-BE49-F238E27FC236}">
                <a16:creationId xmlns:a16="http://schemas.microsoft.com/office/drawing/2014/main" id="{83D775DF-6123-0B92-5288-282F2DB925FB}"/>
              </a:ext>
            </a:extLst>
          </p:cNvPr>
          <p:cNvSpPr>
            <a:spLocks noChangeShapeType="1"/>
          </p:cNvSpPr>
          <p:nvPr/>
        </p:nvSpPr>
        <p:spPr bwMode="auto">
          <a:xfrm>
            <a:off x="2514600" y="3429000"/>
            <a:ext cx="213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1" name="Line 101">
            <a:extLst>
              <a:ext uri="{FF2B5EF4-FFF2-40B4-BE49-F238E27FC236}">
                <a16:creationId xmlns:a16="http://schemas.microsoft.com/office/drawing/2014/main" id="{FC0AB639-C334-EDD0-3B8E-6C7A9188E812}"/>
              </a:ext>
            </a:extLst>
          </p:cNvPr>
          <p:cNvSpPr>
            <a:spLocks noChangeShapeType="1"/>
          </p:cNvSpPr>
          <p:nvPr/>
        </p:nvSpPr>
        <p:spPr bwMode="auto">
          <a:xfrm>
            <a:off x="1981200" y="1600200"/>
            <a:ext cx="0" cy="2438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2" name="Line 102">
            <a:extLst>
              <a:ext uri="{FF2B5EF4-FFF2-40B4-BE49-F238E27FC236}">
                <a16:creationId xmlns:a16="http://schemas.microsoft.com/office/drawing/2014/main" id="{DC778AA4-4D03-3254-6DED-344241F6CB26}"/>
              </a:ext>
            </a:extLst>
          </p:cNvPr>
          <p:cNvSpPr>
            <a:spLocks noChangeShapeType="1"/>
          </p:cNvSpPr>
          <p:nvPr/>
        </p:nvSpPr>
        <p:spPr bwMode="auto">
          <a:xfrm>
            <a:off x="1981200" y="4038600"/>
            <a:ext cx="2667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3" name="Line 103">
            <a:extLst>
              <a:ext uri="{FF2B5EF4-FFF2-40B4-BE49-F238E27FC236}">
                <a16:creationId xmlns:a16="http://schemas.microsoft.com/office/drawing/2014/main" id="{CB7A6609-7C8D-62C9-DCFF-B24B1FBD32F4}"/>
              </a:ext>
            </a:extLst>
          </p:cNvPr>
          <p:cNvSpPr>
            <a:spLocks noChangeShapeType="1"/>
          </p:cNvSpPr>
          <p:nvPr/>
        </p:nvSpPr>
        <p:spPr bwMode="auto">
          <a:xfrm>
            <a:off x="1447800" y="1600200"/>
            <a:ext cx="0" cy="3048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4" name="Line 104">
            <a:extLst>
              <a:ext uri="{FF2B5EF4-FFF2-40B4-BE49-F238E27FC236}">
                <a16:creationId xmlns:a16="http://schemas.microsoft.com/office/drawing/2014/main" id="{BE2839E4-22FB-FD81-7E49-CC9656AC401A}"/>
              </a:ext>
            </a:extLst>
          </p:cNvPr>
          <p:cNvSpPr>
            <a:spLocks noChangeShapeType="1"/>
          </p:cNvSpPr>
          <p:nvPr/>
        </p:nvSpPr>
        <p:spPr bwMode="auto">
          <a:xfrm>
            <a:off x="1447800" y="4648200"/>
            <a:ext cx="320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5" name="Line 105">
            <a:extLst>
              <a:ext uri="{FF2B5EF4-FFF2-40B4-BE49-F238E27FC236}">
                <a16:creationId xmlns:a16="http://schemas.microsoft.com/office/drawing/2014/main" id="{0F4DA10D-55EE-944B-D697-E3974AB7C0E6}"/>
              </a:ext>
            </a:extLst>
          </p:cNvPr>
          <p:cNvSpPr>
            <a:spLocks noChangeShapeType="1"/>
          </p:cNvSpPr>
          <p:nvPr/>
        </p:nvSpPr>
        <p:spPr bwMode="auto">
          <a:xfrm>
            <a:off x="914400" y="1600200"/>
            <a:ext cx="0" cy="3505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6" name="Line 106">
            <a:extLst>
              <a:ext uri="{FF2B5EF4-FFF2-40B4-BE49-F238E27FC236}">
                <a16:creationId xmlns:a16="http://schemas.microsoft.com/office/drawing/2014/main" id="{B51BE19F-22BC-CF4E-50C1-F3C03946271F}"/>
              </a:ext>
            </a:extLst>
          </p:cNvPr>
          <p:cNvSpPr>
            <a:spLocks noChangeShapeType="1"/>
          </p:cNvSpPr>
          <p:nvPr/>
        </p:nvSpPr>
        <p:spPr bwMode="auto">
          <a:xfrm>
            <a:off x="914400" y="5105400"/>
            <a:ext cx="3733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7" name="Line 107">
            <a:extLst>
              <a:ext uri="{FF2B5EF4-FFF2-40B4-BE49-F238E27FC236}">
                <a16:creationId xmlns:a16="http://schemas.microsoft.com/office/drawing/2014/main" id="{94448A6F-3A6A-5521-1796-00E43D5BAB0E}"/>
              </a:ext>
            </a:extLst>
          </p:cNvPr>
          <p:cNvSpPr>
            <a:spLocks noChangeShapeType="1"/>
          </p:cNvSpPr>
          <p:nvPr/>
        </p:nvSpPr>
        <p:spPr bwMode="auto">
          <a:xfrm>
            <a:off x="381000" y="1600200"/>
            <a:ext cx="0" cy="403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8" name="Line 108">
            <a:extLst>
              <a:ext uri="{FF2B5EF4-FFF2-40B4-BE49-F238E27FC236}">
                <a16:creationId xmlns:a16="http://schemas.microsoft.com/office/drawing/2014/main" id="{377687C7-B7F0-3BE8-F7E0-7C081D3C1E37}"/>
              </a:ext>
            </a:extLst>
          </p:cNvPr>
          <p:cNvSpPr>
            <a:spLocks noChangeShapeType="1"/>
          </p:cNvSpPr>
          <p:nvPr/>
        </p:nvSpPr>
        <p:spPr bwMode="auto">
          <a:xfrm>
            <a:off x="381000" y="5638800"/>
            <a:ext cx="426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89" name="Text Box 109">
            <a:extLst>
              <a:ext uri="{FF2B5EF4-FFF2-40B4-BE49-F238E27FC236}">
                <a16:creationId xmlns:a16="http://schemas.microsoft.com/office/drawing/2014/main" id="{0E9B1066-F10A-4DDA-A5CB-568962D905FE}"/>
              </a:ext>
            </a:extLst>
          </p:cNvPr>
          <p:cNvSpPr txBox="1">
            <a:spLocks noChangeArrowheads="1"/>
          </p:cNvSpPr>
          <p:nvPr/>
        </p:nvSpPr>
        <p:spPr bwMode="auto">
          <a:xfrm>
            <a:off x="152400" y="1066800"/>
            <a:ext cx="423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1/0   1/0    1/0   1/0   1/0    1/0   1/0   1/0</a:t>
            </a:r>
          </a:p>
        </p:txBody>
      </p:sp>
      <p:sp>
        <p:nvSpPr>
          <p:cNvPr id="46190" name="Text Box 110">
            <a:extLst>
              <a:ext uri="{FF2B5EF4-FFF2-40B4-BE49-F238E27FC236}">
                <a16:creationId xmlns:a16="http://schemas.microsoft.com/office/drawing/2014/main" id="{EEA33020-CAAD-3F0D-DDD0-FA53ED4047C7}"/>
              </a:ext>
            </a:extLst>
          </p:cNvPr>
          <p:cNvSpPr txBox="1">
            <a:spLocks noChangeArrowheads="1"/>
          </p:cNvSpPr>
          <p:nvPr/>
        </p:nvSpPr>
        <p:spPr bwMode="auto">
          <a:xfrm>
            <a:off x="3124200" y="6127750"/>
            <a:ext cx="247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0">
                <a:latin typeface="Times New Roman" panose="02020603050405020304" pitchFamily="18" charset="0"/>
                <a:ea typeface="黑体" panose="02010609060101010101" pitchFamily="49" charset="-122"/>
              </a:rPr>
              <a:t>任务就绪表的示意图</a:t>
            </a:r>
          </a:p>
        </p:txBody>
      </p:sp>
      <p:sp>
        <p:nvSpPr>
          <p:cNvPr id="46191" name="AutoShape 111">
            <a:extLst>
              <a:ext uri="{FF2B5EF4-FFF2-40B4-BE49-F238E27FC236}">
                <a16:creationId xmlns:a16="http://schemas.microsoft.com/office/drawing/2014/main" id="{2166FA89-6F9F-186C-D151-D227196B30BE}"/>
              </a:ext>
            </a:extLst>
          </p:cNvPr>
          <p:cNvSpPr>
            <a:spLocks noChangeArrowheads="1"/>
          </p:cNvSpPr>
          <p:nvPr/>
        </p:nvSpPr>
        <p:spPr bwMode="auto">
          <a:xfrm>
            <a:off x="4343400" y="1676400"/>
            <a:ext cx="152400" cy="4267200"/>
          </a:xfrm>
          <a:prstGeom prst="downArrow">
            <a:avLst>
              <a:gd name="adj1" fmla="val 50000"/>
              <a:gd name="adj2" fmla="val 179407"/>
            </a:avLst>
          </a:prstGeom>
          <a:solidFill>
            <a:schemeClr val="accent1"/>
          </a:solidFill>
          <a:ln w="9525">
            <a:solidFill>
              <a:schemeClr val="tx1"/>
            </a:solidFill>
            <a:miter lim="800000"/>
            <a:headEnd/>
            <a:tailEnd/>
          </a:ln>
        </p:spPr>
        <p:txBody>
          <a:bodyPr vert="eaVert"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92" name="AutoShape 112">
            <a:extLst>
              <a:ext uri="{FF2B5EF4-FFF2-40B4-BE49-F238E27FC236}">
                <a16:creationId xmlns:a16="http://schemas.microsoft.com/office/drawing/2014/main" id="{376AE392-D55F-400E-B6DE-F9A389901410}"/>
              </a:ext>
            </a:extLst>
          </p:cNvPr>
          <p:cNvSpPr>
            <a:spLocks noChangeArrowheads="1"/>
          </p:cNvSpPr>
          <p:nvPr/>
        </p:nvSpPr>
        <p:spPr bwMode="auto">
          <a:xfrm rot="10800000">
            <a:off x="4419600" y="1371600"/>
            <a:ext cx="4495800" cy="152400"/>
          </a:xfrm>
          <a:prstGeom prst="rightArrow">
            <a:avLst>
              <a:gd name="adj1" fmla="val 56944"/>
              <a:gd name="adj2" fmla="val 206227"/>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6193" name="Text Box 113">
            <a:extLst>
              <a:ext uri="{FF2B5EF4-FFF2-40B4-BE49-F238E27FC236}">
                <a16:creationId xmlns:a16="http://schemas.microsoft.com/office/drawing/2014/main" id="{2E2DDAB8-70F1-AD5A-5950-9E55F2DDA05D}"/>
              </a:ext>
            </a:extLst>
          </p:cNvPr>
          <p:cNvSpPr txBox="1">
            <a:spLocks noChangeArrowheads="1"/>
          </p:cNvSpPr>
          <p:nvPr/>
        </p:nvSpPr>
        <p:spPr bwMode="auto">
          <a:xfrm>
            <a:off x="845185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p>
        </p:txBody>
      </p:sp>
      <p:sp>
        <p:nvSpPr>
          <p:cNvPr id="46194" name="Text Box 114">
            <a:extLst>
              <a:ext uri="{FF2B5EF4-FFF2-40B4-BE49-F238E27FC236}">
                <a16:creationId xmlns:a16="http://schemas.microsoft.com/office/drawing/2014/main" id="{7344C8C0-BD2D-8A7C-0B6B-D7C54C5C4AC4}"/>
              </a:ext>
            </a:extLst>
          </p:cNvPr>
          <p:cNvSpPr txBox="1">
            <a:spLocks noChangeArrowheads="1"/>
          </p:cNvSpPr>
          <p:nvPr/>
        </p:nvSpPr>
        <p:spPr bwMode="auto">
          <a:xfrm>
            <a:off x="792480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p>
        </p:txBody>
      </p:sp>
      <p:sp>
        <p:nvSpPr>
          <p:cNvPr id="46195" name="Text Box 115">
            <a:extLst>
              <a:ext uri="{FF2B5EF4-FFF2-40B4-BE49-F238E27FC236}">
                <a16:creationId xmlns:a16="http://schemas.microsoft.com/office/drawing/2014/main" id="{1342E892-2D62-DA48-53A1-CAAF2229A2C8}"/>
              </a:ext>
            </a:extLst>
          </p:cNvPr>
          <p:cNvSpPr txBox="1">
            <a:spLocks noChangeArrowheads="1"/>
          </p:cNvSpPr>
          <p:nvPr/>
        </p:nvSpPr>
        <p:spPr bwMode="auto">
          <a:xfrm>
            <a:off x="739140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2</a:t>
            </a:r>
          </a:p>
        </p:txBody>
      </p:sp>
      <p:sp>
        <p:nvSpPr>
          <p:cNvPr id="46196" name="Text Box 116">
            <a:extLst>
              <a:ext uri="{FF2B5EF4-FFF2-40B4-BE49-F238E27FC236}">
                <a16:creationId xmlns:a16="http://schemas.microsoft.com/office/drawing/2014/main" id="{3D82CFBC-5CFC-1471-59A9-4B5A59414062}"/>
              </a:ext>
            </a:extLst>
          </p:cNvPr>
          <p:cNvSpPr txBox="1">
            <a:spLocks noChangeArrowheads="1"/>
          </p:cNvSpPr>
          <p:nvPr/>
        </p:nvSpPr>
        <p:spPr bwMode="auto">
          <a:xfrm>
            <a:off x="685800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3</a:t>
            </a:r>
          </a:p>
        </p:txBody>
      </p:sp>
      <p:sp>
        <p:nvSpPr>
          <p:cNvPr id="46197" name="Text Box 117">
            <a:extLst>
              <a:ext uri="{FF2B5EF4-FFF2-40B4-BE49-F238E27FC236}">
                <a16:creationId xmlns:a16="http://schemas.microsoft.com/office/drawing/2014/main" id="{62A8F289-550F-B329-3E9E-D0D0E968B15E}"/>
              </a:ext>
            </a:extLst>
          </p:cNvPr>
          <p:cNvSpPr txBox="1">
            <a:spLocks noChangeArrowheads="1"/>
          </p:cNvSpPr>
          <p:nvPr/>
        </p:nvSpPr>
        <p:spPr bwMode="auto">
          <a:xfrm>
            <a:off x="639445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4</a:t>
            </a:r>
          </a:p>
        </p:txBody>
      </p:sp>
      <p:sp>
        <p:nvSpPr>
          <p:cNvPr id="46198" name="Text Box 118">
            <a:extLst>
              <a:ext uri="{FF2B5EF4-FFF2-40B4-BE49-F238E27FC236}">
                <a16:creationId xmlns:a16="http://schemas.microsoft.com/office/drawing/2014/main" id="{FCD63C04-DEDB-9662-CE92-C7948D4EF7F1}"/>
              </a:ext>
            </a:extLst>
          </p:cNvPr>
          <p:cNvSpPr txBox="1">
            <a:spLocks noChangeArrowheads="1"/>
          </p:cNvSpPr>
          <p:nvPr/>
        </p:nvSpPr>
        <p:spPr bwMode="auto">
          <a:xfrm>
            <a:off x="586105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5</a:t>
            </a:r>
          </a:p>
        </p:txBody>
      </p:sp>
      <p:sp>
        <p:nvSpPr>
          <p:cNvPr id="46199" name="Text Box 119">
            <a:extLst>
              <a:ext uri="{FF2B5EF4-FFF2-40B4-BE49-F238E27FC236}">
                <a16:creationId xmlns:a16="http://schemas.microsoft.com/office/drawing/2014/main" id="{CDBF3415-B5CE-1AAB-6888-3089F0C20DC6}"/>
              </a:ext>
            </a:extLst>
          </p:cNvPr>
          <p:cNvSpPr txBox="1">
            <a:spLocks noChangeArrowheads="1"/>
          </p:cNvSpPr>
          <p:nvPr/>
        </p:nvSpPr>
        <p:spPr bwMode="auto">
          <a:xfrm>
            <a:off x="525780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6</a:t>
            </a:r>
          </a:p>
        </p:txBody>
      </p:sp>
      <p:sp>
        <p:nvSpPr>
          <p:cNvPr id="46200" name="Text Box 120">
            <a:extLst>
              <a:ext uri="{FF2B5EF4-FFF2-40B4-BE49-F238E27FC236}">
                <a16:creationId xmlns:a16="http://schemas.microsoft.com/office/drawing/2014/main" id="{09440653-C9A0-98DD-71E1-54BBC68373E2}"/>
              </a:ext>
            </a:extLst>
          </p:cNvPr>
          <p:cNvSpPr txBox="1">
            <a:spLocks noChangeArrowheads="1"/>
          </p:cNvSpPr>
          <p:nvPr/>
        </p:nvSpPr>
        <p:spPr bwMode="auto">
          <a:xfrm>
            <a:off x="4800600" y="1066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7</a:t>
            </a:r>
          </a:p>
        </p:txBody>
      </p:sp>
      <p:sp>
        <p:nvSpPr>
          <p:cNvPr id="46201" name="Text Box 121">
            <a:extLst>
              <a:ext uri="{FF2B5EF4-FFF2-40B4-BE49-F238E27FC236}">
                <a16:creationId xmlns:a16="http://schemas.microsoft.com/office/drawing/2014/main" id="{6238AC39-B600-5D82-71E5-D65EFCA35CDB}"/>
              </a:ext>
            </a:extLst>
          </p:cNvPr>
          <p:cNvSpPr txBox="1">
            <a:spLocks noChangeArrowheads="1"/>
          </p:cNvSpPr>
          <p:nvPr/>
        </p:nvSpPr>
        <p:spPr bwMode="auto">
          <a:xfrm>
            <a:off x="4495800" y="990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x</a:t>
            </a:r>
          </a:p>
        </p:txBody>
      </p:sp>
      <p:sp>
        <p:nvSpPr>
          <p:cNvPr id="46202" name="Text Box 122">
            <a:extLst>
              <a:ext uri="{FF2B5EF4-FFF2-40B4-BE49-F238E27FC236}">
                <a16:creationId xmlns:a16="http://schemas.microsoft.com/office/drawing/2014/main" id="{2DBCD75B-47CA-8A0E-BA8B-1E3EC04F84E1}"/>
              </a:ext>
            </a:extLst>
          </p:cNvPr>
          <p:cNvSpPr txBox="1">
            <a:spLocks noChangeArrowheads="1"/>
          </p:cNvSpPr>
          <p:nvPr/>
        </p:nvSpPr>
        <p:spPr bwMode="auto">
          <a:xfrm>
            <a:off x="4038600" y="5715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y</a:t>
            </a:r>
          </a:p>
        </p:txBody>
      </p:sp>
      <p:sp>
        <p:nvSpPr>
          <p:cNvPr id="46203" name="Text Box 123">
            <a:extLst>
              <a:ext uri="{FF2B5EF4-FFF2-40B4-BE49-F238E27FC236}">
                <a16:creationId xmlns:a16="http://schemas.microsoft.com/office/drawing/2014/main" id="{3523FDDE-C314-7994-6D6F-5BCC9D7B1E27}"/>
              </a:ext>
            </a:extLst>
          </p:cNvPr>
          <p:cNvSpPr txBox="1">
            <a:spLocks noChangeArrowheads="1"/>
          </p:cNvSpPr>
          <p:nvPr/>
        </p:nvSpPr>
        <p:spPr bwMode="auto">
          <a:xfrm>
            <a:off x="4038600" y="16764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p>
        </p:txBody>
      </p:sp>
      <p:sp>
        <p:nvSpPr>
          <p:cNvPr id="46204" name="Text Box 124">
            <a:extLst>
              <a:ext uri="{FF2B5EF4-FFF2-40B4-BE49-F238E27FC236}">
                <a16:creationId xmlns:a16="http://schemas.microsoft.com/office/drawing/2014/main" id="{C372E278-D6AD-3A72-E80B-1CEB6B9391E6}"/>
              </a:ext>
            </a:extLst>
          </p:cNvPr>
          <p:cNvSpPr txBox="1">
            <a:spLocks noChangeArrowheads="1"/>
          </p:cNvSpPr>
          <p:nvPr/>
        </p:nvSpPr>
        <p:spPr bwMode="auto">
          <a:xfrm>
            <a:off x="4038600" y="20574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p>
        </p:txBody>
      </p:sp>
      <p:sp>
        <p:nvSpPr>
          <p:cNvPr id="46205" name="Text Box 125">
            <a:extLst>
              <a:ext uri="{FF2B5EF4-FFF2-40B4-BE49-F238E27FC236}">
                <a16:creationId xmlns:a16="http://schemas.microsoft.com/office/drawing/2014/main" id="{03E28C1B-7A4E-2151-DF74-9B32D6CD919A}"/>
              </a:ext>
            </a:extLst>
          </p:cNvPr>
          <p:cNvSpPr txBox="1">
            <a:spLocks noChangeArrowheads="1"/>
          </p:cNvSpPr>
          <p:nvPr/>
        </p:nvSpPr>
        <p:spPr bwMode="auto">
          <a:xfrm>
            <a:off x="4038600" y="25908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2</a:t>
            </a:r>
          </a:p>
        </p:txBody>
      </p:sp>
      <p:sp>
        <p:nvSpPr>
          <p:cNvPr id="46206" name="Text Box 126">
            <a:extLst>
              <a:ext uri="{FF2B5EF4-FFF2-40B4-BE49-F238E27FC236}">
                <a16:creationId xmlns:a16="http://schemas.microsoft.com/office/drawing/2014/main" id="{50770FFE-116C-2144-F48B-290AC10F2C40}"/>
              </a:ext>
            </a:extLst>
          </p:cNvPr>
          <p:cNvSpPr txBox="1">
            <a:spLocks noChangeArrowheads="1"/>
          </p:cNvSpPr>
          <p:nvPr/>
        </p:nvSpPr>
        <p:spPr bwMode="auto">
          <a:xfrm>
            <a:off x="4038600" y="31242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3</a:t>
            </a:r>
          </a:p>
        </p:txBody>
      </p:sp>
      <p:sp>
        <p:nvSpPr>
          <p:cNvPr id="46207" name="Text Box 127">
            <a:extLst>
              <a:ext uri="{FF2B5EF4-FFF2-40B4-BE49-F238E27FC236}">
                <a16:creationId xmlns:a16="http://schemas.microsoft.com/office/drawing/2014/main" id="{D93E77F3-58B9-76C1-1361-E218846CA442}"/>
              </a:ext>
            </a:extLst>
          </p:cNvPr>
          <p:cNvSpPr txBox="1">
            <a:spLocks noChangeArrowheads="1"/>
          </p:cNvSpPr>
          <p:nvPr/>
        </p:nvSpPr>
        <p:spPr bwMode="auto">
          <a:xfrm>
            <a:off x="4038600" y="3657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4</a:t>
            </a:r>
          </a:p>
        </p:txBody>
      </p:sp>
      <p:sp>
        <p:nvSpPr>
          <p:cNvPr id="46208" name="Text Box 128">
            <a:extLst>
              <a:ext uri="{FF2B5EF4-FFF2-40B4-BE49-F238E27FC236}">
                <a16:creationId xmlns:a16="http://schemas.microsoft.com/office/drawing/2014/main" id="{0CDD2F7B-6A2C-6AF4-8CA9-DC664D325635}"/>
              </a:ext>
            </a:extLst>
          </p:cNvPr>
          <p:cNvSpPr txBox="1">
            <a:spLocks noChangeArrowheads="1"/>
          </p:cNvSpPr>
          <p:nvPr/>
        </p:nvSpPr>
        <p:spPr bwMode="auto">
          <a:xfrm>
            <a:off x="4038600" y="42672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5</a:t>
            </a:r>
          </a:p>
        </p:txBody>
      </p:sp>
      <p:sp>
        <p:nvSpPr>
          <p:cNvPr id="46209" name="Text Box 129">
            <a:extLst>
              <a:ext uri="{FF2B5EF4-FFF2-40B4-BE49-F238E27FC236}">
                <a16:creationId xmlns:a16="http://schemas.microsoft.com/office/drawing/2014/main" id="{B5207F32-DE57-318E-6934-18414414167D}"/>
              </a:ext>
            </a:extLst>
          </p:cNvPr>
          <p:cNvSpPr txBox="1">
            <a:spLocks noChangeArrowheads="1"/>
          </p:cNvSpPr>
          <p:nvPr/>
        </p:nvSpPr>
        <p:spPr bwMode="auto">
          <a:xfrm>
            <a:off x="4038600" y="4800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6</a:t>
            </a:r>
          </a:p>
        </p:txBody>
      </p:sp>
      <p:sp>
        <p:nvSpPr>
          <p:cNvPr id="46210" name="Text Box 130">
            <a:extLst>
              <a:ext uri="{FF2B5EF4-FFF2-40B4-BE49-F238E27FC236}">
                <a16:creationId xmlns:a16="http://schemas.microsoft.com/office/drawing/2014/main" id="{74240FB3-3B4E-995F-7130-64D378BBC3C9}"/>
              </a:ext>
            </a:extLst>
          </p:cNvPr>
          <p:cNvSpPr txBox="1">
            <a:spLocks noChangeArrowheads="1"/>
          </p:cNvSpPr>
          <p:nvPr/>
        </p:nvSpPr>
        <p:spPr bwMode="auto">
          <a:xfrm>
            <a:off x="4038600" y="53340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7</a:t>
            </a:r>
          </a:p>
        </p:txBody>
      </p:sp>
      <p:pic>
        <p:nvPicPr>
          <p:cNvPr id="62595" name="Picture 131">
            <a:extLst>
              <a:ext uri="{FF2B5EF4-FFF2-40B4-BE49-F238E27FC236}">
                <a16:creationId xmlns:a16="http://schemas.microsoft.com/office/drawing/2014/main" id="{846C3129-D969-346C-FEB1-25A8116A7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121" t="19719" r="28484" b="54620"/>
          <a:stretch>
            <a:fillRect/>
          </a:stretch>
        </p:blipFill>
        <p:spPr bwMode="auto">
          <a:xfrm>
            <a:off x="139700" y="3427413"/>
            <a:ext cx="3971925" cy="2289175"/>
          </a:xfrm>
          <a:prstGeom prst="rect">
            <a:avLst/>
          </a:prstGeom>
          <a:noFill/>
          <a:ln w="76200" cmpd="tri">
            <a:solidFill>
              <a:srgbClr val="00CC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2595"/>
                                        </p:tgtEl>
                                        <p:attrNameLst>
                                          <p:attrName>style.visibility</p:attrName>
                                        </p:attrNameLst>
                                      </p:cBhvr>
                                      <p:to>
                                        <p:strVal val="visible"/>
                                      </p:to>
                                    </p:set>
                                    <p:animEffect transition="in" filter="box(out)">
                                      <p:cBhvr>
                                        <p:cTn id="7" dur="500"/>
                                        <p:tgtEl>
                                          <p:spTgt spid="62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3">
            <a:extLst>
              <a:ext uri="{FF2B5EF4-FFF2-40B4-BE49-F238E27FC236}">
                <a16:creationId xmlns:a16="http://schemas.microsoft.com/office/drawing/2014/main" id="{C52ACE44-D941-1F5B-4814-605527EDC8A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7107" name="灯片编号占位符 4">
            <a:extLst>
              <a:ext uri="{FF2B5EF4-FFF2-40B4-BE49-F238E27FC236}">
                <a16:creationId xmlns:a16="http://schemas.microsoft.com/office/drawing/2014/main" id="{28365F04-11D7-7A94-012B-80E52F6F1F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DB7C7DD-FA6A-4E20-95FC-47FE320060E3}" type="slidenum">
              <a:rPr lang="en-US" altLang="zh-CN" sz="1200" smtClean="0">
                <a:solidFill>
                  <a:srgbClr val="3366FF"/>
                </a:solidFill>
                <a:latin typeface="Arial Black" panose="020B0A04020102020204" pitchFamily="34" charset="0"/>
              </a:rPr>
              <a:pPr>
                <a:spcBef>
                  <a:spcPct val="0"/>
                </a:spcBef>
                <a:buClrTx/>
                <a:buSzTx/>
                <a:buFontTx/>
                <a:buNone/>
              </a:pPr>
              <a:t>43</a:t>
            </a:fld>
            <a:endParaRPr lang="en-US" altLang="zh-CN" sz="1200">
              <a:solidFill>
                <a:srgbClr val="3366FF"/>
              </a:solidFill>
              <a:latin typeface="Arial Black" panose="020B0A04020102020204" pitchFamily="34" charset="0"/>
            </a:endParaRPr>
          </a:p>
        </p:txBody>
      </p:sp>
      <p:sp>
        <p:nvSpPr>
          <p:cNvPr id="47108" name="日期占位符 5">
            <a:extLst>
              <a:ext uri="{FF2B5EF4-FFF2-40B4-BE49-F238E27FC236}">
                <a16:creationId xmlns:a16="http://schemas.microsoft.com/office/drawing/2014/main" id="{A75A9BD6-A09B-2F8D-D299-FDDC0897937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FB25E8F-3BF3-4D05-A3F0-C6CC55C46AF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7109" name="Rectangle 2">
            <a:extLst>
              <a:ext uri="{FF2B5EF4-FFF2-40B4-BE49-F238E27FC236}">
                <a16:creationId xmlns:a16="http://schemas.microsoft.com/office/drawing/2014/main" id="{E8A6C41E-F112-3FF2-28F0-678BDB3EEA24}"/>
              </a:ext>
            </a:extLst>
          </p:cNvPr>
          <p:cNvSpPr>
            <a:spLocks noGrp="1" noChangeArrowheads="1"/>
          </p:cNvSpPr>
          <p:nvPr>
            <p:ph type="title"/>
          </p:nvPr>
        </p:nvSpPr>
        <p:spPr/>
        <p:txBody>
          <a:bodyPr/>
          <a:lstStyle/>
          <a:p>
            <a:pPr eaLnBrk="1" hangingPunct="1"/>
            <a:r>
              <a:rPr lang="en-US" altLang="zh-CN" sz="3600"/>
              <a:t>2.4  </a:t>
            </a:r>
            <a:r>
              <a:rPr lang="zh-CN" altLang="en-US" sz="3600" b="1">
                <a:solidFill>
                  <a:srgbClr val="080808"/>
                </a:solidFill>
              </a:rPr>
              <a:t>任务就绪表及任务调度</a:t>
            </a:r>
          </a:p>
        </p:txBody>
      </p:sp>
      <p:sp>
        <p:nvSpPr>
          <p:cNvPr id="47110" name="Rectangle 3">
            <a:extLst>
              <a:ext uri="{FF2B5EF4-FFF2-40B4-BE49-F238E27FC236}">
                <a16:creationId xmlns:a16="http://schemas.microsoft.com/office/drawing/2014/main" id="{18EA185C-6CB1-3656-092D-1DB20BFA55E4}"/>
              </a:ext>
            </a:extLst>
          </p:cNvPr>
          <p:cNvSpPr>
            <a:spLocks noGrp="1" noChangeArrowheads="1"/>
          </p:cNvSpPr>
          <p:nvPr>
            <p:ph type="body" idx="1"/>
          </p:nvPr>
        </p:nvSpPr>
        <p:spPr>
          <a:xfrm>
            <a:off x="457200" y="1412875"/>
            <a:ext cx="8229600" cy="647700"/>
          </a:xfrm>
        </p:spPr>
        <p:txBody>
          <a:bodyPr/>
          <a:lstStyle/>
          <a:p>
            <a:pPr eaLnBrk="1" hangingPunct="1"/>
            <a:r>
              <a:rPr lang="zh-CN" altLang="en-US" b="1"/>
              <a:t>任务优先级数据结构分析</a:t>
            </a:r>
          </a:p>
        </p:txBody>
      </p:sp>
      <p:sp>
        <p:nvSpPr>
          <p:cNvPr id="47111" name="Text Box 4">
            <a:extLst>
              <a:ext uri="{FF2B5EF4-FFF2-40B4-BE49-F238E27FC236}">
                <a16:creationId xmlns:a16="http://schemas.microsoft.com/office/drawing/2014/main" id="{195C6BC3-8E8B-8819-EE06-465542626F8E}"/>
              </a:ext>
            </a:extLst>
          </p:cNvPr>
          <p:cNvSpPr txBox="1">
            <a:spLocks noChangeArrowheads="1"/>
          </p:cNvSpPr>
          <p:nvPr/>
        </p:nvSpPr>
        <p:spPr bwMode="auto">
          <a:xfrm>
            <a:off x="827088" y="2060575"/>
            <a:ext cx="7777162"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3587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
                <a:srgbClr val="0066FF"/>
              </a:buClr>
              <a:buSzPct val="50000"/>
            </a:pPr>
            <a:r>
              <a:rPr lang="en-US" altLang="zh-CN" sz="2400">
                <a:latin typeface="Arial Narrow" panose="020B0606020202030204" pitchFamily="34" charset="0"/>
              </a:rPr>
              <a:t>uC/OS-II</a:t>
            </a:r>
            <a:r>
              <a:rPr lang="en-US" altLang="zh-CN" sz="2400"/>
              <a:t> </a:t>
            </a:r>
            <a:r>
              <a:rPr lang="zh-CN" altLang="en-US" sz="2400"/>
              <a:t>最多管理</a:t>
            </a:r>
            <a:r>
              <a:rPr lang="en-US" altLang="zh-CN" sz="2400"/>
              <a:t>64</a:t>
            </a:r>
            <a:r>
              <a:rPr lang="zh-CN" altLang="en-US" sz="2400"/>
              <a:t>个任务，</a:t>
            </a:r>
            <a:r>
              <a:rPr lang="en-US" altLang="zh-CN" sz="2400">
                <a:latin typeface="Arial Narrow" panose="020B0606020202030204" pitchFamily="34" charset="0"/>
              </a:rPr>
              <a:t>Prio</a:t>
            </a:r>
            <a:r>
              <a:rPr lang="zh-CN" altLang="en-US" sz="2400"/>
              <a:t>值域：</a:t>
            </a:r>
            <a:r>
              <a:rPr lang="en-US" altLang="zh-CN" sz="2400"/>
              <a:t>0 ~ 63</a:t>
            </a:r>
            <a:r>
              <a:rPr lang="zh-CN" altLang="en-US" sz="2400"/>
              <a:t>，对应的二进制数 </a:t>
            </a:r>
            <a:r>
              <a:rPr lang="en-US" altLang="zh-CN" sz="2400">
                <a:solidFill>
                  <a:srgbClr val="D60093"/>
                </a:solidFill>
              </a:rPr>
              <a:t>000</a:t>
            </a:r>
            <a:r>
              <a:rPr lang="en-US" altLang="zh-CN" sz="2400"/>
              <a:t>,</a:t>
            </a:r>
            <a:r>
              <a:rPr lang="en-US" altLang="zh-CN" sz="2400">
                <a:solidFill>
                  <a:srgbClr val="0000FF"/>
                </a:solidFill>
              </a:rPr>
              <a:t>000</a:t>
            </a:r>
            <a:r>
              <a:rPr lang="en-US" altLang="zh-CN" sz="2400"/>
              <a:t> ~ </a:t>
            </a:r>
            <a:r>
              <a:rPr lang="en-US" altLang="zh-CN" sz="2400">
                <a:solidFill>
                  <a:srgbClr val="D60093"/>
                </a:solidFill>
              </a:rPr>
              <a:t>111</a:t>
            </a:r>
            <a:r>
              <a:rPr lang="en-US" altLang="zh-CN" sz="2400"/>
              <a:t>,</a:t>
            </a:r>
            <a:r>
              <a:rPr lang="en-US" altLang="zh-CN" sz="2400">
                <a:solidFill>
                  <a:srgbClr val="0000FF"/>
                </a:solidFill>
              </a:rPr>
              <a:t>111</a:t>
            </a:r>
            <a:r>
              <a:rPr lang="zh-CN" altLang="en-US" sz="2400"/>
              <a:t>（</a:t>
            </a:r>
            <a:r>
              <a:rPr lang="en-US" altLang="zh-CN" sz="2400"/>
              <a:t>6bit</a:t>
            </a:r>
            <a:r>
              <a:rPr lang="zh-CN" altLang="en-US" sz="2400"/>
              <a:t>）， </a:t>
            </a:r>
            <a:r>
              <a:rPr lang="en-US" altLang="zh-CN" sz="2400">
                <a:solidFill>
                  <a:srgbClr val="D60093"/>
                </a:solidFill>
                <a:latin typeface="Arial Narrow" panose="020B0606020202030204" pitchFamily="34" charset="0"/>
              </a:rPr>
              <a:t>OSRdyGrp</a:t>
            </a:r>
            <a:r>
              <a:rPr kumimoji="1" lang="zh-CN" altLang="en-US" sz="2400"/>
              <a:t>（任务组就绪变量）</a:t>
            </a:r>
            <a:r>
              <a:rPr kumimoji="1" lang="en-US" altLang="zh-CN" sz="2400"/>
              <a:t>8 bit</a:t>
            </a:r>
            <a:r>
              <a:rPr kumimoji="1" lang="zh-CN" altLang="en-US" sz="2400"/>
              <a:t>，任务就续数组元素 </a:t>
            </a:r>
            <a:r>
              <a:rPr lang="en-US" altLang="zh-CN" sz="2400">
                <a:solidFill>
                  <a:srgbClr val="0000FF"/>
                </a:solidFill>
                <a:latin typeface="Arial Narrow" panose="020B0606020202030204" pitchFamily="34" charset="0"/>
              </a:rPr>
              <a:t>OSRdyTbl</a:t>
            </a:r>
            <a:r>
              <a:rPr lang="en-US" altLang="zh-CN" sz="2400">
                <a:latin typeface="Arial Narrow" panose="020B0606020202030204" pitchFamily="34" charset="0"/>
              </a:rPr>
              <a:t> </a:t>
            </a:r>
            <a:r>
              <a:rPr kumimoji="1" lang="zh-CN" altLang="en-US" sz="2400"/>
              <a:t>也是</a:t>
            </a:r>
            <a:r>
              <a:rPr kumimoji="1" lang="en-US" altLang="zh-CN" sz="2400"/>
              <a:t>8bit</a:t>
            </a:r>
            <a:r>
              <a:rPr kumimoji="1" lang="zh-CN" altLang="en-US" sz="2400"/>
              <a:t>。</a:t>
            </a:r>
          </a:p>
          <a:p>
            <a:pPr eaLnBrk="1" hangingPunct="1">
              <a:lnSpc>
                <a:spcPct val="120000"/>
              </a:lnSpc>
              <a:spcBef>
                <a:spcPct val="50000"/>
              </a:spcBef>
              <a:buClr>
                <a:srgbClr val="0066FF"/>
              </a:buClr>
              <a:buSzPct val="50000"/>
            </a:pPr>
            <a:r>
              <a:rPr lang="en-US" altLang="zh-CN" sz="2400">
                <a:solidFill>
                  <a:srgbClr val="D60093"/>
                </a:solidFill>
                <a:latin typeface="Arial Narrow" panose="020B0606020202030204" pitchFamily="34" charset="0"/>
              </a:rPr>
              <a:t>prio.D[5:3]</a:t>
            </a:r>
            <a:r>
              <a:rPr lang="en-US" altLang="zh-CN" sz="2400"/>
              <a:t> --- </a:t>
            </a:r>
            <a:r>
              <a:rPr lang="zh-CN" altLang="en-US" sz="2400"/>
              <a:t>对应 </a:t>
            </a:r>
            <a:r>
              <a:rPr lang="en-US" altLang="zh-CN" sz="2400">
                <a:latin typeface="Arial Narrow" panose="020B0606020202030204" pitchFamily="34" charset="0"/>
              </a:rPr>
              <a:t>OSRdyTbl</a:t>
            </a:r>
            <a:r>
              <a:rPr lang="en-US" altLang="zh-CN" sz="2400"/>
              <a:t> </a:t>
            </a:r>
            <a:r>
              <a:rPr lang="zh-CN" altLang="en-US" sz="2400">
                <a:latin typeface="Arial Narrow" panose="020B0606020202030204" pitchFamily="34" charset="0"/>
              </a:rPr>
              <a:t>的</a:t>
            </a:r>
            <a:r>
              <a:rPr lang="zh-CN" altLang="en-US" sz="2400"/>
              <a:t>下标（任务组号</a:t>
            </a:r>
            <a:r>
              <a:rPr lang="zh-CN" altLang="en-US" sz="2400">
                <a:latin typeface="Arial Narrow" panose="020B0606020202030204" pitchFamily="34" charset="0"/>
              </a:rPr>
              <a:t> </a:t>
            </a:r>
            <a:r>
              <a:rPr lang="en-US" altLang="zh-CN" sz="2400">
                <a:latin typeface="Arial Narrow" panose="020B0606020202030204" pitchFamily="34" charset="0"/>
              </a:rPr>
              <a:t>x</a:t>
            </a:r>
            <a:r>
              <a:rPr lang="en-US" altLang="zh-CN" sz="2400"/>
              <a:t> </a:t>
            </a:r>
            <a:r>
              <a:rPr lang="zh-CN" altLang="en-US" sz="2400"/>
              <a:t>）， 也对应 </a:t>
            </a:r>
            <a:r>
              <a:rPr lang="en-US" altLang="zh-CN" sz="2400">
                <a:solidFill>
                  <a:srgbClr val="D60093"/>
                </a:solidFill>
                <a:latin typeface="Arial Narrow" panose="020B0606020202030204" pitchFamily="34" charset="0"/>
              </a:rPr>
              <a:t>OSRdyGrp</a:t>
            </a:r>
            <a:r>
              <a:rPr lang="en-US" altLang="zh-CN" sz="2400"/>
              <a:t> </a:t>
            </a:r>
            <a:r>
              <a:rPr lang="zh-CN" altLang="en-US" sz="2400"/>
              <a:t>的位号。</a:t>
            </a:r>
          </a:p>
          <a:p>
            <a:pPr eaLnBrk="1" hangingPunct="1">
              <a:lnSpc>
                <a:spcPct val="120000"/>
              </a:lnSpc>
              <a:spcBef>
                <a:spcPct val="50000"/>
              </a:spcBef>
              <a:buClr>
                <a:srgbClr val="0066FF"/>
              </a:buClr>
              <a:buSzPct val="50000"/>
            </a:pPr>
            <a:r>
              <a:rPr lang="en-US" altLang="zh-CN" sz="2400">
                <a:solidFill>
                  <a:srgbClr val="0000CC"/>
                </a:solidFill>
                <a:latin typeface="Arial Narrow" panose="020B0606020202030204" pitchFamily="34" charset="0"/>
              </a:rPr>
              <a:t>prio.D[2:0]</a:t>
            </a:r>
            <a:r>
              <a:rPr lang="en-US" altLang="zh-CN" sz="2400"/>
              <a:t> ---</a:t>
            </a:r>
            <a:r>
              <a:rPr lang="zh-CN" altLang="en-US" sz="2400"/>
              <a:t>对应 </a:t>
            </a:r>
            <a:r>
              <a:rPr lang="en-US" altLang="zh-CN" sz="2400">
                <a:solidFill>
                  <a:srgbClr val="0000CC"/>
                </a:solidFill>
                <a:latin typeface="Arial Narrow" panose="020B0606020202030204" pitchFamily="34" charset="0"/>
              </a:rPr>
              <a:t>OSRdyTbl</a:t>
            </a:r>
            <a:r>
              <a:rPr lang="en-US" altLang="zh-CN" sz="2400"/>
              <a:t> </a:t>
            </a:r>
            <a:r>
              <a:rPr lang="zh-CN" altLang="en-US" sz="2400"/>
              <a:t>元素的位号（任务组号 </a:t>
            </a:r>
            <a:r>
              <a:rPr lang="en-US" altLang="zh-CN" sz="2400">
                <a:latin typeface="Arial Narrow" panose="020B0606020202030204" pitchFamily="34" charset="0"/>
              </a:rPr>
              <a:t>y</a:t>
            </a:r>
            <a:r>
              <a:rPr lang="en-US" altLang="zh-CN" sz="2400"/>
              <a:t> </a:t>
            </a:r>
            <a:r>
              <a:rPr lang="zh-CN" altLang="en-US" sz="2400"/>
              <a:t>）</a:t>
            </a:r>
          </a:p>
          <a:p>
            <a:pPr eaLnBrk="1" hangingPunct="1">
              <a:lnSpc>
                <a:spcPct val="120000"/>
              </a:lnSpc>
              <a:spcBef>
                <a:spcPct val="50000"/>
              </a:spcBef>
              <a:buClr>
                <a:srgbClr val="0066FF"/>
              </a:buClr>
              <a:buSzPct val="50000"/>
              <a:buFont typeface="Wingdings" panose="05000000000000000000" pitchFamily="2" charset="2"/>
              <a:buNone/>
            </a:pPr>
            <a:r>
              <a:rPr lang="zh-CN" altLang="en-US" sz="2400">
                <a:latin typeface="Arial Narrow" panose="020B0606020202030204" pitchFamily="34" charset="0"/>
              </a:rPr>
              <a:t>备注：这就是 </a:t>
            </a:r>
            <a:r>
              <a:rPr lang="en-US" altLang="zh-CN" sz="2400">
                <a:latin typeface="Arial Narrow" panose="020B0606020202030204" pitchFamily="34" charset="0"/>
              </a:rPr>
              <a:t>prio </a:t>
            </a:r>
            <a:r>
              <a:rPr lang="zh-CN" altLang="en-US" sz="2400"/>
              <a:t>的值和任务就绪表的映射关系。</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1">
            <a:extLst>
              <a:ext uri="{FF2B5EF4-FFF2-40B4-BE49-F238E27FC236}">
                <a16:creationId xmlns:a16="http://schemas.microsoft.com/office/drawing/2014/main" id="{008ED461-AA5D-0D3E-4517-A9AFFC60149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8131" name="灯片编号占位符 2">
            <a:extLst>
              <a:ext uri="{FF2B5EF4-FFF2-40B4-BE49-F238E27FC236}">
                <a16:creationId xmlns:a16="http://schemas.microsoft.com/office/drawing/2014/main" id="{42BB0F20-F34D-47C1-BDD0-BC38155ACAD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FD05FA6-B30E-4976-A9D6-CE75325A1209}" type="slidenum">
              <a:rPr lang="en-US" altLang="zh-CN" sz="1200" smtClean="0">
                <a:solidFill>
                  <a:srgbClr val="3366FF"/>
                </a:solidFill>
                <a:latin typeface="Arial Black" panose="020B0A04020102020204" pitchFamily="34" charset="0"/>
              </a:rPr>
              <a:pPr>
                <a:spcBef>
                  <a:spcPct val="0"/>
                </a:spcBef>
                <a:buClrTx/>
                <a:buSzTx/>
                <a:buFontTx/>
                <a:buNone/>
              </a:pPr>
              <a:t>44</a:t>
            </a:fld>
            <a:endParaRPr lang="en-US" altLang="zh-CN" sz="1200">
              <a:solidFill>
                <a:srgbClr val="3366FF"/>
              </a:solidFill>
              <a:latin typeface="Arial Black" panose="020B0A04020102020204" pitchFamily="34" charset="0"/>
            </a:endParaRPr>
          </a:p>
        </p:txBody>
      </p:sp>
      <p:sp>
        <p:nvSpPr>
          <p:cNvPr id="48132" name="日期占位符 3">
            <a:extLst>
              <a:ext uri="{FF2B5EF4-FFF2-40B4-BE49-F238E27FC236}">
                <a16:creationId xmlns:a16="http://schemas.microsoft.com/office/drawing/2014/main" id="{F4C08E97-2E4C-60F3-E4E3-5DD3EDE9394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5E58852-92F1-4AE2-A4AE-4492BB65638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8133" name="Text Box 63" descr="羊皮纸">
            <a:extLst>
              <a:ext uri="{FF2B5EF4-FFF2-40B4-BE49-F238E27FC236}">
                <a16:creationId xmlns:a16="http://schemas.microsoft.com/office/drawing/2014/main" id="{DA102809-4514-1097-694F-30B7BD316E2D}"/>
              </a:ext>
            </a:extLst>
          </p:cNvPr>
          <p:cNvSpPr txBox="1">
            <a:spLocks noChangeArrowheads="1"/>
          </p:cNvSpPr>
          <p:nvPr/>
        </p:nvSpPr>
        <p:spPr bwMode="auto">
          <a:xfrm>
            <a:off x="541338" y="692150"/>
            <a:ext cx="8062912" cy="1160463"/>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t>举例：</a:t>
            </a:r>
            <a:r>
              <a:rPr lang="en-US" altLang="zh-CN" sz="2800"/>
              <a:t>prio = 29 </a:t>
            </a:r>
            <a:r>
              <a:rPr lang="zh-CN" altLang="en-US" sz="2800"/>
              <a:t>的任务在任务就续表中的表示。</a:t>
            </a:r>
          </a:p>
          <a:p>
            <a:pPr algn="ctr" eaLnBrk="1" hangingPunct="1">
              <a:spcBef>
                <a:spcPct val="50000"/>
              </a:spcBef>
              <a:buClrTx/>
              <a:buSzTx/>
              <a:buFontTx/>
              <a:buNone/>
            </a:pPr>
            <a:r>
              <a:rPr lang="en-US" altLang="zh-CN" sz="2800"/>
              <a:t>prio = 29  </a:t>
            </a:r>
            <a:r>
              <a:rPr lang="zh-CN" altLang="en-US" sz="2800"/>
              <a:t>， 其 </a:t>
            </a:r>
            <a:r>
              <a:rPr lang="en-US" altLang="zh-CN" sz="2800"/>
              <a:t>8 </a:t>
            </a:r>
            <a:r>
              <a:rPr lang="zh-CN" altLang="en-US" sz="2800"/>
              <a:t>进制表示为：</a:t>
            </a:r>
            <a:r>
              <a:rPr lang="en-US" altLang="zh-CN" sz="2800"/>
              <a:t>35 O</a:t>
            </a:r>
          </a:p>
        </p:txBody>
      </p:sp>
      <p:grpSp>
        <p:nvGrpSpPr>
          <p:cNvPr id="2" name="Group 71">
            <a:extLst>
              <a:ext uri="{FF2B5EF4-FFF2-40B4-BE49-F238E27FC236}">
                <a16:creationId xmlns:a16="http://schemas.microsoft.com/office/drawing/2014/main" id="{FF454D4C-BD7C-5866-879F-26AC6FBDA50B}"/>
              </a:ext>
            </a:extLst>
          </p:cNvPr>
          <p:cNvGrpSpPr>
            <a:grpSpLocks/>
          </p:cNvGrpSpPr>
          <p:nvPr/>
        </p:nvGrpSpPr>
        <p:grpSpPr bwMode="auto">
          <a:xfrm>
            <a:off x="155575" y="2349500"/>
            <a:ext cx="8737600" cy="3978275"/>
            <a:chOff x="48" y="1468"/>
            <a:chExt cx="5504" cy="2506"/>
          </a:xfrm>
        </p:grpSpPr>
        <p:sp>
          <p:nvSpPr>
            <p:cNvPr id="48135" name="Rectangle 2">
              <a:extLst>
                <a:ext uri="{FF2B5EF4-FFF2-40B4-BE49-F238E27FC236}">
                  <a16:creationId xmlns:a16="http://schemas.microsoft.com/office/drawing/2014/main" id="{60EE3AE7-CCB2-04F4-A3B9-FA4C02BCECC9}"/>
                </a:ext>
              </a:extLst>
            </p:cNvPr>
            <p:cNvSpPr>
              <a:spLocks noChangeArrowheads="1"/>
            </p:cNvSpPr>
            <p:nvPr/>
          </p:nvSpPr>
          <p:spPr bwMode="auto">
            <a:xfrm>
              <a:off x="1548" y="1708"/>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8136" name="Line 3">
              <a:extLst>
                <a:ext uri="{FF2B5EF4-FFF2-40B4-BE49-F238E27FC236}">
                  <a16:creationId xmlns:a16="http://schemas.microsoft.com/office/drawing/2014/main" id="{C1442532-0398-7650-4BC7-DD68AFF7C28F}"/>
                </a:ext>
              </a:extLst>
            </p:cNvPr>
            <p:cNvSpPr>
              <a:spLocks noChangeShapeType="1"/>
            </p:cNvSpPr>
            <p:nvPr/>
          </p:nvSpPr>
          <p:spPr bwMode="auto">
            <a:xfrm>
              <a:off x="1884"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7" name="Line 4">
              <a:extLst>
                <a:ext uri="{FF2B5EF4-FFF2-40B4-BE49-F238E27FC236}">
                  <a16:creationId xmlns:a16="http://schemas.microsoft.com/office/drawing/2014/main" id="{A03344D9-ECF7-CDA8-DCED-6785FB1899F1}"/>
                </a:ext>
              </a:extLst>
            </p:cNvPr>
            <p:cNvSpPr>
              <a:spLocks noChangeShapeType="1"/>
            </p:cNvSpPr>
            <p:nvPr/>
          </p:nvSpPr>
          <p:spPr bwMode="auto">
            <a:xfrm>
              <a:off x="2220"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8" name="Line 5">
              <a:extLst>
                <a:ext uri="{FF2B5EF4-FFF2-40B4-BE49-F238E27FC236}">
                  <a16:creationId xmlns:a16="http://schemas.microsoft.com/office/drawing/2014/main" id="{24FB0AEA-586C-08CB-0067-6610B8D69E6D}"/>
                </a:ext>
              </a:extLst>
            </p:cNvPr>
            <p:cNvSpPr>
              <a:spLocks noChangeShapeType="1"/>
            </p:cNvSpPr>
            <p:nvPr/>
          </p:nvSpPr>
          <p:spPr bwMode="auto">
            <a:xfrm>
              <a:off x="2556"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9" name="Line 6">
              <a:extLst>
                <a:ext uri="{FF2B5EF4-FFF2-40B4-BE49-F238E27FC236}">
                  <a16:creationId xmlns:a16="http://schemas.microsoft.com/office/drawing/2014/main" id="{553BD42C-8B6C-EA9C-416C-D1D46DD82F4D}"/>
                </a:ext>
              </a:extLst>
            </p:cNvPr>
            <p:cNvSpPr>
              <a:spLocks noChangeShapeType="1"/>
            </p:cNvSpPr>
            <p:nvPr/>
          </p:nvSpPr>
          <p:spPr bwMode="auto">
            <a:xfrm>
              <a:off x="2892"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0" name="Line 7">
              <a:extLst>
                <a:ext uri="{FF2B5EF4-FFF2-40B4-BE49-F238E27FC236}">
                  <a16:creationId xmlns:a16="http://schemas.microsoft.com/office/drawing/2014/main" id="{E2C5C6B2-4FF4-4099-A344-3026D4478AE6}"/>
                </a:ext>
              </a:extLst>
            </p:cNvPr>
            <p:cNvSpPr>
              <a:spLocks noChangeShapeType="1"/>
            </p:cNvSpPr>
            <p:nvPr/>
          </p:nvSpPr>
          <p:spPr bwMode="auto">
            <a:xfrm>
              <a:off x="3228"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1" name="Line 8">
              <a:extLst>
                <a:ext uri="{FF2B5EF4-FFF2-40B4-BE49-F238E27FC236}">
                  <a16:creationId xmlns:a16="http://schemas.microsoft.com/office/drawing/2014/main" id="{266F479B-0CBA-01A2-3968-3C97F52D6E96}"/>
                </a:ext>
              </a:extLst>
            </p:cNvPr>
            <p:cNvSpPr>
              <a:spLocks noChangeShapeType="1"/>
            </p:cNvSpPr>
            <p:nvPr/>
          </p:nvSpPr>
          <p:spPr bwMode="auto">
            <a:xfrm>
              <a:off x="3564"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2" name="Line 9">
              <a:extLst>
                <a:ext uri="{FF2B5EF4-FFF2-40B4-BE49-F238E27FC236}">
                  <a16:creationId xmlns:a16="http://schemas.microsoft.com/office/drawing/2014/main" id="{78E9CDA7-EF35-9B9C-57BD-202DE0A1649E}"/>
                </a:ext>
              </a:extLst>
            </p:cNvPr>
            <p:cNvSpPr>
              <a:spLocks noChangeShapeType="1"/>
            </p:cNvSpPr>
            <p:nvPr/>
          </p:nvSpPr>
          <p:spPr bwMode="auto">
            <a:xfrm>
              <a:off x="3900" y="17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3" name="Text Box 10">
              <a:extLst>
                <a:ext uri="{FF2B5EF4-FFF2-40B4-BE49-F238E27FC236}">
                  <a16:creationId xmlns:a16="http://schemas.microsoft.com/office/drawing/2014/main" id="{9E65381F-7C12-7B3E-5BAA-6BCF2BE43589}"/>
                </a:ext>
              </a:extLst>
            </p:cNvPr>
            <p:cNvSpPr txBox="1">
              <a:spLocks noChangeArrowheads="1"/>
            </p:cNvSpPr>
            <p:nvPr/>
          </p:nvSpPr>
          <p:spPr bwMode="auto">
            <a:xfrm>
              <a:off x="612" y="2764"/>
              <a:ext cx="8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D60093"/>
                  </a:solidFill>
                  <a:latin typeface="Times New Roman" panose="02020603050405020304" pitchFamily="18" charset="0"/>
                </a:rPr>
                <a:t>OSRdyGrp</a:t>
              </a:r>
              <a:r>
                <a:rPr kumimoji="1" lang="en-US" altLang="zh-CN" sz="2400" b="0">
                  <a:latin typeface="Times New Roman" panose="02020603050405020304" pitchFamily="18" charset="0"/>
                </a:rPr>
                <a:t> </a:t>
              </a:r>
            </a:p>
          </p:txBody>
        </p:sp>
        <p:sp>
          <p:nvSpPr>
            <p:cNvPr id="48144" name="Text Box 11">
              <a:extLst>
                <a:ext uri="{FF2B5EF4-FFF2-40B4-BE49-F238E27FC236}">
                  <a16:creationId xmlns:a16="http://schemas.microsoft.com/office/drawing/2014/main" id="{F8D72380-C93B-DB97-F577-33638B53030D}"/>
                </a:ext>
              </a:extLst>
            </p:cNvPr>
            <p:cNvSpPr txBox="1">
              <a:spLocks noChangeArrowheads="1"/>
            </p:cNvSpPr>
            <p:nvPr/>
          </p:nvSpPr>
          <p:spPr bwMode="auto">
            <a:xfrm>
              <a:off x="1612" y="1468"/>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48145" name="Text Box 12">
              <a:extLst>
                <a:ext uri="{FF2B5EF4-FFF2-40B4-BE49-F238E27FC236}">
                  <a16:creationId xmlns:a16="http://schemas.microsoft.com/office/drawing/2014/main" id="{94B60B75-BCAC-7E96-D5AD-BD007A8AEE79}"/>
                </a:ext>
              </a:extLst>
            </p:cNvPr>
            <p:cNvSpPr txBox="1">
              <a:spLocks noChangeArrowheads="1"/>
            </p:cNvSpPr>
            <p:nvPr/>
          </p:nvSpPr>
          <p:spPr bwMode="auto">
            <a:xfrm>
              <a:off x="2620"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D60093"/>
                  </a:solidFill>
                  <a:latin typeface="Times New Roman" panose="02020603050405020304" pitchFamily="18" charset="0"/>
                </a:rPr>
                <a:t>1</a:t>
              </a:r>
              <a:endParaRPr kumimoji="1" lang="en-US" altLang="zh-CN" sz="2400" b="0">
                <a:solidFill>
                  <a:srgbClr val="D60093"/>
                </a:solidFill>
                <a:latin typeface="Times New Roman" panose="02020603050405020304" pitchFamily="18" charset="0"/>
              </a:endParaRPr>
            </a:p>
          </p:txBody>
        </p:sp>
        <p:sp>
          <p:nvSpPr>
            <p:cNvPr id="48146" name="Text Box 13">
              <a:extLst>
                <a:ext uri="{FF2B5EF4-FFF2-40B4-BE49-F238E27FC236}">
                  <a16:creationId xmlns:a16="http://schemas.microsoft.com/office/drawing/2014/main" id="{9A864AC1-984B-0E6D-7459-1BE11181B718}"/>
                </a:ext>
              </a:extLst>
            </p:cNvPr>
            <p:cNvSpPr txBox="1">
              <a:spLocks noChangeArrowheads="1"/>
            </p:cNvSpPr>
            <p:nvPr/>
          </p:nvSpPr>
          <p:spPr bwMode="auto">
            <a:xfrm>
              <a:off x="3964"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00FF"/>
                  </a:solidFill>
                  <a:latin typeface="Times New Roman" panose="02020603050405020304" pitchFamily="18" charset="0"/>
                </a:rPr>
                <a:t>1</a:t>
              </a:r>
              <a:endParaRPr kumimoji="1" lang="en-US" altLang="zh-CN" sz="2400" b="0">
                <a:solidFill>
                  <a:srgbClr val="0000FF"/>
                </a:solidFill>
                <a:latin typeface="Times New Roman" panose="02020603050405020304" pitchFamily="18" charset="0"/>
              </a:endParaRPr>
            </a:p>
          </p:txBody>
        </p:sp>
        <p:sp>
          <p:nvSpPr>
            <p:cNvPr id="48147" name="Text Box 14">
              <a:extLst>
                <a:ext uri="{FF2B5EF4-FFF2-40B4-BE49-F238E27FC236}">
                  <a16:creationId xmlns:a16="http://schemas.microsoft.com/office/drawing/2014/main" id="{8F8A32A6-3575-DA40-E695-D16CC483D489}"/>
                </a:ext>
              </a:extLst>
            </p:cNvPr>
            <p:cNvSpPr txBox="1">
              <a:spLocks noChangeArrowheads="1"/>
            </p:cNvSpPr>
            <p:nvPr/>
          </p:nvSpPr>
          <p:spPr bwMode="auto">
            <a:xfrm>
              <a:off x="2956"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D60093"/>
                  </a:solidFill>
                  <a:latin typeface="Times New Roman" panose="02020603050405020304" pitchFamily="18" charset="0"/>
                </a:rPr>
                <a:t>1</a:t>
              </a:r>
              <a:endParaRPr kumimoji="1" lang="en-US" altLang="zh-CN" sz="2400" b="0">
                <a:solidFill>
                  <a:srgbClr val="D60093"/>
                </a:solidFill>
                <a:latin typeface="Times New Roman" panose="02020603050405020304" pitchFamily="18" charset="0"/>
              </a:endParaRPr>
            </a:p>
          </p:txBody>
        </p:sp>
        <p:sp>
          <p:nvSpPr>
            <p:cNvPr id="48148" name="Text Box 15">
              <a:extLst>
                <a:ext uri="{FF2B5EF4-FFF2-40B4-BE49-F238E27FC236}">
                  <a16:creationId xmlns:a16="http://schemas.microsoft.com/office/drawing/2014/main" id="{5E88D93E-2D45-6FAA-0CD8-9CBD054D800B}"/>
                </a:ext>
              </a:extLst>
            </p:cNvPr>
            <p:cNvSpPr txBox="1">
              <a:spLocks noChangeArrowheads="1"/>
            </p:cNvSpPr>
            <p:nvPr/>
          </p:nvSpPr>
          <p:spPr bwMode="auto">
            <a:xfrm>
              <a:off x="3292"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00FF"/>
                  </a:solidFill>
                  <a:latin typeface="Times New Roman" panose="02020603050405020304" pitchFamily="18" charset="0"/>
                </a:rPr>
                <a:t>1</a:t>
              </a:r>
              <a:endParaRPr kumimoji="1" lang="en-US" altLang="zh-CN" sz="2400" b="0">
                <a:solidFill>
                  <a:srgbClr val="0000FF"/>
                </a:solidFill>
                <a:latin typeface="Times New Roman" panose="02020603050405020304" pitchFamily="18" charset="0"/>
              </a:endParaRPr>
            </a:p>
          </p:txBody>
        </p:sp>
        <p:sp>
          <p:nvSpPr>
            <p:cNvPr id="48149" name="Text Box 16">
              <a:extLst>
                <a:ext uri="{FF2B5EF4-FFF2-40B4-BE49-F238E27FC236}">
                  <a16:creationId xmlns:a16="http://schemas.microsoft.com/office/drawing/2014/main" id="{DF7E5EE9-9E72-21A1-DC18-DD3275AE1C9C}"/>
                </a:ext>
              </a:extLst>
            </p:cNvPr>
            <p:cNvSpPr txBox="1">
              <a:spLocks noChangeArrowheads="1"/>
            </p:cNvSpPr>
            <p:nvPr/>
          </p:nvSpPr>
          <p:spPr bwMode="auto">
            <a:xfrm>
              <a:off x="2284"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D60093"/>
                  </a:solidFill>
                  <a:latin typeface="Times New Roman" panose="02020603050405020304" pitchFamily="18" charset="0"/>
                </a:rPr>
                <a:t>0</a:t>
              </a:r>
              <a:endParaRPr kumimoji="1" lang="en-US" altLang="zh-CN" sz="2400" b="0">
                <a:solidFill>
                  <a:srgbClr val="D60093"/>
                </a:solidFill>
                <a:latin typeface="Times New Roman" panose="02020603050405020304" pitchFamily="18" charset="0"/>
              </a:endParaRPr>
            </a:p>
          </p:txBody>
        </p:sp>
        <p:sp>
          <p:nvSpPr>
            <p:cNvPr id="48150" name="Text Box 17">
              <a:extLst>
                <a:ext uri="{FF2B5EF4-FFF2-40B4-BE49-F238E27FC236}">
                  <a16:creationId xmlns:a16="http://schemas.microsoft.com/office/drawing/2014/main" id="{65F5A6AE-3C94-E4BC-246A-BCB735B7A0AE}"/>
                </a:ext>
              </a:extLst>
            </p:cNvPr>
            <p:cNvSpPr txBox="1">
              <a:spLocks noChangeArrowheads="1"/>
            </p:cNvSpPr>
            <p:nvPr/>
          </p:nvSpPr>
          <p:spPr bwMode="auto">
            <a:xfrm>
              <a:off x="3628"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00FF"/>
                  </a:solidFill>
                  <a:latin typeface="Times New Roman" panose="02020603050405020304" pitchFamily="18" charset="0"/>
                </a:rPr>
                <a:t>0</a:t>
              </a:r>
              <a:endParaRPr kumimoji="1" lang="en-US" altLang="zh-CN" sz="2400" b="0">
                <a:solidFill>
                  <a:srgbClr val="0000FF"/>
                </a:solidFill>
                <a:latin typeface="Times New Roman" panose="02020603050405020304" pitchFamily="18" charset="0"/>
              </a:endParaRPr>
            </a:p>
          </p:txBody>
        </p:sp>
        <p:sp>
          <p:nvSpPr>
            <p:cNvPr id="48151" name="Text Box 18">
              <a:extLst>
                <a:ext uri="{FF2B5EF4-FFF2-40B4-BE49-F238E27FC236}">
                  <a16:creationId xmlns:a16="http://schemas.microsoft.com/office/drawing/2014/main" id="{01B4EF0D-5FDE-2580-C7D3-DB3A809A9D99}"/>
                </a:ext>
              </a:extLst>
            </p:cNvPr>
            <p:cNvSpPr txBox="1">
              <a:spLocks noChangeArrowheads="1"/>
            </p:cNvSpPr>
            <p:nvPr/>
          </p:nvSpPr>
          <p:spPr bwMode="auto">
            <a:xfrm>
              <a:off x="1612"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48152" name="Text Box 19">
              <a:extLst>
                <a:ext uri="{FF2B5EF4-FFF2-40B4-BE49-F238E27FC236}">
                  <a16:creationId xmlns:a16="http://schemas.microsoft.com/office/drawing/2014/main" id="{5CAF2910-EAE5-0893-47CA-A461F5582008}"/>
                </a:ext>
              </a:extLst>
            </p:cNvPr>
            <p:cNvSpPr txBox="1">
              <a:spLocks noChangeArrowheads="1"/>
            </p:cNvSpPr>
            <p:nvPr/>
          </p:nvSpPr>
          <p:spPr bwMode="auto">
            <a:xfrm>
              <a:off x="1948" y="17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48153" name="Text Box 20">
              <a:extLst>
                <a:ext uri="{FF2B5EF4-FFF2-40B4-BE49-F238E27FC236}">
                  <a16:creationId xmlns:a16="http://schemas.microsoft.com/office/drawing/2014/main" id="{E71E3C3C-130A-BEBB-CF5D-3BF8596A1CF5}"/>
                </a:ext>
              </a:extLst>
            </p:cNvPr>
            <p:cNvSpPr txBox="1">
              <a:spLocks noChangeArrowheads="1"/>
            </p:cNvSpPr>
            <p:nvPr/>
          </p:nvSpPr>
          <p:spPr bwMode="auto">
            <a:xfrm>
              <a:off x="892" y="1756"/>
              <a:ext cx="6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solidFill>
                    <a:srgbClr val="660066"/>
                  </a:solidFill>
                  <a:latin typeface="Times New Roman" panose="02020603050405020304" pitchFamily="18" charset="0"/>
                </a:rPr>
                <a:t>prio=29</a:t>
              </a:r>
            </a:p>
          </p:txBody>
        </p:sp>
        <p:sp>
          <p:nvSpPr>
            <p:cNvPr id="48154" name="Rectangle 21">
              <a:extLst>
                <a:ext uri="{FF2B5EF4-FFF2-40B4-BE49-F238E27FC236}">
                  <a16:creationId xmlns:a16="http://schemas.microsoft.com/office/drawing/2014/main" id="{1213D1EA-4B92-AA11-5799-68B033041D4F}"/>
                </a:ext>
              </a:extLst>
            </p:cNvPr>
            <p:cNvSpPr>
              <a:spLocks noChangeArrowheads="1"/>
            </p:cNvSpPr>
            <p:nvPr/>
          </p:nvSpPr>
          <p:spPr bwMode="auto">
            <a:xfrm>
              <a:off x="48" y="3244"/>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8155" name="Line 22">
              <a:extLst>
                <a:ext uri="{FF2B5EF4-FFF2-40B4-BE49-F238E27FC236}">
                  <a16:creationId xmlns:a16="http://schemas.microsoft.com/office/drawing/2014/main" id="{85112B91-FEED-5FC0-692F-791FD30F55DF}"/>
                </a:ext>
              </a:extLst>
            </p:cNvPr>
            <p:cNvSpPr>
              <a:spLocks noChangeShapeType="1"/>
            </p:cNvSpPr>
            <p:nvPr/>
          </p:nvSpPr>
          <p:spPr bwMode="auto">
            <a:xfrm>
              <a:off x="384"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6" name="Line 23">
              <a:extLst>
                <a:ext uri="{FF2B5EF4-FFF2-40B4-BE49-F238E27FC236}">
                  <a16:creationId xmlns:a16="http://schemas.microsoft.com/office/drawing/2014/main" id="{F7AD7AEC-DE45-F1F0-F6A8-36B1180BF799}"/>
                </a:ext>
              </a:extLst>
            </p:cNvPr>
            <p:cNvSpPr>
              <a:spLocks noChangeShapeType="1"/>
            </p:cNvSpPr>
            <p:nvPr/>
          </p:nvSpPr>
          <p:spPr bwMode="auto">
            <a:xfrm>
              <a:off x="720"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7" name="Line 24">
              <a:extLst>
                <a:ext uri="{FF2B5EF4-FFF2-40B4-BE49-F238E27FC236}">
                  <a16:creationId xmlns:a16="http://schemas.microsoft.com/office/drawing/2014/main" id="{C3737614-87B7-3667-9F83-F4D091947C29}"/>
                </a:ext>
              </a:extLst>
            </p:cNvPr>
            <p:cNvSpPr>
              <a:spLocks noChangeShapeType="1"/>
            </p:cNvSpPr>
            <p:nvPr/>
          </p:nvSpPr>
          <p:spPr bwMode="auto">
            <a:xfrm>
              <a:off x="1056"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8" name="Line 25">
              <a:extLst>
                <a:ext uri="{FF2B5EF4-FFF2-40B4-BE49-F238E27FC236}">
                  <a16:creationId xmlns:a16="http://schemas.microsoft.com/office/drawing/2014/main" id="{E52A6043-1BD7-574B-47B7-517C180E1146}"/>
                </a:ext>
              </a:extLst>
            </p:cNvPr>
            <p:cNvSpPr>
              <a:spLocks noChangeShapeType="1"/>
            </p:cNvSpPr>
            <p:nvPr/>
          </p:nvSpPr>
          <p:spPr bwMode="auto">
            <a:xfrm>
              <a:off x="1392"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9" name="Line 26">
              <a:extLst>
                <a:ext uri="{FF2B5EF4-FFF2-40B4-BE49-F238E27FC236}">
                  <a16:creationId xmlns:a16="http://schemas.microsoft.com/office/drawing/2014/main" id="{FCFAA6A8-1306-F588-8596-B838A9604DE3}"/>
                </a:ext>
              </a:extLst>
            </p:cNvPr>
            <p:cNvSpPr>
              <a:spLocks noChangeShapeType="1"/>
            </p:cNvSpPr>
            <p:nvPr/>
          </p:nvSpPr>
          <p:spPr bwMode="auto">
            <a:xfrm>
              <a:off x="1728"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0" name="Line 27">
              <a:extLst>
                <a:ext uri="{FF2B5EF4-FFF2-40B4-BE49-F238E27FC236}">
                  <a16:creationId xmlns:a16="http://schemas.microsoft.com/office/drawing/2014/main" id="{302514F2-09E5-CFD7-4A8D-FC2C34743992}"/>
                </a:ext>
              </a:extLst>
            </p:cNvPr>
            <p:cNvSpPr>
              <a:spLocks noChangeShapeType="1"/>
            </p:cNvSpPr>
            <p:nvPr/>
          </p:nvSpPr>
          <p:spPr bwMode="auto">
            <a:xfrm>
              <a:off x="2064"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1" name="Line 28">
              <a:extLst>
                <a:ext uri="{FF2B5EF4-FFF2-40B4-BE49-F238E27FC236}">
                  <a16:creationId xmlns:a16="http://schemas.microsoft.com/office/drawing/2014/main" id="{0E40E646-240F-AB81-DE27-656F7284C5A1}"/>
                </a:ext>
              </a:extLst>
            </p:cNvPr>
            <p:cNvSpPr>
              <a:spLocks noChangeShapeType="1"/>
            </p:cNvSpPr>
            <p:nvPr/>
          </p:nvSpPr>
          <p:spPr bwMode="auto">
            <a:xfrm>
              <a:off x="2400"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2" name="Text Box 29">
              <a:extLst>
                <a:ext uri="{FF2B5EF4-FFF2-40B4-BE49-F238E27FC236}">
                  <a16:creationId xmlns:a16="http://schemas.microsoft.com/office/drawing/2014/main" id="{5FD5A746-6382-3158-DADB-B0E1CED835B4}"/>
                </a:ext>
              </a:extLst>
            </p:cNvPr>
            <p:cNvSpPr txBox="1">
              <a:spLocks noChangeArrowheads="1"/>
            </p:cNvSpPr>
            <p:nvPr/>
          </p:nvSpPr>
          <p:spPr bwMode="auto">
            <a:xfrm>
              <a:off x="96" y="3004"/>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48163" name="Text Box 30">
              <a:extLst>
                <a:ext uri="{FF2B5EF4-FFF2-40B4-BE49-F238E27FC236}">
                  <a16:creationId xmlns:a16="http://schemas.microsoft.com/office/drawing/2014/main" id="{5025BAF2-354A-AB04-4BE0-93249E060DA3}"/>
                </a:ext>
              </a:extLst>
            </p:cNvPr>
            <p:cNvSpPr txBox="1">
              <a:spLocks noChangeArrowheads="1"/>
            </p:cNvSpPr>
            <p:nvPr/>
          </p:nvSpPr>
          <p:spPr bwMode="auto">
            <a:xfrm>
              <a:off x="1456" y="329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solidFill>
                    <a:srgbClr val="CC0066"/>
                  </a:solidFill>
                  <a:latin typeface="Times New Roman" panose="02020603050405020304" pitchFamily="18" charset="0"/>
                </a:rPr>
                <a:t>1</a:t>
              </a:r>
              <a:endParaRPr kumimoji="1" lang="en-US" altLang="zh-CN" sz="2400">
                <a:solidFill>
                  <a:srgbClr val="CC0066"/>
                </a:solidFill>
                <a:latin typeface="Times New Roman" panose="02020603050405020304" pitchFamily="18" charset="0"/>
              </a:endParaRPr>
            </a:p>
          </p:txBody>
        </p:sp>
        <p:sp>
          <p:nvSpPr>
            <p:cNvPr id="48164" name="Rectangle 31">
              <a:extLst>
                <a:ext uri="{FF2B5EF4-FFF2-40B4-BE49-F238E27FC236}">
                  <a16:creationId xmlns:a16="http://schemas.microsoft.com/office/drawing/2014/main" id="{4DA0F52F-E473-0209-0D43-BECE4EF27220}"/>
                </a:ext>
              </a:extLst>
            </p:cNvPr>
            <p:cNvSpPr>
              <a:spLocks noChangeArrowheads="1"/>
            </p:cNvSpPr>
            <p:nvPr/>
          </p:nvSpPr>
          <p:spPr bwMode="auto">
            <a:xfrm>
              <a:off x="2864" y="3244"/>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8165" name="Line 32">
              <a:extLst>
                <a:ext uri="{FF2B5EF4-FFF2-40B4-BE49-F238E27FC236}">
                  <a16:creationId xmlns:a16="http://schemas.microsoft.com/office/drawing/2014/main" id="{D9B77D7C-541D-4F9B-F85E-130EF8CE716D}"/>
                </a:ext>
              </a:extLst>
            </p:cNvPr>
            <p:cNvSpPr>
              <a:spLocks noChangeShapeType="1"/>
            </p:cNvSpPr>
            <p:nvPr/>
          </p:nvSpPr>
          <p:spPr bwMode="auto">
            <a:xfrm>
              <a:off x="3200"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6" name="Line 33">
              <a:extLst>
                <a:ext uri="{FF2B5EF4-FFF2-40B4-BE49-F238E27FC236}">
                  <a16:creationId xmlns:a16="http://schemas.microsoft.com/office/drawing/2014/main" id="{68737A85-20FC-2CF0-8CBB-A0225ABF2F56}"/>
                </a:ext>
              </a:extLst>
            </p:cNvPr>
            <p:cNvSpPr>
              <a:spLocks noChangeShapeType="1"/>
            </p:cNvSpPr>
            <p:nvPr/>
          </p:nvSpPr>
          <p:spPr bwMode="auto">
            <a:xfrm>
              <a:off x="3536"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7" name="Line 34">
              <a:extLst>
                <a:ext uri="{FF2B5EF4-FFF2-40B4-BE49-F238E27FC236}">
                  <a16:creationId xmlns:a16="http://schemas.microsoft.com/office/drawing/2014/main" id="{B822ADCB-AEB2-20BC-CC4E-666E7C6A7D97}"/>
                </a:ext>
              </a:extLst>
            </p:cNvPr>
            <p:cNvSpPr>
              <a:spLocks noChangeShapeType="1"/>
            </p:cNvSpPr>
            <p:nvPr/>
          </p:nvSpPr>
          <p:spPr bwMode="auto">
            <a:xfrm>
              <a:off x="3872"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8" name="Line 35">
              <a:extLst>
                <a:ext uri="{FF2B5EF4-FFF2-40B4-BE49-F238E27FC236}">
                  <a16:creationId xmlns:a16="http://schemas.microsoft.com/office/drawing/2014/main" id="{DC12BD26-4AAF-927C-D9B9-73B33CC14135}"/>
                </a:ext>
              </a:extLst>
            </p:cNvPr>
            <p:cNvSpPr>
              <a:spLocks noChangeShapeType="1"/>
            </p:cNvSpPr>
            <p:nvPr/>
          </p:nvSpPr>
          <p:spPr bwMode="auto">
            <a:xfrm>
              <a:off x="4208"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9" name="Line 36">
              <a:extLst>
                <a:ext uri="{FF2B5EF4-FFF2-40B4-BE49-F238E27FC236}">
                  <a16:creationId xmlns:a16="http://schemas.microsoft.com/office/drawing/2014/main" id="{01C99225-9C6C-D911-D7E4-8FC3A812FA7B}"/>
                </a:ext>
              </a:extLst>
            </p:cNvPr>
            <p:cNvSpPr>
              <a:spLocks noChangeShapeType="1"/>
            </p:cNvSpPr>
            <p:nvPr/>
          </p:nvSpPr>
          <p:spPr bwMode="auto">
            <a:xfrm>
              <a:off x="4544"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0" name="Line 37">
              <a:extLst>
                <a:ext uri="{FF2B5EF4-FFF2-40B4-BE49-F238E27FC236}">
                  <a16:creationId xmlns:a16="http://schemas.microsoft.com/office/drawing/2014/main" id="{080C890F-B0C6-119F-24CE-DBA48E29CC61}"/>
                </a:ext>
              </a:extLst>
            </p:cNvPr>
            <p:cNvSpPr>
              <a:spLocks noChangeShapeType="1"/>
            </p:cNvSpPr>
            <p:nvPr/>
          </p:nvSpPr>
          <p:spPr bwMode="auto">
            <a:xfrm>
              <a:off x="4880"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1" name="Line 38">
              <a:extLst>
                <a:ext uri="{FF2B5EF4-FFF2-40B4-BE49-F238E27FC236}">
                  <a16:creationId xmlns:a16="http://schemas.microsoft.com/office/drawing/2014/main" id="{1A13221C-B383-0497-8364-214679B05E74}"/>
                </a:ext>
              </a:extLst>
            </p:cNvPr>
            <p:cNvSpPr>
              <a:spLocks noChangeShapeType="1"/>
            </p:cNvSpPr>
            <p:nvPr/>
          </p:nvSpPr>
          <p:spPr bwMode="auto">
            <a:xfrm>
              <a:off x="5216" y="324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2" name="Text Box 39">
              <a:extLst>
                <a:ext uri="{FF2B5EF4-FFF2-40B4-BE49-F238E27FC236}">
                  <a16:creationId xmlns:a16="http://schemas.microsoft.com/office/drawing/2014/main" id="{07D3401B-C1F3-0925-98D1-8F0FDB050EC5}"/>
                </a:ext>
              </a:extLst>
            </p:cNvPr>
            <p:cNvSpPr txBox="1">
              <a:spLocks noChangeArrowheads="1"/>
            </p:cNvSpPr>
            <p:nvPr/>
          </p:nvSpPr>
          <p:spPr bwMode="auto">
            <a:xfrm>
              <a:off x="2880" y="3004"/>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48173" name="Text Box 40">
              <a:extLst>
                <a:ext uri="{FF2B5EF4-FFF2-40B4-BE49-F238E27FC236}">
                  <a16:creationId xmlns:a16="http://schemas.microsoft.com/office/drawing/2014/main" id="{3A3D633B-6F50-739F-40EA-6A6C58D828BE}"/>
                </a:ext>
              </a:extLst>
            </p:cNvPr>
            <p:cNvSpPr txBox="1">
              <a:spLocks noChangeArrowheads="1"/>
            </p:cNvSpPr>
            <p:nvPr/>
          </p:nvSpPr>
          <p:spPr bwMode="auto">
            <a:xfrm>
              <a:off x="3600" y="329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solidFill>
                    <a:srgbClr val="0000FF"/>
                  </a:solidFill>
                  <a:latin typeface="Times New Roman" panose="02020603050405020304" pitchFamily="18" charset="0"/>
                </a:rPr>
                <a:t>1</a:t>
              </a:r>
              <a:endParaRPr kumimoji="1" lang="en-US" altLang="zh-CN" sz="2400">
                <a:solidFill>
                  <a:srgbClr val="0000FF"/>
                </a:solidFill>
                <a:latin typeface="Times New Roman" panose="02020603050405020304" pitchFamily="18" charset="0"/>
              </a:endParaRPr>
            </a:p>
          </p:txBody>
        </p:sp>
        <p:sp>
          <p:nvSpPr>
            <p:cNvPr id="48174" name="Text Box 41">
              <a:extLst>
                <a:ext uri="{FF2B5EF4-FFF2-40B4-BE49-F238E27FC236}">
                  <a16:creationId xmlns:a16="http://schemas.microsoft.com/office/drawing/2014/main" id="{135127A1-9EFA-2C1E-3204-780ED7ED578F}"/>
                </a:ext>
              </a:extLst>
            </p:cNvPr>
            <p:cNvSpPr txBox="1">
              <a:spLocks noChangeArrowheads="1"/>
            </p:cNvSpPr>
            <p:nvPr/>
          </p:nvSpPr>
          <p:spPr bwMode="auto">
            <a:xfrm>
              <a:off x="2544" y="2812"/>
              <a:ext cx="9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00FF"/>
                  </a:solidFill>
                  <a:latin typeface="Times New Roman" panose="02020603050405020304" pitchFamily="18" charset="0"/>
                </a:rPr>
                <a:t>OSRdyTbl[</a:t>
              </a:r>
              <a:r>
                <a:rPr kumimoji="1" lang="en-US" altLang="zh-CN" sz="2000">
                  <a:solidFill>
                    <a:srgbClr val="FF0000"/>
                  </a:solidFill>
                  <a:latin typeface="Times New Roman" panose="02020603050405020304" pitchFamily="18" charset="0"/>
                </a:rPr>
                <a:t>3</a:t>
              </a:r>
              <a:r>
                <a:rPr kumimoji="1" lang="en-US" altLang="zh-CN" sz="2000" b="0">
                  <a:solidFill>
                    <a:srgbClr val="0000FF"/>
                  </a:solidFill>
                  <a:latin typeface="Times New Roman" panose="02020603050405020304" pitchFamily="18" charset="0"/>
                </a:rPr>
                <a:t>]</a:t>
              </a:r>
            </a:p>
          </p:txBody>
        </p:sp>
        <p:sp>
          <p:nvSpPr>
            <p:cNvPr id="48175" name="AutoShape 42">
              <a:extLst>
                <a:ext uri="{FF2B5EF4-FFF2-40B4-BE49-F238E27FC236}">
                  <a16:creationId xmlns:a16="http://schemas.microsoft.com/office/drawing/2014/main" id="{55053430-7B67-C54B-5723-7C560EB3641C}"/>
                </a:ext>
              </a:extLst>
            </p:cNvPr>
            <p:cNvSpPr>
              <a:spLocks/>
            </p:cNvSpPr>
            <p:nvPr/>
          </p:nvSpPr>
          <p:spPr bwMode="auto">
            <a:xfrm rot="5400000">
              <a:off x="2596" y="1732"/>
              <a:ext cx="240" cy="960"/>
            </a:xfrm>
            <a:prstGeom prst="rightBrace">
              <a:avLst>
                <a:gd name="adj1" fmla="val 3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8176" name="AutoShape 43">
              <a:extLst>
                <a:ext uri="{FF2B5EF4-FFF2-40B4-BE49-F238E27FC236}">
                  <a16:creationId xmlns:a16="http://schemas.microsoft.com/office/drawing/2014/main" id="{2A861317-6C7B-34E9-4FF9-7B219B615B2F}"/>
                </a:ext>
              </a:extLst>
            </p:cNvPr>
            <p:cNvSpPr>
              <a:spLocks/>
            </p:cNvSpPr>
            <p:nvPr/>
          </p:nvSpPr>
          <p:spPr bwMode="auto">
            <a:xfrm rot="5400000">
              <a:off x="3614" y="1722"/>
              <a:ext cx="240" cy="980"/>
            </a:xfrm>
            <a:prstGeom prst="rightBrace">
              <a:avLst>
                <a:gd name="adj1" fmla="val 340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8177" name="Line 44">
              <a:extLst>
                <a:ext uri="{FF2B5EF4-FFF2-40B4-BE49-F238E27FC236}">
                  <a16:creationId xmlns:a16="http://schemas.microsoft.com/office/drawing/2014/main" id="{04E1838B-5EBF-05A6-BFDB-7E257ACFE254}"/>
                </a:ext>
              </a:extLst>
            </p:cNvPr>
            <p:cNvSpPr>
              <a:spLocks noChangeShapeType="1"/>
            </p:cNvSpPr>
            <p:nvPr/>
          </p:nvSpPr>
          <p:spPr bwMode="auto">
            <a:xfrm>
              <a:off x="2716" y="2284"/>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8" name="Line 45">
              <a:extLst>
                <a:ext uri="{FF2B5EF4-FFF2-40B4-BE49-F238E27FC236}">
                  <a16:creationId xmlns:a16="http://schemas.microsoft.com/office/drawing/2014/main" id="{3CC1DD99-BAEE-452A-6837-600DE975A02E}"/>
                </a:ext>
              </a:extLst>
            </p:cNvPr>
            <p:cNvSpPr>
              <a:spLocks noChangeShapeType="1"/>
            </p:cNvSpPr>
            <p:nvPr/>
          </p:nvSpPr>
          <p:spPr bwMode="auto">
            <a:xfrm flipH="1">
              <a:off x="1584" y="2668"/>
              <a:ext cx="17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9" name="Line 46">
              <a:extLst>
                <a:ext uri="{FF2B5EF4-FFF2-40B4-BE49-F238E27FC236}">
                  <a16:creationId xmlns:a16="http://schemas.microsoft.com/office/drawing/2014/main" id="{91B71834-AF3C-80E7-46F3-93C571FD4114}"/>
                </a:ext>
              </a:extLst>
            </p:cNvPr>
            <p:cNvSpPr>
              <a:spLocks noChangeShapeType="1"/>
            </p:cNvSpPr>
            <p:nvPr/>
          </p:nvSpPr>
          <p:spPr bwMode="auto">
            <a:xfrm>
              <a:off x="1584" y="2668"/>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0" name="Line 47">
              <a:extLst>
                <a:ext uri="{FF2B5EF4-FFF2-40B4-BE49-F238E27FC236}">
                  <a16:creationId xmlns:a16="http://schemas.microsoft.com/office/drawing/2014/main" id="{DC02038B-AC9A-46AC-5EC1-92CDBF65F9B0}"/>
                </a:ext>
              </a:extLst>
            </p:cNvPr>
            <p:cNvSpPr>
              <a:spLocks noChangeShapeType="1"/>
            </p:cNvSpPr>
            <p:nvPr/>
          </p:nvSpPr>
          <p:spPr bwMode="auto">
            <a:xfrm>
              <a:off x="3360" y="266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1" name="Line 48">
              <a:extLst>
                <a:ext uri="{FF2B5EF4-FFF2-40B4-BE49-F238E27FC236}">
                  <a16:creationId xmlns:a16="http://schemas.microsoft.com/office/drawing/2014/main" id="{5806D3A8-DEA7-75A5-B0A3-6E61DA5A82C7}"/>
                </a:ext>
              </a:extLst>
            </p:cNvPr>
            <p:cNvSpPr>
              <a:spLocks noChangeShapeType="1"/>
            </p:cNvSpPr>
            <p:nvPr/>
          </p:nvSpPr>
          <p:spPr bwMode="auto">
            <a:xfrm>
              <a:off x="3744" y="2332"/>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82" name="Text Box 49">
              <a:extLst>
                <a:ext uri="{FF2B5EF4-FFF2-40B4-BE49-F238E27FC236}">
                  <a16:creationId xmlns:a16="http://schemas.microsoft.com/office/drawing/2014/main" id="{2369B3C3-3079-C5E4-2BD9-C244987EE3E1}"/>
                </a:ext>
              </a:extLst>
            </p:cNvPr>
            <p:cNvSpPr txBox="1">
              <a:spLocks noChangeArrowheads="1"/>
            </p:cNvSpPr>
            <p:nvPr/>
          </p:nvSpPr>
          <p:spPr bwMode="auto">
            <a:xfrm>
              <a:off x="1247" y="3724"/>
              <a:ext cx="34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0000"/>
                  </a:solidFill>
                  <a:latin typeface="Times New Roman" panose="02020603050405020304" pitchFamily="18" charset="0"/>
                </a:rPr>
                <a:t>prio </a:t>
              </a:r>
              <a:r>
                <a:rPr kumimoji="1" lang="zh-CN" altLang="en-US" sz="2000" b="0">
                  <a:solidFill>
                    <a:srgbClr val="000000"/>
                  </a:solidFill>
                  <a:latin typeface="Times New Roman" panose="02020603050405020304" pitchFamily="18" charset="0"/>
                </a:rPr>
                <a:t>为</a:t>
              </a:r>
              <a:r>
                <a:rPr kumimoji="1" lang="en-US" altLang="zh-CN" sz="2000" b="0">
                  <a:solidFill>
                    <a:srgbClr val="000000"/>
                  </a:solidFill>
                  <a:latin typeface="Times New Roman" panose="02020603050405020304" pitchFamily="18" charset="0"/>
                </a:rPr>
                <a:t>29</a:t>
              </a:r>
              <a:r>
                <a:rPr kumimoji="1" lang="zh-CN" altLang="en-US" sz="2000" b="0">
                  <a:solidFill>
                    <a:srgbClr val="000000"/>
                  </a:solidFill>
                  <a:latin typeface="Times New Roman" panose="02020603050405020304" pitchFamily="18" charset="0"/>
                </a:rPr>
                <a:t>的任务就绪状态在任务就绪表中的表示</a:t>
              </a:r>
            </a:p>
          </p:txBody>
        </p:sp>
        <p:sp>
          <p:nvSpPr>
            <p:cNvPr id="48183" name="Text Box 50">
              <a:extLst>
                <a:ext uri="{FF2B5EF4-FFF2-40B4-BE49-F238E27FC236}">
                  <a16:creationId xmlns:a16="http://schemas.microsoft.com/office/drawing/2014/main" id="{4D23EE16-7B20-E6FE-D924-DC7C72FB7275}"/>
                </a:ext>
              </a:extLst>
            </p:cNvPr>
            <p:cNvSpPr txBox="1">
              <a:spLocks noChangeArrowheads="1"/>
            </p:cNvSpPr>
            <p:nvPr/>
          </p:nvSpPr>
          <p:spPr bwMode="auto">
            <a:xfrm>
              <a:off x="2736" y="228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a:solidFill>
                    <a:srgbClr val="FF0000"/>
                  </a:solidFill>
                  <a:latin typeface="Times New Roman" panose="02020603050405020304" pitchFamily="18" charset="0"/>
                </a:rPr>
                <a:t>Y</a:t>
              </a:r>
            </a:p>
          </p:txBody>
        </p:sp>
        <p:sp>
          <p:nvSpPr>
            <p:cNvPr id="48184" name="Text Box 51">
              <a:extLst>
                <a:ext uri="{FF2B5EF4-FFF2-40B4-BE49-F238E27FC236}">
                  <a16:creationId xmlns:a16="http://schemas.microsoft.com/office/drawing/2014/main" id="{B76BA011-3E55-F658-5BD4-463E02979B3E}"/>
                </a:ext>
              </a:extLst>
            </p:cNvPr>
            <p:cNvSpPr txBox="1">
              <a:spLocks noChangeArrowheads="1"/>
            </p:cNvSpPr>
            <p:nvPr/>
          </p:nvSpPr>
          <p:spPr bwMode="auto">
            <a:xfrm>
              <a:off x="3792" y="2284"/>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X</a:t>
              </a:r>
            </a:p>
          </p:txBody>
        </p:sp>
        <p:sp>
          <p:nvSpPr>
            <p:cNvPr id="48185" name="Line 64">
              <a:extLst>
                <a:ext uri="{FF2B5EF4-FFF2-40B4-BE49-F238E27FC236}">
                  <a16:creationId xmlns:a16="http://schemas.microsoft.com/office/drawing/2014/main" id="{34AE4A94-4EC8-1211-D96A-44DC831F0FAC}"/>
                </a:ext>
              </a:extLst>
            </p:cNvPr>
            <p:cNvSpPr>
              <a:spLocks noChangeShapeType="1"/>
            </p:cNvSpPr>
            <p:nvPr/>
          </p:nvSpPr>
          <p:spPr bwMode="auto">
            <a:xfrm>
              <a:off x="3226" y="1706"/>
              <a:ext cx="0" cy="317"/>
            </a:xfrm>
            <a:prstGeom prst="line">
              <a:avLst/>
            </a:prstGeom>
            <a:noFill/>
            <a:ln w="19050">
              <a:solidFill>
                <a:srgbClr val="CC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86" name="Line 66">
              <a:extLst>
                <a:ext uri="{FF2B5EF4-FFF2-40B4-BE49-F238E27FC236}">
                  <a16:creationId xmlns:a16="http://schemas.microsoft.com/office/drawing/2014/main" id="{555D0BAB-BF1D-5D07-6817-9594638906F1}"/>
                </a:ext>
              </a:extLst>
            </p:cNvPr>
            <p:cNvSpPr>
              <a:spLocks noChangeShapeType="1"/>
            </p:cNvSpPr>
            <p:nvPr/>
          </p:nvSpPr>
          <p:spPr bwMode="auto">
            <a:xfrm>
              <a:off x="2221" y="1713"/>
              <a:ext cx="0" cy="317"/>
            </a:xfrm>
            <a:prstGeom prst="line">
              <a:avLst/>
            </a:prstGeom>
            <a:noFill/>
            <a:ln w="19050">
              <a:solidFill>
                <a:srgbClr val="CC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1">
            <a:extLst>
              <a:ext uri="{FF2B5EF4-FFF2-40B4-BE49-F238E27FC236}">
                <a16:creationId xmlns:a16="http://schemas.microsoft.com/office/drawing/2014/main" id="{F53E0F65-C6CF-7B43-7E6D-7FC85841E8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49155" name="灯片编号占位符 2">
            <a:extLst>
              <a:ext uri="{FF2B5EF4-FFF2-40B4-BE49-F238E27FC236}">
                <a16:creationId xmlns:a16="http://schemas.microsoft.com/office/drawing/2014/main" id="{BFBC962A-396D-B63B-AC49-87C5D07436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790B203-7D05-49CC-831D-5B0B59320FC7}" type="slidenum">
              <a:rPr lang="en-US" altLang="zh-CN" sz="1200" smtClean="0">
                <a:solidFill>
                  <a:srgbClr val="3366FF"/>
                </a:solidFill>
                <a:latin typeface="Arial Black" panose="020B0A04020102020204" pitchFamily="34" charset="0"/>
              </a:rPr>
              <a:pPr>
                <a:spcBef>
                  <a:spcPct val="0"/>
                </a:spcBef>
                <a:buClrTx/>
                <a:buSzTx/>
                <a:buFontTx/>
                <a:buNone/>
              </a:pPr>
              <a:t>45</a:t>
            </a:fld>
            <a:endParaRPr lang="en-US" altLang="zh-CN" sz="1200">
              <a:solidFill>
                <a:srgbClr val="3366FF"/>
              </a:solidFill>
              <a:latin typeface="Arial Black" panose="020B0A04020102020204" pitchFamily="34" charset="0"/>
            </a:endParaRPr>
          </a:p>
        </p:txBody>
      </p:sp>
      <p:sp>
        <p:nvSpPr>
          <p:cNvPr id="49156" name="日期占位符 3">
            <a:extLst>
              <a:ext uri="{FF2B5EF4-FFF2-40B4-BE49-F238E27FC236}">
                <a16:creationId xmlns:a16="http://schemas.microsoft.com/office/drawing/2014/main" id="{93F176EF-FAB3-5A7A-D8B7-AE64541EDB6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5203E45-B30A-4C44-9E2C-AE243EAF397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49157" name="Rectangle 57">
            <a:extLst>
              <a:ext uri="{FF2B5EF4-FFF2-40B4-BE49-F238E27FC236}">
                <a16:creationId xmlns:a16="http://schemas.microsoft.com/office/drawing/2014/main" id="{5041D7B9-E98C-B3CF-1AC7-F6DDB477E666}"/>
              </a:ext>
            </a:extLst>
          </p:cNvPr>
          <p:cNvSpPr>
            <a:spLocks noChangeArrowheads="1"/>
          </p:cNvSpPr>
          <p:nvPr/>
        </p:nvSpPr>
        <p:spPr bwMode="auto">
          <a:xfrm>
            <a:off x="457200" y="6731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49158" name="Rectangle 58">
            <a:extLst>
              <a:ext uri="{FF2B5EF4-FFF2-40B4-BE49-F238E27FC236}">
                <a16:creationId xmlns:a16="http://schemas.microsoft.com/office/drawing/2014/main" id="{2FC89DB6-01C2-CACA-9566-5355440EB7AA}"/>
              </a:ext>
            </a:extLst>
          </p:cNvPr>
          <p:cNvSpPr>
            <a:spLocks noChangeArrowheads="1"/>
          </p:cNvSpPr>
          <p:nvPr/>
        </p:nvSpPr>
        <p:spPr bwMode="auto">
          <a:xfrm>
            <a:off x="468313" y="14843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zh-CN" altLang="en-US"/>
              <a:t>依照 </a:t>
            </a:r>
            <a:r>
              <a:rPr lang="en-US" altLang="zh-CN"/>
              <a:t>prio “</a:t>
            </a:r>
            <a:r>
              <a:rPr lang="zh-CN" altLang="en-US"/>
              <a:t>置</a:t>
            </a:r>
            <a:r>
              <a:rPr lang="en-US" altLang="zh-CN"/>
              <a:t>/</a:t>
            </a:r>
            <a:r>
              <a:rPr lang="zh-CN" altLang="en-US"/>
              <a:t>清” 任务就绪表的操作</a:t>
            </a:r>
            <a:endParaRPr lang="zh-CN" altLang="en-US" b="0"/>
          </a:p>
        </p:txBody>
      </p:sp>
      <p:sp>
        <p:nvSpPr>
          <p:cNvPr id="49159" name="Text Box 59" descr="羊皮纸">
            <a:extLst>
              <a:ext uri="{FF2B5EF4-FFF2-40B4-BE49-F238E27FC236}">
                <a16:creationId xmlns:a16="http://schemas.microsoft.com/office/drawing/2014/main" id="{5AD506F0-1C80-09E7-CFD8-0FAE54A2CEFF}"/>
              </a:ext>
            </a:extLst>
          </p:cNvPr>
          <p:cNvSpPr txBox="1">
            <a:spLocks noChangeArrowheads="1"/>
          </p:cNvSpPr>
          <p:nvPr/>
        </p:nvSpPr>
        <p:spPr bwMode="auto">
          <a:xfrm>
            <a:off x="2195513" y="2924175"/>
            <a:ext cx="4824412" cy="3268663"/>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10000"/>
              </a:spcBef>
              <a:buClrTx/>
              <a:buSzTx/>
              <a:buFontTx/>
              <a:buNone/>
            </a:pPr>
            <a:r>
              <a:rPr lang="en-US" altLang="zh-CN" sz="2400"/>
              <a:t>OSMapTbl[0] = 0000,000</a:t>
            </a:r>
            <a:r>
              <a:rPr lang="en-US" altLang="zh-CN" sz="2400">
                <a:solidFill>
                  <a:srgbClr val="FF0066"/>
                </a:solidFill>
              </a:rPr>
              <a:t>1</a:t>
            </a:r>
            <a:r>
              <a:rPr lang="en-US" altLang="zh-CN" sz="2400"/>
              <a:t>B</a:t>
            </a:r>
          </a:p>
          <a:p>
            <a:pPr algn="ctr" eaLnBrk="1" hangingPunct="1">
              <a:spcBef>
                <a:spcPct val="10000"/>
              </a:spcBef>
              <a:buClrTx/>
              <a:buSzTx/>
              <a:buFontTx/>
              <a:buNone/>
            </a:pPr>
            <a:r>
              <a:rPr lang="en-US" altLang="zh-CN" sz="2400"/>
              <a:t>OSMapTbl[1] = 0000,00</a:t>
            </a:r>
            <a:r>
              <a:rPr lang="en-US" altLang="zh-CN" sz="2400">
                <a:solidFill>
                  <a:srgbClr val="FF0066"/>
                </a:solidFill>
              </a:rPr>
              <a:t>1</a:t>
            </a:r>
            <a:r>
              <a:rPr lang="en-US" altLang="zh-CN" sz="2400"/>
              <a:t>0B</a:t>
            </a:r>
          </a:p>
          <a:p>
            <a:pPr algn="ctr" eaLnBrk="1" hangingPunct="1">
              <a:spcBef>
                <a:spcPct val="10000"/>
              </a:spcBef>
              <a:buClrTx/>
              <a:buSzTx/>
              <a:buFontTx/>
              <a:buNone/>
            </a:pPr>
            <a:r>
              <a:rPr lang="en-US" altLang="zh-CN" sz="2400"/>
              <a:t>OSMapTbl[2] = 0000,0</a:t>
            </a:r>
            <a:r>
              <a:rPr lang="en-US" altLang="zh-CN" sz="2400">
                <a:solidFill>
                  <a:srgbClr val="FF0066"/>
                </a:solidFill>
              </a:rPr>
              <a:t>1</a:t>
            </a:r>
            <a:r>
              <a:rPr lang="en-US" altLang="zh-CN" sz="2400"/>
              <a:t>00B</a:t>
            </a:r>
          </a:p>
          <a:p>
            <a:pPr algn="ctr" eaLnBrk="1" hangingPunct="1">
              <a:spcBef>
                <a:spcPct val="10000"/>
              </a:spcBef>
              <a:buClrTx/>
              <a:buSzTx/>
              <a:buFontTx/>
              <a:buNone/>
            </a:pPr>
            <a:r>
              <a:rPr lang="en-US" altLang="zh-CN" sz="2400"/>
              <a:t>OSMapTbl[3] = 0000,</a:t>
            </a:r>
            <a:r>
              <a:rPr lang="en-US" altLang="zh-CN" sz="2400">
                <a:solidFill>
                  <a:srgbClr val="FF0066"/>
                </a:solidFill>
              </a:rPr>
              <a:t>1</a:t>
            </a:r>
            <a:r>
              <a:rPr lang="en-US" altLang="zh-CN" sz="2400"/>
              <a:t>000B</a:t>
            </a:r>
          </a:p>
          <a:p>
            <a:pPr algn="ctr" eaLnBrk="1" hangingPunct="1">
              <a:spcBef>
                <a:spcPct val="10000"/>
              </a:spcBef>
              <a:buClrTx/>
              <a:buSzTx/>
              <a:buFontTx/>
              <a:buNone/>
            </a:pPr>
            <a:r>
              <a:rPr lang="en-US" altLang="zh-CN" sz="2400"/>
              <a:t>OSMapTbl[4] = 000</a:t>
            </a:r>
            <a:r>
              <a:rPr lang="en-US" altLang="zh-CN" sz="2400">
                <a:solidFill>
                  <a:srgbClr val="FF0066"/>
                </a:solidFill>
              </a:rPr>
              <a:t>1</a:t>
            </a:r>
            <a:r>
              <a:rPr lang="en-US" altLang="zh-CN" sz="2400"/>
              <a:t>,0000B</a:t>
            </a:r>
          </a:p>
          <a:p>
            <a:pPr algn="ctr" eaLnBrk="1" hangingPunct="1">
              <a:spcBef>
                <a:spcPct val="10000"/>
              </a:spcBef>
              <a:buClrTx/>
              <a:buSzTx/>
              <a:buFontTx/>
              <a:buNone/>
            </a:pPr>
            <a:r>
              <a:rPr lang="en-US" altLang="zh-CN" sz="2400"/>
              <a:t>OSMapTbl[5] = 00</a:t>
            </a:r>
            <a:r>
              <a:rPr lang="en-US" altLang="zh-CN" sz="2400">
                <a:solidFill>
                  <a:srgbClr val="FF0066"/>
                </a:solidFill>
              </a:rPr>
              <a:t>1</a:t>
            </a:r>
            <a:r>
              <a:rPr lang="en-US" altLang="zh-CN" sz="2400"/>
              <a:t>0,0000B</a:t>
            </a:r>
          </a:p>
          <a:p>
            <a:pPr algn="ctr" eaLnBrk="1" hangingPunct="1">
              <a:spcBef>
                <a:spcPct val="10000"/>
              </a:spcBef>
              <a:buClrTx/>
              <a:buSzTx/>
              <a:buFontTx/>
              <a:buNone/>
            </a:pPr>
            <a:r>
              <a:rPr lang="en-US" altLang="zh-CN" sz="2400"/>
              <a:t>OSMapTbl[6] = 0</a:t>
            </a:r>
            <a:r>
              <a:rPr lang="en-US" altLang="zh-CN" sz="2400">
                <a:solidFill>
                  <a:srgbClr val="FF0066"/>
                </a:solidFill>
              </a:rPr>
              <a:t>1</a:t>
            </a:r>
            <a:r>
              <a:rPr lang="en-US" altLang="zh-CN" sz="2400"/>
              <a:t>00,0000B</a:t>
            </a:r>
          </a:p>
          <a:p>
            <a:pPr algn="ctr" eaLnBrk="1" hangingPunct="1">
              <a:spcBef>
                <a:spcPct val="10000"/>
              </a:spcBef>
              <a:buClrTx/>
              <a:buSzTx/>
              <a:buFontTx/>
              <a:buNone/>
            </a:pPr>
            <a:r>
              <a:rPr lang="en-US" altLang="zh-CN" sz="2400"/>
              <a:t>OSMapTbl[7] = </a:t>
            </a:r>
            <a:r>
              <a:rPr lang="en-US" altLang="zh-CN" sz="2400">
                <a:solidFill>
                  <a:srgbClr val="FF0066"/>
                </a:solidFill>
              </a:rPr>
              <a:t>1</a:t>
            </a:r>
            <a:r>
              <a:rPr lang="en-US" altLang="zh-CN" sz="2400"/>
              <a:t>000,0000B</a:t>
            </a:r>
          </a:p>
        </p:txBody>
      </p:sp>
      <p:sp>
        <p:nvSpPr>
          <p:cNvPr id="49160" name="Text Box 60">
            <a:extLst>
              <a:ext uri="{FF2B5EF4-FFF2-40B4-BE49-F238E27FC236}">
                <a16:creationId xmlns:a16="http://schemas.microsoft.com/office/drawing/2014/main" id="{864622D3-7879-8BF3-DA20-17A44DC194E9}"/>
              </a:ext>
            </a:extLst>
          </p:cNvPr>
          <p:cNvSpPr txBox="1">
            <a:spLocks noChangeArrowheads="1"/>
          </p:cNvSpPr>
          <p:nvPr/>
        </p:nvSpPr>
        <p:spPr bwMode="auto">
          <a:xfrm>
            <a:off x="1187450" y="2205038"/>
            <a:ext cx="7129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在 </a:t>
            </a:r>
            <a:r>
              <a:rPr lang="en-US" altLang="zh-CN" sz="2400"/>
              <a:t>uC/OS-II </a:t>
            </a:r>
            <a:r>
              <a:rPr lang="zh-CN" altLang="en-US" sz="2400"/>
              <a:t>中预定义了一个 </a:t>
            </a:r>
            <a:r>
              <a:rPr lang="en-US" altLang="zh-CN" sz="2400"/>
              <a:t>OSMapTbl[ ] </a:t>
            </a:r>
            <a:r>
              <a:rPr lang="zh-CN" altLang="en-US" sz="2400"/>
              <a:t>数组：</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1">
            <a:extLst>
              <a:ext uri="{FF2B5EF4-FFF2-40B4-BE49-F238E27FC236}">
                <a16:creationId xmlns:a16="http://schemas.microsoft.com/office/drawing/2014/main" id="{7248D998-C2CF-4C10-9F6B-D8076EF05E9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0179" name="灯片编号占位符 2">
            <a:extLst>
              <a:ext uri="{FF2B5EF4-FFF2-40B4-BE49-F238E27FC236}">
                <a16:creationId xmlns:a16="http://schemas.microsoft.com/office/drawing/2014/main" id="{103D12A4-CB20-42B6-7E44-9B77D73C578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2287D7F-FEB2-4704-B35C-1749BD069DE7}" type="slidenum">
              <a:rPr lang="en-US" altLang="zh-CN" sz="1200" smtClean="0">
                <a:solidFill>
                  <a:srgbClr val="3366FF"/>
                </a:solidFill>
                <a:latin typeface="Arial Black" panose="020B0A04020102020204" pitchFamily="34" charset="0"/>
              </a:rPr>
              <a:pPr>
                <a:spcBef>
                  <a:spcPct val="0"/>
                </a:spcBef>
                <a:buClrTx/>
                <a:buSzTx/>
                <a:buFontTx/>
                <a:buNone/>
              </a:pPr>
              <a:t>46</a:t>
            </a:fld>
            <a:endParaRPr lang="en-US" altLang="zh-CN" sz="1200">
              <a:solidFill>
                <a:srgbClr val="3366FF"/>
              </a:solidFill>
              <a:latin typeface="Arial Black" panose="020B0A04020102020204" pitchFamily="34" charset="0"/>
            </a:endParaRPr>
          </a:p>
        </p:txBody>
      </p:sp>
      <p:sp>
        <p:nvSpPr>
          <p:cNvPr id="50180" name="日期占位符 3">
            <a:extLst>
              <a:ext uri="{FF2B5EF4-FFF2-40B4-BE49-F238E27FC236}">
                <a16:creationId xmlns:a16="http://schemas.microsoft.com/office/drawing/2014/main" id="{3E05BAA7-CDFB-3135-6BAC-C51E9119AEC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E5ADBA0-FA91-450C-A2FE-B1844091FEE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2" name="Group 111">
            <a:extLst>
              <a:ext uri="{FF2B5EF4-FFF2-40B4-BE49-F238E27FC236}">
                <a16:creationId xmlns:a16="http://schemas.microsoft.com/office/drawing/2014/main" id="{9E9C447E-CBCB-4E87-A3E9-992C52D3D533}"/>
              </a:ext>
            </a:extLst>
          </p:cNvPr>
          <p:cNvGrpSpPr>
            <a:grpSpLocks/>
          </p:cNvGrpSpPr>
          <p:nvPr/>
        </p:nvGrpSpPr>
        <p:grpSpPr bwMode="auto">
          <a:xfrm>
            <a:off x="34925" y="685800"/>
            <a:ext cx="9186863" cy="5824538"/>
            <a:chOff x="22" y="432"/>
            <a:chExt cx="5787" cy="3669"/>
          </a:xfrm>
        </p:grpSpPr>
        <p:sp>
          <p:nvSpPr>
            <p:cNvPr id="50183" name="Rectangle 2">
              <a:extLst>
                <a:ext uri="{FF2B5EF4-FFF2-40B4-BE49-F238E27FC236}">
                  <a16:creationId xmlns:a16="http://schemas.microsoft.com/office/drawing/2014/main" id="{4FD711BF-6EEB-4FF9-DB57-5251C2556AFA}"/>
                </a:ext>
              </a:extLst>
            </p:cNvPr>
            <p:cNvSpPr>
              <a:spLocks noChangeArrowheads="1"/>
            </p:cNvSpPr>
            <p:nvPr/>
          </p:nvSpPr>
          <p:spPr bwMode="auto">
            <a:xfrm>
              <a:off x="1522" y="672"/>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0184" name="Line 3">
              <a:extLst>
                <a:ext uri="{FF2B5EF4-FFF2-40B4-BE49-F238E27FC236}">
                  <a16:creationId xmlns:a16="http://schemas.microsoft.com/office/drawing/2014/main" id="{DFE735DF-83B3-6C85-A645-73A2FA005193}"/>
                </a:ext>
              </a:extLst>
            </p:cNvPr>
            <p:cNvSpPr>
              <a:spLocks noChangeShapeType="1"/>
            </p:cNvSpPr>
            <p:nvPr/>
          </p:nvSpPr>
          <p:spPr bwMode="auto">
            <a:xfrm>
              <a:off x="1858"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5" name="Line 4">
              <a:extLst>
                <a:ext uri="{FF2B5EF4-FFF2-40B4-BE49-F238E27FC236}">
                  <a16:creationId xmlns:a16="http://schemas.microsoft.com/office/drawing/2014/main" id="{5736FA5C-D452-89F6-5CD1-6EBD27853AC0}"/>
                </a:ext>
              </a:extLst>
            </p:cNvPr>
            <p:cNvSpPr>
              <a:spLocks noChangeShapeType="1"/>
            </p:cNvSpPr>
            <p:nvPr/>
          </p:nvSpPr>
          <p:spPr bwMode="auto">
            <a:xfrm>
              <a:off x="2194"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6" name="Line 5">
              <a:extLst>
                <a:ext uri="{FF2B5EF4-FFF2-40B4-BE49-F238E27FC236}">
                  <a16:creationId xmlns:a16="http://schemas.microsoft.com/office/drawing/2014/main" id="{D7396AEF-E6BE-08D5-C13F-1508BFB96067}"/>
                </a:ext>
              </a:extLst>
            </p:cNvPr>
            <p:cNvSpPr>
              <a:spLocks noChangeShapeType="1"/>
            </p:cNvSpPr>
            <p:nvPr/>
          </p:nvSpPr>
          <p:spPr bwMode="auto">
            <a:xfrm>
              <a:off x="2530"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7" name="Line 6">
              <a:extLst>
                <a:ext uri="{FF2B5EF4-FFF2-40B4-BE49-F238E27FC236}">
                  <a16:creationId xmlns:a16="http://schemas.microsoft.com/office/drawing/2014/main" id="{660DA065-6B93-A772-D9B6-CC706AA9ACD0}"/>
                </a:ext>
              </a:extLst>
            </p:cNvPr>
            <p:cNvSpPr>
              <a:spLocks noChangeShapeType="1"/>
            </p:cNvSpPr>
            <p:nvPr/>
          </p:nvSpPr>
          <p:spPr bwMode="auto">
            <a:xfrm>
              <a:off x="2866"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Line 7">
              <a:extLst>
                <a:ext uri="{FF2B5EF4-FFF2-40B4-BE49-F238E27FC236}">
                  <a16:creationId xmlns:a16="http://schemas.microsoft.com/office/drawing/2014/main" id="{BF2115C1-DBE8-0DE1-8097-9B92AA32B2BE}"/>
                </a:ext>
              </a:extLst>
            </p:cNvPr>
            <p:cNvSpPr>
              <a:spLocks noChangeShapeType="1"/>
            </p:cNvSpPr>
            <p:nvPr/>
          </p:nvSpPr>
          <p:spPr bwMode="auto">
            <a:xfrm>
              <a:off x="3202"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9" name="Line 8">
              <a:extLst>
                <a:ext uri="{FF2B5EF4-FFF2-40B4-BE49-F238E27FC236}">
                  <a16:creationId xmlns:a16="http://schemas.microsoft.com/office/drawing/2014/main" id="{F616FEE2-1C80-FC34-4305-C001056A5A8F}"/>
                </a:ext>
              </a:extLst>
            </p:cNvPr>
            <p:cNvSpPr>
              <a:spLocks noChangeShapeType="1"/>
            </p:cNvSpPr>
            <p:nvPr/>
          </p:nvSpPr>
          <p:spPr bwMode="auto">
            <a:xfrm>
              <a:off x="3538"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0" name="Line 9">
              <a:extLst>
                <a:ext uri="{FF2B5EF4-FFF2-40B4-BE49-F238E27FC236}">
                  <a16:creationId xmlns:a16="http://schemas.microsoft.com/office/drawing/2014/main" id="{E5E1747A-E399-E30C-4B42-2CE395F8BD99}"/>
                </a:ext>
              </a:extLst>
            </p:cNvPr>
            <p:cNvSpPr>
              <a:spLocks noChangeShapeType="1"/>
            </p:cNvSpPr>
            <p:nvPr/>
          </p:nvSpPr>
          <p:spPr bwMode="auto">
            <a:xfrm>
              <a:off x="3874" y="672"/>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91" name="Text Box 10">
              <a:extLst>
                <a:ext uri="{FF2B5EF4-FFF2-40B4-BE49-F238E27FC236}">
                  <a16:creationId xmlns:a16="http://schemas.microsoft.com/office/drawing/2014/main" id="{9F18AC32-667D-59D6-336D-EF725A319858}"/>
                </a:ext>
              </a:extLst>
            </p:cNvPr>
            <p:cNvSpPr txBox="1">
              <a:spLocks noChangeArrowheads="1"/>
            </p:cNvSpPr>
            <p:nvPr/>
          </p:nvSpPr>
          <p:spPr bwMode="auto">
            <a:xfrm>
              <a:off x="118" y="1728"/>
              <a:ext cx="8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OSRdyGrp</a:t>
              </a:r>
              <a:r>
                <a:rPr kumimoji="1" lang="en-US" altLang="zh-CN" sz="2400" b="0">
                  <a:latin typeface="Times New Roman" panose="02020603050405020304" pitchFamily="18" charset="0"/>
                </a:rPr>
                <a:t> </a:t>
              </a:r>
            </a:p>
          </p:txBody>
        </p:sp>
        <p:sp>
          <p:nvSpPr>
            <p:cNvPr id="50192" name="Text Box 11">
              <a:extLst>
                <a:ext uri="{FF2B5EF4-FFF2-40B4-BE49-F238E27FC236}">
                  <a16:creationId xmlns:a16="http://schemas.microsoft.com/office/drawing/2014/main" id="{48DAF213-CD51-9189-8A53-D82F3E586E7B}"/>
                </a:ext>
              </a:extLst>
            </p:cNvPr>
            <p:cNvSpPr txBox="1">
              <a:spLocks noChangeArrowheads="1"/>
            </p:cNvSpPr>
            <p:nvPr/>
          </p:nvSpPr>
          <p:spPr bwMode="auto">
            <a:xfrm>
              <a:off x="1586" y="432"/>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0193" name="Text Box 12">
              <a:extLst>
                <a:ext uri="{FF2B5EF4-FFF2-40B4-BE49-F238E27FC236}">
                  <a16:creationId xmlns:a16="http://schemas.microsoft.com/office/drawing/2014/main" id="{9CA269A6-EF19-EA12-24ED-D98B92EFA915}"/>
                </a:ext>
              </a:extLst>
            </p:cNvPr>
            <p:cNvSpPr txBox="1">
              <a:spLocks noChangeArrowheads="1"/>
            </p:cNvSpPr>
            <p:nvPr/>
          </p:nvSpPr>
          <p:spPr bwMode="auto">
            <a:xfrm>
              <a:off x="2594"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0194" name="Text Box 13">
              <a:extLst>
                <a:ext uri="{FF2B5EF4-FFF2-40B4-BE49-F238E27FC236}">
                  <a16:creationId xmlns:a16="http://schemas.microsoft.com/office/drawing/2014/main" id="{4753E263-6EF7-BEE5-A6A9-2013A5783019}"/>
                </a:ext>
              </a:extLst>
            </p:cNvPr>
            <p:cNvSpPr txBox="1">
              <a:spLocks noChangeArrowheads="1"/>
            </p:cNvSpPr>
            <p:nvPr/>
          </p:nvSpPr>
          <p:spPr bwMode="auto">
            <a:xfrm>
              <a:off x="3938"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0195" name="Text Box 14">
              <a:extLst>
                <a:ext uri="{FF2B5EF4-FFF2-40B4-BE49-F238E27FC236}">
                  <a16:creationId xmlns:a16="http://schemas.microsoft.com/office/drawing/2014/main" id="{42ABB96D-36BC-DA9E-3DD3-0B103EDAA2D0}"/>
                </a:ext>
              </a:extLst>
            </p:cNvPr>
            <p:cNvSpPr txBox="1">
              <a:spLocks noChangeArrowheads="1"/>
            </p:cNvSpPr>
            <p:nvPr/>
          </p:nvSpPr>
          <p:spPr bwMode="auto">
            <a:xfrm>
              <a:off x="2930"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0196" name="Text Box 15">
              <a:extLst>
                <a:ext uri="{FF2B5EF4-FFF2-40B4-BE49-F238E27FC236}">
                  <a16:creationId xmlns:a16="http://schemas.microsoft.com/office/drawing/2014/main" id="{EBFF8088-44F5-BFE8-086C-F990F07D208B}"/>
                </a:ext>
              </a:extLst>
            </p:cNvPr>
            <p:cNvSpPr txBox="1">
              <a:spLocks noChangeArrowheads="1"/>
            </p:cNvSpPr>
            <p:nvPr/>
          </p:nvSpPr>
          <p:spPr bwMode="auto">
            <a:xfrm>
              <a:off x="3266"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0197" name="Text Box 16">
              <a:extLst>
                <a:ext uri="{FF2B5EF4-FFF2-40B4-BE49-F238E27FC236}">
                  <a16:creationId xmlns:a16="http://schemas.microsoft.com/office/drawing/2014/main" id="{F9575BDD-8799-F06F-15AB-4A6F462722CA}"/>
                </a:ext>
              </a:extLst>
            </p:cNvPr>
            <p:cNvSpPr txBox="1">
              <a:spLocks noChangeArrowheads="1"/>
            </p:cNvSpPr>
            <p:nvPr/>
          </p:nvSpPr>
          <p:spPr bwMode="auto">
            <a:xfrm>
              <a:off x="2258"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0198" name="Text Box 17">
              <a:extLst>
                <a:ext uri="{FF2B5EF4-FFF2-40B4-BE49-F238E27FC236}">
                  <a16:creationId xmlns:a16="http://schemas.microsoft.com/office/drawing/2014/main" id="{C5CC379D-2804-53FC-8754-486E762BA015}"/>
                </a:ext>
              </a:extLst>
            </p:cNvPr>
            <p:cNvSpPr txBox="1">
              <a:spLocks noChangeArrowheads="1"/>
            </p:cNvSpPr>
            <p:nvPr/>
          </p:nvSpPr>
          <p:spPr bwMode="auto">
            <a:xfrm>
              <a:off x="3602"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0199" name="Text Box 18">
              <a:extLst>
                <a:ext uri="{FF2B5EF4-FFF2-40B4-BE49-F238E27FC236}">
                  <a16:creationId xmlns:a16="http://schemas.microsoft.com/office/drawing/2014/main" id="{E7691E44-E0DC-226D-4E5B-4D0566DAF78F}"/>
                </a:ext>
              </a:extLst>
            </p:cNvPr>
            <p:cNvSpPr txBox="1">
              <a:spLocks noChangeArrowheads="1"/>
            </p:cNvSpPr>
            <p:nvPr/>
          </p:nvSpPr>
          <p:spPr bwMode="auto">
            <a:xfrm>
              <a:off x="1586"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0200" name="Text Box 19">
              <a:extLst>
                <a:ext uri="{FF2B5EF4-FFF2-40B4-BE49-F238E27FC236}">
                  <a16:creationId xmlns:a16="http://schemas.microsoft.com/office/drawing/2014/main" id="{C98BE36B-02E5-D8D5-D166-B1619237464D}"/>
                </a:ext>
              </a:extLst>
            </p:cNvPr>
            <p:cNvSpPr txBox="1">
              <a:spLocks noChangeArrowheads="1"/>
            </p:cNvSpPr>
            <p:nvPr/>
          </p:nvSpPr>
          <p:spPr bwMode="auto">
            <a:xfrm>
              <a:off x="1922" y="7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0201" name="Text Box 20">
              <a:extLst>
                <a:ext uri="{FF2B5EF4-FFF2-40B4-BE49-F238E27FC236}">
                  <a16:creationId xmlns:a16="http://schemas.microsoft.com/office/drawing/2014/main" id="{BD0F4280-5B14-ABA3-1B4B-FE68FDFA1AA0}"/>
                </a:ext>
              </a:extLst>
            </p:cNvPr>
            <p:cNvSpPr txBox="1">
              <a:spLocks noChangeArrowheads="1"/>
            </p:cNvSpPr>
            <p:nvPr/>
          </p:nvSpPr>
          <p:spPr bwMode="auto">
            <a:xfrm>
              <a:off x="866" y="720"/>
              <a:ext cx="6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prio=29</a:t>
              </a:r>
            </a:p>
          </p:txBody>
        </p:sp>
        <p:sp>
          <p:nvSpPr>
            <p:cNvPr id="50202" name="Rectangle 21">
              <a:extLst>
                <a:ext uri="{FF2B5EF4-FFF2-40B4-BE49-F238E27FC236}">
                  <a16:creationId xmlns:a16="http://schemas.microsoft.com/office/drawing/2014/main" id="{2FFAD3BC-5944-EC73-3B8C-9BD91110E291}"/>
                </a:ext>
              </a:extLst>
            </p:cNvPr>
            <p:cNvSpPr>
              <a:spLocks noChangeArrowheads="1"/>
            </p:cNvSpPr>
            <p:nvPr/>
          </p:nvSpPr>
          <p:spPr bwMode="auto">
            <a:xfrm>
              <a:off x="22" y="2208"/>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0203" name="Line 22">
              <a:extLst>
                <a:ext uri="{FF2B5EF4-FFF2-40B4-BE49-F238E27FC236}">
                  <a16:creationId xmlns:a16="http://schemas.microsoft.com/office/drawing/2014/main" id="{0067B6BA-1711-0268-E9CD-788AFB2949CF}"/>
                </a:ext>
              </a:extLst>
            </p:cNvPr>
            <p:cNvSpPr>
              <a:spLocks noChangeShapeType="1"/>
            </p:cNvSpPr>
            <p:nvPr/>
          </p:nvSpPr>
          <p:spPr bwMode="auto">
            <a:xfrm>
              <a:off x="358"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4" name="Line 23">
              <a:extLst>
                <a:ext uri="{FF2B5EF4-FFF2-40B4-BE49-F238E27FC236}">
                  <a16:creationId xmlns:a16="http://schemas.microsoft.com/office/drawing/2014/main" id="{C7FAE422-A536-9363-6D37-C2EA85008225}"/>
                </a:ext>
              </a:extLst>
            </p:cNvPr>
            <p:cNvSpPr>
              <a:spLocks noChangeShapeType="1"/>
            </p:cNvSpPr>
            <p:nvPr/>
          </p:nvSpPr>
          <p:spPr bwMode="auto">
            <a:xfrm>
              <a:off x="69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5" name="Line 24">
              <a:extLst>
                <a:ext uri="{FF2B5EF4-FFF2-40B4-BE49-F238E27FC236}">
                  <a16:creationId xmlns:a16="http://schemas.microsoft.com/office/drawing/2014/main" id="{1456EF05-BF8F-9CC3-A203-3081B43CA857}"/>
                </a:ext>
              </a:extLst>
            </p:cNvPr>
            <p:cNvSpPr>
              <a:spLocks noChangeShapeType="1"/>
            </p:cNvSpPr>
            <p:nvPr/>
          </p:nvSpPr>
          <p:spPr bwMode="auto">
            <a:xfrm>
              <a:off x="1030"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6" name="Line 25">
              <a:extLst>
                <a:ext uri="{FF2B5EF4-FFF2-40B4-BE49-F238E27FC236}">
                  <a16:creationId xmlns:a16="http://schemas.microsoft.com/office/drawing/2014/main" id="{5C0621D5-694F-5F8C-B611-37C126C9A0B9}"/>
                </a:ext>
              </a:extLst>
            </p:cNvPr>
            <p:cNvSpPr>
              <a:spLocks noChangeShapeType="1"/>
            </p:cNvSpPr>
            <p:nvPr/>
          </p:nvSpPr>
          <p:spPr bwMode="auto">
            <a:xfrm>
              <a:off x="1366"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7" name="Line 26">
              <a:extLst>
                <a:ext uri="{FF2B5EF4-FFF2-40B4-BE49-F238E27FC236}">
                  <a16:creationId xmlns:a16="http://schemas.microsoft.com/office/drawing/2014/main" id="{27E979D7-C7CE-651A-C154-100AD2E30AFA}"/>
                </a:ext>
              </a:extLst>
            </p:cNvPr>
            <p:cNvSpPr>
              <a:spLocks noChangeShapeType="1"/>
            </p:cNvSpPr>
            <p:nvPr/>
          </p:nvSpPr>
          <p:spPr bwMode="auto">
            <a:xfrm>
              <a:off x="1702"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8" name="Line 27">
              <a:extLst>
                <a:ext uri="{FF2B5EF4-FFF2-40B4-BE49-F238E27FC236}">
                  <a16:creationId xmlns:a16="http://schemas.microsoft.com/office/drawing/2014/main" id="{B89D7593-55BD-22B7-277F-7C3F1754554F}"/>
                </a:ext>
              </a:extLst>
            </p:cNvPr>
            <p:cNvSpPr>
              <a:spLocks noChangeShapeType="1"/>
            </p:cNvSpPr>
            <p:nvPr/>
          </p:nvSpPr>
          <p:spPr bwMode="auto">
            <a:xfrm>
              <a:off x="2038"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09" name="Line 28">
              <a:extLst>
                <a:ext uri="{FF2B5EF4-FFF2-40B4-BE49-F238E27FC236}">
                  <a16:creationId xmlns:a16="http://schemas.microsoft.com/office/drawing/2014/main" id="{35690E2A-9004-357D-3C8A-F2DACEE233E9}"/>
                </a:ext>
              </a:extLst>
            </p:cNvPr>
            <p:cNvSpPr>
              <a:spLocks noChangeShapeType="1"/>
            </p:cNvSpPr>
            <p:nvPr/>
          </p:nvSpPr>
          <p:spPr bwMode="auto">
            <a:xfrm>
              <a:off x="237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0" name="Text Box 29">
              <a:extLst>
                <a:ext uri="{FF2B5EF4-FFF2-40B4-BE49-F238E27FC236}">
                  <a16:creationId xmlns:a16="http://schemas.microsoft.com/office/drawing/2014/main" id="{868065B2-D1CA-8CFD-374D-B1B4FF34BD7F}"/>
                </a:ext>
              </a:extLst>
            </p:cNvPr>
            <p:cNvSpPr txBox="1">
              <a:spLocks noChangeArrowheads="1"/>
            </p:cNvSpPr>
            <p:nvPr/>
          </p:nvSpPr>
          <p:spPr bwMode="auto">
            <a:xfrm>
              <a:off x="70" y="1968"/>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0211" name="Text Box 30">
              <a:extLst>
                <a:ext uri="{FF2B5EF4-FFF2-40B4-BE49-F238E27FC236}">
                  <a16:creationId xmlns:a16="http://schemas.microsoft.com/office/drawing/2014/main" id="{AAB17ECB-6A6D-0097-0721-A514A8064B53}"/>
                </a:ext>
              </a:extLst>
            </p:cNvPr>
            <p:cNvSpPr txBox="1">
              <a:spLocks noChangeArrowheads="1"/>
            </p:cNvSpPr>
            <p:nvPr/>
          </p:nvSpPr>
          <p:spPr bwMode="auto">
            <a:xfrm>
              <a:off x="1430"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FF0066"/>
                  </a:solidFill>
                  <a:latin typeface="Times New Roman" panose="02020603050405020304" pitchFamily="18" charset="0"/>
                </a:rPr>
                <a:t>1</a:t>
              </a:r>
              <a:endParaRPr kumimoji="1" lang="en-US" altLang="zh-CN" sz="2400" b="0">
                <a:solidFill>
                  <a:srgbClr val="FF0066"/>
                </a:solidFill>
                <a:latin typeface="Times New Roman" panose="02020603050405020304" pitchFamily="18" charset="0"/>
              </a:endParaRPr>
            </a:p>
          </p:txBody>
        </p:sp>
        <p:sp>
          <p:nvSpPr>
            <p:cNvPr id="50212" name="Rectangle 31">
              <a:extLst>
                <a:ext uri="{FF2B5EF4-FFF2-40B4-BE49-F238E27FC236}">
                  <a16:creationId xmlns:a16="http://schemas.microsoft.com/office/drawing/2014/main" id="{92801FBA-D784-F61B-E3B6-D0A53E9984EC}"/>
                </a:ext>
              </a:extLst>
            </p:cNvPr>
            <p:cNvSpPr>
              <a:spLocks noChangeArrowheads="1"/>
            </p:cNvSpPr>
            <p:nvPr/>
          </p:nvSpPr>
          <p:spPr bwMode="auto">
            <a:xfrm>
              <a:off x="2838" y="2208"/>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0213" name="Line 32">
              <a:extLst>
                <a:ext uri="{FF2B5EF4-FFF2-40B4-BE49-F238E27FC236}">
                  <a16:creationId xmlns:a16="http://schemas.microsoft.com/office/drawing/2014/main" id="{BE2A183E-0815-D74C-2501-0B3FA8707152}"/>
                </a:ext>
              </a:extLst>
            </p:cNvPr>
            <p:cNvSpPr>
              <a:spLocks noChangeShapeType="1"/>
            </p:cNvSpPr>
            <p:nvPr/>
          </p:nvSpPr>
          <p:spPr bwMode="auto">
            <a:xfrm>
              <a:off x="317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4" name="Line 33">
              <a:extLst>
                <a:ext uri="{FF2B5EF4-FFF2-40B4-BE49-F238E27FC236}">
                  <a16:creationId xmlns:a16="http://schemas.microsoft.com/office/drawing/2014/main" id="{E4369D29-0D19-67B0-0651-FE81EB03572D}"/>
                </a:ext>
              </a:extLst>
            </p:cNvPr>
            <p:cNvSpPr>
              <a:spLocks noChangeShapeType="1"/>
            </p:cNvSpPr>
            <p:nvPr/>
          </p:nvSpPr>
          <p:spPr bwMode="auto">
            <a:xfrm>
              <a:off x="3510"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5" name="Line 34">
              <a:extLst>
                <a:ext uri="{FF2B5EF4-FFF2-40B4-BE49-F238E27FC236}">
                  <a16:creationId xmlns:a16="http://schemas.microsoft.com/office/drawing/2014/main" id="{FD1CB2E3-F3E9-D98C-6079-7C4B6264AE6D}"/>
                </a:ext>
              </a:extLst>
            </p:cNvPr>
            <p:cNvSpPr>
              <a:spLocks noChangeShapeType="1"/>
            </p:cNvSpPr>
            <p:nvPr/>
          </p:nvSpPr>
          <p:spPr bwMode="auto">
            <a:xfrm>
              <a:off x="3846"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6" name="Line 35">
              <a:extLst>
                <a:ext uri="{FF2B5EF4-FFF2-40B4-BE49-F238E27FC236}">
                  <a16:creationId xmlns:a16="http://schemas.microsoft.com/office/drawing/2014/main" id="{E9D46B25-6E07-2613-9B41-BA455E38B409}"/>
                </a:ext>
              </a:extLst>
            </p:cNvPr>
            <p:cNvSpPr>
              <a:spLocks noChangeShapeType="1"/>
            </p:cNvSpPr>
            <p:nvPr/>
          </p:nvSpPr>
          <p:spPr bwMode="auto">
            <a:xfrm>
              <a:off x="4182"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7" name="Line 36">
              <a:extLst>
                <a:ext uri="{FF2B5EF4-FFF2-40B4-BE49-F238E27FC236}">
                  <a16:creationId xmlns:a16="http://schemas.microsoft.com/office/drawing/2014/main" id="{40F04C50-7A5C-7AA9-3442-00336625ADAA}"/>
                </a:ext>
              </a:extLst>
            </p:cNvPr>
            <p:cNvSpPr>
              <a:spLocks noChangeShapeType="1"/>
            </p:cNvSpPr>
            <p:nvPr/>
          </p:nvSpPr>
          <p:spPr bwMode="auto">
            <a:xfrm>
              <a:off x="4518"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8" name="Line 37">
              <a:extLst>
                <a:ext uri="{FF2B5EF4-FFF2-40B4-BE49-F238E27FC236}">
                  <a16:creationId xmlns:a16="http://schemas.microsoft.com/office/drawing/2014/main" id="{239D668A-7089-8340-AB6F-606B8D5F9110}"/>
                </a:ext>
              </a:extLst>
            </p:cNvPr>
            <p:cNvSpPr>
              <a:spLocks noChangeShapeType="1"/>
            </p:cNvSpPr>
            <p:nvPr/>
          </p:nvSpPr>
          <p:spPr bwMode="auto">
            <a:xfrm>
              <a:off x="485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9" name="Line 38">
              <a:extLst>
                <a:ext uri="{FF2B5EF4-FFF2-40B4-BE49-F238E27FC236}">
                  <a16:creationId xmlns:a16="http://schemas.microsoft.com/office/drawing/2014/main" id="{937288EC-BCF0-FCC0-F1D4-217700512BF2}"/>
                </a:ext>
              </a:extLst>
            </p:cNvPr>
            <p:cNvSpPr>
              <a:spLocks noChangeShapeType="1"/>
            </p:cNvSpPr>
            <p:nvPr/>
          </p:nvSpPr>
          <p:spPr bwMode="auto">
            <a:xfrm>
              <a:off x="5190"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0" name="Text Box 39">
              <a:extLst>
                <a:ext uri="{FF2B5EF4-FFF2-40B4-BE49-F238E27FC236}">
                  <a16:creationId xmlns:a16="http://schemas.microsoft.com/office/drawing/2014/main" id="{97999C69-237C-E96A-85FB-0637336E3063}"/>
                </a:ext>
              </a:extLst>
            </p:cNvPr>
            <p:cNvSpPr txBox="1">
              <a:spLocks noChangeArrowheads="1"/>
            </p:cNvSpPr>
            <p:nvPr/>
          </p:nvSpPr>
          <p:spPr bwMode="auto">
            <a:xfrm>
              <a:off x="2854" y="1968"/>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0221" name="Text Box 40">
              <a:extLst>
                <a:ext uri="{FF2B5EF4-FFF2-40B4-BE49-F238E27FC236}">
                  <a16:creationId xmlns:a16="http://schemas.microsoft.com/office/drawing/2014/main" id="{4ECCDDAD-2EF5-BE42-277A-5AB2CBD2261E}"/>
                </a:ext>
              </a:extLst>
            </p:cNvPr>
            <p:cNvSpPr txBox="1">
              <a:spLocks noChangeArrowheads="1"/>
            </p:cNvSpPr>
            <p:nvPr/>
          </p:nvSpPr>
          <p:spPr bwMode="auto">
            <a:xfrm>
              <a:off x="3574"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FF0066"/>
                  </a:solidFill>
                  <a:latin typeface="Times New Roman" panose="02020603050405020304" pitchFamily="18" charset="0"/>
                </a:rPr>
                <a:t>1</a:t>
              </a:r>
              <a:endParaRPr kumimoji="1" lang="en-US" altLang="zh-CN" sz="2400" b="0">
                <a:solidFill>
                  <a:srgbClr val="FF0066"/>
                </a:solidFill>
                <a:latin typeface="Times New Roman" panose="02020603050405020304" pitchFamily="18" charset="0"/>
              </a:endParaRPr>
            </a:p>
          </p:txBody>
        </p:sp>
        <p:sp>
          <p:nvSpPr>
            <p:cNvPr id="50222" name="Text Box 41">
              <a:extLst>
                <a:ext uri="{FF2B5EF4-FFF2-40B4-BE49-F238E27FC236}">
                  <a16:creationId xmlns:a16="http://schemas.microsoft.com/office/drawing/2014/main" id="{2F3DBB16-9178-886C-A713-EBC9F3B2035B}"/>
                </a:ext>
              </a:extLst>
            </p:cNvPr>
            <p:cNvSpPr txBox="1">
              <a:spLocks noChangeArrowheads="1"/>
            </p:cNvSpPr>
            <p:nvPr/>
          </p:nvSpPr>
          <p:spPr bwMode="auto">
            <a:xfrm>
              <a:off x="2518" y="1776"/>
              <a:ext cx="10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OSRdyTbl[</a:t>
              </a:r>
              <a:r>
                <a:rPr kumimoji="1" lang="en-US" altLang="zh-CN" sz="2000" b="0">
                  <a:solidFill>
                    <a:srgbClr val="FF0000"/>
                  </a:solidFill>
                  <a:latin typeface="Times New Roman" panose="02020603050405020304" pitchFamily="18" charset="0"/>
                </a:rPr>
                <a:t>3</a:t>
              </a:r>
              <a:r>
                <a:rPr kumimoji="1" lang="en-US" altLang="zh-CN" sz="2000" b="0">
                  <a:latin typeface="Times New Roman" panose="02020603050405020304" pitchFamily="18" charset="0"/>
                </a:rPr>
                <a:t> ]</a:t>
              </a:r>
            </a:p>
          </p:txBody>
        </p:sp>
        <p:sp>
          <p:nvSpPr>
            <p:cNvPr id="50223" name="AutoShape 42">
              <a:extLst>
                <a:ext uri="{FF2B5EF4-FFF2-40B4-BE49-F238E27FC236}">
                  <a16:creationId xmlns:a16="http://schemas.microsoft.com/office/drawing/2014/main" id="{38D5C418-EB17-9624-4513-4BB894E18A0B}"/>
                </a:ext>
              </a:extLst>
            </p:cNvPr>
            <p:cNvSpPr>
              <a:spLocks/>
            </p:cNvSpPr>
            <p:nvPr/>
          </p:nvSpPr>
          <p:spPr bwMode="auto">
            <a:xfrm rot="5400000">
              <a:off x="2570" y="696"/>
              <a:ext cx="240" cy="960"/>
            </a:xfrm>
            <a:prstGeom prst="rightBrace">
              <a:avLst>
                <a:gd name="adj1" fmla="val 3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0224" name="AutoShape 43">
              <a:extLst>
                <a:ext uri="{FF2B5EF4-FFF2-40B4-BE49-F238E27FC236}">
                  <a16:creationId xmlns:a16="http://schemas.microsoft.com/office/drawing/2014/main" id="{771E000B-C37B-FFC1-ACD1-E9449B940C7E}"/>
                </a:ext>
              </a:extLst>
            </p:cNvPr>
            <p:cNvSpPr>
              <a:spLocks/>
            </p:cNvSpPr>
            <p:nvPr/>
          </p:nvSpPr>
          <p:spPr bwMode="auto">
            <a:xfrm rot="5400000">
              <a:off x="3588" y="686"/>
              <a:ext cx="240" cy="980"/>
            </a:xfrm>
            <a:prstGeom prst="rightBrace">
              <a:avLst>
                <a:gd name="adj1" fmla="val 340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0225" name="Line 44">
              <a:extLst>
                <a:ext uri="{FF2B5EF4-FFF2-40B4-BE49-F238E27FC236}">
                  <a16:creationId xmlns:a16="http://schemas.microsoft.com/office/drawing/2014/main" id="{CA5C8059-73D4-117A-F400-C87981193A36}"/>
                </a:ext>
              </a:extLst>
            </p:cNvPr>
            <p:cNvSpPr>
              <a:spLocks noChangeShapeType="1"/>
            </p:cNvSpPr>
            <p:nvPr/>
          </p:nvSpPr>
          <p:spPr bwMode="auto">
            <a:xfrm>
              <a:off x="2690" y="124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6" name="Line 45">
              <a:extLst>
                <a:ext uri="{FF2B5EF4-FFF2-40B4-BE49-F238E27FC236}">
                  <a16:creationId xmlns:a16="http://schemas.microsoft.com/office/drawing/2014/main" id="{37434442-BB85-26F1-5F6F-761BC447EB07}"/>
                </a:ext>
              </a:extLst>
            </p:cNvPr>
            <p:cNvSpPr>
              <a:spLocks noChangeShapeType="1"/>
            </p:cNvSpPr>
            <p:nvPr/>
          </p:nvSpPr>
          <p:spPr bwMode="auto">
            <a:xfrm flipH="1">
              <a:off x="1558" y="1632"/>
              <a:ext cx="17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27" name="Line 46">
              <a:extLst>
                <a:ext uri="{FF2B5EF4-FFF2-40B4-BE49-F238E27FC236}">
                  <a16:creationId xmlns:a16="http://schemas.microsoft.com/office/drawing/2014/main" id="{EB15EF5C-DD66-114B-4595-7E189114BA41}"/>
                </a:ext>
              </a:extLst>
            </p:cNvPr>
            <p:cNvSpPr>
              <a:spLocks noChangeShapeType="1"/>
            </p:cNvSpPr>
            <p:nvPr/>
          </p:nvSpPr>
          <p:spPr bwMode="auto">
            <a:xfrm>
              <a:off x="1558" y="1632"/>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8" name="Line 47">
              <a:extLst>
                <a:ext uri="{FF2B5EF4-FFF2-40B4-BE49-F238E27FC236}">
                  <a16:creationId xmlns:a16="http://schemas.microsoft.com/office/drawing/2014/main" id="{8E05E701-6104-93DF-8FF9-E0B93F93E1DE}"/>
                </a:ext>
              </a:extLst>
            </p:cNvPr>
            <p:cNvSpPr>
              <a:spLocks noChangeShapeType="1"/>
            </p:cNvSpPr>
            <p:nvPr/>
          </p:nvSpPr>
          <p:spPr bwMode="auto">
            <a:xfrm>
              <a:off x="3334" y="1632"/>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29" name="Line 48">
              <a:extLst>
                <a:ext uri="{FF2B5EF4-FFF2-40B4-BE49-F238E27FC236}">
                  <a16:creationId xmlns:a16="http://schemas.microsoft.com/office/drawing/2014/main" id="{CC632186-D3CA-7ECB-11D1-789612110660}"/>
                </a:ext>
              </a:extLst>
            </p:cNvPr>
            <p:cNvSpPr>
              <a:spLocks noChangeShapeType="1"/>
            </p:cNvSpPr>
            <p:nvPr/>
          </p:nvSpPr>
          <p:spPr bwMode="auto">
            <a:xfrm>
              <a:off x="3718" y="1296"/>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30" name="Text Box 49">
              <a:extLst>
                <a:ext uri="{FF2B5EF4-FFF2-40B4-BE49-F238E27FC236}">
                  <a16:creationId xmlns:a16="http://schemas.microsoft.com/office/drawing/2014/main" id="{3334057B-C1BB-B242-882E-229A6489D024}"/>
                </a:ext>
              </a:extLst>
            </p:cNvPr>
            <p:cNvSpPr txBox="1">
              <a:spLocks noChangeArrowheads="1"/>
            </p:cNvSpPr>
            <p:nvPr/>
          </p:nvSpPr>
          <p:spPr bwMode="auto">
            <a:xfrm>
              <a:off x="3036" y="2863"/>
              <a:ext cx="27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0">
                  <a:latin typeface="Times New Roman" panose="02020603050405020304" pitchFamily="18" charset="0"/>
                </a:rPr>
                <a:t>操作：把</a:t>
              </a:r>
              <a:r>
                <a:rPr kumimoji="1" lang="en-US" altLang="zh-CN" sz="2000" b="0">
                  <a:latin typeface="Times New Roman" panose="02020603050405020304" pitchFamily="18" charset="0"/>
                </a:rPr>
                <a:t>prio</a:t>
              </a:r>
              <a:r>
                <a:rPr kumimoji="1" lang="zh-CN" altLang="en-US" sz="2000" b="0">
                  <a:latin typeface="Times New Roman" panose="02020603050405020304" pitchFamily="18" charset="0"/>
                </a:rPr>
                <a:t>为</a:t>
              </a:r>
              <a:r>
                <a:rPr kumimoji="1" lang="en-US" altLang="zh-CN" sz="2000" b="0">
                  <a:latin typeface="Times New Roman" panose="02020603050405020304" pitchFamily="18" charset="0"/>
                </a:rPr>
                <a:t>29</a:t>
              </a:r>
              <a:r>
                <a:rPr kumimoji="1" lang="zh-CN" altLang="en-US" sz="2000" b="0">
                  <a:latin typeface="Times New Roman" panose="02020603050405020304" pitchFamily="18" charset="0"/>
                </a:rPr>
                <a:t>的任务置为就绪状态</a:t>
              </a:r>
            </a:p>
          </p:txBody>
        </p:sp>
        <p:sp>
          <p:nvSpPr>
            <p:cNvPr id="50231" name="Text Box 50">
              <a:extLst>
                <a:ext uri="{FF2B5EF4-FFF2-40B4-BE49-F238E27FC236}">
                  <a16:creationId xmlns:a16="http://schemas.microsoft.com/office/drawing/2014/main" id="{A3FF0747-EEBA-24E0-32E0-E3C8EA4F0DFA}"/>
                </a:ext>
              </a:extLst>
            </p:cNvPr>
            <p:cNvSpPr txBox="1">
              <a:spLocks noChangeArrowheads="1"/>
            </p:cNvSpPr>
            <p:nvPr/>
          </p:nvSpPr>
          <p:spPr bwMode="auto">
            <a:xfrm>
              <a:off x="2710" y="1248"/>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FF0000"/>
                  </a:solidFill>
                  <a:latin typeface="Times New Roman" panose="02020603050405020304" pitchFamily="18" charset="0"/>
                </a:rPr>
                <a:t>Y</a:t>
              </a:r>
            </a:p>
          </p:txBody>
        </p:sp>
        <p:sp>
          <p:nvSpPr>
            <p:cNvPr id="50232" name="Text Box 51">
              <a:extLst>
                <a:ext uri="{FF2B5EF4-FFF2-40B4-BE49-F238E27FC236}">
                  <a16:creationId xmlns:a16="http://schemas.microsoft.com/office/drawing/2014/main" id="{20A055EA-EEA2-25F6-E052-1A7046D92421}"/>
                </a:ext>
              </a:extLst>
            </p:cNvPr>
            <p:cNvSpPr txBox="1">
              <a:spLocks noChangeArrowheads="1"/>
            </p:cNvSpPr>
            <p:nvPr/>
          </p:nvSpPr>
          <p:spPr bwMode="auto">
            <a:xfrm>
              <a:off x="3766" y="1248"/>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X</a:t>
              </a:r>
            </a:p>
          </p:txBody>
        </p:sp>
        <p:sp>
          <p:nvSpPr>
            <p:cNvPr id="70708" name="Text Box 52">
              <a:extLst>
                <a:ext uri="{FF2B5EF4-FFF2-40B4-BE49-F238E27FC236}">
                  <a16:creationId xmlns:a16="http://schemas.microsoft.com/office/drawing/2014/main" id="{1AF3376A-94E9-16DE-850A-3FBB27C6BF79}"/>
                </a:ext>
              </a:extLst>
            </p:cNvPr>
            <p:cNvSpPr txBox="1">
              <a:spLocks noChangeArrowheads="1"/>
            </p:cNvSpPr>
            <p:nvPr/>
          </p:nvSpPr>
          <p:spPr bwMode="auto">
            <a:xfrm>
              <a:off x="214" y="1342"/>
              <a:ext cx="2267" cy="250"/>
            </a:xfrm>
            <a:prstGeom prst="rect">
              <a:avLst/>
            </a:prstGeom>
            <a:noFill/>
            <a:ln w="9525">
              <a:noFill/>
              <a:miter lim="800000"/>
              <a:headEnd/>
              <a:tailEnd/>
            </a:ln>
            <a:effectLst/>
          </p:spPr>
          <p:txBody>
            <a:bodyPr wrap="none">
              <a:spAutoFit/>
            </a:bodyPr>
            <a:lstStyle/>
            <a:p>
              <a:pPr eaLnBrk="1" hangingPunct="1">
                <a:defRPr/>
              </a:pPr>
              <a:r>
                <a:rPr kumimoji="1" lang="en-US" altLang="zh-CN" sz="2000" b="0">
                  <a:solidFill>
                    <a:srgbClr val="CC0066"/>
                  </a:solidFill>
                  <a:effectLst>
                    <a:outerShdw blurRad="38100" dist="38100" dir="2700000" algn="tl">
                      <a:srgbClr val="C0C0C0"/>
                    </a:outerShdw>
                  </a:effectLst>
                  <a:latin typeface="Arial Narrow" pitchFamily="34" charset="0"/>
                </a:rPr>
                <a:t>OSRdyGrp</a:t>
              </a:r>
              <a:r>
                <a:rPr kumimoji="1" lang="en-US" altLang="zh-CN" sz="2000" b="0">
                  <a:solidFill>
                    <a:srgbClr val="0066FF"/>
                  </a:solidFill>
                  <a:latin typeface="Arial Narrow" pitchFamily="34" charset="0"/>
                </a:rPr>
                <a:t> | = OSMapTbl[ prio&gt;&gt;3 ]; </a:t>
              </a:r>
            </a:p>
          </p:txBody>
        </p:sp>
        <p:sp>
          <p:nvSpPr>
            <p:cNvPr id="70709" name="Text Box 53">
              <a:extLst>
                <a:ext uri="{FF2B5EF4-FFF2-40B4-BE49-F238E27FC236}">
                  <a16:creationId xmlns:a16="http://schemas.microsoft.com/office/drawing/2014/main" id="{81BB6A5C-01DB-F308-2D66-C7ECF9C220B4}"/>
                </a:ext>
              </a:extLst>
            </p:cNvPr>
            <p:cNvSpPr txBox="1">
              <a:spLocks noChangeArrowheads="1"/>
            </p:cNvSpPr>
            <p:nvPr/>
          </p:nvSpPr>
          <p:spPr bwMode="auto">
            <a:xfrm>
              <a:off x="3765" y="1390"/>
              <a:ext cx="1770" cy="442"/>
            </a:xfrm>
            <a:prstGeom prst="rect">
              <a:avLst/>
            </a:prstGeom>
            <a:noFill/>
            <a:ln w="9525">
              <a:noFill/>
              <a:miter lim="800000"/>
              <a:headEnd/>
              <a:tailEnd/>
            </a:ln>
            <a:effectLst/>
          </p:spPr>
          <p:txBody>
            <a:bodyPr wrap="none">
              <a:spAutoFit/>
            </a:bodyPr>
            <a:lstStyle/>
            <a:p>
              <a:pPr eaLnBrk="1" hangingPunct="1">
                <a:defRPr/>
              </a:pPr>
              <a:r>
                <a:rPr kumimoji="1" lang="en-US" altLang="zh-CN" sz="2000" b="0">
                  <a:solidFill>
                    <a:srgbClr val="CC0066"/>
                  </a:solidFill>
                  <a:effectLst>
                    <a:outerShdw blurRad="38100" dist="38100" dir="2700000" algn="tl">
                      <a:srgbClr val="C0C0C0"/>
                    </a:outerShdw>
                  </a:effectLst>
                  <a:latin typeface="Arial Narrow" pitchFamily="34" charset="0"/>
                </a:rPr>
                <a:t>OSRdyTbl</a:t>
              </a:r>
              <a:r>
                <a:rPr kumimoji="1" lang="en-US" altLang="zh-CN" sz="2000" b="0">
                  <a:solidFill>
                    <a:srgbClr val="0066FF"/>
                  </a:solidFill>
                  <a:latin typeface="Arial Narrow" pitchFamily="34" charset="0"/>
                </a:rPr>
                <a:t>[ prio&gt;&gt;3 ]</a:t>
              </a:r>
            </a:p>
            <a:p>
              <a:pPr eaLnBrk="1" hangingPunct="1">
                <a:defRPr/>
              </a:pPr>
              <a:r>
                <a:rPr kumimoji="1" lang="en-US" altLang="zh-CN" sz="2000" b="0">
                  <a:solidFill>
                    <a:srgbClr val="0066FF"/>
                  </a:solidFill>
                  <a:latin typeface="Arial Narrow" pitchFamily="34" charset="0"/>
                </a:rPr>
                <a:t> | = OSMapTbl[ prio&amp;0x07 ]; </a:t>
              </a:r>
            </a:p>
          </p:txBody>
        </p:sp>
        <p:sp>
          <p:nvSpPr>
            <p:cNvPr id="50235" name="Text Box 110">
              <a:extLst>
                <a:ext uri="{FF2B5EF4-FFF2-40B4-BE49-F238E27FC236}">
                  <a16:creationId xmlns:a16="http://schemas.microsoft.com/office/drawing/2014/main" id="{6916AE01-0897-A53B-4902-8A7EBAFD0693}"/>
                </a:ext>
              </a:extLst>
            </p:cNvPr>
            <p:cNvSpPr txBox="1">
              <a:spLocks noChangeArrowheads="1"/>
            </p:cNvSpPr>
            <p:nvPr/>
          </p:nvSpPr>
          <p:spPr bwMode="auto">
            <a:xfrm>
              <a:off x="113" y="2659"/>
              <a:ext cx="2495" cy="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1800" b="0"/>
                <a:t>OSMapTbl[0] = 0000,000</a:t>
              </a:r>
              <a:r>
                <a:rPr lang="en-US" altLang="zh-CN" sz="1800" b="0">
                  <a:solidFill>
                    <a:srgbClr val="FF0000"/>
                  </a:solidFill>
                </a:rPr>
                <a:t>1</a:t>
              </a:r>
              <a:r>
                <a:rPr lang="en-US" altLang="zh-CN" sz="1800" b="0"/>
                <a:t>B</a:t>
              </a:r>
            </a:p>
            <a:p>
              <a:pPr algn="ctr" eaLnBrk="1" hangingPunct="1">
                <a:spcBef>
                  <a:spcPct val="0"/>
                </a:spcBef>
                <a:buClrTx/>
                <a:buSzTx/>
                <a:buFontTx/>
                <a:buNone/>
              </a:pPr>
              <a:r>
                <a:rPr lang="en-US" altLang="zh-CN" sz="1800" b="0"/>
                <a:t>OSMapTbl[1] = 0000,00</a:t>
              </a:r>
              <a:r>
                <a:rPr lang="en-US" altLang="zh-CN" sz="1800" b="0">
                  <a:solidFill>
                    <a:srgbClr val="FF0000"/>
                  </a:solidFill>
                </a:rPr>
                <a:t>1</a:t>
              </a:r>
              <a:r>
                <a:rPr lang="en-US" altLang="zh-CN" sz="1800" b="0"/>
                <a:t>0B</a:t>
              </a:r>
            </a:p>
            <a:p>
              <a:pPr algn="ctr" eaLnBrk="1" hangingPunct="1">
                <a:spcBef>
                  <a:spcPct val="0"/>
                </a:spcBef>
                <a:buClrTx/>
                <a:buSzTx/>
                <a:buFontTx/>
                <a:buNone/>
              </a:pPr>
              <a:r>
                <a:rPr lang="en-US" altLang="zh-CN" sz="1800" b="0"/>
                <a:t>OSMapTbl[2] = 0000,0</a:t>
              </a:r>
              <a:r>
                <a:rPr lang="en-US" altLang="zh-CN" sz="1800" b="0">
                  <a:solidFill>
                    <a:srgbClr val="FF0000"/>
                  </a:solidFill>
                </a:rPr>
                <a:t>1</a:t>
              </a:r>
              <a:r>
                <a:rPr lang="en-US" altLang="zh-CN" sz="1800" b="0"/>
                <a:t>00B</a:t>
              </a:r>
            </a:p>
            <a:p>
              <a:pPr algn="ctr" eaLnBrk="1" hangingPunct="1">
                <a:spcBef>
                  <a:spcPct val="0"/>
                </a:spcBef>
                <a:buClrTx/>
                <a:buSzTx/>
                <a:buFontTx/>
                <a:buNone/>
              </a:pPr>
              <a:r>
                <a:rPr lang="en-US" altLang="zh-CN" sz="1800" b="0"/>
                <a:t>OSMapTbl[3] = 0000,</a:t>
              </a:r>
              <a:r>
                <a:rPr lang="en-US" altLang="zh-CN" sz="1800" b="0">
                  <a:solidFill>
                    <a:srgbClr val="FF0000"/>
                  </a:solidFill>
                </a:rPr>
                <a:t>1</a:t>
              </a:r>
              <a:r>
                <a:rPr lang="en-US" altLang="zh-CN" sz="1800" b="0"/>
                <a:t>000B</a:t>
              </a:r>
            </a:p>
            <a:p>
              <a:pPr algn="ctr" eaLnBrk="1" hangingPunct="1">
                <a:spcBef>
                  <a:spcPct val="0"/>
                </a:spcBef>
                <a:buClrTx/>
                <a:buSzTx/>
                <a:buFontTx/>
                <a:buNone/>
              </a:pPr>
              <a:r>
                <a:rPr lang="en-US" altLang="zh-CN" sz="1800" b="0"/>
                <a:t>OSMapTbl[4] = 000</a:t>
              </a:r>
              <a:r>
                <a:rPr lang="en-US" altLang="zh-CN" sz="1800" b="0">
                  <a:solidFill>
                    <a:srgbClr val="FF0000"/>
                  </a:solidFill>
                </a:rPr>
                <a:t>1</a:t>
              </a:r>
              <a:r>
                <a:rPr lang="en-US" altLang="zh-CN" sz="1800" b="0"/>
                <a:t>,0000B</a:t>
              </a:r>
            </a:p>
            <a:p>
              <a:pPr algn="ctr" eaLnBrk="1" hangingPunct="1">
                <a:spcBef>
                  <a:spcPct val="0"/>
                </a:spcBef>
                <a:buClrTx/>
                <a:buSzTx/>
                <a:buFontTx/>
                <a:buNone/>
              </a:pPr>
              <a:r>
                <a:rPr lang="en-US" altLang="zh-CN" sz="1800" b="0"/>
                <a:t>OSMapTbl[5] = 00</a:t>
              </a:r>
              <a:r>
                <a:rPr lang="en-US" altLang="zh-CN" sz="1800" b="0">
                  <a:solidFill>
                    <a:srgbClr val="FF0000"/>
                  </a:solidFill>
                </a:rPr>
                <a:t>1</a:t>
              </a:r>
              <a:r>
                <a:rPr lang="en-US" altLang="zh-CN" sz="1800" b="0"/>
                <a:t>0,0000B</a:t>
              </a:r>
            </a:p>
            <a:p>
              <a:pPr algn="ctr" eaLnBrk="1" hangingPunct="1">
                <a:spcBef>
                  <a:spcPct val="0"/>
                </a:spcBef>
                <a:buClrTx/>
                <a:buSzTx/>
                <a:buFontTx/>
                <a:buNone/>
              </a:pPr>
              <a:r>
                <a:rPr lang="en-US" altLang="zh-CN" sz="1800" b="0"/>
                <a:t>OSMapTbl[6] = 0</a:t>
              </a:r>
              <a:r>
                <a:rPr lang="en-US" altLang="zh-CN" sz="1800" b="0">
                  <a:solidFill>
                    <a:srgbClr val="FF0000"/>
                  </a:solidFill>
                </a:rPr>
                <a:t>1</a:t>
              </a:r>
              <a:r>
                <a:rPr lang="en-US" altLang="zh-CN" sz="1800" b="0"/>
                <a:t>00,0000B</a:t>
              </a:r>
            </a:p>
            <a:p>
              <a:pPr algn="ctr" eaLnBrk="1" hangingPunct="1">
                <a:spcBef>
                  <a:spcPct val="0"/>
                </a:spcBef>
                <a:buClrTx/>
                <a:buSzTx/>
                <a:buFontTx/>
                <a:buNone/>
              </a:pPr>
              <a:r>
                <a:rPr lang="en-US" altLang="zh-CN" sz="1800" b="0"/>
                <a:t>OSMapTbl[7] = </a:t>
              </a:r>
              <a:r>
                <a:rPr lang="en-US" altLang="zh-CN" sz="1800" b="0">
                  <a:solidFill>
                    <a:srgbClr val="FF0000"/>
                  </a:solidFill>
                </a:rPr>
                <a:t>1</a:t>
              </a:r>
              <a:r>
                <a:rPr lang="en-US" altLang="zh-CN" sz="1800" b="0"/>
                <a:t>000,0000B</a:t>
              </a:r>
            </a:p>
          </p:txBody>
        </p:sp>
      </p:grpSp>
      <p:sp>
        <p:nvSpPr>
          <p:cNvPr id="70769" name="Text Box 113">
            <a:extLst>
              <a:ext uri="{FF2B5EF4-FFF2-40B4-BE49-F238E27FC236}">
                <a16:creationId xmlns:a16="http://schemas.microsoft.com/office/drawing/2014/main" id="{673104FD-60BF-C98F-4F5D-3651EB70B709}"/>
              </a:ext>
            </a:extLst>
          </p:cNvPr>
          <p:cNvSpPr txBox="1">
            <a:spLocks noChangeArrowheads="1"/>
          </p:cNvSpPr>
          <p:nvPr/>
        </p:nvSpPr>
        <p:spPr bwMode="auto">
          <a:xfrm>
            <a:off x="250825" y="692150"/>
            <a:ext cx="8610600" cy="6083300"/>
          </a:xfrm>
          <a:prstGeom prst="rect">
            <a:avLst/>
          </a:prstGeom>
          <a:solidFill>
            <a:srgbClr val="FFFFCC"/>
          </a:solidFill>
          <a:ln w="76200" cmpd="tri">
            <a:solidFill>
              <a:schemeClr val="tx1"/>
            </a:solidFill>
            <a:miter lim="800000"/>
            <a:headEnd/>
            <a:tailEnd/>
          </a:ln>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
                <a:srgbClr val="0066FF"/>
              </a:buClr>
              <a:buSzPct val="50000"/>
            </a:pPr>
            <a:r>
              <a:rPr kumimoji="1" lang="zh-CN" altLang="en-US" b="0">
                <a:latin typeface="华文新魏" panose="02010800040101010101" pitchFamily="2" charset="-122"/>
                <a:ea typeface="华文新魏" panose="02010800040101010101" pitchFamily="2" charset="-122"/>
              </a:rPr>
              <a:t>在程序中，可以用下面的代码把优先级别为 </a:t>
            </a:r>
            <a:r>
              <a:rPr kumimoji="1" lang="en-US" altLang="zh-CN" b="0">
                <a:latin typeface="华文新魏" panose="02010800040101010101" pitchFamily="2" charset="-122"/>
                <a:ea typeface="华文新魏" panose="02010800040101010101" pitchFamily="2" charset="-122"/>
              </a:rPr>
              <a:t>prio </a:t>
            </a:r>
            <a:r>
              <a:rPr kumimoji="1" lang="zh-CN" altLang="en-US" b="0">
                <a:latin typeface="华文新魏" panose="02010800040101010101" pitchFamily="2" charset="-122"/>
                <a:ea typeface="华文新魏" panose="02010800040101010101" pitchFamily="2" charset="-122"/>
              </a:rPr>
              <a:t>的任务置为就绪状态：</a:t>
            </a:r>
          </a:p>
          <a:p>
            <a:pPr algn="just" eaLnBrk="1" hangingPunct="1">
              <a:spcBef>
                <a:spcPct val="0"/>
              </a:spcBef>
              <a:buClrTx/>
              <a:buSzTx/>
              <a:buFontTx/>
              <a:buNone/>
            </a:pPr>
            <a:r>
              <a:rPr kumimoji="1" lang="zh-CN" altLang="en-US" sz="3600" b="0">
                <a:latin typeface="黑体" panose="02010609060101010101" pitchFamily="49" charset="-122"/>
                <a:ea typeface="黑体" panose="02010609060101010101" pitchFamily="49" charset="-122"/>
              </a:rPr>
              <a:t> </a:t>
            </a:r>
          </a:p>
          <a:p>
            <a:pPr algn="just" eaLnBrk="1" hangingPunct="1">
              <a:spcBef>
                <a:spcPct val="0"/>
              </a:spcBef>
              <a:buClrTx/>
              <a:buSzTx/>
              <a:buFontTx/>
              <a:buNone/>
            </a:pPr>
            <a:r>
              <a:rPr kumimoji="1" lang="en-US" altLang="zh-CN" sz="2800">
                <a:solidFill>
                  <a:srgbClr val="0066FF"/>
                </a:solidFill>
                <a:latin typeface="Arial Narrow" panose="020B0606020202030204" pitchFamily="34" charset="0"/>
                <a:ea typeface="黑体" panose="02010609060101010101" pitchFamily="49" charset="-122"/>
              </a:rPr>
              <a:t>OSRdyGrp | = OSMapTbl[prio&gt;&gt;3];</a:t>
            </a:r>
            <a:endParaRPr kumimoji="1" lang="en-US" altLang="zh-CN" sz="2800" b="0">
              <a:solidFill>
                <a:srgbClr val="0066FF"/>
              </a:solidFill>
              <a:latin typeface="Arial Narrow" panose="020B0606020202030204" pitchFamily="34" charset="0"/>
              <a:ea typeface="黑体" panose="02010609060101010101" pitchFamily="49" charset="-122"/>
            </a:endParaRPr>
          </a:p>
          <a:p>
            <a:pPr eaLnBrk="1" hangingPunct="1">
              <a:spcBef>
                <a:spcPct val="0"/>
              </a:spcBef>
              <a:buClrTx/>
              <a:buSzTx/>
              <a:buFontTx/>
              <a:buNone/>
            </a:pPr>
            <a:r>
              <a:rPr kumimoji="1" lang="en-US" altLang="zh-CN" sz="2800">
                <a:solidFill>
                  <a:srgbClr val="0066FF"/>
                </a:solidFill>
                <a:latin typeface="Arial Narrow" panose="020B0606020202030204" pitchFamily="34" charset="0"/>
                <a:ea typeface="黑体" panose="02010609060101010101" pitchFamily="49" charset="-122"/>
              </a:rPr>
              <a:t>OSRdyTbl[prio&gt;&gt;3] | = OSMapTbl[prio&amp;0x07];</a:t>
            </a:r>
          </a:p>
          <a:p>
            <a:pPr eaLnBrk="1" hangingPunct="1">
              <a:spcBef>
                <a:spcPct val="0"/>
              </a:spcBef>
              <a:buClrTx/>
              <a:buSzTx/>
              <a:buFontTx/>
              <a:buNone/>
            </a:pPr>
            <a:endParaRPr kumimoji="1" lang="en-US" altLang="zh-CN" sz="2800">
              <a:solidFill>
                <a:srgbClr val="0066FF"/>
              </a:solidFill>
              <a:latin typeface="Arial Narrow" panose="020B0606020202030204" pitchFamily="34" charset="0"/>
              <a:ea typeface="黑体" panose="02010609060101010101" pitchFamily="49" charset="-122"/>
            </a:endParaRPr>
          </a:p>
          <a:p>
            <a:pPr algn="just" eaLnBrk="1" hangingPunct="1">
              <a:spcBef>
                <a:spcPct val="0"/>
              </a:spcBef>
              <a:buClr>
                <a:srgbClr val="0066FF"/>
              </a:buClr>
              <a:buSzPct val="50000"/>
            </a:pPr>
            <a:r>
              <a:rPr kumimoji="1" lang="zh-CN" altLang="en-US" b="0">
                <a:latin typeface="华文新魏" panose="02010800040101010101" pitchFamily="2" charset="-122"/>
                <a:ea typeface="华文新魏" panose="02010800040101010101" pitchFamily="2" charset="-122"/>
              </a:rPr>
              <a:t>使用如下代码可使一个优先级别为</a:t>
            </a:r>
            <a:r>
              <a:rPr kumimoji="1" lang="en-US" altLang="zh-CN" b="0">
                <a:latin typeface="华文新魏" panose="02010800040101010101" pitchFamily="2" charset="-122"/>
                <a:ea typeface="华文新魏" panose="02010800040101010101" pitchFamily="2" charset="-122"/>
              </a:rPr>
              <a:t>prio</a:t>
            </a:r>
            <a:r>
              <a:rPr kumimoji="1" lang="zh-CN" altLang="en-US" b="0">
                <a:latin typeface="华文新魏" panose="02010800040101010101" pitchFamily="2" charset="-122"/>
                <a:ea typeface="华文新魏" panose="02010800040101010101" pitchFamily="2" charset="-122"/>
              </a:rPr>
              <a:t>的任务脱离就绪状态：</a:t>
            </a:r>
          </a:p>
          <a:p>
            <a:pPr algn="just" eaLnBrk="1" hangingPunct="1">
              <a:spcBef>
                <a:spcPct val="0"/>
              </a:spcBef>
              <a:buClrTx/>
              <a:buSzTx/>
              <a:buFontTx/>
              <a:buNone/>
            </a:pPr>
            <a:r>
              <a:rPr kumimoji="1" lang="zh-CN" altLang="en-US" sz="2800">
                <a:solidFill>
                  <a:srgbClr val="FF3300"/>
                </a:solidFill>
                <a:latin typeface="Times New Roman" panose="02020603050405020304" pitchFamily="18" charset="0"/>
              </a:rPr>
              <a:t> </a:t>
            </a:r>
            <a:endParaRPr kumimoji="1" lang="zh-CN" altLang="en-US" sz="2800">
              <a:solidFill>
                <a:srgbClr val="FF3300"/>
              </a:solidFill>
              <a:latin typeface="黑体" panose="02010609060101010101" pitchFamily="49" charset="-122"/>
            </a:endParaRP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ea typeface="黑体" panose="02010609060101010101" pitchFamily="49" charset="-122"/>
              </a:rPr>
              <a:t>if(</a:t>
            </a:r>
            <a:r>
              <a:rPr kumimoji="1" lang="en-US" altLang="zh-CN" sz="2800">
                <a:solidFill>
                  <a:srgbClr val="0066FF"/>
                </a:solidFill>
                <a:latin typeface="Arial Narrow" panose="020B0606020202030204" pitchFamily="34" charset="0"/>
                <a:ea typeface="黑体" panose="02010609060101010101" pitchFamily="49" charset="-122"/>
              </a:rPr>
              <a:t>(</a:t>
            </a:r>
            <a:r>
              <a:rPr kumimoji="1" lang="en-US" altLang="zh-CN" sz="2800">
                <a:solidFill>
                  <a:srgbClr val="FF3300"/>
                </a:solidFill>
                <a:latin typeface="Arial Narrow" panose="020B0606020202030204" pitchFamily="34" charset="0"/>
                <a:ea typeface="黑体" panose="02010609060101010101" pitchFamily="49" charset="-122"/>
              </a:rPr>
              <a:t>OSRdyTbl[prio&gt;&gt;3]&amp;=~OSMapTbl[prio&amp;0x07]</a:t>
            </a:r>
            <a:r>
              <a:rPr kumimoji="1" lang="en-US" altLang="zh-CN" sz="2800">
                <a:solidFill>
                  <a:srgbClr val="0066FF"/>
                </a:solidFill>
                <a:latin typeface="Arial Narrow" panose="020B0606020202030204" pitchFamily="34" charset="0"/>
                <a:ea typeface="黑体" panose="02010609060101010101" pitchFamily="49" charset="-122"/>
              </a:rPr>
              <a:t>)</a:t>
            </a:r>
            <a:r>
              <a:rPr kumimoji="1" lang="en-US" altLang="zh-CN" sz="2800">
                <a:solidFill>
                  <a:srgbClr val="FF3300"/>
                </a:solidFill>
                <a:latin typeface="Arial Narrow" panose="020B0606020202030204" pitchFamily="34" charset="0"/>
                <a:ea typeface="黑体" panose="02010609060101010101" pitchFamily="49" charset="-122"/>
              </a:rPr>
              <a:t>==0)</a:t>
            </a:r>
          </a:p>
          <a:p>
            <a:pPr eaLnBrk="1" hangingPunct="1">
              <a:spcBef>
                <a:spcPct val="0"/>
              </a:spcBef>
              <a:buClrTx/>
              <a:buSzTx/>
              <a:buFontTx/>
              <a:buNone/>
            </a:pPr>
            <a:r>
              <a:rPr kumimoji="1" lang="en-US" altLang="zh-CN" sz="2800">
                <a:solidFill>
                  <a:srgbClr val="FF3300"/>
                </a:solidFill>
                <a:latin typeface="Arial Narrow" panose="020B0606020202030204" pitchFamily="34" charset="0"/>
                <a:ea typeface="黑体" panose="02010609060101010101" pitchFamily="49" charset="-122"/>
              </a:rPr>
              <a:t>	OSRdyGrp &amp;= ~ OSMapTbl[prio&gt;&gt;3];  </a:t>
            </a:r>
          </a:p>
          <a:p>
            <a:pPr eaLnBrk="1" hangingPunct="1">
              <a:spcBef>
                <a:spcPct val="0"/>
              </a:spcBef>
              <a:buClrTx/>
              <a:buSzTx/>
              <a:buFontTx/>
              <a:buNone/>
            </a:pPr>
            <a:endParaRPr kumimoji="1" lang="en-US" altLang="zh-CN" sz="2800">
              <a:solidFill>
                <a:srgbClr val="FF3300"/>
              </a:solidFill>
              <a:latin typeface="Arial Narrow" panose="020B060602020203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0769"/>
                                        </p:tgtEl>
                                        <p:attrNameLst>
                                          <p:attrName>style.visibility</p:attrName>
                                        </p:attrNameLst>
                                      </p:cBhvr>
                                      <p:to>
                                        <p:strVal val="visible"/>
                                      </p:to>
                                    </p:set>
                                    <p:animEffect transition="in" filter="blinds(vertical)">
                                      <p:cBhvr>
                                        <p:cTn id="12" dur="500"/>
                                        <p:tgtEl>
                                          <p:spTgt spid="70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6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a:extLst>
              <a:ext uri="{FF2B5EF4-FFF2-40B4-BE49-F238E27FC236}">
                <a16:creationId xmlns:a16="http://schemas.microsoft.com/office/drawing/2014/main" id="{365A8B66-2B7E-385F-2414-DE9FE4E45B3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1203" name="灯片编号占位符 4">
            <a:extLst>
              <a:ext uri="{FF2B5EF4-FFF2-40B4-BE49-F238E27FC236}">
                <a16:creationId xmlns:a16="http://schemas.microsoft.com/office/drawing/2014/main" id="{F5DB6E08-DBA9-9351-FD7E-C746E01CA1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3BC2DCB-8D49-4D32-B4E0-7CE02A17EA0C}" type="slidenum">
              <a:rPr lang="en-US" altLang="zh-CN" sz="1200" smtClean="0">
                <a:solidFill>
                  <a:srgbClr val="3366FF"/>
                </a:solidFill>
                <a:latin typeface="Arial Black" panose="020B0A04020102020204" pitchFamily="34" charset="0"/>
              </a:rPr>
              <a:pPr>
                <a:spcBef>
                  <a:spcPct val="0"/>
                </a:spcBef>
                <a:buClrTx/>
                <a:buSzTx/>
                <a:buFontTx/>
                <a:buNone/>
              </a:pPr>
              <a:t>47</a:t>
            </a:fld>
            <a:endParaRPr lang="en-US" altLang="zh-CN" sz="1200">
              <a:solidFill>
                <a:srgbClr val="3366FF"/>
              </a:solidFill>
              <a:latin typeface="Arial Black" panose="020B0A04020102020204" pitchFamily="34" charset="0"/>
            </a:endParaRPr>
          </a:p>
        </p:txBody>
      </p:sp>
      <p:sp>
        <p:nvSpPr>
          <p:cNvPr id="51204" name="日期占位符 5">
            <a:extLst>
              <a:ext uri="{FF2B5EF4-FFF2-40B4-BE49-F238E27FC236}">
                <a16:creationId xmlns:a16="http://schemas.microsoft.com/office/drawing/2014/main" id="{D7E44C5F-149B-F4ED-04AC-CE0A1F36CA9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4E1DB5E-B059-47A5-B842-4F60D6FB48B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1205" name="Rectangle 2">
            <a:extLst>
              <a:ext uri="{FF2B5EF4-FFF2-40B4-BE49-F238E27FC236}">
                <a16:creationId xmlns:a16="http://schemas.microsoft.com/office/drawing/2014/main" id="{4A712B18-578C-4614-1747-37AB0CB86729}"/>
              </a:ext>
            </a:extLst>
          </p:cNvPr>
          <p:cNvSpPr>
            <a:spLocks noGrp="1" noChangeArrowheads="1"/>
          </p:cNvSpPr>
          <p:nvPr>
            <p:ph type="title"/>
          </p:nvPr>
        </p:nvSpPr>
        <p:spPr>
          <a:xfrm>
            <a:off x="457200" y="673100"/>
            <a:ext cx="8229600" cy="668338"/>
          </a:xfrm>
        </p:spPr>
        <p:txBody>
          <a:bodyPr/>
          <a:lstStyle/>
          <a:p>
            <a:pPr eaLnBrk="1" hangingPunct="1"/>
            <a:r>
              <a:rPr lang="en-US" altLang="zh-CN" sz="3600"/>
              <a:t>2.4  </a:t>
            </a:r>
            <a:r>
              <a:rPr lang="zh-CN" altLang="en-US" sz="3600" b="1">
                <a:solidFill>
                  <a:srgbClr val="080808"/>
                </a:solidFill>
              </a:rPr>
              <a:t>任务就绪表及任务调度</a:t>
            </a:r>
          </a:p>
        </p:txBody>
      </p:sp>
      <p:sp>
        <p:nvSpPr>
          <p:cNvPr id="51206" name="Rectangle 3">
            <a:extLst>
              <a:ext uri="{FF2B5EF4-FFF2-40B4-BE49-F238E27FC236}">
                <a16:creationId xmlns:a16="http://schemas.microsoft.com/office/drawing/2014/main" id="{25B023B6-08E0-F57B-673F-F844A23F80B0}"/>
              </a:ext>
            </a:extLst>
          </p:cNvPr>
          <p:cNvSpPr>
            <a:spLocks noGrp="1" noChangeArrowheads="1"/>
          </p:cNvSpPr>
          <p:nvPr>
            <p:ph type="body" idx="1"/>
          </p:nvPr>
        </p:nvSpPr>
        <p:spPr>
          <a:xfrm>
            <a:off x="457200" y="1628775"/>
            <a:ext cx="8229600" cy="647700"/>
          </a:xfrm>
        </p:spPr>
        <p:txBody>
          <a:bodyPr/>
          <a:lstStyle/>
          <a:p>
            <a:pPr eaLnBrk="1" hangingPunct="1"/>
            <a:r>
              <a:rPr lang="zh-CN" altLang="en-US" b="1"/>
              <a:t>任务就绪表的操作</a:t>
            </a:r>
            <a:endParaRPr lang="zh-CN" altLang="en-US"/>
          </a:p>
        </p:txBody>
      </p:sp>
      <p:sp>
        <p:nvSpPr>
          <p:cNvPr id="51207" name="Text Box 4" descr="羊皮纸">
            <a:extLst>
              <a:ext uri="{FF2B5EF4-FFF2-40B4-BE49-F238E27FC236}">
                <a16:creationId xmlns:a16="http://schemas.microsoft.com/office/drawing/2014/main" id="{A4199729-2E55-B6F7-7967-C8A3FADDA31C}"/>
              </a:ext>
            </a:extLst>
          </p:cNvPr>
          <p:cNvSpPr txBox="1">
            <a:spLocks noChangeArrowheads="1"/>
          </p:cNvSpPr>
          <p:nvPr/>
        </p:nvSpPr>
        <p:spPr bwMode="auto">
          <a:xfrm>
            <a:off x="900113" y="2349500"/>
            <a:ext cx="7920037" cy="2973388"/>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buClr>
                <a:srgbClr val="0066FF"/>
              </a:buClr>
              <a:buSzPct val="50000"/>
            </a:pPr>
            <a:r>
              <a:rPr lang="zh-CN" altLang="en-US" sz="2800"/>
              <a:t>从 </a:t>
            </a:r>
            <a:r>
              <a:rPr lang="en-US" altLang="zh-CN" sz="2800"/>
              <a:t>prio </a:t>
            </a:r>
            <a:r>
              <a:rPr lang="zh-CN" altLang="en-US" sz="2800"/>
              <a:t>到就绪表</a:t>
            </a:r>
            <a:r>
              <a:rPr lang="en-US" altLang="zh-CN" sz="2800"/>
              <a:t>( OSRdyGrp</a:t>
            </a:r>
            <a:r>
              <a:rPr lang="zh-CN" altLang="en-US" sz="2800"/>
              <a:t>、</a:t>
            </a:r>
            <a:r>
              <a:rPr lang="en-US" altLang="zh-CN" sz="2800"/>
              <a:t>OSRdyTbl[ ] )</a:t>
            </a:r>
            <a:r>
              <a:rPr lang="zh-CN" altLang="en-US" sz="2800"/>
              <a:t>的操作（进入</a:t>
            </a:r>
            <a:r>
              <a:rPr lang="en-US" altLang="zh-CN" sz="2800"/>
              <a:t>/</a:t>
            </a:r>
            <a:r>
              <a:rPr lang="zh-CN" altLang="en-US" sz="2800"/>
              <a:t>脱离 </a:t>
            </a:r>
            <a:r>
              <a:rPr lang="en-US" altLang="zh-CN" sz="2800"/>
              <a:t>---- </a:t>
            </a:r>
            <a:r>
              <a:rPr lang="zh-CN" altLang="en-US" sz="2800"/>
              <a:t>就绪状态）。</a:t>
            </a:r>
          </a:p>
          <a:p>
            <a:pPr eaLnBrk="1" hangingPunct="1">
              <a:lnSpc>
                <a:spcPct val="125000"/>
              </a:lnSpc>
              <a:spcBef>
                <a:spcPct val="50000"/>
              </a:spcBef>
              <a:buClr>
                <a:srgbClr val="0066FF"/>
              </a:buClr>
              <a:buSzPct val="50000"/>
            </a:pPr>
            <a:r>
              <a:rPr lang="zh-CN" altLang="en-US" sz="2800"/>
              <a:t>从就绪表</a:t>
            </a:r>
            <a:r>
              <a:rPr lang="en-US" altLang="zh-CN" sz="2800"/>
              <a:t>( OSRdyGrp</a:t>
            </a:r>
            <a:r>
              <a:rPr lang="zh-CN" altLang="en-US" sz="2800"/>
              <a:t>、</a:t>
            </a:r>
            <a:r>
              <a:rPr lang="en-US" altLang="zh-CN" sz="2800"/>
              <a:t>OSRdyTbl[ ] )</a:t>
            </a:r>
            <a:r>
              <a:rPr lang="zh-CN" altLang="en-US" sz="2800"/>
              <a:t>的当前状态（位图）到最高优先级别 </a:t>
            </a:r>
            <a:r>
              <a:rPr lang="en-US" altLang="zh-CN" sz="2800"/>
              <a:t>prio </a:t>
            </a:r>
            <a:r>
              <a:rPr lang="zh-CN" altLang="en-US" sz="2800"/>
              <a:t>的（任务）映射操作。</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1">
            <a:extLst>
              <a:ext uri="{FF2B5EF4-FFF2-40B4-BE49-F238E27FC236}">
                <a16:creationId xmlns:a16="http://schemas.microsoft.com/office/drawing/2014/main" id="{F33FB713-A001-7189-85BB-C7323681DBF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2227" name="灯片编号占位符 2">
            <a:extLst>
              <a:ext uri="{FF2B5EF4-FFF2-40B4-BE49-F238E27FC236}">
                <a16:creationId xmlns:a16="http://schemas.microsoft.com/office/drawing/2014/main" id="{FE377130-002A-5B6E-944D-3865B43AC00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CDD2497-2B8E-43E5-83F5-A6B8DE2789A6}" type="slidenum">
              <a:rPr lang="en-US" altLang="zh-CN" sz="1200" smtClean="0">
                <a:solidFill>
                  <a:srgbClr val="3366FF"/>
                </a:solidFill>
                <a:latin typeface="Arial Black" panose="020B0A04020102020204" pitchFamily="34" charset="0"/>
              </a:rPr>
              <a:pPr>
                <a:spcBef>
                  <a:spcPct val="0"/>
                </a:spcBef>
                <a:buClrTx/>
                <a:buSzTx/>
                <a:buFontTx/>
                <a:buNone/>
              </a:pPr>
              <a:t>48</a:t>
            </a:fld>
            <a:endParaRPr lang="en-US" altLang="zh-CN" sz="1200">
              <a:solidFill>
                <a:srgbClr val="3366FF"/>
              </a:solidFill>
              <a:latin typeface="Arial Black" panose="020B0A04020102020204" pitchFamily="34" charset="0"/>
            </a:endParaRPr>
          </a:p>
        </p:txBody>
      </p:sp>
      <p:sp>
        <p:nvSpPr>
          <p:cNvPr id="52228" name="日期占位符 3">
            <a:extLst>
              <a:ext uri="{FF2B5EF4-FFF2-40B4-BE49-F238E27FC236}">
                <a16:creationId xmlns:a16="http://schemas.microsoft.com/office/drawing/2014/main" id="{FA9DDD40-C1DC-4759-7AB3-224D4F18650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CE67D43-3036-4612-8541-7D8CA497339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2229" name="Rectangle 2">
            <a:extLst>
              <a:ext uri="{FF2B5EF4-FFF2-40B4-BE49-F238E27FC236}">
                <a16:creationId xmlns:a16="http://schemas.microsoft.com/office/drawing/2014/main" id="{90C914E3-06CD-C513-4E00-866FA6E4B204}"/>
              </a:ext>
            </a:extLst>
          </p:cNvPr>
          <p:cNvSpPr>
            <a:spLocks noChangeArrowheads="1"/>
          </p:cNvSpPr>
          <p:nvPr/>
        </p:nvSpPr>
        <p:spPr bwMode="auto">
          <a:xfrm>
            <a:off x="457200" y="6731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52230" name="Rectangle 3">
            <a:extLst>
              <a:ext uri="{FF2B5EF4-FFF2-40B4-BE49-F238E27FC236}">
                <a16:creationId xmlns:a16="http://schemas.microsoft.com/office/drawing/2014/main" id="{4D869792-AAD9-851F-9D0D-18A9BC52E035}"/>
              </a:ext>
            </a:extLst>
          </p:cNvPr>
          <p:cNvSpPr>
            <a:spLocks noChangeArrowheads="1"/>
          </p:cNvSpPr>
          <p:nvPr/>
        </p:nvSpPr>
        <p:spPr bwMode="auto">
          <a:xfrm>
            <a:off x="468313" y="14843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zh-CN" altLang="en-US"/>
              <a:t>依照任务就绪表的状态计算 </a:t>
            </a:r>
            <a:r>
              <a:rPr lang="en-US" altLang="zh-CN"/>
              <a:t>prio </a:t>
            </a:r>
            <a:r>
              <a:rPr lang="zh-CN" altLang="en-US"/>
              <a:t>的操作</a:t>
            </a:r>
          </a:p>
        </p:txBody>
      </p:sp>
      <p:sp>
        <p:nvSpPr>
          <p:cNvPr id="52231" name="Text Box 4" descr="羊皮纸">
            <a:extLst>
              <a:ext uri="{FF2B5EF4-FFF2-40B4-BE49-F238E27FC236}">
                <a16:creationId xmlns:a16="http://schemas.microsoft.com/office/drawing/2014/main" id="{637D4E8A-2C19-9208-3B1D-D3D333158FBF}"/>
              </a:ext>
            </a:extLst>
          </p:cNvPr>
          <p:cNvSpPr txBox="1">
            <a:spLocks noChangeArrowheads="1"/>
          </p:cNvSpPr>
          <p:nvPr/>
        </p:nvSpPr>
        <p:spPr bwMode="auto">
          <a:xfrm>
            <a:off x="971550" y="2924175"/>
            <a:ext cx="7272338" cy="3576638"/>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Tx/>
              <a:buSzTx/>
              <a:buFontTx/>
              <a:buNone/>
            </a:pPr>
            <a:r>
              <a:rPr lang="en-US" altLang="zh-CN" sz="2400"/>
              <a:t>INT8U  const  OSUnMapTbl[ ] =  {</a:t>
            </a:r>
          </a:p>
          <a:p>
            <a:pPr eaLnBrk="1" hangingPunct="1">
              <a:spcBef>
                <a:spcPct val="10000"/>
              </a:spcBef>
              <a:buClrTx/>
              <a:buSzTx/>
              <a:buFontTx/>
              <a:buNone/>
            </a:pPr>
            <a:r>
              <a:rPr lang="en-US" altLang="zh-CN" sz="2400"/>
              <a:t>	0,0,1,0,2,0,1,0,3,0,1,0,2,0,1,0,</a:t>
            </a:r>
          </a:p>
          <a:p>
            <a:pPr eaLnBrk="1" hangingPunct="1">
              <a:spcBef>
                <a:spcPct val="10000"/>
              </a:spcBef>
              <a:buClrTx/>
              <a:buSzTx/>
              <a:buFontTx/>
              <a:buNone/>
            </a:pPr>
            <a:r>
              <a:rPr lang="en-US" altLang="zh-CN" sz="2400"/>
              <a:t>	4,0,1,0,2,0,1,0,3,0,1,0,2,0,1,0,</a:t>
            </a:r>
          </a:p>
          <a:p>
            <a:pPr eaLnBrk="1" hangingPunct="1">
              <a:spcBef>
                <a:spcPct val="10000"/>
              </a:spcBef>
              <a:buClrTx/>
              <a:buSzTx/>
              <a:buFontTx/>
              <a:buNone/>
            </a:pPr>
            <a:r>
              <a:rPr lang="en-US" altLang="zh-CN" sz="2400"/>
              <a:t>	5,0,1,0,2,0,1,0,3,0,1,0,2,0,1,0,</a:t>
            </a:r>
          </a:p>
          <a:p>
            <a:pPr eaLnBrk="1" hangingPunct="1">
              <a:spcBef>
                <a:spcPct val="10000"/>
              </a:spcBef>
              <a:buClrTx/>
              <a:buSzTx/>
              <a:buFontTx/>
              <a:buNone/>
            </a:pPr>
            <a:r>
              <a:rPr lang="en-US" altLang="zh-CN" sz="2400"/>
              <a:t>	… …</a:t>
            </a:r>
          </a:p>
          <a:p>
            <a:pPr eaLnBrk="1" hangingPunct="1">
              <a:spcBef>
                <a:spcPct val="10000"/>
              </a:spcBef>
              <a:buClrTx/>
              <a:buSzTx/>
              <a:buFontTx/>
              <a:buNone/>
            </a:pPr>
            <a:r>
              <a:rPr lang="en-US" altLang="zh-CN" sz="2400"/>
              <a:t>	};</a:t>
            </a:r>
          </a:p>
          <a:p>
            <a:pPr eaLnBrk="1" hangingPunct="1">
              <a:spcBef>
                <a:spcPct val="10000"/>
              </a:spcBef>
              <a:buClrTx/>
              <a:buSzTx/>
              <a:buFontTx/>
              <a:buNone/>
            </a:pPr>
            <a:endParaRPr lang="en-US" altLang="zh-CN" sz="1600"/>
          </a:p>
          <a:p>
            <a:pPr eaLnBrk="1" hangingPunct="1">
              <a:spcBef>
                <a:spcPct val="10000"/>
              </a:spcBef>
              <a:buClrTx/>
              <a:buSzTx/>
              <a:buFontTx/>
              <a:buNone/>
            </a:pPr>
            <a:r>
              <a:rPr lang="zh-CN" altLang="en-US" sz="2400">
                <a:solidFill>
                  <a:srgbClr val="339966"/>
                </a:solidFill>
              </a:rPr>
              <a:t>备注：该数组共计</a:t>
            </a:r>
            <a:r>
              <a:rPr lang="en-US" altLang="zh-CN" sz="2400">
                <a:solidFill>
                  <a:srgbClr val="339966"/>
                </a:solidFill>
              </a:rPr>
              <a:t>256</a:t>
            </a:r>
            <a:r>
              <a:rPr lang="zh-CN" altLang="en-US" sz="2400">
                <a:solidFill>
                  <a:srgbClr val="339966"/>
                </a:solidFill>
              </a:rPr>
              <a:t>个元素（亦称之为</a:t>
            </a:r>
            <a:r>
              <a:rPr lang="en-US" altLang="zh-CN" sz="2400">
                <a:solidFill>
                  <a:srgbClr val="339966"/>
                </a:solidFill>
              </a:rPr>
              <a:t>《</a:t>
            </a:r>
            <a:r>
              <a:rPr lang="zh-CN" altLang="en-US" sz="2400">
                <a:solidFill>
                  <a:srgbClr val="FF0000"/>
                </a:solidFill>
              </a:rPr>
              <a:t>优先级判定表</a:t>
            </a:r>
            <a:r>
              <a:rPr lang="en-US" altLang="zh-CN" sz="2400">
                <a:solidFill>
                  <a:srgbClr val="339966"/>
                </a:solidFill>
              </a:rPr>
              <a:t>》</a:t>
            </a:r>
            <a:r>
              <a:rPr lang="zh-CN" altLang="en-US" sz="2400">
                <a:solidFill>
                  <a:srgbClr val="339966"/>
                </a:solidFill>
              </a:rPr>
              <a:t>）</a:t>
            </a:r>
          </a:p>
        </p:txBody>
      </p:sp>
      <p:sp>
        <p:nvSpPr>
          <p:cNvPr id="52232" name="Text Box 5">
            <a:extLst>
              <a:ext uri="{FF2B5EF4-FFF2-40B4-BE49-F238E27FC236}">
                <a16:creationId xmlns:a16="http://schemas.microsoft.com/office/drawing/2014/main" id="{3027263C-51AD-9586-E598-2E264A0D755F}"/>
              </a:ext>
            </a:extLst>
          </p:cNvPr>
          <p:cNvSpPr txBox="1">
            <a:spLocks noChangeArrowheads="1"/>
          </p:cNvSpPr>
          <p:nvPr/>
        </p:nvSpPr>
        <p:spPr bwMode="auto">
          <a:xfrm>
            <a:off x="1116013" y="2205038"/>
            <a:ext cx="7345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在 </a:t>
            </a:r>
            <a:r>
              <a:rPr lang="en-US" altLang="zh-CN" sz="2400"/>
              <a:t>uC/OS-II </a:t>
            </a:r>
            <a:r>
              <a:rPr lang="zh-CN" altLang="en-US" sz="2400"/>
              <a:t>中预定义了一个 </a:t>
            </a:r>
            <a:r>
              <a:rPr lang="en-US" altLang="zh-CN" sz="2400">
                <a:solidFill>
                  <a:srgbClr val="FF0000"/>
                </a:solidFill>
              </a:rPr>
              <a:t>OSUnMapTbl[ ]</a:t>
            </a:r>
            <a:r>
              <a:rPr lang="en-US" altLang="zh-CN" sz="2400"/>
              <a:t> </a:t>
            </a:r>
            <a:r>
              <a:rPr lang="zh-CN" altLang="en-US" sz="2400"/>
              <a:t>数组：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1">
            <a:extLst>
              <a:ext uri="{FF2B5EF4-FFF2-40B4-BE49-F238E27FC236}">
                <a16:creationId xmlns:a16="http://schemas.microsoft.com/office/drawing/2014/main" id="{41AE8B05-E020-2668-60D3-3A2CB974BC0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3251" name="灯片编号占位符 2">
            <a:extLst>
              <a:ext uri="{FF2B5EF4-FFF2-40B4-BE49-F238E27FC236}">
                <a16:creationId xmlns:a16="http://schemas.microsoft.com/office/drawing/2014/main" id="{CD5C7318-2187-DDDD-6249-5850150994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93CFD1D-1376-4558-992B-7E9466EBA60D}" type="slidenum">
              <a:rPr lang="en-US" altLang="zh-CN" sz="1200" smtClean="0">
                <a:solidFill>
                  <a:srgbClr val="3366FF"/>
                </a:solidFill>
                <a:latin typeface="Arial Black" panose="020B0A04020102020204" pitchFamily="34" charset="0"/>
              </a:rPr>
              <a:pPr>
                <a:spcBef>
                  <a:spcPct val="0"/>
                </a:spcBef>
                <a:buClrTx/>
                <a:buSzTx/>
                <a:buFontTx/>
                <a:buNone/>
              </a:pPr>
              <a:t>49</a:t>
            </a:fld>
            <a:endParaRPr lang="en-US" altLang="zh-CN" sz="1200">
              <a:solidFill>
                <a:srgbClr val="3366FF"/>
              </a:solidFill>
              <a:latin typeface="Arial Black" panose="020B0A04020102020204" pitchFamily="34" charset="0"/>
            </a:endParaRPr>
          </a:p>
        </p:txBody>
      </p:sp>
      <p:sp>
        <p:nvSpPr>
          <p:cNvPr id="53252" name="日期占位符 3">
            <a:extLst>
              <a:ext uri="{FF2B5EF4-FFF2-40B4-BE49-F238E27FC236}">
                <a16:creationId xmlns:a16="http://schemas.microsoft.com/office/drawing/2014/main" id="{CCB4A5B9-F73E-040A-F507-CAA008C6796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A3E4E75-D1CB-4A5B-835A-5CE9EAB0D18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grpSp>
        <p:nvGrpSpPr>
          <p:cNvPr id="53253" name="Group 66">
            <a:extLst>
              <a:ext uri="{FF2B5EF4-FFF2-40B4-BE49-F238E27FC236}">
                <a16:creationId xmlns:a16="http://schemas.microsoft.com/office/drawing/2014/main" id="{ABFE95DF-4071-2C59-6920-B9B7FCAAC6DA}"/>
              </a:ext>
            </a:extLst>
          </p:cNvPr>
          <p:cNvGrpSpPr>
            <a:grpSpLocks/>
          </p:cNvGrpSpPr>
          <p:nvPr/>
        </p:nvGrpSpPr>
        <p:grpSpPr bwMode="auto">
          <a:xfrm>
            <a:off x="144463" y="757238"/>
            <a:ext cx="8820150" cy="4043362"/>
            <a:chOff x="91" y="477"/>
            <a:chExt cx="5556" cy="2547"/>
          </a:xfrm>
        </p:grpSpPr>
        <p:sp>
          <p:nvSpPr>
            <p:cNvPr id="53255" name="Rectangle 2">
              <a:extLst>
                <a:ext uri="{FF2B5EF4-FFF2-40B4-BE49-F238E27FC236}">
                  <a16:creationId xmlns:a16="http://schemas.microsoft.com/office/drawing/2014/main" id="{DF23ECD2-B7FA-93CD-AA20-C67A9C6662E5}"/>
                </a:ext>
              </a:extLst>
            </p:cNvPr>
            <p:cNvSpPr>
              <a:spLocks noChangeArrowheads="1"/>
            </p:cNvSpPr>
            <p:nvPr/>
          </p:nvSpPr>
          <p:spPr bwMode="auto">
            <a:xfrm>
              <a:off x="1591" y="2208"/>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3256" name="Line 3">
              <a:extLst>
                <a:ext uri="{FF2B5EF4-FFF2-40B4-BE49-F238E27FC236}">
                  <a16:creationId xmlns:a16="http://schemas.microsoft.com/office/drawing/2014/main" id="{DC8FB207-2331-1350-2B2F-4634319161A7}"/>
                </a:ext>
              </a:extLst>
            </p:cNvPr>
            <p:cNvSpPr>
              <a:spLocks noChangeShapeType="1"/>
            </p:cNvSpPr>
            <p:nvPr/>
          </p:nvSpPr>
          <p:spPr bwMode="auto">
            <a:xfrm>
              <a:off x="1927"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7" name="Line 4">
              <a:extLst>
                <a:ext uri="{FF2B5EF4-FFF2-40B4-BE49-F238E27FC236}">
                  <a16:creationId xmlns:a16="http://schemas.microsoft.com/office/drawing/2014/main" id="{3291916B-EE50-8623-962E-1C183AFBC2CE}"/>
                </a:ext>
              </a:extLst>
            </p:cNvPr>
            <p:cNvSpPr>
              <a:spLocks noChangeShapeType="1"/>
            </p:cNvSpPr>
            <p:nvPr/>
          </p:nvSpPr>
          <p:spPr bwMode="auto">
            <a:xfrm>
              <a:off x="2263"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8" name="Line 5">
              <a:extLst>
                <a:ext uri="{FF2B5EF4-FFF2-40B4-BE49-F238E27FC236}">
                  <a16:creationId xmlns:a16="http://schemas.microsoft.com/office/drawing/2014/main" id="{502A1210-202A-AFE6-F816-B3717D7E7C02}"/>
                </a:ext>
              </a:extLst>
            </p:cNvPr>
            <p:cNvSpPr>
              <a:spLocks noChangeShapeType="1"/>
            </p:cNvSpPr>
            <p:nvPr/>
          </p:nvSpPr>
          <p:spPr bwMode="auto">
            <a:xfrm>
              <a:off x="2599"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6">
              <a:extLst>
                <a:ext uri="{FF2B5EF4-FFF2-40B4-BE49-F238E27FC236}">
                  <a16:creationId xmlns:a16="http://schemas.microsoft.com/office/drawing/2014/main" id="{FD300CB1-5B99-A150-2E60-7329DBBE48CB}"/>
                </a:ext>
              </a:extLst>
            </p:cNvPr>
            <p:cNvSpPr>
              <a:spLocks noChangeShapeType="1"/>
            </p:cNvSpPr>
            <p:nvPr/>
          </p:nvSpPr>
          <p:spPr bwMode="auto">
            <a:xfrm>
              <a:off x="2935"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7">
              <a:extLst>
                <a:ext uri="{FF2B5EF4-FFF2-40B4-BE49-F238E27FC236}">
                  <a16:creationId xmlns:a16="http://schemas.microsoft.com/office/drawing/2014/main" id="{E900786E-1FFA-5E31-5A7F-F92A24A562D9}"/>
                </a:ext>
              </a:extLst>
            </p:cNvPr>
            <p:cNvSpPr>
              <a:spLocks noChangeShapeType="1"/>
            </p:cNvSpPr>
            <p:nvPr/>
          </p:nvSpPr>
          <p:spPr bwMode="auto">
            <a:xfrm>
              <a:off x="3271"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8">
              <a:extLst>
                <a:ext uri="{FF2B5EF4-FFF2-40B4-BE49-F238E27FC236}">
                  <a16:creationId xmlns:a16="http://schemas.microsoft.com/office/drawing/2014/main" id="{E2E159C4-48E8-8118-E226-D3C151A99DDF}"/>
                </a:ext>
              </a:extLst>
            </p:cNvPr>
            <p:cNvSpPr>
              <a:spLocks noChangeShapeType="1"/>
            </p:cNvSpPr>
            <p:nvPr/>
          </p:nvSpPr>
          <p:spPr bwMode="auto">
            <a:xfrm>
              <a:off x="3607"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9">
              <a:extLst>
                <a:ext uri="{FF2B5EF4-FFF2-40B4-BE49-F238E27FC236}">
                  <a16:creationId xmlns:a16="http://schemas.microsoft.com/office/drawing/2014/main" id="{8252B974-1060-091D-FBAA-0927EEEA3DEE}"/>
                </a:ext>
              </a:extLst>
            </p:cNvPr>
            <p:cNvSpPr>
              <a:spLocks noChangeShapeType="1"/>
            </p:cNvSpPr>
            <p:nvPr/>
          </p:nvSpPr>
          <p:spPr bwMode="auto">
            <a:xfrm>
              <a:off x="3943"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Text Box 10">
              <a:extLst>
                <a:ext uri="{FF2B5EF4-FFF2-40B4-BE49-F238E27FC236}">
                  <a16:creationId xmlns:a16="http://schemas.microsoft.com/office/drawing/2014/main" id="{79167480-AFBD-5869-37CC-168E563BC860}"/>
                </a:ext>
              </a:extLst>
            </p:cNvPr>
            <p:cNvSpPr txBox="1">
              <a:spLocks noChangeArrowheads="1"/>
            </p:cNvSpPr>
            <p:nvPr/>
          </p:nvSpPr>
          <p:spPr bwMode="auto">
            <a:xfrm>
              <a:off x="187" y="477"/>
              <a:ext cx="8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FF0000"/>
                  </a:solidFill>
                  <a:latin typeface="Arial Narrow" panose="020B0606020202030204" pitchFamily="34" charset="0"/>
                </a:rPr>
                <a:t>OSRdyGrp</a:t>
              </a:r>
              <a:r>
                <a:rPr kumimoji="1" lang="en-US" altLang="zh-CN" sz="2400" b="0">
                  <a:solidFill>
                    <a:srgbClr val="FF0000"/>
                  </a:solidFill>
                  <a:latin typeface="Arial Narrow" panose="020B0606020202030204" pitchFamily="34" charset="0"/>
                </a:rPr>
                <a:t> </a:t>
              </a:r>
            </a:p>
          </p:txBody>
        </p:sp>
        <p:sp>
          <p:nvSpPr>
            <p:cNvPr id="53264" name="Text Box 11">
              <a:extLst>
                <a:ext uri="{FF2B5EF4-FFF2-40B4-BE49-F238E27FC236}">
                  <a16:creationId xmlns:a16="http://schemas.microsoft.com/office/drawing/2014/main" id="{A600489B-C76C-76D7-F11D-93C099E4AFF1}"/>
                </a:ext>
              </a:extLst>
            </p:cNvPr>
            <p:cNvSpPr txBox="1">
              <a:spLocks noChangeArrowheads="1"/>
            </p:cNvSpPr>
            <p:nvPr/>
          </p:nvSpPr>
          <p:spPr bwMode="auto">
            <a:xfrm>
              <a:off x="1655" y="1968"/>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3265" name="Text Box 12">
              <a:extLst>
                <a:ext uri="{FF2B5EF4-FFF2-40B4-BE49-F238E27FC236}">
                  <a16:creationId xmlns:a16="http://schemas.microsoft.com/office/drawing/2014/main" id="{4FCBDD5C-F566-2C0B-2D5E-493966BB1E42}"/>
                </a:ext>
              </a:extLst>
            </p:cNvPr>
            <p:cNvSpPr txBox="1">
              <a:spLocks noChangeArrowheads="1"/>
            </p:cNvSpPr>
            <p:nvPr/>
          </p:nvSpPr>
          <p:spPr bwMode="auto">
            <a:xfrm>
              <a:off x="2663"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66" name="Text Box 13">
              <a:extLst>
                <a:ext uri="{FF2B5EF4-FFF2-40B4-BE49-F238E27FC236}">
                  <a16:creationId xmlns:a16="http://schemas.microsoft.com/office/drawing/2014/main" id="{B0C78F4B-E637-B327-64CC-9C777F99F357}"/>
                </a:ext>
              </a:extLst>
            </p:cNvPr>
            <p:cNvSpPr txBox="1">
              <a:spLocks noChangeArrowheads="1"/>
            </p:cNvSpPr>
            <p:nvPr/>
          </p:nvSpPr>
          <p:spPr bwMode="auto">
            <a:xfrm>
              <a:off x="4007"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67" name="Text Box 14">
              <a:extLst>
                <a:ext uri="{FF2B5EF4-FFF2-40B4-BE49-F238E27FC236}">
                  <a16:creationId xmlns:a16="http://schemas.microsoft.com/office/drawing/2014/main" id="{C54C4227-0C37-11B5-305E-88DBE7D8E1D7}"/>
                </a:ext>
              </a:extLst>
            </p:cNvPr>
            <p:cNvSpPr txBox="1">
              <a:spLocks noChangeArrowheads="1"/>
            </p:cNvSpPr>
            <p:nvPr/>
          </p:nvSpPr>
          <p:spPr bwMode="auto">
            <a:xfrm>
              <a:off x="2999"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68" name="Text Box 15">
              <a:extLst>
                <a:ext uri="{FF2B5EF4-FFF2-40B4-BE49-F238E27FC236}">
                  <a16:creationId xmlns:a16="http://schemas.microsoft.com/office/drawing/2014/main" id="{AB4C7B62-2D9A-64DA-AA53-6EA1275E0B5C}"/>
                </a:ext>
              </a:extLst>
            </p:cNvPr>
            <p:cNvSpPr txBox="1">
              <a:spLocks noChangeArrowheads="1"/>
            </p:cNvSpPr>
            <p:nvPr/>
          </p:nvSpPr>
          <p:spPr bwMode="auto">
            <a:xfrm>
              <a:off x="3335"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69" name="Text Box 16">
              <a:extLst>
                <a:ext uri="{FF2B5EF4-FFF2-40B4-BE49-F238E27FC236}">
                  <a16:creationId xmlns:a16="http://schemas.microsoft.com/office/drawing/2014/main" id="{0BF11228-BB97-CDE4-4712-61C8CDB0DB8F}"/>
                </a:ext>
              </a:extLst>
            </p:cNvPr>
            <p:cNvSpPr txBox="1">
              <a:spLocks noChangeArrowheads="1"/>
            </p:cNvSpPr>
            <p:nvPr/>
          </p:nvSpPr>
          <p:spPr bwMode="auto">
            <a:xfrm>
              <a:off x="2327"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270" name="Text Box 17">
              <a:extLst>
                <a:ext uri="{FF2B5EF4-FFF2-40B4-BE49-F238E27FC236}">
                  <a16:creationId xmlns:a16="http://schemas.microsoft.com/office/drawing/2014/main" id="{A01B48D2-FE51-EC45-9020-34307095A676}"/>
                </a:ext>
              </a:extLst>
            </p:cNvPr>
            <p:cNvSpPr txBox="1">
              <a:spLocks noChangeArrowheads="1"/>
            </p:cNvSpPr>
            <p:nvPr/>
          </p:nvSpPr>
          <p:spPr bwMode="auto">
            <a:xfrm>
              <a:off x="3671"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271" name="Text Box 18">
              <a:extLst>
                <a:ext uri="{FF2B5EF4-FFF2-40B4-BE49-F238E27FC236}">
                  <a16:creationId xmlns:a16="http://schemas.microsoft.com/office/drawing/2014/main" id="{B88B300B-FC99-E20D-6815-0668B0ABBD3D}"/>
                </a:ext>
              </a:extLst>
            </p:cNvPr>
            <p:cNvSpPr txBox="1">
              <a:spLocks noChangeArrowheads="1"/>
            </p:cNvSpPr>
            <p:nvPr/>
          </p:nvSpPr>
          <p:spPr bwMode="auto">
            <a:xfrm>
              <a:off x="1655"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272" name="Text Box 19">
              <a:extLst>
                <a:ext uri="{FF2B5EF4-FFF2-40B4-BE49-F238E27FC236}">
                  <a16:creationId xmlns:a16="http://schemas.microsoft.com/office/drawing/2014/main" id="{A0F655BE-820B-F05E-2E31-4563CD89FBE3}"/>
                </a:ext>
              </a:extLst>
            </p:cNvPr>
            <p:cNvSpPr txBox="1">
              <a:spLocks noChangeArrowheads="1"/>
            </p:cNvSpPr>
            <p:nvPr/>
          </p:nvSpPr>
          <p:spPr bwMode="auto">
            <a:xfrm>
              <a:off x="1991" y="2256"/>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273" name="Text Box 20">
              <a:extLst>
                <a:ext uri="{FF2B5EF4-FFF2-40B4-BE49-F238E27FC236}">
                  <a16:creationId xmlns:a16="http://schemas.microsoft.com/office/drawing/2014/main" id="{50661860-0757-350E-AE94-7F54A0C34E50}"/>
                </a:ext>
              </a:extLst>
            </p:cNvPr>
            <p:cNvSpPr txBox="1">
              <a:spLocks noChangeArrowheads="1"/>
            </p:cNvSpPr>
            <p:nvPr/>
          </p:nvSpPr>
          <p:spPr bwMode="auto">
            <a:xfrm>
              <a:off x="935" y="2256"/>
              <a:ext cx="6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prio=29</a:t>
              </a:r>
            </a:p>
          </p:txBody>
        </p:sp>
        <p:sp>
          <p:nvSpPr>
            <p:cNvPr id="53274" name="Rectangle 21">
              <a:extLst>
                <a:ext uri="{FF2B5EF4-FFF2-40B4-BE49-F238E27FC236}">
                  <a16:creationId xmlns:a16="http://schemas.microsoft.com/office/drawing/2014/main" id="{5D26177F-F11A-A52C-612E-5A582FBB9AC1}"/>
                </a:ext>
              </a:extLst>
            </p:cNvPr>
            <p:cNvSpPr>
              <a:spLocks noChangeArrowheads="1"/>
            </p:cNvSpPr>
            <p:nvPr/>
          </p:nvSpPr>
          <p:spPr bwMode="auto">
            <a:xfrm>
              <a:off x="91" y="960"/>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3275" name="Line 22">
              <a:extLst>
                <a:ext uri="{FF2B5EF4-FFF2-40B4-BE49-F238E27FC236}">
                  <a16:creationId xmlns:a16="http://schemas.microsoft.com/office/drawing/2014/main" id="{6EF33380-8E32-15E0-6AE5-D858A9647E88}"/>
                </a:ext>
              </a:extLst>
            </p:cNvPr>
            <p:cNvSpPr>
              <a:spLocks noChangeShapeType="1"/>
            </p:cNvSpPr>
            <p:nvPr/>
          </p:nvSpPr>
          <p:spPr bwMode="auto">
            <a:xfrm>
              <a:off x="427"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6" name="Line 23">
              <a:extLst>
                <a:ext uri="{FF2B5EF4-FFF2-40B4-BE49-F238E27FC236}">
                  <a16:creationId xmlns:a16="http://schemas.microsoft.com/office/drawing/2014/main" id="{E1A05CBB-B3AB-010C-95E8-5CC3BEE1088E}"/>
                </a:ext>
              </a:extLst>
            </p:cNvPr>
            <p:cNvSpPr>
              <a:spLocks noChangeShapeType="1"/>
            </p:cNvSpPr>
            <p:nvPr/>
          </p:nvSpPr>
          <p:spPr bwMode="auto">
            <a:xfrm>
              <a:off x="763"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7" name="Line 24">
              <a:extLst>
                <a:ext uri="{FF2B5EF4-FFF2-40B4-BE49-F238E27FC236}">
                  <a16:creationId xmlns:a16="http://schemas.microsoft.com/office/drawing/2014/main" id="{5395A73E-4206-7195-7AEC-3E4612E5DAB4}"/>
                </a:ext>
              </a:extLst>
            </p:cNvPr>
            <p:cNvSpPr>
              <a:spLocks noChangeShapeType="1"/>
            </p:cNvSpPr>
            <p:nvPr/>
          </p:nvSpPr>
          <p:spPr bwMode="auto">
            <a:xfrm>
              <a:off x="1099"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8" name="Line 25">
              <a:extLst>
                <a:ext uri="{FF2B5EF4-FFF2-40B4-BE49-F238E27FC236}">
                  <a16:creationId xmlns:a16="http://schemas.microsoft.com/office/drawing/2014/main" id="{BBB9B889-F2E7-1E95-C98E-C795A0312CA0}"/>
                </a:ext>
              </a:extLst>
            </p:cNvPr>
            <p:cNvSpPr>
              <a:spLocks noChangeShapeType="1"/>
            </p:cNvSpPr>
            <p:nvPr/>
          </p:nvSpPr>
          <p:spPr bwMode="auto">
            <a:xfrm>
              <a:off x="1435"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9" name="Line 26">
              <a:extLst>
                <a:ext uri="{FF2B5EF4-FFF2-40B4-BE49-F238E27FC236}">
                  <a16:creationId xmlns:a16="http://schemas.microsoft.com/office/drawing/2014/main" id="{072E8303-B516-D4AF-A1AD-9D82BE35C7DD}"/>
                </a:ext>
              </a:extLst>
            </p:cNvPr>
            <p:cNvSpPr>
              <a:spLocks noChangeShapeType="1"/>
            </p:cNvSpPr>
            <p:nvPr/>
          </p:nvSpPr>
          <p:spPr bwMode="auto">
            <a:xfrm>
              <a:off x="1771"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0" name="Line 27">
              <a:extLst>
                <a:ext uri="{FF2B5EF4-FFF2-40B4-BE49-F238E27FC236}">
                  <a16:creationId xmlns:a16="http://schemas.microsoft.com/office/drawing/2014/main" id="{0B3955EC-4B96-D75B-2633-41887B7A53BE}"/>
                </a:ext>
              </a:extLst>
            </p:cNvPr>
            <p:cNvSpPr>
              <a:spLocks noChangeShapeType="1"/>
            </p:cNvSpPr>
            <p:nvPr/>
          </p:nvSpPr>
          <p:spPr bwMode="auto">
            <a:xfrm>
              <a:off x="2107"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1" name="Line 28">
              <a:extLst>
                <a:ext uri="{FF2B5EF4-FFF2-40B4-BE49-F238E27FC236}">
                  <a16:creationId xmlns:a16="http://schemas.microsoft.com/office/drawing/2014/main" id="{6F97F27B-F601-7D29-D7F9-0EED17533CA2}"/>
                </a:ext>
              </a:extLst>
            </p:cNvPr>
            <p:cNvSpPr>
              <a:spLocks noChangeShapeType="1"/>
            </p:cNvSpPr>
            <p:nvPr/>
          </p:nvSpPr>
          <p:spPr bwMode="auto">
            <a:xfrm>
              <a:off x="2443"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2" name="Text Box 29">
              <a:extLst>
                <a:ext uri="{FF2B5EF4-FFF2-40B4-BE49-F238E27FC236}">
                  <a16:creationId xmlns:a16="http://schemas.microsoft.com/office/drawing/2014/main" id="{106380CA-7CD8-C25E-AB30-504DCF4A48BC}"/>
                </a:ext>
              </a:extLst>
            </p:cNvPr>
            <p:cNvSpPr txBox="1">
              <a:spLocks noChangeArrowheads="1"/>
            </p:cNvSpPr>
            <p:nvPr/>
          </p:nvSpPr>
          <p:spPr bwMode="auto">
            <a:xfrm>
              <a:off x="139" y="720"/>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3283" name="Text Box 30">
              <a:extLst>
                <a:ext uri="{FF2B5EF4-FFF2-40B4-BE49-F238E27FC236}">
                  <a16:creationId xmlns:a16="http://schemas.microsoft.com/office/drawing/2014/main" id="{7DC4CEFF-7362-6FA4-F369-23FAF8EB3ABA}"/>
                </a:ext>
              </a:extLst>
            </p:cNvPr>
            <p:cNvSpPr txBox="1">
              <a:spLocks noChangeArrowheads="1"/>
            </p:cNvSpPr>
            <p:nvPr/>
          </p:nvSpPr>
          <p:spPr bwMode="auto">
            <a:xfrm>
              <a:off x="1499"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84" name="Rectangle 31">
              <a:extLst>
                <a:ext uri="{FF2B5EF4-FFF2-40B4-BE49-F238E27FC236}">
                  <a16:creationId xmlns:a16="http://schemas.microsoft.com/office/drawing/2014/main" id="{187609DE-24C1-DBAF-71E8-ACEC4F348629}"/>
                </a:ext>
              </a:extLst>
            </p:cNvPr>
            <p:cNvSpPr>
              <a:spLocks noChangeArrowheads="1"/>
            </p:cNvSpPr>
            <p:nvPr/>
          </p:nvSpPr>
          <p:spPr bwMode="auto">
            <a:xfrm>
              <a:off x="2907" y="960"/>
              <a:ext cx="2688" cy="336"/>
            </a:xfrm>
            <a:prstGeom prst="rect">
              <a:avLst/>
            </a:prstGeom>
            <a:solidFill>
              <a:schemeClr val="bg1"/>
            </a:solidFill>
            <a:ln w="349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3285" name="Line 32">
              <a:extLst>
                <a:ext uri="{FF2B5EF4-FFF2-40B4-BE49-F238E27FC236}">
                  <a16:creationId xmlns:a16="http://schemas.microsoft.com/office/drawing/2014/main" id="{DECE8EC2-1BA5-C08D-41C5-8A12802E5A22}"/>
                </a:ext>
              </a:extLst>
            </p:cNvPr>
            <p:cNvSpPr>
              <a:spLocks noChangeShapeType="1"/>
            </p:cNvSpPr>
            <p:nvPr/>
          </p:nvSpPr>
          <p:spPr bwMode="auto">
            <a:xfrm>
              <a:off x="3243"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6" name="Line 33">
              <a:extLst>
                <a:ext uri="{FF2B5EF4-FFF2-40B4-BE49-F238E27FC236}">
                  <a16:creationId xmlns:a16="http://schemas.microsoft.com/office/drawing/2014/main" id="{95DC2683-CF09-71E2-4876-25ADFB535B8B}"/>
                </a:ext>
              </a:extLst>
            </p:cNvPr>
            <p:cNvSpPr>
              <a:spLocks noChangeShapeType="1"/>
            </p:cNvSpPr>
            <p:nvPr/>
          </p:nvSpPr>
          <p:spPr bwMode="auto">
            <a:xfrm>
              <a:off x="3579"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7" name="Line 34">
              <a:extLst>
                <a:ext uri="{FF2B5EF4-FFF2-40B4-BE49-F238E27FC236}">
                  <a16:creationId xmlns:a16="http://schemas.microsoft.com/office/drawing/2014/main" id="{0FBF23C5-F4C1-AD5D-F492-C404C881F208}"/>
                </a:ext>
              </a:extLst>
            </p:cNvPr>
            <p:cNvSpPr>
              <a:spLocks noChangeShapeType="1"/>
            </p:cNvSpPr>
            <p:nvPr/>
          </p:nvSpPr>
          <p:spPr bwMode="auto">
            <a:xfrm>
              <a:off x="3915"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8" name="Line 35">
              <a:extLst>
                <a:ext uri="{FF2B5EF4-FFF2-40B4-BE49-F238E27FC236}">
                  <a16:creationId xmlns:a16="http://schemas.microsoft.com/office/drawing/2014/main" id="{275C71B7-B31E-1A60-2DF0-A65B34442CF3}"/>
                </a:ext>
              </a:extLst>
            </p:cNvPr>
            <p:cNvSpPr>
              <a:spLocks noChangeShapeType="1"/>
            </p:cNvSpPr>
            <p:nvPr/>
          </p:nvSpPr>
          <p:spPr bwMode="auto">
            <a:xfrm>
              <a:off x="4251"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9" name="Line 36">
              <a:extLst>
                <a:ext uri="{FF2B5EF4-FFF2-40B4-BE49-F238E27FC236}">
                  <a16:creationId xmlns:a16="http://schemas.microsoft.com/office/drawing/2014/main" id="{E463EB0B-7A38-7677-E395-546791E5997F}"/>
                </a:ext>
              </a:extLst>
            </p:cNvPr>
            <p:cNvSpPr>
              <a:spLocks noChangeShapeType="1"/>
            </p:cNvSpPr>
            <p:nvPr/>
          </p:nvSpPr>
          <p:spPr bwMode="auto">
            <a:xfrm>
              <a:off x="4587"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0" name="Line 37">
              <a:extLst>
                <a:ext uri="{FF2B5EF4-FFF2-40B4-BE49-F238E27FC236}">
                  <a16:creationId xmlns:a16="http://schemas.microsoft.com/office/drawing/2014/main" id="{5A541BF4-257C-42A0-4409-94AA69A9BFFD}"/>
                </a:ext>
              </a:extLst>
            </p:cNvPr>
            <p:cNvSpPr>
              <a:spLocks noChangeShapeType="1"/>
            </p:cNvSpPr>
            <p:nvPr/>
          </p:nvSpPr>
          <p:spPr bwMode="auto">
            <a:xfrm>
              <a:off x="4923"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1" name="Line 38">
              <a:extLst>
                <a:ext uri="{FF2B5EF4-FFF2-40B4-BE49-F238E27FC236}">
                  <a16:creationId xmlns:a16="http://schemas.microsoft.com/office/drawing/2014/main" id="{E880CB66-EA23-9D23-7942-9FD890E0FC97}"/>
                </a:ext>
              </a:extLst>
            </p:cNvPr>
            <p:cNvSpPr>
              <a:spLocks noChangeShapeType="1"/>
            </p:cNvSpPr>
            <p:nvPr/>
          </p:nvSpPr>
          <p:spPr bwMode="auto">
            <a:xfrm>
              <a:off x="5259" y="96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2" name="Text Box 39">
              <a:extLst>
                <a:ext uri="{FF2B5EF4-FFF2-40B4-BE49-F238E27FC236}">
                  <a16:creationId xmlns:a16="http://schemas.microsoft.com/office/drawing/2014/main" id="{0AE8E7AB-E8D1-1A61-702D-EBF321F41AB1}"/>
                </a:ext>
              </a:extLst>
            </p:cNvPr>
            <p:cNvSpPr txBox="1">
              <a:spLocks noChangeArrowheads="1"/>
            </p:cNvSpPr>
            <p:nvPr/>
          </p:nvSpPr>
          <p:spPr bwMode="auto">
            <a:xfrm>
              <a:off x="2923" y="720"/>
              <a:ext cx="2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D</a:t>
              </a:r>
              <a:r>
                <a:rPr kumimoji="1" lang="en-US" altLang="zh-CN" sz="2000" b="0" baseline="-25000">
                  <a:latin typeface="Times New Roman" panose="02020603050405020304" pitchFamily="18" charset="0"/>
                </a:rPr>
                <a:t>7</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6</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5</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4</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3</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2</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1</a:t>
              </a:r>
              <a:r>
                <a:rPr kumimoji="1" lang="en-US" altLang="zh-CN" sz="2000" b="0">
                  <a:latin typeface="Times New Roman" panose="02020603050405020304" pitchFamily="18" charset="0"/>
                </a:rPr>
                <a:t>    D</a:t>
              </a:r>
              <a:r>
                <a:rPr kumimoji="1" lang="en-US" altLang="zh-CN" sz="2000" b="0" baseline="-25000">
                  <a:latin typeface="Times New Roman" panose="02020603050405020304" pitchFamily="18" charset="0"/>
                </a:rPr>
                <a:t>0</a:t>
              </a:r>
              <a:r>
                <a:rPr kumimoji="1" lang="en-US" altLang="zh-CN" sz="2000" b="0">
                  <a:latin typeface="Times New Roman" panose="02020603050405020304" pitchFamily="18" charset="0"/>
                </a:rPr>
                <a:t> </a:t>
              </a:r>
            </a:p>
          </p:txBody>
        </p:sp>
        <p:sp>
          <p:nvSpPr>
            <p:cNvPr id="53293" name="Text Box 40">
              <a:extLst>
                <a:ext uri="{FF2B5EF4-FFF2-40B4-BE49-F238E27FC236}">
                  <a16:creationId xmlns:a16="http://schemas.microsoft.com/office/drawing/2014/main" id="{2CC645EA-32C1-54DA-FD73-D88564512003}"/>
                </a:ext>
              </a:extLst>
            </p:cNvPr>
            <p:cNvSpPr txBox="1">
              <a:spLocks noChangeArrowheads="1"/>
            </p:cNvSpPr>
            <p:nvPr/>
          </p:nvSpPr>
          <p:spPr bwMode="auto">
            <a:xfrm>
              <a:off x="3643"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94" name="Text Box 41">
              <a:extLst>
                <a:ext uri="{FF2B5EF4-FFF2-40B4-BE49-F238E27FC236}">
                  <a16:creationId xmlns:a16="http://schemas.microsoft.com/office/drawing/2014/main" id="{2191F159-327B-E92A-07E5-06FA7AE641A2}"/>
                </a:ext>
              </a:extLst>
            </p:cNvPr>
            <p:cNvSpPr txBox="1">
              <a:spLocks noChangeArrowheads="1"/>
            </p:cNvSpPr>
            <p:nvPr/>
          </p:nvSpPr>
          <p:spPr bwMode="auto">
            <a:xfrm>
              <a:off x="3019" y="526"/>
              <a:ext cx="9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FF0000"/>
                  </a:solidFill>
                  <a:latin typeface="Arial Narrow" panose="020B0606020202030204" pitchFamily="34" charset="0"/>
                </a:rPr>
                <a:t>OSRdyTbl [</a:t>
              </a:r>
              <a:r>
                <a:rPr kumimoji="1" lang="en-US" altLang="zh-CN" sz="2000" b="0">
                  <a:solidFill>
                    <a:srgbClr val="0000FF"/>
                  </a:solidFill>
                  <a:latin typeface="Arial Narrow" panose="020B0606020202030204" pitchFamily="34" charset="0"/>
                </a:rPr>
                <a:t>y</a:t>
              </a:r>
              <a:r>
                <a:rPr kumimoji="1" lang="en-US" altLang="zh-CN" sz="2000" b="0">
                  <a:solidFill>
                    <a:srgbClr val="FF0000"/>
                  </a:solidFill>
                  <a:latin typeface="Arial Narrow" panose="020B0606020202030204" pitchFamily="34" charset="0"/>
                </a:rPr>
                <a:t> ]</a:t>
              </a:r>
            </a:p>
          </p:txBody>
        </p:sp>
        <p:sp>
          <p:nvSpPr>
            <p:cNvPr id="53295" name="AutoShape 42">
              <a:extLst>
                <a:ext uri="{FF2B5EF4-FFF2-40B4-BE49-F238E27FC236}">
                  <a16:creationId xmlns:a16="http://schemas.microsoft.com/office/drawing/2014/main" id="{100761ED-F4C1-949A-62D7-D6FB43998082}"/>
                </a:ext>
              </a:extLst>
            </p:cNvPr>
            <p:cNvSpPr>
              <a:spLocks/>
            </p:cNvSpPr>
            <p:nvPr/>
          </p:nvSpPr>
          <p:spPr bwMode="auto">
            <a:xfrm rot="16200000" flipV="1">
              <a:off x="2635" y="1440"/>
              <a:ext cx="192" cy="960"/>
            </a:xfrm>
            <a:prstGeom prst="rightBrace">
              <a:avLst>
                <a:gd name="adj1" fmla="val 41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3296" name="AutoShape 43">
              <a:extLst>
                <a:ext uri="{FF2B5EF4-FFF2-40B4-BE49-F238E27FC236}">
                  <a16:creationId xmlns:a16="http://schemas.microsoft.com/office/drawing/2014/main" id="{523BCD5E-0959-CB12-527D-B94F30404ED4}"/>
                </a:ext>
              </a:extLst>
            </p:cNvPr>
            <p:cNvSpPr>
              <a:spLocks/>
            </p:cNvSpPr>
            <p:nvPr/>
          </p:nvSpPr>
          <p:spPr bwMode="auto">
            <a:xfrm rot="16200000" flipV="1">
              <a:off x="3653" y="1430"/>
              <a:ext cx="192" cy="980"/>
            </a:xfrm>
            <a:prstGeom prst="rightBrace">
              <a:avLst>
                <a:gd name="adj1" fmla="val 4253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53297" name="Text Box 44">
              <a:extLst>
                <a:ext uri="{FF2B5EF4-FFF2-40B4-BE49-F238E27FC236}">
                  <a16:creationId xmlns:a16="http://schemas.microsoft.com/office/drawing/2014/main" id="{AD87D862-86CB-2AC8-B459-FA367012E329}"/>
                </a:ext>
              </a:extLst>
            </p:cNvPr>
            <p:cNvSpPr txBox="1">
              <a:spLocks noChangeArrowheads="1"/>
            </p:cNvSpPr>
            <p:nvPr/>
          </p:nvSpPr>
          <p:spPr bwMode="auto">
            <a:xfrm>
              <a:off x="3470" y="1502"/>
              <a:ext cx="21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66FF"/>
                  </a:solidFill>
                  <a:latin typeface="Arial Narrow" panose="020B0606020202030204" pitchFamily="34" charset="0"/>
                </a:rPr>
                <a:t>x =  OSUnMapTbl[OSRdyTbl[y]]; </a:t>
              </a:r>
            </a:p>
          </p:txBody>
        </p:sp>
        <p:sp>
          <p:nvSpPr>
            <p:cNvPr id="53298" name="Text Box 45">
              <a:extLst>
                <a:ext uri="{FF2B5EF4-FFF2-40B4-BE49-F238E27FC236}">
                  <a16:creationId xmlns:a16="http://schemas.microsoft.com/office/drawing/2014/main" id="{87C8BFEA-8BD2-E102-E54F-C7289402FCC9}"/>
                </a:ext>
              </a:extLst>
            </p:cNvPr>
            <p:cNvSpPr txBox="1">
              <a:spLocks noChangeArrowheads="1"/>
            </p:cNvSpPr>
            <p:nvPr/>
          </p:nvSpPr>
          <p:spPr bwMode="auto">
            <a:xfrm>
              <a:off x="811"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299" name="Text Box 46">
              <a:extLst>
                <a:ext uri="{FF2B5EF4-FFF2-40B4-BE49-F238E27FC236}">
                  <a16:creationId xmlns:a16="http://schemas.microsoft.com/office/drawing/2014/main" id="{09A11698-D043-37B1-A165-FB456EB2F3B9}"/>
                </a:ext>
              </a:extLst>
            </p:cNvPr>
            <p:cNvSpPr txBox="1">
              <a:spLocks noChangeArrowheads="1"/>
            </p:cNvSpPr>
            <p:nvPr/>
          </p:nvSpPr>
          <p:spPr bwMode="auto">
            <a:xfrm>
              <a:off x="3307"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1</a:t>
              </a:r>
              <a:endParaRPr kumimoji="1" lang="en-US" altLang="zh-CN" sz="2400" b="0">
                <a:latin typeface="Times New Roman" panose="02020603050405020304" pitchFamily="18" charset="0"/>
              </a:endParaRPr>
            </a:p>
          </p:txBody>
        </p:sp>
        <p:sp>
          <p:nvSpPr>
            <p:cNvPr id="53300" name="Text Box 47">
              <a:extLst>
                <a:ext uri="{FF2B5EF4-FFF2-40B4-BE49-F238E27FC236}">
                  <a16:creationId xmlns:a16="http://schemas.microsoft.com/office/drawing/2014/main" id="{CBFE2043-0155-3BC7-0FE4-E33D2476AB96}"/>
                </a:ext>
              </a:extLst>
            </p:cNvPr>
            <p:cNvSpPr txBox="1">
              <a:spLocks noChangeArrowheads="1"/>
            </p:cNvSpPr>
            <p:nvPr/>
          </p:nvSpPr>
          <p:spPr bwMode="auto">
            <a:xfrm>
              <a:off x="1195"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1" name="Text Box 48">
              <a:extLst>
                <a:ext uri="{FF2B5EF4-FFF2-40B4-BE49-F238E27FC236}">
                  <a16:creationId xmlns:a16="http://schemas.microsoft.com/office/drawing/2014/main" id="{01D877DA-D9C0-8508-13AD-7D60DF233307}"/>
                </a:ext>
              </a:extLst>
            </p:cNvPr>
            <p:cNvSpPr txBox="1">
              <a:spLocks noChangeArrowheads="1"/>
            </p:cNvSpPr>
            <p:nvPr/>
          </p:nvSpPr>
          <p:spPr bwMode="auto">
            <a:xfrm>
              <a:off x="1863" y="99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2" name="Text Box 49">
              <a:extLst>
                <a:ext uri="{FF2B5EF4-FFF2-40B4-BE49-F238E27FC236}">
                  <a16:creationId xmlns:a16="http://schemas.microsoft.com/office/drawing/2014/main" id="{D3B20CED-6964-3CDC-AA54-229BF460A889}"/>
                </a:ext>
              </a:extLst>
            </p:cNvPr>
            <p:cNvSpPr txBox="1">
              <a:spLocks noChangeArrowheads="1"/>
            </p:cNvSpPr>
            <p:nvPr/>
          </p:nvSpPr>
          <p:spPr bwMode="auto">
            <a:xfrm>
              <a:off x="2203"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3" name="Text Box 50">
              <a:extLst>
                <a:ext uri="{FF2B5EF4-FFF2-40B4-BE49-F238E27FC236}">
                  <a16:creationId xmlns:a16="http://schemas.microsoft.com/office/drawing/2014/main" id="{FFCB662C-D45D-BC97-0AB8-8347BE63073B}"/>
                </a:ext>
              </a:extLst>
            </p:cNvPr>
            <p:cNvSpPr txBox="1">
              <a:spLocks noChangeArrowheads="1"/>
            </p:cNvSpPr>
            <p:nvPr/>
          </p:nvSpPr>
          <p:spPr bwMode="auto">
            <a:xfrm>
              <a:off x="2487"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4" name="Text Box 51">
              <a:extLst>
                <a:ext uri="{FF2B5EF4-FFF2-40B4-BE49-F238E27FC236}">
                  <a16:creationId xmlns:a16="http://schemas.microsoft.com/office/drawing/2014/main" id="{F6DFB0DB-9DDE-4E09-9BF9-F82B08C9E109}"/>
                </a:ext>
              </a:extLst>
            </p:cNvPr>
            <p:cNvSpPr txBox="1">
              <a:spLocks noChangeArrowheads="1"/>
            </p:cNvSpPr>
            <p:nvPr/>
          </p:nvSpPr>
          <p:spPr bwMode="auto">
            <a:xfrm>
              <a:off x="2971"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5" name="Text Box 52">
              <a:extLst>
                <a:ext uri="{FF2B5EF4-FFF2-40B4-BE49-F238E27FC236}">
                  <a16:creationId xmlns:a16="http://schemas.microsoft.com/office/drawing/2014/main" id="{2C031FA1-A904-D4F2-5B5E-1DA74A42D0A0}"/>
                </a:ext>
              </a:extLst>
            </p:cNvPr>
            <p:cNvSpPr txBox="1">
              <a:spLocks noChangeArrowheads="1"/>
            </p:cNvSpPr>
            <p:nvPr/>
          </p:nvSpPr>
          <p:spPr bwMode="auto">
            <a:xfrm>
              <a:off x="3975" y="99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6" name="Text Box 53">
              <a:extLst>
                <a:ext uri="{FF2B5EF4-FFF2-40B4-BE49-F238E27FC236}">
                  <a16:creationId xmlns:a16="http://schemas.microsoft.com/office/drawing/2014/main" id="{4F9DD135-8405-BC82-4141-3DCB51A005A9}"/>
                </a:ext>
              </a:extLst>
            </p:cNvPr>
            <p:cNvSpPr txBox="1">
              <a:spLocks noChangeArrowheads="1"/>
            </p:cNvSpPr>
            <p:nvPr/>
          </p:nvSpPr>
          <p:spPr bwMode="auto">
            <a:xfrm>
              <a:off x="4359"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7" name="Text Box 54">
              <a:extLst>
                <a:ext uri="{FF2B5EF4-FFF2-40B4-BE49-F238E27FC236}">
                  <a16:creationId xmlns:a16="http://schemas.microsoft.com/office/drawing/2014/main" id="{163763DF-3C60-BB6C-B95C-EA3A9C8AA05F}"/>
                </a:ext>
              </a:extLst>
            </p:cNvPr>
            <p:cNvSpPr txBox="1">
              <a:spLocks noChangeArrowheads="1"/>
            </p:cNvSpPr>
            <p:nvPr/>
          </p:nvSpPr>
          <p:spPr bwMode="auto">
            <a:xfrm>
              <a:off x="4647"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8" name="Text Box 55">
              <a:extLst>
                <a:ext uri="{FF2B5EF4-FFF2-40B4-BE49-F238E27FC236}">
                  <a16:creationId xmlns:a16="http://schemas.microsoft.com/office/drawing/2014/main" id="{5BEC4682-53EE-448C-65D8-70480829E5C3}"/>
                </a:ext>
              </a:extLst>
            </p:cNvPr>
            <p:cNvSpPr txBox="1">
              <a:spLocks noChangeArrowheads="1"/>
            </p:cNvSpPr>
            <p:nvPr/>
          </p:nvSpPr>
          <p:spPr bwMode="auto">
            <a:xfrm>
              <a:off x="4987"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09" name="Text Box 56">
              <a:extLst>
                <a:ext uri="{FF2B5EF4-FFF2-40B4-BE49-F238E27FC236}">
                  <a16:creationId xmlns:a16="http://schemas.microsoft.com/office/drawing/2014/main" id="{F45C7816-2DC7-D070-50A9-E146E3777E88}"/>
                </a:ext>
              </a:extLst>
            </p:cNvPr>
            <p:cNvSpPr txBox="1">
              <a:spLocks noChangeArrowheads="1"/>
            </p:cNvSpPr>
            <p:nvPr/>
          </p:nvSpPr>
          <p:spPr bwMode="auto">
            <a:xfrm>
              <a:off x="5271"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10" name="Text Box 57">
              <a:extLst>
                <a:ext uri="{FF2B5EF4-FFF2-40B4-BE49-F238E27FC236}">
                  <a16:creationId xmlns:a16="http://schemas.microsoft.com/office/drawing/2014/main" id="{10DE5DC8-F985-A7C8-79D3-C9B2C88B8621}"/>
                </a:ext>
              </a:extLst>
            </p:cNvPr>
            <p:cNvSpPr txBox="1">
              <a:spLocks noChangeArrowheads="1"/>
            </p:cNvSpPr>
            <p:nvPr/>
          </p:nvSpPr>
          <p:spPr bwMode="auto">
            <a:xfrm>
              <a:off x="475" y="99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11" name="Text Box 58">
              <a:extLst>
                <a:ext uri="{FF2B5EF4-FFF2-40B4-BE49-F238E27FC236}">
                  <a16:creationId xmlns:a16="http://schemas.microsoft.com/office/drawing/2014/main" id="{9950C738-11D5-8BE3-2E1B-EE9954B81B62}"/>
                </a:ext>
              </a:extLst>
            </p:cNvPr>
            <p:cNvSpPr txBox="1">
              <a:spLocks noChangeArrowheads="1"/>
            </p:cNvSpPr>
            <p:nvPr/>
          </p:nvSpPr>
          <p:spPr bwMode="auto">
            <a:xfrm>
              <a:off x="187" y="100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latin typeface="Times New Roman" panose="02020603050405020304" pitchFamily="18" charset="0"/>
                </a:rPr>
                <a:t>0</a:t>
              </a:r>
              <a:endParaRPr kumimoji="1" lang="en-US" altLang="zh-CN" sz="2400" b="0">
                <a:latin typeface="Times New Roman" panose="02020603050405020304" pitchFamily="18" charset="0"/>
              </a:endParaRPr>
            </a:p>
          </p:txBody>
        </p:sp>
        <p:sp>
          <p:nvSpPr>
            <p:cNvPr id="53312" name="Text Box 59">
              <a:extLst>
                <a:ext uri="{FF2B5EF4-FFF2-40B4-BE49-F238E27FC236}">
                  <a16:creationId xmlns:a16="http://schemas.microsoft.com/office/drawing/2014/main" id="{9E5FBA4C-FF80-8A48-4379-C40C8E6B9E2C}"/>
                </a:ext>
              </a:extLst>
            </p:cNvPr>
            <p:cNvSpPr txBox="1">
              <a:spLocks noChangeArrowheads="1"/>
            </p:cNvSpPr>
            <p:nvPr/>
          </p:nvSpPr>
          <p:spPr bwMode="auto">
            <a:xfrm>
              <a:off x="831" y="1525"/>
              <a:ext cx="19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000" b="0">
                  <a:solidFill>
                    <a:srgbClr val="0066FF"/>
                  </a:solidFill>
                  <a:latin typeface="Arial Narrow" panose="020B0606020202030204" pitchFamily="34" charset="0"/>
                </a:rPr>
                <a:t>y = OSUnMapTbl[OSRdyGrp]; </a:t>
              </a:r>
            </a:p>
          </p:txBody>
        </p:sp>
        <p:sp>
          <p:nvSpPr>
            <p:cNvPr id="53313" name="Line 60">
              <a:extLst>
                <a:ext uri="{FF2B5EF4-FFF2-40B4-BE49-F238E27FC236}">
                  <a16:creationId xmlns:a16="http://schemas.microsoft.com/office/drawing/2014/main" id="{78881A5A-8B3A-AD35-9FDD-8C509356DAA1}"/>
                </a:ext>
              </a:extLst>
            </p:cNvPr>
            <p:cNvSpPr>
              <a:spLocks noChangeShapeType="1"/>
            </p:cNvSpPr>
            <p:nvPr/>
          </p:nvSpPr>
          <p:spPr bwMode="auto">
            <a:xfrm>
              <a:off x="1579" y="129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4" name="Line 61">
              <a:extLst>
                <a:ext uri="{FF2B5EF4-FFF2-40B4-BE49-F238E27FC236}">
                  <a16:creationId xmlns:a16="http://schemas.microsoft.com/office/drawing/2014/main" id="{46044669-D816-39DE-1130-F620DA43B083}"/>
                </a:ext>
              </a:extLst>
            </p:cNvPr>
            <p:cNvSpPr>
              <a:spLocks noChangeShapeType="1"/>
            </p:cNvSpPr>
            <p:nvPr/>
          </p:nvSpPr>
          <p:spPr bwMode="auto">
            <a:xfrm>
              <a:off x="1579" y="144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315" name="Line 62">
              <a:extLst>
                <a:ext uri="{FF2B5EF4-FFF2-40B4-BE49-F238E27FC236}">
                  <a16:creationId xmlns:a16="http://schemas.microsoft.com/office/drawing/2014/main" id="{05A33326-F13C-38A4-43D3-3ADC2E3F4E89}"/>
                </a:ext>
              </a:extLst>
            </p:cNvPr>
            <p:cNvSpPr>
              <a:spLocks noChangeShapeType="1"/>
            </p:cNvSpPr>
            <p:nvPr/>
          </p:nvSpPr>
          <p:spPr bwMode="auto">
            <a:xfrm>
              <a:off x="2731" y="1440"/>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16" name="Line 63">
              <a:extLst>
                <a:ext uri="{FF2B5EF4-FFF2-40B4-BE49-F238E27FC236}">
                  <a16:creationId xmlns:a16="http://schemas.microsoft.com/office/drawing/2014/main" id="{D6B4696D-6D58-33FD-0B66-B7AF0A6420A1}"/>
                </a:ext>
              </a:extLst>
            </p:cNvPr>
            <p:cNvSpPr>
              <a:spLocks noChangeShapeType="1"/>
            </p:cNvSpPr>
            <p:nvPr/>
          </p:nvSpPr>
          <p:spPr bwMode="auto">
            <a:xfrm>
              <a:off x="3739" y="1344"/>
              <a:ext cx="0"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317" name="Text Box 64">
              <a:extLst>
                <a:ext uri="{FF2B5EF4-FFF2-40B4-BE49-F238E27FC236}">
                  <a16:creationId xmlns:a16="http://schemas.microsoft.com/office/drawing/2014/main" id="{0E6FB1E7-628F-CCEE-EB50-1917452B8D5E}"/>
                </a:ext>
              </a:extLst>
            </p:cNvPr>
            <p:cNvSpPr txBox="1">
              <a:spLocks noChangeArrowheads="1"/>
            </p:cNvSpPr>
            <p:nvPr/>
          </p:nvSpPr>
          <p:spPr bwMode="auto">
            <a:xfrm>
              <a:off x="1056" y="2774"/>
              <a:ext cx="34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000" b="0">
                  <a:latin typeface="Times New Roman" panose="02020603050405020304" pitchFamily="18" charset="0"/>
                </a:rPr>
                <a:t>图</a:t>
              </a:r>
              <a:r>
                <a:rPr kumimoji="1" lang="en-US" altLang="zh-CN" sz="2000" b="0">
                  <a:latin typeface="Times New Roman" panose="02020603050405020304" pitchFamily="18" charset="0"/>
                </a:rPr>
                <a:t>5-6 </a:t>
              </a:r>
              <a:r>
                <a:rPr kumimoji="1" lang="zh-CN" altLang="en-US" sz="2000" b="0">
                  <a:latin typeface="Times New Roman" panose="02020603050405020304" pitchFamily="18" charset="0"/>
                </a:rPr>
                <a:t>在就绪表中查找最高优先级别任务的过程</a:t>
              </a:r>
            </a:p>
          </p:txBody>
        </p:sp>
      </p:grpSp>
      <p:sp>
        <p:nvSpPr>
          <p:cNvPr id="65604" name="Text Box 68">
            <a:extLst>
              <a:ext uri="{FF2B5EF4-FFF2-40B4-BE49-F238E27FC236}">
                <a16:creationId xmlns:a16="http://schemas.microsoft.com/office/drawing/2014/main" id="{883E70E7-3F7D-297B-326E-0FA14C73FC4F}"/>
              </a:ext>
            </a:extLst>
          </p:cNvPr>
          <p:cNvSpPr txBox="1">
            <a:spLocks noChangeArrowheads="1"/>
          </p:cNvSpPr>
          <p:nvPr/>
        </p:nvSpPr>
        <p:spPr bwMode="auto">
          <a:xfrm>
            <a:off x="107950" y="4997450"/>
            <a:ext cx="8893175" cy="1320800"/>
          </a:xfrm>
          <a:prstGeom prst="rect">
            <a:avLst/>
          </a:prstGeom>
          <a:solidFill>
            <a:srgbClr val="FFFFCC"/>
          </a:solidFill>
          <a:ln w="9525">
            <a:solidFill>
              <a:srgbClr val="339966"/>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a:latin typeface="Lucida Sans" panose="020B0602030504020204" pitchFamily="34" charset="0"/>
              </a:rPr>
              <a:t>说明：在 “按图索骥” 算法中，对于所有的任务其 “索骥” 时间都是一致的。</a:t>
            </a:r>
          </a:p>
          <a:p>
            <a:pPr eaLnBrk="1" hangingPunct="1">
              <a:spcBef>
                <a:spcPct val="50000"/>
              </a:spcBef>
              <a:buClrTx/>
              <a:buSzTx/>
              <a:buFontTx/>
              <a:buNone/>
            </a:pPr>
            <a:r>
              <a:rPr lang="en-US" altLang="zh-CN" sz="2000">
                <a:latin typeface="Lucida Sans" panose="020B0602030504020204" pitchFamily="34" charset="0"/>
              </a:rPr>
              <a:t>S1</a:t>
            </a:r>
            <a:r>
              <a:rPr lang="zh-CN" altLang="en-US" sz="2000">
                <a:latin typeface="Lucida Sans" panose="020B0602030504020204" pitchFamily="34" charset="0"/>
              </a:rPr>
              <a:t>、以系统变量 </a:t>
            </a:r>
            <a:r>
              <a:rPr lang="en-US" altLang="zh-CN" sz="2000">
                <a:latin typeface="Lucida Sans" panose="020B0602030504020204" pitchFamily="34" charset="0"/>
              </a:rPr>
              <a:t>OSRdyGrp </a:t>
            </a:r>
            <a:r>
              <a:rPr lang="zh-CN" altLang="en-US" sz="2000">
                <a:latin typeface="Lucida Sans" panose="020B0602030504020204" pitchFamily="34" charset="0"/>
              </a:rPr>
              <a:t>为下标，查 </a:t>
            </a:r>
            <a:r>
              <a:rPr lang="en-US" altLang="zh-CN" sz="2000">
                <a:latin typeface="Lucida Sans" panose="020B0602030504020204" pitchFamily="34" charset="0"/>
              </a:rPr>
              <a:t>OSUnMapTbl[] </a:t>
            </a:r>
            <a:r>
              <a:rPr lang="zh-CN" altLang="en-US" sz="2000">
                <a:latin typeface="Lucida Sans" panose="020B0602030504020204" pitchFamily="34" charset="0"/>
              </a:rPr>
              <a:t>表，可得 </a:t>
            </a:r>
            <a:r>
              <a:rPr lang="en-US" altLang="zh-CN" sz="2000">
                <a:solidFill>
                  <a:srgbClr val="0000FF"/>
                </a:solidFill>
                <a:latin typeface="Lucida Sans" panose="020B0602030504020204" pitchFamily="34" charset="0"/>
              </a:rPr>
              <a:t>y</a:t>
            </a:r>
            <a:r>
              <a:rPr lang="en-US" altLang="zh-CN" sz="2000">
                <a:latin typeface="Lucida Sans" panose="020B0602030504020204" pitchFamily="34" charset="0"/>
              </a:rPr>
              <a:t> </a:t>
            </a:r>
            <a:r>
              <a:rPr lang="zh-CN" altLang="en-US" sz="2000">
                <a:latin typeface="Lucida Sans" panose="020B0602030504020204" pitchFamily="34" charset="0"/>
              </a:rPr>
              <a:t>。</a:t>
            </a:r>
          </a:p>
          <a:p>
            <a:pPr eaLnBrk="1" hangingPunct="1">
              <a:spcBef>
                <a:spcPct val="50000"/>
              </a:spcBef>
              <a:buClrTx/>
              <a:buSzTx/>
              <a:buFontTx/>
              <a:buNone/>
            </a:pPr>
            <a:r>
              <a:rPr lang="en-US" altLang="zh-CN" sz="2000">
                <a:latin typeface="Lucida Sans" panose="020B0602030504020204" pitchFamily="34" charset="0"/>
              </a:rPr>
              <a:t>S2</a:t>
            </a:r>
            <a:r>
              <a:rPr lang="zh-CN" altLang="en-US" sz="2000">
                <a:latin typeface="Lucida Sans" panose="020B0602030504020204" pitchFamily="34" charset="0"/>
              </a:rPr>
              <a:t>、以 </a:t>
            </a:r>
            <a:r>
              <a:rPr lang="en-US" altLang="zh-CN" sz="2000">
                <a:latin typeface="Lucida Sans" panose="020B0602030504020204" pitchFamily="34" charset="0"/>
              </a:rPr>
              <a:t>OSRdyTbl[] </a:t>
            </a:r>
            <a:r>
              <a:rPr lang="zh-CN" altLang="en-US" sz="2000">
                <a:latin typeface="Lucida Sans" panose="020B0602030504020204" pitchFamily="34" charset="0"/>
              </a:rPr>
              <a:t>的第 </a:t>
            </a:r>
            <a:r>
              <a:rPr lang="en-US" altLang="zh-CN" sz="2000">
                <a:latin typeface="Lucida Sans" panose="020B0602030504020204" pitchFamily="34" charset="0"/>
              </a:rPr>
              <a:t>y </a:t>
            </a:r>
            <a:r>
              <a:rPr lang="zh-CN" altLang="en-US" sz="2000">
                <a:latin typeface="Lucida Sans" panose="020B0602030504020204" pitchFamily="34" charset="0"/>
              </a:rPr>
              <a:t>元素为下标，查 </a:t>
            </a:r>
            <a:r>
              <a:rPr lang="en-US" altLang="zh-CN" sz="2000">
                <a:latin typeface="Lucida Sans" panose="020B0602030504020204" pitchFamily="34" charset="0"/>
              </a:rPr>
              <a:t>OSUnMapTbl[] </a:t>
            </a:r>
            <a:r>
              <a:rPr lang="zh-CN" altLang="en-US" sz="2000">
                <a:latin typeface="Lucida Sans" panose="020B0602030504020204" pitchFamily="34" charset="0"/>
              </a:rPr>
              <a:t>表，可得 </a:t>
            </a:r>
            <a:r>
              <a:rPr lang="en-US" altLang="zh-CN" sz="2000">
                <a:solidFill>
                  <a:srgbClr val="0000FF"/>
                </a:solidFill>
                <a:latin typeface="Lucida Sans" panose="020B0602030504020204" pitchFamily="34" charset="0"/>
              </a:rPr>
              <a:t>x</a:t>
            </a:r>
            <a:r>
              <a:rPr lang="en-US" altLang="zh-CN" sz="2000">
                <a:latin typeface="Lucida Sans" panose="020B0602030504020204" pitchFamily="34" charset="0"/>
              </a:rPr>
              <a:t> </a:t>
            </a:r>
            <a:r>
              <a:rPr lang="zh-CN" altLang="en-US" sz="2000">
                <a:latin typeface="Lucida Sans" panose="020B0602030504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604"/>
                                        </p:tgtEl>
                                        <p:attrNameLst>
                                          <p:attrName>style.visibility</p:attrName>
                                        </p:attrNameLst>
                                      </p:cBhvr>
                                      <p:to>
                                        <p:strVal val="visible"/>
                                      </p:to>
                                    </p:set>
                                    <p:animEffect transition="in" filter="blinds(horizontal)">
                                      <p:cBhvr>
                                        <p:cTn id="7" dur="500"/>
                                        <p:tgtEl>
                                          <p:spTgt spid="6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0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1">
            <a:extLst>
              <a:ext uri="{FF2B5EF4-FFF2-40B4-BE49-F238E27FC236}">
                <a16:creationId xmlns:a16="http://schemas.microsoft.com/office/drawing/2014/main" id="{2ADDB9FA-1787-F2A5-3C13-399EC084A79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4275" name="灯片编号占位符 2">
            <a:extLst>
              <a:ext uri="{FF2B5EF4-FFF2-40B4-BE49-F238E27FC236}">
                <a16:creationId xmlns:a16="http://schemas.microsoft.com/office/drawing/2014/main" id="{48DACBE9-9C0D-3C87-49C8-44D55C48CE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34E9B72-B95F-4A82-A544-BB4F6793FD38}" type="slidenum">
              <a:rPr lang="en-US" altLang="zh-CN" sz="1200" smtClean="0">
                <a:solidFill>
                  <a:srgbClr val="3366FF"/>
                </a:solidFill>
                <a:latin typeface="Arial Black" panose="020B0A04020102020204" pitchFamily="34" charset="0"/>
              </a:rPr>
              <a:pPr>
                <a:spcBef>
                  <a:spcPct val="0"/>
                </a:spcBef>
                <a:buClrTx/>
                <a:buSzTx/>
                <a:buFontTx/>
                <a:buNone/>
              </a:pPr>
              <a:t>50</a:t>
            </a:fld>
            <a:endParaRPr lang="en-US" altLang="zh-CN" sz="1200">
              <a:solidFill>
                <a:srgbClr val="3366FF"/>
              </a:solidFill>
              <a:latin typeface="Arial Black" panose="020B0A04020102020204" pitchFamily="34" charset="0"/>
            </a:endParaRPr>
          </a:p>
        </p:txBody>
      </p:sp>
      <p:sp>
        <p:nvSpPr>
          <p:cNvPr id="54276" name="日期占位符 3">
            <a:extLst>
              <a:ext uri="{FF2B5EF4-FFF2-40B4-BE49-F238E27FC236}">
                <a16:creationId xmlns:a16="http://schemas.microsoft.com/office/drawing/2014/main" id="{B7CF21C9-9DDC-E193-F320-71E6725012F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1A38E5-41C8-4CB3-8F35-4ADE595CD6A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4277" name="Text Box 68">
            <a:extLst>
              <a:ext uri="{FF2B5EF4-FFF2-40B4-BE49-F238E27FC236}">
                <a16:creationId xmlns:a16="http://schemas.microsoft.com/office/drawing/2014/main" id="{C113C834-0611-0067-C29C-4FCB3FFD7E3A}"/>
              </a:ext>
            </a:extLst>
          </p:cNvPr>
          <p:cNvSpPr txBox="1">
            <a:spLocks noChangeArrowheads="1"/>
          </p:cNvSpPr>
          <p:nvPr/>
        </p:nvSpPr>
        <p:spPr bwMode="auto">
          <a:xfrm>
            <a:off x="179388" y="944563"/>
            <a:ext cx="8778875" cy="5292725"/>
          </a:xfrm>
          <a:prstGeom prst="rect">
            <a:avLst/>
          </a:prstGeom>
          <a:solidFill>
            <a:srgbClr val="CCECFF"/>
          </a:solidFill>
          <a:ln w="76200" cmpd="tri">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SzTx/>
              <a:buFontTx/>
              <a:buNone/>
            </a:pPr>
            <a:r>
              <a:rPr kumimoji="1" lang="zh-CN" altLang="en-US" sz="2800" b="0">
                <a:latin typeface="Times New Roman" panose="02020603050405020304" pitchFamily="18" charset="0"/>
                <a:ea typeface="黑体" panose="02010609060101010101" pitchFamily="49" charset="-122"/>
              </a:rPr>
              <a:t>用下代码可从任务就绪表中获取优先级别最高的就绪任务（</a:t>
            </a:r>
            <a:r>
              <a:rPr kumimoji="1" lang="en-US" altLang="zh-CN" sz="2800" b="0">
                <a:latin typeface="Arial Narrow" panose="020B0606020202030204" pitchFamily="34" charset="0"/>
                <a:ea typeface="黑体" panose="02010609060101010101" pitchFamily="49" charset="-122"/>
              </a:rPr>
              <a:t>prio</a:t>
            </a:r>
            <a:r>
              <a:rPr kumimoji="1" lang="zh-CN" altLang="en-US" sz="2800" b="0">
                <a:latin typeface="Times New Roman" panose="02020603050405020304" pitchFamily="18" charset="0"/>
                <a:ea typeface="黑体" panose="02010609060101010101" pitchFamily="49" charset="-122"/>
              </a:rPr>
              <a:t>）：</a:t>
            </a:r>
          </a:p>
          <a:p>
            <a:pPr algn="just" eaLnBrk="1" hangingPunct="1">
              <a:spcBef>
                <a:spcPct val="0"/>
              </a:spcBef>
              <a:buClrTx/>
              <a:buSzTx/>
              <a:buFontTx/>
              <a:buNone/>
            </a:pPr>
            <a:r>
              <a:rPr kumimoji="1" lang="zh-CN" altLang="en-US" sz="2800" b="0">
                <a:latin typeface="Times New Roman" panose="02020603050405020304" pitchFamily="18" charset="0"/>
              </a:rPr>
              <a:t> </a:t>
            </a: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rPr>
              <a:t>y = OSUnMapTal[OSRdyGrp]</a:t>
            </a:r>
            <a:r>
              <a:rPr kumimoji="1" lang="en-US" altLang="zh-CN" sz="2800" b="0">
                <a:solidFill>
                  <a:srgbClr val="FF0066"/>
                </a:solidFill>
                <a:latin typeface="Arial Narrow" panose="020B0606020202030204" pitchFamily="34" charset="0"/>
              </a:rPr>
              <a:t>;</a:t>
            </a:r>
            <a:r>
              <a:rPr kumimoji="1" lang="en-US" altLang="zh-CN" sz="2800" b="0">
                <a:latin typeface="Times New Roman" panose="02020603050405020304" pitchFamily="18" charset="0"/>
              </a:rPr>
              <a:t>       </a:t>
            </a:r>
            <a:r>
              <a:rPr kumimoji="1" lang="en-US" altLang="zh-CN" sz="2400" b="0">
                <a:latin typeface="Arial Narrow" panose="020B0606020202030204" pitchFamily="34" charset="0"/>
                <a:ea typeface="黑体" panose="02010609060101010101" pitchFamily="49" charset="-122"/>
              </a:rPr>
              <a:t>// D</a:t>
            </a:r>
            <a:r>
              <a:rPr kumimoji="1" lang="en-US" altLang="zh-CN" sz="2400" b="0" baseline="-30000">
                <a:latin typeface="Arial Narrow" panose="020B0606020202030204" pitchFamily="34" charset="0"/>
                <a:ea typeface="黑体" panose="02010609060101010101" pitchFamily="49" charset="-122"/>
              </a:rPr>
              <a:t>5</a:t>
            </a:r>
            <a:r>
              <a:rPr kumimoji="1" lang="zh-CN" altLang="en-US" sz="2400" b="0">
                <a:latin typeface="Arial Narrow" panose="020B0606020202030204" pitchFamily="34" charset="0"/>
                <a:ea typeface="黑体" panose="02010609060101010101" pitchFamily="49" charset="-122"/>
              </a:rPr>
              <a:t>、</a:t>
            </a:r>
            <a:r>
              <a:rPr kumimoji="1" lang="en-US" altLang="zh-CN" sz="2400" b="0">
                <a:latin typeface="Arial Narrow" panose="020B0606020202030204" pitchFamily="34" charset="0"/>
                <a:ea typeface="黑体" panose="02010609060101010101" pitchFamily="49" charset="-122"/>
              </a:rPr>
              <a:t>D</a:t>
            </a:r>
            <a:r>
              <a:rPr kumimoji="1" lang="en-US" altLang="zh-CN" sz="2400" b="0" baseline="-30000">
                <a:latin typeface="Arial Narrow" panose="020B0606020202030204" pitchFamily="34" charset="0"/>
                <a:ea typeface="黑体" panose="02010609060101010101" pitchFamily="49" charset="-122"/>
              </a:rPr>
              <a:t>4</a:t>
            </a:r>
            <a:r>
              <a:rPr kumimoji="1" lang="zh-CN" altLang="en-US" sz="2400" b="0">
                <a:latin typeface="Arial Narrow" panose="020B0606020202030204" pitchFamily="34" charset="0"/>
                <a:ea typeface="黑体" panose="02010609060101010101" pitchFamily="49" charset="-122"/>
              </a:rPr>
              <a:t>、</a:t>
            </a:r>
            <a:r>
              <a:rPr kumimoji="1" lang="en-US" altLang="zh-CN" sz="2400" b="0">
                <a:latin typeface="Arial Narrow" panose="020B0606020202030204" pitchFamily="34" charset="0"/>
                <a:ea typeface="黑体" panose="02010609060101010101" pitchFamily="49" charset="-122"/>
              </a:rPr>
              <a:t>D</a:t>
            </a:r>
            <a:r>
              <a:rPr kumimoji="1" lang="en-US" altLang="zh-CN" sz="2400" b="0" baseline="-30000">
                <a:latin typeface="Arial Narrow" panose="020B0606020202030204" pitchFamily="34" charset="0"/>
                <a:ea typeface="黑体" panose="02010609060101010101" pitchFamily="49" charset="-122"/>
              </a:rPr>
              <a:t>3</a:t>
            </a:r>
            <a:r>
              <a:rPr kumimoji="1" lang="zh-CN" altLang="en-US" sz="2400" b="0">
                <a:latin typeface="Arial Narrow" panose="020B0606020202030204" pitchFamily="34" charset="0"/>
                <a:ea typeface="黑体" panose="02010609060101010101" pitchFamily="49" charset="-122"/>
              </a:rPr>
              <a:t>位</a:t>
            </a: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rPr>
              <a:t>x = OSUnMapTal[OSRdyTbl[y]]</a:t>
            </a:r>
            <a:r>
              <a:rPr kumimoji="1" lang="en-US" altLang="zh-CN" sz="2800" b="0">
                <a:solidFill>
                  <a:srgbClr val="FF0066"/>
                </a:solidFill>
                <a:latin typeface="Arial Narrow" panose="020B0606020202030204" pitchFamily="34" charset="0"/>
              </a:rPr>
              <a:t>;</a:t>
            </a:r>
            <a:r>
              <a:rPr kumimoji="1" lang="en-US" altLang="zh-CN" sz="2800" b="0">
                <a:latin typeface="Times New Roman" panose="02020603050405020304" pitchFamily="18" charset="0"/>
              </a:rPr>
              <a:t>   </a:t>
            </a:r>
            <a:r>
              <a:rPr kumimoji="1" lang="en-US" altLang="zh-CN" sz="2400" b="0">
                <a:latin typeface="Arial Narrow" panose="020B0606020202030204" pitchFamily="34" charset="0"/>
                <a:ea typeface="黑体" panose="02010609060101010101" pitchFamily="49" charset="-122"/>
              </a:rPr>
              <a:t>// D</a:t>
            </a:r>
            <a:r>
              <a:rPr kumimoji="1" lang="en-US" altLang="zh-CN" sz="2400" b="0" baseline="-30000">
                <a:latin typeface="Arial Narrow" panose="020B0606020202030204" pitchFamily="34" charset="0"/>
                <a:ea typeface="黑体" panose="02010609060101010101" pitchFamily="49" charset="-122"/>
              </a:rPr>
              <a:t>2</a:t>
            </a:r>
            <a:r>
              <a:rPr kumimoji="1" lang="zh-CN" altLang="en-US" sz="2400" b="0">
                <a:latin typeface="Arial Narrow" panose="020B0606020202030204" pitchFamily="34" charset="0"/>
                <a:ea typeface="黑体" panose="02010609060101010101" pitchFamily="49" charset="-122"/>
              </a:rPr>
              <a:t>、</a:t>
            </a:r>
            <a:r>
              <a:rPr kumimoji="1" lang="en-US" altLang="zh-CN" sz="2400" b="0">
                <a:latin typeface="Arial Narrow" panose="020B0606020202030204" pitchFamily="34" charset="0"/>
                <a:ea typeface="黑体" panose="02010609060101010101" pitchFamily="49" charset="-122"/>
              </a:rPr>
              <a:t>D</a:t>
            </a:r>
            <a:r>
              <a:rPr kumimoji="1" lang="en-US" altLang="zh-CN" sz="2400" b="0" baseline="-30000">
                <a:latin typeface="Arial Narrow" panose="020B0606020202030204" pitchFamily="34" charset="0"/>
                <a:ea typeface="黑体" panose="02010609060101010101" pitchFamily="49" charset="-122"/>
              </a:rPr>
              <a:t>1</a:t>
            </a:r>
            <a:r>
              <a:rPr kumimoji="1" lang="zh-CN" altLang="en-US" sz="2400" b="0">
                <a:latin typeface="Arial Narrow" panose="020B0606020202030204" pitchFamily="34" charset="0"/>
                <a:ea typeface="黑体" panose="02010609060101010101" pitchFamily="49" charset="-122"/>
              </a:rPr>
              <a:t>、</a:t>
            </a:r>
            <a:r>
              <a:rPr kumimoji="1" lang="en-US" altLang="zh-CN" sz="2400" b="0">
                <a:latin typeface="Arial Narrow" panose="020B0606020202030204" pitchFamily="34" charset="0"/>
                <a:ea typeface="黑体" panose="02010609060101010101" pitchFamily="49" charset="-122"/>
              </a:rPr>
              <a:t>D</a:t>
            </a:r>
            <a:r>
              <a:rPr kumimoji="1" lang="en-US" altLang="zh-CN" sz="2400" b="0" baseline="-30000">
                <a:latin typeface="Arial Narrow" panose="020B0606020202030204" pitchFamily="34" charset="0"/>
                <a:ea typeface="黑体" panose="02010609060101010101" pitchFamily="49" charset="-122"/>
              </a:rPr>
              <a:t>0</a:t>
            </a:r>
            <a:r>
              <a:rPr kumimoji="1" lang="zh-CN" altLang="en-US" sz="2400" b="0">
                <a:latin typeface="黑体" panose="02010609060101010101" pitchFamily="49" charset="-122"/>
                <a:ea typeface="黑体" panose="02010609060101010101" pitchFamily="49" charset="-122"/>
              </a:rPr>
              <a:t>位</a:t>
            </a: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rPr>
              <a:t>prio = (y&lt;&lt;3)+x</a:t>
            </a:r>
            <a:r>
              <a:rPr kumimoji="1" lang="en-US" altLang="zh-CN" sz="2800" b="0">
                <a:solidFill>
                  <a:srgbClr val="FF3300"/>
                </a:solidFill>
                <a:latin typeface="Arial Narrow" panose="020B0606020202030204" pitchFamily="34" charset="0"/>
              </a:rPr>
              <a:t>;</a:t>
            </a:r>
            <a:r>
              <a:rPr kumimoji="1" lang="en-US" altLang="zh-CN" sz="2800" b="0">
                <a:latin typeface="Arial Narrow" panose="020B0606020202030204" pitchFamily="34" charset="0"/>
              </a:rPr>
              <a:t>	</a:t>
            </a:r>
            <a:r>
              <a:rPr kumimoji="1" lang="en-US" altLang="zh-CN" sz="2800" b="0">
                <a:latin typeface="Times New Roman" panose="02020603050405020304" pitchFamily="18" charset="0"/>
              </a:rPr>
              <a:t>	           </a:t>
            </a:r>
            <a:r>
              <a:rPr kumimoji="1" lang="en-US" altLang="zh-CN" sz="2400" b="0">
                <a:latin typeface="Arial Narrow" panose="020B0606020202030204" pitchFamily="34" charset="0"/>
                <a:ea typeface="黑体" panose="02010609060101010101" pitchFamily="49" charset="-122"/>
              </a:rPr>
              <a:t>//</a:t>
            </a:r>
            <a:r>
              <a:rPr kumimoji="1" lang="en-US" altLang="zh-CN" sz="2400" b="0">
                <a:latin typeface="黑体" panose="02010609060101010101" pitchFamily="49" charset="-122"/>
                <a:ea typeface="黑体" panose="02010609060101010101" pitchFamily="49" charset="-122"/>
              </a:rPr>
              <a:t> </a:t>
            </a:r>
            <a:r>
              <a:rPr kumimoji="1" lang="zh-CN" altLang="en-US" sz="2400" b="0">
                <a:latin typeface="黑体" panose="02010609060101010101" pitchFamily="49" charset="-122"/>
                <a:ea typeface="黑体" panose="02010609060101010101" pitchFamily="49" charset="-122"/>
              </a:rPr>
              <a:t>优先级别</a:t>
            </a:r>
          </a:p>
          <a:p>
            <a:pPr algn="just" eaLnBrk="1" hangingPunct="1">
              <a:spcBef>
                <a:spcPct val="0"/>
              </a:spcBef>
              <a:buClrTx/>
              <a:buSzTx/>
              <a:buFontTx/>
              <a:buNone/>
            </a:pPr>
            <a:r>
              <a:rPr kumimoji="1" lang="zh-CN" altLang="en-US" sz="2800" b="0">
                <a:latin typeface="Times New Roman" panose="02020603050405020304" pitchFamily="18" charset="0"/>
              </a:rPr>
              <a:t> </a:t>
            </a:r>
          </a:p>
          <a:p>
            <a:pPr algn="just" eaLnBrk="1" hangingPunct="1">
              <a:spcBef>
                <a:spcPct val="0"/>
              </a:spcBef>
              <a:buClrTx/>
              <a:buSzTx/>
              <a:buFontTx/>
              <a:buNone/>
            </a:pPr>
            <a:r>
              <a:rPr kumimoji="1" lang="zh-CN" altLang="en-US" sz="2800" b="0">
                <a:latin typeface="Times New Roman" panose="02020603050405020304" pitchFamily="18" charset="0"/>
              </a:rPr>
              <a:t>或</a:t>
            </a:r>
          </a:p>
          <a:p>
            <a:pPr algn="just" eaLnBrk="1" hangingPunct="1">
              <a:spcBef>
                <a:spcPct val="0"/>
              </a:spcBef>
              <a:buClrTx/>
              <a:buSzTx/>
              <a:buFontTx/>
              <a:buNone/>
            </a:pPr>
            <a:r>
              <a:rPr kumimoji="1" lang="zh-CN" altLang="en-US" sz="2800" b="0">
                <a:latin typeface="Times New Roman" panose="02020603050405020304" pitchFamily="18" charset="0"/>
              </a:rPr>
              <a:t> </a:t>
            </a: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rPr>
              <a:t>y = OSUnMapTbl[OSRdyGrp];</a:t>
            </a:r>
          </a:p>
          <a:p>
            <a:pPr algn="just" eaLnBrk="1" hangingPunct="1">
              <a:spcBef>
                <a:spcPct val="0"/>
              </a:spcBef>
              <a:buClrTx/>
              <a:buSzTx/>
              <a:buFontTx/>
              <a:buNone/>
            </a:pPr>
            <a:r>
              <a:rPr kumimoji="1" lang="en-US" altLang="zh-CN" sz="2800">
                <a:solidFill>
                  <a:srgbClr val="FF3300"/>
                </a:solidFill>
                <a:latin typeface="Arial Narrow" panose="020B0606020202030204" pitchFamily="34" charset="0"/>
              </a:rPr>
              <a:t>prio = (INT8U)((y &lt;&lt; 3) + OSUnMapTbl[OSRdyTbl[y]]);</a:t>
            </a:r>
          </a:p>
          <a:p>
            <a:pPr eaLnBrk="1" hangingPunct="1">
              <a:spcBef>
                <a:spcPct val="0"/>
              </a:spcBef>
              <a:buClrTx/>
              <a:buSzTx/>
              <a:buFontTx/>
              <a:buNone/>
            </a:pPr>
            <a:endParaRPr kumimoji="1" lang="en-US" altLang="zh-CN" sz="2800" b="0">
              <a:latin typeface="Times New Roman" panose="02020603050405020304" pitchFamily="18" charset="0"/>
            </a:endParaRPr>
          </a:p>
        </p:txBody>
      </p:sp>
      <p:sp>
        <p:nvSpPr>
          <p:cNvPr id="145477" name="Text Box 69" descr="羊皮纸">
            <a:extLst>
              <a:ext uri="{FF2B5EF4-FFF2-40B4-BE49-F238E27FC236}">
                <a16:creationId xmlns:a16="http://schemas.microsoft.com/office/drawing/2014/main" id="{F4C08322-216F-5A57-C31C-BCAEDB19C018}"/>
              </a:ext>
            </a:extLst>
          </p:cNvPr>
          <p:cNvSpPr txBox="1">
            <a:spLocks noChangeArrowheads="1"/>
          </p:cNvSpPr>
          <p:nvPr/>
        </p:nvSpPr>
        <p:spPr bwMode="auto">
          <a:xfrm>
            <a:off x="827088" y="3840163"/>
            <a:ext cx="7561262" cy="2036762"/>
          </a:xfrm>
          <a:prstGeom prst="rect">
            <a:avLst/>
          </a:prstGeom>
          <a:blipFill dpi="0" rotWithShape="1">
            <a:blip r:embed="rId2"/>
            <a:srcRect/>
            <a:tile tx="0" ty="0" sx="100000" sy="100000" flip="none" algn="tl"/>
          </a:blipFill>
          <a:ln w="57150" cmpd="thickThin">
            <a:solidFill>
              <a:srgbClr val="080808"/>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en-US" altLang="zh-CN" sz="1400"/>
          </a:p>
          <a:p>
            <a:pPr eaLnBrk="1" hangingPunct="1">
              <a:spcBef>
                <a:spcPct val="0"/>
              </a:spcBef>
              <a:buClrTx/>
              <a:buSzTx/>
              <a:buFontTx/>
              <a:buNone/>
            </a:pPr>
            <a:r>
              <a:rPr kumimoji="1" lang="en-US" altLang="zh-CN"/>
              <a:t>      uC/OS-II </a:t>
            </a:r>
            <a:r>
              <a:rPr kumimoji="1" lang="zh-CN" altLang="en-US"/>
              <a:t>系统就是通过查找任务就绪表来获取待运行任务的优先级，即最高优先级的任务句柄，并进行任务调度。</a:t>
            </a:r>
          </a:p>
          <a:p>
            <a:pPr eaLnBrk="1" hangingPunct="1">
              <a:spcBef>
                <a:spcPct val="0"/>
              </a:spcBef>
              <a:buClrTx/>
              <a:buSzTx/>
              <a:buFontTx/>
              <a:buNone/>
            </a:pPr>
            <a:endParaRPr kumimoji="1" lang="en-US" altLang="zh-CN"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77"/>
                                        </p:tgtEl>
                                        <p:attrNameLst>
                                          <p:attrName>style.visibility</p:attrName>
                                        </p:attrNameLst>
                                      </p:cBhvr>
                                      <p:to>
                                        <p:strVal val="visible"/>
                                      </p:to>
                                    </p:set>
                                    <p:anim calcmode="lin" valueType="num">
                                      <p:cBhvr additive="base">
                                        <p:cTn id="7" dur="500" fill="hold"/>
                                        <p:tgtEl>
                                          <p:spTgt spid="145477"/>
                                        </p:tgtEl>
                                        <p:attrNameLst>
                                          <p:attrName>ppt_x</p:attrName>
                                        </p:attrNameLst>
                                      </p:cBhvr>
                                      <p:tavLst>
                                        <p:tav tm="0">
                                          <p:val>
                                            <p:strVal val="#ppt_x"/>
                                          </p:val>
                                        </p:tav>
                                        <p:tav tm="100000">
                                          <p:val>
                                            <p:strVal val="#ppt_x"/>
                                          </p:val>
                                        </p:tav>
                                      </p:tavLst>
                                    </p:anim>
                                    <p:anim calcmode="lin" valueType="num">
                                      <p:cBhvr additive="base">
                                        <p:cTn id="8" dur="500" fill="hold"/>
                                        <p:tgtEl>
                                          <p:spTgt spid="145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7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1">
            <a:extLst>
              <a:ext uri="{FF2B5EF4-FFF2-40B4-BE49-F238E27FC236}">
                <a16:creationId xmlns:a16="http://schemas.microsoft.com/office/drawing/2014/main" id="{D2A64E9A-7D70-F338-010C-70BFCF4D1B2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5299" name="灯片编号占位符 2">
            <a:extLst>
              <a:ext uri="{FF2B5EF4-FFF2-40B4-BE49-F238E27FC236}">
                <a16:creationId xmlns:a16="http://schemas.microsoft.com/office/drawing/2014/main" id="{855B71E2-1476-0A4E-9774-1001E4585B2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FB1DD12-211F-45E0-9823-EA245B6B113B}" type="slidenum">
              <a:rPr lang="en-US" altLang="zh-CN" sz="1200" smtClean="0">
                <a:solidFill>
                  <a:srgbClr val="3366FF"/>
                </a:solidFill>
                <a:latin typeface="Arial Black" panose="020B0A04020102020204" pitchFamily="34" charset="0"/>
              </a:rPr>
              <a:pPr>
                <a:spcBef>
                  <a:spcPct val="0"/>
                </a:spcBef>
                <a:buClrTx/>
                <a:buSzTx/>
                <a:buFontTx/>
                <a:buNone/>
              </a:pPr>
              <a:t>51</a:t>
            </a:fld>
            <a:endParaRPr lang="en-US" altLang="zh-CN" sz="1200">
              <a:solidFill>
                <a:srgbClr val="3366FF"/>
              </a:solidFill>
              <a:latin typeface="Arial Black" panose="020B0A04020102020204" pitchFamily="34" charset="0"/>
            </a:endParaRPr>
          </a:p>
        </p:txBody>
      </p:sp>
      <p:sp>
        <p:nvSpPr>
          <p:cNvPr id="55300" name="日期占位符 3">
            <a:extLst>
              <a:ext uri="{FF2B5EF4-FFF2-40B4-BE49-F238E27FC236}">
                <a16:creationId xmlns:a16="http://schemas.microsoft.com/office/drawing/2014/main" id="{BFA7037C-A020-921B-E150-58E3066FE8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C296569-E992-4E35-8BB3-BCAFEF4F7FDB}"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5301" name="Rectangle 2">
            <a:extLst>
              <a:ext uri="{FF2B5EF4-FFF2-40B4-BE49-F238E27FC236}">
                <a16:creationId xmlns:a16="http://schemas.microsoft.com/office/drawing/2014/main" id="{8E746945-5F85-3AFC-BFC9-08C2607B937B}"/>
              </a:ext>
            </a:extLst>
          </p:cNvPr>
          <p:cNvSpPr>
            <a:spLocks noChangeArrowheads="1"/>
          </p:cNvSpPr>
          <p:nvPr/>
        </p:nvSpPr>
        <p:spPr bwMode="auto">
          <a:xfrm>
            <a:off x="457200" y="815975"/>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solidFill>
                  <a:srgbClr val="F66C04"/>
                </a:solidFill>
              </a:rPr>
              <a:t>2.3  </a:t>
            </a:r>
            <a:r>
              <a:rPr lang="zh-CN" altLang="en-US" sz="3600">
                <a:solidFill>
                  <a:srgbClr val="F66C04"/>
                </a:solidFill>
              </a:rPr>
              <a:t>任务控制块及任务控制块链表</a:t>
            </a:r>
            <a:r>
              <a:rPr lang="en-US" altLang="zh-CN" sz="2000">
                <a:solidFill>
                  <a:srgbClr val="F66C04"/>
                </a:solidFill>
              </a:rPr>
              <a:t>_</a:t>
            </a:r>
            <a:r>
              <a:rPr lang="zh-CN" altLang="en-US" sz="2000">
                <a:solidFill>
                  <a:srgbClr val="F66C04"/>
                </a:solidFill>
              </a:rPr>
              <a:t>回顾</a:t>
            </a:r>
          </a:p>
        </p:txBody>
      </p:sp>
      <p:sp>
        <p:nvSpPr>
          <p:cNvPr id="55302" name="Rectangle 3">
            <a:extLst>
              <a:ext uri="{FF2B5EF4-FFF2-40B4-BE49-F238E27FC236}">
                <a16:creationId xmlns:a16="http://schemas.microsoft.com/office/drawing/2014/main" id="{890F27A8-F292-83BA-1847-97439457BFC9}"/>
              </a:ext>
            </a:extLst>
          </p:cNvPr>
          <p:cNvSpPr>
            <a:spLocks noChangeArrowheads="1"/>
          </p:cNvSpPr>
          <p:nvPr/>
        </p:nvSpPr>
        <p:spPr bwMode="auto">
          <a:xfrm>
            <a:off x="457200" y="1773238"/>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a:t>任务控制块链表其他相关系统管理变量</a:t>
            </a:r>
          </a:p>
        </p:txBody>
      </p:sp>
      <p:sp>
        <p:nvSpPr>
          <p:cNvPr id="147460" name="Text Box 4">
            <a:extLst>
              <a:ext uri="{FF2B5EF4-FFF2-40B4-BE49-F238E27FC236}">
                <a16:creationId xmlns:a16="http://schemas.microsoft.com/office/drawing/2014/main" id="{0EAAF6EE-AF0F-E9BC-07E7-8B334A2442A3}"/>
              </a:ext>
            </a:extLst>
          </p:cNvPr>
          <p:cNvSpPr txBox="1">
            <a:spLocks noChangeArrowheads="1"/>
          </p:cNvSpPr>
          <p:nvPr/>
        </p:nvSpPr>
        <p:spPr bwMode="auto">
          <a:xfrm>
            <a:off x="971550" y="2565400"/>
            <a:ext cx="7273925"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
                <a:srgbClr val="0066FF"/>
              </a:buClr>
              <a:buSzPct val="50000"/>
            </a:pPr>
            <a:r>
              <a:rPr lang="en-US" altLang="zh-CN" sz="2800">
                <a:solidFill>
                  <a:srgbClr val="FF0000"/>
                </a:solidFill>
                <a:latin typeface="Arial Narrow" panose="020B0606020202030204" pitchFamily="34" charset="0"/>
              </a:rPr>
              <a:t>OSTCBPrioTbl[ ]</a:t>
            </a:r>
            <a:r>
              <a:rPr lang="en-US" altLang="zh-CN" sz="2800"/>
              <a:t> </a:t>
            </a:r>
            <a:r>
              <a:rPr lang="zh-CN" altLang="en-US" sz="2800"/>
              <a:t>：</a:t>
            </a:r>
            <a:r>
              <a:rPr lang="en-US" altLang="zh-CN" sz="2800">
                <a:latin typeface="Arial Narrow" panose="020B0606020202030204" pitchFamily="34" charset="0"/>
              </a:rPr>
              <a:t>OS_TCB* </a:t>
            </a:r>
            <a:r>
              <a:rPr lang="zh-CN" altLang="en-US" sz="2800">
                <a:latin typeface="Arial Narrow" panose="020B0606020202030204" pitchFamily="34" charset="0"/>
              </a:rPr>
              <a:t>数据类型的数组，以 </a:t>
            </a:r>
            <a:r>
              <a:rPr lang="en-US" altLang="zh-CN" sz="2800">
                <a:latin typeface="Arial Narrow" panose="020B0606020202030204" pitchFamily="34" charset="0"/>
              </a:rPr>
              <a:t>Prio </a:t>
            </a:r>
            <a:r>
              <a:rPr lang="zh-CN" altLang="en-US" sz="2800">
                <a:latin typeface="Arial Narrow" panose="020B0606020202030204" pitchFamily="34" charset="0"/>
              </a:rPr>
              <a:t>为下标存放的 </a:t>
            </a:r>
            <a:r>
              <a:rPr lang="en-US" altLang="zh-CN" sz="2800">
                <a:latin typeface="Arial Narrow" panose="020B0606020202030204" pitchFamily="34" charset="0"/>
              </a:rPr>
              <a:t>TCB </a:t>
            </a:r>
            <a:r>
              <a:rPr lang="zh-CN" altLang="en-US" sz="2800">
                <a:latin typeface="Arial Narrow" panose="020B0606020202030204" pitchFamily="34" charset="0"/>
              </a:rPr>
              <a:t>指针。用于加速 </a:t>
            </a:r>
            <a:r>
              <a:rPr lang="en-US" altLang="zh-CN" sz="2800">
                <a:latin typeface="Arial Narrow" panose="020B0606020202030204" pitchFamily="34" charset="0"/>
              </a:rPr>
              <a:t>TCB </a:t>
            </a:r>
            <a:r>
              <a:rPr lang="zh-CN" altLang="en-US" sz="2800">
                <a:latin typeface="Arial Narrow" panose="020B0606020202030204" pitchFamily="34" charset="0"/>
              </a:rPr>
              <a:t>的访问。</a:t>
            </a:r>
          </a:p>
          <a:p>
            <a:pPr eaLnBrk="1" hangingPunct="1">
              <a:lnSpc>
                <a:spcPct val="130000"/>
              </a:lnSpc>
              <a:spcBef>
                <a:spcPct val="50000"/>
              </a:spcBef>
              <a:buClr>
                <a:srgbClr val="0066FF"/>
              </a:buClr>
              <a:buSzPct val="50000"/>
            </a:pPr>
            <a:r>
              <a:rPr lang="en-US" altLang="zh-CN" sz="2800">
                <a:latin typeface="Arial Narrow" panose="020B0606020202030204" pitchFamily="34" charset="0"/>
              </a:rPr>
              <a:t>OSTCBCur</a:t>
            </a:r>
            <a:r>
              <a:rPr lang="zh-CN" altLang="en-US" sz="2800">
                <a:latin typeface="Arial Narrow" panose="020B0606020202030204" pitchFamily="34" charset="0"/>
              </a:rPr>
              <a:t>：全局系统变量，指向当前正在运行的任务的 </a:t>
            </a:r>
            <a:r>
              <a:rPr lang="en-US" altLang="zh-CN" sz="2800">
                <a:latin typeface="Arial Narrow" panose="020B0606020202030204" pitchFamily="34" charset="0"/>
              </a:rPr>
              <a:t>TCB </a:t>
            </a:r>
            <a:r>
              <a:rPr lang="zh-CN" altLang="en-US" sz="2800">
                <a:latin typeface="Arial Narrow" panose="020B060602020203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7460"/>
                                        </p:tgtEl>
                                        <p:attrNameLst>
                                          <p:attrName>style.visibility</p:attrName>
                                        </p:attrNameLst>
                                      </p:cBhvr>
                                      <p:to>
                                        <p:strVal val="visible"/>
                                      </p:to>
                                    </p:set>
                                    <p:animEffect transition="in" filter="blinds(horizontal)">
                                      <p:cBhvr>
                                        <p:cTn id="7" dur="500"/>
                                        <p:tgtEl>
                                          <p:spTgt spid="147460"/>
                                        </p:tgtEl>
                                      </p:cBhvr>
                                    </p:animEffect>
                                  </p:childTnLst>
                                  <p:subTnLst>
                                    <p:set>
                                      <p:cBhvr override="childStyle">
                                        <p:cTn dur="1" fill="hold" display="0" masterRel="nextClick" afterEffect="1"/>
                                        <p:tgtEl>
                                          <p:spTgt spid="1474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页脚占位符 3">
            <a:extLst>
              <a:ext uri="{FF2B5EF4-FFF2-40B4-BE49-F238E27FC236}">
                <a16:creationId xmlns:a16="http://schemas.microsoft.com/office/drawing/2014/main" id="{15B641FF-9F46-BF12-0605-9C8EB27D74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6323" name="灯片编号占位符 4">
            <a:extLst>
              <a:ext uri="{FF2B5EF4-FFF2-40B4-BE49-F238E27FC236}">
                <a16:creationId xmlns:a16="http://schemas.microsoft.com/office/drawing/2014/main" id="{C28E2471-E1CC-3703-C760-4AC30F5D003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8C76F2A-C0F4-442B-9BC6-A80E507B7202}" type="slidenum">
              <a:rPr lang="en-US" altLang="zh-CN" sz="1200" smtClean="0">
                <a:solidFill>
                  <a:srgbClr val="3366FF"/>
                </a:solidFill>
                <a:latin typeface="Arial Black" panose="020B0A04020102020204" pitchFamily="34" charset="0"/>
              </a:rPr>
              <a:pPr>
                <a:spcBef>
                  <a:spcPct val="0"/>
                </a:spcBef>
                <a:buClrTx/>
                <a:buSzTx/>
                <a:buFontTx/>
                <a:buNone/>
              </a:pPr>
              <a:t>52</a:t>
            </a:fld>
            <a:endParaRPr lang="en-US" altLang="zh-CN" sz="1200">
              <a:solidFill>
                <a:srgbClr val="3366FF"/>
              </a:solidFill>
              <a:latin typeface="Arial Black" panose="020B0A04020102020204" pitchFamily="34" charset="0"/>
            </a:endParaRPr>
          </a:p>
        </p:txBody>
      </p:sp>
      <p:sp>
        <p:nvSpPr>
          <p:cNvPr id="56324" name="日期占位符 5">
            <a:extLst>
              <a:ext uri="{FF2B5EF4-FFF2-40B4-BE49-F238E27FC236}">
                <a16:creationId xmlns:a16="http://schemas.microsoft.com/office/drawing/2014/main" id="{1991495A-40BE-A36B-BE91-C2660A8B8D4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0435254-8DED-4184-ACCE-9BB7F0B42D5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pic>
        <p:nvPicPr>
          <p:cNvPr id="56325" name="Picture 2">
            <a:extLst>
              <a:ext uri="{FF2B5EF4-FFF2-40B4-BE49-F238E27FC236}">
                <a16:creationId xmlns:a16="http://schemas.microsoft.com/office/drawing/2014/main" id="{FE7174AF-CAA1-EF2F-181E-F7C0A9DCC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063" t="12500" r="18750" b="22917"/>
          <a:stretch>
            <a:fillRect/>
          </a:stretch>
        </p:blipFill>
        <p:spPr bwMode="auto">
          <a:xfrm>
            <a:off x="0" y="222250"/>
            <a:ext cx="9144000"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6" name="Oval 6">
            <a:extLst>
              <a:ext uri="{FF2B5EF4-FFF2-40B4-BE49-F238E27FC236}">
                <a16:creationId xmlns:a16="http://schemas.microsoft.com/office/drawing/2014/main" id="{1650BE5C-74BC-480B-E7CA-9F70EF7FF866}"/>
              </a:ext>
            </a:extLst>
          </p:cNvPr>
          <p:cNvSpPr>
            <a:spLocks noChangeArrowheads="1"/>
          </p:cNvSpPr>
          <p:nvPr/>
        </p:nvSpPr>
        <p:spPr bwMode="auto">
          <a:xfrm>
            <a:off x="3851275" y="3573463"/>
            <a:ext cx="1800225"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1">
            <a:extLst>
              <a:ext uri="{FF2B5EF4-FFF2-40B4-BE49-F238E27FC236}">
                <a16:creationId xmlns:a16="http://schemas.microsoft.com/office/drawing/2014/main" id="{26DF3211-9861-69F4-03C6-B2FF7B2077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7347" name="灯片编号占位符 2">
            <a:extLst>
              <a:ext uri="{FF2B5EF4-FFF2-40B4-BE49-F238E27FC236}">
                <a16:creationId xmlns:a16="http://schemas.microsoft.com/office/drawing/2014/main" id="{2AC46458-692D-23EA-0511-D47D5605BE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F08FC50-B8B0-42C5-AF62-EE14DB2644A8}" type="slidenum">
              <a:rPr lang="en-US" altLang="zh-CN" sz="1200" smtClean="0">
                <a:solidFill>
                  <a:srgbClr val="3366FF"/>
                </a:solidFill>
                <a:latin typeface="Arial Black" panose="020B0A04020102020204" pitchFamily="34" charset="0"/>
              </a:rPr>
              <a:pPr>
                <a:spcBef>
                  <a:spcPct val="0"/>
                </a:spcBef>
                <a:buClrTx/>
                <a:buSzTx/>
                <a:buFontTx/>
                <a:buNone/>
              </a:pPr>
              <a:t>53</a:t>
            </a:fld>
            <a:endParaRPr lang="en-US" altLang="zh-CN" sz="1200">
              <a:solidFill>
                <a:srgbClr val="3366FF"/>
              </a:solidFill>
              <a:latin typeface="Arial Black" panose="020B0A04020102020204" pitchFamily="34" charset="0"/>
            </a:endParaRPr>
          </a:p>
        </p:txBody>
      </p:sp>
      <p:sp>
        <p:nvSpPr>
          <p:cNvPr id="57348" name="日期占位符 3">
            <a:extLst>
              <a:ext uri="{FF2B5EF4-FFF2-40B4-BE49-F238E27FC236}">
                <a16:creationId xmlns:a16="http://schemas.microsoft.com/office/drawing/2014/main" id="{0559DA25-68ED-DEA6-9ABF-31F683C8A62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6CC6A7B-BB4B-480F-98E8-CC0A8D18037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7349" name="Rectangle 2">
            <a:extLst>
              <a:ext uri="{FF2B5EF4-FFF2-40B4-BE49-F238E27FC236}">
                <a16:creationId xmlns:a16="http://schemas.microsoft.com/office/drawing/2014/main" id="{15F1C320-B075-66AE-71A8-B171AB9BB984}"/>
              </a:ext>
            </a:extLst>
          </p:cNvPr>
          <p:cNvSpPr>
            <a:spLocks noChangeArrowheads="1"/>
          </p:cNvSpPr>
          <p:nvPr/>
        </p:nvSpPr>
        <p:spPr bwMode="auto">
          <a:xfrm>
            <a:off x="457200" y="6731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57350" name="Rectangle 3">
            <a:extLst>
              <a:ext uri="{FF2B5EF4-FFF2-40B4-BE49-F238E27FC236}">
                <a16:creationId xmlns:a16="http://schemas.microsoft.com/office/drawing/2014/main" id="{96565CB1-3170-3755-0B98-560FFDD3BF93}"/>
              </a:ext>
            </a:extLst>
          </p:cNvPr>
          <p:cNvSpPr>
            <a:spLocks noChangeArrowheads="1"/>
          </p:cNvSpPr>
          <p:nvPr/>
        </p:nvSpPr>
        <p:spPr bwMode="auto">
          <a:xfrm>
            <a:off x="468313" y="14843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0000"/>
                </a:solidFill>
              </a:rPr>
              <a:t>  </a:t>
            </a:r>
            <a:r>
              <a:rPr lang="zh-CN" altLang="en-US">
                <a:solidFill>
                  <a:srgbClr val="000000"/>
                </a:solidFill>
              </a:rPr>
              <a:t>任务的调度</a:t>
            </a:r>
          </a:p>
        </p:txBody>
      </p:sp>
      <p:sp>
        <p:nvSpPr>
          <p:cNvPr id="57351" name="Text Box 4" descr="羊皮纸">
            <a:extLst>
              <a:ext uri="{FF2B5EF4-FFF2-40B4-BE49-F238E27FC236}">
                <a16:creationId xmlns:a16="http://schemas.microsoft.com/office/drawing/2014/main" id="{B7717FDF-08D7-8F45-3DCF-D1D9C099F7B1}"/>
              </a:ext>
            </a:extLst>
          </p:cNvPr>
          <p:cNvSpPr txBox="1">
            <a:spLocks noChangeArrowheads="1"/>
          </p:cNvSpPr>
          <p:nvPr/>
        </p:nvSpPr>
        <p:spPr bwMode="auto">
          <a:xfrm>
            <a:off x="827088" y="2060575"/>
            <a:ext cx="7777162" cy="43180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6699FF"/>
              </a:buClr>
              <a:buSzPct val="50000"/>
              <a:buFont typeface="Wingdings" panose="05000000000000000000" pitchFamily="2" charset="2"/>
              <a:buNone/>
            </a:pPr>
            <a:endParaRPr lang="en-US" altLang="zh-CN" sz="1000"/>
          </a:p>
          <a:p>
            <a:pPr eaLnBrk="1" hangingPunct="1">
              <a:lnSpc>
                <a:spcPct val="110000"/>
              </a:lnSpc>
              <a:spcBef>
                <a:spcPct val="30000"/>
              </a:spcBef>
              <a:buClr>
                <a:srgbClr val="6699FF"/>
              </a:buClr>
              <a:buSzPct val="50000"/>
            </a:pPr>
            <a:r>
              <a:rPr lang="zh-CN" altLang="en-US" sz="2400"/>
              <a:t>任务切换 </a:t>
            </a:r>
            <a:r>
              <a:rPr lang="en-US" altLang="zh-CN" sz="2400"/>
              <a:t>---- CPU </a:t>
            </a:r>
            <a:r>
              <a:rPr lang="zh-CN" altLang="en-US" sz="2400"/>
              <a:t>从运行某一任务转换到运行另一任务的过程。</a:t>
            </a:r>
          </a:p>
          <a:p>
            <a:pPr eaLnBrk="1" hangingPunct="1">
              <a:lnSpc>
                <a:spcPct val="110000"/>
              </a:lnSpc>
              <a:spcBef>
                <a:spcPct val="30000"/>
              </a:spcBef>
              <a:buClr>
                <a:srgbClr val="6699FF"/>
              </a:buClr>
              <a:buSzPct val="50000"/>
            </a:pPr>
            <a:r>
              <a:rPr lang="zh-CN" altLang="en-US" sz="2400"/>
              <a:t>任务调度</a:t>
            </a:r>
            <a:r>
              <a:rPr lang="en-US" altLang="zh-CN" sz="2400"/>
              <a:t>---- </a:t>
            </a:r>
            <a:r>
              <a:rPr lang="zh-CN" altLang="en-US" sz="2400"/>
              <a:t>按照某规则进行任务切换的工作过程。</a:t>
            </a:r>
          </a:p>
          <a:p>
            <a:pPr eaLnBrk="1" hangingPunct="1">
              <a:lnSpc>
                <a:spcPct val="110000"/>
              </a:lnSpc>
              <a:spcBef>
                <a:spcPct val="30000"/>
              </a:spcBef>
              <a:buClr>
                <a:srgbClr val="6699FF"/>
              </a:buClr>
              <a:buSzPct val="50000"/>
            </a:pPr>
            <a:r>
              <a:rPr lang="en-US" altLang="zh-CN" sz="2400"/>
              <a:t>uC/OS-II </a:t>
            </a:r>
            <a:r>
              <a:rPr lang="zh-CN" altLang="en-US" sz="2400"/>
              <a:t>中的任务切换有 “任务调度器” 来完成。</a:t>
            </a:r>
          </a:p>
          <a:p>
            <a:pPr eaLnBrk="1" hangingPunct="1">
              <a:lnSpc>
                <a:spcPct val="110000"/>
              </a:lnSpc>
              <a:spcBef>
                <a:spcPct val="30000"/>
              </a:spcBef>
              <a:buClr>
                <a:srgbClr val="6699FF"/>
              </a:buClr>
              <a:buSzPct val="50000"/>
            </a:pPr>
            <a:r>
              <a:rPr lang="zh-CN" altLang="en-US" sz="2400">
                <a:solidFill>
                  <a:srgbClr val="FF0066"/>
                </a:solidFill>
              </a:rPr>
              <a:t>任务调度器的两项主要工作</a:t>
            </a:r>
            <a:r>
              <a:rPr lang="zh-CN" altLang="en-US" sz="2400"/>
              <a:t>：</a:t>
            </a:r>
            <a:r>
              <a:rPr lang="zh-CN" altLang="en-US" sz="2400">
                <a:latin typeface="宋体" panose="02010600030101010101" pitchFamily="2" charset="-122"/>
              </a:rPr>
              <a:t>①</a:t>
            </a:r>
            <a:r>
              <a:rPr lang="zh-CN" altLang="en-US" sz="2400"/>
              <a:t>从任务就绪表中查找优先级最高的就绪任务，</a:t>
            </a:r>
            <a:r>
              <a:rPr lang="zh-CN" altLang="en-US" sz="2400">
                <a:latin typeface="宋体" panose="02010600030101010101" pitchFamily="2" charset="-122"/>
              </a:rPr>
              <a:t>②</a:t>
            </a:r>
            <a:r>
              <a:rPr lang="zh-CN" altLang="en-US" sz="2400"/>
              <a:t>实现任务切换。</a:t>
            </a:r>
          </a:p>
          <a:p>
            <a:pPr eaLnBrk="1" hangingPunct="1">
              <a:lnSpc>
                <a:spcPct val="110000"/>
              </a:lnSpc>
              <a:spcBef>
                <a:spcPct val="30000"/>
              </a:spcBef>
              <a:buClr>
                <a:srgbClr val="6699FF"/>
              </a:buClr>
              <a:buSzPct val="50000"/>
            </a:pPr>
            <a:r>
              <a:rPr lang="en-US" altLang="zh-CN" sz="2400"/>
              <a:t>uC/OS-II </a:t>
            </a:r>
            <a:r>
              <a:rPr lang="zh-CN" altLang="en-US" sz="2400"/>
              <a:t>中有两个 “任务调度器” ：任务级的调度器</a:t>
            </a:r>
            <a:r>
              <a:rPr lang="en-US" altLang="zh-CN" sz="2400"/>
              <a:t>( OS_Sched( ) )</a:t>
            </a:r>
            <a:r>
              <a:rPr lang="zh-CN" altLang="en-US" sz="2400"/>
              <a:t>，中断级的调度器</a:t>
            </a:r>
            <a:r>
              <a:rPr lang="en-US" altLang="zh-CN" sz="2400"/>
              <a:t>( OSIntCtxSw( ) )</a:t>
            </a:r>
            <a:r>
              <a:rPr lang="zh-CN" altLang="en-US" sz="2400"/>
              <a:t>。</a:t>
            </a:r>
          </a:p>
          <a:p>
            <a:pPr eaLnBrk="1" hangingPunct="1">
              <a:lnSpc>
                <a:spcPct val="110000"/>
              </a:lnSpc>
              <a:spcBef>
                <a:spcPct val="30000"/>
              </a:spcBef>
              <a:buClr>
                <a:srgbClr val="6699FF"/>
              </a:buClr>
              <a:buSzPct val="50000"/>
              <a:buFont typeface="Wingdings" panose="05000000000000000000" pitchFamily="2" charset="2"/>
              <a:buNone/>
            </a:pPr>
            <a:endParaRPr lang="en-US" altLang="zh-CN"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页脚占位符 1">
            <a:extLst>
              <a:ext uri="{FF2B5EF4-FFF2-40B4-BE49-F238E27FC236}">
                <a16:creationId xmlns:a16="http://schemas.microsoft.com/office/drawing/2014/main" id="{E6661A39-8801-4CFB-07A8-91884E6B8BD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8371" name="灯片编号占位符 2">
            <a:extLst>
              <a:ext uri="{FF2B5EF4-FFF2-40B4-BE49-F238E27FC236}">
                <a16:creationId xmlns:a16="http://schemas.microsoft.com/office/drawing/2014/main" id="{29301AC5-92FA-C5F0-B57B-D245C7D11CC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16340E1-2A28-4B05-9935-CE793678CEC3}" type="slidenum">
              <a:rPr lang="en-US" altLang="zh-CN" sz="1200" smtClean="0">
                <a:solidFill>
                  <a:srgbClr val="3366FF"/>
                </a:solidFill>
                <a:latin typeface="Arial Black" panose="020B0A04020102020204" pitchFamily="34" charset="0"/>
              </a:rPr>
              <a:pPr>
                <a:spcBef>
                  <a:spcPct val="0"/>
                </a:spcBef>
                <a:buClrTx/>
                <a:buSzTx/>
                <a:buFontTx/>
                <a:buNone/>
              </a:pPr>
              <a:t>54</a:t>
            </a:fld>
            <a:endParaRPr lang="en-US" altLang="zh-CN" sz="1200">
              <a:solidFill>
                <a:srgbClr val="3366FF"/>
              </a:solidFill>
              <a:latin typeface="Arial Black" panose="020B0A04020102020204" pitchFamily="34" charset="0"/>
            </a:endParaRPr>
          </a:p>
        </p:txBody>
      </p:sp>
      <p:sp>
        <p:nvSpPr>
          <p:cNvPr id="58372" name="日期占位符 3">
            <a:extLst>
              <a:ext uri="{FF2B5EF4-FFF2-40B4-BE49-F238E27FC236}">
                <a16:creationId xmlns:a16="http://schemas.microsoft.com/office/drawing/2014/main" id="{79D86779-BDCB-FBAE-4116-7CD3E306A9C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EE20493-A38F-4EA0-B451-CAA5B010410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8373" name="Rectangle 2">
            <a:extLst>
              <a:ext uri="{FF2B5EF4-FFF2-40B4-BE49-F238E27FC236}">
                <a16:creationId xmlns:a16="http://schemas.microsoft.com/office/drawing/2014/main" id="{34136AF1-3856-E66C-9EA9-154A4EF8D1E1}"/>
              </a:ext>
            </a:extLst>
          </p:cNvPr>
          <p:cNvSpPr>
            <a:spLocks noChangeArrowheads="1"/>
          </p:cNvSpPr>
          <p:nvPr/>
        </p:nvSpPr>
        <p:spPr bwMode="auto">
          <a:xfrm>
            <a:off x="457200"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58374" name="Rectangle 3">
            <a:extLst>
              <a:ext uri="{FF2B5EF4-FFF2-40B4-BE49-F238E27FC236}">
                <a16:creationId xmlns:a16="http://schemas.microsoft.com/office/drawing/2014/main" id="{184C6272-444F-0E95-0E43-3194B0CA608A}"/>
              </a:ext>
            </a:extLst>
          </p:cNvPr>
          <p:cNvSpPr>
            <a:spLocks noChangeArrowheads="1"/>
          </p:cNvSpPr>
          <p:nvPr/>
        </p:nvSpPr>
        <p:spPr bwMode="auto">
          <a:xfrm>
            <a:off x="468313" y="2060575"/>
            <a:ext cx="84963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pPr>
            <a:r>
              <a:rPr lang="en-US" altLang="zh-CN">
                <a:solidFill>
                  <a:srgbClr val="000000"/>
                </a:solidFill>
              </a:rPr>
              <a:t>  </a:t>
            </a:r>
            <a:r>
              <a:rPr lang="zh-CN" altLang="en-US">
                <a:solidFill>
                  <a:srgbClr val="000000"/>
                </a:solidFill>
              </a:rPr>
              <a:t>任务的调度 </a:t>
            </a:r>
          </a:p>
          <a:p>
            <a:pPr eaLnBrk="1" hangingPunct="1">
              <a:lnSpc>
                <a:spcPct val="80000"/>
              </a:lnSpc>
              <a:spcBef>
                <a:spcPct val="0"/>
              </a:spcBef>
              <a:buFont typeface="Wingdings" panose="05000000000000000000" pitchFamily="2" charset="2"/>
              <a:buNone/>
            </a:pPr>
            <a:r>
              <a:rPr lang="zh-CN" altLang="en-US">
                <a:solidFill>
                  <a:srgbClr val="000000"/>
                </a:solidFill>
              </a:rPr>
              <a:t>                  </a:t>
            </a:r>
            <a:r>
              <a:rPr lang="en-US" altLang="zh-CN">
                <a:solidFill>
                  <a:srgbClr val="000000"/>
                </a:solidFill>
              </a:rPr>
              <a:t>---- </a:t>
            </a:r>
            <a:r>
              <a:rPr lang="zh-CN" altLang="en-US" sz="2400"/>
              <a:t>调度器进行任务切换的两个工作步骤：</a:t>
            </a:r>
          </a:p>
        </p:txBody>
      </p:sp>
      <p:sp>
        <p:nvSpPr>
          <p:cNvPr id="58375" name="Text Box 4" descr="羊皮纸">
            <a:extLst>
              <a:ext uri="{FF2B5EF4-FFF2-40B4-BE49-F238E27FC236}">
                <a16:creationId xmlns:a16="http://schemas.microsoft.com/office/drawing/2014/main" id="{230D6388-7490-1426-C6FC-638EFEC7A6E9}"/>
              </a:ext>
            </a:extLst>
          </p:cNvPr>
          <p:cNvSpPr txBox="1">
            <a:spLocks noChangeArrowheads="1"/>
          </p:cNvSpPr>
          <p:nvPr/>
        </p:nvSpPr>
        <p:spPr bwMode="auto">
          <a:xfrm>
            <a:off x="1619250" y="3348038"/>
            <a:ext cx="52578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6699FF"/>
              </a:buClr>
              <a:buSzPct val="80000"/>
              <a:buFont typeface="Wingdings" panose="05000000000000000000" pitchFamily="2" charset="2"/>
              <a:buAutoNum type="arabicPeriod"/>
            </a:pPr>
            <a:r>
              <a:rPr lang="zh-CN" altLang="en-US" sz="2800"/>
              <a:t>获得待运行任务 </a:t>
            </a:r>
            <a:r>
              <a:rPr lang="en-US" altLang="zh-CN" sz="2800"/>
              <a:t>TCB </a:t>
            </a:r>
            <a:r>
              <a:rPr lang="zh-CN" altLang="en-US" sz="2800"/>
              <a:t>的指针</a:t>
            </a:r>
          </a:p>
          <a:p>
            <a:pPr eaLnBrk="1" hangingPunct="1">
              <a:lnSpc>
                <a:spcPct val="110000"/>
              </a:lnSpc>
              <a:spcBef>
                <a:spcPct val="30000"/>
              </a:spcBef>
              <a:buClr>
                <a:srgbClr val="6699FF"/>
              </a:buClr>
              <a:buSzPct val="80000"/>
              <a:buFont typeface="Wingdings" panose="05000000000000000000" pitchFamily="2" charset="2"/>
              <a:buAutoNum type="arabicPeriod"/>
            </a:pPr>
            <a:r>
              <a:rPr lang="zh-CN" altLang="en-US" sz="2800"/>
              <a:t>断点数据切换</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1">
            <a:extLst>
              <a:ext uri="{FF2B5EF4-FFF2-40B4-BE49-F238E27FC236}">
                <a16:creationId xmlns:a16="http://schemas.microsoft.com/office/drawing/2014/main" id="{56D15718-BF6B-173F-8DCC-36BE346E86C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59395" name="灯片编号占位符 2">
            <a:extLst>
              <a:ext uri="{FF2B5EF4-FFF2-40B4-BE49-F238E27FC236}">
                <a16:creationId xmlns:a16="http://schemas.microsoft.com/office/drawing/2014/main" id="{352AEB55-8DBB-6ED8-90D5-05046D2ED7F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897018D-448E-41ED-AECE-9384070B3DD5}" type="slidenum">
              <a:rPr lang="en-US" altLang="zh-CN" sz="1200" smtClean="0">
                <a:solidFill>
                  <a:srgbClr val="3366FF"/>
                </a:solidFill>
                <a:latin typeface="Arial Black" panose="020B0A04020102020204" pitchFamily="34" charset="0"/>
              </a:rPr>
              <a:pPr>
                <a:spcBef>
                  <a:spcPct val="0"/>
                </a:spcBef>
                <a:buClrTx/>
                <a:buSzTx/>
                <a:buFontTx/>
                <a:buNone/>
              </a:pPr>
              <a:t>55</a:t>
            </a:fld>
            <a:endParaRPr lang="en-US" altLang="zh-CN" sz="1200">
              <a:solidFill>
                <a:srgbClr val="3366FF"/>
              </a:solidFill>
              <a:latin typeface="Arial Black" panose="020B0A04020102020204" pitchFamily="34" charset="0"/>
            </a:endParaRPr>
          </a:p>
        </p:txBody>
      </p:sp>
      <p:sp>
        <p:nvSpPr>
          <p:cNvPr id="59396" name="日期占位符 3">
            <a:extLst>
              <a:ext uri="{FF2B5EF4-FFF2-40B4-BE49-F238E27FC236}">
                <a16:creationId xmlns:a16="http://schemas.microsoft.com/office/drawing/2014/main" id="{03D53117-9B6C-2A6D-3574-E11C343F07D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456DC62-D05D-47AC-A3D6-B9F60B410642}"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59397" name="Rectangle 2">
            <a:extLst>
              <a:ext uri="{FF2B5EF4-FFF2-40B4-BE49-F238E27FC236}">
                <a16:creationId xmlns:a16="http://schemas.microsoft.com/office/drawing/2014/main" id="{C5524298-218C-A5CD-BE7E-2BB90EA03472}"/>
              </a:ext>
            </a:extLst>
          </p:cNvPr>
          <p:cNvSpPr>
            <a:spLocks noChangeArrowheads="1"/>
          </p:cNvSpPr>
          <p:nvPr/>
        </p:nvSpPr>
        <p:spPr bwMode="auto">
          <a:xfrm>
            <a:off x="457200"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59398" name="Text Box 4" descr="羊皮纸">
            <a:extLst>
              <a:ext uri="{FF2B5EF4-FFF2-40B4-BE49-F238E27FC236}">
                <a16:creationId xmlns:a16="http://schemas.microsoft.com/office/drawing/2014/main" id="{A60C5BF6-4162-0FEE-9485-10BC28233183}"/>
              </a:ext>
            </a:extLst>
          </p:cNvPr>
          <p:cNvSpPr txBox="1">
            <a:spLocks noChangeArrowheads="1"/>
          </p:cNvSpPr>
          <p:nvPr/>
        </p:nvSpPr>
        <p:spPr bwMode="auto">
          <a:xfrm>
            <a:off x="684213" y="1936750"/>
            <a:ext cx="77771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2300" indent="-6223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3366FF"/>
              </a:buClr>
              <a:buSzPct val="95000"/>
              <a:buFont typeface="Wingdings" panose="05000000000000000000" pitchFamily="2" charset="2"/>
              <a:buAutoNum type="arabicPeriod"/>
            </a:pPr>
            <a:r>
              <a:rPr lang="zh-CN" altLang="en-US"/>
              <a:t>获得待运行任务 </a:t>
            </a:r>
            <a:r>
              <a:rPr lang="en-US" altLang="zh-CN"/>
              <a:t>TCB </a:t>
            </a:r>
            <a:r>
              <a:rPr lang="zh-CN" altLang="en-US"/>
              <a:t>的指针</a:t>
            </a:r>
          </a:p>
        </p:txBody>
      </p:sp>
      <p:sp>
        <p:nvSpPr>
          <p:cNvPr id="59399" name="Text Box 5">
            <a:extLst>
              <a:ext uri="{FF2B5EF4-FFF2-40B4-BE49-F238E27FC236}">
                <a16:creationId xmlns:a16="http://schemas.microsoft.com/office/drawing/2014/main" id="{2D2EB929-0D4B-CF64-7F5D-D3AD415DF812}"/>
              </a:ext>
            </a:extLst>
          </p:cNvPr>
          <p:cNvSpPr txBox="1">
            <a:spLocks noChangeArrowheads="1"/>
          </p:cNvSpPr>
          <p:nvPr/>
        </p:nvSpPr>
        <p:spPr bwMode="auto">
          <a:xfrm>
            <a:off x="684213" y="2924175"/>
            <a:ext cx="76327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en-US" altLang="zh-CN" sz="2800"/>
              <a:t>      </a:t>
            </a:r>
            <a:r>
              <a:rPr lang="zh-CN" altLang="en-US" sz="2800"/>
              <a:t>获得了最高优先权就绪任务的 “优先级” 后（存放在全局系统变量 </a:t>
            </a:r>
            <a:r>
              <a:rPr lang="en-US" altLang="zh-CN" sz="2800">
                <a:solidFill>
                  <a:srgbClr val="0066FF"/>
                </a:solidFill>
                <a:latin typeface="Arial Narrow" panose="020B0606020202030204" pitchFamily="34" charset="0"/>
              </a:rPr>
              <a:t>OSPrioHighRdy</a:t>
            </a:r>
            <a:r>
              <a:rPr lang="en-US" altLang="zh-CN" sz="2800">
                <a:latin typeface="Arial Narrow" panose="020B0606020202030204" pitchFamily="34" charset="0"/>
              </a:rPr>
              <a:t> </a:t>
            </a:r>
            <a:r>
              <a:rPr lang="zh-CN" altLang="en-US" sz="2800"/>
              <a:t>） ，用下指令即可获取该任务的 </a:t>
            </a:r>
            <a:r>
              <a:rPr lang="en-US" altLang="zh-CN" sz="2800">
                <a:latin typeface="Arial Narrow" panose="020B0606020202030204" pitchFamily="34" charset="0"/>
              </a:rPr>
              <a:t>TCB</a:t>
            </a:r>
            <a:r>
              <a:rPr lang="zh-CN" altLang="en-US" sz="2800"/>
              <a:t>，很简单：</a:t>
            </a:r>
          </a:p>
          <a:p>
            <a:pPr algn="ctr" eaLnBrk="1" hangingPunct="1">
              <a:lnSpc>
                <a:spcPct val="125000"/>
              </a:lnSpc>
              <a:spcBef>
                <a:spcPct val="0"/>
              </a:spcBef>
              <a:buClrTx/>
              <a:buSzTx/>
              <a:buFontTx/>
              <a:buNone/>
            </a:pPr>
            <a:r>
              <a:rPr lang="en-US" altLang="zh-CN" sz="2800">
                <a:latin typeface="Arial Narrow" panose="020B0606020202030204" pitchFamily="34" charset="0"/>
              </a:rPr>
              <a:t>OSTCBHighRdy = </a:t>
            </a:r>
            <a:r>
              <a:rPr lang="en-US" altLang="zh-CN" sz="2800">
                <a:solidFill>
                  <a:srgbClr val="FF5050"/>
                </a:solidFill>
                <a:latin typeface="Arial Narrow" panose="020B0606020202030204" pitchFamily="34" charset="0"/>
              </a:rPr>
              <a:t>OSTCBPrioTbl</a:t>
            </a:r>
            <a:r>
              <a:rPr lang="en-US" altLang="zh-CN" sz="2800">
                <a:latin typeface="Arial Narrow" panose="020B0606020202030204" pitchFamily="34" charset="0"/>
              </a:rPr>
              <a:t>[</a:t>
            </a:r>
            <a:r>
              <a:rPr lang="en-US" altLang="zh-CN" sz="2800">
                <a:solidFill>
                  <a:srgbClr val="0066FF"/>
                </a:solidFill>
                <a:latin typeface="Arial Narrow" panose="020B0606020202030204" pitchFamily="34" charset="0"/>
              </a:rPr>
              <a:t>OSPrioHighRdy</a:t>
            </a:r>
            <a:r>
              <a:rPr lang="en-US" altLang="zh-CN" sz="2800">
                <a:latin typeface="Arial Narrow" panose="020B0606020202030204" pitchFamily="34" charset="0"/>
              </a:rPr>
              <a:t> ]</a:t>
            </a:r>
          </a:p>
        </p:txBody>
      </p:sp>
      <p:sp>
        <p:nvSpPr>
          <p:cNvPr id="59400" name="Text Box 6">
            <a:extLst>
              <a:ext uri="{FF2B5EF4-FFF2-40B4-BE49-F238E27FC236}">
                <a16:creationId xmlns:a16="http://schemas.microsoft.com/office/drawing/2014/main" id="{AC8913B9-D2FB-D14B-27E9-D281A961CB45}"/>
              </a:ext>
            </a:extLst>
          </p:cNvPr>
          <p:cNvSpPr txBox="1">
            <a:spLocks noChangeArrowheads="1"/>
          </p:cNvSpPr>
          <p:nvPr/>
        </p:nvSpPr>
        <p:spPr bwMode="auto">
          <a:xfrm>
            <a:off x="684213" y="5516563"/>
            <a:ext cx="7775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a:t>备注：</a:t>
            </a:r>
            <a:r>
              <a:rPr lang="en-US" altLang="zh-CN" sz="2000">
                <a:solidFill>
                  <a:srgbClr val="FF5050"/>
                </a:solidFill>
                <a:latin typeface="Times New Roman" panose="02020603050405020304" pitchFamily="18" charset="0"/>
              </a:rPr>
              <a:t>OSTCBPrioTbl[ ]</a:t>
            </a:r>
            <a:r>
              <a:rPr lang="en-US" altLang="zh-CN" sz="2000"/>
              <a:t> </a:t>
            </a:r>
            <a:r>
              <a:rPr lang="zh-CN" altLang="en-US" sz="2000"/>
              <a:t>是以优先权为下标的 “任务指针数组”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3">
            <a:extLst>
              <a:ext uri="{FF2B5EF4-FFF2-40B4-BE49-F238E27FC236}">
                <a16:creationId xmlns:a16="http://schemas.microsoft.com/office/drawing/2014/main" id="{C6DEC836-9C16-1EA8-B29F-B73E16F7DA9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0419" name="灯片编号占位符 4">
            <a:extLst>
              <a:ext uri="{FF2B5EF4-FFF2-40B4-BE49-F238E27FC236}">
                <a16:creationId xmlns:a16="http://schemas.microsoft.com/office/drawing/2014/main" id="{A1EE1CBC-6607-4277-1764-19F4826C15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55B7C9-BEA3-4771-BBDF-04A8167F9D19}" type="slidenum">
              <a:rPr lang="en-US" altLang="zh-CN" sz="1200" smtClean="0">
                <a:solidFill>
                  <a:srgbClr val="3366FF"/>
                </a:solidFill>
                <a:latin typeface="Arial Black" panose="020B0A04020102020204" pitchFamily="34" charset="0"/>
              </a:rPr>
              <a:pPr>
                <a:spcBef>
                  <a:spcPct val="0"/>
                </a:spcBef>
                <a:buClrTx/>
                <a:buSzTx/>
                <a:buFontTx/>
                <a:buNone/>
              </a:pPr>
              <a:t>56</a:t>
            </a:fld>
            <a:endParaRPr lang="en-US" altLang="zh-CN" sz="1200">
              <a:solidFill>
                <a:srgbClr val="3366FF"/>
              </a:solidFill>
              <a:latin typeface="Arial Black" panose="020B0A04020102020204" pitchFamily="34" charset="0"/>
            </a:endParaRPr>
          </a:p>
        </p:txBody>
      </p:sp>
      <p:sp>
        <p:nvSpPr>
          <p:cNvPr id="60420" name="日期占位符 5">
            <a:extLst>
              <a:ext uri="{FF2B5EF4-FFF2-40B4-BE49-F238E27FC236}">
                <a16:creationId xmlns:a16="http://schemas.microsoft.com/office/drawing/2014/main" id="{332825C7-8932-1BBD-6040-CF0A742F09F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851FF37-D6C1-4713-8721-D2AE5A5D89F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0421" name="Rectangle 2">
            <a:extLst>
              <a:ext uri="{FF2B5EF4-FFF2-40B4-BE49-F238E27FC236}">
                <a16:creationId xmlns:a16="http://schemas.microsoft.com/office/drawing/2014/main" id="{3AB05829-5ABB-046D-FB13-F9715319234D}"/>
              </a:ext>
            </a:extLst>
          </p:cNvPr>
          <p:cNvSpPr>
            <a:spLocks noGrp="1" noChangeArrowheads="1"/>
          </p:cNvSpPr>
          <p:nvPr>
            <p:ph type="title"/>
          </p:nvPr>
        </p:nvSpPr>
        <p:spPr>
          <a:xfrm>
            <a:off x="457200" y="673100"/>
            <a:ext cx="8229600" cy="668338"/>
          </a:xfrm>
        </p:spPr>
        <p:txBody>
          <a:bodyPr/>
          <a:lstStyle/>
          <a:p>
            <a:pPr eaLnBrk="1" hangingPunct="1"/>
            <a:r>
              <a:rPr lang="en-US" altLang="zh-CN" sz="4000">
                <a:solidFill>
                  <a:srgbClr val="F66C04"/>
                </a:solidFill>
              </a:rPr>
              <a:t>2.3  </a:t>
            </a:r>
            <a:r>
              <a:rPr lang="zh-CN" altLang="en-US" sz="4000" b="1">
                <a:solidFill>
                  <a:srgbClr val="F66C04"/>
                </a:solidFill>
              </a:rPr>
              <a:t>任务控制块及任务控制块链表</a:t>
            </a:r>
          </a:p>
        </p:txBody>
      </p:sp>
      <p:sp>
        <p:nvSpPr>
          <p:cNvPr id="60422" name="Rectangle 3">
            <a:extLst>
              <a:ext uri="{FF2B5EF4-FFF2-40B4-BE49-F238E27FC236}">
                <a16:creationId xmlns:a16="http://schemas.microsoft.com/office/drawing/2014/main" id="{F690F366-61C2-4A21-821D-5047D21BF74A}"/>
              </a:ext>
            </a:extLst>
          </p:cNvPr>
          <p:cNvSpPr>
            <a:spLocks noGrp="1" noChangeArrowheads="1"/>
          </p:cNvSpPr>
          <p:nvPr>
            <p:ph type="body" idx="1"/>
          </p:nvPr>
        </p:nvSpPr>
        <p:spPr>
          <a:xfrm>
            <a:off x="457200" y="1412875"/>
            <a:ext cx="8229600" cy="720725"/>
          </a:xfrm>
        </p:spPr>
        <p:txBody>
          <a:bodyPr/>
          <a:lstStyle/>
          <a:p>
            <a:pPr eaLnBrk="1" hangingPunct="1"/>
            <a:r>
              <a:rPr lang="zh-CN" altLang="en-US" b="1"/>
              <a:t>任务控制块（</a:t>
            </a:r>
            <a:r>
              <a:rPr lang="en-US" altLang="zh-CN" b="1"/>
              <a:t>TCB</a:t>
            </a:r>
            <a:r>
              <a:rPr lang="zh-CN" altLang="en-US" b="1"/>
              <a:t>）的结构</a:t>
            </a:r>
          </a:p>
        </p:txBody>
      </p:sp>
      <p:sp>
        <p:nvSpPr>
          <p:cNvPr id="60423" name="Text Box 4" descr="羊皮纸">
            <a:extLst>
              <a:ext uri="{FF2B5EF4-FFF2-40B4-BE49-F238E27FC236}">
                <a16:creationId xmlns:a16="http://schemas.microsoft.com/office/drawing/2014/main" id="{4E0239AD-E3D3-DC69-DB6D-E54418E63496}"/>
              </a:ext>
            </a:extLst>
          </p:cNvPr>
          <p:cNvSpPr txBox="1">
            <a:spLocks noChangeArrowheads="1"/>
          </p:cNvSpPr>
          <p:nvPr/>
        </p:nvSpPr>
        <p:spPr bwMode="auto">
          <a:xfrm>
            <a:off x="539750" y="2051050"/>
            <a:ext cx="8281988" cy="447357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400">
                <a:solidFill>
                  <a:schemeClr val="tx2"/>
                </a:solidFill>
              </a:rPr>
              <a:t>任务控制块结构的主要成员</a:t>
            </a:r>
            <a:endParaRPr kumimoji="1" lang="zh-CN" altLang="en-US" sz="1000">
              <a:solidFill>
                <a:schemeClr val="tx2"/>
              </a:solidFill>
            </a:endParaRPr>
          </a:p>
          <a:p>
            <a:pPr eaLnBrk="1" hangingPunct="1">
              <a:spcBef>
                <a:spcPct val="10000"/>
              </a:spcBef>
              <a:buClrTx/>
              <a:buSzTx/>
              <a:buFontTx/>
              <a:buNone/>
            </a:pPr>
            <a:r>
              <a:rPr kumimoji="1" lang="en-US" altLang="zh-CN" sz="2400"/>
              <a:t>typedef struct os_tcb {</a:t>
            </a:r>
          </a:p>
          <a:p>
            <a:pPr eaLnBrk="1" hangingPunct="1">
              <a:spcBef>
                <a:spcPct val="10000"/>
              </a:spcBef>
              <a:buClrTx/>
              <a:buSzTx/>
              <a:buFontTx/>
              <a:buNone/>
            </a:pPr>
            <a:r>
              <a:rPr kumimoji="1" lang="en-US" altLang="zh-CN" sz="2400"/>
              <a:t>    struct  os_tcb *OSTCBNext;  </a:t>
            </a:r>
            <a:r>
              <a:rPr kumimoji="1" lang="en-US" altLang="zh-CN" sz="1800" i="1">
                <a:solidFill>
                  <a:srgbClr val="339966"/>
                </a:solidFill>
              </a:rPr>
              <a:t>//</a:t>
            </a:r>
            <a:r>
              <a:rPr kumimoji="1" lang="zh-CN" altLang="en-US" sz="1800" i="1">
                <a:solidFill>
                  <a:srgbClr val="339966"/>
                </a:solidFill>
              </a:rPr>
              <a:t>指向下一个</a:t>
            </a:r>
            <a:r>
              <a:rPr kumimoji="1" lang="en-US" altLang="zh-CN" sz="1800" i="1">
                <a:solidFill>
                  <a:srgbClr val="339966"/>
                </a:solidFill>
              </a:rPr>
              <a:t>TCB</a:t>
            </a:r>
            <a:r>
              <a:rPr kumimoji="1" lang="zh-CN" altLang="en-US" sz="1800" i="1">
                <a:solidFill>
                  <a:srgbClr val="339966"/>
                </a:solidFill>
              </a:rPr>
              <a:t>的指针</a:t>
            </a:r>
          </a:p>
          <a:p>
            <a:pPr eaLnBrk="1" hangingPunct="1">
              <a:spcBef>
                <a:spcPct val="10000"/>
              </a:spcBef>
              <a:buClrTx/>
              <a:buSzTx/>
              <a:buFontTx/>
              <a:buNone/>
            </a:pPr>
            <a:r>
              <a:rPr kumimoji="1" lang="zh-CN" altLang="en-US" sz="2400"/>
              <a:t>    </a:t>
            </a:r>
            <a:r>
              <a:rPr kumimoji="1" lang="en-US" altLang="zh-CN" sz="2400"/>
              <a:t>struct  os_tcb *OSTCBPrev;  </a:t>
            </a:r>
            <a:r>
              <a:rPr kumimoji="1" lang="en-US" altLang="zh-CN" sz="1800" i="1">
                <a:solidFill>
                  <a:srgbClr val="339966"/>
                </a:solidFill>
              </a:rPr>
              <a:t>//</a:t>
            </a:r>
            <a:r>
              <a:rPr kumimoji="1" lang="zh-CN" altLang="en-US" sz="1800" i="1">
                <a:solidFill>
                  <a:srgbClr val="339966"/>
                </a:solidFill>
              </a:rPr>
              <a:t>指向前一个</a:t>
            </a:r>
            <a:r>
              <a:rPr kumimoji="1" lang="en-US" altLang="zh-CN" sz="1800" i="1">
                <a:solidFill>
                  <a:srgbClr val="339966"/>
                </a:solidFill>
              </a:rPr>
              <a:t>TCB</a:t>
            </a:r>
            <a:r>
              <a:rPr kumimoji="1" lang="zh-CN" altLang="en-US" sz="1800" i="1">
                <a:solidFill>
                  <a:srgbClr val="339966"/>
                </a:solidFill>
              </a:rPr>
              <a:t>的指针</a:t>
            </a:r>
            <a:endParaRPr kumimoji="1" lang="zh-CN" altLang="en-US" sz="2400" i="1">
              <a:solidFill>
                <a:srgbClr val="339966"/>
              </a:solidFill>
            </a:endParaRPr>
          </a:p>
          <a:p>
            <a:pPr eaLnBrk="1" hangingPunct="1">
              <a:spcBef>
                <a:spcPct val="10000"/>
              </a:spcBef>
              <a:buClrTx/>
              <a:buSzTx/>
              <a:buFontTx/>
              <a:buNone/>
            </a:pPr>
            <a:r>
              <a:rPr kumimoji="1" lang="zh-CN" altLang="en-US" sz="2400"/>
              <a:t>    </a:t>
            </a:r>
            <a:r>
              <a:rPr kumimoji="1" lang="en-US" altLang="zh-CN" sz="2400"/>
              <a:t>OS_STK  *OSTCBStkPtr;       </a:t>
            </a:r>
            <a:r>
              <a:rPr kumimoji="1" lang="en-US" altLang="zh-CN" sz="1800" i="1">
                <a:solidFill>
                  <a:srgbClr val="339966"/>
                </a:solidFill>
              </a:rPr>
              <a:t>//</a:t>
            </a:r>
            <a:r>
              <a:rPr kumimoji="1" lang="zh-CN" altLang="en-US" sz="1800" i="1">
                <a:solidFill>
                  <a:srgbClr val="339966"/>
                </a:solidFill>
              </a:rPr>
              <a:t>指向任务堆栈栈顶的指针</a:t>
            </a:r>
          </a:p>
          <a:p>
            <a:pPr eaLnBrk="1" hangingPunct="1">
              <a:spcBef>
                <a:spcPct val="10000"/>
              </a:spcBef>
              <a:buClrTx/>
              <a:buSzTx/>
              <a:buFontTx/>
              <a:buNone/>
            </a:pPr>
            <a:r>
              <a:rPr kumimoji="1" lang="zh-CN" altLang="en-US" sz="2400"/>
              <a:t>    </a:t>
            </a:r>
            <a:r>
              <a:rPr kumimoji="1" lang="en-US" altLang="zh-CN" sz="2400"/>
              <a:t>……</a:t>
            </a:r>
          </a:p>
          <a:p>
            <a:pPr eaLnBrk="1" hangingPunct="1">
              <a:spcBef>
                <a:spcPct val="10000"/>
              </a:spcBef>
              <a:buClrTx/>
              <a:buSzTx/>
              <a:buFontTx/>
              <a:buNone/>
            </a:pPr>
            <a:r>
              <a:rPr kumimoji="1" lang="en-US" altLang="zh-CN" sz="2400"/>
              <a:t>    INT16U     OSTCBDly;            </a:t>
            </a:r>
            <a:r>
              <a:rPr kumimoji="1" lang="en-US" altLang="zh-CN" sz="1800" i="1">
                <a:solidFill>
                  <a:srgbClr val="339966"/>
                </a:solidFill>
              </a:rPr>
              <a:t>//</a:t>
            </a:r>
            <a:r>
              <a:rPr kumimoji="1" lang="zh-CN" altLang="en-US" sz="1800" i="1">
                <a:solidFill>
                  <a:srgbClr val="339966"/>
                </a:solidFill>
              </a:rPr>
              <a:t>任务等待时间</a:t>
            </a:r>
          </a:p>
          <a:p>
            <a:pPr eaLnBrk="1" hangingPunct="1">
              <a:spcBef>
                <a:spcPct val="10000"/>
              </a:spcBef>
              <a:buClrTx/>
              <a:buSzTx/>
              <a:buFontTx/>
              <a:buNone/>
            </a:pPr>
            <a:r>
              <a:rPr kumimoji="1" lang="zh-CN" altLang="en-US" sz="2400"/>
              <a:t>    </a:t>
            </a:r>
            <a:r>
              <a:rPr kumimoji="1" lang="en-US" altLang="zh-CN" sz="2400"/>
              <a:t>INT8U      	OSTCBStat;	         </a:t>
            </a:r>
            <a:r>
              <a:rPr kumimoji="1" lang="en-US" altLang="zh-CN" sz="1800" i="1">
                <a:solidFill>
                  <a:srgbClr val="339966"/>
                </a:solidFill>
              </a:rPr>
              <a:t>//</a:t>
            </a:r>
            <a:r>
              <a:rPr kumimoji="1" lang="zh-CN" altLang="en-US" sz="1800" i="1">
                <a:solidFill>
                  <a:srgbClr val="339966"/>
                </a:solidFill>
              </a:rPr>
              <a:t>任务的当前状态标志</a:t>
            </a:r>
          </a:p>
          <a:p>
            <a:pPr eaLnBrk="1" hangingPunct="1">
              <a:spcBef>
                <a:spcPct val="10000"/>
              </a:spcBef>
              <a:buClrTx/>
              <a:buSzTx/>
              <a:buFontTx/>
              <a:buNone/>
            </a:pPr>
            <a:r>
              <a:rPr kumimoji="1" lang="zh-CN" altLang="en-US" sz="2400"/>
              <a:t>    </a:t>
            </a:r>
            <a:r>
              <a:rPr kumimoji="1" lang="en-US" altLang="zh-CN" sz="2400"/>
              <a:t>INT8U     	OSTCBPrio;          </a:t>
            </a:r>
            <a:r>
              <a:rPr kumimoji="1" lang="en-US" altLang="zh-CN" sz="1800" i="1">
                <a:solidFill>
                  <a:srgbClr val="339966"/>
                </a:solidFill>
              </a:rPr>
              <a:t>//</a:t>
            </a:r>
            <a:r>
              <a:rPr kumimoji="1" lang="zh-CN" altLang="en-US" sz="1800" i="1">
                <a:solidFill>
                  <a:srgbClr val="339966"/>
                </a:solidFill>
              </a:rPr>
              <a:t>任务的优先级别</a:t>
            </a:r>
            <a:r>
              <a:rPr kumimoji="1" lang="zh-CN" altLang="en-US" sz="2400"/>
              <a:t> </a:t>
            </a:r>
          </a:p>
          <a:p>
            <a:pPr eaLnBrk="1" hangingPunct="1">
              <a:spcBef>
                <a:spcPct val="10000"/>
              </a:spcBef>
              <a:buClrTx/>
              <a:buSzTx/>
              <a:buFontTx/>
              <a:buNone/>
            </a:pPr>
            <a:r>
              <a:rPr kumimoji="1" lang="zh-CN" altLang="en-US" sz="2400"/>
              <a:t>    </a:t>
            </a:r>
            <a:r>
              <a:rPr kumimoji="1" lang="en-US" altLang="zh-CN" sz="2400"/>
              <a:t>……</a:t>
            </a:r>
          </a:p>
          <a:p>
            <a:pPr eaLnBrk="1" hangingPunct="1">
              <a:spcBef>
                <a:spcPct val="10000"/>
              </a:spcBef>
              <a:buClrTx/>
              <a:buSzTx/>
              <a:buFontTx/>
              <a:buNone/>
            </a:pPr>
            <a:r>
              <a:rPr kumimoji="1" lang="en-US" altLang="zh-CN" sz="2400"/>
              <a:t>} </a:t>
            </a:r>
            <a:r>
              <a:rPr kumimoji="1" lang="en-US" altLang="zh-CN" sz="2400">
                <a:solidFill>
                  <a:srgbClr val="FF0066"/>
                </a:solidFill>
              </a:rPr>
              <a:t>OS_TCB</a:t>
            </a:r>
            <a:r>
              <a:rPr kumimoji="1" lang="en-US" altLang="zh-CN" sz="2400"/>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1">
            <a:extLst>
              <a:ext uri="{FF2B5EF4-FFF2-40B4-BE49-F238E27FC236}">
                <a16:creationId xmlns:a16="http://schemas.microsoft.com/office/drawing/2014/main" id="{7A92D82A-AEFE-941E-F944-1468FBC7C11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1443" name="灯片编号占位符 2">
            <a:extLst>
              <a:ext uri="{FF2B5EF4-FFF2-40B4-BE49-F238E27FC236}">
                <a16:creationId xmlns:a16="http://schemas.microsoft.com/office/drawing/2014/main" id="{A174C918-124F-A5B6-9A23-8772DA8970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CF4FB89-1B19-4799-929F-C1251F819E17}" type="slidenum">
              <a:rPr lang="en-US" altLang="zh-CN" sz="1200" smtClean="0">
                <a:solidFill>
                  <a:srgbClr val="3366FF"/>
                </a:solidFill>
                <a:latin typeface="Arial Black" panose="020B0A04020102020204" pitchFamily="34" charset="0"/>
              </a:rPr>
              <a:pPr>
                <a:spcBef>
                  <a:spcPct val="0"/>
                </a:spcBef>
                <a:buClrTx/>
                <a:buSzTx/>
                <a:buFontTx/>
                <a:buNone/>
              </a:pPr>
              <a:t>57</a:t>
            </a:fld>
            <a:endParaRPr lang="en-US" altLang="zh-CN" sz="1200">
              <a:solidFill>
                <a:srgbClr val="3366FF"/>
              </a:solidFill>
              <a:latin typeface="Arial Black" panose="020B0A04020102020204" pitchFamily="34" charset="0"/>
            </a:endParaRPr>
          </a:p>
        </p:txBody>
      </p:sp>
      <p:sp>
        <p:nvSpPr>
          <p:cNvPr id="61444" name="日期占位符 3">
            <a:extLst>
              <a:ext uri="{FF2B5EF4-FFF2-40B4-BE49-F238E27FC236}">
                <a16:creationId xmlns:a16="http://schemas.microsoft.com/office/drawing/2014/main" id="{9D1D874D-EE05-A770-582D-D217DBB75BA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899A5CB-FF1B-40CC-ABF7-296C81FF1AD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1445" name="Rectangle 2">
            <a:extLst>
              <a:ext uri="{FF2B5EF4-FFF2-40B4-BE49-F238E27FC236}">
                <a16:creationId xmlns:a16="http://schemas.microsoft.com/office/drawing/2014/main" id="{74EA4062-7C27-EA57-1A06-8B69F574A8E3}"/>
              </a:ext>
            </a:extLst>
          </p:cNvPr>
          <p:cNvSpPr>
            <a:spLocks noChangeArrowheads="1"/>
          </p:cNvSpPr>
          <p:nvPr/>
        </p:nvSpPr>
        <p:spPr bwMode="auto">
          <a:xfrm>
            <a:off x="457200"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61446" name="Text Box 3" descr="羊皮纸">
            <a:extLst>
              <a:ext uri="{FF2B5EF4-FFF2-40B4-BE49-F238E27FC236}">
                <a16:creationId xmlns:a16="http://schemas.microsoft.com/office/drawing/2014/main" id="{8B6D10D8-B871-E6BE-5A5E-D4B3EBAA4CFF}"/>
              </a:ext>
            </a:extLst>
          </p:cNvPr>
          <p:cNvSpPr txBox="1">
            <a:spLocks noChangeArrowheads="1"/>
          </p:cNvSpPr>
          <p:nvPr/>
        </p:nvSpPr>
        <p:spPr bwMode="auto">
          <a:xfrm>
            <a:off x="684213" y="1936750"/>
            <a:ext cx="77771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2300" indent="-6223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3366FF"/>
              </a:buClr>
              <a:buSzPct val="95000"/>
              <a:buFont typeface="Wingdings" panose="05000000000000000000" pitchFamily="2" charset="2"/>
              <a:buAutoNum type="arabicPeriod" startAt="2"/>
            </a:pPr>
            <a:r>
              <a:rPr lang="zh-CN" altLang="en-US"/>
              <a:t>任务切换宏 </a:t>
            </a:r>
            <a:r>
              <a:rPr lang="en-US" altLang="zh-CN">
                <a:latin typeface="Arial Narrow" panose="020B0606020202030204" pitchFamily="34" charset="0"/>
              </a:rPr>
              <a:t>OS_TASK_SW( )</a:t>
            </a:r>
          </a:p>
        </p:txBody>
      </p:sp>
      <p:sp>
        <p:nvSpPr>
          <p:cNvPr id="61447" name="Text Box 4" descr="羊皮纸">
            <a:extLst>
              <a:ext uri="{FF2B5EF4-FFF2-40B4-BE49-F238E27FC236}">
                <a16:creationId xmlns:a16="http://schemas.microsoft.com/office/drawing/2014/main" id="{E7751446-BC39-AB8D-589B-B53DF0A81F37}"/>
              </a:ext>
            </a:extLst>
          </p:cNvPr>
          <p:cNvSpPr txBox="1">
            <a:spLocks noChangeArrowheads="1"/>
          </p:cNvSpPr>
          <p:nvPr/>
        </p:nvSpPr>
        <p:spPr bwMode="auto">
          <a:xfrm>
            <a:off x="611188" y="2636838"/>
            <a:ext cx="8064500" cy="519112"/>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spcAft>
                <a:spcPct val="10000"/>
              </a:spcAft>
              <a:buClrTx/>
              <a:buSzTx/>
              <a:buFontTx/>
              <a:buNone/>
            </a:pPr>
            <a:r>
              <a:rPr lang="zh-CN" altLang="en-US" sz="2800">
                <a:latin typeface="Arial Narrow" panose="020B0606020202030204" pitchFamily="34" charset="0"/>
              </a:rPr>
              <a:t>其主要工作：完成当前任务到待运行任务的切换。</a:t>
            </a:r>
          </a:p>
        </p:txBody>
      </p:sp>
      <p:sp>
        <p:nvSpPr>
          <p:cNvPr id="61448" name="Text Box 5">
            <a:extLst>
              <a:ext uri="{FF2B5EF4-FFF2-40B4-BE49-F238E27FC236}">
                <a16:creationId xmlns:a16="http://schemas.microsoft.com/office/drawing/2014/main" id="{D96D89C1-2334-CD96-DCA8-51C8C7E7B930}"/>
              </a:ext>
            </a:extLst>
          </p:cNvPr>
          <p:cNvSpPr txBox="1">
            <a:spLocks noChangeArrowheads="1"/>
          </p:cNvSpPr>
          <p:nvPr/>
        </p:nvSpPr>
        <p:spPr bwMode="auto">
          <a:xfrm>
            <a:off x="755650" y="3357563"/>
            <a:ext cx="77041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66FF"/>
              </a:buClr>
              <a:buSzPct val="65000"/>
            </a:pPr>
            <a:r>
              <a:rPr lang="zh-CN" altLang="en-US" sz="2800"/>
              <a:t>几个概念：</a:t>
            </a:r>
          </a:p>
        </p:txBody>
      </p:sp>
      <p:sp>
        <p:nvSpPr>
          <p:cNvPr id="61449" name="Text Box 6">
            <a:extLst>
              <a:ext uri="{FF2B5EF4-FFF2-40B4-BE49-F238E27FC236}">
                <a16:creationId xmlns:a16="http://schemas.microsoft.com/office/drawing/2014/main" id="{4B79BD94-74F3-F93E-9E01-43E745110315}"/>
              </a:ext>
            </a:extLst>
          </p:cNvPr>
          <p:cNvSpPr txBox="1">
            <a:spLocks noChangeArrowheads="1"/>
          </p:cNvSpPr>
          <p:nvPr/>
        </p:nvSpPr>
        <p:spPr bwMode="auto">
          <a:xfrm>
            <a:off x="1187450" y="3927475"/>
            <a:ext cx="748823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9900"/>
              </a:buClr>
              <a:buSzPct val="55000"/>
              <a:buFont typeface="Wingdings" panose="05000000000000000000" pitchFamily="2" charset="2"/>
              <a:buChar char="Ø"/>
            </a:pPr>
            <a:r>
              <a:rPr lang="zh-CN" altLang="en-US" sz="2800"/>
              <a:t>断点 </a:t>
            </a:r>
            <a:r>
              <a:rPr lang="en-US" altLang="zh-CN" sz="2800"/>
              <a:t>--- </a:t>
            </a:r>
            <a:r>
              <a:rPr lang="zh-CN" altLang="en-US" sz="2800"/>
              <a:t>当前任务被终止运行的位置。</a:t>
            </a:r>
          </a:p>
          <a:p>
            <a:pPr eaLnBrk="1" hangingPunct="1">
              <a:spcBef>
                <a:spcPct val="0"/>
              </a:spcBef>
              <a:buClr>
                <a:srgbClr val="FF9900"/>
              </a:buClr>
              <a:buSzPct val="55000"/>
              <a:buFont typeface="Wingdings" panose="05000000000000000000" pitchFamily="2" charset="2"/>
              <a:buChar char="Ø"/>
            </a:pPr>
            <a:r>
              <a:rPr lang="zh-CN" altLang="en-US" sz="2800"/>
              <a:t>断点数据 </a:t>
            </a:r>
            <a:r>
              <a:rPr lang="en-US" altLang="zh-CN" sz="2800"/>
              <a:t>--- </a:t>
            </a:r>
            <a:r>
              <a:rPr lang="zh-CN" altLang="en-US" sz="2800"/>
              <a:t>断点处 </a:t>
            </a:r>
            <a:r>
              <a:rPr lang="en-US" altLang="zh-CN" sz="2800"/>
              <a:t>CPU </a:t>
            </a:r>
            <a:r>
              <a:rPr lang="zh-CN" altLang="en-US" sz="2800"/>
              <a:t>的 </a:t>
            </a:r>
            <a:r>
              <a:rPr lang="en-US" altLang="zh-CN" sz="2800"/>
              <a:t>PC</a:t>
            </a:r>
            <a:r>
              <a:rPr lang="zh-CN" altLang="en-US" sz="2800"/>
              <a:t>、</a:t>
            </a:r>
            <a:r>
              <a:rPr lang="en-US" altLang="zh-CN" sz="2800"/>
              <a:t>SP</a:t>
            </a:r>
            <a:r>
              <a:rPr lang="zh-CN" altLang="en-US" sz="2800"/>
              <a:t>、</a:t>
            </a:r>
            <a:r>
              <a:rPr lang="en-US" altLang="zh-CN" sz="2800"/>
              <a:t>PSW </a:t>
            </a:r>
            <a:r>
              <a:rPr lang="zh-CN" altLang="en-US" sz="2800"/>
              <a:t>以及通用寄存器</a:t>
            </a:r>
            <a:r>
              <a:rPr lang="en-US" altLang="zh-CN" sz="2800"/>
              <a:t>(R0</a:t>
            </a:r>
            <a:r>
              <a:rPr lang="en-US" altLang="en-US" sz="1800"/>
              <a:t>～</a:t>
            </a:r>
            <a:r>
              <a:rPr lang="en-US" altLang="zh-CN" sz="2800"/>
              <a:t>R12)</a:t>
            </a:r>
            <a:r>
              <a:rPr lang="zh-CN" altLang="en-US" sz="2800"/>
              <a:t>的当前数据。</a:t>
            </a:r>
          </a:p>
        </p:txBody>
      </p:sp>
      <p:sp>
        <p:nvSpPr>
          <p:cNvPr id="61450" name="Text Box 7">
            <a:extLst>
              <a:ext uri="{FF2B5EF4-FFF2-40B4-BE49-F238E27FC236}">
                <a16:creationId xmlns:a16="http://schemas.microsoft.com/office/drawing/2014/main" id="{B0C21775-3F62-5F4A-2CC8-D78A90F25732}"/>
              </a:ext>
            </a:extLst>
          </p:cNvPr>
          <p:cNvSpPr txBox="1">
            <a:spLocks noChangeArrowheads="1"/>
          </p:cNvSpPr>
          <p:nvPr/>
        </p:nvSpPr>
        <p:spPr bwMode="auto">
          <a:xfrm>
            <a:off x="684213" y="5516563"/>
            <a:ext cx="79200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1700" indent="-901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备注：程序 “无缝” 接续运行要求断点和断点数据（现场）的完全保护和恢复。</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1">
            <a:extLst>
              <a:ext uri="{FF2B5EF4-FFF2-40B4-BE49-F238E27FC236}">
                <a16:creationId xmlns:a16="http://schemas.microsoft.com/office/drawing/2014/main" id="{8A057D5F-6F35-309B-4466-9233DF67BDF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2467" name="灯片编号占位符 2">
            <a:extLst>
              <a:ext uri="{FF2B5EF4-FFF2-40B4-BE49-F238E27FC236}">
                <a16:creationId xmlns:a16="http://schemas.microsoft.com/office/drawing/2014/main" id="{854F5DD0-A701-B0AF-5146-0CCF3591D9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431493-8CC4-4CF2-A040-72D7D8EA3AF4}" type="slidenum">
              <a:rPr lang="en-US" altLang="zh-CN" sz="1200" smtClean="0">
                <a:solidFill>
                  <a:srgbClr val="3366FF"/>
                </a:solidFill>
                <a:latin typeface="Arial Black" panose="020B0A04020102020204" pitchFamily="34" charset="0"/>
              </a:rPr>
              <a:pPr>
                <a:spcBef>
                  <a:spcPct val="0"/>
                </a:spcBef>
                <a:buClrTx/>
                <a:buSzTx/>
                <a:buFontTx/>
                <a:buNone/>
              </a:pPr>
              <a:t>58</a:t>
            </a:fld>
            <a:endParaRPr lang="en-US" altLang="zh-CN" sz="1200">
              <a:solidFill>
                <a:srgbClr val="3366FF"/>
              </a:solidFill>
              <a:latin typeface="Arial Black" panose="020B0A04020102020204" pitchFamily="34" charset="0"/>
            </a:endParaRPr>
          </a:p>
        </p:txBody>
      </p:sp>
      <p:sp>
        <p:nvSpPr>
          <p:cNvPr id="62468" name="日期占位符 3">
            <a:extLst>
              <a:ext uri="{FF2B5EF4-FFF2-40B4-BE49-F238E27FC236}">
                <a16:creationId xmlns:a16="http://schemas.microsoft.com/office/drawing/2014/main" id="{AC8016D5-A7F6-C001-B28D-AC9A815E646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DDCC7D2-99F4-4F92-8954-5F1DA0C8B777}"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2469" name="Text Box 8">
            <a:extLst>
              <a:ext uri="{FF2B5EF4-FFF2-40B4-BE49-F238E27FC236}">
                <a16:creationId xmlns:a16="http://schemas.microsoft.com/office/drawing/2014/main" id="{E549B45E-152B-2A4D-B1CD-67128B3A4BF4}"/>
              </a:ext>
            </a:extLst>
          </p:cNvPr>
          <p:cNvSpPr txBox="1">
            <a:spLocks noChangeArrowheads="1"/>
          </p:cNvSpPr>
          <p:nvPr/>
        </p:nvSpPr>
        <p:spPr bwMode="auto">
          <a:xfrm>
            <a:off x="2986088" y="5805488"/>
            <a:ext cx="3241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800"/>
              <a:t>任务切换中的断点数据处理</a:t>
            </a:r>
          </a:p>
        </p:txBody>
      </p:sp>
      <p:graphicFrame>
        <p:nvGraphicFramePr>
          <p:cNvPr id="62470" name="Object 9">
            <a:extLst>
              <a:ext uri="{FF2B5EF4-FFF2-40B4-BE49-F238E27FC236}">
                <a16:creationId xmlns:a16="http://schemas.microsoft.com/office/drawing/2014/main" id="{BDD2D530-4401-1FB0-7F0D-81044FB415E1}"/>
              </a:ext>
            </a:extLst>
          </p:cNvPr>
          <p:cNvGraphicFramePr>
            <a:graphicFrameLocks noChangeAspect="1"/>
          </p:cNvGraphicFramePr>
          <p:nvPr/>
        </p:nvGraphicFramePr>
        <p:xfrm>
          <a:off x="611188" y="765175"/>
          <a:ext cx="7921625" cy="5400675"/>
        </p:xfrm>
        <a:graphic>
          <a:graphicData uri="http://schemas.openxmlformats.org/presentationml/2006/ole">
            <mc:AlternateContent xmlns:mc="http://schemas.openxmlformats.org/markup-compatibility/2006">
              <mc:Choice xmlns:v="urn:schemas-microsoft-com:vml" Requires="v">
                <p:oleObj name="Visio" r:id="rId2" imgW="4267810" imgH="4589069" progId="Visio.Drawing.11">
                  <p:embed/>
                </p:oleObj>
              </mc:Choice>
              <mc:Fallback>
                <p:oleObj name="Visio" r:id="rId2" imgW="4267810" imgH="4589069" progId="Visio.Drawing.11">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765175"/>
                        <a:ext cx="792162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1">
            <a:extLst>
              <a:ext uri="{FF2B5EF4-FFF2-40B4-BE49-F238E27FC236}">
                <a16:creationId xmlns:a16="http://schemas.microsoft.com/office/drawing/2014/main" id="{94713C7A-28C1-0B3D-170B-8D3B06D9AEC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3491" name="灯片编号占位符 2">
            <a:extLst>
              <a:ext uri="{FF2B5EF4-FFF2-40B4-BE49-F238E27FC236}">
                <a16:creationId xmlns:a16="http://schemas.microsoft.com/office/drawing/2014/main" id="{AB595035-FD24-1C52-C699-7E6B414A6D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83BD9A9-1B45-44F9-8961-57F509F96E48}" type="slidenum">
              <a:rPr lang="en-US" altLang="zh-CN" sz="1200" smtClean="0">
                <a:solidFill>
                  <a:srgbClr val="3366FF"/>
                </a:solidFill>
                <a:latin typeface="Arial Black" panose="020B0A04020102020204" pitchFamily="34" charset="0"/>
              </a:rPr>
              <a:pPr>
                <a:spcBef>
                  <a:spcPct val="0"/>
                </a:spcBef>
                <a:buClrTx/>
                <a:buSzTx/>
                <a:buFontTx/>
                <a:buNone/>
              </a:pPr>
              <a:t>59</a:t>
            </a:fld>
            <a:endParaRPr lang="en-US" altLang="zh-CN" sz="1200">
              <a:solidFill>
                <a:srgbClr val="3366FF"/>
              </a:solidFill>
              <a:latin typeface="Arial Black" panose="020B0A04020102020204" pitchFamily="34" charset="0"/>
            </a:endParaRPr>
          </a:p>
        </p:txBody>
      </p:sp>
      <p:sp>
        <p:nvSpPr>
          <p:cNvPr id="63492" name="日期占位符 3">
            <a:extLst>
              <a:ext uri="{FF2B5EF4-FFF2-40B4-BE49-F238E27FC236}">
                <a16:creationId xmlns:a16="http://schemas.microsoft.com/office/drawing/2014/main" id="{559CB2D7-03E9-CCBF-E835-91B06F4B092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711B03F-6E10-4D04-AC6F-69DC2FD416A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3493" name="Rectangle 2">
            <a:extLst>
              <a:ext uri="{FF2B5EF4-FFF2-40B4-BE49-F238E27FC236}">
                <a16:creationId xmlns:a16="http://schemas.microsoft.com/office/drawing/2014/main" id="{C4B4D043-FDC8-75ED-D687-35B0BC5BE529}"/>
              </a:ext>
            </a:extLst>
          </p:cNvPr>
          <p:cNvSpPr>
            <a:spLocks noChangeArrowheads="1"/>
          </p:cNvSpPr>
          <p:nvPr/>
        </p:nvSpPr>
        <p:spPr bwMode="auto">
          <a:xfrm>
            <a:off x="446088" y="549275"/>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2.4  </a:t>
            </a:r>
            <a:r>
              <a:rPr lang="zh-CN" altLang="en-US" sz="3600">
                <a:solidFill>
                  <a:srgbClr val="080808"/>
                </a:solidFill>
              </a:rPr>
              <a:t>任务就绪表及任务调度</a:t>
            </a:r>
          </a:p>
        </p:txBody>
      </p:sp>
      <p:sp>
        <p:nvSpPr>
          <p:cNvPr id="63494" name="Text Box 3" descr="羊皮纸">
            <a:extLst>
              <a:ext uri="{FF2B5EF4-FFF2-40B4-BE49-F238E27FC236}">
                <a16:creationId xmlns:a16="http://schemas.microsoft.com/office/drawing/2014/main" id="{919177DE-7987-B860-F69E-2427A4D3A448}"/>
              </a:ext>
            </a:extLst>
          </p:cNvPr>
          <p:cNvSpPr txBox="1">
            <a:spLocks noChangeArrowheads="1"/>
          </p:cNvSpPr>
          <p:nvPr/>
        </p:nvSpPr>
        <p:spPr bwMode="auto">
          <a:xfrm>
            <a:off x="684213" y="1360488"/>
            <a:ext cx="813593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2300" indent="-6223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3366FF"/>
              </a:buClr>
              <a:buSzPct val="95000"/>
              <a:buFont typeface="Wingdings" panose="05000000000000000000" pitchFamily="2" charset="2"/>
              <a:buNone/>
            </a:pPr>
            <a:r>
              <a:rPr lang="zh-CN" altLang="en-US" sz="2800"/>
              <a:t>任务切换宏 </a:t>
            </a:r>
            <a:r>
              <a:rPr lang="en-US" altLang="zh-CN" sz="2800">
                <a:latin typeface="Arial Narrow" panose="020B0606020202030204" pitchFamily="34" charset="0"/>
              </a:rPr>
              <a:t>OS_TASK_SW( ) </a:t>
            </a:r>
            <a:r>
              <a:rPr lang="zh-CN" altLang="en-US" sz="2800">
                <a:latin typeface="Arial Narrow" panose="020B0606020202030204" pitchFamily="34" charset="0"/>
              </a:rPr>
              <a:t>依次完成的</a:t>
            </a:r>
            <a:r>
              <a:rPr lang="en-US" altLang="zh-CN" sz="2800">
                <a:latin typeface="Arial Narrow" panose="020B0606020202030204" pitchFamily="34" charset="0"/>
              </a:rPr>
              <a:t>7</a:t>
            </a:r>
            <a:r>
              <a:rPr lang="zh-CN" altLang="en-US" sz="2800">
                <a:latin typeface="Arial Narrow" panose="020B0606020202030204" pitchFamily="34" charset="0"/>
              </a:rPr>
              <a:t>项工作：</a:t>
            </a:r>
          </a:p>
        </p:txBody>
      </p:sp>
      <p:sp>
        <p:nvSpPr>
          <p:cNvPr id="63495" name="Text Box 5">
            <a:extLst>
              <a:ext uri="{FF2B5EF4-FFF2-40B4-BE49-F238E27FC236}">
                <a16:creationId xmlns:a16="http://schemas.microsoft.com/office/drawing/2014/main" id="{D694149C-86EF-EEE9-FE2C-85A2E91A2B3A}"/>
              </a:ext>
            </a:extLst>
          </p:cNvPr>
          <p:cNvSpPr txBox="1">
            <a:spLocks noChangeArrowheads="1"/>
          </p:cNvSpPr>
          <p:nvPr/>
        </p:nvSpPr>
        <p:spPr bwMode="auto">
          <a:xfrm>
            <a:off x="1187450" y="1989138"/>
            <a:ext cx="7561263" cy="35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66FF"/>
              </a:buClr>
              <a:buSzPct val="85000"/>
              <a:buFont typeface="Wingdings" panose="05000000000000000000" pitchFamily="2" charset="2"/>
              <a:buAutoNum type="arabicPeriod"/>
            </a:pPr>
            <a:r>
              <a:rPr lang="zh-CN" altLang="en-US" sz="2800">
                <a:solidFill>
                  <a:srgbClr val="FF0066"/>
                </a:solidFill>
                <a:latin typeface="Arial Narrow" panose="020B0606020202030204" pitchFamily="34" charset="0"/>
              </a:rPr>
              <a:t>被中止</a:t>
            </a:r>
            <a:r>
              <a:rPr lang="en-US" altLang="zh-CN" sz="2800">
                <a:solidFill>
                  <a:srgbClr val="FF0066"/>
                </a:solidFill>
                <a:latin typeface="Arial Narrow" panose="020B0606020202030204" pitchFamily="34" charset="0"/>
              </a:rPr>
              <a:t>Task</a:t>
            </a:r>
            <a:r>
              <a:rPr lang="zh-CN" altLang="en-US" sz="2800">
                <a:solidFill>
                  <a:srgbClr val="FF0066"/>
                </a:solidFill>
                <a:latin typeface="Arial Narrow" panose="020B0606020202030204" pitchFamily="34" charset="0"/>
              </a:rPr>
              <a:t>的断点指针（</a:t>
            </a:r>
            <a:r>
              <a:rPr lang="en-US" altLang="zh-CN" sz="2800">
                <a:solidFill>
                  <a:srgbClr val="FF0066"/>
                </a:solidFill>
                <a:latin typeface="Arial Narrow" panose="020B0606020202030204" pitchFamily="34" charset="0"/>
              </a:rPr>
              <a:t>PC</a:t>
            </a:r>
            <a:r>
              <a:rPr lang="zh-CN" altLang="en-US" sz="2800">
                <a:solidFill>
                  <a:srgbClr val="FF0066"/>
                </a:solidFill>
                <a:latin typeface="Arial Narrow" panose="020B0606020202030204" pitchFamily="34" charset="0"/>
              </a:rPr>
              <a:t>）入栈保护</a:t>
            </a:r>
          </a:p>
          <a:p>
            <a:pPr eaLnBrk="1" hangingPunct="1">
              <a:buClr>
                <a:srgbClr val="3366FF"/>
              </a:buClr>
              <a:buSzPct val="85000"/>
              <a:buFont typeface="Wingdings" panose="05000000000000000000" pitchFamily="2" charset="2"/>
              <a:buAutoNum type="arabicPeriod"/>
            </a:pPr>
            <a:r>
              <a:rPr lang="zh-CN" altLang="en-US" sz="2800">
                <a:latin typeface="Arial Narrow" panose="020B0606020202030204" pitchFamily="34" charset="0"/>
              </a:rPr>
              <a:t>被中止</a:t>
            </a:r>
            <a:r>
              <a:rPr lang="en-US" altLang="zh-CN" sz="2800">
                <a:latin typeface="Arial Narrow" panose="020B0606020202030204" pitchFamily="34" charset="0"/>
              </a:rPr>
              <a:t>Task</a:t>
            </a:r>
            <a:r>
              <a:rPr lang="zh-CN" altLang="en-US" sz="2800">
                <a:latin typeface="Arial Narrow" panose="020B0606020202030204" pitchFamily="34" charset="0"/>
              </a:rPr>
              <a:t>通用寄存器入栈保护</a:t>
            </a:r>
          </a:p>
          <a:p>
            <a:pPr eaLnBrk="1" hangingPunct="1">
              <a:buClr>
                <a:srgbClr val="3366FF"/>
              </a:buClr>
              <a:buSzPct val="85000"/>
              <a:buFont typeface="Wingdings" panose="05000000000000000000" pitchFamily="2" charset="2"/>
              <a:buAutoNum type="arabicPeriod"/>
            </a:pPr>
            <a:r>
              <a:rPr lang="zh-CN" altLang="en-US" sz="2800">
                <a:latin typeface="Arial Narrow" panose="020B0606020202030204" pitchFamily="34" charset="0"/>
              </a:rPr>
              <a:t>被中止</a:t>
            </a:r>
            <a:r>
              <a:rPr lang="en-US" altLang="zh-CN" sz="2800">
                <a:latin typeface="Arial Narrow" panose="020B0606020202030204" pitchFamily="34" charset="0"/>
              </a:rPr>
              <a:t>Task</a:t>
            </a:r>
            <a:r>
              <a:rPr lang="zh-CN" altLang="en-US" sz="2800">
                <a:solidFill>
                  <a:srgbClr val="F66C04"/>
                </a:solidFill>
                <a:latin typeface="Arial Narrow" panose="020B0606020202030204" pitchFamily="34" charset="0"/>
              </a:rPr>
              <a:t>系统管理 </a:t>
            </a:r>
            <a:r>
              <a:rPr lang="en-US" altLang="zh-CN" sz="2800">
                <a:solidFill>
                  <a:srgbClr val="F66C04"/>
                </a:solidFill>
                <a:latin typeface="Arial Narrow" panose="020B0606020202030204" pitchFamily="34" charset="0"/>
              </a:rPr>
              <a:t>SP</a:t>
            </a:r>
            <a:r>
              <a:rPr lang="en-US" altLang="zh-CN" sz="2800">
                <a:latin typeface="Arial Narrow" panose="020B0606020202030204" pitchFamily="34" charset="0"/>
              </a:rPr>
              <a:t> →</a:t>
            </a:r>
            <a:r>
              <a:rPr lang="zh-CN" altLang="en-US" sz="2800">
                <a:latin typeface="Arial Narrow" panose="020B0606020202030204" pitchFamily="34" charset="0"/>
              </a:rPr>
              <a:t>该</a:t>
            </a:r>
            <a:r>
              <a:rPr lang="en-US" altLang="zh-CN" sz="2400">
                <a:latin typeface="Arial Narrow" panose="020B0606020202030204" pitchFamily="34" charset="0"/>
              </a:rPr>
              <a:t>TCB-&gt;OSTCBStkPtr</a:t>
            </a:r>
          </a:p>
          <a:p>
            <a:pPr eaLnBrk="1" hangingPunct="1">
              <a:buClr>
                <a:srgbClr val="3366FF"/>
              </a:buClr>
              <a:buSzPct val="85000"/>
              <a:buFont typeface="Wingdings" panose="05000000000000000000" pitchFamily="2" charset="2"/>
              <a:buAutoNum type="arabicPeriod"/>
            </a:pPr>
            <a:r>
              <a:rPr lang="zh-CN" altLang="en-US" sz="2800">
                <a:latin typeface="Arial Narrow" panose="020B0606020202030204" pitchFamily="34" charset="0"/>
              </a:rPr>
              <a:t>获得待运行任务</a:t>
            </a:r>
            <a:r>
              <a:rPr lang="en-US" altLang="zh-CN" sz="2400">
                <a:latin typeface="Arial Narrow" panose="020B0606020202030204" pitchFamily="34" charset="0"/>
              </a:rPr>
              <a:t>TCB</a:t>
            </a:r>
          </a:p>
          <a:p>
            <a:pPr eaLnBrk="1" hangingPunct="1">
              <a:buClr>
                <a:srgbClr val="3366FF"/>
              </a:buClr>
              <a:buSzPct val="85000"/>
              <a:buFont typeface="Wingdings" panose="05000000000000000000" pitchFamily="2" charset="2"/>
              <a:buAutoNum type="arabicPeriod"/>
            </a:pPr>
            <a:r>
              <a:rPr lang="zh-CN" altLang="en-US" sz="2800">
                <a:latin typeface="Arial Narrow" panose="020B0606020202030204" pitchFamily="34" charset="0"/>
              </a:rPr>
              <a:t>获得待运行任务 </a:t>
            </a:r>
            <a:r>
              <a:rPr lang="en-US" altLang="zh-CN" sz="2400">
                <a:latin typeface="Arial Narrow" panose="020B0606020202030204" pitchFamily="34" charset="0"/>
              </a:rPr>
              <a:t>TCB-&gt;OSTCBStkPtr</a:t>
            </a:r>
          </a:p>
          <a:p>
            <a:pPr eaLnBrk="1" hangingPunct="1">
              <a:buClr>
                <a:srgbClr val="3366FF"/>
              </a:buClr>
              <a:buSzPct val="85000"/>
              <a:buFont typeface="Wingdings" panose="05000000000000000000" pitchFamily="2" charset="2"/>
              <a:buAutoNum type="arabicPeriod"/>
            </a:pPr>
            <a:r>
              <a:rPr lang="zh-CN" altLang="en-US" sz="2800">
                <a:latin typeface="Arial Narrow" panose="020B0606020202030204" pitchFamily="34" charset="0"/>
              </a:rPr>
              <a:t>恢复待运行任务</a:t>
            </a:r>
            <a:r>
              <a:rPr lang="en-US" altLang="zh-CN" sz="2400">
                <a:latin typeface="Arial Narrow" panose="020B0606020202030204" pitchFamily="34" charset="0"/>
              </a:rPr>
              <a:t>CPU</a:t>
            </a:r>
            <a:r>
              <a:rPr lang="zh-CN" altLang="en-US" sz="2800">
                <a:latin typeface="Arial Narrow" panose="020B0606020202030204" pitchFamily="34" charset="0"/>
              </a:rPr>
              <a:t>现场（不包含</a:t>
            </a:r>
            <a:r>
              <a:rPr lang="en-US" altLang="zh-CN" sz="2400">
                <a:latin typeface="Arial Narrow" panose="020B0606020202030204" pitchFamily="34" charset="0"/>
              </a:rPr>
              <a:t>PC</a:t>
            </a:r>
            <a:r>
              <a:rPr lang="zh-CN" altLang="en-US" sz="2800">
                <a:latin typeface="Arial Narrow" panose="020B0606020202030204" pitchFamily="34" charset="0"/>
              </a:rPr>
              <a:t>）</a:t>
            </a:r>
          </a:p>
          <a:p>
            <a:pPr eaLnBrk="1" hangingPunct="1">
              <a:buClr>
                <a:srgbClr val="3366FF"/>
              </a:buClr>
              <a:buSzPct val="85000"/>
              <a:buFont typeface="Wingdings" panose="05000000000000000000" pitchFamily="2" charset="2"/>
              <a:buAutoNum type="arabicPeriod"/>
            </a:pPr>
            <a:r>
              <a:rPr lang="zh-CN" altLang="en-US" sz="2800">
                <a:solidFill>
                  <a:srgbClr val="FF0066"/>
                </a:solidFill>
                <a:latin typeface="Arial Narrow" panose="020B0606020202030204" pitchFamily="34" charset="0"/>
              </a:rPr>
              <a:t>切换</a:t>
            </a:r>
            <a:r>
              <a:rPr lang="en-US" altLang="zh-CN" sz="2400">
                <a:solidFill>
                  <a:srgbClr val="FF0066"/>
                </a:solidFill>
                <a:latin typeface="Arial Narrow" panose="020B0606020202030204" pitchFamily="34" charset="0"/>
              </a:rPr>
              <a:t>CPU.PC</a:t>
            </a:r>
            <a:r>
              <a:rPr lang="en-US" altLang="zh-CN" sz="2800">
                <a:solidFill>
                  <a:srgbClr val="FF0066"/>
                </a:solidFill>
                <a:latin typeface="Arial Narrow" panose="020B0606020202030204" pitchFamily="34" charset="0"/>
              </a:rPr>
              <a:t> </a:t>
            </a:r>
            <a:r>
              <a:rPr lang="zh-CN" altLang="en-US" sz="2800">
                <a:solidFill>
                  <a:srgbClr val="FF0066"/>
                </a:solidFill>
                <a:latin typeface="Arial Narrow" panose="020B0606020202030204" pitchFamily="34" charset="0"/>
              </a:rPr>
              <a:t>，使</a:t>
            </a:r>
            <a:r>
              <a:rPr lang="en-US" altLang="zh-CN" sz="2400">
                <a:solidFill>
                  <a:srgbClr val="FF0066"/>
                </a:solidFill>
                <a:latin typeface="Arial Narrow" panose="020B0606020202030204" pitchFamily="34" charset="0"/>
              </a:rPr>
              <a:t>CPU</a:t>
            </a:r>
            <a:r>
              <a:rPr lang="zh-CN" altLang="en-US" sz="2800">
                <a:solidFill>
                  <a:srgbClr val="FF0066"/>
                </a:solidFill>
                <a:latin typeface="Arial Narrow" panose="020B0606020202030204" pitchFamily="34" charset="0"/>
              </a:rPr>
              <a:t>接续运行待运行</a:t>
            </a:r>
            <a:r>
              <a:rPr lang="en-US" altLang="zh-CN" sz="2400">
                <a:solidFill>
                  <a:srgbClr val="FF0066"/>
                </a:solidFill>
                <a:latin typeface="Arial Narrow" panose="020B0606020202030204" pitchFamily="34" charset="0"/>
              </a:rPr>
              <a:t>Task</a:t>
            </a:r>
            <a:r>
              <a:rPr lang="zh-CN" altLang="en-US" sz="2800">
                <a:solidFill>
                  <a:srgbClr val="FF0066"/>
                </a:solidFill>
                <a:latin typeface="Arial Narrow" panose="020B0606020202030204" pitchFamily="34" charset="0"/>
              </a:rPr>
              <a:t>断点。</a:t>
            </a:r>
          </a:p>
        </p:txBody>
      </p:sp>
      <p:sp>
        <p:nvSpPr>
          <p:cNvPr id="86024" name="Text Box 8">
            <a:extLst>
              <a:ext uri="{FF2B5EF4-FFF2-40B4-BE49-F238E27FC236}">
                <a16:creationId xmlns:a16="http://schemas.microsoft.com/office/drawing/2014/main" id="{E7335E4F-F810-4C87-AAFD-B89263FDE032}"/>
              </a:ext>
            </a:extLst>
          </p:cNvPr>
          <p:cNvSpPr txBox="1">
            <a:spLocks noChangeArrowheads="1"/>
          </p:cNvSpPr>
          <p:nvPr/>
        </p:nvSpPr>
        <p:spPr bwMode="auto">
          <a:xfrm>
            <a:off x="755650" y="5734050"/>
            <a:ext cx="784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9138" indent="-7191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a:solidFill>
                  <a:srgbClr val="3399FF"/>
                </a:solidFill>
              </a:rPr>
              <a:t>备注：</a:t>
            </a:r>
            <a:r>
              <a:rPr lang="en-US" altLang="zh-CN" sz="2000">
                <a:solidFill>
                  <a:srgbClr val="3399FF"/>
                </a:solidFill>
              </a:rPr>
              <a:t>Step1 --- </a:t>
            </a:r>
            <a:r>
              <a:rPr lang="zh-CN" altLang="en-US" sz="2000">
                <a:solidFill>
                  <a:srgbClr val="3399FF"/>
                </a:solidFill>
              </a:rPr>
              <a:t>中断方式保护；</a:t>
            </a:r>
            <a:r>
              <a:rPr lang="en-US" altLang="zh-CN" sz="2000">
                <a:solidFill>
                  <a:srgbClr val="3399FF"/>
                </a:solidFill>
              </a:rPr>
              <a:t>Step7 --- IRET</a:t>
            </a:r>
            <a:r>
              <a:rPr lang="zh-CN" altLang="en-US" sz="2000">
                <a:solidFill>
                  <a:srgbClr val="3399FF"/>
                </a:solidFill>
              </a:rPr>
              <a:t>指令恢复</a:t>
            </a:r>
            <a:r>
              <a:rPr lang="en-US" altLang="zh-CN" sz="2000">
                <a:solidFill>
                  <a:srgbClr val="3399FF"/>
                </a:solidFill>
              </a:rPr>
              <a:t>PC</a:t>
            </a:r>
            <a:r>
              <a:rPr lang="zh-CN" altLang="en-US" sz="2000">
                <a:solidFill>
                  <a:srgbClr val="3399FF"/>
                </a:solidFill>
              </a:rPr>
              <a:t>；汇编语言编程</a:t>
            </a:r>
            <a:r>
              <a:rPr lang="en-US" altLang="zh-CN" sz="2000">
                <a:solidFill>
                  <a:srgbClr val="3399FF"/>
                </a:solidFill>
              </a:rPr>
              <a:t>OS_TASK_SW( ) --- </a:t>
            </a:r>
            <a:r>
              <a:rPr lang="zh-CN" altLang="en-US" sz="2000">
                <a:solidFill>
                  <a:srgbClr val="3399FF"/>
                </a:solidFill>
              </a:rPr>
              <a:t>直接操作寄存器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6024"/>
                                        </p:tgtEl>
                                        <p:attrNameLst>
                                          <p:attrName>style.visibility</p:attrName>
                                        </p:attrNameLst>
                                      </p:cBhvr>
                                      <p:to>
                                        <p:strVal val="visible"/>
                                      </p:to>
                                    </p:set>
                                    <p:animEffect transition="in" filter="blinds(horizontal)">
                                      <p:cBhvr>
                                        <p:cTn id="7" dur="500"/>
                                        <p:tgtEl>
                                          <p:spTgt spid="86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3">
            <a:extLst>
              <a:ext uri="{FF2B5EF4-FFF2-40B4-BE49-F238E27FC236}">
                <a16:creationId xmlns:a16="http://schemas.microsoft.com/office/drawing/2014/main" id="{BDB0A3E5-6849-0DC3-3CAF-F206DF1B12D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4515" name="灯片编号占位符 4">
            <a:extLst>
              <a:ext uri="{FF2B5EF4-FFF2-40B4-BE49-F238E27FC236}">
                <a16:creationId xmlns:a16="http://schemas.microsoft.com/office/drawing/2014/main" id="{9A5AF833-99E6-BD91-79DA-18E7CA4DB9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6DEA523-B780-4737-AB49-44B0FB1E67C7}" type="slidenum">
              <a:rPr lang="en-US" altLang="zh-CN" sz="1200" smtClean="0">
                <a:solidFill>
                  <a:srgbClr val="3366FF"/>
                </a:solidFill>
                <a:latin typeface="Arial Black" panose="020B0A04020102020204" pitchFamily="34" charset="0"/>
              </a:rPr>
              <a:pPr>
                <a:spcBef>
                  <a:spcPct val="0"/>
                </a:spcBef>
                <a:buClrTx/>
                <a:buSzTx/>
                <a:buFontTx/>
                <a:buNone/>
              </a:pPr>
              <a:t>60</a:t>
            </a:fld>
            <a:endParaRPr lang="en-US" altLang="zh-CN" sz="1200">
              <a:solidFill>
                <a:srgbClr val="3366FF"/>
              </a:solidFill>
              <a:latin typeface="Arial Black" panose="020B0A04020102020204" pitchFamily="34" charset="0"/>
            </a:endParaRPr>
          </a:p>
        </p:txBody>
      </p:sp>
      <p:sp>
        <p:nvSpPr>
          <p:cNvPr id="64516" name="日期占位符 5">
            <a:extLst>
              <a:ext uri="{FF2B5EF4-FFF2-40B4-BE49-F238E27FC236}">
                <a16:creationId xmlns:a16="http://schemas.microsoft.com/office/drawing/2014/main" id="{B9B52601-A521-DC58-BB6A-33C72942A96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372B8A9-CED3-4555-A5EB-1CD1117A5D9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4517" name="Rectangle 2">
            <a:extLst>
              <a:ext uri="{FF2B5EF4-FFF2-40B4-BE49-F238E27FC236}">
                <a16:creationId xmlns:a16="http://schemas.microsoft.com/office/drawing/2014/main" id="{15CC1C7E-4451-3D68-1372-7DEC8323C161}"/>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64518" name="Rectangle 3">
            <a:extLst>
              <a:ext uri="{FF2B5EF4-FFF2-40B4-BE49-F238E27FC236}">
                <a16:creationId xmlns:a16="http://schemas.microsoft.com/office/drawing/2014/main" id="{70B243C7-6E9E-8F60-F90D-BCE7DFE8A3EF}"/>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rgbClr val="FF0000"/>
                </a:solidFill>
              </a:rPr>
              <a:t>5</a:t>
            </a:r>
            <a:r>
              <a:rPr lang="zh-CN" altLang="en-US">
                <a:solidFill>
                  <a:srgbClr val="FF0000"/>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1">
            <a:extLst>
              <a:ext uri="{FF2B5EF4-FFF2-40B4-BE49-F238E27FC236}">
                <a16:creationId xmlns:a16="http://schemas.microsoft.com/office/drawing/2014/main" id="{25C7DC9C-D919-D545-2E4C-D9A7A18534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5539" name="灯片编号占位符 2">
            <a:extLst>
              <a:ext uri="{FF2B5EF4-FFF2-40B4-BE49-F238E27FC236}">
                <a16:creationId xmlns:a16="http://schemas.microsoft.com/office/drawing/2014/main" id="{0BBBD559-51F1-089A-7053-A9742AFFF3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599C2A8-343C-4BAD-96D2-AD57803E93E2}" type="slidenum">
              <a:rPr lang="en-US" altLang="zh-CN" sz="1200" smtClean="0">
                <a:solidFill>
                  <a:srgbClr val="3366FF"/>
                </a:solidFill>
                <a:latin typeface="Arial Black" panose="020B0A04020102020204" pitchFamily="34" charset="0"/>
              </a:rPr>
              <a:pPr>
                <a:spcBef>
                  <a:spcPct val="0"/>
                </a:spcBef>
                <a:buClrTx/>
                <a:buSzTx/>
                <a:buFontTx/>
                <a:buNone/>
              </a:pPr>
              <a:t>61</a:t>
            </a:fld>
            <a:endParaRPr lang="en-US" altLang="zh-CN" sz="1200">
              <a:solidFill>
                <a:srgbClr val="3366FF"/>
              </a:solidFill>
              <a:latin typeface="Arial Black" panose="020B0A04020102020204" pitchFamily="34" charset="0"/>
            </a:endParaRPr>
          </a:p>
        </p:txBody>
      </p:sp>
      <p:sp>
        <p:nvSpPr>
          <p:cNvPr id="65540" name="日期占位符 3">
            <a:extLst>
              <a:ext uri="{FF2B5EF4-FFF2-40B4-BE49-F238E27FC236}">
                <a16:creationId xmlns:a16="http://schemas.microsoft.com/office/drawing/2014/main" id="{EDFF2D17-F5D3-9885-9E20-69F7923528A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ADA757F-A878-45B1-9DEC-33A7ECAFBEB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5541" name="Rectangle 2">
            <a:extLst>
              <a:ext uri="{FF2B5EF4-FFF2-40B4-BE49-F238E27FC236}">
                <a16:creationId xmlns:a16="http://schemas.microsoft.com/office/drawing/2014/main" id="{EDB811B0-7DA4-87A4-BB81-CC296E10306C}"/>
              </a:ext>
            </a:extLst>
          </p:cNvPr>
          <p:cNvSpPr>
            <a:spLocks noChangeArrowheads="1"/>
          </p:cNvSpPr>
          <p:nvPr/>
        </p:nvSpPr>
        <p:spPr bwMode="auto">
          <a:xfrm>
            <a:off x="446088" y="549275"/>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2.5  </a:t>
            </a:r>
            <a:r>
              <a:rPr lang="zh-CN" altLang="en-US" sz="3600">
                <a:solidFill>
                  <a:srgbClr val="080808"/>
                </a:solidFill>
              </a:rPr>
              <a:t>任务的创建</a:t>
            </a:r>
          </a:p>
        </p:txBody>
      </p:sp>
      <p:sp>
        <p:nvSpPr>
          <p:cNvPr id="65542" name="Text Box 3" descr="羊皮纸">
            <a:extLst>
              <a:ext uri="{FF2B5EF4-FFF2-40B4-BE49-F238E27FC236}">
                <a16:creationId xmlns:a16="http://schemas.microsoft.com/office/drawing/2014/main" id="{6CC4F5C7-F649-1382-9D00-5AE5A6DB1D33}"/>
              </a:ext>
            </a:extLst>
          </p:cNvPr>
          <p:cNvSpPr txBox="1">
            <a:spLocks noChangeArrowheads="1"/>
          </p:cNvSpPr>
          <p:nvPr/>
        </p:nvSpPr>
        <p:spPr bwMode="auto">
          <a:xfrm>
            <a:off x="684213" y="1360488"/>
            <a:ext cx="7777162"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2300" indent="-6223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3366FF"/>
              </a:buClr>
              <a:buSzPct val="95000"/>
              <a:buFont typeface="Wingdings" panose="05000000000000000000" pitchFamily="2" charset="2"/>
              <a:buNone/>
            </a:pPr>
            <a:r>
              <a:rPr lang="zh-CN" altLang="en-US" sz="2800"/>
              <a:t>任务的创建 </a:t>
            </a:r>
            <a:r>
              <a:rPr lang="en-US" altLang="zh-CN" sz="2800"/>
              <a:t>--- </a:t>
            </a:r>
            <a:r>
              <a:rPr lang="zh-CN" altLang="en-US" sz="2800"/>
              <a:t>创建该任务的</a:t>
            </a:r>
            <a:r>
              <a:rPr lang="en-US" altLang="zh-CN" sz="2800">
                <a:latin typeface="Arial Narrow" panose="020B0606020202030204" pitchFamily="34" charset="0"/>
              </a:rPr>
              <a:t>TCB</a:t>
            </a:r>
            <a:r>
              <a:rPr lang="zh-CN" altLang="en-US" sz="2800"/>
              <a:t>；在</a:t>
            </a:r>
            <a:r>
              <a:rPr lang="en-US" altLang="zh-CN" sz="2800">
                <a:latin typeface="Arial Narrow" panose="020B0606020202030204" pitchFamily="34" charset="0"/>
              </a:rPr>
              <a:t>TCB</a:t>
            </a:r>
            <a:r>
              <a:rPr lang="zh-CN" altLang="en-US" sz="2800"/>
              <a:t>中将该任务的</a:t>
            </a:r>
            <a:r>
              <a:rPr lang="en-US" altLang="zh-CN" sz="2800">
                <a:latin typeface="Arial Narrow" panose="020B0606020202030204" pitchFamily="34" charset="0"/>
              </a:rPr>
              <a:t>Code</a:t>
            </a:r>
            <a:r>
              <a:rPr lang="zh-CN" altLang="en-US" sz="2800">
                <a:latin typeface="Arial Narrow" panose="020B0606020202030204" pitchFamily="34" charset="0"/>
              </a:rPr>
              <a:t>、</a:t>
            </a:r>
            <a:r>
              <a:rPr lang="en-US" altLang="zh-CN" sz="2800">
                <a:latin typeface="Arial Narrow" panose="020B0606020202030204" pitchFamily="34" charset="0"/>
              </a:rPr>
              <a:t>Stack</a:t>
            </a:r>
            <a:r>
              <a:rPr lang="zh-CN" altLang="en-US" sz="2800"/>
              <a:t>关联起来和</a:t>
            </a:r>
            <a:r>
              <a:rPr lang="en-US" altLang="zh-CN" sz="2800">
                <a:latin typeface="Arial Narrow" panose="020B0606020202030204" pitchFamily="34" charset="0"/>
              </a:rPr>
              <a:t>TCB</a:t>
            </a:r>
            <a:r>
              <a:rPr lang="zh-CN" altLang="en-US" sz="2800"/>
              <a:t>共同构成</a:t>
            </a:r>
            <a:r>
              <a:rPr lang="en-US" altLang="zh-CN" sz="2800">
                <a:latin typeface="Arial Narrow" panose="020B0606020202030204" pitchFamily="34" charset="0"/>
              </a:rPr>
              <a:t>Task</a:t>
            </a:r>
            <a:r>
              <a:rPr lang="zh-CN" altLang="en-US" sz="2800"/>
              <a:t>。</a:t>
            </a:r>
          </a:p>
          <a:p>
            <a:pPr eaLnBrk="1" hangingPunct="1">
              <a:lnSpc>
                <a:spcPct val="110000"/>
              </a:lnSpc>
              <a:spcBef>
                <a:spcPct val="30000"/>
              </a:spcBef>
              <a:buClr>
                <a:srgbClr val="3366FF"/>
              </a:buClr>
              <a:buSzPct val="95000"/>
              <a:buFont typeface="Wingdings" panose="05000000000000000000" pitchFamily="2" charset="2"/>
              <a:buNone/>
            </a:pPr>
            <a:r>
              <a:rPr lang="en-US" altLang="zh-CN" sz="2800">
                <a:latin typeface="Arial Narrow" panose="020B0606020202030204" pitchFamily="34" charset="0"/>
              </a:rPr>
              <a:t>uC/OS-II</a:t>
            </a:r>
            <a:r>
              <a:rPr lang="zh-CN" altLang="en-US" sz="2800">
                <a:latin typeface="Arial Narrow" panose="020B0606020202030204" pitchFamily="34" charset="0"/>
              </a:rPr>
              <a:t>提供两个系统函数创建</a:t>
            </a:r>
            <a:r>
              <a:rPr lang="en-US" altLang="zh-CN" sz="2800">
                <a:latin typeface="Arial Narrow" panose="020B0606020202030204" pitchFamily="34" charset="0"/>
              </a:rPr>
              <a:t>Task </a:t>
            </a:r>
            <a:r>
              <a:rPr lang="zh-CN" altLang="en-US" sz="2800">
                <a:latin typeface="Arial Narrow" panose="020B0606020202030204" pitchFamily="34" charset="0"/>
              </a:rPr>
              <a:t>：</a:t>
            </a:r>
          </a:p>
        </p:txBody>
      </p:sp>
      <p:sp>
        <p:nvSpPr>
          <p:cNvPr id="65543" name="Text Box 6">
            <a:extLst>
              <a:ext uri="{FF2B5EF4-FFF2-40B4-BE49-F238E27FC236}">
                <a16:creationId xmlns:a16="http://schemas.microsoft.com/office/drawing/2014/main" id="{1F3BB5A0-B9C9-5E7E-B72E-8B86AC27F02D}"/>
              </a:ext>
            </a:extLst>
          </p:cNvPr>
          <p:cNvSpPr txBox="1">
            <a:spLocks noChangeArrowheads="1"/>
          </p:cNvSpPr>
          <p:nvPr/>
        </p:nvSpPr>
        <p:spPr bwMode="auto">
          <a:xfrm>
            <a:off x="1331913" y="3644900"/>
            <a:ext cx="68405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55000"/>
            </a:pPr>
            <a:r>
              <a:rPr lang="en-US" altLang="zh-CN" sz="2400"/>
              <a:t>OSTaskCreate( )</a:t>
            </a:r>
          </a:p>
          <a:p>
            <a:pPr eaLnBrk="1" hangingPunct="1">
              <a:spcBef>
                <a:spcPct val="50000"/>
              </a:spcBef>
              <a:buClr>
                <a:srgbClr val="3399FF"/>
              </a:buClr>
              <a:buSzPct val="55000"/>
            </a:pPr>
            <a:r>
              <a:rPr lang="en-US" altLang="zh-CN" sz="2400"/>
              <a:t>OSTaskCreateExt( )</a:t>
            </a:r>
          </a:p>
        </p:txBody>
      </p:sp>
      <p:sp>
        <p:nvSpPr>
          <p:cNvPr id="65544" name="Text Box 7" descr="羊皮纸">
            <a:extLst>
              <a:ext uri="{FF2B5EF4-FFF2-40B4-BE49-F238E27FC236}">
                <a16:creationId xmlns:a16="http://schemas.microsoft.com/office/drawing/2014/main" id="{80CB1FBC-9188-8B33-E873-99D7C446C95D}"/>
              </a:ext>
            </a:extLst>
          </p:cNvPr>
          <p:cNvSpPr txBox="1">
            <a:spLocks noChangeArrowheads="1"/>
          </p:cNvSpPr>
          <p:nvPr/>
        </p:nvSpPr>
        <p:spPr bwMode="auto">
          <a:xfrm>
            <a:off x="900113" y="4797425"/>
            <a:ext cx="7632700" cy="1370013"/>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7425" indent="-9874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备注：关于这两个函数的使用很简单，不再重复。</a:t>
            </a:r>
          </a:p>
          <a:p>
            <a:pPr eaLnBrk="1" hangingPunct="1">
              <a:spcBef>
                <a:spcPct val="50000"/>
              </a:spcBef>
              <a:buClrTx/>
              <a:buSzTx/>
              <a:buFontTx/>
              <a:buNone/>
            </a:pPr>
            <a:r>
              <a:rPr lang="zh-CN" altLang="en-US" sz="2400"/>
              <a:t>           创建</a:t>
            </a:r>
            <a:r>
              <a:rPr lang="en-US" altLang="zh-CN" sz="2400"/>
              <a:t>Task</a:t>
            </a:r>
            <a:r>
              <a:rPr lang="zh-CN" altLang="en-US" sz="2400"/>
              <a:t>时，要求注意核算</a:t>
            </a:r>
            <a:r>
              <a:rPr lang="en-US" altLang="zh-CN" sz="2400"/>
              <a:t>Task.Stack</a:t>
            </a:r>
            <a:r>
              <a:rPr lang="zh-CN" altLang="en-US" sz="2400"/>
              <a:t>的大小和核定</a:t>
            </a:r>
            <a:r>
              <a:rPr lang="en-US" altLang="zh-CN" sz="2400"/>
              <a:t>Task.Prio</a:t>
            </a:r>
            <a:r>
              <a:rPr lang="zh-CN" altLang="en-US" sz="2400"/>
              <a:t>必须保证不重复。</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1">
            <a:extLst>
              <a:ext uri="{FF2B5EF4-FFF2-40B4-BE49-F238E27FC236}">
                <a16:creationId xmlns:a16="http://schemas.microsoft.com/office/drawing/2014/main" id="{6982FD65-99A6-AA85-6CC1-D038C9CEA93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6563" name="灯片编号占位符 2">
            <a:extLst>
              <a:ext uri="{FF2B5EF4-FFF2-40B4-BE49-F238E27FC236}">
                <a16:creationId xmlns:a16="http://schemas.microsoft.com/office/drawing/2014/main" id="{D43ADDAC-B69B-20A9-77BC-E507FF96361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748BDB4-F065-48CC-98D9-FF42F46B4B0C}" type="slidenum">
              <a:rPr lang="en-US" altLang="zh-CN" sz="1200" smtClean="0">
                <a:solidFill>
                  <a:srgbClr val="3366FF"/>
                </a:solidFill>
                <a:latin typeface="Arial Black" panose="020B0A04020102020204" pitchFamily="34" charset="0"/>
              </a:rPr>
              <a:pPr>
                <a:spcBef>
                  <a:spcPct val="0"/>
                </a:spcBef>
                <a:buClrTx/>
                <a:buSzTx/>
                <a:buFontTx/>
                <a:buNone/>
              </a:pPr>
              <a:t>62</a:t>
            </a:fld>
            <a:endParaRPr lang="en-US" altLang="zh-CN" sz="1200">
              <a:solidFill>
                <a:srgbClr val="3366FF"/>
              </a:solidFill>
              <a:latin typeface="Arial Black" panose="020B0A04020102020204" pitchFamily="34" charset="0"/>
            </a:endParaRPr>
          </a:p>
        </p:txBody>
      </p:sp>
      <p:sp>
        <p:nvSpPr>
          <p:cNvPr id="66564" name="日期占位符 3">
            <a:extLst>
              <a:ext uri="{FF2B5EF4-FFF2-40B4-BE49-F238E27FC236}">
                <a16:creationId xmlns:a16="http://schemas.microsoft.com/office/drawing/2014/main" id="{F6EE9534-07C9-5451-108A-2BE18F6FD1F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D7E08A3-4B8B-42C4-BCF1-65DAE99A36F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6565" name="Rectangle 2">
            <a:extLst>
              <a:ext uri="{FF2B5EF4-FFF2-40B4-BE49-F238E27FC236}">
                <a16:creationId xmlns:a16="http://schemas.microsoft.com/office/drawing/2014/main" id="{4E812F2B-24AB-82CE-EF8F-FA9F7D7A0B96}"/>
              </a:ext>
            </a:extLst>
          </p:cNvPr>
          <p:cNvSpPr>
            <a:spLocks noChangeArrowheads="1"/>
          </p:cNvSpPr>
          <p:nvPr/>
        </p:nvSpPr>
        <p:spPr bwMode="auto">
          <a:xfrm>
            <a:off x="446088"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2.5  </a:t>
            </a:r>
            <a:r>
              <a:rPr lang="zh-CN" altLang="en-US" sz="3600">
                <a:solidFill>
                  <a:srgbClr val="080808"/>
                </a:solidFill>
              </a:rPr>
              <a:t>任务的创建</a:t>
            </a:r>
          </a:p>
        </p:txBody>
      </p:sp>
      <p:sp>
        <p:nvSpPr>
          <p:cNvPr id="66566" name="Text Box 4">
            <a:extLst>
              <a:ext uri="{FF2B5EF4-FFF2-40B4-BE49-F238E27FC236}">
                <a16:creationId xmlns:a16="http://schemas.microsoft.com/office/drawing/2014/main" id="{4DED3090-9F4C-720A-07B0-14F23C5883AE}"/>
              </a:ext>
            </a:extLst>
          </p:cNvPr>
          <p:cNvSpPr txBox="1">
            <a:spLocks noChangeArrowheads="1"/>
          </p:cNvSpPr>
          <p:nvPr/>
        </p:nvSpPr>
        <p:spPr bwMode="auto">
          <a:xfrm>
            <a:off x="611188" y="1830388"/>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创建任务的一般方法</a:t>
            </a:r>
          </a:p>
        </p:txBody>
      </p:sp>
      <p:sp>
        <p:nvSpPr>
          <p:cNvPr id="66567" name="Text Box 5" descr="羊皮纸">
            <a:extLst>
              <a:ext uri="{FF2B5EF4-FFF2-40B4-BE49-F238E27FC236}">
                <a16:creationId xmlns:a16="http://schemas.microsoft.com/office/drawing/2014/main" id="{52B6C09A-E9F7-FD53-3419-9818DA58B473}"/>
              </a:ext>
            </a:extLst>
          </p:cNvPr>
          <p:cNvSpPr txBox="1">
            <a:spLocks noChangeArrowheads="1"/>
          </p:cNvSpPr>
          <p:nvPr/>
        </p:nvSpPr>
        <p:spPr bwMode="auto">
          <a:xfrm>
            <a:off x="1044575" y="2652713"/>
            <a:ext cx="69119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FF9900"/>
              </a:buClr>
              <a:buSzPct val="70000"/>
              <a:buFont typeface="Wingdings" panose="05000000000000000000" pitchFamily="2" charset="2"/>
              <a:buChar char="Ø"/>
            </a:pPr>
            <a:r>
              <a:rPr lang="en-US" altLang="zh-CN" sz="2400"/>
              <a:t>Task </a:t>
            </a:r>
            <a:r>
              <a:rPr lang="zh-CN" altLang="en-US" sz="2400"/>
              <a:t>可在主函数 </a:t>
            </a:r>
            <a:r>
              <a:rPr lang="en-US" altLang="zh-CN" sz="2400"/>
              <a:t>main( ) </a:t>
            </a:r>
            <a:r>
              <a:rPr lang="zh-CN" altLang="en-US" sz="2400"/>
              <a:t>中操作系统调度启动（</a:t>
            </a:r>
            <a:r>
              <a:rPr lang="en-US" altLang="zh-CN" sz="2400"/>
              <a:t>OSStart( )</a:t>
            </a:r>
            <a:r>
              <a:rPr lang="zh-CN" altLang="en-US" sz="2400"/>
              <a:t>）前创建。</a:t>
            </a:r>
          </a:p>
          <a:p>
            <a:pPr eaLnBrk="1" hangingPunct="1">
              <a:spcBef>
                <a:spcPct val="50000"/>
              </a:spcBef>
              <a:buClr>
                <a:srgbClr val="FF9900"/>
              </a:buClr>
              <a:buSzPct val="70000"/>
              <a:buFont typeface="Wingdings" panose="05000000000000000000" pitchFamily="2" charset="2"/>
              <a:buChar char="Ø"/>
            </a:pPr>
            <a:r>
              <a:rPr lang="zh-CN" altLang="en-US" sz="2400"/>
              <a:t>也可在</a:t>
            </a:r>
            <a:r>
              <a:rPr lang="en-US" altLang="zh-CN" sz="2400"/>
              <a:t>Task</a:t>
            </a:r>
            <a:r>
              <a:rPr lang="zh-CN" altLang="en-US" sz="2400"/>
              <a:t>中创建其他的</a:t>
            </a:r>
            <a:r>
              <a:rPr lang="en-US" altLang="zh-CN" sz="2400"/>
              <a:t>Task</a:t>
            </a:r>
            <a:r>
              <a:rPr lang="zh-CN" altLang="en-US" sz="2400"/>
              <a:t>，应用中习惯使用此结构。</a:t>
            </a:r>
          </a:p>
          <a:p>
            <a:pPr eaLnBrk="1" hangingPunct="1">
              <a:spcBef>
                <a:spcPct val="50000"/>
              </a:spcBef>
              <a:buClr>
                <a:srgbClr val="FF9900"/>
              </a:buClr>
              <a:buSzPct val="70000"/>
              <a:buFont typeface="Wingdings" panose="05000000000000000000" pitchFamily="2" charset="2"/>
              <a:buChar char="Ø"/>
            </a:pPr>
            <a:r>
              <a:rPr lang="en-US" altLang="zh-CN" sz="2400"/>
              <a:t>uC/OS-II</a:t>
            </a:r>
            <a:r>
              <a:rPr lang="zh-CN" altLang="en-US" sz="2400"/>
              <a:t>要求：在</a:t>
            </a:r>
            <a:r>
              <a:rPr lang="en-US" altLang="zh-CN" sz="2400"/>
              <a:t>OSStart( )</a:t>
            </a:r>
            <a:r>
              <a:rPr lang="zh-CN" altLang="en-US" sz="2400"/>
              <a:t>前，必须至少创建一个用户</a:t>
            </a:r>
            <a:r>
              <a:rPr lang="en-US" altLang="zh-CN" sz="2400"/>
              <a:t>Task</a:t>
            </a:r>
            <a:r>
              <a:rPr lang="zh-CN" altLang="en-US" sz="2400"/>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1">
            <a:extLst>
              <a:ext uri="{FF2B5EF4-FFF2-40B4-BE49-F238E27FC236}">
                <a16:creationId xmlns:a16="http://schemas.microsoft.com/office/drawing/2014/main" id="{433F003C-CAB2-30B4-4FEA-94EFD3B7C42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7587" name="灯片编号占位符 2">
            <a:extLst>
              <a:ext uri="{FF2B5EF4-FFF2-40B4-BE49-F238E27FC236}">
                <a16:creationId xmlns:a16="http://schemas.microsoft.com/office/drawing/2014/main" id="{2EBCBBF1-8E6C-502C-B053-A6014E863E9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BE37ED8-98CA-49B2-A1E0-5F62C7ACA2B0}" type="slidenum">
              <a:rPr lang="en-US" altLang="zh-CN" sz="1200" smtClean="0">
                <a:solidFill>
                  <a:srgbClr val="3366FF"/>
                </a:solidFill>
                <a:latin typeface="Arial Black" panose="020B0A04020102020204" pitchFamily="34" charset="0"/>
              </a:rPr>
              <a:pPr>
                <a:spcBef>
                  <a:spcPct val="0"/>
                </a:spcBef>
                <a:buClrTx/>
                <a:buSzTx/>
                <a:buFontTx/>
                <a:buNone/>
              </a:pPr>
              <a:t>63</a:t>
            </a:fld>
            <a:endParaRPr lang="en-US" altLang="zh-CN" sz="1200">
              <a:solidFill>
                <a:srgbClr val="3366FF"/>
              </a:solidFill>
              <a:latin typeface="Arial Black" panose="020B0A04020102020204" pitchFamily="34" charset="0"/>
            </a:endParaRPr>
          </a:p>
        </p:txBody>
      </p:sp>
      <p:sp>
        <p:nvSpPr>
          <p:cNvPr id="67588" name="日期占位符 3">
            <a:extLst>
              <a:ext uri="{FF2B5EF4-FFF2-40B4-BE49-F238E27FC236}">
                <a16:creationId xmlns:a16="http://schemas.microsoft.com/office/drawing/2014/main" id="{DD8DDC07-7585-5587-996B-B8D20DC633D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BC5DDA9-49F9-41F7-B967-F436369EB7A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7589" name="Rectangle 2">
            <a:extLst>
              <a:ext uri="{FF2B5EF4-FFF2-40B4-BE49-F238E27FC236}">
                <a16:creationId xmlns:a16="http://schemas.microsoft.com/office/drawing/2014/main" id="{9A90216B-F5F2-203D-7CC5-F31A22F85157}"/>
              </a:ext>
            </a:extLst>
          </p:cNvPr>
          <p:cNvSpPr>
            <a:spLocks noChangeArrowheads="1"/>
          </p:cNvSpPr>
          <p:nvPr/>
        </p:nvSpPr>
        <p:spPr bwMode="auto">
          <a:xfrm>
            <a:off x="446088" y="47625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2.5  </a:t>
            </a:r>
            <a:r>
              <a:rPr lang="zh-CN" altLang="en-US" sz="3600">
                <a:solidFill>
                  <a:srgbClr val="080808"/>
                </a:solidFill>
              </a:rPr>
              <a:t>任务的创建</a:t>
            </a:r>
          </a:p>
        </p:txBody>
      </p:sp>
      <p:sp>
        <p:nvSpPr>
          <p:cNvPr id="67590" name="Text Box 3">
            <a:extLst>
              <a:ext uri="{FF2B5EF4-FFF2-40B4-BE49-F238E27FC236}">
                <a16:creationId xmlns:a16="http://schemas.microsoft.com/office/drawing/2014/main" id="{2E7A9080-9A3C-3788-914B-1843C15AF968}"/>
              </a:ext>
            </a:extLst>
          </p:cNvPr>
          <p:cNvSpPr txBox="1">
            <a:spLocks noChangeArrowheads="1"/>
          </p:cNvSpPr>
          <p:nvPr/>
        </p:nvSpPr>
        <p:spPr bwMode="auto">
          <a:xfrm>
            <a:off x="611188" y="1196975"/>
            <a:ext cx="6840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创建任务的示意代码</a:t>
            </a:r>
          </a:p>
        </p:txBody>
      </p:sp>
      <p:sp>
        <p:nvSpPr>
          <p:cNvPr id="67591" name="Text Box 4" descr="羊皮纸">
            <a:extLst>
              <a:ext uri="{FF2B5EF4-FFF2-40B4-BE49-F238E27FC236}">
                <a16:creationId xmlns:a16="http://schemas.microsoft.com/office/drawing/2014/main" id="{CBD8560D-C9E2-BE3C-1BBD-167E96DEA079}"/>
              </a:ext>
            </a:extLst>
          </p:cNvPr>
          <p:cNvSpPr txBox="1">
            <a:spLocks noChangeArrowheads="1"/>
          </p:cNvSpPr>
          <p:nvPr/>
        </p:nvSpPr>
        <p:spPr bwMode="auto">
          <a:xfrm>
            <a:off x="900113" y="1773238"/>
            <a:ext cx="6911975"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9900"/>
              </a:buClr>
              <a:buSzPct val="70000"/>
              <a:buFont typeface="Wingdings" panose="05000000000000000000" pitchFamily="2" charset="2"/>
              <a:buNone/>
            </a:pPr>
            <a:r>
              <a:rPr lang="en-US" altLang="zh-CN" sz="1700"/>
              <a:t>void main( )</a:t>
            </a:r>
          </a:p>
          <a:p>
            <a:pPr eaLnBrk="1" hangingPunct="1">
              <a:spcBef>
                <a:spcPct val="0"/>
              </a:spcBef>
              <a:buClr>
                <a:srgbClr val="FF9900"/>
              </a:buClr>
              <a:buSzPct val="70000"/>
              <a:buFont typeface="Wingdings" panose="05000000000000000000" pitchFamily="2" charset="2"/>
              <a:buNone/>
            </a:pPr>
            <a:r>
              <a:rPr lang="en-US" altLang="zh-CN" sz="1700"/>
              <a:t>{ </a:t>
            </a:r>
          </a:p>
          <a:p>
            <a:pPr eaLnBrk="1" hangingPunct="1">
              <a:spcBef>
                <a:spcPct val="0"/>
              </a:spcBef>
              <a:buClr>
                <a:srgbClr val="FF9900"/>
              </a:buClr>
              <a:buSzPct val="70000"/>
              <a:buFont typeface="Wingdings" panose="05000000000000000000" pitchFamily="2" charset="2"/>
              <a:buNone/>
            </a:pPr>
            <a:r>
              <a:rPr lang="en-US" altLang="zh-CN" sz="1700"/>
              <a:t>	… …				</a:t>
            </a:r>
            <a:r>
              <a:rPr lang="en-US" altLang="zh-CN" sz="1700" i="1">
                <a:solidFill>
                  <a:srgbClr val="6699FF"/>
                </a:solidFill>
              </a:rPr>
              <a:t>//</a:t>
            </a:r>
            <a:r>
              <a:rPr lang="zh-CN" altLang="en-US" sz="1700" i="1">
                <a:solidFill>
                  <a:srgbClr val="6699FF"/>
                </a:solidFill>
              </a:rPr>
              <a:t>主要是系统硬件初始化</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OSInit( );			</a:t>
            </a:r>
            <a:r>
              <a:rPr lang="en-US" altLang="zh-CN" sz="1700" i="1">
                <a:solidFill>
                  <a:srgbClr val="6699FF"/>
                </a:solidFill>
              </a:rPr>
              <a:t>// uC/OS-II </a:t>
            </a:r>
            <a:r>
              <a:rPr lang="zh-CN" altLang="en-US" sz="1700" i="1">
                <a:solidFill>
                  <a:srgbClr val="6699FF"/>
                </a:solidFill>
              </a:rPr>
              <a:t>初始化</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 …				</a:t>
            </a:r>
            <a:r>
              <a:rPr lang="en-US" altLang="zh-CN" sz="1700" i="1">
                <a:solidFill>
                  <a:srgbClr val="6699FF"/>
                </a:solidFill>
              </a:rPr>
              <a:t>//</a:t>
            </a:r>
            <a:r>
              <a:rPr lang="zh-CN" altLang="en-US" sz="1700" i="1">
                <a:solidFill>
                  <a:srgbClr val="6699FF"/>
                </a:solidFill>
              </a:rPr>
              <a:t>创建消息机制</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OSTaskCreate(Task_A,……);   	</a:t>
            </a:r>
            <a:r>
              <a:rPr lang="en-US" altLang="zh-CN" sz="1700" i="1">
                <a:solidFill>
                  <a:srgbClr val="6699FF"/>
                </a:solidFill>
              </a:rPr>
              <a:t>// </a:t>
            </a:r>
            <a:r>
              <a:rPr lang="zh-CN" altLang="en-US" sz="1700" i="1">
                <a:solidFill>
                  <a:srgbClr val="6699FF"/>
                </a:solidFill>
              </a:rPr>
              <a:t>创建任务</a:t>
            </a:r>
            <a:r>
              <a:rPr lang="en-US" altLang="zh-CN" sz="1700" i="1">
                <a:solidFill>
                  <a:srgbClr val="6699FF"/>
                </a:solidFill>
              </a:rPr>
              <a:t>A</a:t>
            </a:r>
          </a:p>
          <a:p>
            <a:pPr eaLnBrk="1" hangingPunct="1">
              <a:spcBef>
                <a:spcPct val="0"/>
              </a:spcBef>
              <a:buClr>
                <a:srgbClr val="FF9900"/>
              </a:buClr>
              <a:buSzPct val="70000"/>
              <a:buFont typeface="Wingdings" panose="05000000000000000000" pitchFamily="2" charset="2"/>
              <a:buNone/>
            </a:pPr>
            <a:r>
              <a:rPr lang="en-US" altLang="zh-CN" sz="1700"/>
              <a:t>	OSStart( );			</a:t>
            </a:r>
            <a:r>
              <a:rPr lang="en-US" altLang="zh-CN" sz="1700" i="1">
                <a:solidFill>
                  <a:srgbClr val="6699FF"/>
                </a:solidFill>
              </a:rPr>
              <a:t>// </a:t>
            </a:r>
            <a:r>
              <a:rPr lang="zh-CN" altLang="en-US" sz="1700" i="1">
                <a:solidFill>
                  <a:srgbClr val="6699FF"/>
                </a:solidFill>
              </a:rPr>
              <a:t>启动多任务调动</a:t>
            </a:r>
          </a:p>
          <a:p>
            <a:pPr eaLnBrk="1" hangingPunct="1">
              <a:spcBef>
                <a:spcPct val="0"/>
              </a:spcBef>
              <a:buClr>
                <a:srgbClr val="FF9900"/>
              </a:buClr>
              <a:buSzPct val="70000"/>
              <a:buFont typeface="Wingdings" panose="05000000000000000000" pitchFamily="2" charset="2"/>
              <a:buNone/>
            </a:pPr>
            <a:r>
              <a:rPr lang="en-US" altLang="zh-CN" sz="1700"/>
              <a:t>}</a:t>
            </a:r>
          </a:p>
          <a:p>
            <a:pPr eaLnBrk="1" hangingPunct="1">
              <a:spcBef>
                <a:spcPct val="0"/>
              </a:spcBef>
              <a:buClr>
                <a:srgbClr val="FF9900"/>
              </a:buClr>
              <a:buSzPct val="70000"/>
              <a:buFont typeface="Wingdings" panose="05000000000000000000" pitchFamily="2" charset="2"/>
              <a:buNone/>
            </a:pPr>
            <a:r>
              <a:rPr lang="en-US" altLang="zh-CN" sz="1700"/>
              <a:t>void Task_A(void * pdata)	</a:t>
            </a:r>
            <a:r>
              <a:rPr lang="en-US" altLang="zh-CN" sz="1700" i="1">
                <a:solidFill>
                  <a:srgbClr val="6699FF"/>
                </a:solidFill>
              </a:rPr>
              <a:t>//</a:t>
            </a:r>
            <a:r>
              <a:rPr lang="zh-CN" altLang="en-US" sz="1700" i="1">
                <a:solidFill>
                  <a:srgbClr val="6699FF"/>
                </a:solidFill>
              </a:rPr>
              <a:t>任务</a:t>
            </a:r>
            <a:r>
              <a:rPr lang="en-US" altLang="zh-CN" sz="1700" i="1">
                <a:solidFill>
                  <a:srgbClr val="6699FF"/>
                </a:solidFill>
              </a:rPr>
              <a:t>A</a:t>
            </a:r>
          </a:p>
          <a:p>
            <a:pPr eaLnBrk="1" hangingPunct="1">
              <a:spcBef>
                <a:spcPct val="0"/>
              </a:spcBef>
              <a:buClr>
                <a:srgbClr val="FF9900"/>
              </a:buClr>
              <a:buSzPct val="70000"/>
              <a:buFont typeface="Wingdings" panose="05000000000000000000" pitchFamily="2" charset="2"/>
              <a:buNone/>
            </a:pPr>
            <a:r>
              <a:rPr lang="en-US" altLang="zh-CN" sz="1700"/>
              <a:t>{</a:t>
            </a:r>
          </a:p>
          <a:p>
            <a:pPr eaLnBrk="1" hangingPunct="1">
              <a:spcBef>
                <a:spcPct val="0"/>
              </a:spcBef>
              <a:buClr>
                <a:srgbClr val="FF9900"/>
              </a:buClr>
              <a:buSzPct val="70000"/>
              <a:buFont typeface="Wingdings" panose="05000000000000000000" pitchFamily="2" charset="2"/>
              <a:buNone/>
            </a:pPr>
            <a:r>
              <a:rPr lang="en-US" altLang="zh-CN" sz="1700"/>
              <a:t>	……			</a:t>
            </a:r>
            <a:r>
              <a:rPr lang="en-US" altLang="zh-CN" sz="1700" i="1">
                <a:solidFill>
                  <a:srgbClr val="6699FF"/>
                </a:solidFill>
              </a:rPr>
              <a:t>// </a:t>
            </a:r>
            <a:r>
              <a:rPr lang="zh-CN" altLang="en-US" sz="1700" i="1">
                <a:solidFill>
                  <a:srgbClr val="6699FF"/>
                </a:solidFill>
              </a:rPr>
              <a:t>安装并启动 </a:t>
            </a:r>
            <a:r>
              <a:rPr lang="en-US" altLang="zh-CN" sz="1700" i="1">
                <a:solidFill>
                  <a:srgbClr val="6699FF"/>
                </a:solidFill>
              </a:rPr>
              <a:t>uC/OS-II </a:t>
            </a:r>
            <a:r>
              <a:rPr lang="zh-CN" altLang="en-US" sz="1700" i="1">
                <a:solidFill>
                  <a:srgbClr val="6699FF"/>
                </a:solidFill>
              </a:rPr>
              <a:t>系统时钟</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OSStatInit( );		</a:t>
            </a:r>
            <a:r>
              <a:rPr lang="en-US" altLang="zh-CN" sz="1700" i="1">
                <a:solidFill>
                  <a:srgbClr val="6699FF"/>
                </a:solidFill>
              </a:rPr>
              <a:t>// </a:t>
            </a:r>
            <a:r>
              <a:rPr lang="zh-CN" altLang="en-US" sz="1700" i="1">
                <a:solidFill>
                  <a:srgbClr val="6699FF"/>
                </a:solidFill>
              </a:rPr>
              <a:t>初始化统计任务（如果需要的话）</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			</a:t>
            </a:r>
            <a:r>
              <a:rPr lang="en-US" altLang="zh-CN" sz="1700" i="1">
                <a:solidFill>
                  <a:srgbClr val="6699FF"/>
                </a:solidFill>
              </a:rPr>
              <a:t>// </a:t>
            </a:r>
            <a:r>
              <a:rPr lang="zh-CN" altLang="en-US" sz="1700" i="1">
                <a:solidFill>
                  <a:srgbClr val="6699FF"/>
                </a:solidFill>
              </a:rPr>
              <a:t>在此处可以创建其他任务</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For ( ; ; )		</a:t>
            </a:r>
            <a:r>
              <a:rPr lang="en-US" altLang="zh-CN" sz="1700" i="1">
                <a:solidFill>
                  <a:srgbClr val="6699FF"/>
                </a:solidFill>
              </a:rPr>
              <a:t>// Task_A </a:t>
            </a:r>
            <a:r>
              <a:rPr lang="zh-CN" altLang="en-US" sz="1700" i="1">
                <a:solidFill>
                  <a:srgbClr val="6699FF"/>
                </a:solidFill>
              </a:rPr>
              <a:t>任务体</a:t>
            </a:r>
          </a:p>
          <a:p>
            <a:pPr eaLnBrk="1" hangingPunct="1">
              <a:spcBef>
                <a:spcPct val="0"/>
              </a:spcBef>
              <a:buClr>
                <a:srgbClr val="FF9900"/>
              </a:buClr>
              <a:buSzPct val="70000"/>
              <a:buFont typeface="Wingdings" panose="05000000000000000000" pitchFamily="2" charset="2"/>
              <a:buNone/>
            </a:pPr>
            <a:r>
              <a:rPr lang="zh-CN" altLang="en-US" sz="1700"/>
              <a:t>	</a:t>
            </a:r>
            <a:r>
              <a:rPr lang="en-US" altLang="zh-CN" sz="1700"/>
              <a:t>{</a:t>
            </a:r>
          </a:p>
          <a:p>
            <a:pPr eaLnBrk="1" hangingPunct="1">
              <a:spcBef>
                <a:spcPct val="0"/>
              </a:spcBef>
              <a:buClr>
                <a:srgbClr val="FF9900"/>
              </a:buClr>
              <a:buSzPct val="70000"/>
              <a:buFont typeface="Wingdings" panose="05000000000000000000" pitchFamily="2" charset="2"/>
              <a:buNone/>
            </a:pPr>
            <a:r>
              <a:rPr lang="en-US" altLang="zh-CN" sz="1700"/>
              <a:t>		……</a:t>
            </a:r>
          </a:p>
          <a:p>
            <a:pPr eaLnBrk="1" hangingPunct="1">
              <a:spcBef>
                <a:spcPct val="0"/>
              </a:spcBef>
              <a:buClr>
                <a:srgbClr val="FF9900"/>
              </a:buClr>
              <a:buSzPct val="70000"/>
              <a:buFont typeface="Wingdings" panose="05000000000000000000" pitchFamily="2" charset="2"/>
              <a:buNone/>
            </a:pPr>
            <a:r>
              <a:rPr lang="en-US" altLang="zh-CN" sz="1700"/>
              <a:t>	}</a:t>
            </a:r>
          </a:p>
          <a:p>
            <a:pPr eaLnBrk="1" hangingPunct="1">
              <a:spcBef>
                <a:spcPct val="0"/>
              </a:spcBef>
              <a:buClr>
                <a:srgbClr val="FF9900"/>
              </a:buClr>
              <a:buSzPct val="70000"/>
              <a:buFont typeface="Wingdings" panose="05000000000000000000" pitchFamily="2" charset="2"/>
              <a:buNone/>
            </a:pPr>
            <a:r>
              <a:rPr lang="en-US" altLang="zh-CN" sz="1700"/>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1">
            <a:extLst>
              <a:ext uri="{FF2B5EF4-FFF2-40B4-BE49-F238E27FC236}">
                <a16:creationId xmlns:a16="http://schemas.microsoft.com/office/drawing/2014/main" id="{2F8F6472-55B9-9AFA-50F4-2B05A9577A3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8611" name="灯片编号占位符 2">
            <a:extLst>
              <a:ext uri="{FF2B5EF4-FFF2-40B4-BE49-F238E27FC236}">
                <a16:creationId xmlns:a16="http://schemas.microsoft.com/office/drawing/2014/main" id="{44E9BDC3-ED13-42C3-C7CD-29187FEB3D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23799E3-D33E-4573-9672-3E26B17C8A9E}" type="slidenum">
              <a:rPr lang="en-US" altLang="zh-CN" sz="1200" smtClean="0">
                <a:solidFill>
                  <a:srgbClr val="3366FF"/>
                </a:solidFill>
                <a:latin typeface="Arial Black" panose="020B0A04020102020204" pitchFamily="34" charset="0"/>
              </a:rPr>
              <a:pPr>
                <a:spcBef>
                  <a:spcPct val="0"/>
                </a:spcBef>
                <a:buClrTx/>
                <a:buSzTx/>
                <a:buFontTx/>
                <a:buNone/>
              </a:pPr>
              <a:t>64</a:t>
            </a:fld>
            <a:endParaRPr lang="en-US" altLang="zh-CN" sz="1200">
              <a:solidFill>
                <a:srgbClr val="3366FF"/>
              </a:solidFill>
              <a:latin typeface="Arial Black" panose="020B0A04020102020204" pitchFamily="34" charset="0"/>
            </a:endParaRPr>
          </a:p>
        </p:txBody>
      </p:sp>
      <p:sp>
        <p:nvSpPr>
          <p:cNvPr id="68612" name="日期占位符 3">
            <a:extLst>
              <a:ext uri="{FF2B5EF4-FFF2-40B4-BE49-F238E27FC236}">
                <a16:creationId xmlns:a16="http://schemas.microsoft.com/office/drawing/2014/main" id="{AF7EB4AE-68A4-70EC-12C7-695CCB1058A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8962B14-88A2-49B0-A5FC-5DE7DA2C501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8613" name="Text Box 4">
            <a:extLst>
              <a:ext uri="{FF2B5EF4-FFF2-40B4-BE49-F238E27FC236}">
                <a16:creationId xmlns:a16="http://schemas.microsoft.com/office/drawing/2014/main" id="{A72F0E95-0931-8A6D-F4F4-5F8165B1F366}"/>
              </a:ext>
            </a:extLst>
          </p:cNvPr>
          <p:cNvSpPr txBox="1">
            <a:spLocks noChangeArrowheads="1"/>
          </p:cNvSpPr>
          <p:nvPr/>
        </p:nvSpPr>
        <p:spPr bwMode="auto">
          <a:xfrm>
            <a:off x="468313" y="1773238"/>
            <a:ext cx="8280400" cy="347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Arial Narrow" panose="020B0606020202030204" pitchFamily="34" charset="0"/>
              </a:rPr>
              <a:t>两个延时函数的原型：</a:t>
            </a:r>
          </a:p>
          <a:p>
            <a:pPr eaLnBrk="1" hangingPunct="1">
              <a:spcBef>
                <a:spcPct val="50000"/>
              </a:spcBef>
              <a:buClrTx/>
              <a:buSzTx/>
              <a:buFontTx/>
              <a:buNone/>
            </a:pPr>
            <a:r>
              <a:rPr lang="en-US" altLang="zh-CN" sz="2400">
                <a:solidFill>
                  <a:srgbClr val="3333FF"/>
                </a:solidFill>
                <a:latin typeface="Arial Narrow" panose="020B0606020202030204" pitchFamily="34" charset="0"/>
              </a:rPr>
              <a:t>void  OSTimeDly( INT16U ticks )</a:t>
            </a:r>
            <a:r>
              <a:rPr lang="en-US" altLang="zh-CN" sz="1800">
                <a:solidFill>
                  <a:schemeClr val="accent2"/>
                </a:solidFill>
                <a:latin typeface="Arial Narrow" panose="020B0606020202030204" pitchFamily="34" charset="0"/>
              </a:rPr>
              <a:t>              /* ticks </a:t>
            </a:r>
            <a:r>
              <a:rPr lang="zh-CN" altLang="en-US" sz="1800">
                <a:solidFill>
                  <a:schemeClr val="accent2"/>
                </a:solidFill>
                <a:latin typeface="Arial Narrow" panose="020B0606020202030204" pitchFamily="34" charset="0"/>
              </a:rPr>
              <a:t>是节拍数 *</a:t>
            </a:r>
            <a:r>
              <a:rPr lang="en-US" altLang="zh-CN" sz="1800">
                <a:solidFill>
                  <a:schemeClr val="accent2"/>
                </a:solidFill>
                <a:latin typeface="Arial Narrow" panose="020B0606020202030204" pitchFamily="34" charset="0"/>
              </a:rPr>
              <a:t>/</a:t>
            </a:r>
          </a:p>
          <a:p>
            <a:pPr eaLnBrk="1" hangingPunct="1">
              <a:spcBef>
                <a:spcPct val="50000"/>
              </a:spcBef>
              <a:buClrTx/>
              <a:buSzTx/>
              <a:buFontTx/>
              <a:buNone/>
            </a:pPr>
            <a:r>
              <a:rPr lang="en-US" altLang="zh-CN" sz="2400">
                <a:solidFill>
                  <a:srgbClr val="3333FF"/>
                </a:solidFill>
                <a:latin typeface="Arial Narrow" panose="020B0606020202030204" pitchFamily="34" charset="0"/>
              </a:rPr>
              <a:t>INT8U  OSTimeDlyHMSM (INT8U hours, INT8U minutes, </a:t>
            </a:r>
          </a:p>
          <a:p>
            <a:pPr eaLnBrk="1" hangingPunct="1">
              <a:spcBef>
                <a:spcPct val="50000"/>
              </a:spcBef>
              <a:buClrTx/>
              <a:buSzTx/>
              <a:buFontTx/>
              <a:buNone/>
            </a:pPr>
            <a:r>
              <a:rPr lang="en-US" altLang="zh-CN" sz="2400">
                <a:solidFill>
                  <a:srgbClr val="3333FF"/>
                </a:solidFill>
                <a:latin typeface="Arial Narrow" panose="020B0606020202030204" pitchFamily="34" charset="0"/>
              </a:rPr>
              <a:t>             INT8U seconds, INT16U milli)   </a:t>
            </a:r>
            <a:r>
              <a:rPr lang="en-US" altLang="zh-CN" sz="1800">
                <a:solidFill>
                  <a:schemeClr val="accent2"/>
                </a:solidFill>
                <a:latin typeface="Arial Narrow" panose="020B0606020202030204" pitchFamily="34" charset="0"/>
              </a:rPr>
              <a:t>/* </a:t>
            </a:r>
            <a:r>
              <a:rPr lang="zh-CN" altLang="en-US" sz="1800">
                <a:solidFill>
                  <a:schemeClr val="accent2"/>
                </a:solidFill>
                <a:latin typeface="Arial Narrow" panose="020B0606020202030204" pitchFamily="34" charset="0"/>
              </a:rPr>
              <a:t>绝对时间延时，位于</a:t>
            </a:r>
            <a:r>
              <a:rPr lang="en-US" altLang="zh-CN" sz="1800">
                <a:solidFill>
                  <a:schemeClr val="accent2"/>
                </a:solidFill>
                <a:latin typeface="Arial Narrow" panose="020B0606020202030204" pitchFamily="34" charset="0"/>
              </a:rPr>
              <a:t>OS_TIME.C */</a:t>
            </a:r>
          </a:p>
          <a:p>
            <a:pPr eaLnBrk="1" hangingPunct="1">
              <a:spcBef>
                <a:spcPct val="50000"/>
              </a:spcBef>
              <a:buClrTx/>
              <a:buSzTx/>
              <a:buFontTx/>
              <a:buNone/>
            </a:pPr>
            <a:r>
              <a:rPr lang="zh-CN" altLang="en-US" sz="2000">
                <a:latin typeface="Arial Narrow" panose="020B0606020202030204" pitchFamily="34" charset="0"/>
              </a:rPr>
              <a:t>备注：	</a:t>
            </a:r>
            <a:r>
              <a:rPr lang="en-US" altLang="zh-CN" sz="2000">
                <a:latin typeface="Arial Narrow" panose="020B0606020202030204" pitchFamily="34" charset="0"/>
              </a:rPr>
              <a:t>1</a:t>
            </a:r>
            <a:r>
              <a:rPr lang="zh-CN" altLang="en-US" sz="2000">
                <a:latin typeface="Arial Narrow" panose="020B0606020202030204" pitchFamily="34" charset="0"/>
              </a:rPr>
              <a:t>、参数值域 </a:t>
            </a:r>
            <a:r>
              <a:rPr lang="en-US" altLang="zh-CN" sz="2000">
                <a:latin typeface="Arial Narrow" panose="020B0606020202030204" pitchFamily="34" charset="0"/>
              </a:rPr>
              <a:t>hours&lt;255, minutes&lt;59, seconds&lt;59, milli&lt;999</a:t>
            </a:r>
          </a:p>
          <a:p>
            <a:pPr eaLnBrk="1" hangingPunct="1">
              <a:spcBef>
                <a:spcPct val="50000"/>
              </a:spcBef>
              <a:buClrTx/>
              <a:buSzTx/>
              <a:buFontTx/>
              <a:buNone/>
            </a:pPr>
            <a:r>
              <a:rPr lang="en-US" altLang="zh-CN" sz="2000">
                <a:latin typeface="Arial Narrow" panose="020B0606020202030204" pitchFamily="34" charset="0"/>
              </a:rPr>
              <a:t>	2</a:t>
            </a:r>
            <a:r>
              <a:rPr lang="zh-CN" altLang="en-US" sz="2000">
                <a:latin typeface="Arial Narrow" panose="020B0606020202030204" pitchFamily="34" charset="0"/>
              </a:rPr>
              <a:t>、这两个系统函数定义在</a:t>
            </a:r>
            <a:r>
              <a:rPr lang="en-US" altLang="zh-CN" sz="2000">
                <a:latin typeface="Arial Narrow" panose="020B0606020202030204" pitchFamily="34" charset="0"/>
              </a:rPr>
              <a:t>OS_TIME.C</a:t>
            </a:r>
            <a:r>
              <a:rPr lang="zh-CN" altLang="en-US" sz="2000">
                <a:latin typeface="Arial Narrow" panose="020B0606020202030204" pitchFamily="34" charset="0"/>
              </a:rPr>
              <a:t>文件中。</a:t>
            </a:r>
          </a:p>
          <a:p>
            <a:pPr eaLnBrk="1" hangingPunct="1">
              <a:spcBef>
                <a:spcPct val="50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3</a:t>
            </a:r>
            <a:r>
              <a:rPr lang="zh-CN" altLang="en-US" sz="2000">
                <a:latin typeface="Arial Narrow" panose="020B0606020202030204" pitchFamily="34" charset="0"/>
              </a:rPr>
              <a:t>、关于节拍周期定义在</a:t>
            </a:r>
            <a:r>
              <a:rPr lang="en-US" altLang="zh-CN" sz="2000">
                <a:latin typeface="Arial Narrow" panose="020B0606020202030204" pitchFamily="34" charset="0"/>
              </a:rPr>
              <a:t>OS_CFG.H</a:t>
            </a:r>
            <a:r>
              <a:rPr lang="zh-CN" altLang="en-US" sz="2000">
                <a:latin typeface="Arial Narrow" panose="020B0606020202030204" pitchFamily="34" charset="0"/>
              </a:rPr>
              <a:t>文件中。</a:t>
            </a:r>
          </a:p>
        </p:txBody>
      </p:sp>
      <p:sp>
        <p:nvSpPr>
          <p:cNvPr id="68614" name="Text Box 5">
            <a:extLst>
              <a:ext uri="{FF2B5EF4-FFF2-40B4-BE49-F238E27FC236}">
                <a16:creationId xmlns:a16="http://schemas.microsoft.com/office/drawing/2014/main" id="{482EBFC0-A163-92B0-BF34-5E003F192AAF}"/>
              </a:ext>
            </a:extLst>
          </p:cNvPr>
          <p:cNvSpPr txBox="1">
            <a:spLocks noChangeArrowheads="1"/>
          </p:cNvSpPr>
          <p:nvPr/>
        </p:nvSpPr>
        <p:spPr bwMode="auto">
          <a:xfrm>
            <a:off x="323850" y="765175"/>
            <a:ext cx="568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补充：任务延时系统函数。</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3">
            <a:extLst>
              <a:ext uri="{FF2B5EF4-FFF2-40B4-BE49-F238E27FC236}">
                <a16:creationId xmlns:a16="http://schemas.microsoft.com/office/drawing/2014/main" id="{DFB09428-22B4-1D26-D516-96592C491FF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69635" name="灯片编号占位符 4">
            <a:extLst>
              <a:ext uri="{FF2B5EF4-FFF2-40B4-BE49-F238E27FC236}">
                <a16:creationId xmlns:a16="http://schemas.microsoft.com/office/drawing/2014/main" id="{682FF330-FF33-11D9-3B47-DF85755EEF1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789CB15-1948-4443-901E-B0F49D45BDF3}" type="slidenum">
              <a:rPr lang="en-US" altLang="zh-CN" sz="1200" smtClean="0">
                <a:solidFill>
                  <a:srgbClr val="3366FF"/>
                </a:solidFill>
                <a:latin typeface="Arial Black" panose="020B0A04020102020204" pitchFamily="34" charset="0"/>
              </a:rPr>
              <a:pPr>
                <a:spcBef>
                  <a:spcPct val="0"/>
                </a:spcBef>
                <a:buClrTx/>
                <a:buSzTx/>
                <a:buFontTx/>
                <a:buNone/>
              </a:pPr>
              <a:t>65</a:t>
            </a:fld>
            <a:endParaRPr lang="en-US" altLang="zh-CN" sz="1200">
              <a:solidFill>
                <a:srgbClr val="3366FF"/>
              </a:solidFill>
              <a:latin typeface="Arial Black" panose="020B0A04020102020204" pitchFamily="34" charset="0"/>
            </a:endParaRPr>
          </a:p>
        </p:txBody>
      </p:sp>
      <p:sp>
        <p:nvSpPr>
          <p:cNvPr id="69636" name="日期占位符 5">
            <a:extLst>
              <a:ext uri="{FF2B5EF4-FFF2-40B4-BE49-F238E27FC236}">
                <a16:creationId xmlns:a16="http://schemas.microsoft.com/office/drawing/2014/main" id="{509E6958-7B81-C34F-E441-DDF2BF23407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597BF95-9042-4C69-8969-D7738ED54F1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69637" name="Rectangle 2">
            <a:extLst>
              <a:ext uri="{FF2B5EF4-FFF2-40B4-BE49-F238E27FC236}">
                <a16:creationId xmlns:a16="http://schemas.microsoft.com/office/drawing/2014/main" id="{C22BD129-B391-69B9-3B94-162EA08C9F9C}"/>
              </a:ext>
            </a:extLst>
          </p:cNvPr>
          <p:cNvSpPr>
            <a:spLocks noGrp="1" noChangeArrowheads="1"/>
          </p:cNvSpPr>
          <p:nvPr>
            <p:ph type="title"/>
          </p:nvPr>
        </p:nvSpPr>
        <p:spPr>
          <a:xfrm>
            <a:off x="457200" y="889000"/>
            <a:ext cx="8229600" cy="668338"/>
          </a:xfrm>
        </p:spPr>
        <p:txBody>
          <a:bodyPr/>
          <a:lstStyle/>
          <a:p>
            <a:pPr eaLnBrk="1" hangingPunct="1"/>
            <a:r>
              <a:rPr lang="zh-CN" altLang="en-US" sz="4000"/>
              <a:t>实验</a:t>
            </a:r>
            <a:r>
              <a:rPr lang="en-US" altLang="zh-CN" sz="4000"/>
              <a:t>1</a:t>
            </a:r>
            <a:r>
              <a:rPr lang="zh-CN" altLang="en-US" sz="4000"/>
              <a:t>：</a:t>
            </a:r>
          </a:p>
        </p:txBody>
      </p:sp>
      <p:sp>
        <p:nvSpPr>
          <p:cNvPr id="69638" name="Rectangle 3">
            <a:extLst>
              <a:ext uri="{FF2B5EF4-FFF2-40B4-BE49-F238E27FC236}">
                <a16:creationId xmlns:a16="http://schemas.microsoft.com/office/drawing/2014/main" id="{1B2D79C8-23D3-81D6-870F-83B1637D159D}"/>
              </a:ext>
            </a:extLst>
          </p:cNvPr>
          <p:cNvSpPr>
            <a:spLocks noGrp="1" noChangeArrowheads="1"/>
          </p:cNvSpPr>
          <p:nvPr>
            <p:ph type="body" idx="1"/>
          </p:nvPr>
        </p:nvSpPr>
        <p:spPr>
          <a:xfrm>
            <a:off x="1042988" y="1701800"/>
            <a:ext cx="7416800" cy="1798638"/>
          </a:xfrm>
        </p:spPr>
        <p:txBody>
          <a:bodyPr/>
          <a:lstStyle/>
          <a:p>
            <a:pPr marL="0" indent="0" eaLnBrk="1" hangingPunct="1">
              <a:buFont typeface="Wingdings" panose="05000000000000000000" pitchFamily="2" charset="2"/>
              <a:buNone/>
            </a:pPr>
            <a:r>
              <a:rPr lang="zh-CN" altLang="en-US" sz="2800"/>
              <a:t>创建两个任务；</a:t>
            </a:r>
          </a:p>
          <a:p>
            <a:pPr marL="0" indent="0" eaLnBrk="1" hangingPunct="1">
              <a:buFont typeface="Wingdings" panose="05000000000000000000" pitchFamily="2" charset="2"/>
              <a:buNone/>
            </a:pPr>
            <a:r>
              <a:rPr lang="zh-CN" altLang="en-US" sz="2800">
                <a:latin typeface="Arial Narrow" panose="020B0606020202030204" pitchFamily="34" charset="0"/>
              </a:rPr>
              <a:t>     </a:t>
            </a:r>
            <a:r>
              <a:rPr lang="en-US" altLang="zh-CN" sz="2800">
                <a:latin typeface="Arial Narrow" panose="020B0606020202030204" pitchFamily="34" charset="0"/>
              </a:rPr>
              <a:t>Task_A  ----- </a:t>
            </a:r>
            <a:r>
              <a:rPr lang="zh-CN" altLang="en-US" sz="2800">
                <a:latin typeface="Arial Narrow" panose="020B0606020202030204" pitchFamily="34" charset="0"/>
              </a:rPr>
              <a:t>控制一位</a:t>
            </a:r>
            <a:r>
              <a:rPr lang="en-US" altLang="zh-CN" sz="2800">
                <a:latin typeface="Arial Narrow" panose="020B0606020202030204" pitchFamily="34" charset="0"/>
              </a:rPr>
              <a:t>LED</a:t>
            </a:r>
            <a:r>
              <a:rPr lang="zh-CN" altLang="en-US" sz="2800">
                <a:latin typeface="Arial Narrow" panose="020B0606020202030204" pitchFamily="34" charset="0"/>
              </a:rPr>
              <a:t>秒闪。</a:t>
            </a:r>
          </a:p>
          <a:p>
            <a:pPr marL="0" indent="0" eaLnBrk="1" hangingPunct="1">
              <a:buFont typeface="Wingdings" panose="05000000000000000000" pitchFamily="2" charset="2"/>
              <a:buNone/>
            </a:pPr>
            <a:r>
              <a:rPr lang="zh-CN" altLang="en-US" sz="2800">
                <a:latin typeface="Arial Narrow" panose="020B0606020202030204" pitchFamily="34" charset="0"/>
              </a:rPr>
              <a:t>     </a:t>
            </a:r>
            <a:r>
              <a:rPr lang="en-US" altLang="zh-CN" sz="2800">
                <a:latin typeface="Arial Narrow" panose="020B0606020202030204" pitchFamily="34" charset="0"/>
              </a:rPr>
              <a:t>Task_B  ----- </a:t>
            </a:r>
            <a:r>
              <a:rPr lang="zh-CN" altLang="en-US" sz="2800">
                <a:latin typeface="Arial Narrow" panose="020B0606020202030204" pitchFamily="34" charset="0"/>
              </a:rPr>
              <a:t>控制蜂鸣器每</a:t>
            </a:r>
            <a:r>
              <a:rPr lang="en-US" altLang="zh-CN" sz="2800">
                <a:latin typeface="Arial Narrow" panose="020B0606020202030204" pitchFamily="34" charset="0"/>
              </a:rPr>
              <a:t>3S</a:t>
            </a:r>
            <a:r>
              <a:rPr lang="zh-CN" altLang="en-US" sz="2800">
                <a:latin typeface="Arial Narrow" panose="020B0606020202030204" pitchFamily="34" charset="0"/>
              </a:rPr>
              <a:t>鸣</a:t>
            </a:r>
            <a:r>
              <a:rPr lang="en-US" altLang="zh-CN" sz="2800">
                <a:latin typeface="Arial Narrow" panose="020B0606020202030204" pitchFamily="34" charset="0"/>
              </a:rPr>
              <a:t>1.5S</a:t>
            </a:r>
            <a:r>
              <a:rPr lang="zh-CN" altLang="en-US" sz="2800">
                <a:latin typeface="Arial Narrow" panose="020B0606020202030204" pitchFamily="34" charset="0"/>
              </a:rPr>
              <a:t>。</a:t>
            </a:r>
          </a:p>
        </p:txBody>
      </p:sp>
      <p:sp>
        <p:nvSpPr>
          <p:cNvPr id="69639" name="Rectangle 4">
            <a:extLst>
              <a:ext uri="{FF2B5EF4-FFF2-40B4-BE49-F238E27FC236}">
                <a16:creationId xmlns:a16="http://schemas.microsoft.com/office/drawing/2014/main" id="{90824E30-FFA6-15A4-9075-4D8D6DDD963D}"/>
              </a:ext>
            </a:extLst>
          </p:cNvPr>
          <p:cNvSpPr>
            <a:spLocks noChangeArrowheads="1"/>
          </p:cNvSpPr>
          <p:nvPr/>
        </p:nvSpPr>
        <p:spPr bwMode="auto">
          <a:xfrm>
            <a:off x="1042988" y="4506913"/>
            <a:ext cx="7138987"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b="0"/>
              <a:t>1</a:t>
            </a:r>
            <a:r>
              <a:rPr lang="zh-CN" altLang="en-US" sz="2800" b="0"/>
              <a:t>、学习创建任务操作编程；</a:t>
            </a:r>
          </a:p>
          <a:p>
            <a:pPr eaLnBrk="1" hangingPunct="1">
              <a:buFont typeface="Wingdings" panose="05000000000000000000" pitchFamily="2" charset="2"/>
              <a:buNone/>
            </a:pPr>
            <a:r>
              <a:rPr lang="en-US" altLang="zh-CN" sz="2800" b="0"/>
              <a:t>2</a:t>
            </a:r>
            <a:r>
              <a:rPr lang="zh-CN" altLang="en-US" sz="2800" b="0"/>
              <a:t>、体验延时函数的使用；</a:t>
            </a:r>
          </a:p>
          <a:p>
            <a:pPr eaLnBrk="1" hangingPunct="1">
              <a:buFont typeface="Wingdings" panose="05000000000000000000" pitchFamily="2" charset="2"/>
              <a:buNone/>
            </a:pPr>
            <a:r>
              <a:rPr lang="en-US" altLang="zh-CN" sz="2800" b="0"/>
              <a:t>3</a:t>
            </a:r>
            <a:r>
              <a:rPr lang="zh-CN" altLang="en-US" sz="2800" b="0"/>
              <a:t>、体验多任务系统设计基本方式；</a:t>
            </a:r>
          </a:p>
        </p:txBody>
      </p:sp>
      <p:sp>
        <p:nvSpPr>
          <p:cNvPr id="69640" name="Rectangle 5">
            <a:extLst>
              <a:ext uri="{FF2B5EF4-FFF2-40B4-BE49-F238E27FC236}">
                <a16:creationId xmlns:a16="http://schemas.microsoft.com/office/drawing/2014/main" id="{01DFB884-479E-18A5-A915-F457320C7956}"/>
              </a:ext>
            </a:extLst>
          </p:cNvPr>
          <p:cNvSpPr>
            <a:spLocks noChangeArrowheads="1"/>
          </p:cNvSpPr>
          <p:nvPr/>
        </p:nvSpPr>
        <p:spPr bwMode="auto">
          <a:xfrm>
            <a:off x="611188" y="37163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000" b="0"/>
              <a:t>实验目的：</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3">
            <a:extLst>
              <a:ext uri="{FF2B5EF4-FFF2-40B4-BE49-F238E27FC236}">
                <a16:creationId xmlns:a16="http://schemas.microsoft.com/office/drawing/2014/main" id="{B459126C-746C-A7EC-B51B-52151CA0190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0659" name="灯片编号占位符 4">
            <a:extLst>
              <a:ext uri="{FF2B5EF4-FFF2-40B4-BE49-F238E27FC236}">
                <a16:creationId xmlns:a16="http://schemas.microsoft.com/office/drawing/2014/main" id="{F0FC6A25-6FC1-A608-AD4B-A64AE84ED3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C54F42E-EF41-41B3-8A33-D330AAC2B8F4}" type="slidenum">
              <a:rPr lang="en-US" altLang="zh-CN" sz="1200" smtClean="0">
                <a:solidFill>
                  <a:srgbClr val="3366FF"/>
                </a:solidFill>
                <a:latin typeface="Arial Black" panose="020B0A04020102020204" pitchFamily="34" charset="0"/>
              </a:rPr>
              <a:pPr>
                <a:spcBef>
                  <a:spcPct val="0"/>
                </a:spcBef>
                <a:buClrTx/>
                <a:buSzTx/>
                <a:buFontTx/>
                <a:buNone/>
              </a:pPr>
              <a:t>66</a:t>
            </a:fld>
            <a:endParaRPr lang="en-US" altLang="zh-CN" sz="1200">
              <a:solidFill>
                <a:srgbClr val="3366FF"/>
              </a:solidFill>
              <a:latin typeface="Arial Black" panose="020B0A04020102020204" pitchFamily="34" charset="0"/>
            </a:endParaRPr>
          </a:p>
        </p:txBody>
      </p:sp>
      <p:sp>
        <p:nvSpPr>
          <p:cNvPr id="70660" name="日期占位符 5">
            <a:extLst>
              <a:ext uri="{FF2B5EF4-FFF2-40B4-BE49-F238E27FC236}">
                <a16:creationId xmlns:a16="http://schemas.microsoft.com/office/drawing/2014/main" id="{0530B880-08C0-CCE8-C86F-50642658965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76C94CD-2F8C-4C56-89BB-A074B432F79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0661" name="Rectangle 2">
            <a:extLst>
              <a:ext uri="{FF2B5EF4-FFF2-40B4-BE49-F238E27FC236}">
                <a16:creationId xmlns:a16="http://schemas.microsoft.com/office/drawing/2014/main" id="{3F3A317C-ABE4-9580-EC4F-966BCBC436BA}"/>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70662" name="Rectangle 3">
            <a:extLst>
              <a:ext uri="{FF2B5EF4-FFF2-40B4-BE49-F238E27FC236}">
                <a16:creationId xmlns:a16="http://schemas.microsoft.com/office/drawing/2014/main" id="{F63462F1-42F5-6584-CDAF-5183B9134FCD}"/>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rgbClr val="FF0000"/>
                </a:solidFill>
              </a:rPr>
              <a:t>6</a:t>
            </a:r>
            <a:r>
              <a:rPr lang="zh-CN" altLang="en-US">
                <a:solidFill>
                  <a:srgbClr val="FF0000"/>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1">
            <a:extLst>
              <a:ext uri="{FF2B5EF4-FFF2-40B4-BE49-F238E27FC236}">
                <a16:creationId xmlns:a16="http://schemas.microsoft.com/office/drawing/2014/main" id="{D3E2C760-6F15-60E1-B43F-87B606677FF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1683" name="灯片编号占位符 2">
            <a:extLst>
              <a:ext uri="{FF2B5EF4-FFF2-40B4-BE49-F238E27FC236}">
                <a16:creationId xmlns:a16="http://schemas.microsoft.com/office/drawing/2014/main" id="{631D5FCC-43A7-32A3-5E79-85C8A62CE8F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A6C26DD-AAD2-4EC2-92BB-A3B2E09F28CF}" type="slidenum">
              <a:rPr lang="en-US" altLang="zh-CN" sz="1200" smtClean="0">
                <a:solidFill>
                  <a:srgbClr val="3366FF"/>
                </a:solidFill>
                <a:latin typeface="Arial Black" panose="020B0A04020102020204" pitchFamily="34" charset="0"/>
              </a:rPr>
              <a:pPr>
                <a:spcBef>
                  <a:spcPct val="0"/>
                </a:spcBef>
                <a:buClrTx/>
                <a:buSzTx/>
                <a:buFontTx/>
                <a:buNone/>
              </a:pPr>
              <a:t>67</a:t>
            </a:fld>
            <a:endParaRPr lang="en-US" altLang="zh-CN" sz="1200">
              <a:solidFill>
                <a:srgbClr val="3366FF"/>
              </a:solidFill>
              <a:latin typeface="Arial Black" panose="020B0A04020102020204" pitchFamily="34" charset="0"/>
            </a:endParaRPr>
          </a:p>
        </p:txBody>
      </p:sp>
      <p:sp>
        <p:nvSpPr>
          <p:cNvPr id="71684" name="日期占位符 3">
            <a:extLst>
              <a:ext uri="{FF2B5EF4-FFF2-40B4-BE49-F238E27FC236}">
                <a16:creationId xmlns:a16="http://schemas.microsoft.com/office/drawing/2014/main" id="{D87314D8-A671-F481-8427-CF675C6D062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46423B1-395C-41BA-9DE7-2F6565856DC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1685" name="Rectangle 2">
            <a:extLst>
              <a:ext uri="{FF2B5EF4-FFF2-40B4-BE49-F238E27FC236}">
                <a16:creationId xmlns:a16="http://schemas.microsoft.com/office/drawing/2014/main" id="{32D7F7A5-9964-8694-EB9A-795C093A2CC8}"/>
              </a:ext>
            </a:extLst>
          </p:cNvPr>
          <p:cNvSpPr>
            <a:spLocks noChangeArrowheads="1"/>
          </p:cNvSpPr>
          <p:nvPr/>
        </p:nvSpPr>
        <p:spPr bwMode="auto">
          <a:xfrm>
            <a:off x="446088" y="7445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2.6  </a:t>
            </a:r>
            <a:r>
              <a:rPr lang="zh-CN" altLang="en-US" sz="3600">
                <a:solidFill>
                  <a:srgbClr val="080808"/>
                </a:solidFill>
              </a:rPr>
              <a:t>任务的挂起和恢复</a:t>
            </a:r>
          </a:p>
        </p:txBody>
      </p:sp>
      <p:sp>
        <p:nvSpPr>
          <p:cNvPr id="71686" name="Text Box 4" descr="羊皮纸">
            <a:extLst>
              <a:ext uri="{FF2B5EF4-FFF2-40B4-BE49-F238E27FC236}">
                <a16:creationId xmlns:a16="http://schemas.microsoft.com/office/drawing/2014/main" id="{5C1C0622-BBEC-8A29-9A02-6D4F24235350}"/>
              </a:ext>
            </a:extLst>
          </p:cNvPr>
          <p:cNvSpPr txBox="1">
            <a:spLocks noChangeArrowheads="1"/>
          </p:cNvSpPr>
          <p:nvPr/>
        </p:nvSpPr>
        <p:spPr bwMode="auto">
          <a:xfrm>
            <a:off x="684213" y="1587500"/>
            <a:ext cx="7991475" cy="437832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30000"/>
              </a:spcBef>
              <a:buClr>
                <a:srgbClr val="3399FF"/>
              </a:buClr>
              <a:buSzPct val="60000"/>
            </a:pPr>
            <a:r>
              <a:rPr lang="zh-CN" altLang="en-US" sz="2600">
                <a:latin typeface="Arial Narrow" panose="020B0606020202030204" pitchFamily="34" charset="0"/>
              </a:rPr>
              <a:t>所谓的挂起一个任务，就是暂停这个任务的调度。</a:t>
            </a:r>
          </a:p>
          <a:p>
            <a:pPr eaLnBrk="1" hangingPunct="1">
              <a:lnSpc>
                <a:spcPct val="120000"/>
              </a:lnSpc>
              <a:spcBef>
                <a:spcPct val="30000"/>
              </a:spcBef>
              <a:buClr>
                <a:srgbClr val="3399FF"/>
              </a:buClr>
              <a:buSzPct val="60000"/>
            </a:pPr>
            <a:r>
              <a:rPr lang="zh-CN" altLang="en-US" sz="2600">
                <a:latin typeface="Arial Narrow" panose="020B0606020202030204" pitchFamily="34" charset="0"/>
              </a:rPr>
              <a:t>挂起任务的 </a:t>
            </a:r>
            <a:r>
              <a:rPr lang="en-US" altLang="zh-CN" sz="2600">
                <a:latin typeface="Arial Narrow" panose="020B0606020202030204" pitchFamily="34" charset="0"/>
              </a:rPr>
              <a:t>TCB </a:t>
            </a:r>
            <a:r>
              <a:rPr lang="zh-CN" altLang="en-US" sz="2600">
                <a:latin typeface="Arial Narrow" panose="020B0606020202030204" pitchFamily="34" charset="0"/>
              </a:rPr>
              <a:t>还存在系统中，只是该任务的状态是 “挂起” ，对挂起态的任务</a:t>
            </a:r>
            <a:r>
              <a:rPr lang="en-US" altLang="zh-CN" sz="2600">
                <a:latin typeface="Arial Narrow" panose="020B0606020202030204" pitchFamily="34" charset="0"/>
              </a:rPr>
              <a:t>uC/OS-II</a:t>
            </a:r>
            <a:r>
              <a:rPr lang="zh-CN" altLang="en-US" sz="2600">
                <a:latin typeface="Arial Narrow" panose="020B0606020202030204" pitchFamily="34" charset="0"/>
              </a:rPr>
              <a:t>不再调度运行。</a:t>
            </a:r>
          </a:p>
          <a:p>
            <a:pPr eaLnBrk="1" hangingPunct="1">
              <a:lnSpc>
                <a:spcPct val="120000"/>
              </a:lnSpc>
              <a:spcBef>
                <a:spcPct val="30000"/>
              </a:spcBef>
              <a:buClr>
                <a:srgbClr val="3399FF"/>
              </a:buClr>
              <a:buSzPct val="60000"/>
            </a:pPr>
            <a:r>
              <a:rPr lang="zh-CN" altLang="en-US" sz="2600">
                <a:latin typeface="Arial Narrow" panose="020B0606020202030204" pitchFamily="34" charset="0"/>
              </a:rPr>
              <a:t>挂起的任务恢复后即可参与</a:t>
            </a:r>
            <a:r>
              <a:rPr lang="en-US" altLang="zh-CN" sz="2600">
                <a:latin typeface="Arial Narrow" panose="020B0606020202030204" pitchFamily="34" charset="0"/>
              </a:rPr>
              <a:t>uC/OS-II</a:t>
            </a:r>
            <a:r>
              <a:rPr lang="zh-CN" altLang="en-US" sz="2600">
                <a:latin typeface="Arial Narrow" panose="020B0606020202030204" pitchFamily="34" charset="0"/>
              </a:rPr>
              <a:t>的任务调度。</a:t>
            </a:r>
          </a:p>
          <a:p>
            <a:pPr eaLnBrk="1" hangingPunct="1">
              <a:lnSpc>
                <a:spcPct val="120000"/>
              </a:lnSpc>
              <a:spcBef>
                <a:spcPct val="30000"/>
              </a:spcBef>
              <a:buClr>
                <a:srgbClr val="3399FF"/>
              </a:buClr>
              <a:buSzPct val="60000"/>
            </a:pPr>
            <a:r>
              <a:rPr lang="en-US" altLang="zh-CN" sz="2600">
                <a:latin typeface="Arial Narrow" panose="020B0606020202030204" pitchFamily="34" charset="0"/>
              </a:rPr>
              <a:t>uC/OS-II</a:t>
            </a:r>
            <a:r>
              <a:rPr lang="zh-CN" altLang="en-US" sz="2600">
                <a:latin typeface="Arial Narrow" panose="020B0606020202030204" pitchFamily="34" charset="0"/>
              </a:rPr>
              <a:t>中，可挂起除 “空闲任务”（</a:t>
            </a:r>
            <a:r>
              <a:rPr lang="en-US" altLang="zh-CN" sz="2600">
                <a:latin typeface="Arial Narrow" panose="020B0606020202030204" pitchFamily="34" charset="0"/>
              </a:rPr>
              <a:t>OSTaskIdel( )</a:t>
            </a:r>
            <a:r>
              <a:rPr lang="zh-CN" altLang="en-US" sz="2600">
                <a:latin typeface="Arial Narrow" panose="020B0606020202030204" pitchFamily="34" charset="0"/>
              </a:rPr>
              <a:t>） 外的任何任务。</a:t>
            </a:r>
          </a:p>
          <a:p>
            <a:pPr eaLnBrk="1" hangingPunct="1">
              <a:lnSpc>
                <a:spcPct val="120000"/>
              </a:lnSpc>
              <a:spcBef>
                <a:spcPct val="30000"/>
              </a:spcBef>
              <a:buClr>
                <a:srgbClr val="3399FF"/>
              </a:buClr>
              <a:buSzPct val="60000"/>
            </a:pPr>
            <a:r>
              <a:rPr lang="zh-CN" altLang="en-US" sz="2600">
                <a:latin typeface="Arial Narrow" panose="020B0606020202030204" pitchFamily="34" charset="0"/>
              </a:rPr>
              <a:t>挂起</a:t>
            </a:r>
            <a:r>
              <a:rPr lang="en-US" altLang="zh-CN" sz="2600">
                <a:latin typeface="Arial Narrow" panose="020B0606020202030204" pitchFamily="34" charset="0"/>
              </a:rPr>
              <a:t>/</a:t>
            </a:r>
            <a:r>
              <a:rPr lang="zh-CN" altLang="en-US" sz="2600">
                <a:latin typeface="Arial Narrow" panose="020B0606020202030204" pitchFamily="34" charset="0"/>
              </a:rPr>
              <a:t>恢复使用系统函数</a:t>
            </a:r>
            <a:r>
              <a:rPr lang="en-US" altLang="zh-CN" sz="2600">
                <a:latin typeface="Arial Narrow" panose="020B0606020202030204" pitchFamily="34" charset="0"/>
              </a:rPr>
              <a:t>OSTaskSuspend( ) / OSTaskResume( ) </a:t>
            </a:r>
            <a:r>
              <a:rPr lang="zh-CN" altLang="en-US" sz="2600">
                <a:latin typeface="Arial Narrow" panose="020B0606020202030204" pitchFamily="34" charset="0"/>
              </a:rPr>
              <a:t>实现。</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1">
            <a:extLst>
              <a:ext uri="{FF2B5EF4-FFF2-40B4-BE49-F238E27FC236}">
                <a16:creationId xmlns:a16="http://schemas.microsoft.com/office/drawing/2014/main" id="{89F5B241-0775-57F4-ABB3-8663D518D14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2707" name="灯片编号占位符 2">
            <a:extLst>
              <a:ext uri="{FF2B5EF4-FFF2-40B4-BE49-F238E27FC236}">
                <a16:creationId xmlns:a16="http://schemas.microsoft.com/office/drawing/2014/main" id="{5EFC6945-01C3-6B87-65BC-CC6AF97767C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638ED5E-1E93-416B-A864-9A2DCCAA9515}" type="slidenum">
              <a:rPr lang="en-US" altLang="zh-CN" sz="1200" smtClean="0">
                <a:solidFill>
                  <a:srgbClr val="3366FF"/>
                </a:solidFill>
                <a:latin typeface="Arial Black" panose="020B0A04020102020204" pitchFamily="34" charset="0"/>
              </a:rPr>
              <a:pPr>
                <a:spcBef>
                  <a:spcPct val="0"/>
                </a:spcBef>
                <a:buClrTx/>
                <a:buSzTx/>
                <a:buFontTx/>
                <a:buNone/>
              </a:pPr>
              <a:t>68</a:t>
            </a:fld>
            <a:endParaRPr lang="en-US" altLang="zh-CN" sz="1200">
              <a:solidFill>
                <a:srgbClr val="3366FF"/>
              </a:solidFill>
              <a:latin typeface="Arial Black" panose="020B0A04020102020204" pitchFamily="34" charset="0"/>
            </a:endParaRPr>
          </a:p>
        </p:txBody>
      </p:sp>
      <p:sp>
        <p:nvSpPr>
          <p:cNvPr id="72708" name="日期占位符 3">
            <a:extLst>
              <a:ext uri="{FF2B5EF4-FFF2-40B4-BE49-F238E27FC236}">
                <a16:creationId xmlns:a16="http://schemas.microsoft.com/office/drawing/2014/main" id="{37323C06-0951-BB84-73E3-A5FFD2D1BFC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D24149E-3284-4512-A8F5-1DF2C24BD89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2709" name="Rectangle 2">
            <a:extLst>
              <a:ext uri="{FF2B5EF4-FFF2-40B4-BE49-F238E27FC236}">
                <a16:creationId xmlns:a16="http://schemas.microsoft.com/office/drawing/2014/main" id="{00DDF944-187A-956E-D719-4064BAD17392}"/>
              </a:ext>
            </a:extLst>
          </p:cNvPr>
          <p:cNvSpPr>
            <a:spLocks noChangeArrowheads="1"/>
          </p:cNvSpPr>
          <p:nvPr/>
        </p:nvSpPr>
        <p:spPr bwMode="auto">
          <a:xfrm>
            <a:off x="446088" y="747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2.6  </a:t>
            </a:r>
            <a:r>
              <a:rPr lang="zh-CN" altLang="en-US" sz="3600">
                <a:solidFill>
                  <a:srgbClr val="080808"/>
                </a:solidFill>
              </a:rPr>
              <a:t>任务的挂起和恢复</a:t>
            </a:r>
          </a:p>
        </p:txBody>
      </p:sp>
      <p:sp>
        <p:nvSpPr>
          <p:cNvPr id="72710" name="Text Box 3">
            <a:extLst>
              <a:ext uri="{FF2B5EF4-FFF2-40B4-BE49-F238E27FC236}">
                <a16:creationId xmlns:a16="http://schemas.microsoft.com/office/drawing/2014/main" id="{66361228-C9BB-7456-5F0E-A9745AD70020}"/>
              </a:ext>
            </a:extLst>
          </p:cNvPr>
          <p:cNvSpPr txBox="1">
            <a:spLocks noChangeArrowheads="1"/>
          </p:cNvSpPr>
          <p:nvPr/>
        </p:nvSpPr>
        <p:spPr bwMode="auto">
          <a:xfrm>
            <a:off x="468313" y="15605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挂起任务函数原型</a:t>
            </a:r>
          </a:p>
        </p:txBody>
      </p:sp>
      <p:sp>
        <p:nvSpPr>
          <p:cNvPr id="72711" name="Text Box 4" descr="蓝色面巾纸">
            <a:extLst>
              <a:ext uri="{FF2B5EF4-FFF2-40B4-BE49-F238E27FC236}">
                <a16:creationId xmlns:a16="http://schemas.microsoft.com/office/drawing/2014/main" id="{803804F9-53C9-2296-56C7-C566D275F0C3}"/>
              </a:ext>
            </a:extLst>
          </p:cNvPr>
          <p:cNvSpPr txBox="1">
            <a:spLocks noChangeArrowheads="1"/>
          </p:cNvSpPr>
          <p:nvPr/>
        </p:nvSpPr>
        <p:spPr bwMode="auto">
          <a:xfrm>
            <a:off x="1116013" y="2208213"/>
            <a:ext cx="6911975" cy="10048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a:p>
            <a:pPr algn="ct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INT8U OSTaskSuspend( INT8U  prio );</a:t>
            </a:r>
          </a:p>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p:txBody>
      </p:sp>
      <p:sp>
        <p:nvSpPr>
          <p:cNvPr id="72712" name="Text Box 5" descr="羊皮纸">
            <a:extLst>
              <a:ext uri="{FF2B5EF4-FFF2-40B4-BE49-F238E27FC236}">
                <a16:creationId xmlns:a16="http://schemas.microsoft.com/office/drawing/2014/main" id="{1751FF85-26B9-8A04-7079-B86CE19DA709}"/>
              </a:ext>
            </a:extLst>
          </p:cNvPr>
          <p:cNvSpPr txBox="1">
            <a:spLocks noChangeArrowheads="1"/>
          </p:cNvSpPr>
          <p:nvPr/>
        </p:nvSpPr>
        <p:spPr bwMode="auto">
          <a:xfrm>
            <a:off x="611188" y="3444875"/>
            <a:ext cx="7993062" cy="26479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400"/>
              <a:t>本函数的参数、返回值及含义：</a:t>
            </a:r>
          </a:p>
          <a:p>
            <a:pPr eaLnBrk="1" hangingPunct="1">
              <a:buClr>
                <a:srgbClr val="3399FF"/>
              </a:buClr>
              <a:buSzPct val="50000"/>
            </a:pPr>
            <a:r>
              <a:rPr lang="zh-CN" altLang="en-US" sz="2400">
                <a:latin typeface="Arial Narrow" panose="020B0606020202030204" pitchFamily="34" charset="0"/>
              </a:rPr>
              <a:t>用优先级指定目标，挂起自身时使用</a:t>
            </a:r>
            <a:r>
              <a:rPr lang="en-US" altLang="zh-CN" sz="2400">
                <a:solidFill>
                  <a:srgbClr val="FF0000"/>
                </a:solidFill>
                <a:latin typeface="Arial Narrow" panose="020B0606020202030204" pitchFamily="34" charset="0"/>
              </a:rPr>
              <a:t>OS_PRIO_SELF</a:t>
            </a:r>
          </a:p>
          <a:p>
            <a:pPr eaLnBrk="1" hangingPunct="1">
              <a:buClr>
                <a:srgbClr val="3399FF"/>
              </a:buClr>
              <a:buSzPct val="50000"/>
            </a:pPr>
            <a:r>
              <a:rPr lang="en-US" altLang="zh-CN" sz="2400">
                <a:latin typeface="Arial Narrow" panose="020B0606020202030204" pitchFamily="34" charset="0"/>
              </a:rPr>
              <a:t>OS_NO_ERR --- </a:t>
            </a:r>
            <a:r>
              <a:rPr lang="zh-CN" altLang="en-US" sz="2400">
                <a:latin typeface="Arial Narrow" panose="020B0606020202030204" pitchFamily="34" charset="0"/>
              </a:rPr>
              <a:t>完成指定任务的挂起。</a:t>
            </a:r>
          </a:p>
          <a:p>
            <a:pPr eaLnBrk="1" hangingPunct="1">
              <a:buClr>
                <a:srgbClr val="3399FF"/>
              </a:buClr>
              <a:buSzPct val="50000"/>
            </a:pPr>
            <a:r>
              <a:rPr lang="en-US" altLang="zh-CN" sz="2400">
                <a:latin typeface="Arial Narrow" panose="020B0606020202030204" pitchFamily="34" charset="0"/>
              </a:rPr>
              <a:t>OS_TASK_SUSPEND_IDEL --- </a:t>
            </a:r>
            <a:r>
              <a:rPr lang="zh-CN" altLang="en-US" sz="2400">
                <a:latin typeface="Arial Narrow" panose="020B0606020202030204" pitchFamily="34" charset="0"/>
              </a:rPr>
              <a:t>不能挂起空闲任务。</a:t>
            </a:r>
          </a:p>
          <a:p>
            <a:pPr eaLnBrk="1" hangingPunct="1">
              <a:buClr>
                <a:srgbClr val="3399FF"/>
              </a:buClr>
              <a:buSzPct val="50000"/>
            </a:pPr>
            <a:r>
              <a:rPr lang="en-US" altLang="zh-CN" sz="2400">
                <a:latin typeface="Arial Narrow" panose="020B0606020202030204" pitchFamily="34" charset="0"/>
              </a:rPr>
              <a:t>OS_PRIO_INVALID --- </a:t>
            </a:r>
            <a:r>
              <a:rPr lang="zh-CN" altLang="en-US" sz="2400">
                <a:latin typeface="Arial Narrow" panose="020B0606020202030204" pitchFamily="34" charset="0"/>
              </a:rPr>
              <a:t>无效的任务（优先级）指定。</a:t>
            </a:r>
          </a:p>
          <a:p>
            <a:pPr eaLnBrk="1" hangingPunct="1">
              <a:buClr>
                <a:srgbClr val="3399FF"/>
              </a:buClr>
              <a:buSzPct val="50000"/>
            </a:pPr>
            <a:r>
              <a:rPr lang="en-US" altLang="zh-CN" sz="2400">
                <a:latin typeface="Arial Narrow" panose="020B0606020202030204" pitchFamily="34" charset="0"/>
              </a:rPr>
              <a:t>OS_TASK_SUSPEND_PRIO ---</a:t>
            </a:r>
            <a:r>
              <a:rPr lang="zh-CN" altLang="en-US" sz="2400"/>
              <a:t>指定的任务不存在。</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1">
            <a:extLst>
              <a:ext uri="{FF2B5EF4-FFF2-40B4-BE49-F238E27FC236}">
                <a16:creationId xmlns:a16="http://schemas.microsoft.com/office/drawing/2014/main" id="{3345DC51-EB78-14D6-994C-6556C3B969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3731" name="灯片编号占位符 2">
            <a:extLst>
              <a:ext uri="{FF2B5EF4-FFF2-40B4-BE49-F238E27FC236}">
                <a16:creationId xmlns:a16="http://schemas.microsoft.com/office/drawing/2014/main" id="{9CFE40C6-C366-FB10-BEA9-463B163EF8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AA01FB2-E3DB-41FC-B3F8-D3CC82033A12}" type="slidenum">
              <a:rPr lang="en-US" altLang="zh-CN" sz="1200" smtClean="0">
                <a:solidFill>
                  <a:srgbClr val="3366FF"/>
                </a:solidFill>
                <a:latin typeface="Arial Black" panose="020B0A04020102020204" pitchFamily="34" charset="0"/>
              </a:rPr>
              <a:pPr>
                <a:spcBef>
                  <a:spcPct val="0"/>
                </a:spcBef>
                <a:buClrTx/>
                <a:buSzTx/>
                <a:buFontTx/>
                <a:buNone/>
              </a:pPr>
              <a:t>69</a:t>
            </a:fld>
            <a:endParaRPr lang="en-US" altLang="zh-CN" sz="1200">
              <a:solidFill>
                <a:srgbClr val="3366FF"/>
              </a:solidFill>
              <a:latin typeface="Arial Black" panose="020B0A04020102020204" pitchFamily="34" charset="0"/>
            </a:endParaRPr>
          </a:p>
        </p:txBody>
      </p:sp>
      <p:sp>
        <p:nvSpPr>
          <p:cNvPr id="73732" name="日期占位符 3">
            <a:extLst>
              <a:ext uri="{FF2B5EF4-FFF2-40B4-BE49-F238E27FC236}">
                <a16:creationId xmlns:a16="http://schemas.microsoft.com/office/drawing/2014/main" id="{07B99598-387A-A597-2757-5BA1F27B2AE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CA39921-621B-4422-89A5-3DB2257DE23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3733" name="Rectangle 2">
            <a:extLst>
              <a:ext uri="{FF2B5EF4-FFF2-40B4-BE49-F238E27FC236}">
                <a16:creationId xmlns:a16="http://schemas.microsoft.com/office/drawing/2014/main" id="{9E031A9A-5FBB-B364-2361-41966CC1147F}"/>
              </a:ext>
            </a:extLst>
          </p:cNvPr>
          <p:cNvSpPr>
            <a:spLocks noChangeArrowheads="1"/>
          </p:cNvSpPr>
          <p:nvPr/>
        </p:nvSpPr>
        <p:spPr bwMode="auto">
          <a:xfrm>
            <a:off x="446088" y="747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2.6  </a:t>
            </a:r>
            <a:r>
              <a:rPr lang="zh-CN" altLang="en-US" sz="3600">
                <a:solidFill>
                  <a:srgbClr val="080808"/>
                </a:solidFill>
              </a:rPr>
              <a:t>任务的挂起和恢复</a:t>
            </a:r>
          </a:p>
        </p:txBody>
      </p:sp>
      <p:sp>
        <p:nvSpPr>
          <p:cNvPr id="73734" name="Text Box 3">
            <a:extLst>
              <a:ext uri="{FF2B5EF4-FFF2-40B4-BE49-F238E27FC236}">
                <a16:creationId xmlns:a16="http://schemas.microsoft.com/office/drawing/2014/main" id="{D793865B-5D92-0B96-538C-A555161B1BE0}"/>
              </a:ext>
            </a:extLst>
          </p:cNvPr>
          <p:cNvSpPr txBox="1">
            <a:spLocks noChangeArrowheads="1"/>
          </p:cNvSpPr>
          <p:nvPr/>
        </p:nvSpPr>
        <p:spPr bwMode="auto">
          <a:xfrm>
            <a:off x="468313" y="15605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恢复任务函数原型</a:t>
            </a:r>
          </a:p>
        </p:txBody>
      </p:sp>
      <p:sp>
        <p:nvSpPr>
          <p:cNvPr id="73735" name="Text Box 4" descr="蓝色面巾纸">
            <a:extLst>
              <a:ext uri="{FF2B5EF4-FFF2-40B4-BE49-F238E27FC236}">
                <a16:creationId xmlns:a16="http://schemas.microsoft.com/office/drawing/2014/main" id="{20792265-674E-43FA-DA5B-F75D809C6151}"/>
              </a:ext>
            </a:extLst>
          </p:cNvPr>
          <p:cNvSpPr txBox="1">
            <a:spLocks noChangeArrowheads="1"/>
          </p:cNvSpPr>
          <p:nvPr/>
        </p:nvSpPr>
        <p:spPr bwMode="auto">
          <a:xfrm>
            <a:off x="1116013" y="2208213"/>
            <a:ext cx="6911975" cy="10048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a:p>
            <a:pPr algn="ct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INT8U OSTaskResume( INT8U  prio );</a:t>
            </a:r>
          </a:p>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p:txBody>
      </p:sp>
      <p:sp>
        <p:nvSpPr>
          <p:cNvPr id="73736" name="Text Box 5" descr="羊皮纸">
            <a:extLst>
              <a:ext uri="{FF2B5EF4-FFF2-40B4-BE49-F238E27FC236}">
                <a16:creationId xmlns:a16="http://schemas.microsoft.com/office/drawing/2014/main" id="{26E7841C-1DD8-E62C-50EC-9C1F051486FA}"/>
              </a:ext>
            </a:extLst>
          </p:cNvPr>
          <p:cNvSpPr txBox="1">
            <a:spLocks noChangeArrowheads="1"/>
          </p:cNvSpPr>
          <p:nvPr/>
        </p:nvSpPr>
        <p:spPr bwMode="auto">
          <a:xfrm>
            <a:off x="611188" y="3429000"/>
            <a:ext cx="7993062" cy="26479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400">
                <a:latin typeface="Arial Narrow" panose="020B0606020202030204" pitchFamily="34" charset="0"/>
              </a:rPr>
              <a:t>本函数的参数、返回值及含义：</a:t>
            </a:r>
          </a:p>
          <a:p>
            <a:pPr eaLnBrk="1" hangingPunct="1">
              <a:buClr>
                <a:srgbClr val="3399FF"/>
              </a:buClr>
              <a:buSzPct val="50000"/>
            </a:pPr>
            <a:r>
              <a:rPr lang="zh-CN" altLang="en-US" sz="2400">
                <a:latin typeface="Arial Narrow" panose="020B0606020202030204" pitchFamily="34" charset="0"/>
              </a:rPr>
              <a:t>用优先级指定目标。</a:t>
            </a:r>
          </a:p>
          <a:p>
            <a:pPr eaLnBrk="1" hangingPunct="1">
              <a:buClr>
                <a:srgbClr val="3399FF"/>
              </a:buClr>
              <a:buSzPct val="50000"/>
            </a:pPr>
            <a:r>
              <a:rPr lang="en-US" altLang="zh-CN" sz="2400">
                <a:latin typeface="Arial Narrow" panose="020B0606020202030204" pitchFamily="34" charset="0"/>
              </a:rPr>
              <a:t>OS_NO_ERR --- </a:t>
            </a:r>
            <a:r>
              <a:rPr lang="zh-CN" altLang="en-US" sz="2400">
                <a:latin typeface="Arial Narrow" panose="020B0606020202030204" pitchFamily="34" charset="0"/>
              </a:rPr>
              <a:t>完成指定任务的恢复。</a:t>
            </a:r>
          </a:p>
          <a:p>
            <a:pPr eaLnBrk="1" hangingPunct="1">
              <a:buClr>
                <a:srgbClr val="3399FF"/>
              </a:buClr>
              <a:buSzPct val="50000"/>
            </a:pPr>
            <a:r>
              <a:rPr lang="en-US" altLang="zh-CN" sz="2400">
                <a:latin typeface="Arial Narrow" panose="020B0606020202030204" pitchFamily="34" charset="0"/>
              </a:rPr>
              <a:t>OS_TASK_RESUME_PRIO --- </a:t>
            </a:r>
            <a:r>
              <a:rPr lang="zh-CN" altLang="en-US" sz="2400">
                <a:latin typeface="Arial Narrow" panose="020B0606020202030204" pitchFamily="34" charset="0"/>
              </a:rPr>
              <a:t>优先级指定的任务不存在。</a:t>
            </a:r>
          </a:p>
          <a:p>
            <a:pPr eaLnBrk="1" hangingPunct="1">
              <a:buClr>
                <a:srgbClr val="3399FF"/>
              </a:buClr>
              <a:buSzPct val="50000"/>
            </a:pPr>
            <a:r>
              <a:rPr lang="en-US" altLang="zh-CN" sz="2400">
                <a:latin typeface="Arial Narrow" panose="020B0606020202030204" pitchFamily="34" charset="0"/>
              </a:rPr>
              <a:t>OS_PRIO_INVALID --- </a:t>
            </a:r>
            <a:r>
              <a:rPr lang="zh-CN" altLang="en-US" sz="2400">
                <a:latin typeface="Arial Narrow" panose="020B0606020202030204" pitchFamily="34" charset="0"/>
              </a:rPr>
              <a:t>无效的任务（优先级）指定。</a:t>
            </a:r>
          </a:p>
          <a:p>
            <a:pPr eaLnBrk="1" hangingPunct="1">
              <a:buClr>
                <a:srgbClr val="3399FF"/>
              </a:buClr>
              <a:buSzPct val="50000"/>
            </a:pPr>
            <a:r>
              <a:rPr lang="en-US" altLang="zh-CN" sz="2400">
                <a:latin typeface="Arial Narrow" panose="020B0606020202030204" pitchFamily="34" charset="0"/>
              </a:rPr>
              <a:t>OS_TASK_NO_SUSPEND --- </a:t>
            </a:r>
            <a:r>
              <a:rPr lang="zh-CN" altLang="en-US" sz="2400">
                <a:latin typeface="Arial Narrow" panose="020B0606020202030204" pitchFamily="34" charset="0"/>
              </a:rPr>
              <a:t>指定的任务不是挂起态。</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3">
            <a:extLst>
              <a:ext uri="{FF2B5EF4-FFF2-40B4-BE49-F238E27FC236}">
                <a16:creationId xmlns:a16="http://schemas.microsoft.com/office/drawing/2014/main" id="{8E367464-812C-88AF-9870-A962FADDF0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4755" name="灯片编号占位符 4">
            <a:extLst>
              <a:ext uri="{FF2B5EF4-FFF2-40B4-BE49-F238E27FC236}">
                <a16:creationId xmlns:a16="http://schemas.microsoft.com/office/drawing/2014/main" id="{128E4020-4327-7AA6-2963-9986A934B5D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2B7A52F-BFCB-4C1F-8682-8D01ABAB8FEA}" type="slidenum">
              <a:rPr lang="en-US" altLang="zh-CN" sz="1200" smtClean="0">
                <a:solidFill>
                  <a:srgbClr val="3366FF"/>
                </a:solidFill>
                <a:latin typeface="Arial Black" panose="020B0A04020102020204" pitchFamily="34" charset="0"/>
              </a:rPr>
              <a:pPr>
                <a:spcBef>
                  <a:spcPct val="0"/>
                </a:spcBef>
                <a:buClrTx/>
                <a:buSzTx/>
                <a:buFontTx/>
                <a:buNone/>
              </a:pPr>
              <a:t>70</a:t>
            </a:fld>
            <a:endParaRPr lang="en-US" altLang="zh-CN" sz="1200">
              <a:solidFill>
                <a:srgbClr val="3366FF"/>
              </a:solidFill>
              <a:latin typeface="Arial Black" panose="020B0A04020102020204" pitchFamily="34" charset="0"/>
            </a:endParaRPr>
          </a:p>
        </p:txBody>
      </p:sp>
      <p:sp>
        <p:nvSpPr>
          <p:cNvPr id="74756" name="日期占位符 5">
            <a:extLst>
              <a:ext uri="{FF2B5EF4-FFF2-40B4-BE49-F238E27FC236}">
                <a16:creationId xmlns:a16="http://schemas.microsoft.com/office/drawing/2014/main" id="{8A1DD140-AC89-F412-55C9-F96F50106CA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06F0396-856D-472B-B65C-7AF37807793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4757" name="Rectangle 2">
            <a:extLst>
              <a:ext uri="{FF2B5EF4-FFF2-40B4-BE49-F238E27FC236}">
                <a16:creationId xmlns:a16="http://schemas.microsoft.com/office/drawing/2014/main" id="{65722B0A-A743-1947-E078-A83F253C1356}"/>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74758" name="Rectangle 3">
            <a:extLst>
              <a:ext uri="{FF2B5EF4-FFF2-40B4-BE49-F238E27FC236}">
                <a16:creationId xmlns:a16="http://schemas.microsoft.com/office/drawing/2014/main" id="{FD513395-F9CD-F5CE-0BAC-DAE5BCF2A740}"/>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rgbClr val="FF0000"/>
                </a:solidFill>
              </a:rPr>
              <a:t>7</a:t>
            </a:r>
            <a:r>
              <a:rPr lang="zh-CN" altLang="en-US">
                <a:solidFill>
                  <a:srgbClr val="FF0000"/>
                </a:solidFill>
              </a:rPr>
              <a:t>、其他任务管理函数</a:t>
            </a:r>
          </a:p>
          <a:p>
            <a:pPr eaLnBrk="1" hangingPunct="1"/>
            <a:r>
              <a:rPr lang="en-US" altLang="zh-CN">
                <a:solidFill>
                  <a:schemeClr val="accent2"/>
                </a:solidFill>
              </a:rPr>
              <a:t>8</a:t>
            </a:r>
            <a:r>
              <a:rPr lang="zh-CN" altLang="en-US">
                <a:solidFill>
                  <a:schemeClr val="accent2"/>
                </a:solidFill>
              </a:rPr>
              <a:t>、</a:t>
            </a:r>
            <a:r>
              <a:rPr lang="en-US" altLang="zh-CN">
                <a:solidFill>
                  <a:schemeClr val="accent2"/>
                </a:solidFill>
              </a:rPr>
              <a:t>uC/OS-II</a:t>
            </a:r>
            <a:r>
              <a:rPr lang="zh-CN" altLang="en-US">
                <a:solidFill>
                  <a:schemeClr val="accent2"/>
                </a:solidFill>
              </a:rPr>
              <a:t>的初始化和任务的启动</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1">
            <a:extLst>
              <a:ext uri="{FF2B5EF4-FFF2-40B4-BE49-F238E27FC236}">
                <a16:creationId xmlns:a16="http://schemas.microsoft.com/office/drawing/2014/main" id="{1A1E4D57-9948-2DC2-C702-79882276258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5779" name="灯片编号占位符 2">
            <a:extLst>
              <a:ext uri="{FF2B5EF4-FFF2-40B4-BE49-F238E27FC236}">
                <a16:creationId xmlns:a16="http://schemas.microsoft.com/office/drawing/2014/main" id="{0141A42F-0957-4F5A-310C-E9C1F25F23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54AE76E-1671-452D-912E-2246343BF7B7}" type="slidenum">
              <a:rPr lang="en-US" altLang="zh-CN" sz="1200" smtClean="0">
                <a:solidFill>
                  <a:srgbClr val="3366FF"/>
                </a:solidFill>
                <a:latin typeface="Arial Black" panose="020B0A04020102020204" pitchFamily="34" charset="0"/>
              </a:rPr>
              <a:pPr>
                <a:spcBef>
                  <a:spcPct val="0"/>
                </a:spcBef>
                <a:buClrTx/>
                <a:buSzTx/>
                <a:buFontTx/>
                <a:buNone/>
              </a:pPr>
              <a:t>71</a:t>
            </a:fld>
            <a:endParaRPr lang="en-US" altLang="zh-CN" sz="1200">
              <a:solidFill>
                <a:srgbClr val="3366FF"/>
              </a:solidFill>
              <a:latin typeface="Arial Black" panose="020B0A04020102020204" pitchFamily="34" charset="0"/>
            </a:endParaRPr>
          </a:p>
        </p:txBody>
      </p:sp>
      <p:sp>
        <p:nvSpPr>
          <p:cNvPr id="75780" name="日期占位符 3">
            <a:extLst>
              <a:ext uri="{FF2B5EF4-FFF2-40B4-BE49-F238E27FC236}">
                <a16:creationId xmlns:a16="http://schemas.microsoft.com/office/drawing/2014/main" id="{374D2BD0-34EF-59EA-B582-EE760783944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BAA6133-4239-4976-994F-57B7F095A2D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5781" name="Rectangle 2">
            <a:extLst>
              <a:ext uri="{FF2B5EF4-FFF2-40B4-BE49-F238E27FC236}">
                <a16:creationId xmlns:a16="http://schemas.microsoft.com/office/drawing/2014/main" id="{A3AE98F2-6A71-4027-1D71-E52553A05EAC}"/>
              </a:ext>
            </a:extLst>
          </p:cNvPr>
          <p:cNvSpPr>
            <a:spLocks noChangeArrowheads="1"/>
          </p:cNvSpPr>
          <p:nvPr/>
        </p:nvSpPr>
        <p:spPr bwMode="auto">
          <a:xfrm>
            <a:off x="446088" y="747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2.7  </a:t>
            </a:r>
            <a:r>
              <a:rPr lang="zh-CN" altLang="en-US" sz="3600" b="0"/>
              <a:t>其他</a:t>
            </a:r>
            <a:r>
              <a:rPr lang="zh-CN" altLang="en-US" sz="3600">
                <a:solidFill>
                  <a:srgbClr val="080808"/>
                </a:solidFill>
              </a:rPr>
              <a:t>任务管理函数</a:t>
            </a:r>
          </a:p>
        </p:txBody>
      </p:sp>
      <p:sp>
        <p:nvSpPr>
          <p:cNvPr id="75782" name="Text Box 3">
            <a:extLst>
              <a:ext uri="{FF2B5EF4-FFF2-40B4-BE49-F238E27FC236}">
                <a16:creationId xmlns:a16="http://schemas.microsoft.com/office/drawing/2014/main" id="{5B3ECC0E-EA34-6CCF-153D-991F0E7814EA}"/>
              </a:ext>
            </a:extLst>
          </p:cNvPr>
          <p:cNvSpPr txBox="1">
            <a:spLocks noChangeArrowheads="1"/>
          </p:cNvSpPr>
          <p:nvPr/>
        </p:nvSpPr>
        <p:spPr bwMode="auto">
          <a:xfrm>
            <a:off x="468313" y="15605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修改任务优先级别函数原型</a:t>
            </a:r>
          </a:p>
        </p:txBody>
      </p:sp>
      <p:sp>
        <p:nvSpPr>
          <p:cNvPr id="75783" name="Text Box 4" descr="蓝色面巾纸">
            <a:extLst>
              <a:ext uri="{FF2B5EF4-FFF2-40B4-BE49-F238E27FC236}">
                <a16:creationId xmlns:a16="http://schemas.microsoft.com/office/drawing/2014/main" id="{F389C088-03A8-F824-37DE-E8CD5B371D1C}"/>
              </a:ext>
            </a:extLst>
          </p:cNvPr>
          <p:cNvSpPr txBox="1">
            <a:spLocks noChangeArrowheads="1"/>
          </p:cNvSpPr>
          <p:nvPr/>
        </p:nvSpPr>
        <p:spPr bwMode="auto">
          <a:xfrm>
            <a:off x="1044575" y="2208213"/>
            <a:ext cx="6911975" cy="1979612"/>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a:p>
            <a:pP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INT8U OSTaskChangePrio(</a:t>
            </a:r>
          </a:p>
          <a:p>
            <a:pP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			INT8U  oldprio,	</a:t>
            </a:r>
          </a:p>
          <a:p>
            <a:pP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			INT8U newprio );</a:t>
            </a:r>
          </a:p>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p:txBody>
      </p:sp>
      <p:sp>
        <p:nvSpPr>
          <p:cNvPr id="75784" name="Text Box 5" descr="羊皮纸">
            <a:extLst>
              <a:ext uri="{FF2B5EF4-FFF2-40B4-BE49-F238E27FC236}">
                <a16:creationId xmlns:a16="http://schemas.microsoft.com/office/drawing/2014/main" id="{E74EF879-47A7-716E-1E9D-B6F479C066B2}"/>
              </a:ext>
            </a:extLst>
          </p:cNvPr>
          <p:cNvSpPr txBox="1">
            <a:spLocks noChangeArrowheads="1"/>
          </p:cNvSpPr>
          <p:nvPr/>
        </p:nvSpPr>
        <p:spPr bwMode="auto">
          <a:xfrm>
            <a:off x="1116013" y="4292600"/>
            <a:ext cx="6767512" cy="211772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000"/>
              <a:t>函数说明：</a:t>
            </a:r>
          </a:p>
          <a:p>
            <a:pPr eaLnBrk="1" hangingPunct="1">
              <a:buClr>
                <a:srgbClr val="3399FF"/>
              </a:buClr>
              <a:buSzPct val="50000"/>
            </a:pPr>
            <a:r>
              <a:rPr lang="zh-CN" altLang="en-US" sz="2000">
                <a:latin typeface="Arial Narrow" panose="020B0606020202030204" pitchFamily="34" charset="0"/>
              </a:rPr>
              <a:t>在任务运行时，修改任务的优先级。</a:t>
            </a:r>
          </a:p>
          <a:p>
            <a:pPr eaLnBrk="1" hangingPunct="1">
              <a:buClr>
                <a:srgbClr val="3399FF"/>
              </a:buClr>
              <a:buSzPct val="50000"/>
            </a:pPr>
            <a:r>
              <a:rPr lang="zh-CN" altLang="en-US" sz="2000">
                <a:latin typeface="Arial Narrow" panose="020B0606020202030204" pitchFamily="34" charset="0"/>
              </a:rPr>
              <a:t>功能正确完成，函数返回 </a:t>
            </a:r>
            <a:r>
              <a:rPr lang="en-US" altLang="zh-CN" sz="2000">
                <a:latin typeface="Arial Narrow" panose="020B0606020202030204" pitchFamily="34" charset="0"/>
              </a:rPr>
              <a:t>OS_NO_ERR</a:t>
            </a:r>
            <a:r>
              <a:rPr lang="zh-CN" altLang="en-US" sz="2000">
                <a:latin typeface="Arial Narrow" panose="020B0606020202030204" pitchFamily="34" charset="0"/>
              </a:rPr>
              <a:t>。</a:t>
            </a:r>
          </a:p>
          <a:p>
            <a:pPr eaLnBrk="1" hangingPunct="1">
              <a:buClr>
                <a:srgbClr val="3399FF"/>
              </a:buClr>
              <a:buSzPct val="50000"/>
            </a:pPr>
            <a:r>
              <a:rPr lang="en-US" altLang="zh-CN" sz="1800"/>
              <a:t>OS_PRIO_INVALID ---- </a:t>
            </a:r>
            <a:r>
              <a:rPr lang="zh-CN" altLang="en-US" sz="1800"/>
              <a:t>指定的 </a:t>
            </a:r>
            <a:r>
              <a:rPr lang="en-US" altLang="zh-CN" sz="1800"/>
              <a:t>prio </a:t>
            </a:r>
            <a:r>
              <a:rPr lang="zh-CN" altLang="en-US" sz="1800"/>
              <a:t>越界。</a:t>
            </a:r>
          </a:p>
          <a:p>
            <a:pPr eaLnBrk="1" hangingPunct="1">
              <a:buClr>
                <a:srgbClr val="3399FF"/>
              </a:buClr>
              <a:buSzPct val="50000"/>
            </a:pPr>
            <a:r>
              <a:rPr lang="en-US" altLang="zh-CN" sz="1800"/>
              <a:t>OS_PRIO_EXIST ---- newprio </a:t>
            </a:r>
            <a:r>
              <a:rPr lang="zh-CN" altLang="en-US" sz="1800"/>
              <a:t>已在用。</a:t>
            </a:r>
          </a:p>
          <a:p>
            <a:pPr eaLnBrk="1" hangingPunct="1">
              <a:buClr>
                <a:srgbClr val="3399FF"/>
              </a:buClr>
              <a:buSzPct val="50000"/>
            </a:pPr>
            <a:r>
              <a:rPr lang="en-US" altLang="zh-CN" sz="1800"/>
              <a:t>OS_PRIO_ERR ---- oldprio </a:t>
            </a:r>
            <a:r>
              <a:rPr lang="zh-CN" altLang="en-US" sz="1800"/>
              <a:t>不存在。</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3">
            <a:extLst>
              <a:ext uri="{FF2B5EF4-FFF2-40B4-BE49-F238E27FC236}">
                <a16:creationId xmlns:a16="http://schemas.microsoft.com/office/drawing/2014/main" id="{26EB2196-3E60-7500-D938-D7ED2754567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6803" name="灯片编号占位符 4">
            <a:extLst>
              <a:ext uri="{FF2B5EF4-FFF2-40B4-BE49-F238E27FC236}">
                <a16:creationId xmlns:a16="http://schemas.microsoft.com/office/drawing/2014/main" id="{8CFAA802-F913-E216-D356-23926174F4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7B82811-34FF-4B48-B549-C165BF7499EA}" type="slidenum">
              <a:rPr lang="en-US" altLang="zh-CN" sz="1200" smtClean="0">
                <a:solidFill>
                  <a:srgbClr val="3366FF"/>
                </a:solidFill>
                <a:latin typeface="Arial Black" panose="020B0A04020102020204" pitchFamily="34" charset="0"/>
              </a:rPr>
              <a:pPr>
                <a:spcBef>
                  <a:spcPct val="0"/>
                </a:spcBef>
                <a:buClrTx/>
                <a:buSzTx/>
                <a:buFontTx/>
                <a:buNone/>
              </a:pPr>
              <a:t>72</a:t>
            </a:fld>
            <a:endParaRPr lang="en-US" altLang="zh-CN" sz="1200">
              <a:solidFill>
                <a:srgbClr val="3366FF"/>
              </a:solidFill>
              <a:latin typeface="Arial Black" panose="020B0A04020102020204" pitchFamily="34" charset="0"/>
            </a:endParaRPr>
          </a:p>
        </p:txBody>
      </p:sp>
      <p:sp>
        <p:nvSpPr>
          <p:cNvPr id="76804" name="日期占位符 5">
            <a:extLst>
              <a:ext uri="{FF2B5EF4-FFF2-40B4-BE49-F238E27FC236}">
                <a16:creationId xmlns:a16="http://schemas.microsoft.com/office/drawing/2014/main" id="{CE90E3E1-AE98-9E8A-0860-5964CA0EE66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0152EC2-CE05-4D77-8D67-8EA27CAC166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6805" name="Rectangle 2">
            <a:extLst>
              <a:ext uri="{FF2B5EF4-FFF2-40B4-BE49-F238E27FC236}">
                <a16:creationId xmlns:a16="http://schemas.microsoft.com/office/drawing/2014/main" id="{31BA9FAB-B1A0-E47D-FD03-9CA60540491E}"/>
              </a:ext>
            </a:extLst>
          </p:cNvPr>
          <p:cNvSpPr>
            <a:spLocks noGrp="1" noChangeArrowheads="1"/>
          </p:cNvSpPr>
          <p:nvPr>
            <p:ph type="title"/>
          </p:nvPr>
        </p:nvSpPr>
        <p:spPr>
          <a:xfrm>
            <a:off x="457200" y="817563"/>
            <a:ext cx="8229600" cy="668337"/>
          </a:xfrm>
        </p:spPr>
        <p:txBody>
          <a:bodyPr/>
          <a:lstStyle/>
          <a:p>
            <a:pPr eaLnBrk="1" hangingPunct="1"/>
            <a:r>
              <a:rPr lang="zh-CN" altLang="en-US" sz="4000"/>
              <a:t>实验</a:t>
            </a:r>
            <a:r>
              <a:rPr lang="en-US" altLang="zh-CN" sz="4000"/>
              <a:t>2</a:t>
            </a:r>
            <a:r>
              <a:rPr lang="zh-CN" altLang="en-US" sz="4000"/>
              <a:t>：</a:t>
            </a:r>
          </a:p>
        </p:txBody>
      </p:sp>
      <p:sp>
        <p:nvSpPr>
          <p:cNvPr id="76806" name="Rectangle 3">
            <a:extLst>
              <a:ext uri="{FF2B5EF4-FFF2-40B4-BE49-F238E27FC236}">
                <a16:creationId xmlns:a16="http://schemas.microsoft.com/office/drawing/2014/main" id="{84D01803-C036-3458-8C5B-9E42E5D18E94}"/>
              </a:ext>
            </a:extLst>
          </p:cNvPr>
          <p:cNvSpPr>
            <a:spLocks noGrp="1" noChangeArrowheads="1"/>
          </p:cNvSpPr>
          <p:nvPr>
            <p:ph type="body" idx="1"/>
          </p:nvPr>
        </p:nvSpPr>
        <p:spPr>
          <a:xfrm>
            <a:off x="1258888" y="1700213"/>
            <a:ext cx="7272337" cy="2089150"/>
          </a:xfrm>
        </p:spPr>
        <p:txBody>
          <a:bodyPr/>
          <a:lstStyle/>
          <a:p>
            <a:pPr marL="0" indent="447675" eaLnBrk="1" hangingPunct="1">
              <a:lnSpc>
                <a:spcPct val="125000"/>
              </a:lnSpc>
              <a:buFont typeface="Wingdings" panose="05000000000000000000" pitchFamily="2" charset="2"/>
              <a:buNone/>
            </a:pPr>
            <a:r>
              <a:rPr lang="zh-CN" altLang="en-US" sz="2400">
                <a:latin typeface="Times New Roman" panose="02020603050405020304" pitchFamily="18" charset="0"/>
              </a:rPr>
              <a:t>设计一个试验并完成：测试</a:t>
            </a:r>
            <a:r>
              <a:rPr lang="zh-CN" altLang="en-US" sz="2400">
                <a:latin typeface="Arial Narrow" panose="020B0606020202030204" pitchFamily="34" charset="0"/>
              </a:rPr>
              <a:t>  </a:t>
            </a:r>
            <a:r>
              <a:rPr lang="en-US" altLang="zh-CN" sz="2400">
                <a:latin typeface="Arial Narrow" panose="020B0606020202030204" pitchFamily="34" charset="0"/>
              </a:rPr>
              <a:t>OSTaskChangePrio( )  </a:t>
            </a:r>
            <a:r>
              <a:rPr lang="en-US" altLang="zh-CN" sz="2400">
                <a:latin typeface="Times New Roman" panose="02020603050405020304" pitchFamily="18" charset="0"/>
              </a:rPr>
              <a:t>“</a:t>
            </a:r>
            <a:r>
              <a:rPr lang="zh-CN" altLang="en-US" sz="2400">
                <a:latin typeface="Times New Roman" panose="02020603050405020304" pitchFamily="18" charset="0"/>
              </a:rPr>
              <a:t>任务挂起” 系统函数应用特性。</a:t>
            </a:r>
          </a:p>
          <a:p>
            <a:pPr marL="0" indent="447675" eaLnBrk="1" hangingPunct="1">
              <a:lnSpc>
                <a:spcPct val="125000"/>
              </a:lnSpc>
              <a:buFont typeface="Wingdings" panose="05000000000000000000" pitchFamily="2" charset="2"/>
              <a:buNone/>
            </a:pPr>
            <a:r>
              <a:rPr lang="zh-CN" altLang="en-US" sz="2400"/>
              <a:t>⑴</a:t>
            </a:r>
            <a:r>
              <a:rPr lang="zh-CN" altLang="en-US" sz="2400">
                <a:latin typeface="Times New Roman" panose="02020603050405020304" pitchFamily="18" charset="0"/>
              </a:rPr>
              <a:t>如果修改挂起任务的优先级会是什么结果；</a:t>
            </a:r>
          </a:p>
          <a:p>
            <a:pPr marL="0" indent="447675" eaLnBrk="1" hangingPunct="1">
              <a:lnSpc>
                <a:spcPct val="125000"/>
              </a:lnSpc>
              <a:buFont typeface="Wingdings" panose="05000000000000000000" pitchFamily="2" charset="2"/>
              <a:buNone/>
            </a:pPr>
            <a:r>
              <a:rPr lang="zh-CN" altLang="en-US" sz="2400"/>
              <a:t>⑵可否修改任务自身的优先级</a:t>
            </a:r>
            <a:r>
              <a:rPr lang="zh-CN" altLang="en-US" sz="2400">
                <a:latin typeface="Times New Roman" panose="02020603050405020304" pitchFamily="18" charset="0"/>
              </a:rPr>
              <a:t>。</a:t>
            </a:r>
          </a:p>
        </p:txBody>
      </p:sp>
      <p:sp>
        <p:nvSpPr>
          <p:cNvPr id="76807" name="Rectangle 4">
            <a:extLst>
              <a:ext uri="{FF2B5EF4-FFF2-40B4-BE49-F238E27FC236}">
                <a16:creationId xmlns:a16="http://schemas.microsoft.com/office/drawing/2014/main" id="{05C66994-87C2-FFD2-B6C8-33CFAF8F74E2}"/>
              </a:ext>
            </a:extLst>
          </p:cNvPr>
          <p:cNvSpPr>
            <a:spLocks noChangeArrowheads="1"/>
          </p:cNvSpPr>
          <p:nvPr/>
        </p:nvSpPr>
        <p:spPr bwMode="auto">
          <a:xfrm>
            <a:off x="1476375" y="5516563"/>
            <a:ext cx="70564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400" b="0"/>
              <a:t>有目的地主动设计实验，验证推测，得到结论；</a:t>
            </a:r>
          </a:p>
        </p:txBody>
      </p:sp>
      <p:sp>
        <p:nvSpPr>
          <p:cNvPr id="76808" name="Rectangle 5">
            <a:extLst>
              <a:ext uri="{FF2B5EF4-FFF2-40B4-BE49-F238E27FC236}">
                <a16:creationId xmlns:a16="http://schemas.microsoft.com/office/drawing/2014/main" id="{16237F7E-5298-FFA4-6756-17DD41738128}"/>
              </a:ext>
            </a:extLst>
          </p:cNvPr>
          <p:cNvSpPr>
            <a:spLocks noChangeArrowheads="1"/>
          </p:cNvSpPr>
          <p:nvPr/>
        </p:nvSpPr>
        <p:spPr bwMode="auto">
          <a:xfrm>
            <a:off x="611188" y="465296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0"/>
              <a:t>实验目的：</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1">
            <a:extLst>
              <a:ext uri="{FF2B5EF4-FFF2-40B4-BE49-F238E27FC236}">
                <a16:creationId xmlns:a16="http://schemas.microsoft.com/office/drawing/2014/main" id="{9B1E32ED-D16B-3ADB-098D-4EED209FCFE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7827" name="灯片编号占位符 2">
            <a:extLst>
              <a:ext uri="{FF2B5EF4-FFF2-40B4-BE49-F238E27FC236}">
                <a16:creationId xmlns:a16="http://schemas.microsoft.com/office/drawing/2014/main" id="{172CB90D-2A2D-9B4E-00E4-DE42114F0F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13A0178-93E0-401E-B43E-E1837676D7E0}" type="slidenum">
              <a:rPr lang="en-US" altLang="zh-CN" sz="1200" smtClean="0">
                <a:solidFill>
                  <a:srgbClr val="3366FF"/>
                </a:solidFill>
                <a:latin typeface="Arial Black" panose="020B0A04020102020204" pitchFamily="34" charset="0"/>
              </a:rPr>
              <a:pPr>
                <a:spcBef>
                  <a:spcPct val="0"/>
                </a:spcBef>
                <a:buClrTx/>
                <a:buSzTx/>
                <a:buFontTx/>
                <a:buNone/>
              </a:pPr>
              <a:t>73</a:t>
            </a:fld>
            <a:endParaRPr lang="en-US" altLang="zh-CN" sz="1200">
              <a:solidFill>
                <a:srgbClr val="3366FF"/>
              </a:solidFill>
              <a:latin typeface="Arial Black" panose="020B0A04020102020204" pitchFamily="34" charset="0"/>
            </a:endParaRPr>
          </a:p>
        </p:txBody>
      </p:sp>
      <p:sp>
        <p:nvSpPr>
          <p:cNvPr id="77828" name="日期占位符 3">
            <a:extLst>
              <a:ext uri="{FF2B5EF4-FFF2-40B4-BE49-F238E27FC236}">
                <a16:creationId xmlns:a16="http://schemas.microsoft.com/office/drawing/2014/main" id="{6DD0CE61-3A50-7E04-A282-BA51B860D81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BC180E8-8C13-47B3-8DD6-3D6D2DA723D2}"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7829" name="Rectangle 2">
            <a:extLst>
              <a:ext uri="{FF2B5EF4-FFF2-40B4-BE49-F238E27FC236}">
                <a16:creationId xmlns:a16="http://schemas.microsoft.com/office/drawing/2014/main" id="{E8FF432B-0DFC-C684-8FFA-A46B0279E8C4}"/>
              </a:ext>
            </a:extLst>
          </p:cNvPr>
          <p:cNvSpPr>
            <a:spLocks noChangeArrowheads="1"/>
          </p:cNvSpPr>
          <p:nvPr/>
        </p:nvSpPr>
        <p:spPr bwMode="auto">
          <a:xfrm>
            <a:off x="446088" y="747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2.7  </a:t>
            </a:r>
            <a:r>
              <a:rPr lang="zh-CN" altLang="en-US" sz="3600" b="0"/>
              <a:t>其他</a:t>
            </a:r>
            <a:r>
              <a:rPr lang="zh-CN" altLang="en-US" sz="3600">
                <a:solidFill>
                  <a:srgbClr val="080808"/>
                </a:solidFill>
              </a:rPr>
              <a:t>任务管理函数</a:t>
            </a:r>
          </a:p>
        </p:txBody>
      </p:sp>
      <p:sp>
        <p:nvSpPr>
          <p:cNvPr id="77830" name="Text Box 3">
            <a:extLst>
              <a:ext uri="{FF2B5EF4-FFF2-40B4-BE49-F238E27FC236}">
                <a16:creationId xmlns:a16="http://schemas.microsoft.com/office/drawing/2014/main" id="{FF372556-43EE-CC96-5DDB-9B6325151FEB}"/>
              </a:ext>
            </a:extLst>
          </p:cNvPr>
          <p:cNvSpPr txBox="1">
            <a:spLocks noChangeArrowheads="1"/>
          </p:cNvSpPr>
          <p:nvPr/>
        </p:nvSpPr>
        <p:spPr bwMode="auto">
          <a:xfrm>
            <a:off x="468313" y="15605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任务的删除函数原型</a:t>
            </a:r>
          </a:p>
        </p:txBody>
      </p:sp>
      <p:sp>
        <p:nvSpPr>
          <p:cNvPr id="77831" name="Text Box 4" descr="蓝色面巾纸">
            <a:extLst>
              <a:ext uri="{FF2B5EF4-FFF2-40B4-BE49-F238E27FC236}">
                <a16:creationId xmlns:a16="http://schemas.microsoft.com/office/drawing/2014/main" id="{71CA0E50-62F5-6508-D8F0-5238FC25E75C}"/>
              </a:ext>
            </a:extLst>
          </p:cNvPr>
          <p:cNvSpPr txBox="1">
            <a:spLocks noChangeArrowheads="1"/>
          </p:cNvSpPr>
          <p:nvPr/>
        </p:nvSpPr>
        <p:spPr bwMode="auto">
          <a:xfrm>
            <a:off x="1044575" y="2205038"/>
            <a:ext cx="6911975" cy="10048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4013" indent="-3540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a:p>
            <a:pPr eaLnBrk="1" hangingPunct="1">
              <a:spcBef>
                <a:spcPct val="0"/>
              </a:spcBef>
              <a:buClr>
                <a:srgbClr val="FF9900"/>
              </a:buClr>
              <a:buSzPct val="70000"/>
              <a:buFont typeface="Wingdings" panose="05000000000000000000" pitchFamily="2" charset="2"/>
              <a:buNone/>
            </a:pPr>
            <a:r>
              <a:rPr lang="en-US" altLang="zh-CN">
                <a:latin typeface="Arial Narrow" panose="020B0606020202030204" pitchFamily="34" charset="0"/>
              </a:rPr>
              <a:t>INT8U OSTaskDel( INT8U  prio );</a:t>
            </a:r>
          </a:p>
          <a:p>
            <a:pPr algn="ctr" eaLnBrk="1" hangingPunct="1">
              <a:spcBef>
                <a:spcPct val="0"/>
              </a:spcBef>
              <a:buClr>
                <a:srgbClr val="FF9900"/>
              </a:buClr>
              <a:buSzPct val="70000"/>
              <a:buFont typeface="Wingdings" panose="05000000000000000000" pitchFamily="2" charset="2"/>
              <a:buNone/>
            </a:pPr>
            <a:endParaRPr lang="en-US" altLang="zh-CN" sz="1400">
              <a:latin typeface="Arial Narrow" panose="020B0606020202030204" pitchFamily="34" charset="0"/>
            </a:endParaRPr>
          </a:p>
        </p:txBody>
      </p:sp>
      <p:sp>
        <p:nvSpPr>
          <p:cNvPr id="77832" name="Text Box 5" descr="羊皮纸">
            <a:extLst>
              <a:ext uri="{FF2B5EF4-FFF2-40B4-BE49-F238E27FC236}">
                <a16:creationId xmlns:a16="http://schemas.microsoft.com/office/drawing/2014/main" id="{E97593BF-5CD6-9473-D3F0-AD308DEBC155}"/>
              </a:ext>
            </a:extLst>
          </p:cNvPr>
          <p:cNvSpPr txBox="1">
            <a:spLocks noChangeArrowheads="1"/>
          </p:cNvSpPr>
          <p:nvPr/>
        </p:nvSpPr>
        <p:spPr bwMode="auto">
          <a:xfrm>
            <a:off x="755650" y="3429000"/>
            <a:ext cx="7993063" cy="271145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600"/>
              <a:t>函数说明：</a:t>
            </a:r>
          </a:p>
          <a:p>
            <a:pPr eaLnBrk="1" hangingPunct="1">
              <a:buClr>
                <a:srgbClr val="3399FF"/>
              </a:buClr>
              <a:buSzPct val="50000"/>
            </a:pPr>
            <a:r>
              <a:rPr lang="zh-CN" altLang="en-US" sz="2600">
                <a:latin typeface="Arial Narrow" panose="020B0606020202030204" pitchFamily="34" charset="0"/>
              </a:rPr>
              <a:t>使用 </a:t>
            </a:r>
            <a:r>
              <a:rPr lang="en-US" altLang="zh-CN" sz="2600">
                <a:solidFill>
                  <a:srgbClr val="FF0000"/>
                </a:solidFill>
                <a:latin typeface="Arial Narrow" panose="020B0606020202030204" pitchFamily="34" charset="0"/>
              </a:rPr>
              <a:t>OS_PRIO_SELF</a:t>
            </a:r>
            <a:r>
              <a:rPr lang="en-US" altLang="zh-CN" sz="2600">
                <a:latin typeface="Arial Narrow" panose="020B0606020202030204" pitchFamily="34" charset="0"/>
              </a:rPr>
              <a:t> </a:t>
            </a:r>
            <a:r>
              <a:rPr lang="zh-CN" altLang="en-US" sz="2600">
                <a:latin typeface="Arial Narrow" panose="020B0606020202030204" pitchFamily="34" charset="0"/>
              </a:rPr>
              <a:t>参数删除任务时是删除自身。</a:t>
            </a:r>
          </a:p>
          <a:p>
            <a:pPr eaLnBrk="1" hangingPunct="1">
              <a:buClr>
                <a:srgbClr val="3399FF"/>
              </a:buClr>
              <a:buSzPct val="50000"/>
            </a:pPr>
            <a:r>
              <a:rPr lang="zh-CN" altLang="en-US" sz="2600">
                <a:latin typeface="Arial Narrow" panose="020B0606020202030204" pitchFamily="34" charset="0"/>
              </a:rPr>
              <a:t>功能正确完成，函数返回 </a:t>
            </a:r>
            <a:r>
              <a:rPr lang="en-US" altLang="zh-CN" sz="2600">
                <a:latin typeface="Arial Narrow" panose="020B0606020202030204" pitchFamily="34" charset="0"/>
              </a:rPr>
              <a:t>OS_NO_ERR</a:t>
            </a:r>
            <a:r>
              <a:rPr lang="zh-CN" altLang="en-US" sz="2600">
                <a:latin typeface="Arial Narrow" panose="020B0606020202030204" pitchFamily="34" charset="0"/>
              </a:rPr>
              <a:t>。</a:t>
            </a:r>
          </a:p>
          <a:p>
            <a:pPr eaLnBrk="1" hangingPunct="1">
              <a:buClr>
                <a:srgbClr val="3399FF"/>
              </a:buClr>
              <a:buSzPct val="50000"/>
            </a:pPr>
            <a:r>
              <a:rPr lang="zh-CN" altLang="en-US" sz="2600">
                <a:latin typeface="Arial Narrow" panose="020B0606020202030204" pitchFamily="34" charset="0"/>
              </a:rPr>
              <a:t>删除一个任务实质上是删除该任务的</a:t>
            </a:r>
            <a:r>
              <a:rPr lang="en-US" altLang="zh-CN" sz="2600">
                <a:latin typeface="Arial Narrow" panose="020B0606020202030204" pitchFamily="34" charset="0"/>
              </a:rPr>
              <a:t>TCB</a:t>
            </a:r>
            <a:r>
              <a:rPr lang="zh-CN" altLang="en-US" sz="2600">
                <a:latin typeface="Arial Narrow" panose="020B0606020202030204" pitchFamily="34" charset="0"/>
              </a:rPr>
              <a:t>并归还到“空任务控制块链表” ，释放堆栈空间，并不删除任务代码。</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1">
            <a:extLst>
              <a:ext uri="{FF2B5EF4-FFF2-40B4-BE49-F238E27FC236}">
                <a16:creationId xmlns:a16="http://schemas.microsoft.com/office/drawing/2014/main" id="{B42F7435-C86B-849D-476F-ADE9F2C7008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8851" name="灯片编号占位符 2">
            <a:extLst>
              <a:ext uri="{FF2B5EF4-FFF2-40B4-BE49-F238E27FC236}">
                <a16:creationId xmlns:a16="http://schemas.microsoft.com/office/drawing/2014/main" id="{9EE103F9-D8D4-98C8-5D8B-F6B2B63E710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870CDE8-651A-4A6C-90D9-7AAB16F30336}" type="slidenum">
              <a:rPr lang="en-US" altLang="zh-CN" sz="1200" smtClean="0">
                <a:solidFill>
                  <a:srgbClr val="3366FF"/>
                </a:solidFill>
                <a:latin typeface="Arial Black" panose="020B0A04020102020204" pitchFamily="34" charset="0"/>
              </a:rPr>
              <a:pPr>
                <a:spcBef>
                  <a:spcPct val="0"/>
                </a:spcBef>
                <a:buClrTx/>
                <a:buSzTx/>
                <a:buFontTx/>
                <a:buNone/>
              </a:pPr>
              <a:t>74</a:t>
            </a:fld>
            <a:endParaRPr lang="en-US" altLang="zh-CN" sz="1200">
              <a:solidFill>
                <a:srgbClr val="3366FF"/>
              </a:solidFill>
              <a:latin typeface="Arial Black" panose="020B0A04020102020204" pitchFamily="34" charset="0"/>
            </a:endParaRPr>
          </a:p>
        </p:txBody>
      </p:sp>
      <p:sp>
        <p:nvSpPr>
          <p:cNvPr id="78852" name="日期占位符 3">
            <a:extLst>
              <a:ext uri="{FF2B5EF4-FFF2-40B4-BE49-F238E27FC236}">
                <a16:creationId xmlns:a16="http://schemas.microsoft.com/office/drawing/2014/main" id="{3FA975A2-C175-FEBD-3045-5BA49497939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156478A-6CD7-453D-A618-50CE4491BD6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8853" name="Rectangle 2">
            <a:extLst>
              <a:ext uri="{FF2B5EF4-FFF2-40B4-BE49-F238E27FC236}">
                <a16:creationId xmlns:a16="http://schemas.microsoft.com/office/drawing/2014/main" id="{D5B3AEDB-E080-D9ED-5F9B-63AE4DFCC95A}"/>
              </a:ext>
            </a:extLst>
          </p:cNvPr>
          <p:cNvSpPr>
            <a:spLocks noChangeArrowheads="1"/>
          </p:cNvSpPr>
          <p:nvPr/>
        </p:nvSpPr>
        <p:spPr bwMode="auto">
          <a:xfrm>
            <a:off x="446088" y="74453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2.7  </a:t>
            </a:r>
            <a:r>
              <a:rPr lang="zh-CN" altLang="en-US" sz="3600" b="0"/>
              <a:t>其他</a:t>
            </a:r>
            <a:r>
              <a:rPr lang="zh-CN" altLang="en-US" sz="3600">
                <a:solidFill>
                  <a:srgbClr val="080808"/>
                </a:solidFill>
              </a:rPr>
              <a:t>任务管理函数</a:t>
            </a:r>
          </a:p>
        </p:txBody>
      </p:sp>
      <p:sp>
        <p:nvSpPr>
          <p:cNvPr id="78854" name="Text Box 3">
            <a:extLst>
              <a:ext uri="{FF2B5EF4-FFF2-40B4-BE49-F238E27FC236}">
                <a16:creationId xmlns:a16="http://schemas.microsoft.com/office/drawing/2014/main" id="{C41F38FB-07E1-B94D-5569-DCA09D9D7167}"/>
              </a:ext>
            </a:extLst>
          </p:cNvPr>
          <p:cNvSpPr txBox="1">
            <a:spLocks noChangeArrowheads="1"/>
          </p:cNvSpPr>
          <p:nvPr/>
        </p:nvSpPr>
        <p:spPr bwMode="auto">
          <a:xfrm>
            <a:off x="468313" y="154146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zh-CN" altLang="en-US" sz="2800"/>
              <a:t>关于任务的删除</a:t>
            </a:r>
          </a:p>
        </p:txBody>
      </p:sp>
      <p:sp>
        <p:nvSpPr>
          <p:cNvPr id="78855" name="Text Box 5" descr="羊皮纸">
            <a:extLst>
              <a:ext uri="{FF2B5EF4-FFF2-40B4-BE49-F238E27FC236}">
                <a16:creationId xmlns:a16="http://schemas.microsoft.com/office/drawing/2014/main" id="{25F3E042-454A-17D6-FF15-6D305C7EF6E8}"/>
              </a:ext>
            </a:extLst>
          </p:cNvPr>
          <p:cNvSpPr txBox="1">
            <a:spLocks noChangeArrowheads="1"/>
          </p:cNvSpPr>
          <p:nvPr/>
        </p:nvSpPr>
        <p:spPr bwMode="auto">
          <a:xfrm>
            <a:off x="684213" y="2205038"/>
            <a:ext cx="7993062" cy="421163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66FF"/>
              </a:buClr>
              <a:buSzPct val="70000"/>
              <a:buFont typeface="Wingdings" panose="05000000000000000000" pitchFamily="2" charset="2"/>
              <a:buNone/>
            </a:pPr>
            <a:endParaRPr lang="en-US" altLang="zh-CN" sz="1400">
              <a:latin typeface="Arial Narrow" panose="020B0606020202030204" pitchFamily="34" charset="0"/>
            </a:endParaRPr>
          </a:p>
          <a:p>
            <a:pPr eaLnBrk="1" hangingPunct="1">
              <a:buClr>
                <a:srgbClr val="3366FF"/>
              </a:buClr>
              <a:buSzPct val="70000"/>
              <a:buFont typeface="Wingdings" panose="05000000000000000000" pitchFamily="2" charset="2"/>
              <a:buChar char="Ø"/>
            </a:pPr>
            <a:r>
              <a:rPr lang="en-US" altLang="zh-CN" sz="2400">
                <a:latin typeface="Arial Narrow" panose="020B0606020202030204" pitchFamily="34" charset="0"/>
              </a:rPr>
              <a:t>“</a:t>
            </a:r>
            <a:r>
              <a:rPr lang="zh-CN" altLang="en-US" sz="2400">
                <a:latin typeface="Arial Narrow" panose="020B0606020202030204" pitchFamily="34" charset="0"/>
              </a:rPr>
              <a:t>任务</a:t>
            </a:r>
            <a:r>
              <a:rPr lang="en-US" altLang="zh-CN" sz="2400">
                <a:latin typeface="Arial Narrow" panose="020B0606020202030204" pitchFamily="34" charset="0"/>
              </a:rPr>
              <a:t>A” </a:t>
            </a:r>
            <a:r>
              <a:rPr lang="zh-CN" altLang="en-US" sz="2400">
                <a:latin typeface="Arial Narrow" panose="020B0606020202030204" pitchFamily="34" charset="0"/>
              </a:rPr>
              <a:t>在删除 “任务</a:t>
            </a:r>
            <a:r>
              <a:rPr lang="en-US" altLang="zh-CN" sz="2400">
                <a:latin typeface="Arial Narrow" panose="020B0606020202030204" pitchFamily="34" charset="0"/>
              </a:rPr>
              <a:t>B” </a:t>
            </a:r>
            <a:r>
              <a:rPr lang="zh-CN" altLang="en-US" sz="2400">
                <a:latin typeface="Arial Narrow" panose="020B0606020202030204" pitchFamily="34" charset="0"/>
              </a:rPr>
              <a:t>时，</a:t>
            </a:r>
            <a:r>
              <a:rPr lang="en-US" altLang="zh-CN" sz="2400">
                <a:latin typeface="Arial Narrow" panose="020B0606020202030204" pitchFamily="34" charset="0"/>
              </a:rPr>
              <a:t>A</a:t>
            </a:r>
            <a:r>
              <a:rPr lang="zh-CN" altLang="en-US" sz="2400">
                <a:latin typeface="Arial Narrow" panose="020B0606020202030204" pitchFamily="34" charset="0"/>
              </a:rPr>
              <a:t>不能知道</a:t>
            </a:r>
            <a:r>
              <a:rPr lang="en-US" altLang="zh-CN" sz="2400">
                <a:latin typeface="Arial Narrow" panose="020B0606020202030204" pitchFamily="34" charset="0"/>
              </a:rPr>
              <a:t>B</a:t>
            </a:r>
            <a:r>
              <a:rPr lang="zh-CN" altLang="en-US" sz="2400">
                <a:latin typeface="Arial Narrow" panose="020B0606020202030204" pitchFamily="34" charset="0"/>
              </a:rPr>
              <a:t>的详细情况，可能会造成</a:t>
            </a:r>
            <a:r>
              <a:rPr lang="en-US" altLang="zh-CN" sz="2400">
                <a:latin typeface="Arial Narrow" panose="020B0606020202030204" pitchFamily="34" charset="0"/>
              </a:rPr>
              <a:t>A</a:t>
            </a:r>
            <a:r>
              <a:rPr lang="zh-CN" altLang="en-US" sz="2400">
                <a:latin typeface="Arial Narrow" panose="020B0606020202030204" pitchFamily="34" charset="0"/>
              </a:rPr>
              <a:t>已申请的资源从系统中永久的丢失 </a:t>
            </a:r>
            <a:r>
              <a:rPr lang="en-US" altLang="zh-CN" sz="2400">
                <a:latin typeface="Arial Narrow" panose="020B0606020202030204" pitchFamily="34" charset="0"/>
              </a:rPr>
              <a:t>--- </a:t>
            </a:r>
            <a:r>
              <a:rPr lang="zh-CN" altLang="en-US" sz="2400">
                <a:latin typeface="Arial Narrow" panose="020B0606020202030204" pitchFamily="34" charset="0"/>
              </a:rPr>
              <a:t>这不合理！</a:t>
            </a:r>
          </a:p>
          <a:p>
            <a:pPr eaLnBrk="1" hangingPunct="1">
              <a:buClr>
                <a:srgbClr val="3366FF"/>
              </a:buClr>
              <a:buSzPct val="70000"/>
              <a:buFont typeface="Wingdings" panose="05000000000000000000" pitchFamily="2" charset="2"/>
              <a:buChar char="Ø"/>
            </a:pPr>
            <a:r>
              <a:rPr lang="zh-CN" altLang="en-US" sz="2400">
                <a:latin typeface="Arial Narrow" panose="020B0606020202030204" pitchFamily="34" charset="0"/>
              </a:rPr>
              <a:t>正确的方法 </a:t>
            </a:r>
            <a:r>
              <a:rPr lang="en-US" altLang="zh-CN" sz="2400">
                <a:latin typeface="Arial Narrow" panose="020B0606020202030204" pitchFamily="34" charset="0"/>
              </a:rPr>
              <a:t>--- Task_A </a:t>
            </a:r>
            <a:r>
              <a:rPr lang="zh-CN" altLang="en-US" sz="2400">
                <a:latin typeface="Arial Narrow" panose="020B0606020202030204" pitchFamily="34" charset="0"/>
              </a:rPr>
              <a:t>欲删除 </a:t>
            </a:r>
            <a:r>
              <a:rPr lang="en-US" altLang="zh-CN" sz="2400">
                <a:latin typeface="Arial Narrow" panose="020B0606020202030204" pitchFamily="34" charset="0"/>
              </a:rPr>
              <a:t>Task_B </a:t>
            </a:r>
            <a:r>
              <a:rPr lang="zh-CN" altLang="en-US" sz="2400">
                <a:latin typeface="Arial Narrow" panose="020B0606020202030204" pitchFamily="34" charset="0"/>
              </a:rPr>
              <a:t>时，</a:t>
            </a:r>
            <a:r>
              <a:rPr lang="en-US" altLang="zh-CN" sz="2400">
                <a:latin typeface="Arial Narrow" panose="020B0606020202030204" pitchFamily="34" charset="0"/>
              </a:rPr>
              <a:t>A </a:t>
            </a:r>
            <a:r>
              <a:rPr lang="zh-CN" altLang="en-US" sz="2400">
                <a:latin typeface="Arial Narrow" panose="020B0606020202030204" pitchFamily="34" charset="0"/>
              </a:rPr>
              <a:t>提出删除申请，</a:t>
            </a:r>
            <a:r>
              <a:rPr lang="en-US" altLang="zh-CN" sz="2400">
                <a:latin typeface="Arial Narrow" panose="020B0606020202030204" pitchFamily="34" charset="0"/>
              </a:rPr>
              <a:t>B</a:t>
            </a:r>
            <a:r>
              <a:rPr lang="zh-CN" altLang="en-US" sz="2400">
                <a:latin typeface="Arial Narrow" panose="020B0606020202030204" pitchFamily="34" charset="0"/>
              </a:rPr>
              <a:t>根据自身的情况处理后，删除自身。</a:t>
            </a:r>
          </a:p>
          <a:p>
            <a:pPr eaLnBrk="1" hangingPunct="1">
              <a:buClr>
                <a:srgbClr val="3366FF"/>
              </a:buClr>
              <a:buSzPct val="70000"/>
              <a:buFont typeface="Wingdings" panose="05000000000000000000" pitchFamily="2" charset="2"/>
              <a:buChar char="Ø"/>
            </a:pPr>
            <a:r>
              <a:rPr lang="en-US" altLang="zh-CN" sz="2400">
                <a:latin typeface="Arial Narrow" panose="020B0606020202030204" pitchFamily="34" charset="0"/>
              </a:rPr>
              <a:t>uC/OS-II </a:t>
            </a:r>
            <a:r>
              <a:rPr lang="zh-CN" altLang="en-US" sz="2400">
                <a:latin typeface="Arial Narrow" panose="020B0606020202030204" pitchFamily="34" charset="0"/>
              </a:rPr>
              <a:t>中的 </a:t>
            </a:r>
            <a:r>
              <a:rPr lang="en-US" altLang="zh-CN" sz="2400">
                <a:latin typeface="Arial Narrow" panose="020B0606020202030204" pitchFamily="34" charset="0"/>
              </a:rPr>
              <a:t>TCB </a:t>
            </a:r>
            <a:r>
              <a:rPr lang="zh-CN" altLang="en-US" sz="2400">
                <a:latin typeface="Arial Narrow" panose="020B0606020202030204" pitchFamily="34" charset="0"/>
              </a:rPr>
              <a:t>含有一个成员 </a:t>
            </a:r>
            <a:r>
              <a:rPr lang="en-US" altLang="zh-CN" sz="2400">
                <a:latin typeface="Arial Narrow" panose="020B0606020202030204" pitchFamily="34" charset="0"/>
              </a:rPr>
              <a:t>OSTCBDelReq </a:t>
            </a:r>
            <a:r>
              <a:rPr lang="zh-CN" altLang="en-US" sz="2400">
                <a:latin typeface="Arial Narrow" panose="020B0606020202030204" pitchFamily="34" charset="0"/>
              </a:rPr>
              <a:t>用于标示有其他任务申请删除它。</a:t>
            </a:r>
          </a:p>
          <a:p>
            <a:pPr eaLnBrk="1" hangingPunct="1">
              <a:buClr>
                <a:srgbClr val="3366FF"/>
              </a:buClr>
              <a:buSzPct val="70000"/>
              <a:buFont typeface="Wingdings" panose="05000000000000000000" pitchFamily="2" charset="2"/>
              <a:buChar char="Ø"/>
            </a:pPr>
            <a:r>
              <a:rPr lang="zh-CN" altLang="en-US" sz="2400">
                <a:latin typeface="Arial Narrow" panose="020B0606020202030204" pitchFamily="34" charset="0"/>
              </a:rPr>
              <a:t>使用系统函数 </a:t>
            </a:r>
            <a:r>
              <a:rPr lang="en-US" altLang="zh-CN" sz="2400">
                <a:solidFill>
                  <a:srgbClr val="FF0000"/>
                </a:solidFill>
                <a:latin typeface="Arial Narrow" panose="020B0606020202030204" pitchFamily="34" charset="0"/>
              </a:rPr>
              <a:t>OSTaskDelReq( )</a:t>
            </a:r>
            <a:r>
              <a:rPr lang="en-US" altLang="zh-CN" sz="2400">
                <a:latin typeface="Arial Narrow" panose="020B0606020202030204" pitchFamily="34" charset="0"/>
              </a:rPr>
              <a:t> </a:t>
            </a:r>
            <a:r>
              <a:rPr lang="zh-CN" altLang="en-US" sz="2400">
                <a:latin typeface="Arial Narrow" panose="020B0606020202030204" pitchFamily="34" charset="0"/>
              </a:rPr>
              <a:t>提出任务删除申请。</a:t>
            </a:r>
          </a:p>
          <a:p>
            <a:pPr eaLnBrk="1" hangingPunct="1">
              <a:buClr>
                <a:srgbClr val="3366FF"/>
              </a:buClr>
              <a:buSzPct val="70000"/>
              <a:buFont typeface="Wingdings" panose="05000000000000000000" pitchFamily="2" charset="2"/>
              <a:buChar char="Ø"/>
            </a:pPr>
            <a:r>
              <a:rPr lang="en-US" altLang="zh-CN" sz="2400">
                <a:latin typeface="Arial Narrow" panose="020B0606020202030204" pitchFamily="34" charset="0"/>
              </a:rPr>
              <a:t>ISR </a:t>
            </a:r>
            <a:r>
              <a:rPr lang="zh-CN" altLang="en-US" sz="2400">
                <a:latin typeface="Arial Narrow" panose="020B0606020202030204" pitchFamily="34" charset="0"/>
              </a:rPr>
              <a:t>中不允许删除任务。</a:t>
            </a:r>
          </a:p>
          <a:p>
            <a:pPr eaLnBrk="1" hangingPunct="1">
              <a:buClr>
                <a:srgbClr val="3366FF"/>
              </a:buClr>
              <a:buSzPct val="70000"/>
              <a:buFont typeface="Wingdings" panose="05000000000000000000" pitchFamily="2" charset="2"/>
              <a:buNone/>
            </a:pPr>
            <a:endParaRPr lang="en-US" altLang="zh-CN" sz="1400">
              <a:latin typeface="Arial Narrow" panose="020B060602020203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1">
            <a:extLst>
              <a:ext uri="{FF2B5EF4-FFF2-40B4-BE49-F238E27FC236}">
                <a16:creationId xmlns:a16="http://schemas.microsoft.com/office/drawing/2014/main" id="{77ED7C16-EE18-1ADB-AE0D-AFF4D7C7357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79875" name="灯片编号占位符 2">
            <a:extLst>
              <a:ext uri="{FF2B5EF4-FFF2-40B4-BE49-F238E27FC236}">
                <a16:creationId xmlns:a16="http://schemas.microsoft.com/office/drawing/2014/main" id="{88688559-16DC-C3BF-9E76-19CF9B0DA0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5E46621-A376-404B-9E8E-B1A3E89459AE}" type="slidenum">
              <a:rPr lang="en-US" altLang="zh-CN" sz="1200" smtClean="0">
                <a:solidFill>
                  <a:srgbClr val="3366FF"/>
                </a:solidFill>
                <a:latin typeface="Arial Black" panose="020B0A04020102020204" pitchFamily="34" charset="0"/>
              </a:rPr>
              <a:pPr>
                <a:spcBef>
                  <a:spcPct val="0"/>
                </a:spcBef>
                <a:buClrTx/>
                <a:buSzTx/>
                <a:buFontTx/>
                <a:buNone/>
              </a:pPr>
              <a:t>75</a:t>
            </a:fld>
            <a:endParaRPr lang="en-US" altLang="zh-CN" sz="1200">
              <a:solidFill>
                <a:srgbClr val="3366FF"/>
              </a:solidFill>
              <a:latin typeface="Arial Black" panose="020B0A04020102020204" pitchFamily="34" charset="0"/>
            </a:endParaRPr>
          </a:p>
        </p:txBody>
      </p:sp>
      <p:sp>
        <p:nvSpPr>
          <p:cNvPr id="79876" name="日期占位符 3">
            <a:extLst>
              <a:ext uri="{FF2B5EF4-FFF2-40B4-BE49-F238E27FC236}">
                <a16:creationId xmlns:a16="http://schemas.microsoft.com/office/drawing/2014/main" id="{8EBF4040-6A65-1AAB-8FFC-7F488C004FE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9EADAF6-F9F9-4C5D-98E2-E7DA63457E3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79877" name="Rectangle 2">
            <a:extLst>
              <a:ext uri="{FF2B5EF4-FFF2-40B4-BE49-F238E27FC236}">
                <a16:creationId xmlns:a16="http://schemas.microsoft.com/office/drawing/2014/main" id="{E8748B8F-DDBF-693B-50C0-221884A3F9C6}"/>
              </a:ext>
            </a:extLst>
          </p:cNvPr>
          <p:cNvSpPr>
            <a:spLocks noChangeArrowheads="1"/>
          </p:cNvSpPr>
          <p:nvPr/>
        </p:nvSpPr>
        <p:spPr bwMode="auto">
          <a:xfrm>
            <a:off x="446088"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2.7  </a:t>
            </a:r>
            <a:r>
              <a:rPr lang="zh-CN" altLang="en-US" sz="3600" b="0"/>
              <a:t>其他</a:t>
            </a:r>
            <a:r>
              <a:rPr lang="zh-CN" altLang="en-US" sz="3600">
                <a:solidFill>
                  <a:srgbClr val="080808"/>
                </a:solidFill>
              </a:rPr>
              <a:t>任务管理函数</a:t>
            </a:r>
          </a:p>
        </p:txBody>
      </p:sp>
      <p:sp>
        <p:nvSpPr>
          <p:cNvPr id="79878" name="Text Box 3">
            <a:extLst>
              <a:ext uri="{FF2B5EF4-FFF2-40B4-BE49-F238E27FC236}">
                <a16:creationId xmlns:a16="http://schemas.microsoft.com/office/drawing/2014/main" id="{70C16BBC-FF0B-F53C-2DB9-C25A2C93E5B1}"/>
              </a:ext>
            </a:extLst>
          </p:cNvPr>
          <p:cNvSpPr txBox="1">
            <a:spLocks noChangeArrowheads="1"/>
          </p:cNvSpPr>
          <p:nvPr/>
        </p:nvSpPr>
        <p:spPr bwMode="auto">
          <a:xfrm>
            <a:off x="468313" y="17002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en-US" altLang="zh-CN" sz="2800"/>
              <a:t>OSTaskDelReq( ) </a:t>
            </a:r>
            <a:r>
              <a:rPr lang="zh-CN" altLang="en-US" sz="2800"/>
              <a:t>系统函数原型：</a:t>
            </a:r>
          </a:p>
        </p:txBody>
      </p:sp>
      <p:sp>
        <p:nvSpPr>
          <p:cNvPr id="79879" name="Text Box 4" descr="蓝色面巾纸">
            <a:extLst>
              <a:ext uri="{FF2B5EF4-FFF2-40B4-BE49-F238E27FC236}">
                <a16:creationId xmlns:a16="http://schemas.microsoft.com/office/drawing/2014/main" id="{F2CADD26-59CB-4C6F-5872-293DD99E2C9E}"/>
              </a:ext>
            </a:extLst>
          </p:cNvPr>
          <p:cNvSpPr txBox="1">
            <a:spLocks noChangeArrowheads="1"/>
          </p:cNvSpPr>
          <p:nvPr/>
        </p:nvSpPr>
        <p:spPr bwMode="auto">
          <a:xfrm>
            <a:off x="1260475" y="2328863"/>
            <a:ext cx="6480175" cy="88423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3366FF"/>
              </a:buClr>
              <a:buSzPct val="70000"/>
              <a:buFont typeface="Wingdings" panose="05000000000000000000" pitchFamily="2" charset="2"/>
              <a:buNone/>
            </a:pPr>
            <a:endParaRPr lang="en-US" altLang="zh-CN" sz="1000">
              <a:latin typeface="Arial Narrow" panose="020B0606020202030204" pitchFamily="34" charset="0"/>
            </a:endParaRPr>
          </a:p>
          <a:p>
            <a:pPr algn="ctr" eaLnBrk="1" hangingPunct="1">
              <a:spcBef>
                <a:spcPct val="0"/>
              </a:spcBef>
              <a:buClr>
                <a:srgbClr val="3366FF"/>
              </a:buClr>
              <a:buSzPct val="70000"/>
              <a:buFont typeface="Wingdings" panose="05000000000000000000" pitchFamily="2" charset="2"/>
              <a:buNone/>
            </a:pPr>
            <a:r>
              <a:rPr lang="en-US" altLang="zh-CN" sz="2800">
                <a:latin typeface="Arial Narrow" panose="020B0606020202030204" pitchFamily="34" charset="0"/>
              </a:rPr>
              <a:t>	</a:t>
            </a:r>
            <a:r>
              <a:rPr lang="en-US" altLang="zh-CN">
                <a:latin typeface="Arial Narrow" panose="020B0606020202030204" pitchFamily="34" charset="0"/>
              </a:rPr>
              <a:t>INT8U  OSTaskDelReq( INT8U  prio ) ;</a:t>
            </a:r>
          </a:p>
          <a:p>
            <a:pPr eaLnBrk="1" hangingPunct="1">
              <a:spcBef>
                <a:spcPct val="0"/>
              </a:spcBef>
              <a:buClr>
                <a:srgbClr val="3366FF"/>
              </a:buClr>
              <a:buSzPct val="70000"/>
              <a:buFont typeface="Wingdings" panose="05000000000000000000" pitchFamily="2" charset="2"/>
              <a:buNone/>
            </a:pPr>
            <a:endParaRPr lang="en-US" altLang="zh-CN" sz="1000">
              <a:latin typeface="Arial Narrow" panose="020B0606020202030204" pitchFamily="34" charset="0"/>
            </a:endParaRPr>
          </a:p>
        </p:txBody>
      </p:sp>
      <p:sp>
        <p:nvSpPr>
          <p:cNvPr id="97285" name="Text Box 5">
            <a:extLst>
              <a:ext uri="{FF2B5EF4-FFF2-40B4-BE49-F238E27FC236}">
                <a16:creationId xmlns:a16="http://schemas.microsoft.com/office/drawing/2014/main" id="{6A6C60ED-F111-311B-5F9B-8A7F1289560C}"/>
              </a:ext>
            </a:extLst>
          </p:cNvPr>
          <p:cNvSpPr txBox="1">
            <a:spLocks noChangeArrowheads="1"/>
          </p:cNvSpPr>
          <p:nvPr/>
        </p:nvSpPr>
        <p:spPr bwMode="auto">
          <a:xfrm>
            <a:off x="1403350" y="3716338"/>
            <a:ext cx="7345363"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ClrTx/>
              <a:buSzTx/>
              <a:buFontTx/>
              <a:buNone/>
            </a:pPr>
            <a:r>
              <a:rPr lang="zh-CN" altLang="en-US" sz="2400"/>
              <a:t>优先级指定其他任务时的函数返回值说明：</a:t>
            </a:r>
          </a:p>
          <a:p>
            <a:pPr eaLnBrk="1" hangingPunct="1">
              <a:spcBef>
                <a:spcPct val="25000"/>
              </a:spcBef>
              <a:buClr>
                <a:srgbClr val="FF9966"/>
              </a:buClr>
              <a:buSzPct val="60000"/>
              <a:buFont typeface="Wingdings" panose="05000000000000000000" pitchFamily="2" charset="2"/>
              <a:buChar char="Ø"/>
            </a:pPr>
            <a:r>
              <a:rPr lang="en-US" altLang="zh-CN" sz="2400">
                <a:latin typeface="Arial Narrow" panose="020B0606020202030204" pitchFamily="34" charset="0"/>
              </a:rPr>
              <a:t>OS_TASK_IDEL_PRIO --- </a:t>
            </a:r>
            <a:r>
              <a:rPr lang="zh-CN" altLang="en-US" sz="2400">
                <a:latin typeface="Arial Narrow" panose="020B0606020202030204" pitchFamily="34" charset="0"/>
              </a:rPr>
              <a:t>申请删除空闲任务出错。</a:t>
            </a:r>
          </a:p>
          <a:p>
            <a:pPr eaLnBrk="1" hangingPunct="1">
              <a:spcBef>
                <a:spcPct val="25000"/>
              </a:spcBef>
              <a:buClr>
                <a:srgbClr val="FF9966"/>
              </a:buClr>
              <a:buSzPct val="60000"/>
              <a:buFont typeface="Wingdings" panose="05000000000000000000" pitchFamily="2" charset="2"/>
              <a:buChar char="Ø"/>
            </a:pPr>
            <a:r>
              <a:rPr lang="en-US" altLang="zh-CN" sz="2400">
                <a:latin typeface="Arial Narrow" panose="020B0606020202030204" pitchFamily="34" charset="0"/>
              </a:rPr>
              <a:t>OS_PRIO_INVALID --- </a:t>
            </a:r>
            <a:r>
              <a:rPr lang="zh-CN" altLang="en-US" sz="2400">
                <a:latin typeface="Arial Narrow" panose="020B0606020202030204" pitchFamily="34" charset="0"/>
              </a:rPr>
              <a:t>优先级指定出错。</a:t>
            </a:r>
          </a:p>
          <a:p>
            <a:pPr eaLnBrk="1" hangingPunct="1">
              <a:spcBef>
                <a:spcPct val="25000"/>
              </a:spcBef>
              <a:buClr>
                <a:srgbClr val="FF9966"/>
              </a:buClr>
              <a:buSzPct val="60000"/>
              <a:buFont typeface="Wingdings" panose="05000000000000000000" pitchFamily="2" charset="2"/>
              <a:buChar char="Ø"/>
            </a:pPr>
            <a:r>
              <a:rPr lang="en-US" altLang="zh-CN" sz="2400">
                <a:latin typeface="Arial Narrow" panose="020B0606020202030204" pitchFamily="34" charset="0"/>
              </a:rPr>
              <a:t>OS_TASK_NOT_EXIST --- </a:t>
            </a:r>
            <a:r>
              <a:rPr lang="zh-CN" altLang="en-US" sz="2400">
                <a:latin typeface="Arial Narrow" panose="020B0606020202030204" pitchFamily="34" charset="0"/>
              </a:rPr>
              <a:t>优先级指定的任务已不存在。</a:t>
            </a:r>
          </a:p>
          <a:p>
            <a:pPr eaLnBrk="1" hangingPunct="1">
              <a:spcBef>
                <a:spcPct val="25000"/>
              </a:spcBef>
              <a:buClr>
                <a:srgbClr val="FF9966"/>
              </a:buClr>
              <a:buSzPct val="60000"/>
              <a:buFont typeface="Wingdings" panose="05000000000000000000" pitchFamily="2" charset="2"/>
              <a:buChar char="Ø"/>
            </a:pPr>
            <a:r>
              <a:rPr lang="en-US" altLang="zh-CN" sz="2400">
                <a:latin typeface="Arial Narrow" panose="020B0606020202030204" pitchFamily="34" charset="0"/>
              </a:rPr>
              <a:t>OS_NO_ERR --- </a:t>
            </a:r>
            <a:r>
              <a:rPr lang="zh-CN" altLang="en-US" sz="2400">
                <a:latin typeface="Arial Narrow" panose="020B0606020202030204" pitchFamily="34" charset="0"/>
              </a:rPr>
              <a:t>删除申请成功。</a:t>
            </a:r>
          </a:p>
        </p:txBody>
      </p:sp>
      <p:sp>
        <p:nvSpPr>
          <p:cNvPr id="97287" name="Text Box 7" descr="羊皮纸">
            <a:extLst>
              <a:ext uri="{FF2B5EF4-FFF2-40B4-BE49-F238E27FC236}">
                <a16:creationId xmlns:a16="http://schemas.microsoft.com/office/drawing/2014/main" id="{D9FED719-6D35-2506-812A-6DA0A809F808}"/>
              </a:ext>
            </a:extLst>
          </p:cNvPr>
          <p:cNvSpPr txBox="1">
            <a:spLocks noChangeArrowheads="1"/>
          </p:cNvSpPr>
          <p:nvPr/>
        </p:nvSpPr>
        <p:spPr bwMode="auto">
          <a:xfrm>
            <a:off x="971550" y="3573463"/>
            <a:ext cx="7416800" cy="2100262"/>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
              </a:spcBef>
              <a:buClrTx/>
              <a:buSzTx/>
              <a:buFontTx/>
              <a:buNone/>
            </a:pPr>
            <a:endParaRPr lang="en-US" altLang="zh-CN" sz="900"/>
          </a:p>
          <a:p>
            <a:pPr eaLnBrk="1" hangingPunct="1">
              <a:spcBef>
                <a:spcPct val="5000"/>
              </a:spcBef>
              <a:buClrTx/>
              <a:buSzTx/>
              <a:buFontTx/>
              <a:buNone/>
            </a:pPr>
            <a:r>
              <a:rPr lang="zh-CN" altLang="en-US" sz="2800"/>
              <a:t>特别说明：此函数的参数可以是 “优先级” 指	定的其他任务，也可以是</a:t>
            </a:r>
            <a:r>
              <a:rPr lang="en-US" altLang="zh-CN" sz="2800">
                <a:latin typeface="Arial Narrow" panose="020B0606020202030204" pitchFamily="34" charset="0"/>
              </a:rPr>
              <a:t>OS_PRIO_SELF</a:t>
            </a:r>
            <a:r>
              <a:rPr lang="en-US" altLang="zh-CN" sz="2800"/>
              <a:t> 		</a:t>
            </a:r>
            <a:r>
              <a:rPr lang="zh-CN" altLang="en-US" sz="2800"/>
              <a:t>指定自身，后者用于查阅是否有其他任	务申请删除本任务。</a:t>
            </a:r>
          </a:p>
          <a:p>
            <a:pPr eaLnBrk="1" hangingPunct="1">
              <a:spcBef>
                <a:spcPct val="5000"/>
              </a:spcBef>
              <a:buClrTx/>
              <a:buSzTx/>
              <a:buFontTx/>
              <a:buNone/>
            </a:pPr>
            <a:endParaRPr lang="en-US" altLang="zh-CN" sz="9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7287"/>
                                        </p:tgtEl>
                                        <p:attrNameLst>
                                          <p:attrName>style.visibility</p:attrName>
                                        </p:attrNameLst>
                                      </p:cBhvr>
                                      <p:to>
                                        <p:strVal val="visible"/>
                                      </p:to>
                                    </p:set>
                                    <p:animEffect transition="in" filter="blinds(vertical)">
                                      <p:cBhvr>
                                        <p:cTn id="7" dur="500"/>
                                        <p:tgtEl>
                                          <p:spTgt spid="97287"/>
                                        </p:tgtEl>
                                      </p:cBhvr>
                                    </p:animEffect>
                                  </p:childTnLst>
                                  <p:subTnLst>
                                    <p:set>
                                      <p:cBhvr override="childStyle">
                                        <p:cTn dur="1" fill="hold" display="0" masterRel="nextClick" afterEffect="1"/>
                                        <p:tgtEl>
                                          <p:spTgt spid="97287"/>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85"/>
                                        </p:tgtEl>
                                        <p:attrNameLst>
                                          <p:attrName>style.visibility</p:attrName>
                                        </p:attrNameLst>
                                      </p:cBhvr>
                                      <p:to>
                                        <p:strVal val="visible"/>
                                      </p:to>
                                    </p:set>
                                    <p:animEffect transition="in" filter="blinds(horizontal)">
                                      <p:cBhvr>
                                        <p:cTn id="12" dur="500"/>
                                        <p:tgtEl>
                                          <p:spTgt spid="97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p:bldP spid="9728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1">
            <a:extLst>
              <a:ext uri="{FF2B5EF4-FFF2-40B4-BE49-F238E27FC236}">
                <a16:creationId xmlns:a16="http://schemas.microsoft.com/office/drawing/2014/main" id="{CB9AF8E1-2E4B-0318-BEBF-9854C2C1D28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0899" name="灯片编号占位符 2">
            <a:extLst>
              <a:ext uri="{FF2B5EF4-FFF2-40B4-BE49-F238E27FC236}">
                <a16:creationId xmlns:a16="http://schemas.microsoft.com/office/drawing/2014/main" id="{8FF7479F-844A-1C97-2251-73F186F9084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89E9FAC-311D-490B-9EC0-BC3219059E9B}" type="slidenum">
              <a:rPr lang="en-US" altLang="zh-CN" sz="1200" smtClean="0">
                <a:solidFill>
                  <a:srgbClr val="3366FF"/>
                </a:solidFill>
                <a:latin typeface="Arial Black" panose="020B0A04020102020204" pitchFamily="34" charset="0"/>
              </a:rPr>
              <a:pPr>
                <a:spcBef>
                  <a:spcPct val="0"/>
                </a:spcBef>
                <a:buClrTx/>
                <a:buSzTx/>
                <a:buFontTx/>
                <a:buNone/>
              </a:pPr>
              <a:t>76</a:t>
            </a:fld>
            <a:endParaRPr lang="en-US" altLang="zh-CN" sz="1200">
              <a:solidFill>
                <a:srgbClr val="3366FF"/>
              </a:solidFill>
              <a:latin typeface="Arial Black" panose="020B0A04020102020204" pitchFamily="34" charset="0"/>
            </a:endParaRPr>
          </a:p>
        </p:txBody>
      </p:sp>
      <p:sp>
        <p:nvSpPr>
          <p:cNvPr id="80900" name="日期占位符 3">
            <a:extLst>
              <a:ext uri="{FF2B5EF4-FFF2-40B4-BE49-F238E27FC236}">
                <a16:creationId xmlns:a16="http://schemas.microsoft.com/office/drawing/2014/main" id="{55D5F910-F4AD-5F65-6400-F289F7E8BC9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19F9DC7-5A63-4DF2-B3D4-48DEE0BEC46B}"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0901" name="Rectangle 2">
            <a:extLst>
              <a:ext uri="{FF2B5EF4-FFF2-40B4-BE49-F238E27FC236}">
                <a16:creationId xmlns:a16="http://schemas.microsoft.com/office/drawing/2014/main" id="{6C150AA8-6B38-DB3F-EF76-6E78BDDA3AAE}"/>
              </a:ext>
            </a:extLst>
          </p:cNvPr>
          <p:cNvSpPr>
            <a:spLocks noChangeArrowheads="1"/>
          </p:cNvSpPr>
          <p:nvPr/>
        </p:nvSpPr>
        <p:spPr bwMode="auto">
          <a:xfrm>
            <a:off x="446088" y="8890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2.7  </a:t>
            </a:r>
            <a:r>
              <a:rPr lang="zh-CN" altLang="en-US" sz="3600" b="0"/>
              <a:t>其他</a:t>
            </a:r>
            <a:r>
              <a:rPr lang="zh-CN" altLang="en-US" sz="3600">
                <a:solidFill>
                  <a:srgbClr val="080808"/>
                </a:solidFill>
              </a:rPr>
              <a:t>任务管理函数</a:t>
            </a:r>
          </a:p>
        </p:txBody>
      </p:sp>
      <p:sp>
        <p:nvSpPr>
          <p:cNvPr id="80902" name="Text Box 3">
            <a:extLst>
              <a:ext uri="{FF2B5EF4-FFF2-40B4-BE49-F238E27FC236}">
                <a16:creationId xmlns:a16="http://schemas.microsoft.com/office/drawing/2014/main" id="{FE43B7A9-BABA-9385-8DE1-5B7A3CD98117}"/>
              </a:ext>
            </a:extLst>
          </p:cNvPr>
          <p:cNvSpPr txBox="1">
            <a:spLocks noChangeArrowheads="1"/>
          </p:cNvSpPr>
          <p:nvPr/>
        </p:nvSpPr>
        <p:spPr bwMode="auto">
          <a:xfrm>
            <a:off x="468313" y="1700213"/>
            <a:ext cx="6840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en-US" altLang="zh-CN" sz="2800"/>
              <a:t>OSTaskDelReq( ) </a:t>
            </a:r>
            <a:r>
              <a:rPr lang="zh-CN" altLang="en-US" sz="2800"/>
              <a:t>系统函数原型：</a:t>
            </a:r>
          </a:p>
        </p:txBody>
      </p:sp>
      <p:sp>
        <p:nvSpPr>
          <p:cNvPr id="80903" name="Text Box 4" descr="蓝色面巾纸">
            <a:extLst>
              <a:ext uri="{FF2B5EF4-FFF2-40B4-BE49-F238E27FC236}">
                <a16:creationId xmlns:a16="http://schemas.microsoft.com/office/drawing/2014/main" id="{F9889312-4B93-E88F-CC40-43DD7D545343}"/>
              </a:ext>
            </a:extLst>
          </p:cNvPr>
          <p:cNvSpPr txBox="1">
            <a:spLocks noChangeArrowheads="1"/>
          </p:cNvSpPr>
          <p:nvPr/>
        </p:nvSpPr>
        <p:spPr bwMode="auto">
          <a:xfrm>
            <a:off x="900113" y="2328863"/>
            <a:ext cx="6480175" cy="88423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3366FF"/>
              </a:buClr>
              <a:buSzPct val="70000"/>
              <a:buFont typeface="Wingdings" panose="05000000000000000000" pitchFamily="2" charset="2"/>
              <a:buNone/>
            </a:pPr>
            <a:endParaRPr lang="en-US" altLang="zh-CN" sz="1000">
              <a:latin typeface="Arial Narrow" panose="020B0606020202030204" pitchFamily="34" charset="0"/>
            </a:endParaRPr>
          </a:p>
          <a:p>
            <a:pPr algn="ctr" eaLnBrk="1" hangingPunct="1">
              <a:spcBef>
                <a:spcPct val="0"/>
              </a:spcBef>
              <a:buClr>
                <a:srgbClr val="3366FF"/>
              </a:buClr>
              <a:buSzPct val="70000"/>
              <a:buFont typeface="Wingdings" panose="05000000000000000000" pitchFamily="2" charset="2"/>
              <a:buNone/>
            </a:pPr>
            <a:r>
              <a:rPr lang="en-US" altLang="zh-CN" sz="2800">
                <a:latin typeface="Arial Narrow" panose="020B0606020202030204" pitchFamily="34" charset="0"/>
              </a:rPr>
              <a:t>	</a:t>
            </a:r>
            <a:r>
              <a:rPr lang="en-US" altLang="zh-CN">
                <a:latin typeface="Arial Narrow" panose="020B0606020202030204" pitchFamily="34" charset="0"/>
              </a:rPr>
              <a:t>INT8U  OSTaskDelReq( INT8U  prio ) ;</a:t>
            </a:r>
          </a:p>
          <a:p>
            <a:pPr eaLnBrk="1" hangingPunct="1">
              <a:spcBef>
                <a:spcPct val="0"/>
              </a:spcBef>
              <a:buClr>
                <a:srgbClr val="3366FF"/>
              </a:buClr>
              <a:buSzPct val="70000"/>
              <a:buFont typeface="Wingdings" panose="05000000000000000000" pitchFamily="2" charset="2"/>
              <a:buNone/>
            </a:pPr>
            <a:endParaRPr lang="en-US" altLang="zh-CN" sz="1000">
              <a:latin typeface="Arial Narrow" panose="020B0606020202030204" pitchFamily="34" charset="0"/>
            </a:endParaRPr>
          </a:p>
        </p:txBody>
      </p:sp>
      <p:sp>
        <p:nvSpPr>
          <p:cNvPr id="80904" name="Text Box 5">
            <a:extLst>
              <a:ext uri="{FF2B5EF4-FFF2-40B4-BE49-F238E27FC236}">
                <a16:creationId xmlns:a16="http://schemas.microsoft.com/office/drawing/2014/main" id="{6AAA1825-BEC4-3E89-278C-760B990C4AF6}"/>
              </a:ext>
            </a:extLst>
          </p:cNvPr>
          <p:cNvSpPr txBox="1">
            <a:spLocks noChangeArrowheads="1"/>
          </p:cNvSpPr>
          <p:nvPr/>
        </p:nvSpPr>
        <p:spPr bwMode="auto">
          <a:xfrm>
            <a:off x="684213" y="3505200"/>
            <a:ext cx="763270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buClrTx/>
              <a:buSzTx/>
              <a:buFontTx/>
              <a:buNone/>
            </a:pPr>
            <a:r>
              <a:rPr lang="zh-CN" altLang="en-US" sz="2800"/>
              <a:t>参数为 </a:t>
            </a:r>
            <a:r>
              <a:rPr lang="en-US" altLang="zh-CN" sz="2800">
                <a:latin typeface="Arial Narrow" panose="020B0606020202030204" pitchFamily="34" charset="0"/>
              </a:rPr>
              <a:t>OS_PRIO_SELF </a:t>
            </a:r>
            <a:r>
              <a:rPr lang="zh-CN" altLang="en-US" sz="2800">
                <a:latin typeface="Arial Narrow" panose="020B0606020202030204" pitchFamily="34" charset="0"/>
              </a:rPr>
              <a:t>时的</a:t>
            </a:r>
            <a:r>
              <a:rPr lang="zh-CN" altLang="en-US" sz="2800"/>
              <a:t>函数返回值说明：</a:t>
            </a:r>
          </a:p>
          <a:p>
            <a:pPr eaLnBrk="1" hangingPunct="1">
              <a:spcBef>
                <a:spcPct val="35000"/>
              </a:spcBef>
              <a:buClr>
                <a:srgbClr val="FF9966"/>
              </a:buClr>
              <a:buSzPct val="60000"/>
              <a:buFont typeface="Wingdings" panose="05000000000000000000" pitchFamily="2" charset="2"/>
              <a:buChar char="Ø"/>
            </a:pPr>
            <a:r>
              <a:rPr lang="en-US" altLang="zh-CN" sz="2400">
                <a:latin typeface="Arial Narrow" panose="020B0606020202030204" pitchFamily="34" charset="0"/>
              </a:rPr>
              <a:t>OS_TASK_DEL_REQ --- </a:t>
            </a:r>
            <a:r>
              <a:rPr lang="zh-CN" altLang="en-US" sz="2400">
                <a:latin typeface="Arial Narrow" panose="020B0606020202030204" pitchFamily="34" charset="0"/>
              </a:rPr>
              <a:t>有其他任务申请删除这个任务。</a:t>
            </a:r>
          </a:p>
        </p:txBody>
      </p:sp>
      <p:sp>
        <p:nvSpPr>
          <p:cNvPr id="98311" name="Text Box 7">
            <a:extLst>
              <a:ext uri="{FF2B5EF4-FFF2-40B4-BE49-F238E27FC236}">
                <a16:creationId xmlns:a16="http://schemas.microsoft.com/office/drawing/2014/main" id="{383ED1EF-82AE-BDB1-665F-E078FEDE767E}"/>
              </a:ext>
            </a:extLst>
          </p:cNvPr>
          <p:cNvSpPr txBox="1">
            <a:spLocks noChangeArrowheads="1"/>
          </p:cNvSpPr>
          <p:nvPr/>
        </p:nvSpPr>
        <p:spPr bwMode="auto">
          <a:xfrm>
            <a:off x="684213" y="5013325"/>
            <a:ext cx="7991475" cy="968375"/>
          </a:xfrm>
          <a:prstGeom prst="rect">
            <a:avLst/>
          </a:prstGeom>
          <a:solidFill>
            <a:srgbClr val="EBFFE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400">
                <a:latin typeface="Arial Narrow" panose="020B0606020202030204" pitchFamily="34" charset="0"/>
              </a:rPr>
              <a:t>举例：</a:t>
            </a:r>
            <a:r>
              <a:rPr lang="en-US" altLang="zh-CN" sz="2400">
                <a:latin typeface="Arial Narrow" panose="020B0606020202030204" pitchFamily="34" charset="0"/>
              </a:rPr>
              <a:t>Task_A (prio = 10) </a:t>
            </a:r>
            <a:r>
              <a:rPr lang="zh-CN" altLang="en-US" sz="2400">
                <a:latin typeface="Arial Narrow" panose="020B0606020202030204" pitchFamily="34" charset="0"/>
              </a:rPr>
              <a:t>删除 </a:t>
            </a:r>
            <a:r>
              <a:rPr lang="en-US" altLang="zh-CN" sz="2400">
                <a:latin typeface="Arial Narrow" panose="020B0606020202030204" pitchFamily="34" charset="0"/>
              </a:rPr>
              <a:t>Task_B (prio = 9) </a:t>
            </a:r>
            <a:r>
              <a:rPr lang="zh-CN" altLang="en-US" sz="2400">
                <a:latin typeface="Arial Narrow" panose="020B0606020202030204" pitchFamily="34" charset="0"/>
              </a:rPr>
              <a:t>，直到删除成	功，</a:t>
            </a:r>
            <a:r>
              <a:rPr lang="en-US" altLang="zh-CN" sz="2400">
                <a:latin typeface="Arial Narrow" panose="020B0606020202030204" pitchFamily="34" charset="0"/>
              </a:rPr>
              <a:t>Task_A</a:t>
            </a:r>
            <a:r>
              <a:rPr lang="zh-CN" altLang="en-US" sz="2400">
                <a:latin typeface="Arial Narrow" panose="020B0606020202030204" pitchFamily="34" charset="0"/>
              </a:rPr>
              <a:t>才继续。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11"/>
                                        </p:tgtEl>
                                        <p:attrNameLst>
                                          <p:attrName>style.visibility</p:attrName>
                                        </p:attrNameLst>
                                      </p:cBhvr>
                                      <p:to>
                                        <p:strVal val="visible"/>
                                      </p:to>
                                    </p:set>
                                    <p:animEffect transition="in" filter="blinds(horizontal)">
                                      <p:cBhvr>
                                        <p:cTn id="7" dur="500"/>
                                        <p:tgtEl>
                                          <p:spTgt spid="98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1"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Text Box 6">
            <a:extLst>
              <a:ext uri="{FF2B5EF4-FFF2-40B4-BE49-F238E27FC236}">
                <a16:creationId xmlns:a16="http://schemas.microsoft.com/office/drawing/2014/main" id="{2777721C-A3A6-0F52-1BAF-439FBD19D5A3}"/>
              </a:ext>
            </a:extLst>
          </p:cNvPr>
          <p:cNvSpPr txBox="1">
            <a:spLocks noChangeArrowheads="1"/>
          </p:cNvSpPr>
          <p:nvPr/>
        </p:nvSpPr>
        <p:spPr bwMode="auto">
          <a:xfrm>
            <a:off x="684213" y="333375"/>
            <a:ext cx="8064500" cy="636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Tx/>
              <a:buSzTx/>
              <a:buFontTx/>
              <a:buNone/>
            </a:pPr>
            <a:r>
              <a:rPr lang="en-US" altLang="zh-CN" sz="2000">
                <a:latin typeface="Arial Narrow" panose="020B0606020202030204" pitchFamily="34" charset="0"/>
              </a:rPr>
              <a:t>Void  </a:t>
            </a:r>
            <a:r>
              <a:rPr lang="en-US" altLang="zh-CN" sz="2000">
                <a:solidFill>
                  <a:srgbClr val="FF0066"/>
                </a:solidFill>
                <a:latin typeface="Arial Narrow" panose="020B0606020202030204" pitchFamily="34" charset="0"/>
              </a:rPr>
              <a:t>Task_A </a:t>
            </a:r>
            <a:r>
              <a:rPr lang="en-US" altLang="zh-CN" sz="2000">
                <a:latin typeface="Arial Narrow" panose="020B0606020202030204" pitchFamily="34" charset="0"/>
              </a:rPr>
              <a:t>( void *pdata )		</a:t>
            </a:r>
            <a:r>
              <a:rPr lang="en-US" altLang="zh-CN" sz="1800" i="1">
                <a:solidFill>
                  <a:srgbClr val="3399FF"/>
                </a:solidFill>
                <a:latin typeface="Arial Narrow" panose="020B0606020202030204" pitchFamily="34" charset="0"/>
              </a:rPr>
              <a:t>// Task_A prio = 10</a:t>
            </a:r>
          </a:p>
          <a:p>
            <a:pPr eaLnBrk="1" hangingPunct="1">
              <a:spcBef>
                <a:spcPct val="15000"/>
              </a:spcBef>
              <a:buClrTx/>
              <a:buSzTx/>
              <a:buFontTx/>
              <a:buNone/>
            </a:pPr>
            <a:r>
              <a:rPr lang="en-US" altLang="zh-CN" sz="2000">
                <a:latin typeface="Arial Narrow" panose="020B0606020202030204" pitchFamily="34" charset="0"/>
              </a:rPr>
              <a:t>{    … …</a:t>
            </a:r>
          </a:p>
          <a:p>
            <a:pPr eaLnBrk="1" hangingPunct="1">
              <a:spcBef>
                <a:spcPct val="15000"/>
              </a:spcBef>
              <a:buClrTx/>
              <a:buSzTx/>
              <a:buFontTx/>
              <a:buNone/>
            </a:pPr>
            <a:r>
              <a:rPr lang="en-US" altLang="zh-CN" sz="2000">
                <a:latin typeface="Arial Narrow" panose="020B0606020202030204" pitchFamily="34" charset="0"/>
              </a:rPr>
              <a:t>    while ( OSTaskDelReq(9) != OS_TASK_NOT_EXIST )  </a:t>
            </a:r>
            <a:r>
              <a:rPr lang="en-US" altLang="zh-CN" sz="1800" i="1">
                <a:solidFill>
                  <a:srgbClr val="3399FF"/>
                </a:solidFill>
                <a:latin typeface="Arial Narrow" panose="020B0606020202030204" pitchFamily="34" charset="0"/>
              </a:rPr>
              <a:t>// </a:t>
            </a:r>
            <a:r>
              <a:rPr lang="zh-CN" altLang="en-US" sz="1800" i="1">
                <a:solidFill>
                  <a:srgbClr val="3399FF"/>
                </a:solidFill>
                <a:latin typeface="Arial Narrow" panose="020B0606020202030204" pitchFamily="34" charset="0"/>
              </a:rPr>
              <a:t>申请删除</a:t>
            </a:r>
            <a:r>
              <a:rPr lang="en-US" altLang="zh-CN" sz="1800" i="1">
                <a:solidFill>
                  <a:srgbClr val="3399FF"/>
                </a:solidFill>
                <a:latin typeface="Arial Narrow" panose="020B0606020202030204" pitchFamily="34" charset="0"/>
              </a:rPr>
              <a:t>Task_B</a:t>
            </a:r>
          </a:p>
          <a:p>
            <a:pPr eaLnBrk="1" hangingPunct="1">
              <a:spcBef>
                <a:spcPct val="15000"/>
              </a:spcBef>
              <a:buClrTx/>
              <a:buSzTx/>
              <a:buFontTx/>
              <a:buNone/>
            </a:pPr>
            <a:r>
              <a:rPr lang="en-US" altLang="zh-CN" sz="2000">
                <a:latin typeface="Arial Narrow" panose="020B0606020202030204" pitchFamily="34" charset="0"/>
              </a:rPr>
              <a:t>    {    OS_TimeDly( 10 );    }				</a:t>
            </a:r>
            <a:r>
              <a:rPr lang="en-US" altLang="zh-CN" sz="1800" i="1">
                <a:solidFill>
                  <a:srgbClr val="3399FF"/>
                </a:solidFill>
                <a:latin typeface="Arial Narrow" panose="020B0606020202030204" pitchFamily="34" charset="0"/>
              </a:rPr>
              <a:t>// </a:t>
            </a:r>
            <a:r>
              <a:rPr lang="zh-CN" altLang="en-US" sz="1800" i="1">
                <a:solidFill>
                  <a:srgbClr val="3399FF"/>
                </a:solidFill>
                <a:latin typeface="Arial Narrow" panose="020B0606020202030204" pitchFamily="34" charset="0"/>
              </a:rPr>
              <a:t>直到删除成功</a:t>
            </a:r>
          </a:p>
          <a:p>
            <a:pPr eaLnBrk="1" hangingPunct="1">
              <a:spcBef>
                <a:spcPct val="15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 … </a:t>
            </a:r>
          </a:p>
          <a:p>
            <a:pPr eaLnBrk="1" hangingPunct="1">
              <a:spcBef>
                <a:spcPct val="15000"/>
              </a:spcBef>
              <a:buClrTx/>
              <a:buSzTx/>
              <a:buFontTx/>
              <a:buNone/>
            </a:pPr>
            <a:r>
              <a:rPr lang="en-US" altLang="zh-CN" sz="2000">
                <a:latin typeface="Arial Narrow" panose="020B0606020202030204" pitchFamily="34" charset="0"/>
              </a:rPr>
              <a:t>}</a:t>
            </a:r>
          </a:p>
          <a:p>
            <a:pPr eaLnBrk="1" hangingPunct="1">
              <a:spcBef>
                <a:spcPct val="15000"/>
              </a:spcBef>
              <a:buClrTx/>
              <a:buSzTx/>
              <a:buFontTx/>
              <a:buNone/>
            </a:pPr>
            <a:endParaRPr lang="en-US" altLang="zh-CN" sz="2000">
              <a:latin typeface="Arial Narrow" panose="020B0606020202030204" pitchFamily="34" charset="0"/>
            </a:endParaRPr>
          </a:p>
          <a:p>
            <a:pPr eaLnBrk="1" hangingPunct="1">
              <a:spcBef>
                <a:spcPct val="15000"/>
              </a:spcBef>
              <a:buClrTx/>
              <a:buSzTx/>
              <a:buFontTx/>
              <a:buNone/>
            </a:pPr>
            <a:r>
              <a:rPr lang="en-US" altLang="zh-CN" sz="2000">
                <a:latin typeface="Arial Narrow" panose="020B0606020202030204" pitchFamily="34" charset="0"/>
              </a:rPr>
              <a:t>Void  </a:t>
            </a:r>
            <a:r>
              <a:rPr lang="en-US" altLang="zh-CN" sz="2000">
                <a:solidFill>
                  <a:srgbClr val="3366FF"/>
                </a:solidFill>
                <a:latin typeface="Arial Narrow" panose="020B0606020202030204" pitchFamily="34" charset="0"/>
              </a:rPr>
              <a:t>Task_B</a:t>
            </a:r>
            <a:r>
              <a:rPr lang="en-US" altLang="zh-CN" sz="2000">
                <a:latin typeface="Arial Narrow" panose="020B0606020202030204" pitchFamily="34" charset="0"/>
              </a:rPr>
              <a:t> ( void *pdata )		</a:t>
            </a:r>
            <a:r>
              <a:rPr lang="en-US" altLang="zh-CN" sz="1800" i="1">
                <a:solidFill>
                  <a:srgbClr val="3399FF"/>
                </a:solidFill>
                <a:latin typeface="Arial Narrow" panose="020B0606020202030204" pitchFamily="34" charset="0"/>
              </a:rPr>
              <a:t>// Task_B prio = 9</a:t>
            </a:r>
          </a:p>
          <a:p>
            <a:pPr eaLnBrk="1" hangingPunct="1">
              <a:spcBef>
                <a:spcPct val="15000"/>
              </a:spcBef>
              <a:buClrTx/>
              <a:buSzTx/>
              <a:buFontTx/>
              <a:buNone/>
            </a:pPr>
            <a:r>
              <a:rPr lang="en-US" altLang="zh-CN" sz="2000">
                <a:latin typeface="Arial Narrow" panose="020B0606020202030204" pitchFamily="34" charset="0"/>
              </a:rPr>
              <a:t>{    … …</a:t>
            </a:r>
          </a:p>
          <a:p>
            <a:pPr eaLnBrk="1" hangingPunct="1">
              <a:spcBef>
                <a:spcPct val="15000"/>
              </a:spcBef>
              <a:buClrTx/>
              <a:buSzTx/>
              <a:buFontTx/>
              <a:buNone/>
            </a:pPr>
            <a:r>
              <a:rPr lang="en-US" altLang="zh-CN" sz="2000">
                <a:latin typeface="Arial Narrow" panose="020B0606020202030204" pitchFamily="34" charset="0"/>
              </a:rPr>
              <a:t>     if ( OSTaskDelReq( OS_PRIO_SELF ) == OS_TASK_DEL_REQ )  </a:t>
            </a:r>
            <a:r>
              <a:rPr lang="en-US" altLang="zh-CN" sz="1600" i="1">
                <a:solidFill>
                  <a:srgbClr val="3399FF"/>
                </a:solidFill>
                <a:latin typeface="Arial Narrow" panose="020B0606020202030204" pitchFamily="34" charset="0"/>
              </a:rPr>
              <a:t>// </a:t>
            </a:r>
            <a:r>
              <a:rPr lang="zh-CN" altLang="en-US" sz="1600" i="1">
                <a:solidFill>
                  <a:srgbClr val="3399FF"/>
                </a:solidFill>
                <a:latin typeface="Arial Narrow" panose="020B0606020202030204" pitchFamily="34" charset="0"/>
              </a:rPr>
              <a:t>有删除申请</a:t>
            </a:r>
          </a:p>
          <a:p>
            <a:pPr eaLnBrk="1" hangingPunct="1">
              <a:spcBef>
                <a:spcPct val="15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   … … 				</a:t>
            </a:r>
            <a:r>
              <a:rPr lang="en-US" altLang="zh-CN" sz="1800" i="1">
                <a:solidFill>
                  <a:srgbClr val="3399FF"/>
                </a:solidFill>
                <a:latin typeface="Arial Narrow" panose="020B0606020202030204" pitchFamily="34" charset="0"/>
              </a:rPr>
              <a:t>// </a:t>
            </a:r>
            <a:r>
              <a:rPr lang="zh-CN" altLang="en-US" sz="1800" i="1">
                <a:solidFill>
                  <a:srgbClr val="3399FF"/>
                </a:solidFill>
                <a:latin typeface="Arial Narrow" panose="020B0606020202030204" pitchFamily="34" charset="0"/>
              </a:rPr>
              <a:t>释放私有资源</a:t>
            </a:r>
          </a:p>
          <a:p>
            <a:pPr eaLnBrk="1" hangingPunct="1">
              <a:spcBef>
                <a:spcPct val="15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OSTaskDel ( OS_PRIO_SELF );</a:t>
            </a:r>
            <a:r>
              <a:rPr lang="en-US" altLang="zh-CN" sz="1800" i="1">
                <a:solidFill>
                  <a:srgbClr val="3399FF"/>
                </a:solidFill>
                <a:latin typeface="Arial Narrow" panose="020B0606020202030204" pitchFamily="34" charset="0"/>
              </a:rPr>
              <a:t>		// </a:t>
            </a:r>
            <a:r>
              <a:rPr lang="zh-CN" altLang="en-US" sz="1800" i="1">
                <a:solidFill>
                  <a:srgbClr val="3399FF"/>
                </a:solidFill>
                <a:latin typeface="Arial Narrow" panose="020B0606020202030204" pitchFamily="34" charset="0"/>
              </a:rPr>
              <a:t>删除自身</a:t>
            </a:r>
          </a:p>
          <a:p>
            <a:pPr eaLnBrk="1" hangingPunct="1">
              <a:spcBef>
                <a:spcPct val="15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a:t>
            </a:r>
          </a:p>
          <a:p>
            <a:pPr eaLnBrk="1" hangingPunct="1">
              <a:spcBef>
                <a:spcPct val="15000"/>
              </a:spcBef>
              <a:buClrTx/>
              <a:buSzTx/>
              <a:buFontTx/>
              <a:buNone/>
            </a:pPr>
            <a:r>
              <a:rPr lang="en-US" altLang="zh-CN" sz="2000">
                <a:latin typeface="Arial Narrow" panose="020B0606020202030204" pitchFamily="34" charset="0"/>
              </a:rPr>
              <a:t>     else</a:t>
            </a:r>
          </a:p>
          <a:p>
            <a:pPr eaLnBrk="1" hangingPunct="1">
              <a:spcBef>
                <a:spcPct val="15000"/>
              </a:spcBef>
              <a:buClrTx/>
              <a:buSzTx/>
              <a:buFontTx/>
              <a:buNone/>
            </a:pPr>
            <a:r>
              <a:rPr lang="en-US" altLang="zh-CN" sz="2000">
                <a:latin typeface="Arial Narrow" panose="020B0606020202030204" pitchFamily="34" charset="0"/>
              </a:rPr>
              <a:t>     {</a:t>
            </a:r>
          </a:p>
          <a:p>
            <a:pPr eaLnBrk="1" hangingPunct="1">
              <a:spcBef>
                <a:spcPct val="15000"/>
              </a:spcBef>
              <a:buClrTx/>
              <a:buSzTx/>
              <a:buFontTx/>
              <a:buNone/>
            </a:pPr>
            <a:r>
              <a:rPr lang="en-US" altLang="zh-CN" sz="2000">
                <a:latin typeface="Arial Narrow" panose="020B0606020202030204" pitchFamily="34" charset="0"/>
              </a:rPr>
              <a:t>          … … ;       </a:t>
            </a:r>
            <a:r>
              <a:rPr lang="en-US" altLang="zh-CN" sz="1800" i="1">
                <a:solidFill>
                  <a:srgbClr val="3399FF"/>
                </a:solidFill>
                <a:latin typeface="Arial Narrow" panose="020B0606020202030204" pitchFamily="34" charset="0"/>
              </a:rPr>
              <a:t>// </a:t>
            </a:r>
            <a:r>
              <a:rPr lang="zh-CN" altLang="en-US" sz="1800" i="1">
                <a:solidFill>
                  <a:srgbClr val="3399FF"/>
                </a:solidFill>
                <a:latin typeface="Arial Narrow" panose="020B0606020202030204" pitchFamily="34" charset="0"/>
              </a:rPr>
              <a:t>任务</a:t>
            </a:r>
            <a:r>
              <a:rPr lang="en-US" altLang="zh-CN" sz="1800" i="1">
                <a:solidFill>
                  <a:srgbClr val="3399FF"/>
                </a:solidFill>
                <a:latin typeface="Arial Narrow" panose="020B0606020202030204" pitchFamily="34" charset="0"/>
              </a:rPr>
              <a:t>B</a:t>
            </a:r>
            <a:r>
              <a:rPr lang="zh-CN" altLang="en-US" sz="1800" i="1">
                <a:solidFill>
                  <a:srgbClr val="3399FF"/>
                </a:solidFill>
                <a:latin typeface="Arial Narrow" panose="020B0606020202030204" pitchFamily="34" charset="0"/>
              </a:rPr>
              <a:t>的其他代码</a:t>
            </a:r>
          </a:p>
          <a:p>
            <a:pPr eaLnBrk="1" hangingPunct="1">
              <a:spcBef>
                <a:spcPct val="15000"/>
              </a:spcBef>
              <a:buClrTx/>
              <a:buSzTx/>
              <a:buFontTx/>
              <a:buNone/>
            </a:pPr>
            <a:r>
              <a:rPr lang="zh-CN" altLang="en-US" sz="2000">
                <a:latin typeface="Arial Narrow" panose="020B0606020202030204" pitchFamily="34" charset="0"/>
              </a:rPr>
              <a:t>     </a:t>
            </a:r>
            <a:r>
              <a:rPr lang="en-US" altLang="zh-CN" sz="2000">
                <a:latin typeface="Arial Narrow" panose="020B0606020202030204" pitchFamily="34" charset="0"/>
              </a:rPr>
              <a:t>}</a:t>
            </a:r>
          </a:p>
          <a:p>
            <a:pPr eaLnBrk="1" hangingPunct="1">
              <a:spcBef>
                <a:spcPct val="15000"/>
              </a:spcBef>
              <a:buClrTx/>
              <a:buSzTx/>
              <a:buFontTx/>
              <a:buNone/>
            </a:pPr>
            <a:r>
              <a:rPr lang="en-US" altLang="zh-CN" sz="2000">
                <a:latin typeface="Arial Narrow" panose="020B0606020202030204" pitchFamily="34" charset="0"/>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3">
            <a:extLst>
              <a:ext uri="{FF2B5EF4-FFF2-40B4-BE49-F238E27FC236}">
                <a16:creationId xmlns:a16="http://schemas.microsoft.com/office/drawing/2014/main" id="{2E9477C7-08C1-80F6-684A-977A9B49DBC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2947" name="灯片编号占位符 4">
            <a:extLst>
              <a:ext uri="{FF2B5EF4-FFF2-40B4-BE49-F238E27FC236}">
                <a16:creationId xmlns:a16="http://schemas.microsoft.com/office/drawing/2014/main" id="{24E24694-4EE6-D0C2-FB96-6A5E1B98B1F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F013B56-8B16-4525-8CBC-6A87BFB165F4}" type="slidenum">
              <a:rPr lang="en-US" altLang="zh-CN" sz="1200" smtClean="0">
                <a:solidFill>
                  <a:srgbClr val="3366FF"/>
                </a:solidFill>
                <a:latin typeface="Arial Black" panose="020B0A04020102020204" pitchFamily="34" charset="0"/>
              </a:rPr>
              <a:pPr>
                <a:spcBef>
                  <a:spcPct val="0"/>
                </a:spcBef>
                <a:buClrTx/>
                <a:buSzTx/>
                <a:buFontTx/>
                <a:buNone/>
              </a:pPr>
              <a:t>78</a:t>
            </a:fld>
            <a:endParaRPr lang="en-US" altLang="zh-CN" sz="1200">
              <a:solidFill>
                <a:srgbClr val="3366FF"/>
              </a:solidFill>
              <a:latin typeface="Arial Black" panose="020B0A04020102020204" pitchFamily="34" charset="0"/>
            </a:endParaRPr>
          </a:p>
        </p:txBody>
      </p:sp>
      <p:sp>
        <p:nvSpPr>
          <p:cNvPr id="82948" name="日期占位符 5">
            <a:extLst>
              <a:ext uri="{FF2B5EF4-FFF2-40B4-BE49-F238E27FC236}">
                <a16:creationId xmlns:a16="http://schemas.microsoft.com/office/drawing/2014/main" id="{83E349C6-A0ED-9820-1E68-228A43C0424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DF6EF3-A0D0-4671-9351-A7B8A71FCFE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2949" name="Rectangle 2">
            <a:extLst>
              <a:ext uri="{FF2B5EF4-FFF2-40B4-BE49-F238E27FC236}">
                <a16:creationId xmlns:a16="http://schemas.microsoft.com/office/drawing/2014/main" id="{6ED95F4C-10C8-FCA5-0451-DCB4FABE077C}"/>
              </a:ext>
            </a:extLst>
          </p:cNvPr>
          <p:cNvSpPr>
            <a:spLocks noGrp="1" noChangeArrowheads="1"/>
          </p:cNvSpPr>
          <p:nvPr>
            <p:ph type="title"/>
          </p:nvPr>
        </p:nvSpPr>
        <p:spPr>
          <a:xfrm>
            <a:off x="457200" y="817563"/>
            <a:ext cx="8229600" cy="668337"/>
          </a:xfrm>
        </p:spPr>
        <p:txBody>
          <a:bodyPr/>
          <a:lstStyle/>
          <a:p>
            <a:pPr eaLnBrk="1" hangingPunct="1"/>
            <a:r>
              <a:rPr lang="zh-CN" altLang="en-US" sz="3200"/>
              <a:t>实验</a:t>
            </a:r>
            <a:r>
              <a:rPr lang="en-US" altLang="zh-CN" sz="3200"/>
              <a:t>3</a:t>
            </a:r>
            <a:r>
              <a:rPr lang="zh-CN" altLang="en-US" sz="3200"/>
              <a:t>：</a:t>
            </a:r>
          </a:p>
        </p:txBody>
      </p:sp>
      <p:sp>
        <p:nvSpPr>
          <p:cNvPr id="82950" name="Rectangle 3">
            <a:extLst>
              <a:ext uri="{FF2B5EF4-FFF2-40B4-BE49-F238E27FC236}">
                <a16:creationId xmlns:a16="http://schemas.microsoft.com/office/drawing/2014/main" id="{35E38398-9D44-DD64-52BA-D87CE5CFE6B9}"/>
              </a:ext>
            </a:extLst>
          </p:cNvPr>
          <p:cNvSpPr>
            <a:spLocks noGrp="1" noChangeArrowheads="1"/>
          </p:cNvSpPr>
          <p:nvPr>
            <p:ph type="body" idx="1"/>
          </p:nvPr>
        </p:nvSpPr>
        <p:spPr>
          <a:xfrm>
            <a:off x="1042988" y="1630363"/>
            <a:ext cx="7138987" cy="1800225"/>
          </a:xfrm>
        </p:spPr>
        <p:txBody>
          <a:bodyPr/>
          <a:lstStyle/>
          <a:p>
            <a:pPr marL="0" indent="0" eaLnBrk="1" hangingPunct="1">
              <a:buFont typeface="Wingdings" panose="05000000000000000000" pitchFamily="2" charset="2"/>
              <a:buNone/>
            </a:pPr>
            <a:r>
              <a:rPr lang="zh-CN" altLang="en-US" sz="2400">
                <a:latin typeface="Arial Narrow" panose="020B0606020202030204" pitchFamily="34" charset="0"/>
              </a:rPr>
              <a:t>创建两个任务；</a:t>
            </a:r>
          </a:p>
          <a:p>
            <a:pPr marL="0" indent="0" eaLnBrk="1" hangingPunct="1">
              <a:buFont typeface="Wingdings" panose="05000000000000000000" pitchFamily="2" charset="2"/>
              <a:buNone/>
            </a:pPr>
            <a:r>
              <a:rPr lang="en-US" altLang="zh-CN" sz="2400">
                <a:latin typeface="Arial Narrow" panose="020B0606020202030204" pitchFamily="34" charset="0"/>
              </a:rPr>
              <a:t>Task_A  ----- </a:t>
            </a:r>
            <a:r>
              <a:rPr lang="zh-CN" altLang="en-US" sz="2400">
                <a:latin typeface="Arial Narrow" panose="020B0606020202030204" pitchFamily="34" charset="0"/>
              </a:rPr>
              <a:t>控制一位</a:t>
            </a:r>
            <a:r>
              <a:rPr lang="en-US" altLang="zh-CN" sz="2400">
                <a:latin typeface="Arial Narrow" panose="020B0606020202030204" pitchFamily="34" charset="0"/>
              </a:rPr>
              <a:t>LED</a:t>
            </a:r>
            <a:r>
              <a:rPr lang="zh-CN" altLang="en-US" sz="2400">
                <a:latin typeface="Arial Narrow" panose="020B0606020202030204" pitchFamily="34" charset="0"/>
              </a:rPr>
              <a:t>秒闪。</a:t>
            </a:r>
          </a:p>
          <a:p>
            <a:pPr marL="0" indent="0" eaLnBrk="1" hangingPunct="1">
              <a:buFont typeface="Wingdings" panose="05000000000000000000" pitchFamily="2" charset="2"/>
              <a:buNone/>
            </a:pPr>
            <a:r>
              <a:rPr lang="en-US" altLang="zh-CN" sz="2400">
                <a:latin typeface="Arial Narrow" panose="020B0606020202030204" pitchFamily="34" charset="0"/>
              </a:rPr>
              <a:t>Task_B  ----- </a:t>
            </a:r>
            <a:r>
              <a:rPr lang="zh-CN" altLang="en-US" sz="2400">
                <a:latin typeface="Arial Narrow" panose="020B0606020202030204" pitchFamily="34" charset="0"/>
              </a:rPr>
              <a:t>控制蜂鸣器每 </a:t>
            </a:r>
            <a:r>
              <a:rPr lang="en-US" altLang="zh-CN" sz="2400">
                <a:latin typeface="Arial Narrow" panose="020B0606020202030204" pitchFamily="34" charset="0"/>
              </a:rPr>
              <a:t>3S </a:t>
            </a:r>
            <a:r>
              <a:rPr lang="zh-CN" altLang="en-US" sz="2400">
                <a:latin typeface="Arial Narrow" panose="020B0606020202030204" pitchFamily="34" charset="0"/>
              </a:rPr>
              <a:t>鸣 </a:t>
            </a:r>
            <a:r>
              <a:rPr lang="en-US" altLang="zh-CN" sz="2400">
                <a:latin typeface="Arial Narrow" panose="020B0606020202030204" pitchFamily="34" charset="0"/>
              </a:rPr>
              <a:t>1.5S </a:t>
            </a:r>
            <a:r>
              <a:rPr lang="zh-CN" altLang="en-US" sz="2400">
                <a:latin typeface="Arial Narrow" panose="020B0606020202030204" pitchFamily="34" charset="0"/>
              </a:rPr>
              <a:t>。</a:t>
            </a:r>
          </a:p>
          <a:p>
            <a:pPr marL="0" indent="0" eaLnBrk="1" hangingPunct="1">
              <a:buFont typeface="Wingdings" panose="05000000000000000000" pitchFamily="2" charset="2"/>
              <a:buNone/>
            </a:pPr>
            <a:r>
              <a:rPr lang="en-US" altLang="zh-CN" sz="2400">
                <a:latin typeface="Arial Narrow" panose="020B0606020202030204" pitchFamily="34" charset="0"/>
              </a:rPr>
              <a:t>LED</a:t>
            </a:r>
            <a:r>
              <a:rPr lang="zh-CN" altLang="en-US" sz="2400">
                <a:latin typeface="Arial Narrow" panose="020B0606020202030204" pitchFamily="34" charset="0"/>
              </a:rPr>
              <a:t>闪烁</a:t>
            </a:r>
            <a:r>
              <a:rPr lang="en-US" altLang="zh-CN" sz="2400">
                <a:latin typeface="Arial Narrow" panose="020B0606020202030204" pitchFamily="34" charset="0"/>
              </a:rPr>
              <a:t>10</a:t>
            </a:r>
            <a:r>
              <a:rPr lang="zh-CN" altLang="en-US" sz="2400">
                <a:latin typeface="Arial Narrow" panose="020B0606020202030204" pitchFamily="34" charset="0"/>
              </a:rPr>
              <a:t>次后，停止蜂鸣</a:t>
            </a:r>
            <a:r>
              <a:rPr lang="zh-CN" altLang="en-US" sz="2400"/>
              <a:t>。</a:t>
            </a:r>
          </a:p>
        </p:txBody>
      </p:sp>
      <p:sp>
        <p:nvSpPr>
          <p:cNvPr id="82951" name="Rectangle 4">
            <a:extLst>
              <a:ext uri="{FF2B5EF4-FFF2-40B4-BE49-F238E27FC236}">
                <a16:creationId xmlns:a16="http://schemas.microsoft.com/office/drawing/2014/main" id="{C576E90D-F825-C5FA-A965-D89D19AD5848}"/>
              </a:ext>
            </a:extLst>
          </p:cNvPr>
          <p:cNvSpPr>
            <a:spLocks noChangeArrowheads="1"/>
          </p:cNvSpPr>
          <p:nvPr/>
        </p:nvSpPr>
        <p:spPr bwMode="auto">
          <a:xfrm>
            <a:off x="1042988" y="4652963"/>
            <a:ext cx="71389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0"/>
              <a:t>1</a:t>
            </a:r>
            <a:r>
              <a:rPr lang="zh-CN" altLang="en-US" sz="2400" b="0"/>
              <a:t>、学习任务的删除操作；</a:t>
            </a:r>
          </a:p>
          <a:p>
            <a:pPr eaLnBrk="1" hangingPunct="1">
              <a:buFont typeface="Wingdings" panose="05000000000000000000" pitchFamily="2" charset="2"/>
              <a:buNone/>
            </a:pPr>
            <a:r>
              <a:rPr lang="en-US" altLang="zh-CN" sz="2400" b="0"/>
              <a:t>2</a:t>
            </a:r>
            <a:r>
              <a:rPr lang="zh-CN" altLang="en-US" sz="2400" b="0"/>
              <a:t>、体验多任务系统设计基本原理；</a:t>
            </a:r>
          </a:p>
        </p:txBody>
      </p:sp>
      <p:sp>
        <p:nvSpPr>
          <p:cNvPr id="82952" name="Rectangle 5">
            <a:extLst>
              <a:ext uri="{FF2B5EF4-FFF2-40B4-BE49-F238E27FC236}">
                <a16:creationId xmlns:a16="http://schemas.microsoft.com/office/drawing/2014/main" id="{58849E9A-7FB1-1BD4-C87D-C15390713BB8}"/>
              </a:ext>
            </a:extLst>
          </p:cNvPr>
          <p:cNvSpPr>
            <a:spLocks noChangeArrowheads="1"/>
          </p:cNvSpPr>
          <p:nvPr/>
        </p:nvSpPr>
        <p:spPr bwMode="auto">
          <a:xfrm>
            <a:off x="611188" y="3862388"/>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0"/>
              <a:t>实验目的：</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3">
            <a:extLst>
              <a:ext uri="{FF2B5EF4-FFF2-40B4-BE49-F238E27FC236}">
                <a16:creationId xmlns:a16="http://schemas.microsoft.com/office/drawing/2014/main" id="{D86150E7-CEFF-7A46-88B5-1DE1596F3DF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3971" name="灯片编号占位符 4">
            <a:extLst>
              <a:ext uri="{FF2B5EF4-FFF2-40B4-BE49-F238E27FC236}">
                <a16:creationId xmlns:a16="http://schemas.microsoft.com/office/drawing/2014/main" id="{86465ED2-68FE-9C6F-1CF8-F0536C7DF8A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D8F7DC8-5A77-4749-8AE7-15AA84BC4B59}" type="slidenum">
              <a:rPr lang="en-US" altLang="zh-CN" sz="1200" smtClean="0">
                <a:solidFill>
                  <a:srgbClr val="3366FF"/>
                </a:solidFill>
                <a:latin typeface="Arial Black" panose="020B0A04020102020204" pitchFamily="34" charset="0"/>
              </a:rPr>
              <a:pPr>
                <a:spcBef>
                  <a:spcPct val="0"/>
                </a:spcBef>
                <a:buClrTx/>
                <a:buSzTx/>
                <a:buFontTx/>
                <a:buNone/>
              </a:pPr>
              <a:t>79</a:t>
            </a:fld>
            <a:endParaRPr lang="en-US" altLang="zh-CN" sz="1200">
              <a:solidFill>
                <a:srgbClr val="3366FF"/>
              </a:solidFill>
              <a:latin typeface="Arial Black" panose="020B0A04020102020204" pitchFamily="34" charset="0"/>
            </a:endParaRPr>
          </a:p>
        </p:txBody>
      </p:sp>
      <p:sp>
        <p:nvSpPr>
          <p:cNvPr id="83972" name="日期占位符 5">
            <a:extLst>
              <a:ext uri="{FF2B5EF4-FFF2-40B4-BE49-F238E27FC236}">
                <a16:creationId xmlns:a16="http://schemas.microsoft.com/office/drawing/2014/main" id="{1456F3B5-6C75-453B-B772-8C30D1B1E71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AD1917B-7BA8-4F45-AE19-260D66D255F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3973" name="Rectangle 2">
            <a:extLst>
              <a:ext uri="{FF2B5EF4-FFF2-40B4-BE49-F238E27FC236}">
                <a16:creationId xmlns:a16="http://schemas.microsoft.com/office/drawing/2014/main" id="{F8CBC908-1210-CF3C-4779-44C5E41F8FAD}"/>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目录</a:t>
            </a:r>
          </a:p>
        </p:txBody>
      </p:sp>
      <p:sp>
        <p:nvSpPr>
          <p:cNvPr id="83974" name="Rectangle 3">
            <a:extLst>
              <a:ext uri="{FF2B5EF4-FFF2-40B4-BE49-F238E27FC236}">
                <a16:creationId xmlns:a16="http://schemas.microsoft.com/office/drawing/2014/main" id="{99601BC5-E10B-7EAA-FE2F-A1E3416FB45F}"/>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、任务的基本概念</a:t>
            </a:r>
          </a:p>
          <a:p>
            <a:pPr eaLnBrk="1" hangingPunct="1"/>
            <a:r>
              <a:rPr lang="en-US" altLang="zh-CN">
                <a:solidFill>
                  <a:schemeClr val="accent2"/>
                </a:solidFill>
              </a:rPr>
              <a:t>2</a:t>
            </a:r>
            <a:r>
              <a:rPr lang="zh-CN" altLang="en-US">
                <a:solidFill>
                  <a:schemeClr val="accent2"/>
                </a:solidFill>
              </a:rPr>
              <a:t>、任务堆栈</a:t>
            </a:r>
          </a:p>
          <a:p>
            <a:pPr eaLnBrk="1" hangingPunct="1"/>
            <a:r>
              <a:rPr lang="en-US" altLang="zh-CN">
                <a:solidFill>
                  <a:schemeClr val="accent2"/>
                </a:solidFill>
              </a:rPr>
              <a:t>3</a:t>
            </a:r>
            <a:r>
              <a:rPr lang="zh-CN" altLang="en-US">
                <a:solidFill>
                  <a:schemeClr val="accent2"/>
                </a:solidFill>
              </a:rPr>
              <a:t>、任务控制块及任务控制块链表</a:t>
            </a:r>
          </a:p>
          <a:p>
            <a:pPr eaLnBrk="1" hangingPunct="1"/>
            <a:r>
              <a:rPr lang="en-US" altLang="zh-CN">
                <a:solidFill>
                  <a:schemeClr val="accent2"/>
                </a:solidFill>
              </a:rPr>
              <a:t>4</a:t>
            </a:r>
            <a:r>
              <a:rPr lang="zh-CN" altLang="en-US">
                <a:solidFill>
                  <a:schemeClr val="accent2"/>
                </a:solidFill>
              </a:rPr>
              <a:t>、任务就绪表及任务调度</a:t>
            </a:r>
          </a:p>
          <a:p>
            <a:pPr eaLnBrk="1" hangingPunct="1"/>
            <a:r>
              <a:rPr lang="en-US" altLang="zh-CN">
                <a:solidFill>
                  <a:schemeClr val="accent2"/>
                </a:solidFill>
              </a:rPr>
              <a:t>5</a:t>
            </a:r>
            <a:r>
              <a:rPr lang="zh-CN" altLang="en-US">
                <a:solidFill>
                  <a:schemeClr val="accent2"/>
                </a:solidFill>
              </a:rPr>
              <a:t>、任务的创建</a:t>
            </a:r>
          </a:p>
          <a:p>
            <a:pPr eaLnBrk="1" hangingPunct="1"/>
            <a:r>
              <a:rPr lang="en-US" altLang="zh-CN">
                <a:solidFill>
                  <a:schemeClr val="accent2"/>
                </a:solidFill>
              </a:rPr>
              <a:t>6</a:t>
            </a:r>
            <a:r>
              <a:rPr lang="zh-CN" altLang="en-US">
                <a:solidFill>
                  <a:schemeClr val="accent2"/>
                </a:solidFill>
              </a:rPr>
              <a:t>、任务的挂起和恢复</a:t>
            </a:r>
          </a:p>
          <a:p>
            <a:pPr eaLnBrk="1" hangingPunct="1"/>
            <a:r>
              <a:rPr lang="en-US" altLang="zh-CN">
                <a:solidFill>
                  <a:schemeClr val="accent2"/>
                </a:solidFill>
              </a:rPr>
              <a:t>7</a:t>
            </a:r>
            <a:r>
              <a:rPr lang="zh-CN" altLang="en-US">
                <a:solidFill>
                  <a:schemeClr val="accent2"/>
                </a:solidFill>
              </a:rPr>
              <a:t>、其他任务管理函数</a:t>
            </a:r>
          </a:p>
          <a:p>
            <a:pPr eaLnBrk="1" hangingPunct="1"/>
            <a:r>
              <a:rPr lang="en-US" altLang="zh-CN">
                <a:solidFill>
                  <a:srgbClr val="FF0000"/>
                </a:solidFill>
              </a:rPr>
              <a:t>8</a:t>
            </a:r>
            <a:r>
              <a:rPr lang="zh-CN" altLang="en-US">
                <a:solidFill>
                  <a:srgbClr val="FF0000"/>
                </a:solidFill>
              </a:rPr>
              <a:t>、</a:t>
            </a:r>
            <a:r>
              <a:rPr lang="en-US" altLang="zh-CN">
                <a:solidFill>
                  <a:srgbClr val="FF0000"/>
                </a:solidFill>
              </a:rPr>
              <a:t>uC/OS-II</a:t>
            </a:r>
            <a:r>
              <a:rPr lang="zh-CN" altLang="en-US">
                <a:solidFill>
                  <a:srgbClr val="FF0000"/>
                </a:solidFill>
              </a:rPr>
              <a:t>的初始化和任务的启动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1">
            <a:extLst>
              <a:ext uri="{FF2B5EF4-FFF2-40B4-BE49-F238E27FC236}">
                <a16:creationId xmlns:a16="http://schemas.microsoft.com/office/drawing/2014/main" id="{B946BDBE-E973-C629-93A7-8286C23CE01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4995" name="灯片编号占位符 2">
            <a:extLst>
              <a:ext uri="{FF2B5EF4-FFF2-40B4-BE49-F238E27FC236}">
                <a16:creationId xmlns:a16="http://schemas.microsoft.com/office/drawing/2014/main" id="{91D50022-BCE6-6039-624F-4C1B1C03A3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AB8DD20-14C4-4EF5-9821-B53438B24EA8}" type="slidenum">
              <a:rPr lang="en-US" altLang="zh-CN" sz="1200" smtClean="0">
                <a:solidFill>
                  <a:srgbClr val="3366FF"/>
                </a:solidFill>
                <a:latin typeface="Arial Black" panose="020B0A04020102020204" pitchFamily="34" charset="0"/>
              </a:rPr>
              <a:pPr>
                <a:spcBef>
                  <a:spcPct val="0"/>
                </a:spcBef>
                <a:buClrTx/>
                <a:buSzTx/>
                <a:buFontTx/>
                <a:buNone/>
              </a:pPr>
              <a:t>80</a:t>
            </a:fld>
            <a:endParaRPr lang="en-US" altLang="zh-CN" sz="1200">
              <a:solidFill>
                <a:srgbClr val="3366FF"/>
              </a:solidFill>
              <a:latin typeface="Arial Black" panose="020B0A04020102020204" pitchFamily="34" charset="0"/>
            </a:endParaRPr>
          </a:p>
        </p:txBody>
      </p:sp>
      <p:sp>
        <p:nvSpPr>
          <p:cNvPr id="84996" name="日期占位符 3">
            <a:extLst>
              <a:ext uri="{FF2B5EF4-FFF2-40B4-BE49-F238E27FC236}">
                <a16:creationId xmlns:a16="http://schemas.microsoft.com/office/drawing/2014/main" id="{8763EB60-E5CB-2FF0-E5EA-C4AEDE1E302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A95D9CE-7913-4D87-999B-E3716D0BA8E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4997" name="Rectangle 2">
            <a:extLst>
              <a:ext uri="{FF2B5EF4-FFF2-40B4-BE49-F238E27FC236}">
                <a16:creationId xmlns:a16="http://schemas.microsoft.com/office/drawing/2014/main" id="{F446A0B4-A048-8B31-B8B8-458ADF718C65}"/>
              </a:ext>
            </a:extLst>
          </p:cNvPr>
          <p:cNvSpPr>
            <a:spLocks noChangeArrowheads="1"/>
          </p:cNvSpPr>
          <p:nvPr/>
        </p:nvSpPr>
        <p:spPr bwMode="auto">
          <a:xfrm>
            <a:off x="446088" y="620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2.8  uC/OS-II</a:t>
            </a:r>
            <a:r>
              <a:rPr lang="zh-CN" altLang="en-US" sz="3600" b="0"/>
              <a:t>的初始化和任务的启动</a:t>
            </a:r>
          </a:p>
        </p:txBody>
      </p:sp>
      <p:sp>
        <p:nvSpPr>
          <p:cNvPr id="84998" name="Text Box 3">
            <a:extLst>
              <a:ext uri="{FF2B5EF4-FFF2-40B4-BE49-F238E27FC236}">
                <a16:creationId xmlns:a16="http://schemas.microsoft.com/office/drawing/2014/main" id="{9E4E4969-7234-8805-80B9-BFBC9441C649}"/>
              </a:ext>
            </a:extLst>
          </p:cNvPr>
          <p:cNvSpPr txBox="1">
            <a:spLocks noChangeArrowheads="1"/>
          </p:cNvSpPr>
          <p:nvPr/>
        </p:nvSpPr>
        <p:spPr bwMode="auto">
          <a:xfrm>
            <a:off x="468313" y="1397000"/>
            <a:ext cx="6840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en-US" altLang="zh-CN" sz="2800" b="0"/>
              <a:t>uC/OS-II</a:t>
            </a:r>
            <a:r>
              <a:rPr lang="zh-CN" altLang="en-US" sz="2800" b="0"/>
              <a:t>的初始化</a:t>
            </a:r>
          </a:p>
        </p:txBody>
      </p:sp>
      <p:sp>
        <p:nvSpPr>
          <p:cNvPr id="84999" name="Text Box 5">
            <a:extLst>
              <a:ext uri="{FF2B5EF4-FFF2-40B4-BE49-F238E27FC236}">
                <a16:creationId xmlns:a16="http://schemas.microsoft.com/office/drawing/2014/main" id="{6289A1FC-C64F-6BEF-325F-F0ACABCA4852}"/>
              </a:ext>
            </a:extLst>
          </p:cNvPr>
          <p:cNvSpPr txBox="1">
            <a:spLocks noChangeArrowheads="1"/>
          </p:cNvSpPr>
          <p:nvPr/>
        </p:nvSpPr>
        <p:spPr bwMode="auto">
          <a:xfrm>
            <a:off x="684213" y="2060575"/>
            <a:ext cx="784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
                <a:srgbClr val="FF9966"/>
              </a:buClr>
              <a:buSzPct val="60000"/>
              <a:buFont typeface="Wingdings" panose="05000000000000000000" pitchFamily="2" charset="2"/>
              <a:buNone/>
            </a:pPr>
            <a:r>
              <a:rPr lang="zh-CN" altLang="en-US" sz="2800">
                <a:latin typeface="Arial Narrow" panose="020B0606020202030204" pitchFamily="34" charset="0"/>
              </a:rPr>
              <a:t>在使用</a:t>
            </a:r>
            <a:r>
              <a:rPr lang="en-US" altLang="zh-CN" sz="2800">
                <a:latin typeface="Arial Narrow" panose="020B0606020202030204" pitchFamily="34" charset="0"/>
              </a:rPr>
              <a:t>uC/OS-II</a:t>
            </a:r>
            <a:r>
              <a:rPr lang="zh-CN" altLang="en-US" sz="2800">
                <a:latin typeface="Arial Narrow" panose="020B0606020202030204" pitchFamily="34" charset="0"/>
              </a:rPr>
              <a:t>之前，必须对其运行环境初始化。</a:t>
            </a:r>
          </a:p>
        </p:txBody>
      </p:sp>
      <p:sp>
        <p:nvSpPr>
          <p:cNvPr id="100356" name="Text Box 4" descr="蓝色面巾纸">
            <a:extLst>
              <a:ext uri="{FF2B5EF4-FFF2-40B4-BE49-F238E27FC236}">
                <a16:creationId xmlns:a16="http://schemas.microsoft.com/office/drawing/2014/main" id="{A76E0E80-3879-378A-8659-2F94D2DD9B52}"/>
              </a:ext>
            </a:extLst>
          </p:cNvPr>
          <p:cNvSpPr txBox="1">
            <a:spLocks noChangeArrowheads="1"/>
          </p:cNvSpPr>
          <p:nvPr/>
        </p:nvSpPr>
        <p:spPr bwMode="auto">
          <a:xfrm>
            <a:off x="1331913" y="2565400"/>
            <a:ext cx="6480175" cy="579438"/>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3366FF"/>
              </a:buClr>
              <a:buSzPct val="70000"/>
              <a:buFont typeface="Wingdings" panose="05000000000000000000" pitchFamily="2" charset="2"/>
              <a:buNone/>
            </a:pPr>
            <a:r>
              <a:rPr lang="en-US" altLang="zh-CN" sz="2800">
                <a:latin typeface="Arial Narrow" panose="020B0606020202030204" pitchFamily="34" charset="0"/>
              </a:rPr>
              <a:t>	void</a:t>
            </a:r>
            <a:r>
              <a:rPr lang="en-US" altLang="zh-CN">
                <a:latin typeface="Arial Narrow" panose="020B0606020202030204" pitchFamily="34" charset="0"/>
              </a:rPr>
              <a:t>  OSInit( viod ) ;</a:t>
            </a:r>
            <a:endParaRPr lang="en-US" altLang="zh-CN" sz="1000">
              <a:latin typeface="Arial Narrow" panose="020B0606020202030204" pitchFamily="34" charset="0"/>
            </a:endParaRPr>
          </a:p>
        </p:txBody>
      </p:sp>
      <p:sp>
        <p:nvSpPr>
          <p:cNvPr id="100365" name="Text Box 13">
            <a:extLst>
              <a:ext uri="{FF2B5EF4-FFF2-40B4-BE49-F238E27FC236}">
                <a16:creationId xmlns:a16="http://schemas.microsoft.com/office/drawing/2014/main" id="{F8421A73-D06A-A478-7840-2087237B0ABB}"/>
              </a:ext>
            </a:extLst>
          </p:cNvPr>
          <p:cNvSpPr txBox="1">
            <a:spLocks noChangeArrowheads="1"/>
          </p:cNvSpPr>
          <p:nvPr/>
        </p:nvSpPr>
        <p:spPr bwMode="auto">
          <a:xfrm>
            <a:off x="1331913" y="3213100"/>
            <a:ext cx="65532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用法举例：</a:t>
            </a:r>
          </a:p>
          <a:p>
            <a:pPr eaLnBrk="1" hangingPunct="1">
              <a:spcBef>
                <a:spcPct val="0"/>
              </a:spcBef>
              <a:buClrTx/>
              <a:buSzTx/>
              <a:buFontTx/>
              <a:buNone/>
            </a:pPr>
            <a:r>
              <a:rPr lang="en-US" altLang="zh-CN" sz="2400">
                <a:latin typeface="Arial Narrow" panose="020B0606020202030204" pitchFamily="34" charset="0"/>
              </a:rPr>
              <a:t>void main (void)</a:t>
            </a:r>
          </a:p>
          <a:p>
            <a:pPr eaLnBrk="1" hangingPunct="1">
              <a:spcBef>
                <a:spcPct val="0"/>
              </a:spcBef>
              <a:buClrTx/>
              <a:buSzTx/>
              <a:buFontTx/>
              <a:buNone/>
            </a:pPr>
            <a:r>
              <a:rPr lang="en-US" altLang="zh-CN" sz="2400">
                <a:latin typeface="Arial Narrow" panose="020B0606020202030204" pitchFamily="34" charset="0"/>
              </a:rPr>
              <a:t>{</a:t>
            </a:r>
          </a:p>
          <a:p>
            <a:pPr eaLnBrk="1" hangingPunct="1">
              <a:spcBef>
                <a:spcPct val="0"/>
              </a:spcBef>
              <a:buClrTx/>
              <a:buSzTx/>
              <a:buFontTx/>
              <a:buNone/>
            </a:pPr>
            <a:r>
              <a:rPr lang="en-US" altLang="zh-CN" sz="2400">
                <a:latin typeface="Arial Narrow" panose="020B0606020202030204" pitchFamily="34" charset="0"/>
              </a:rPr>
              <a:t>    ......</a:t>
            </a:r>
          </a:p>
          <a:p>
            <a:pPr eaLnBrk="1" hangingPunct="1">
              <a:spcBef>
                <a:spcPct val="0"/>
              </a:spcBef>
              <a:buClrTx/>
              <a:buSzTx/>
              <a:buFontTx/>
              <a:buNone/>
            </a:pPr>
            <a:r>
              <a:rPr lang="en-US" altLang="zh-CN" sz="2400">
                <a:latin typeface="Arial Narrow" panose="020B0606020202030204" pitchFamily="34" charset="0"/>
              </a:rPr>
              <a:t>    OSInit();	 /* Initialize uC/OS-II */</a:t>
            </a:r>
          </a:p>
          <a:p>
            <a:pPr eaLnBrk="1" hangingPunct="1">
              <a:spcBef>
                <a:spcPct val="0"/>
              </a:spcBef>
              <a:buClrTx/>
              <a:buSzTx/>
              <a:buFontTx/>
              <a:buNone/>
            </a:pPr>
            <a:r>
              <a:rPr lang="en-US" altLang="zh-CN" sz="2400">
                <a:latin typeface="Arial Narrow" panose="020B0606020202030204" pitchFamily="34" charset="0"/>
              </a:rPr>
              <a:t>    ......		 /* Craete Task */</a:t>
            </a:r>
          </a:p>
          <a:p>
            <a:pPr eaLnBrk="1" hangingPunct="1">
              <a:spcBef>
                <a:spcPct val="0"/>
              </a:spcBef>
              <a:buClrTx/>
              <a:buSzTx/>
              <a:buFontTx/>
              <a:buNone/>
            </a:pPr>
            <a:r>
              <a:rPr lang="en-US" altLang="zh-CN" sz="2400">
                <a:latin typeface="Arial Narrow" panose="020B0606020202030204" pitchFamily="34" charset="0"/>
              </a:rPr>
              <a:t>    OSStart();	 /* Start Multitasking */</a:t>
            </a:r>
          </a:p>
          <a:p>
            <a:pPr eaLnBrk="1" hangingPunct="1">
              <a:spcBef>
                <a:spcPct val="0"/>
              </a:spcBef>
              <a:buClrTx/>
              <a:buSzTx/>
              <a:buFontTx/>
              <a:buNone/>
            </a:pPr>
            <a:r>
              <a:rPr lang="en-US" altLang="zh-CN" sz="2400">
                <a:latin typeface="Arial Narrow" panose="020B0606020202030204" pitchFamily="34" charset="0"/>
              </a:rPr>
              <a:t>}</a:t>
            </a:r>
          </a:p>
        </p:txBody>
      </p:sp>
      <p:sp>
        <p:nvSpPr>
          <p:cNvPr id="100370" name="Text Box 18">
            <a:extLst>
              <a:ext uri="{FF2B5EF4-FFF2-40B4-BE49-F238E27FC236}">
                <a16:creationId xmlns:a16="http://schemas.microsoft.com/office/drawing/2014/main" id="{6A2D6F5F-E188-2007-134F-733309B581F8}"/>
              </a:ext>
            </a:extLst>
          </p:cNvPr>
          <p:cNvSpPr txBox="1">
            <a:spLocks noChangeArrowheads="1"/>
          </p:cNvSpPr>
          <p:nvPr/>
        </p:nvSpPr>
        <p:spPr bwMode="auto">
          <a:xfrm>
            <a:off x="1187450" y="3213100"/>
            <a:ext cx="6769100"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Clr>
                <a:srgbClr val="F66C04"/>
              </a:buClr>
              <a:buSzPct val="55000"/>
              <a:buFont typeface="Wingdings" panose="05000000000000000000" pitchFamily="2" charset="2"/>
              <a:buNone/>
            </a:pPr>
            <a:r>
              <a:rPr lang="en-US" altLang="zh-CN" sz="2800" b="0">
                <a:latin typeface="Arial Narrow" panose="020B0606020202030204" pitchFamily="34" charset="0"/>
              </a:rPr>
              <a:t>OSInit( ) </a:t>
            </a:r>
            <a:r>
              <a:rPr lang="zh-CN" altLang="en-US" sz="2800" b="0">
                <a:latin typeface="Arial Narrow" panose="020B0606020202030204" pitchFamily="34" charset="0"/>
              </a:rPr>
              <a:t>的主要工作：</a:t>
            </a:r>
          </a:p>
          <a:p>
            <a:pPr eaLnBrk="1" hangingPunct="1">
              <a:spcBef>
                <a:spcPct val="25000"/>
              </a:spcBef>
              <a:buClr>
                <a:srgbClr val="F66C04"/>
              </a:buClr>
              <a:buSzPct val="55000"/>
              <a:buFont typeface="Wingdings" panose="05000000000000000000" pitchFamily="2" charset="2"/>
              <a:buChar char="Ø"/>
            </a:pPr>
            <a:r>
              <a:rPr lang="zh-CN" altLang="en-US" sz="2800" b="0">
                <a:latin typeface="Arial Narrow" panose="020B0606020202030204" pitchFamily="34" charset="0"/>
              </a:rPr>
              <a:t>对 </a:t>
            </a:r>
            <a:r>
              <a:rPr lang="en-US" altLang="zh-CN" sz="2800">
                <a:latin typeface="Arial Narrow" panose="020B0606020202030204" pitchFamily="34" charset="0"/>
              </a:rPr>
              <a:t>uC/OS-II </a:t>
            </a:r>
            <a:r>
              <a:rPr lang="zh-CN" altLang="en-US" sz="2800">
                <a:latin typeface="Arial Narrow" panose="020B0606020202030204" pitchFamily="34" charset="0"/>
              </a:rPr>
              <a:t>的所有全局变量和数据结构初始化。</a:t>
            </a:r>
          </a:p>
          <a:p>
            <a:pPr eaLnBrk="1" hangingPunct="1">
              <a:spcBef>
                <a:spcPct val="25000"/>
              </a:spcBef>
              <a:buClr>
                <a:srgbClr val="F66C04"/>
              </a:buClr>
              <a:buSzPct val="55000"/>
              <a:buFont typeface="Wingdings" panose="05000000000000000000" pitchFamily="2" charset="2"/>
              <a:buChar char="Ø"/>
            </a:pPr>
            <a:r>
              <a:rPr lang="zh-CN" altLang="en-US" sz="2800">
                <a:latin typeface="Arial Narrow" panose="020B0606020202030204" pitchFamily="34" charset="0"/>
              </a:rPr>
              <a:t>创建空间任务</a:t>
            </a:r>
            <a:r>
              <a:rPr lang="en-US" altLang="zh-CN" sz="2800">
                <a:latin typeface="Arial Narrow" panose="020B0606020202030204" pitchFamily="34" charset="0"/>
              </a:rPr>
              <a:t>( OSTaskIdel() )</a:t>
            </a:r>
          </a:p>
          <a:p>
            <a:pPr eaLnBrk="1" hangingPunct="1">
              <a:spcBef>
                <a:spcPct val="25000"/>
              </a:spcBef>
              <a:buClr>
                <a:srgbClr val="F66C04"/>
              </a:buClr>
              <a:buSzPct val="55000"/>
              <a:buFont typeface="Wingdings" panose="05000000000000000000" pitchFamily="2" charset="2"/>
              <a:buChar char="Ø"/>
            </a:pPr>
            <a:r>
              <a:rPr lang="zh-CN" altLang="en-US" sz="2800">
                <a:latin typeface="Arial Narrow" panose="020B0606020202030204" pitchFamily="34" charset="0"/>
              </a:rPr>
              <a:t>根据系统设置</a:t>
            </a:r>
            <a:r>
              <a:rPr lang="en-US" altLang="zh-CN" sz="2800">
                <a:latin typeface="Arial Narrow" panose="020B0606020202030204" pitchFamily="34" charset="0"/>
              </a:rPr>
              <a:t>( OS_TASK_STAT_EN = 1 / 0 ) </a:t>
            </a:r>
            <a:r>
              <a:rPr lang="zh-CN" altLang="en-US" sz="2800">
                <a:latin typeface="Arial Narrow" panose="020B0606020202030204" pitchFamily="34" charset="0"/>
              </a:rPr>
              <a:t>启动统计任务。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checkerboard(across)">
                                      <p:cBhvr>
                                        <p:cTn id="7" dur="500"/>
                                        <p:tgtEl>
                                          <p:spTgt spid="100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0365"/>
                                        </p:tgtEl>
                                        <p:attrNameLst>
                                          <p:attrName>style.visibility</p:attrName>
                                        </p:attrNameLst>
                                      </p:cBhvr>
                                      <p:to>
                                        <p:strVal val="visible"/>
                                      </p:to>
                                    </p:set>
                                    <p:animEffect transition="in" filter="blinds(horizontal)">
                                      <p:cBhvr>
                                        <p:cTn id="12" dur="500"/>
                                        <p:tgtEl>
                                          <p:spTgt spid="100365"/>
                                        </p:tgtEl>
                                      </p:cBhvr>
                                    </p:animEffect>
                                  </p:childTnLst>
                                  <p:subTnLst>
                                    <p:set>
                                      <p:cBhvr override="childStyle">
                                        <p:cTn dur="1" fill="hold" display="0" masterRel="nextClick" afterEffect="1"/>
                                        <p:tgtEl>
                                          <p:spTgt spid="10036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0370"/>
                                        </p:tgtEl>
                                        <p:attrNameLst>
                                          <p:attrName>style.visibility</p:attrName>
                                        </p:attrNameLst>
                                      </p:cBhvr>
                                      <p:to>
                                        <p:strVal val="visible"/>
                                      </p:to>
                                    </p:set>
                                    <p:animEffect transition="in" filter="blinds(horizontal)">
                                      <p:cBhvr>
                                        <p:cTn id="17" dur="500"/>
                                        <p:tgtEl>
                                          <p:spTgt spid="10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nimBg="1"/>
      <p:bldP spid="100365" grpId="0"/>
      <p:bldP spid="10037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1">
            <a:extLst>
              <a:ext uri="{FF2B5EF4-FFF2-40B4-BE49-F238E27FC236}">
                <a16:creationId xmlns:a16="http://schemas.microsoft.com/office/drawing/2014/main" id="{84A5F6DF-6B4F-A6C3-C96A-88E4D38765B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6019" name="灯片编号占位符 2">
            <a:extLst>
              <a:ext uri="{FF2B5EF4-FFF2-40B4-BE49-F238E27FC236}">
                <a16:creationId xmlns:a16="http://schemas.microsoft.com/office/drawing/2014/main" id="{E0950201-F1F5-EBFB-89EA-3994B7A425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045EC50-00CD-4DBB-9E94-66A94FC4595A}" type="slidenum">
              <a:rPr lang="en-US" altLang="zh-CN" sz="1200" smtClean="0">
                <a:solidFill>
                  <a:srgbClr val="3366FF"/>
                </a:solidFill>
                <a:latin typeface="Arial Black" panose="020B0A04020102020204" pitchFamily="34" charset="0"/>
              </a:rPr>
              <a:pPr>
                <a:spcBef>
                  <a:spcPct val="0"/>
                </a:spcBef>
                <a:buClrTx/>
                <a:buSzTx/>
                <a:buFontTx/>
                <a:buNone/>
              </a:pPr>
              <a:t>81</a:t>
            </a:fld>
            <a:endParaRPr lang="en-US" altLang="zh-CN" sz="1200">
              <a:solidFill>
                <a:srgbClr val="3366FF"/>
              </a:solidFill>
              <a:latin typeface="Arial Black" panose="020B0A04020102020204" pitchFamily="34" charset="0"/>
            </a:endParaRPr>
          </a:p>
        </p:txBody>
      </p:sp>
      <p:sp>
        <p:nvSpPr>
          <p:cNvPr id="86020" name="日期占位符 3">
            <a:extLst>
              <a:ext uri="{FF2B5EF4-FFF2-40B4-BE49-F238E27FC236}">
                <a16:creationId xmlns:a16="http://schemas.microsoft.com/office/drawing/2014/main" id="{71A7A6C3-6213-5303-3E40-1935067BB93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BCBAD1E-92CF-4421-840E-6BC06D03BB1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6021" name="Rectangle 2">
            <a:extLst>
              <a:ext uri="{FF2B5EF4-FFF2-40B4-BE49-F238E27FC236}">
                <a16:creationId xmlns:a16="http://schemas.microsoft.com/office/drawing/2014/main" id="{9B7A8D5D-7480-A3A3-A849-452AF3B148D2}"/>
              </a:ext>
            </a:extLst>
          </p:cNvPr>
          <p:cNvSpPr>
            <a:spLocks noChangeArrowheads="1"/>
          </p:cNvSpPr>
          <p:nvPr/>
        </p:nvSpPr>
        <p:spPr bwMode="auto">
          <a:xfrm>
            <a:off x="446088" y="62071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600" b="0"/>
              <a:t>2.8  uC/OS-II</a:t>
            </a:r>
            <a:r>
              <a:rPr lang="zh-CN" altLang="en-US" sz="3600" b="0"/>
              <a:t>的初始化和任务的启动</a:t>
            </a:r>
          </a:p>
        </p:txBody>
      </p:sp>
      <p:sp>
        <p:nvSpPr>
          <p:cNvPr id="86022" name="Text Box 3">
            <a:extLst>
              <a:ext uri="{FF2B5EF4-FFF2-40B4-BE49-F238E27FC236}">
                <a16:creationId xmlns:a16="http://schemas.microsoft.com/office/drawing/2014/main" id="{64F77444-9D5C-B6AC-A601-251A24C8FF99}"/>
              </a:ext>
            </a:extLst>
          </p:cNvPr>
          <p:cNvSpPr txBox="1">
            <a:spLocks noChangeArrowheads="1"/>
          </p:cNvSpPr>
          <p:nvPr/>
        </p:nvSpPr>
        <p:spPr bwMode="auto">
          <a:xfrm>
            <a:off x="468313" y="1397000"/>
            <a:ext cx="6840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3399FF"/>
              </a:buClr>
              <a:buSzPct val="90000"/>
            </a:pPr>
            <a:r>
              <a:rPr lang="en-US" altLang="zh-CN" sz="2800">
                <a:latin typeface="Arial Narrow" panose="020B0606020202030204" pitchFamily="34" charset="0"/>
              </a:rPr>
              <a:t>uC/OS-II</a:t>
            </a:r>
            <a:r>
              <a:rPr lang="zh-CN" altLang="en-US" sz="2800"/>
              <a:t>的启动</a:t>
            </a:r>
            <a:endParaRPr lang="zh-CN" altLang="en-US" sz="2800">
              <a:latin typeface="Arial Narrow" panose="020B0606020202030204" pitchFamily="34" charset="0"/>
            </a:endParaRPr>
          </a:p>
        </p:txBody>
      </p:sp>
      <p:sp>
        <p:nvSpPr>
          <p:cNvPr id="101383" name="Text Box 7">
            <a:extLst>
              <a:ext uri="{FF2B5EF4-FFF2-40B4-BE49-F238E27FC236}">
                <a16:creationId xmlns:a16="http://schemas.microsoft.com/office/drawing/2014/main" id="{9DFF03A8-CE02-5727-C44D-462968BED507}"/>
              </a:ext>
            </a:extLst>
          </p:cNvPr>
          <p:cNvSpPr txBox="1">
            <a:spLocks noChangeArrowheads="1"/>
          </p:cNvSpPr>
          <p:nvPr/>
        </p:nvSpPr>
        <p:spPr bwMode="auto">
          <a:xfrm>
            <a:off x="1114425" y="3068638"/>
            <a:ext cx="72739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buClr>
                <a:srgbClr val="F66C04"/>
              </a:buClr>
              <a:buSzPct val="55000"/>
              <a:buFont typeface="Wingdings" panose="05000000000000000000" pitchFamily="2" charset="2"/>
              <a:buNone/>
            </a:pPr>
            <a:r>
              <a:rPr lang="en-US" altLang="zh-CN" sz="2600">
                <a:latin typeface="Arial Narrow" panose="020B0606020202030204" pitchFamily="34" charset="0"/>
              </a:rPr>
              <a:t>      </a:t>
            </a:r>
            <a:r>
              <a:rPr lang="zh-CN" altLang="en-US" sz="2600">
                <a:latin typeface="Arial Narrow" panose="020B0606020202030204" pitchFamily="34" charset="0"/>
              </a:rPr>
              <a:t>主函数 </a:t>
            </a:r>
            <a:r>
              <a:rPr lang="en-US" altLang="zh-CN" sz="2600">
                <a:latin typeface="Arial Narrow" panose="020B0606020202030204" pitchFamily="34" charset="0"/>
              </a:rPr>
              <a:t>main( ) </a:t>
            </a:r>
            <a:r>
              <a:rPr lang="zh-CN" altLang="en-US" sz="2600">
                <a:latin typeface="Arial Narrow" panose="020B0606020202030204" pitchFamily="34" charset="0"/>
              </a:rPr>
              <a:t>调用了</a:t>
            </a:r>
            <a:r>
              <a:rPr lang="en-US" altLang="zh-CN" sz="2600">
                <a:latin typeface="Arial Narrow" panose="020B0606020202030204" pitchFamily="34" charset="0"/>
              </a:rPr>
              <a:t>OSStart( ) </a:t>
            </a:r>
            <a:r>
              <a:rPr lang="zh-CN" altLang="en-US" sz="2600">
                <a:latin typeface="Arial Narrow" panose="020B0606020202030204" pitchFamily="34" charset="0"/>
              </a:rPr>
              <a:t>之后，</a:t>
            </a:r>
            <a:r>
              <a:rPr lang="en-US" altLang="zh-CN" sz="2600">
                <a:latin typeface="Arial Narrow" panose="020B0606020202030204" pitchFamily="34" charset="0"/>
              </a:rPr>
              <a:t>uC/OS-II </a:t>
            </a:r>
            <a:r>
              <a:rPr lang="zh-CN" altLang="en-US" sz="2600">
                <a:latin typeface="Arial Narrow" panose="020B0606020202030204" pitchFamily="34" charset="0"/>
              </a:rPr>
              <a:t>才开始任务调度管理。</a:t>
            </a:r>
          </a:p>
        </p:txBody>
      </p:sp>
      <p:sp>
        <p:nvSpPr>
          <p:cNvPr id="86024" name="Text Box 8" descr="蓝色面巾纸">
            <a:extLst>
              <a:ext uri="{FF2B5EF4-FFF2-40B4-BE49-F238E27FC236}">
                <a16:creationId xmlns:a16="http://schemas.microsoft.com/office/drawing/2014/main" id="{1968A480-B155-02FB-0C59-5A6A95230A3D}"/>
              </a:ext>
            </a:extLst>
          </p:cNvPr>
          <p:cNvSpPr txBox="1">
            <a:spLocks noChangeArrowheads="1"/>
          </p:cNvSpPr>
          <p:nvPr/>
        </p:nvSpPr>
        <p:spPr bwMode="auto">
          <a:xfrm>
            <a:off x="1331913" y="1989138"/>
            <a:ext cx="6480175" cy="57943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rgbClr val="3366FF"/>
              </a:buClr>
              <a:buSzPct val="70000"/>
              <a:buFont typeface="Wingdings" panose="05000000000000000000" pitchFamily="2" charset="2"/>
              <a:buNone/>
            </a:pPr>
            <a:r>
              <a:rPr lang="en-US" altLang="zh-CN" sz="2800">
                <a:latin typeface="Arial Narrow" panose="020B0606020202030204" pitchFamily="34" charset="0"/>
              </a:rPr>
              <a:t>	void</a:t>
            </a:r>
            <a:r>
              <a:rPr lang="en-US" altLang="zh-CN">
                <a:latin typeface="Arial Narrow" panose="020B0606020202030204" pitchFamily="34" charset="0"/>
              </a:rPr>
              <a:t>  OSStart( viod ) ;</a:t>
            </a:r>
            <a:endParaRPr lang="en-US" altLang="zh-CN" sz="1000">
              <a:latin typeface="Arial Narrow" panose="020B0606020202030204" pitchFamily="34" charset="0"/>
            </a:endParaRPr>
          </a:p>
        </p:txBody>
      </p:sp>
      <p:sp>
        <p:nvSpPr>
          <p:cNvPr id="101385" name="Text Box 9">
            <a:extLst>
              <a:ext uri="{FF2B5EF4-FFF2-40B4-BE49-F238E27FC236}">
                <a16:creationId xmlns:a16="http://schemas.microsoft.com/office/drawing/2014/main" id="{5BB15831-FE9A-F9C0-EDBB-FE3D9A9ED6C6}"/>
              </a:ext>
            </a:extLst>
          </p:cNvPr>
          <p:cNvSpPr txBox="1">
            <a:spLocks noChangeArrowheads="1"/>
          </p:cNvSpPr>
          <p:nvPr/>
        </p:nvSpPr>
        <p:spPr bwMode="auto">
          <a:xfrm>
            <a:off x="1331913" y="2924175"/>
            <a:ext cx="65532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用法举例：</a:t>
            </a:r>
          </a:p>
          <a:p>
            <a:pPr eaLnBrk="1" hangingPunct="1">
              <a:spcBef>
                <a:spcPct val="0"/>
              </a:spcBef>
              <a:buClrTx/>
              <a:buSzTx/>
              <a:buFontTx/>
              <a:buNone/>
            </a:pPr>
            <a:r>
              <a:rPr lang="en-US" altLang="zh-CN" sz="2400">
                <a:latin typeface="Arial Narrow" panose="020B0606020202030204" pitchFamily="34" charset="0"/>
              </a:rPr>
              <a:t>void main (void)</a:t>
            </a:r>
          </a:p>
          <a:p>
            <a:pPr eaLnBrk="1" hangingPunct="1">
              <a:spcBef>
                <a:spcPct val="0"/>
              </a:spcBef>
              <a:buClrTx/>
              <a:buSzTx/>
              <a:buFontTx/>
              <a:buNone/>
            </a:pPr>
            <a:r>
              <a:rPr lang="en-US" altLang="zh-CN" sz="2400">
                <a:latin typeface="Arial Narrow" panose="020B0606020202030204" pitchFamily="34" charset="0"/>
              </a:rPr>
              <a:t>{</a:t>
            </a:r>
          </a:p>
          <a:p>
            <a:pPr eaLnBrk="1" hangingPunct="1">
              <a:spcBef>
                <a:spcPct val="0"/>
              </a:spcBef>
              <a:buClrTx/>
              <a:buSzTx/>
              <a:buFontTx/>
              <a:buNone/>
            </a:pPr>
            <a:r>
              <a:rPr lang="en-US" altLang="zh-CN" sz="2400">
                <a:latin typeface="Arial Narrow" panose="020B0606020202030204" pitchFamily="34" charset="0"/>
              </a:rPr>
              <a:t>    ......</a:t>
            </a:r>
          </a:p>
          <a:p>
            <a:pPr eaLnBrk="1" hangingPunct="1">
              <a:spcBef>
                <a:spcPct val="0"/>
              </a:spcBef>
              <a:buClrTx/>
              <a:buSzTx/>
              <a:buFontTx/>
              <a:buNone/>
            </a:pPr>
            <a:r>
              <a:rPr lang="en-US" altLang="zh-CN" sz="2400">
                <a:latin typeface="Arial Narrow" panose="020B0606020202030204" pitchFamily="34" charset="0"/>
              </a:rPr>
              <a:t>    OSInit();	 /* Initialize uC/OS-II */</a:t>
            </a:r>
          </a:p>
          <a:p>
            <a:pPr eaLnBrk="1" hangingPunct="1">
              <a:spcBef>
                <a:spcPct val="0"/>
              </a:spcBef>
              <a:buClrTx/>
              <a:buSzTx/>
              <a:buFontTx/>
              <a:buNone/>
            </a:pPr>
            <a:r>
              <a:rPr lang="en-US" altLang="zh-CN" sz="2400">
                <a:latin typeface="Arial Narrow" panose="020B0606020202030204" pitchFamily="34" charset="0"/>
              </a:rPr>
              <a:t>    ......		 /* Craete Task */</a:t>
            </a:r>
          </a:p>
          <a:p>
            <a:pPr eaLnBrk="1" hangingPunct="1">
              <a:spcBef>
                <a:spcPct val="0"/>
              </a:spcBef>
              <a:buClrTx/>
              <a:buSzTx/>
              <a:buFontTx/>
              <a:buNone/>
            </a:pPr>
            <a:r>
              <a:rPr lang="en-US" altLang="zh-CN" sz="2400">
                <a:latin typeface="Arial Narrow" panose="020B0606020202030204" pitchFamily="34" charset="0"/>
              </a:rPr>
              <a:t>    OSStart();	 /* Start Multitasking */</a:t>
            </a:r>
          </a:p>
          <a:p>
            <a:pPr eaLnBrk="1" hangingPunct="1">
              <a:spcBef>
                <a:spcPct val="0"/>
              </a:spcBef>
              <a:buClrTx/>
              <a:buSzTx/>
              <a:buFontTx/>
              <a:buNone/>
            </a:pPr>
            <a:r>
              <a:rPr lang="en-US" altLang="zh-CN" sz="2400">
                <a:latin typeface="Arial Narrow" panose="020B060602020203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383"/>
                                        </p:tgtEl>
                                        <p:attrNameLst>
                                          <p:attrName>style.visibility</p:attrName>
                                        </p:attrNameLst>
                                      </p:cBhvr>
                                      <p:to>
                                        <p:strVal val="visible"/>
                                      </p:to>
                                    </p:set>
                                    <p:animEffect transition="in" filter="blinds(horizontal)">
                                      <p:cBhvr>
                                        <p:cTn id="7" dur="500"/>
                                        <p:tgtEl>
                                          <p:spTgt spid="101383"/>
                                        </p:tgtEl>
                                      </p:cBhvr>
                                    </p:animEffect>
                                  </p:childTnLst>
                                  <p:subTnLst>
                                    <p:set>
                                      <p:cBhvr override="childStyle">
                                        <p:cTn dur="1" fill="hold" display="0" masterRel="nextClick" afterEffect="1"/>
                                        <p:tgtEl>
                                          <p:spTgt spid="10138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01385"/>
                                        </p:tgtEl>
                                        <p:attrNameLst>
                                          <p:attrName>style.visibility</p:attrName>
                                        </p:attrNameLst>
                                      </p:cBhvr>
                                      <p:to>
                                        <p:strVal val="visible"/>
                                      </p:to>
                                    </p:set>
                                    <p:animEffect transition="in" filter="blinds(vertical)">
                                      <p:cBhvr>
                                        <p:cTn id="12" dur="500"/>
                                        <p:tgtEl>
                                          <p:spTgt spid="101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3" grpId="0"/>
      <p:bldP spid="10138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3">
            <a:extLst>
              <a:ext uri="{FF2B5EF4-FFF2-40B4-BE49-F238E27FC236}">
                <a16:creationId xmlns:a16="http://schemas.microsoft.com/office/drawing/2014/main" id="{AB073EAB-D944-FF18-431D-DBEFF1CCD9D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7043" name="灯片编号占位符 4">
            <a:extLst>
              <a:ext uri="{FF2B5EF4-FFF2-40B4-BE49-F238E27FC236}">
                <a16:creationId xmlns:a16="http://schemas.microsoft.com/office/drawing/2014/main" id="{CBF484BE-0A1E-C11D-0FF2-0B18295033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33529CD-0833-44B8-8A22-C5239DFEF600}" type="slidenum">
              <a:rPr lang="en-US" altLang="zh-CN" sz="1200" smtClean="0">
                <a:solidFill>
                  <a:srgbClr val="3366FF"/>
                </a:solidFill>
                <a:latin typeface="Arial Black" panose="020B0A04020102020204" pitchFamily="34" charset="0"/>
              </a:rPr>
              <a:pPr>
                <a:spcBef>
                  <a:spcPct val="0"/>
                </a:spcBef>
                <a:buClrTx/>
                <a:buSzTx/>
                <a:buFontTx/>
                <a:buNone/>
              </a:pPr>
              <a:t>82</a:t>
            </a:fld>
            <a:endParaRPr lang="en-US" altLang="zh-CN" sz="1200">
              <a:solidFill>
                <a:srgbClr val="3366FF"/>
              </a:solidFill>
              <a:latin typeface="Arial Black" panose="020B0A04020102020204" pitchFamily="34" charset="0"/>
            </a:endParaRPr>
          </a:p>
        </p:txBody>
      </p:sp>
      <p:sp>
        <p:nvSpPr>
          <p:cNvPr id="87044" name="日期占位符 5">
            <a:extLst>
              <a:ext uri="{FF2B5EF4-FFF2-40B4-BE49-F238E27FC236}">
                <a16:creationId xmlns:a16="http://schemas.microsoft.com/office/drawing/2014/main" id="{96429E7E-5D56-76A2-D4DF-71D66CF39C8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6D14F4B-ED92-4A2E-B2EB-9B214572660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7045" name="Rectangle 2">
            <a:extLst>
              <a:ext uri="{FF2B5EF4-FFF2-40B4-BE49-F238E27FC236}">
                <a16:creationId xmlns:a16="http://schemas.microsoft.com/office/drawing/2014/main" id="{DDD2961D-F63D-95D0-750D-562AD2DE9992}"/>
              </a:ext>
            </a:extLst>
          </p:cNvPr>
          <p:cNvSpPr>
            <a:spLocks noGrp="1" noChangeArrowheads="1"/>
          </p:cNvSpPr>
          <p:nvPr>
            <p:ph type="title"/>
          </p:nvPr>
        </p:nvSpPr>
        <p:spPr/>
        <p:txBody>
          <a:bodyPr/>
          <a:lstStyle/>
          <a:p>
            <a:pPr algn="ctr" eaLnBrk="1" hangingPunct="1"/>
            <a:r>
              <a:rPr lang="zh-CN" altLang="en-US" sz="4000"/>
              <a:t>本章小结</a:t>
            </a:r>
          </a:p>
        </p:txBody>
      </p:sp>
      <p:sp>
        <p:nvSpPr>
          <p:cNvPr id="87046" name="Rectangle 3">
            <a:extLst>
              <a:ext uri="{FF2B5EF4-FFF2-40B4-BE49-F238E27FC236}">
                <a16:creationId xmlns:a16="http://schemas.microsoft.com/office/drawing/2014/main" id="{D519B2E2-B7A3-A6E2-79B5-3BB0E3D21378}"/>
              </a:ext>
            </a:extLst>
          </p:cNvPr>
          <p:cNvSpPr>
            <a:spLocks noGrp="1" noChangeArrowheads="1"/>
          </p:cNvSpPr>
          <p:nvPr>
            <p:ph type="body" idx="1"/>
          </p:nvPr>
        </p:nvSpPr>
        <p:spPr>
          <a:xfrm>
            <a:off x="590550" y="1412875"/>
            <a:ext cx="8229600" cy="4752975"/>
          </a:xfrm>
        </p:spPr>
        <p:txBody>
          <a:bodyPr/>
          <a:lstStyle/>
          <a:p>
            <a:pPr eaLnBrk="1" hangingPunct="1">
              <a:spcBef>
                <a:spcPct val="35000"/>
              </a:spcBef>
            </a:pPr>
            <a:r>
              <a:rPr lang="en-US" altLang="zh-CN" sz="2400" b="1">
                <a:latin typeface="Arial Narrow" panose="020B0606020202030204" pitchFamily="34" charset="0"/>
              </a:rPr>
              <a:t>Task </a:t>
            </a:r>
            <a:r>
              <a:rPr lang="zh-CN" altLang="en-US" sz="2400" b="1">
                <a:latin typeface="Arial Narrow" panose="020B0606020202030204" pitchFamily="34" charset="0"/>
              </a:rPr>
              <a:t>由 </a:t>
            </a:r>
            <a:r>
              <a:rPr lang="en-US" altLang="zh-CN" sz="2400" b="1">
                <a:latin typeface="Arial Narrow" panose="020B0606020202030204" pitchFamily="34" charset="0"/>
              </a:rPr>
              <a:t>TCB</a:t>
            </a:r>
            <a:r>
              <a:rPr lang="zh-CN" altLang="en-US" sz="2400" b="1">
                <a:latin typeface="Arial Narrow" panose="020B0606020202030204" pitchFamily="34" charset="0"/>
              </a:rPr>
              <a:t>、</a:t>
            </a:r>
            <a:r>
              <a:rPr lang="en-US" altLang="zh-CN" sz="2400" b="1">
                <a:latin typeface="Arial Narrow" panose="020B0606020202030204" pitchFamily="34" charset="0"/>
              </a:rPr>
              <a:t>Task_Stack</a:t>
            </a:r>
            <a:r>
              <a:rPr lang="zh-CN" altLang="en-US" sz="2400" b="1">
                <a:latin typeface="Arial Narrow" panose="020B0606020202030204" pitchFamily="34" charset="0"/>
              </a:rPr>
              <a:t>、</a:t>
            </a:r>
            <a:r>
              <a:rPr lang="en-US" altLang="zh-CN" sz="2400" b="1">
                <a:latin typeface="Arial Narrow" panose="020B0606020202030204" pitchFamily="34" charset="0"/>
              </a:rPr>
              <a:t>Task_Code </a:t>
            </a:r>
            <a:r>
              <a:rPr lang="zh-CN" altLang="en-US" sz="2400" b="1">
                <a:latin typeface="Arial Narrow" panose="020B0606020202030204" pitchFamily="34" charset="0"/>
              </a:rPr>
              <a:t>三部分组成。</a:t>
            </a:r>
          </a:p>
          <a:p>
            <a:pPr eaLnBrk="1" hangingPunct="1">
              <a:spcBef>
                <a:spcPct val="35000"/>
              </a:spcBef>
            </a:pPr>
            <a:r>
              <a:rPr lang="en-US" altLang="zh-CN" sz="2400" b="1">
                <a:latin typeface="Arial Narrow" panose="020B0606020202030204" pitchFamily="34" charset="0"/>
              </a:rPr>
              <a:t>uC/OS-II</a:t>
            </a:r>
            <a:r>
              <a:rPr lang="zh-CN" altLang="en-US" sz="2400" b="1">
                <a:latin typeface="Arial Narrow" panose="020B0606020202030204" pitchFamily="34" charset="0"/>
              </a:rPr>
              <a:t>使用 </a:t>
            </a:r>
            <a:r>
              <a:rPr lang="en-US" altLang="zh-CN" sz="2400" b="1">
                <a:latin typeface="Arial Narrow" panose="020B0606020202030204" pitchFamily="34" charset="0"/>
              </a:rPr>
              <a:t>TCB </a:t>
            </a:r>
            <a:r>
              <a:rPr lang="zh-CN" altLang="en-US" sz="2400" b="1">
                <a:latin typeface="Arial Narrow" panose="020B0606020202030204" pitchFamily="34" charset="0"/>
              </a:rPr>
              <a:t>对任务进行控制。</a:t>
            </a:r>
          </a:p>
          <a:p>
            <a:pPr eaLnBrk="1" hangingPunct="1">
              <a:spcBef>
                <a:spcPct val="35000"/>
              </a:spcBef>
            </a:pPr>
            <a:r>
              <a:rPr lang="en-US" altLang="zh-CN" sz="2400" b="1">
                <a:latin typeface="Arial Narrow" panose="020B0606020202030204" pitchFamily="34" charset="0"/>
              </a:rPr>
              <a:t>Task_Stack </a:t>
            </a:r>
            <a:r>
              <a:rPr lang="zh-CN" altLang="en-US" sz="2400" b="1">
                <a:latin typeface="Arial Narrow" panose="020B0606020202030204" pitchFamily="34" charset="0"/>
              </a:rPr>
              <a:t>用于任务切换时私有现场保护。</a:t>
            </a:r>
          </a:p>
          <a:p>
            <a:pPr eaLnBrk="1" hangingPunct="1">
              <a:spcBef>
                <a:spcPct val="35000"/>
              </a:spcBef>
            </a:pPr>
            <a:r>
              <a:rPr lang="en-US" altLang="zh-CN" sz="2400" b="1">
                <a:latin typeface="Arial Narrow" panose="020B0606020202030204" pitchFamily="34" charset="0"/>
              </a:rPr>
              <a:t>uC/OS-II </a:t>
            </a:r>
            <a:r>
              <a:rPr lang="zh-CN" altLang="en-US" sz="2400" b="1">
                <a:latin typeface="Arial Narrow" panose="020B0606020202030204" pitchFamily="34" charset="0"/>
              </a:rPr>
              <a:t>按任务优先级对任务进行调度。</a:t>
            </a:r>
          </a:p>
          <a:p>
            <a:pPr eaLnBrk="1" hangingPunct="1">
              <a:spcBef>
                <a:spcPct val="35000"/>
              </a:spcBef>
            </a:pPr>
            <a:r>
              <a:rPr lang="en-US" altLang="zh-CN" sz="2400" b="1">
                <a:latin typeface="Arial Narrow" panose="020B0606020202030204" pitchFamily="34" charset="0"/>
              </a:rPr>
              <a:t>uC/OS-II </a:t>
            </a:r>
            <a:r>
              <a:rPr lang="zh-CN" altLang="en-US" sz="2400" b="1">
                <a:latin typeface="Arial Narrow" panose="020B0606020202030204" pitchFamily="34" charset="0"/>
              </a:rPr>
              <a:t>每调用一次</a:t>
            </a:r>
            <a:r>
              <a:rPr lang="en-US" altLang="zh-CN" sz="2400" b="1">
                <a:latin typeface="Arial Narrow" panose="020B0606020202030204" pitchFamily="34" charset="0"/>
              </a:rPr>
              <a:t>API</a:t>
            </a:r>
            <a:r>
              <a:rPr lang="zh-CN" altLang="en-US" sz="2400" b="1">
                <a:latin typeface="Arial Narrow" panose="020B0606020202030204" pitchFamily="34" charset="0"/>
              </a:rPr>
              <a:t>函数和中断返回都会进行一次任务调度。</a:t>
            </a:r>
          </a:p>
          <a:p>
            <a:pPr eaLnBrk="1" hangingPunct="1">
              <a:spcBef>
                <a:spcPct val="35000"/>
              </a:spcBef>
            </a:pPr>
            <a:r>
              <a:rPr lang="zh-CN" altLang="en-US" sz="2400" b="1">
                <a:latin typeface="Arial Narrow" panose="020B0606020202030204" pitchFamily="34" charset="0"/>
              </a:rPr>
              <a:t>任务调度的周期和任务调度器自身的运行事件无关。</a:t>
            </a:r>
          </a:p>
          <a:p>
            <a:pPr eaLnBrk="1" hangingPunct="1">
              <a:spcBef>
                <a:spcPct val="35000"/>
              </a:spcBef>
            </a:pPr>
            <a:r>
              <a:rPr lang="zh-CN" altLang="en-US" sz="2400" b="1">
                <a:latin typeface="Arial Narrow" panose="020B0606020202030204" pitchFamily="34" charset="0"/>
              </a:rPr>
              <a:t>任务的优先级</a:t>
            </a:r>
            <a:r>
              <a:rPr lang="en-US" altLang="zh-CN" sz="2400" b="1">
                <a:latin typeface="Arial Narrow" panose="020B0606020202030204" pitchFamily="34" charset="0"/>
              </a:rPr>
              <a:t>(prio)</a:t>
            </a:r>
            <a:r>
              <a:rPr lang="zh-CN" altLang="en-US" sz="2400" b="1">
                <a:latin typeface="Arial Narrow" panose="020B0606020202030204" pitchFamily="34" charset="0"/>
              </a:rPr>
              <a:t>也是任务的句柄。</a:t>
            </a:r>
          </a:p>
          <a:p>
            <a:pPr eaLnBrk="1" hangingPunct="1">
              <a:spcBef>
                <a:spcPct val="35000"/>
              </a:spcBef>
            </a:pPr>
            <a:r>
              <a:rPr lang="en-US" altLang="zh-CN" sz="2400" b="1">
                <a:latin typeface="Arial Narrow" panose="020B0606020202030204" pitchFamily="34" charset="0"/>
              </a:rPr>
              <a:t>uC/OS-II </a:t>
            </a:r>
            <a:r>
              <a:rPr lang="zh-CN" altLang="en-US" sz="2400" b="1">
                <a:latin typeface="Arial Narrow" panose="020B0606020202030204" pitchFamily="34" charset="0"/>
              </a:rPr>
              <a:t>的初始化和启动。</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页脚占位符 3">
            <a:extLst>
              <a:ext uri="{FF2B5EF4-FFF2-40B4-BE49-F238E27FC236}">
                <a16:creationId xmlns:a16="http://schemas.microsoft.com/office/drawing/2014/main" id="{ECDBDF76-2902-6E36-AC69-0D3A8C9666B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8067" name="灯片编号占位符 4">
            <a:extLst>
              <a:ext uri="{FF2B5EF4-FFF2-40B4-BE49-F238E27FC236}">
                <a16:creationId xmlns:a16="http://schemas.microsoft.com/office/drawing/2014/main" id="{DCEB26D0-7AFC-2C0A-3006-14F0B3ABB47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E1C9DD7-80ED-435D-83B1-AB4BA2F47EC5}" type="slidenum">
              <a:rPr lang="en-US" altLang="zh-CN" sz="1200" smtClean="0">
                <a:solidFill>
                  <a:srgbClr val="3366FF"/>
                </a:solidFill>
                <a:latin typeface="Arial Black" panose="020B0A04020102020204" pitchFamily="34" charset="0"/>
              </a:rPr>
              <a:pPr>
                <a:spcBef>
                  <a:spcPct val="0"/>
                </a:spcBef>
                <a:buClrTx/>
                <a:buSzTx/>
                <a:buFontTx/>
                <a:buNone/>
              </a:pPr>
              <a:t>83</a:t>
            </a:fld>
            <a:endParaRPr lang="en-US" altLang="zh-CN" sz="1200">
              <a:solidFill>
                <a:srgbClr val="3366FF"/>
              </a:solidFill>
              <a:latin typeface="Arial Black" panose="020B0A04020102020204" pitchFamily="34" charset="0"/>
            </a:endParaRPr>
          </a:p>
        </p:txBody>
      </p:sp>
      <p:sp>
        <p:nvSpPr>
          <p:cNvPr id="88068" name="日期占位符 5">
            <a:extLst>
              <a:ext uri="{FF2B5EF4-FFF2-40B4-BE49-F238E27FC236}">
                <a16:creationId xmlns:a16="http://schemas.microsoft.com/office/drawing/2014/main" id="{97518D76-AAA9-BEA3-98AD-6F95DE81637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565AFCF-9786-4637-81B3-F7C2422E394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8069" name="Rectangle 2">
            <a:extLst>
              <a:ext uri="{FF2B5EF4-FFF2-40B4-BE49-F238E27FC236}">
                <a16:creationId xmlns:a16="http://schemas.microsoft.com/office/drawing/2014/main" id="{B47AF663-B166-CDA4-AFB8-A495431F5E8C}"/>
              </a:ext>
            </a:extLst>
          </p:cNvPr>
          <p:cNvSpPr>
            <a:spLocks noGrp="1" noChangeArrowheads="1"/>
          </p:cNvSpPr>
          <p:nvPr>
            <p:ph type="title"/>
          </p:nvPr>
        </p:nvSpPr>
        <p:spPr>
          <a:xfrm>
            <a:off x="457200" y="817563"/>
            <a:ext cx="8229600" cy="668337"/>
          </a:xfrm>
        </p:spPr>
        <p:txBody>
          <a:bodyPr/>
          <a:lstStyle/>
          <a:p>
            <a:pPr eaLnBrk="1" hangingPunct="1"/>
            <a:r>
              <a:rPr lang="zh-CN" altLang="en-US" sz="4000"/>
              <a:t>实验</a:t>
            </a:r>
            <a:r>
              <a:rPr lang="en-US" altLang="zh-CN" sz="4000"/>
              <a:t>4</a:t>
            </a:r>
            <a:r>
              <a:rPr lang="zh-CN" altLang="en-US" sz="4000"/>
              <a:t>：</a:t>
            </a:r>
          </a:p>
        </p:txBody>
      </p:sp>
      <p:sp>
        <p:nvSpPr>
          <p:cNvPr id="88070" name="Rectangle 3">
            <a:extLst>
              <a:ext uri="{FF2B5EF4-FFF2-40B4-BE49-F238E27FC236}">
                <a16:creationId xmlns:a16="http://schemas.microsoft.com/office/drawing/2014/main" id="{04C0151D-D827-71CF-2CDB-3BCFB265CBCF}"/>
              </a:ext>
            </a:extLst>
          </p:cNvPr>
          <p:cNvSpPr>
            <a:spLocks noGrp="1" noChangeArrowheads="1"/>
          </p:cNvSpPr>
          <p:nvPr>
            <p:ph type="body" idx="1"/>
          </p:nvPr>
        </p:nvSpPr>
        <p:spPr>
          <a:xfrm>
            <a:off x="1258888" y="1844675"/>
            <a:ext cx="7272337" cy="1223963"/>
          </a:xfrm>
        </p:spPr>
        <p:txBody>
          <a:bodyPr/>
          <a:lstStyle/>
          <a:p>
            <a:pPr marL="0" indent="534988" eaLnBrk="1" hangingPunct="1">
              <a:lnSpc>
                <a:spcPct val="125000"/>
              </a:lnSpc>
              <a:buFont typeface="Wingdings" panose="05000000000000000000" pitchFamily="2" charset="2"/>
              <a:buNone/>
            </a:pPr>
            <a:r>
              <a:rPr lang="zh-CN" altLang="en-US" sz="2400">
                <a:latin typeface="Times New Roman" panose="02020603050405020304" pitchFamily="18" charset="0"/>
              </a:rPr>
              <a:t>基于 </a:t>
            </a:r>
            <a:r>
              <a:rPr lang="en-US" altLang="zh-CN" sz="2400">
                <a:latin typeface="Times New Roman" panose="02020603050405020304" pitchFamily="18" charset="0"/>
              </a:rPr>
              <a:t>LPC2138</a:t>
            </a:r>
            <a:r>
              <a:rPr lang="zh-CN" altLang="en-US" sz="2400">
                <a:latin typeface="Times New Roman" panose="02020603050405020304" pitchFamily="18" charset="0"/>
              </a:rPr>
              <a:t>开发板或者</a:t>
            </a:r>
            <a:r>
              <a:rPr lang="en-US" altLang="zh-CN" sz="2400">
                <a:latin typeface="Times New Roman" panose="02020603050405020304" pitchFamily="18" charset="0"/>
              </a:rPr>
              <a:t>STM32</a:t>
            </a:r>
            <a:r>
              <a:rPr lang="zh-CN" altLang="en-US" sz="2400">
                <a:latin typeface="Times New Roman" panose="02020603050405020304" pitchFamily="18" charset="0"/>
              </a:rPr>
              <a:t>开发板的资源情况，设计一个试验，验证 “任务</a:t>
            </a:r>
            <a:r>
              <a:rPr lang="zh-CN" altLang="en-US" sz="2400"/>
              <a:t>优先级</a:t>
            </a:r>
            <a:r>
              <a:rPr lang="zh-CN" altLang="en-US" sz="2400">
                <a:latin typeface="Times New Roman" panose="02020603050405020304" pitchFamily="18" charset="0"/>
              </a:rPr>
              <a:t>” 对任务调度的影响。</a:t>
            </a:r>
          </a:p>
        </p:txBody>
      </p:sp>
      <p:sp>
        <p:nvSpPr>
          <p:cNvPr id="88071" name="Rectangle 4">
            <a:extLst>
              <a:ext uri="{FF2B5EF4-FFF2-40B4-BE49-F238E27FC236}">
                <a16:creationId xmlns:a16="http://schemas.microsoft.com/office/drawing/2014/main" id="{BD451704-9B20-0C36-2C89-070276563A3F}"/>
              </a:ext>
            </a:extLst>
          </p:cNvPr>
          <p:cNvSpPr>
            <a:spLocks noChangeArrowheads="1"/>
          </p:cNvSpPr>
          <p:nvPr/>
        </p:nvSpPr>
        <p:spPr bwMode="auto">
          <a:xfrm>
            <a:off x="1331913" y="4437063"/>
            <a:ext cx="7488237"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7675" indent="-4476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0"/>
              <a:t>1</a:t>
            </a:r>
            <a:r>
              <a:rPr lang="zh-CN" altLang="en-US" sz="2400" b="0"/>
              <a:t>、有目的地主动设计实验，验证推测，得到结论；</a:t>
            </a:r>
          </a:p>
          <a:p>
            <a:pPr eaLnBrk="1" hangingPunct="1">
              <a:buFont typeface="Wingdings" panose="05000000000000000000" pitchFamily="2" charset="2"/>
              <a:buNone/>
            </a:pPr>
            <a:r>
              <a:rPr lang="en-US" altLang="zh-CN" sz="2400" b="0"/>
              <a:t>2</a:t>
            </a:r>
            <a:r>
              <a:rPr lang="zh-CN" altLang="en-US" sz="2400" b="0"/>
              <a:t>、体验多任务操作系统环境中，“任务优先级” 对任务调度的影响，加深相关认识。</a:t>
            </a:r>
          </a:p>
        </p:txBody>
      </p:sp>
      <p:sp>
        <p:nvSpPr>
          <p:cNvPr id="88072" name="Rectangle 5">
            <a:extLst>
              <a:ext uri="{FF2B5EF4-FFF2-40B4-BE49-F238E27FC236}">
                <a16:creationId xmlns:a16="http://schemas.microsoft.com/office/drawing/2014/main" id="{C96A84AB-788B-6878-E2D7-BAEC67015FEC}"/>
              </a:ext>
            </a:extLst>
          </p:cNvPr>
          <p:cNvSpPr>
            <a:spLocks noChangeArrowheads="1"/>
          </p:cNvSpPr>
          <p:nvPr/>
        </p:nvSpPr>
        <p:spPr bwMode="auto">
          <a:xfrm>
            <a:off x="611188" y="357346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0"/>
              <a:t>实验目的：</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页脚占位符 3">
            <a:extLst>
              <a:ext uri="{FF2B5EF4-FFF2-40B4-BE49-F238E27FC236}">
                <a16:creationId xmlns:a16="http://schemas.microsoft.com/office/drawing/2014/main" id="{3B277746-5B52-C49C-FBA5-854E21900C0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89091" name="灯片编号占位符 4">
            <a:extLst>
              <a:ext uri="{FF2B5EF4-FFF2-40B4-BE49-F238E27FC236}">
                <a16:creationId xmlns:a16="http://schemas.microsoft.com/office/drawing/2014/main" id="{750B0576-7511-8FFB-E17A-1E4751468B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FDF5899-EFF9-4D46-99C2-594A78AF6587}" type="slidenum">
              <a:rPr lang="en-US" altLang="zh-CN" sz="1200" smtClean="0">
                <a:solidFill>
                  <a:srgbClr val="3366FF"/>
                </a:solidFill>
                <a:latin typeface="Arial Black" panose="020B0A04020102020204" pitchFamily="34" charset="0"/>
              </a:rPr>
              <a:pPr>
                <a:spcBef>
                  <a:spcPct val="0"/>
                </a:spcBef>
                <a:buClrTx/>
                <a:buSzTx/>
                <a:buFontTx/>
                <a:buNone/>
              </a:pPr>
              <a:t>84</a:t>
            </a:fld>
            <a:endParaRPr lang="en-US" altLang="zh-CN" sz="1200">
              <a:solidFill>
                <a:srgbClr val="3366FF"/>
              </a:solidFill>
              <a:latin typeface="Arial Black" panose="020B0A04020102020204" pitchFamily="34" charset="0"/>
            </a:endParaRPr>
          </a:p>
        </p:txBody>
      </p:sp>
      <p:sp>
        <p:nvSpPr>
          <p:cNvPr id="89092" name="日期占位符 5">
            <a:extLst>
              <a:ext uri="{FF2B5EF4-FFF2-40B4-BE49-F238E27FC236}">
                <a16:creationId xmlns:a16="http://schemas.microsoft.com/office/drawing/2014/main" id="{91159945-BD7B-FEF3-6F65-3832209E976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E33347A-EA2B-43C2-9D20-34FE58CDC7C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89093" name="Rectangle 2">
            <a:extLst>
              <a:ext uri="{FF2B5EF4-FFF2-40B4-BE49-F238E27FC236}">
                <a16:creationId xmlns:a16="http://schemas.microsoft.com/office/drawing/2014/main" id="{07063539-6BA0-DAD9-F50E-ADADBD00E02C}"/>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89094" name="Rectangle 3">
            <a:extLst>
              <a:ext uri="{FF2B5EF4-FFF2-40B4-BE49-F238E27FC236}">
                <a16:creationId xmlns:a16="http://schemas.microsoft.com/office/drawing/2014/main" id="{6AD4F372-46D3-F454-C72C-8FB8AB2504B9}"/>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rgbClr val="FF0000"/>
                </a:solidFill>
              </a:rPr>
              <a:t>1</a:t>
            </a:r>
            <a:r>
              <a:rPr lang="zh-CN" altLang="en-US">
                <a:solidFill>
                  <a:srgbClr val="FF0000"/>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页脚占位符 3">
            <a:extLst>
              <a:ext uri="{FF2B5EF4-FFF2-40B4-BE49-F238E27FC236}">
                <a16:creationId xmlns:a16="http://schemas.microsoft.com/office/drawing/2014/main" id="{97E693CC-088F-E6A3-BC4A-50D972F4902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0115" name="灯片编号占位符 4">
            <a:extLst>
              <a:ext uri="{FF2B5EF4-FFF2-40B4-BE49-F238E27FC236}">
                <a16:creationId xmlns:a16="http://schemas.microsoft.com/office/drawing/2014/main" id="{3DA95FEE-AD5B-80B4-BA66-025899D3AE1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A9398F5-6D6B-4F97-89A5-082A6AB1F272}" type="slidenum">
              <a:rPr lang="en-US" altLang="zh-CN" sz="1200" smtClean="0">
                <a:solidFill>
                  <a:srgbClr val="3366FF"/>
                </a:solidFill>
                <a:latin typeface="Arial Black" panose="020B0A04020102020204" pitchFamily="34" charset="0"/>
              </a:rPr>
              <a:pPr>
                <a:spcBef>
                  <a:spcPct val="0"/>
                </a:spcBef>
                <a:buClrTx/>
                <a:buSzTx/>
                <a:buFontTx/>
                <a:buNone/>
              </a:pPr>
              <a:t>85</a:t>
            </a:fld>
            <a:endParaRPr lang="en-US" altLang="zh-CN" sz="1200">
              <a:solidFill>
                <a:srgbClr val="3366FF"/>
              </a:solidFill>
              <a:latin typeface="Arial Black" panose="020B0A04020102020204" pitchFamily="34" charset="0"/>
            </a:endParaRPr>
          </a:p>
        </p:txBody>
      </p:sp>
      <p:sp>
        <p:nvSpPr>
          <p:cNvPr id="90116" name="日期占位符 5">
            <a:extLst>
              <a:ext uri="{FF2B5EF4-FFF2-40B4-BE49-F238E27FC236}">
                <a16:creationId xmlns:a16="http://schemas.microsoft.com/office/drawing/2014/main" id="{A81B2091-C662-06E3-4964-7329747D8CB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452072C-C425-442E-96F2-1D53CA4CA18D}"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0117" name="Rectangle 2">
            <a:extLst>
              <a:ext uri="{FF2B5EF4-FFF2-40B4-BE49-F238E27FC236}">
                <a16:creationId xmlns:a16="http://schemas.microsoft.com/office/drawing/2014/main" id="{78F0C208-BD18-1264-A54C-312954A5DF0D}"/>
              </a:ext>
            </a:extLst>
          </p:cNvPr>
          <p:cNvSpPr>
            <a:spLocks noGrp="1" noChangeArrowheads="1"/>
          </p:cNvSpPr>
          <p:nvPr>
            <p:ph type="title"/>
          </p:nvPr>
        </p:nvSpPr>
        <p:spPr>
          <a:xfrm>
            <a:off x="457200" y="600075"/>
            <a:ext cx="8229600" cy="668338"/>
          </a:xfrm>
        </p:spPr>
        <p:txBody>
          <a:bodyPr/>
          <a:lstStyle/>
          <a:p>
            <a:pPr eaLnBrk="1" hangingPunct="1"/>
            <a:r>
              <a:rPr lang="zh-CN" altLang="en-US" sz="4000"/>
              <a:t>补充：</a:t>
            </a:r>
            <a:r>
              <a:rPr lang="en-US" altLang="zh-CN" sz="4000"/>
              <a:t>1 --- </a:t>
            </a:r>
            <a:r>
              <a:rPr lang="zh-CN" altLang="en-US" sz="4000"/>
              <a:t>任务的特性</a:t>
            </a:r>
          </a:p>
        </p:txBody>
      </p:sp>
      <p:sp>
        <p:nvSpPr>
          <p:cNvPr id="114691" name="Rectangle 3">
            <a:extLst>
              <a:ext uri="{FF2B5EF4-FFF2-40B4-BE49-F238E27FC236}">
                <a16:creationId xmlns:a16="http://schemas.microsoft.com/office/drawing/2014/main" id="{B29D90B8-8F49-AD04-0AC8-34F41843DF1A}"/>
              </a:ext>
            </a:extLst>
          </p:cNvPr>
          <p:cNvSpPr>
            <a:spLocks noGrp="1" noChangeArrowheads="1"/>
          </p:cNvSpPr>
          <p:nvPr>
            <p:ph type="body" idx="1"/>
          </p:nvPr>
        </p:nvSpPr>
        <p:spPr>
          <a:xfrm>
            <a:off x="519113" y="3429000"/>
            <a:ext cx="8229600" cy="2665413"/>
          </a:xfrm>
        </p:spPr>
        <p:txBody>
          <a:bodyPr/>
          <a:lstStyle/>
          <a:p>
            <a:pPr eaLnBrk="1" hangingPunct="1"/>
            <a:r>
              <a:rPr lang="zh-CN" altLang="en-US"/>
              <a:t>任务的动态性</a:t>
            </a:r>
          </a:p>
          <a:p>
            <a:pPr eaLnBrk="1" hangingPunct="1">
              <a:buFont typeface="Wingdings" panose="05000000000000000000" pitchFamily="2" charset="2"/>
              <a:buNone/>
            </a:pPr>
            <a:r>
              <a:rPr lang="zh-CN" altLang="en-US"/>
              <a:t>       </a:t>
            </a:r>
            <a:r>
              <a:rPr lang="en-US" altLang="zh-CN"/>
              <a:t>Task </a:t>
            </a:r>
            <a:r>
              <a:rPr lang="zh-CN" altLang="en-US"/>
              <a:t>的状态在整个生命过程中是在动态变化的（</a:t>
            </a:r>
            <a:r>
              <a:rPr lang="en-US" altLang="zh-CN"/>
              <a:t>Ready</a:t>
            </a:r>
            <a:r>
              <a:rPr lang="zh-CN" altLang="en-US"/>
              <a:t>、</a:t>
            </a:r>
            <a:r>
              <a:rPr lang="en-US" altLang="zh-CN"/>
              <a:t>Wait</a:t>
            </a:r>
            <a:r>
              <a:rPr lang="zh-CN" altLang="en-US"/>
              <a:t>、</a:t>
            </a:r>
            <a:r>
              <a:rPr lang="en-US" altLang="zh-CN"/>
              <a:t>Suspend......</a:t>
            </a:r>
            <a:r>
              <a:rPr lang="zh-CN" altLang="en-US"/>
              <a:t>），即使是已开始运行的 </a:t>
            </a:r>
            <a:r>
              <a:rPr lang="en-US" altLang="zh-CN"/>
              <a:t>Task </a:t>
            </a:r>
            <a:r>
              <a:rPr lang="zh-CN" altLang="en-US"/>
              <a:t>也未必一直占有</a:t>
            </a:r>
            <a:r>
              <a:rPr lang="en-US" altLang="zh-CN"/>
              <a:t>CPU</a:t>
            </a:r>
            <a:r>
              <a:rPr lang="zh-CN" altLang="en-US"/>
              <a:t>。</a:t>
            </a:r>
          </a:p>
        </p:txBody>
      </p:sp>
      <p:sp>
        <p:nvSpPr>
          <p:cNvPr id="90119" name="Text Box 4" descr="画布">
            <a:extLst>
              <a:ext uri="{FF2B5EF4-FFF2-40B4-BE49-F238E27FC236}">
                <a16:creationId xmlns:a16="http://schemas.microsoft.com/office/drawing/2014/main" id="{EBED2985-12F8-CC08-076C-1CC386A5F162}"/>
              </a:ext>
            </a:extLst>
          </p:cNvPr>
          <p:cNvSpPr txBox="1">
            <a:spLocks noChangeArrowheads="1"/>
          </p:cNvSpPr>
          <p:nvPr/>
        </p:nvSpPr>
        <p:spPr bwMode="auto">
          <a:xfrm>
            <a:off x="539750" y="1412875"/>
            <a:ext cx="8208963" cy="1662113"/>
          </a:xfrm>
          <a:prstGeom prst="rect">
            <a:avLst/>
          </a:prstGeom>
          <a:blipFill dpi="0" rotWithShape="1">
            <a:blip r:embed="rId2"/>
            <a:srcRect/>
            <a:tile tx="0" ty="0" sx="100000" sy="100000" flip="none" algn="tl"/>
          </a:blipFill>
          <a:ln w="9525">
            <a:solidFill>
              <a:schemeClr val="tx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buClrTx/>
              <a:buSzTx/>
              <a:buFontTx/>
              <a:buNone/>
            </a:pPr>
            <a:endParaRPr lang="en-US" altLang="zh-CN" sz="800">
              <a:solidFill>
                <a:srgbClr val="0000FF"/>
              </a:solidFill>
            </a:endParaRPr>
          </a:p>
          <a:p>
            <a:pPr eaLnBrk="1" hangingPunct="1">
              <a:lnSpc>
                <a:spcPct val="110000"/>
              </a:lnSpc>
              <a:buClrTx/>
              <a:buSzTx/>
              <a:buFontTx/>
              <a:buNone/>
            </a:pPr>
            <a:r>
              <a:rPr lang="en-US" altLang="zh-CN">
                <a:solidFill>
                  <a:srgbClr val="0000FF"/>
                </a:solidFill>
              </a:rPr>
              <a:t> “</a:t>
            </a:r>
            <a:r>
              <a:rPr lang="zh-CN" altLang="en-US">
                <a:solidFill>
                  <a:srgbClr val="0000FF"/>
                </a:solidFill>
              </a:rPr>
              <a:t>任务” 的三个基本特性：</a:t>
            </a:r>
          </a:p>
          <a:p>
            <a:pPr eaLnBrk="1" hangingPunct="1">
              <a:lnSpc>
                <a:spcPct val="110000"/>
              </a:lnSpc>
              <a:buClrTx/>
              <a:buSzTx/>
              <a:buFontTx/>
              <a:buNone/>
            </a:pPr>
            <a:r>
              <a:rPr lang="zh-CN" altLang="en-US">
                <a:solidFill>
                  <a:srgbClr val="0000FF"/>
                </a:solidFill>
              </a:rPr>
              <a:t>                动态性、独立性、并发行</a:t>
            </a:r>
          </a:p>
          <a:p>
            <a:pPr eaLnBrk="1" hangingPunct="1">
              <a:lnSpc>
                <a:spcPct val="110000"/>
              </a:lnSpc>
              <a:buClrTx/>
              <a:buSzTx/>
              <a:buFontTx/>
              <a:buNone/>
            </a:pPr>
            <a:endParaRPr lang="en-US" altLang="zh-CN" sz="8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blinds(horizontal)">
                                      <p:cBhvr>
                                        <p:cTn id="7" dur="500"/>
                                        <p:tgtEl>
                                          <p:spTgt spid="114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blinds(horizontal)">
                                      <p:cBhvr>
                                        <p:cTn id="12" dur="500"/>
                                        <p:tgtEl>
                                          <p:spTgt spid="1146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页脚占位符 3">
            <a:extLst>
              <a:ext uri="{FF2B5EF4-FFF2-40B4-BE49-F238E27FC236}">
                <a16:creationId xmlns:a16="http://schemas.microsoft.com/office/drawing/2014/main" id="{5DEFC559-9273-23B9-9AE3-44DFAF4856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1139" name="灯片编号占位符 4">
            <a:extLst>
              <a:ext uri="{FF2B5EF4-FFF2-40B4-BE49-F238E27FC236}">
                <a16:creationId xmlns:a16="http://schemas.microsoft.com/office/drawing/2014/main" id="{30711FD3-34B2-5A3B-776D-99179337AC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1B8B98E-2F28-4708-A485-95907015F982}" type="slidenum">
              <a:rPr lang="en-US" altLang="zh-CN" sz="1200" smtClean="0">
                <a:solidFill>
                  <a:srgbClr val="3366FF"/>
                </a:solidFill>
                <a:latin typeface="Arial Black" panose="020B0A04020102020204" pitchFamily="34" charset="0"/>
              </a:rPr>
              <a:pPr>
                <a:spcBef>
                  <a:spcPct val="0"/>
                </a:spcBef>
                <a:buClrTx/>
                <a:buSzTx/>
                <a:buFontTx/>
                <a:buNone/>
              </a:pPr>
              <a:t>86</a:t>
            </a:fld>
            <a:endParaRPr lang="en-US" altLang="zh-CN" sz="1200">
              <a:solidFill>
                <a:srgbClr val="3366FF"/>
              </a:solidFill>
              <a:latin typeface="Arial Black" panose="020B0A04020102020204" pitchFamily="34" charset="0"/>
            </a:endParaRPr>
          </a:p>
        </p:txBody>
      </p:sp>
      <p:sp>
        <p:nvSpPr>
          <p:cNvPr id="91140" name="日期占位符 5">
            <a:extLst>
              <a:ext uri="{FF2B5EF4-FFF2-40B4-BE49-F238E27FC236}">
                <a16:creationId xmlns:a16="http://schemas.microsoft.com/office/drawing/2014/main" id="{AD8BD14A-A6AD-90E4-2E0A-75558ECBFF3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711EE9B-487C-4A6D-AC13-D526622223A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1141" name="Rectangle 2">
            <a:extLst>
              <a:ext uri="{FF2B5EF4-FFF2-40B4-BE49-F238E27FC236}">
                <a16:creationId xmlns:a16="http://schemas.microsoft.com/office/drawing/2014/main" id="{24535438-6A5F-04B3-E2C0-0E789D73345D}"/>
              </a:ext>
            </a:extLst>
          </p:cNvPr>
          <p:cNvSpPr>
            <a:spLocks noGrp="1" noChangeArrowheads="1"/>
          </p:cNvSpPr>
          <p:nvPr>
            <p:ph type="title"/>
          </p:nvPr>
        </p:nvSpPr>
        <p:spPr>
          <a:xfrm>
            <a:off x="457200" y="815975"/>
            <a:ext cx="8229600" cy="668338"/>
          </a:xfrm>
        </p:spPr>
        <p:txBody>
          <a:bodyPr/>
          <a:lstStyle/>
          <a:p>
            <a:pPr eaLnBrk="1" hangingPunct="1"/>
            <a:r>
              <a:rPr lang="zh-CN" altLang="en-US" sz="4000"/>
              <a:t>补充：</a:t>
            </a:r>
            <a:r>
              <a:rPr lang="en-US" altLang="zh-CN" sz="4000"/>
              <a:t>1 --- </a:t>
            </a:r>
            <a:r>
              <a:rPr lang="zh-CN" altLang="en-US" sz="4000"/>
              <a:t>任务的特性</a:t>
            </a:r>
          </a:p>
        </p:txBody>
      </p:sp>
      <p:sp>
        <p:nvSpPr>
          <p:cNvPr id="91142" name="Rectangle 3">
            <a:extLst>
              <a:ext uri="{FF2B5EF4-FFF2-40B4-BE49-F238E27FC236}">
                <a16:creationId xmlns:a16="http://schemas.microsoft.com/office/drawing/2014/main" id="{0D0541CF-D3D6-2968-0467-D37AA15A11A6}"/>
              </a:ext>
            </a:extLst>
          </p:cNvPr>
          <p:cNvSpPr>
            <a:spLocks noGrp="1" noChangeArrowheads="1"/>
          </p:cNvSpPr>
          <p:nvPr>
            <p:ph type="body" idx="1"/>
          </p:nvPr>
        </p:nvSpPr>
        <p:spPr>
          <a:xfrm>
            <a:off x="519113" y="1628775"/>
            <a:ext cx="8229600" cy="647700"/>
          </a:xfrm>
        </p:spPr>
        <p:txBody>
          <a:bodyPr/>
          <a:lstStyle/>
          <a:p>
            <a:pPr eaLnBrk="1" hangingPunct="1"/>
            <a:r>
              <a:rPr lang="zh-CN" altLang="en-US" b="1"/>
              <a:t>任务的独立性</a:t>
            </a:r>
          </a:p>
        </p:txBody>
      </p:sp>
      <p:sp>
        <p:nvSpPr>
          <p:cNvPr id="91143" name="Text Box 10">
            <a:extLst>
              <a:ext uri="{FF2B5EF4-FFF2-40B4-BE49-F238E27FC236}">
                <a16:creationId xmlns:a16="http://schemas.microsoft.com/office/drawing/2014/main" id="{DBE60BDF-1ED2-CC75-3654-D5592DDDC9B6}"/>
              </a:ext>
            </a:extLst>
          </p:cNvPr>
          <p:cNvSpPr txBox="1">
            <a:spLocks noChangeArrowheads="1"/>
          </p:cNvSpPr>
          <p:nvPr/>
        </p:nvSpPr>
        <p:spPr bwMode="auto">
          <a:xfrm>
            <a:off x="898525" y="2355850"/>
            <a:ext cx="7561263"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5000"/>
              </a:spcBef>
              <a:buClr>
                <a:srgbClr val="F66C04"/>
              </a:buClr>
              <a:buSzPct val="55000"/>
              <a:buFont typeface="Wingdings" panose="05000000000000000000" pitchFamily="2" charset="2"/>
              <a:buChar char="Ø"/>
            </a:pPr>
            <a:r>
              <a:rPr lang="zh-CN" altLang="en-US" sz="2400"/>
              <a:t>应用系统中的 </a:t>
            </a:r>
            <a:r>
              <a:rPr lang="en-US" altLang="zh-CN" sz="2400"/>
              <a:t>Task </a:t>
            </a:r>
            <a:r>
              <a:rPr lang="zh-CN" altLang="en-US" sz="2400"/>
              <a:t>之间在功能上可能有从属关系，但在形式结构上都是平等的。</a:t>
            </a:r>
            <a:r>
              <a:rPr lang="en-US" altLang="zh-CN" sz="2400">
                <a:latin typeface="Arial Narrow" panose="020B0606020202030204" pitchFamily="34" charset="0"/>
              </a:rPr>
              <a:t>RTOS</a:t>
            </a:r>
            <a:r>
              <a:rPr lang="en-US" altLang="zh-CN" sz="2400"/>
              <a:t> </a:t>
            </a:r>
            <a:r>
              <a:rPr lang="zh-CN" altLang="en-US" sz="2400"/>
              <a:t>下的各任务都可以认为</a:t>
            </a:r>
            <a:r>
              <a:rPr lang="en-US" altLang="zh-CN" sz="2400"/>
              <a:t>CPU</a:t>
            </a:r>
            <a:r>
              <a:rPr lang="zh-CN" altLang="en-US" sz="2400"/>
              <a:t>是自己独占的。</a:t>
            </a:r>
          </a:p>
          <a:p>
            <a:pPr eaLnBrk="1" hangingPunct="1">
              <a:lnSpc>
                <a:spcPct val="120000"/>
              </a:lnSpc>
              <a:spcBef>
                <a:spcPct val="25000"/>
              </a:spcBef>
              <a:buClr>
                <a:srgbClr val="F66C04"/>
              </a:buClr>
              <a:buSzPct val="55000"/>
              <a:buFont typeface="Wingdings" panose="05000000000000000000" pitchFamily="2" charset="2"/>
              <a:buChar char="Ø"/>
            </a:pPr>
            <a:r>
              <a:rPr lang="en-US" altLang="zh-CN" sz="2400"/>
              <a:t>Task </a:t>
            </a:r>
            <a:r>
              <a:rPr lang="zh-CN" altLang="en-US" sz="2400"/>
              <a:t>间的数据交互必经由操作系统采用各种 “通信” 的机制实现。</a:t>
            </a:r>
          </a:p>
        </p:txBody>
      </p:sp>
      <p:sp>
        <p:nvSpPr>
          <p:cNvPr id="91144" name="Text Box 13" descr="羊皮纸">
            <a:extLst>
              <a:ext uri="{FF2B5EF4-FFF2-40B4-BE49-F238E27FC236}">
                <a16:creationId xmlns:a16="http://schemas.microsoft.com/office/drawing/2014/main" id="{C76C4433-CE8F-8FF7-1651-DD68A1128A2F}"/>
              </a:ext>
            </a:extLst>
          </p:cNvPr>
          <p:cNvSpPr txBox="1">
            <a:spLocks noChangeArrowheads="1"/>
          </p:cNvSpPr>
          <p:nvPr/>
        </p:nvSpPr>
        <p:spPr bwMode="auto">
          <a:xfrm>
            <a:off x="1258888" y="4792663"/>
            <a:ext cx="6840537" cy="13731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      </a:t>
            </a:r>
            <a:r>
              <a:rPr lang="zh-CN" altLang="en-US" sz="2800"/>
              <a:t>任务的独立性表现为各个任务形式结构上的平等性和任务间信息传递的非直接性。</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3">
            <a:extLst>
              <a:ext uri="{FF2B5EF4-FFF2-40B4-BE49-F238E27FC236}">
                <a16:creationId xmlns:a16="http://schemas.microsoft.com/office/drawing/2014/main" id="{B87B5A50-CAB6-37A8-5A08-085DBF36C7A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2163" name="灯片编号占位符 4">
            <a:extLst>
              <a:ext uri="{FF2B5EF4-FFF2-40B4-BE49-F238E27FC236}">
                <a16:creationId xmlns:a16="http://schemas.microsoft.com/office/drawing/2014/main" id="{BCC858A9-B79A-4180-981C-215A419333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AB7E35F-1D8A-4D8E-AB84-1C260D020E63}" type="slidenum">
              <a:rPr lang="en-US" altLang="zh-CN" sz="1200" smtClean="0">
                <a:solidFill>
                  <a:srgbClr val="3366FF"/>
                </a:solidFill>
                <a:latin typeface="Arial Black" panose="020B0A04020102020204" pitchFamily="34" charset="0"/>
              </a:rPr>
              <a:pPr>
                <a:spcBef>
                  <a:spcPct val="0"/>
                </a:spcBef>
                <a:buClrTx/>
                <a:buSzTx/>
                <a:buFontTx/>
                <a:buNone/>
              </a:pPr>
              <a:t>87</a:t>
            </a:fld>
            <a:endParaRPr lang="en-US" altLang="zh-CN" sz="1200">
              <a:solidFill>
                <a:srgbClr val="3366FF"/>
              </a:solidFill>
              <a:latin typeface="Arial Black" panose="020B0A04020102020204" pitchFamily="34" charset="0"/>
            </a:endParaRPr>
          </a:p>
        </p:txBody>
      </p:sp>
      <p:sp>
        <p:nvSpPr>
          <p:cNvPr id="92164" name="日期占位符 5">
            <a:extLst>
              <a:ext uri="{FF2B5EF4-FFF2-40B4-BE49-F238E27FC236}">
                <a16:creationId xmlns:a16="http://schemas.microsoft.com/office/drawing/2014/main" id="{D706EBEB-6FB1-D840-DBC2-80DAACA3D87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D3FC3E0-4EBE-478E-B1F4-3FD32CAA8C5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2165" name="Rectangle 2">
            <a:extLst>
              <a:ext uri="{FF2B5EF4-FFF2-40B4-BE49-F238E27FC236}">
                <a16:creationId xmlns:a16="http://schemas.microsoft.com/office/drawing/2014/main" id="{9962D01F-C62B-6D0B-1FFD-012EB0110ACC}"/>
              </a:ext>
            </a:extLst>
          </p:cNvPr>
          <p:cNvSpPr>
            <a:spLocks noGrp="1" noChangeArrowheads="1"/>
          </p:cNvSpPr>
          <p:nvPr>
            <p:ph type="title"/>
          </p:nvPr>
        </p:nvSpPr>
        <p:spPr>
          <a:xfrm>
            <a:off x="457200" y="815975"/>
            <a:ext cx="8229600" cy="668338"/>
          </a:xfrm>
        </p:spPr>
        <p:txBody>
          <a:bodyPr/>
          <a:lstStyle/>
          <a:p>
            <a:pPr eaLnBrk="1" hangingPunct="1"/>
            <a:r>
              <a:rPr lang="zh-CN" altLang="en-US" sz="4000"/>
              <a:t>补充：</a:t>
            </a:r>
            <a:r>
              <a:rPr lang="en-US" altLang="zh-CN" sz="4000"/>
              <a:t>1 --- </a:t>
            </a:r>
            <a:r>
              <a:rPr lang="zh-CN" altLang="en-US" sz="4000"/>
              <a:t>任务的特性</a:t>
            </a:r>
          </a:p>
        </p:txBody>
      </p:sp>
      <p:sp>
        <p:nvSpPr>
          <p:cNvPr id="92166" name="Rectangle 3">
            <a:extLst>
              <a:ext uri="{FF2B5EF4-FFF2-40B4-BE49-F238E27FC236}">
                <a16:creationId xmlns:a16="http://schemas.microsoft.com/office/drawing/2014/main" id="{29C7F082-6BCA-B122-FA31-42925E4B7DA8}"/>
              </a:ext>
            </a:extLst>
          </p:cNvPr>
          <p:cNvSpPr>
            <a:spLocks noGrp="1" noChangeArrowheads="1"/>
          </p:cNvSpPr>
          <p:nvPr>
            <p:ph type="body" idx="1"/>
          </p:nvPr>
        </p:nvSpPr>
        <p:spPr>
          <a:xfrm>
            <a:off x="519113" y="1628775"/>
            <a:ext cx="8229600" cy="647700"/>
          </a:xfrm>
        </p:spPr>
        <p:txBody>
          <a:bodyPr/>
          <a:lstStyle/>
          <a:p>
            <a:pPr eaLnBrk="1" hangingPunct="1"/>
            <a:r>
              <a:rPr lang="zh-CN" altLang="en-US" b="1"/>
              <a:t>任务的并发性</a:t>
            </a:r>
          </a:p>
        </p:txBody>
      </p:sp>
      <p:sp>
        <p:nvSpPr>
          <p:cNvPr id="92167" name="Text Box 4">
            <a:extLst>
              <a:ext uri="{FF2B5EF4-FFF2-40B4-BE49-F238E27FC236}">
                <a16:creationId xmlns:a16="http://schemas.microsoft.com/office/drawing/2014/main" id="{F8B6CBC2-8720-6097-451C-E9572E098F06}"/>
              </a:ext>
            </a:extLst>
          </p:cNvPr>
          <p:cNvSpPr txBox="1">
            <a:spLocks noChangeArrowheads="1"/>
          </p:cNvSpPr>
          <p:nvPr/>
        </p:nvSpPr>
        <p:spPr bwMode="auto">
          <a:xfrm>
            <a:off x="898525" y="2355850"/>
            <a:ext cx="7561263"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应用系统中的多个 </a:t>
            </a:r>
            <a:r>
              <a:rPr lang="en-US" altLang="zh-CN" sz="2400">
                <a:latin typeface="Arial Narrow" panose="020B0606020202030204" pitchFamily="34" charset="0"/>
              </a:rPr>
              <a:t>Task </a:t>
            </a:r>
            <a:r>
              <a:rPr lang="zh-CN" altLang="en-US" sz="2400">
                <a:latin typeface="Arial Narrow" panose="020B0606020202030204" pitchFamily="34" charset="0"/>
              </a:rPr>
              <a:t>宏观上都在运行，但微观上不是同时运行，这种并发是“伪并发”。</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哪一个 </a:t>
            </a:r>
            <a:r>
              <a:rPr lang="en-US" altLang="zh-CN" sz="2400">
                <a:latin typeface="Arial Narrow" panose="020B0606020202030204" pitchFamily="34" charset="0"/>
              </a:rPr>
              <a:t>Task </a:t>
            </a:r>
            <a:r>
              <a:rPr lang="zh-CN" altLang="en-US" sz="2400">
                <a:latin typeface="Arial Narrow" panose="020B0606020202030204" pitchFamily="34" charset="0"/>
              </a:rPr>
              <a:t>占有 </a:t>
            </a:r>
            <a:r>
              <a:rPr lang="en-US" altLang="zh-CN" sz="2400">
                <a:latin typeface="Arial Narrow" panose="020B0606020202030204" pitchFamily="34" charset="0"/>
              </a:rPr>
              <a:t>CPU </a:t>
            </a:r>
            <a:r>
              <a:rPr lang="zh-CN" altLang="en-US" sz="2400">
                <a:latin typeface="Arial Narrow" panose="020B0606020202030204" pitchFamily="34" charset="0"/>
              </a:rPr>
              <a:t>由 </a:t>
            </a:r>
            <a:r>
              <a:rPr lang="en-US" altLang="zh-CN" sz="2400">
                <a:latin typeface="Arial Narrow" panose="020B0606020202030204" pitchFamily="34" charset="0"/>
              </a:rPr>
              <a:t>RTOS </a:t>
            </a:r>
            <a:r>
              <a:rPr lang="zh-CN" altLang="en-US" sz="2400">
                <a:latin typeface="Arial Narrow" panose="020B0606020202030204" pitchFamily="34" charset="0"/>
              </a:rPr>
              <a:t>按照优先级和就绪状态剥夺式调度。</a:t>
            </a:r>
          </a:p>
        </p:txBody>
      </p:sp>
      <p:sp>
        <p:nvSpPr>
          <p:cNvPr id="92168" name="Text Box 5" descr="羊皮纸">
            <a:extLst>
              <a:ext uri="{FF2B5EF4-FFF2-40B4-BE49-F238E27FC236}">
                <a16:creationId xmlns:a16="http://schemas.microsoft.com/office/drawing/2014/main" id="{608ECB3F-5C32-BACB-6D88-FAB720494AFC}"/>
              </a:ext>
            </a:extLst>
          </p:cNvPr>
          <p:cNvSpPr txBox="1">
            <a:spLocks noChangeArrowheads="1"/>
          </p:cNvSpPr>
          <p:nvPr/>
        </p:nvSpPr>
        <p:spPr bwMode="auto">
          <a:xfrm>
            <a:off x="971550" y="4354513"/>
            <a:ext cx="6840538" cy="1373187"/>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      </a:t>
            </a:r>
            <a:r>
              <a:rPr lang="zh-CN" altLang="en-US" sz="2800"/>
              <a:t>任务的独立性表现为各个任务形式结构上的平等性和任务间信息传递的非直接性。</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页脚占位符 3">
            <a:extLst>
              <a:ext uri="{FF2B5EF4-FFF2-40B4-BE49-F238E27FC236}">
                <a16:creationId xmlns:a16="http://schemas.microsoft.com/office/drawing/2014/main" id="{A6AB8FD0-332D-DA5C-F10B-BC61A15516F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3187" name="灯片编号占位符 4">
            <a:extLst>
              <a:ext uri="{FF2B5EF4-FFF2-40B4-BE49-F238E27FC236}">
                <a16:creationId xmlns:a16="http://schemas.microsoft.com/office/drawing/2014/main" id="{248D8E26-8003-7DE4-62DD-90B9A7F08AA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3D075DE-F5C4-4D9C-9F57-98408C870C1C}" type="slidenum">
              <a:rPr lang="en-US" altLang="zh-CN" sz="1200" smtClean="0">
                <a:solidFill>
                  <a:srgbClr val="3366FF"/>
                </a:solidFill>
                <a:latin typeface="Arial Black" panose="020B0A04020102020204" pitchFamily="34" charset="0"/>
              </a:rPr>
              <a:pPr>
                <a:spcBef>
                  <a:spcPct val="0"/>
                </a:spcBef>
                <a:buClrTx/>
                <a:buSzTx/>
                <a:buFontTx/>
                <a:buNone/>
              </a:pPr>
              <a:t>88</a:t>
            </a:fld>
            <a:endParaRPr lang="en-US" altLang="zh-CN" sz="1200">
              <a:solidFill>
                <a:srgbClr val="3366FF"/>
              </a:solidFill>
              <a:latin typeface="Arial Black" panose="020B0A04020102020204" pitchFamily="34" charset="0"/>
            </a:endParaRPr>
          </a:p>
        </p:txBody>
      </p:sp>
      <p:sp>
        <p:nvSpPr>
          <p:cNvPr id="93188" name="日期占位符 5">
            <a:extLst>
              <a:ext uri="{FF2B5EF4-FFF2-40B4-BE49-F238E27FC236}">
                <a16:creationId xmlns:a16="http://schemas.microsoft.com/office/drawing/2014/main" id="{01F5E6CC-FDA0-5331-E380-CD5D59954EB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A2354BA-4DDC-4710-B925-591DDBD01E63}"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3189" name="Rectangle 2">
            <a:extLst>
              <a:ext uri="{FF2B5EF4-FFF2-40B4-BE49-F238E27FC236}">
                <a16:creationId xmlns:a16="http://schemas.microsoft.com/office/drawing/2014/main" id="{700854A7-2F85-7321-B3B1-D3D5F3A59824}"/>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93190" name="Rectangle 3">
            <a:extLst>
              <a:ext uri="{FF2B5EF4-FFF2-40B4-BE49-F238E27FC236}">
                <a16:creationId xmlns:a16="http://schemas.microsoft.com/office/drawing/2014/main" id="{E86799CD-5212-21C7-C606-B37290269268}"/>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rgbClr val="FF0000"/>
                </a:solidFill>
              </a:rPr>
              <a:t>2</a:t>
            </a:r>
            <a:r>
              <a:rPr lang="zh-CN" altLang="en-US">
                <a:solidFill>
                  <a:srgbClr val="FF0000"/>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页脚占位符 3">
            <a:extLst>
              <a:ext uri="{FF2B5EF4-FFF2-40B4-BE49-F238E27FC236}">
                <a16:creationId xmlns:a16="http://schemas.microsoft.com/office/drawing/2014/main" id="{5AD7869F-81F5-4C4D-1C39-9E45827B634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4211" name="灯片编号占位符 4">
            <a:extLst>
              <a:ext uri="{FF2B5EF4-FFF2-40B4-BE49-F238E27FC236}">
                <a16:creationId xmlns:a16="http://schemas.microsoft.com/office/drawing/2014/main" id="{A8929922-AE63-0B5C-AB94-4DC2C767647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23BDB9A-4F47-4FF4-B5D8-9801DBB42D60}" type="slidenum">
              <a:rPr lang="en-US" altLang="zh-CN" sz="1200" smtClean="0">
                <a:solidFill>
                  <a:srgbClr val="3366FF"/>
                </a:solidFill>
                <a:latin typeface="Arial Black" panose="020B0A04020102020204" pitchFamily="34" charset="0"/>
              </a:rPr>
              <a:pPr>
                <a:spcBef>
                  <a:spcPct val="0"/>
                </a:spcBef>
                <a:buClrTx/>
                <a:buSzTx/>
                <a:buFontTx/>
                <a:buNone/>
              </a:pPr>
              <a:t>89</a:t>
            </a:fld>
            <a:endParaRPr lang="en-US" altLang="zh-CN" sz="1200">
              <a:solidFill>
                <a:srgbClr val="3366FF"/>
              </a:solidFill>
              <a:latin typeface="Arial Black" panose="020B0A04020102020204" pitchFamily="34" charset="0"/>
            </a:endParaRPr>
          </a:p>
        </p:txBody>
      </p:sp>
      <p:sp>
        <p:nvSpPr>
          <p:cNvPr id="94212" name="日期占位符 5">
            <a:extLst>
              <a:ext uri="{FF2B5EF4-FFF2-40B4-BE49-F238E27FC236}">
                <a16:creationId xmlns:a16="http://schemas.microsoft.com/office/drawing/2014/main" id="{165C541B-4F8C-C130-CDB6-017C2A83B70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DFEE5EA-5FBB-4D5F-A403-53CA9EB18B3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4213" name="Rectangle 2">
            <a:extLst>
              <a:ext uri="{FF2B5EF4-FFF2-40B4-BE49-F238E27FC236}">
                <a16:creationId xmlns:a16="http://schemas.microsoft.com/office/drawing/2014/main" id="{7D934344-1D57-5ED9-AABB-80E39F5CDEFD}"/>
              </a:ext>
            </a:extLst>
          </p:cNvPr>
          <p:cNvSpPr>
            <a:spLocks noGrp="1" noChangeArrowheads="1"/>
          </p:cNvSpPr>
          <p:nvPr>
            <p:ph type="title"/>
          </p:nvPr>
        </p:nvSpPr>
        <p:spPr>
          <a:xfrm>
            <a:off x="457200" y="765175"/>
            <a:ext cx="8229600" cy="668338"/>
          </a:xfrm>
        </p:spPr>
        <p:txBody>
          <a:bodyPr/>
          <a:lstStyle/>
          <a:p>
            <a:pPr eaLnBrk="1" hangingPunct="1"/>
            <a:r>
              <a:rPr lang="zh-CN" altLang="en-US" sz="4000"/>
              <a:t>补充：</a:t>
            </a:r>
            <a:r>
              <a:rPr lang="en-US" altLang="zh-CN" sz="4000"/>
              <a:t>2 --- </a:t>
            </a:r>
            <a:r>
              <a:rPr lang="zh-CN" altLang="en-US" sz="4000"/>
              <a:t>任务的划分目标</a:t>
            </a:r>
          </a:p>
        </p:txBody>
      </p:sp>
      <p:sp>
        <p:nvSpPr>
          <p:cNvPr id="94214" name="Text Box 4">
            <a:extLst>
              <a:ext uri="{FF2B5EF4-FFF2-40B4-BE49-F238E27FC236}">
                <a16:creationId xmlns:a16="http://schemas.microsoft.com/office/drawing/2014/main" id="{28883495-CB5C-22C2-D09C-D4F131125404}"/>
              </a:ext>
            </a:extLst>
          </p:cNvPr>
          <p:cNvSpPr txBox="1">
            <a:spLocks noChangeArrowheads="1"/>
          </p:cNvSpPr>
          <p:nvPr/>
        </p:nvSpPr>
        <p:spPr bwMode="auto">
          <a:xfrm>
            <a:off x="466725" y="1628775"/>
            <a:ext cx="835342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0066FF"/>
              </a:buClr>
              <a:buSzPct val="80000"/>
            </a:pPr>
            <a:r>
              <a:rPr lang="zh-CN" altLang="en-US" sz="2800">
                <a:latin typeface="Arial Narrow" panose="020B0606020202030204" pitchFamily="34" charset="0"/>
              </a:rPr>
              <a:t>设计一个嵌入式应用系统时 </a:t>
            </a:r>
            <a:r>
              <a:rPr lang="en-US" altLang="zh-CN" sz="2800">
                <a:latin typeface="Arial Narrow" panose="020B0606020202030204" pitchFamily="34" charset="0"/>
              </a:rPr>
              <a:t>Task </a:t>
            </a:r>
            <a:r>
              <a:rPr lang="zh-CN" altLang="en-US" sz="2800">
                <a:latin typeface="Arial Narrow" panose="020B0606020202030204" pitchFamily="34" charset="0"/>
              </a:rPr>
              <a:t>的划分可以有多	种方案。</a:t>
            </a:r>
          </a:p>
          <a:p>
            <a:pPr eaLnBrk="1" hangingPunct="1">
              <a:lnSpc>
                <a:spcPct val="105000"/>
              </a:lnSpc>
              <a:spcBef>
                <a:spcPct val="25000"/>
              </a:spcBef>
              <a:buClr>
                <a:srgbClr val="0066FF"/>
              </a:buClr>
              <a:buSzPct val="80000"/>
            </a:pPr>
            <a:r>
              <a:rPr lang="zh-CN" altLang="en-US" sz="2800">
                <a:latin typeface="Arial Narrow" panose="020B0606020202030204" pitchFamily="34" charset="0"/>
              </a:rPr>
              <a:t>主要依据：系统的组成和实现的功能目标。</a:t>
            </a:r>
          </a:p>
          <a:p>
            <a:pPr eaLnBrk="1" hangingPunct="1">
              <a:lnSpc>
                <a:spcPct val="105000"/>
              </a:lnSpc>
              <a:spcBef>
                <a:spcPct val="25000"/>
              </a:spcBef>
              <a:buClr>
                <a:srgbClr val="0066FF"/>
              </a:buClr>
              <a:buSzPct val="80000"/>
            </a:pPr>
            <a:r>
              <a:rPr lang="zh-CN" altLang="en-US" sz="2800">
                <a:latin typeface="Arial Narrow" panose="020B0606020202030204" pitchFamily="34" charset="0"/>
              </a:rPr>
              <a:t>任务划分的目标和要考虑的主要因素：</a:t>
            </a:r>
          </a:p>
        </p:txBody>
      </p:sp>
      <p:sp>
        <p:nvSpPr>
          <p:cNvPr id="94215" name="Text Box 7">
            <a:extLst>
              <a:ext uri="{FF2B5EF4-FFF2-40B4-BE49-F238E27FC236}">
                <a16:creationId xmlns:a16="http://schemas.microsoft.com/office/drawing/2014/main" id="{6D29696F-C085-98C2-19DE-FA728AE75E52}"/>
              </a:ext>
            </a:extLst>
          </p:cNvPr>
          <p:cNvSpPr txBox="1">
            <a:spLocks noChangeArrowheads="1"/>
          </p:cNvSpPr>
          <p:nvPr/>
        </p:nvSpPr>
        <p:spPr bwMode="auto">
          <a:xfrm>
            <a:off x="1114425" y="3971925"/>
            <a:ext cx="61944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实时性。</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任务数的合理性。</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目标系统软件的简便清晰性。</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降低系统对软硬件资源的需求。</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页脚占位符 3">
            <a:extLst>
              <a:ext uri="{FF2B5EF4-FFF2-40B4-BE49-F238E27FC236}">
                <a16:creationId xmlns:a16="http://schemas.microsoft.com/office/drawing/2014/main" id="{DAF7D6D5-0A85-FCAF-8B10-6D48666EA10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5235" name="灯片编号占位符 4">
            <a:extLst>
              <a:ext uri="{FF2B5EF4-FFF2-40B4-BE49-F238E27FC236}">
                <a16:creationId xmlns:a16="http://schemas.microsoft.com/office/drawing/2014/main" id="{C9DD3D18-31E5-E54F-E8ED-78DA9ECE571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D3CB957-3729-4B36-9742-E4B1B8572AAA}" type="slidenum">
              <a:rPr lang="en-US" altLang="zh-CN" sz="1200" smtClean="0">
                <a:solidFill>
                  <a:srgbClr val="3366FF"/>
                </a:solidFill>
                <a:latin typeface="Arial Black" panose="020B0A04020102020204" pitchFamily="34" charset="0"/>
              </a:rPr>
              <a:pPr>
                <a:spcBef>
                  <a:spcPct val="0"/>
                </a:spcBef>
                <a:buClrTx/>
                <a:buSzTx/>
                <a:buFontTx/>
                <a:buNone/>
              </a:pPr>
              <a:t>90</a:t>
            </a:fld>
            <a:endParaRPr lang="en-US" altLang="zh-CN" sz="1200">
              <a:solidFill>
                <a:srgbClr val="3366FF"/>
              </a:solidFill>
              <a:latin typeface="Arial Black" panose="020B0A04020102020204" pitchFamily="34" charset="0"/>
            </a:endParaRPr>
          </a:p>
        </p:txBody>
      </p:sp>
      <p:sp>
        <p:nvSpPr>
          <p:cNvPr id="95236" name="日期占位符 5">
            <a:extLst>
              <a:ext uri="{FF2B5EF4-FFF2-40B4-BE49-F238E27FC236}">
                <a16:creationId xmlns:a16="http://schemas.microsoft.com/office/drawing/2014/main" id="{B8E7600E-C109-3B43-BC62-7EEAA3DB332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FDEE4A8-CDBB-4B0F-9628-B12B2E20582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5237" name="Rectangle 2">
            <a:extLst>
              <a:ext uri="{FF2B5EF4-FFF2-40B4-BE49-F238E27FC236}">
                <a16:creationId xmlns:a16="http://schemas.microsoft.com/office/drawing/2014/main" id="{30F1FEB2-481D-989A-D43F-F42850FFEB4C}"/>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95238" name="Rectangle 3">
            <a:extLst>
              <a:ext uri="{FF2B5EF4-FFF2-40B4-BE49-F238E27FC236}">
                <a16:creationId xmlns:a16="http://schemas.microsoft.com/office/drawing/2014/main" id="{23D0CA23-DEBF-8322-8A8A-7FAAC5A2F70E}"/>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rgbClr val="FF0000"/>
                </a:solidFill>
              </a:rPr>
              <a:t>3</a:t>
            </a:r>
            <a:r>
              <a:rPr lang="zh-CN" altLang="en-US">
                <a:solidFill>
                  <a:srgbClr val="FF0000"/>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3">
            <a:extLst>
              <a:ext uri="{FF2B5EF4-FFF2-40B4-BE49-F238E27FC236}">
                <a16:creationId xmlns:a16="http://schemas.microsoft.com/office/drawing/2014/main" id="{C98A92C8-C2AF-B667-A44C-7D68FCE44E3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6259" name="灯片编号占位符 4">
            <a:extLst>
              <a:ext uri="{FF2B5EF4-FFF2-40B4-BE49-F238E27FC236}">
                <a16:creationId xmlns:a16="http://schemas.microsoft.com/office/drawing/2014/main" id="{B7BE93D4-1BF0-3C0E-011C-3F8344F7F78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B1E7F06-FD22-4E38-9249-038429F53317}" type="slidenum">
              <a:rPr lang="en-US" altLang="zh-CN" sz="1200" smtClean="0">
                <a:solidFill>
                  <a:srgbClr val="3366FF"/>
                </a:solidFill>
                <a:latin typeface="Arial Black" panose="020B0A04020102020204" pitchFamily="34" charset="0"/>
              </a:rPr>
              <a:pPr>
                <a:spcBef>
                  <a:spcPct val="0"/>
                </a:spcBef>
                <a:buClrTx/>
                <a:buSzTx/>
                <a:buFontTx/>
                <a:buNone/>
              </a:pPr>
              <a:t>91</a:t>
            </a:fld>
            <a:endParaRPr lang="en-US" altLang="zh-CN" sz="1200">
              <a:solidFill>
                <a:srgbClr val="3366FF"/>
              </a:solidFill>
              <a:latin typeface="Arial Black" panose="020B0A04020102020204" pitchFamily="34" charset="0"/>
            </a:endParaRPr>
          </a:p>
        </p:txBody>
      </p:sp>
      <p:sp>
        <p:nvSpPr>
          <p:cNvPr id="96260" name="日期占位符 5">
            <a:extLst>
              <a:ext uri="{FF2B5EF4-FFF2-40B4-BE49-F238E27FC236}">
                <a16:creationId xmlns:a16="http://schemas.microsoft.com/office/drawing/2014/main" id="{6909BA4F-5301-E8D3-8C02-F46C587AC40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93B3232-7CB1-427C-9FEF-591FCDD33FA8}"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6261" name="Rectangle 2">
            <a:extLst>
              <a:ext uri="{FF2B5EF4-FFF2-40B4-BE49-F238E27FC236}">
                <a16:creationId xmlns:a16="http://schemas.microsoft.com/office/drawing/2014/main" id="{9BFDB5F8-DE79-883B-E319-6B36F9B40675}"/>
              </a:ext>
            </a:extLst>
          </p:cNvPr>
          <p:cNvSpPr>
            <a:spLocks noGrp="1" noChangeArrowheads="1"/>
          </p:cNvSpPr>
          <p:nvPr>
            <p:ph type="title"/>
          </p:nvPr>
        </p:nvSpPr>
        <p:spPr>
          <a:xfrm>
            <a:off x="457200" y="692150"/>
            <a:ext cx="8229600" cy="668338"/>
          </a:xfrm>
        </p:spPr>
        <p:txBody>
          <a:bodyPr/>
          <a:lstStyle/>
          <a:p>
            <a:pPr eaLnBrk="1" hangingPunct="1"/>
            <a:r>
              <a:rPr lang="zh-CN" altLang="en-US" sz="4000"/>
              <a:t>补充：</a:t>
            </a:r>
            <a:r>
              <a:rPr lang="en-US" altLang="zh-CN" sz="4000"/>
              <a:t>3 --- </a:t>
            </a:r>
            <a:r>
              <a:rPr lang="zh-CN" altLang="en-US" sz="4000"/>
              <a:t>任务的划分方法</a:t>
            </a:r>
          </a:p>
        </p:txBody>
      </p:sp>
      <p:sp>
        <p:nvSpPr>
          <p:cNvPr id="96262" name="Rectangle 3">
            <a:extLst>
              <a:ext uri="{FF2B5EF4-FFF2-40B4-BE49-F238E27FC236}">
                <a16:creationId xmlns:a16="http://schemas.microsoft.com/office/drawing/2014/main" id="{FA856596-580B-34D6-9DBD-F2CB6980201B}"/>
              </a:ext>
            </a:extLst>
          </p:cNvPr>
          <p:cNvSpPr>
            <a:spLocks noGrp="1" noChangeArrowheads="1"/>
          </p:cNvSpPr>
          <p:nvPr>
            <p:ph type="body" idx="1"/>
          </p:nvPr>
        </p:nvSpPr>
        <p:spPr>
          <a:xfrm>
            <a:off x="519113" y="1412875"/>
            <a:ext cx="8229600" cy="647700"/>
          </a:xfrm>
        </p:spPr>
        <p:txBody>
          <a:bodyPr/>
          <a:lstStyle/>
          <a:p>
            <a:pPr eaLnBrk="1" hangingPunct="1"/>
            <a:r>
              <a:rPr lang="zh-CN" altLang="en-US" b="1"/>
              <a:t>按系统设备构成进行任务的划分</a:t>
            </a:r>
          </a:p>
        </p:txBody>
      </p:sp>
      <p:sp>
        <p:nvSpPr>
          <p:cNvPr id="117764" name="Text Box 4">
            <a:extLst>
              <a:ext uri="{FF2B5EF4-FFF2-40B4-BE49-F238E27FC236}">
                <a16:creationId xmlns:a16="http://schemas.microsoft.com/office/drawing/2014/main" id="{E23D8EC4-5158-3360-500D-96FDA03034C0}"/>
              </a:ext>
            </a:extLst>
          </p:cNvPr>
          <p:cNvSpPr txBox="1">
            <a:spLocks noChangeArrowheads="1"/>
          </p:cNvSpPr>
          <p:nvPr/>
        </p:nvSpPr>
        <p:spPr bwMode="auto">
          <a:xfrm>
            <a:off x="898525" y="2060575"/>
            <a:ext cx="7561263" cy="4311650"/>
          </a:xfrm>
          <a:prstGeom prst="rect">
            <a:avLst/>
          </a:prstGeom>
          <a:noFill/>
          <a:ln w="9525">
            <a:noFill/>
            <a:miter lim="800000"/>
            <a:headEnd/>
            <a:tailEnd/>
          </a:ln>
          <a:effectLst/>
        </p:spPr>
        <p:txBody>
          <a:bodyPr>
            <a:spAutoFit/>
          </a:bodyPr>
          <a:lstStyle/>
          <a:p>
            <a:pPr marL="263525" indent="-263525" eaLnBrk="1" hangingPunct="1">
              <a:lnSpc>
                <a:spcPct val="120000"/>
              </a:lnSpc>
              <a:spcBef>
                <a:spcPct val="25000"/>
              </a:spcBef>
              <a:buClr>
                <a:srgbClr val="F66C04"/>
              </a:buClr>
              <a:buSzPct val="55000"/>
              <a:buFont typeface="Wingdings" pitchFamily="2" charset="2"/>
              <a:buChar char="Ø"/>
              <a:defRPr/>
            </a:pPr>
            <a:r>
              <a:rPr lang="zh-CN" altLang="en-US" sz="2400">
                <a:latin typeface="Arial Narrow" pitchFamily="34" charset="0"/>
              </a:rPr>
              <a:t>任何嵌入式系统硬件都是由 </a:t>
            </a:r>
            <a:r>
              <a:rPr lang="zh-CN" altLang="en-US" sz="2400">
                <a:solidFill>
                  <a:srgbClr val="3333FF"/>
                </a:solidFill>
                <a:latin typeface="Arial Narrow" pitchFamily="34" charset="0"/>
              </a:rPr>
              <a:t>“</a:t>
            </a:r>
            <a:r>
              <a:rPr lang="en-US" altLang="zh-CN" sz="2400">
                <a:solidFill>
                  <a:srgbClr val="3333FF"/>
                </a:solidFill>
                <a:effectLst>
                  <a:outerShdw blurRad="38100" dist="38100" dir="2700000" algn="tl">
                    <a:srgbClr val="C0C0C0"/>
                  </a:outerShdw>
                </a:effectLst>
                <a:latin typeface="Arial Narrow" pitchFamily="34" charset="0"/>
              </a:rPr>
              <a:t>CPU + </a:t>
            </a:r>
            <a:r>
              <a:rPr lang="zh-CN" altLang="en-US" sz="2400">
                <a:solidFill>
                  <a:srgbClr val="3333FF"/>
                </a:solidFill>
                <a:effectLst>
                  <a:outerShdw blurRad="38100" dist="38100" dir="2700000" algn="tl">
                    <a:srgbClr val="C0C0C0"/>
                  </a:outerShdw>
                </a:effectLst>
                <a:latin typeface="Arial Narrow" pitchFamily="34" charset="0"/>
              </a:rPr>
              <a:t>外设</a:t>
            </a:r>
            <a:r>
              <a:rPr lang="zh-CN" altLang="en-US">
                <a:solidFill>
                  <a:srgbClr val="3333FF"/>
                </a:solidFill>
                <a:latin typeface="Arial" charset="0"/>
              </a:rPr>
              <a:t>”</a:t>
            </a:r>
            <a:r>
              <a:rPr lang="zh-CN" altLang="en-US" sz="2400">
                <a:latin typeface="Arial Narrow" pitchFamily="34" charset="0"/>
              </a:rPr>
              <a:t> 构成的。</a:t>
            </a:r>
          </a:p>
          <a:p>
            <a:pPr marL="263525" indent="-263525" eaLnBrk="1" hangingPunct="1">
              <a:lnSpc>
                <a:spcPct val="120000"/>
              </a:lnSpc>
              <a:spcBef>
                <a:spcPct val="25000"/>
              </a:spcBef>
              <a:buClr>
                <a:srgbClr val="F66C04"/>
              </a:buClr>
              <a:buSzPct val="55000"/>
              <a:buFont typeface="Wingdings" pitchFamily="2" charset="2"/>
              <a:buChar char="Ø"/>
              <a:defRPr/>
            </a:pPr>
            <a:r>
              <a:rPr lang="zh-CN" altLang="en-US" sz="2400">
                <a:latin typeface="Arial Narrow" pitchFamily="34" charset="0"/>
              </a:rPr>
              <a:t>外设在</a:t>
            </a:r>
            <a:r>
              <a:rPr lang="en-US" altLang="zh-CN" sz="2400">
                <a:latin typeface="Arial Narrow" pitchFamily="34" charset="0"/>
              </a:rPr>
              <a:t>CPU</a:t>
            </a:r>
            <a:r>
              <a:rPr lang="zh-CN" altLang="en-US" sz="2400">
                <a:latin typeface="Arial Narrow" pitchFamily="34" charset="0"/>
              </a:rPr>
              <a:t>的控制下协调工作，</a:t>
            </a:r>
            <a:r>
              <a:rPr lang="en-US" altLang="zh-CN" sz="2400">
                <a:latin typeface="Arial Narrow" pitchFamily="34" charset="0"/>
              </a:rPr>
              <a:t>CPU</a:t>
            </a:r>
            <a:r>
              <a:rPr lang="zh-CN" altLang="en-US" sz="2400">
                <a:latin typeface="Arial Narrow" pitchFamily="34" charset="0"/>
              </a:rPr>
              <a:t>通过运行</a:t>
            </a:r>
            <a:r>
              <a:rPr lang="zh-CN" altLang="en-US" sz="2400">
                <a:solidFill>
                  <a:srgbClr val="CC0000"/>
                </a:solidFill>
                <a:latin typeface="Arial Narrow" pitchFamily="34" charset="0"/>
              </a:rPr>
              <a:t>程序</a:t>
            </a:r>
            <a:r>
              <a:rPr lang="zh-CN" altLang="en-US" sz="2400">
                <a:latin typeface="Arial Narrow" pitchFamily="34" charset="0"/>
              </a:rPr>
              <a:t>实现对外设的控制，这些</a:t>
            </a:r>
            <a:r>
              <a:rPr lang="zh-CN" altLang="en-US" sz="2400">
                <a:solidFill>
                  <a:srgbClr val="CC0000"/>
                </a:solidFill>
                <a:latin typeface="Arial Narrow" pitchFamily="34" charset="0"/>
              </a:rPr>
              <a:t>程序</a:t>
            </a:r>
            <a:r>
              <a:rPr lang="zh-CN" altLang="en-US" sz="2400">
                <a:latin typeface="Arial Narrow" pitchFamily="34" charset="0"/>
              </a:rPr>
              <a:t>就是裁减后的</a:t>
            </a:r>
            <a:r>
              <a:rPr lang="en-US" altLang="zh-CN" sz="2400">
                <a:latin typeface="Arial Narrow" pitchFamily="34" charset="0"/>
              </a:rPr>
              <a:t>RTOS</a:t>
            </a:r>
            <a:r>
              <a:rPr lang="zh-CN" altLang="en-US" sz="2400">
                <a:latin typeface="Arial Narrow" pitchFamily="34" charset="0"/>
              </a:rPr>
              <a:t>和多个 用户 </a:t>
            </a:r>
            <a:r>
              <a:rPr lang="en-US" altLang="zh-CN" sz="2400">
                <a:latin typeface="Arial Narrow" pitchFamily="34" charset="0"/>
              </a:rPr>
              <a:t>Task </a:t>
            </a:r>
            <a:r>
              <a:rPr lang="zh-CN" altLang="en-US" sz="2400">
                <a:latin typeface="Arial Narrow" pitchFamily="34" charset="0"/>
              </a:rPr>
              <a:t>。</a:t>
            </a:r>
          </a:p>
          <a:p>
            <a:pPr marL="263525" indent="-263525" eaLnBrk="1" hangingPunct="1">
              <a:lnSpc>
                <a:spcPct val="120000"/>
              </a:lnSpc>
              <a:spcBef>
                <a:spcPct val="25000"/>
              </a:spcBef>
              <a:buClr>
                <a:srgbClr val="F66C04"/>
              </a:buClr>
              <a:buSzPct val="55000"/>
              <a:buFont typeface="Wingdings" pitchFamily="2" charset="2"/>
              <a:buChar char="Ø"/>
              <a:defRPr/>
            </a:pPr>
            <a:r>
              <a:rPr lang="zh-CN" altLang="en-US" sz="2400">
                <a:latin typeface="Arial Narrow" pitchFamily="34" charset="0"/>
              </a:rPr>
              <a:t>外设与</a:t>
            </a:r>
            <a:r>
              <a:rPr lang="en-US" altLang="zh-CN" sz="2400">
                <a:latin typeface="Arial Narrow" pitchFamily="34" charset="0"/>
              </a:rPr>
              <a:t>CPU</a:t>
            </a:r>
            <a:r>
              <a:rPr lang="zh-CN" altLang="en-US" sz="2400">
                <a:latin typeface="Arial Narrow" pitchFamily="34" charset="0"/>
              </a:rPr>
              <a:t>的速度差是 “任务并发运行” 的前提和基础，也是通常都能满足的实事。</a:t>
            </a:r>
          </a:p>
          <a:p>
            <a:pPr marL="263525" indent="-263525" eaLnBrk="1" hangingPunct="1">
              <a:lnSpc>
                <a:spcPct val="120000"/>
              </a:lnSpc>
              <a:spcBef>
                <a:spcPct val="25000"/>
              </a:spcBef>
              <a:buClr>
                <a:srgbClr val="F66C04"/>
              </a:buClr>
              <a:buSzPct val="55000"/>
              <a:buFont typeface="Wingdings" pitchFamily="2" charset="2"/>
              <a:buChar char="Ø"/>
              <a:defRPr/>
            </a:pPr>
            <a:r>
              <a:rPr lang="zh-CN" altLang="en-US" sz="2400">
                <a:latin typeface="Arial Narrow" pitchFamily="34" charset="0"/>
              </a:rPr>
              <a:t>外设分为 “主动性外设” 和 “被动性外设” ；主动性外设通过中断的方式申请</a:t>
            </a:r>
            <a:r>
              <a:rPr lang="en-US" altLang="zh-CN" sz="2400">
                <a:latin typeface="Arial Narrow" pitchFamily="34" charset="0"/>
              </a:rPr>
              <a:t>CPU</a:t>
            </a:r>
            <a:r>
              <a:rPr lang="zh-CN" altLang="en-US" sz="2400">
                <a:latin typeface="Arial Narrow" pitchFamily="34" charset="0"/>
              </a:rPr>
              <a:t>，被动性外设由其他</a:t>
            </a:r>
            <a:r>
              <a:rPr lang="en-US" altLang="zh-CN" sz="2400">
                <a:latin typeface="Arial Narrow" pitchFamily="34" charset="0"/>
              </a:rPr>
              <a:t>Task</a:t>
            </a:r>
            <a:r>
              <a:rPr lang="zh-CN" altLang="en-US" sz="2400">
                <a:latin typeface="Arial Narrow" pitchFamily="34" charset="0"/>
              </a:rPr>
              <a:t>通过通信机制提出申请，激活该设备的</a:t>
            </a:r>
            <a:r>
              <a:rPr lang="en-US" altLang="zh-CN" sz="2400">
                <a:latin typeface="Arial Narrow" pitchFamily="34" charset="0"/>
              </a:rPr>
              <a:t>Task </a:t>
            </a:r>
            <a:r>
              <a:rPr lang="zh-CN" altLang="en-US" sz="2400">
                <a:latin typeface="Arial Narrow" pitchFamily="34"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页脚占位符 3">
            <a:extLst>
              <a:ext uri="{FF2B5EF4-FFF2-40B4-BE49-F238E27FC236}">
                <a16:creationId xmlns:a16="http://schemas.microsoft.com/office/drawing/2014/main" id="{CF5CAD4E-61CF-628A-5D94-FCD8D980F0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7283" name="灯片编号占位符 4">
            <a:extLst>
              <a:ext uri="{FF2B5EF4-FFF2-40B4-BE49-F238E27FC236}">
                <a16:creationId xmlns:a16="http://schemas.microsoft.com/office/drawing/2014/main" id="{537A9E08-B975-57EC-4051-C18D4519723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E148645-6951-4B38-8CD8-98FD27B4AADD}" type="slidenum">
              <a:rPr lang="en-US" altLang="zh-CN" sz="1200" smtClean="0">
                <a:solidFill>
                  <a:srgbClr val="3366FF"/>
                </a:solidFill>
                <a:latin typeface="Arial Black" panose="020B0A04020102020204" pitchFamily="34" charset="0"/>
              </a:rPr>
              <a:pPr>
                <a:spcBef>
                  <a:spcPct val="0"/>
                </a:spcBef>
                <a:buClrTx/>
                <a:buSzTx/>
                <a:buFontTx/>
                <a:buNone/>
              </a:pPr>
              <a:t>92</a:t>
            </a:fld>
            <a:endParaRPr lang="en-US" altLang="zh-CN" sz="1200">
              <a:solidFill>
                <a:srgbClr val="3366FF"/>
              </a:solidFill>
              <a:latin typeface="Arial Black" panose="020B0A04020102020204" pitchFamily="34" charset="0"/>
            </a:endParaRPr>
          </a:p>
        </p:txBody>
      </p:sp>
      <p:sp>
        <p:nvSpPr>
          <p:cNvPr id="97284" name="日期占位符 5">
            <a:extLst>
              <a:ext uri="{FF2B5EF4-FFF2-40B4-BE49-F238E27FC236}">
                <a16:creationId xmlns:a16="http://schemas.microsoft.com/office/drawing/2014/main" id="{28B859B9-F5C5-742E-9D24-E6A29198DB7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8D740FA-74D2-4FA8-9F3D-5A25D4FA693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7285" name="Rectangle 2">
            <a:extLst>
              <a:ext uri="{FF2B5EF4-FFF2-40B4-BE49-F238E27FC236}">
                <a16:creationId xmlns:a16="http://schemas.microsoft.com/office/drawing/2014/main" id="{4B716011-17A1-D881-AFAA-23F95CCACE2F}"/>
              </a:ext>
            </a:extLst>
          </p:cNvPr>
          <p:cNvSpPr>
            <a:spLocks noGrp="1" noChangeArrowheads="1"/>
          </p:cNvSpPr>
          <p:nvPr>
            <p:ph type="title"/>
          </p:nvPr>
        </p:nvSpPr>
        <p:spPr>
          <a:xfrm>
            <a:off x="457200" y="692150"/>
            <a:ext cx="8229600" cy="668338"/>
          </a:xfrm>
        </p:spPr>
        <p:txBody>
          <a:bodyPr/>
          <a:lstStyle/>
          <a:p>
            <a:pPr eaLnBrk="1" hangingPunct="1"/>
            <a:r>
              <a:rPr lang="zh-CN" altLang="en-US" sz="4000"/>
              <a:t>补充：</a:t>
            </a:r>
            <a:r>
              <a:rPr lang="en-US" altLang="zh-CN" sz="4000"/>
              <a:t>3 --- </a:t>
            </a:r>
            <a:r>
              <a:rPr lang="zh-CN" altLang="en-US" sz="4000"/>
              <a:t>任务的划分方法</a:t>
            </a:r>
          </a:p>
        </p:txBody>
      </p:sp>
      <p:sp>
        <p:nvSpPr>
          <p:cNvPr id="97286" name="Rectangle 3">
            <a:extLst>
              <a:ext uri="{FF2B5EF4-FFF2-40B4-BE49-F238E27FC236}">
                <a16:creationId xmlns:a16="http://schemas.microsoft.com/office/drawing/2014/main" id="{AADF28DD-1CF0-CF08-BED3-C1A31B59FF44}"/>
              </a:ext>
            </a:extLst>
          </p:cNvPr>
          <p:cNvSpPr>
            <a:spLocks noGrp="1" noChangeArrowheads="1"/>
          </p:cNvSpPr>
          <p:nvPr>
            <p:ph type="body" idx="1"/>
          </p:nvPr>
        </p:nvSpPr>
        <p:spPr>
          <a:xfrm>
            <a:off x="519113" y="1557338"/>
            <a:ext cx="8229600" cy="647700"/>
          </a:xfrm>
        </p:spPr>
        <p:txBody>
          <a:bodyPr/>
          <a:lstStyle/>
          <a:p>
            <a:pPr eaLnBrk="1" hangingPunct="1"/>
            <a:r>
              <a:rPr lang="zh-CN" altLang="en-US" b="1"/>
              <a:t>关键任务的划分</a:t>
            </a:r>
          </a:p>
        </p:txBody>
      </p:sp>
      <p:sp>
        <p:nvSpPr>
          <p:cNvPr id="118788" name="Text Box 4">
            <a:extLst>
              <a:ext uri="{FF2B5EF4-FFF2-40B4-BE49-F238E27FC236}">
                <a16:creationId xmlns:a16="http://schemas.microsoft.com/office/drawing/2014/main" id="{981E28F6-EBAA-E697-680D-6700F937D734}"/>
              </a:ext>
            </a:extLst>
          </p:cNvPr>
          <p:cNvSpPr txBox="1">
            <a:spLocks noChangeArrowheads="1"/>
          </p:cNvSpPr>
          <p:nvPr/>
        </p:nvSpPr>
        <p:spPr bwMode="auto">
          <a:xfrm>
            <a:off x="898525" y="2276475"/>
            <a:ext cx="7561263" cy="3825875"/>
          </a:xfrm>
          <a:prstGeom prst="rect">
            <a:avLst/>
          </a:prstGeom>
          <a:noFill/>
          <a:ln w="9525">
            <a:noFill/>
            <a:miter lim="800000"/>
            <a:headEnd/>
            <a:tailEnd/>
          </a:ln>
          <a:effectLst/>
        </p:spPr>
        <p:txBody>
          <a:bodyPr>
            <a:spAutoFit/>
          </a:bodyPr>
          <a:lstStyle/>
          <a:p>
            <a:pPr marL="263525" indent="-263525" eaLnBrk="1" hangingPunct="1">
              <a:lnSpc>
                <a:spcPct val="105000"/>
              </a:lnSpc>
              <a:spcBef>
                <a:spcPct val="25000"/>
              </a:spcBef>
              <a:buClr>
                <a:srgbClr val="F66C04"/>
              </a:buClr>
              <a:buSzPct val="55000"/>
              <a:buFont typeface="Wingdings" pitchFamily="2" charset="2"/>
              <a:buChar char="Ø"/>
              <a:defRPr/>
            </a:pPr>
            <a:r>
              <a:rPr lang="en-US" altLang="zh-CN" sz="2400">
                <a:latin typeface="Arial Narrow" pitchFamily="34" charset="0"/>
              </a:rPr>
              <a:t>“</a:t>
            </a:r>
            <a:r>
              <a:rPr lang="zh-CN" altLang="en-US" sz="2400">
                <a:latin typeface="Arial Narrow" pitchFamily="34" charset="0"/>
              </a:rPr>
              <a:t>关键性”功能（任务）是指在嵌入式系统中不可遗漏、及时响应的</a:t>
            </a:r>
            <a:r>
              <a:rPr lang="en-US" altLang="zh-CN" sz="2400">
                <a:latin typeface="Arial Narrow" pitchFamily="34" charset="0"/>
              </a:rPr>
              <a:t>Task</a:t>
            </a:r>
            <a:r>
              <a:rPr lang="zh-CN" altLang="en-US" sz="2400">
                <a:latin typeface="Arial Narrow" pitchFamily="34" charset="0"/>
              </a:rPr>
              <a:t>。</a:t>
            </a:r>
          </a:p>
          <a:p>
            <a:pPr marL="263525" indent="-263525" eaLnBrk="1" hangingPunct="1">
              <a:lnSpc>
                <a:spcPct val="105000"/>
              </a:lnSpc>
              <a:spcBef>
                <a:spcPct val="25000"/>
              </a:spcBef>
              <a:buClr>
                <a:srgbClr val="F66C04"/>
              </a:buClr>
              <a:buSzPct val="55000"/>
              <a:buFont typeface="Wingdings" pitchFamily="2" charset="2"/>
              <a:buChar char="Ø"/>
              <a:defRPr/>
            </a:pPr>
            <a:r>
              <a:rPr lang="zh-CN" altLang="en-US" sz="2400">
                <a:solidFill>
                  <a:srgbClr val="3333FF"/>
                </a:solidFill>
                <a:latin typeface="Arial Narrow" pitchFamily="34" charset="0"/>
              </a:rPr>
              <a:t>关键</a:t>
            </a:r>
            <a:r>
              <a:rPr lang="en-US" altLang="zh-CN" sz="2400">
                <a:solidFill>
                  <a:srgbClr val="3333FF"/>
                </a:solidFill>
                <a:latin typeface="Arial Narrow" pitchFamily="34" charset="0"/>
              </a:rPr>
              <a:t>Task</a:t>
            </a:r>
            <a:r>
              <a:rPr lang="zh-CN" altLang="en-US" sz="2400">
                <a:latin typeface="Arial Narrow" pitchFamily="34" charset="0"/>
              </a:rPr>
              <a:t>必须尽可能地与其他功能剥离，独立构成 </a:t>
            </a:r>
            <a:r>
              <a:rPr lang="en-US" altLang="zh-CN" sz="2400">
                <a:latin typeface="Arial Narrow" pitchFamily="34" charset="0"/>
              </a:rPr>
              <a:t>Task</a:t>
            </a:r>
            <a:r>
              <a:rPr lang="zh-CN" altLang="en-US" sz="2400">
                <a:latin typeface="Arial Narrow" pitchFamily="34" charset="0"/>
              </a:rPr>
              <a:t>，并赋以足够高的优先级，通过通信机制触发其他</a:t>
            </a:r>
            <a:r>
              <a:rPr lang="en-US" altLang="zh-CN" sz="2400">
                <a:latin typeface="Arial Narrow" pitchFamily="34" charset="0"/>
              </a:rPr>
              <a:t>Task</a:t>
            </a:r>
            <a:r>
              <a:rPr lang="zh-CN" altLang="en-US" sz="2400">
                <a:latin typeface="Arial Narrow" pitchFamily="34" charset="0"/>
              </a:rPr>
              <a:t>，完成系统的其它功能。</a:t>
            </a:r>
          </a:p>
          <a:p>
            <a:pPr marL="263525" indent="-263525" eaLnBrk="1" hangingPunct="1">
              <a:lnSpc>
                <a:spcPct val="105000"/>
              </a:lnSpc>
              <a:spcBef>
                <a:spcPct val="25000"/>
              </a:spcBef>
              <a:buClr>
                <a:srgbClr val="F66C04"/>
              </a:buClr>
              <a:buSzPct val="55000"/>
              <a:buFont typeface="Wingdings" pitchFamily="2" charset="2"/>
              <a:buChar char="Ø"/>
              <a:defRPr/>
            </a:pPr>
            <a:r>
              <a:rPr lang="zh-CN" altLang="en-US" sz="2400">
                <a:latin typeface="Arial Narrow" pitchFamily="34" charset="0"/>
              </a:rPr>
              <a:t>为进一步保证关键任务的实时性，可将关键</a:t>
            </a:r>
            <a:r>
              <a:rPr lang="en-US" altLang="zh-CN" sz="2400">
                <a:latin typeface="Arial Narrow" pitchFamily="34" charset="0"/>
              </a:rPr>
              <a:t>Task</a:t>
            </a:r>
            <a:r>
              <a:rPr lang="zh-CN" altLang="en-US" sz="2400">
                <a:latin typeface="Arial Narrow" pitchFamily="34" charset="0"/>
              </a:rPr>
              <a:t>安排为</a:t>
            </a:r>
            <a:r>
              <a:rPr lang="en-US" altLang="zh-CN" sz="2400">
                <a:latin typeface="Arial Narrow" pitchFamily="34" charset="0"/>
              </a:rPr>
              <a:t>ISR</a:t>
            </a:r>
            <a:r>
              <a:rPr lang="zh-CN" altLang="en-US" sz="2400">
                <a:latin typeface="Arial Narrow" pitchFamily="34" charset="0"/>
              </a:rPr>
              <a:t>。可以在</a:t>
            </a:r>
            <a:r>
              <a:rPr lang="en-US" altLang="zh-CN" sz="2400">
                <a:latin typeface="Arial Narrow" pitchFamily="34" charset="0"/>
              </a:rPr>
              <a:t>ISR</a:t>
            </a:r>
            <a:r>
              <a:rPr lang="zh-CN" altLang="en-US" sz="2400">
                <a:latin typeface="Arial Narrow" pitchFamily="34" charset="0"/>
              </a:rPr>
              <a:t>中完成关键功能，也可以在</a:t>
            </a:r>
            <a:r>
              <a:rPr lang="en-US" altLang="zh-CN" sz="2400">
                <a:latin typeface="Arial Narrow" pitchFamily="34" charset="0"/>
              </a:rPr>
              <a:t>ISR</a:t>
            </a:r>
            <a:r>
              <a:rPr lang="zh-CN" altLang="en-US" sz="2400">
                <a:latin typeface="Arial Narrow" pitchFamily="34" charset="0"/>
              </a:rPr>
              <a:t>中仅进行任务通信，触发与它相关</a:t>
            </a:r>
            <a:r>
              <a:rPr lang="en-US" altLang="zh-CN" sz="2400">
                <a:latin typeface="Arial Narrow" pitchFamily="34" charset="0"/>
              </a:rPr>
              <a:t>Task</a:t>
            </a:r>
            <a:r>
              <a:rPr lang="zh-CN" altLang="en-US" sz="2400">
                <a:latin typeface="Arial Narrow" pitchFamily="34" charset="0"/>
              </a:rPr>
              <a:t>。</a:t>
            </a:r>
          </a:p>
          <a:p>
            <a:pPr marL="263525" indent="-263525" eaLnBrk="1" hangingPunct="1">
              <a:lnSpc>
                <a:spcPct val="105000"/>
              </a:lnSpc>
              <a:spcBef>
                <a:spcPct val="25000"/>
              </a:spcBef>
              <a:buClr>
                <a:srgbClr val="F66C04"/>
              </a:buClr>
              <a:buSzPct val="55000"/>
              <a:buFont typeface="Wingdings" pitchFamily="2" charset="2"/>
              <a:buChar char="Ø"/>
              <a:defRPr/>
            </a:pPr>
            <a:r>
              <a:rPr lang="zh-CN" altLang="en-US" sz="2400">
                <a:solidFill>
                  <a:srgbClr val="3333FF"/>
                </a:solidFill>
                <a:effectLst>
                  <a:outerShdw blurRad="38100" dist="38100" dir="2700000" algn="tl">
                    <a:srgbClr val="C0C0C0"/>
                  </a:outerShdw>
                </a:effectLst>
                <a:latin typeface="Arial Narrow" pitchFamily="34" charset="0"/>
              </a:rPr>
              <a:t>紧迫</a:t>
            </a:r>
            <a:r>
              <a:rPr lang="en-US" altLang="zh-CN" sz="2400">
                <a:solidFill>
                  <a:srgbClr val="3333FF"/>
                </a:solidFill>
                <a:effectLst>
                  <a:outerShdw blurRad="38100" dist="38100" dir="2700000" algn="tl">
                    <a:srgbClr val="C0C0C0"/>
                  </a:outerShdw>
                </a:effectLst>
                <a:latin typeface="Arial Narrow" pitchFamily="34" charset="0"/>
              </a:rPr>
              <a:t>TASK</a:t>
            </a:r>
            <a:r>
              <a:rPr lang="zh-CN" altLang="en-US" sz="2400">
                <a:latin typeface="Arial Narrow" pitchFamily="34" charset="0"/>
              </a:rPr>
              <a:t>是指在嵌入式系统中需要及时响应的</a:t>
            </a:r>
            <a:r>
              <a:rPr lang="en-US" altLang="zh-CN" sz="2400">
                <a:latin typeface="Arial Narrow" pitchFamily="34" charset="0"/>
              </a:rPr>
              <a:t>Task</a:t>
            </a:r>
            <a:r>
              <a:rPr lang="zh-CN" altLang="en-US" sz="2400">
                <a:latin typeface="Arial Narrow" pitchFamily="34" charset="0"/>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页脚占位符 3">
            <a:extLst>
              <a:ext uri="{FF2B5EF4-FFF2-40B4-BE49-F238E27FC236}">
                <a16:creationId xmlns:a16="http://schemas.microsoft.com/office/drawing/2014/main" id="{510A7E61-FA35-261C-ECC1-4F925EB3107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8307" name="灯片编号占位符 4">
            <a:extLst>
              <a:ext uri="{FF2B5EF4-FFF2-40B4-BE49-F238E27FC236}">
                <a16:creationId xmlns:a16="http://schemas.microsoft.com/office/drawing/2014/main" id="{5FA31DF8-6254-E182-8C36-6232FBE84EF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AE5BA04-CC8C-4816-9DFA-35C8283D3439}" type="slidenum">
              <a:rPr lang="en-US" altLang="zh-CN" sz="1200" smtClean="0">
                <a:solidFill>
                  <a:srgbClr val="3366FF"/>
                </a:solidFill>
                <a:latin typeface="Arial Black" panose="020B0A04020102020204" pitchFamily="34" charset="0"/>
              </a:rPr>
              <a:pPr>
                <a:spcBef>
                  <a:spcPct val="0"/>
                </a:spcBef>
                <a:buClrTx/>
                <a:buSzTx/>
                <a:buFontTx/>
                <a:buNone/>
              </a:pPr>
              <a:t>93</a:t>
            </a:fld>
            <a:endParaRPr lang="en-US" altLang="zh-CN" sz="1200">
              <a:solidFill>
                <a:srgbClr val="3366FF"/>
              </a:solidFill>
              <a:latin typeface="Arial Black" panose="020B0A04020102020204" pitchFamily="34" charset="0"/>
            </a:endParaRPr>
          </a:p>
        </p:txBody>
      </p:sp>
      <p:sp>
        <p:nvSpPr>
          <p:cNvPr id="98308" name="日期占位符 5">
            <a:extLst>
              <a:ext uri="{FF2B5EF4-FFF2-40B4-BE49-F238E27FC236}">
                <a16:creationId xmlns:a16="http://schemas.microsoft.com/office/drawing/2014/main" id="{F04BF3DA-55BB-FDB7-E416-8F72E033097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6AF3686-61D2-4F16-BE65-DD881EDFEC9E}"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8309" name="Rectangle 2">
            <a:extLst>
              <a:ext uri="{FF2B5EF4-FFF2-40B4-BE49-F238E27FC236}">
                <a16:creationId xmlns:a16="http://schemas.microsoft.com/office/drawing/2014/main" id="{9748FC70-D788-F904-84D4-144C88AA9BCF}"/>
              </a:ext>
            </a:extLst>
          </p:cNvPr>
          <p:cNvSpPr>
            <a:spLocks noGrp="1" noChangeArrowheads="1"/>
          </p:cNvSpPr>
          <p:nvPr>
            <p:ph type="title"/>
          </p:nvPr>
        </p:nvSpPr>
        <p:spPr>
          <a:xfrm>
            <a:off x="457200" y="692150"/>
            <a:ext cx="8229600" cy="668338"/>
          </a:xfrm>
        </p:spPr>
        <p:txBody>
          <a:bodyPr/>
          <a:lstStyle/>
          <a:p>
            <a:pPr eaLnBrk="1" hangingPunct="1"/>
            <a:r>
              <a:rPr lang="zh-CN" altLang="en-US" sz="4000"/>
              <a:t>补充：</a:t>
            </a:r>
            <a:r>
              <a:rPr lang="en-US" altLang="zh-CN" sz="4000"/>
              <a:t>3 --- </a:t>
            </a:r>
            <a:r>
              <a:rPr lang="zh-CN" altLang="en-US" sz="4000"/>
              <a:t>任务的划分方法</a:t>
            </a:r>
          </a:p>
        </p:txBody>
      </p:sp>
      <p:sp>
        <p:nvSpPr>
          <p:cNvPr id="98310" name="Rectangle 3">
            <a:extLst>
              <a:ext uri="{FF2B5EF4-FFF2-40B4-BE49-F238E27FC236}">
                <a16:creationId xmlns:a16="http://schemas.microsoft.com/office/drawing/2014/main" id="{9AE8F691-F49E-1473-376B-89D40F5CE925}"/>
              </a:ext>
            </a:extLst>
          </p:cNvPr>
          <p:cNvSpPr>
            <a:spLocks noGrp="1" noChangeArrowheads="1"/>
          </p:cNvSpPr>
          <p:nvPr>
            <p:ph type="body" idx="1"/>
          </p:nvPr>
        </p:nvSpPr>
        <p:spPr>
          <a:xfrm>
            <a:off x="519113" y="1773238"/>
            <a:ext cx="8229600" cy="647700"/>
          </a:xfrm>
        </p:spPr>
        <p:txBody>
          <a:bodyPr/>
          <a:lstStyle/>
          <a:p>
            <a:pPr eaLnBrk="1" hangingPunct="1"/>
            <a:r>
              <a:rPr lang="zh-CN" altLang="en-US" b="1"/>
              <a:t>关于任务划分的几点建议：</a:t>
            </a:r>
          </a:p>
        </p:txBody>
      </p:sp>
      <p:sp>
        <p:nvSpPr>
          <p:cNvPr id="98311" name="Text Box 6">
            <a:extLst>
              <a:ext uri="{FF2B5EF4-FFF2-40B4-BE49-F238E27FC236}">
                <a16:creationId xmlns:a16="http://schemas.microsoft.com/office/drawing/2014/main" id="{FDB60A92-CEA5-D805-035E-D3487D448931}"/>
              </a:ext>
            </a:extLst>
          </p:cNvPr>
          <p:cNvSpPr txBox="1">
            <a:spLocks noChangeArrowheads="1"/>
          </p:cNvSpPr>
          <p:nvPr/>
        </p:nvSpPr>
        <p:spPr bwMode="auto">
          <a:xfrm>
            <a:off x="1042988" y="2636838"/>
            <a:ext cx="7345362"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solidFill>
                  <a:srgbClr val="3333FF"/>
                </a:solidFill>
                <a:latin typeface="Arial Narrow" panose="020B0606020202030204" pitchFamily="34" charset="0"/>
              </a:rPr>
              <a:t>关键性任务</a:t>
            </a:r>
            <a:r>
              <a:rPr lang="zh-CN" altLang="en-US" sz="2400">
                <a:latin typeface="Arial Narrow" panose="020B0606020202030204" pitchFamily="34" charset="0"/>
              </a:rPr>
              <a:t>的调度务必保证其</a:t>
            </a:r>
            <a:r>
              <a:rPr lang="zh-CN" altLang="en-US" sz="2400">
                <a:solidFill>
                  <a:srgbClr val="3333FF"/>
                </a:solidFill>
                <a:latin typeface="Arial Narrow" panose="020B0606020202030204" pitchFamily="34" charset="0"/>
              </a:rPr>
              <a:t>可靠性和实时性</a:t>
            </a:r>
            <a:r>
              <a:rPr lang="zh-CN" altLang="en-US" sz="2400">
                <a:latin typeface="Arial Narrow" panose="020B0606020202030204" pitchFamily="34" charset="0"/>
              </a:rPr>
              <a:t>。</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solidFill>
                  <a:srgbClr val="3333FF"/>
                </a:solidFill>
                <a:latin typeface="Arial Narrow" panose="020B0606020202030204" pitchFamily="34" charset="0"/>
              </a:rPr>
              <a:t>紧迫性任务</a:t>
            </a:r>
            <a:r>
              <a:rPr lang="zh-CN" altLang="en-US" sz="2400">
                <a:latin typeface="Arial Narrow" panose="020B0606020202030204" pitchFamily="34" charset="0"/>
              </a:rPr>
              <a:t>尽量保证其</a:t>
            </a:r>
            <a:r>
              <a:rPr lang="zh-CN" altLang="en-US" sz="2400">
                <a:solidFill>
                  <a:srgbClr val="3333FF"/>
                </a:solidFill>
                <a:latin typeface="Arial Narrow" panose="020B0606020202030204" pitchFamily="34" charset="0"/>
              </a:rPr>
              <a:t>实时性</a:t>
            </a:r>
            <a:r>
              <a:rPr lang="zh-CN" altLang="en-US" sz="2400">
                <a:latin typeface="Arial Narrow" panose="020B0606020202030204" pitchFamily="34" charset="0"/>
              </a:rPr>
              <a:t>。</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触发条件相同的功能尽量安排在一个</a:t>
            </a:r>
            <a:r>
              <a:rPr lang="en-US" altLang="zh-CN" sz="2400">
                <a:latin typeface="Arial Narrow" panose="020B0606020202030204" pitchFamily="34" charset="0"/>
              </a:rPr>
              <a:t>Task</a:t>
            </a:r>
            <a:r>
              <a:rPr lang="zh-CN" altLang="en-US" sz="2400">
                <a:latin typeface="Arial Narrow" panose="020B0606020202030204" pitchFamily="34" charset="0"/>
              </a:rPr>
              <a:t>中。</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运行间隔周期相同的功能尽量安排在一个</a:t>
            </a:r>
            <a:r>
              <a:rPr lang="en-US" altLang="zh-CN" sz="2400">
                <a:latin typeface="Arial Narrow" panose="020B0606020202030204" pitchFamily="34" charset="0"/>
              </a:rPr>
              <a:t>Task</a:t>
            </a:r>
            <a:r>
              <a:rPr lang="zh-CN" altLang="en-US" sz="2400">
                <a:latin typeface="Arial Narrow" panose="020B0606020202030204" pitchFamily="34" charset="0"/>
              </a:rPr>
              <a:t>中。</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在进行系统任务规划时要充分考虑</a:t>
            </a:r>
            <a:r>
              <a:rPr lang="zh-CN" altLang="en-US" sz="2400">
                <a:solidFill>
                  <a:srgbClr val="CC0000"/>
                </a:solidFill>
                <a:latin typeface="Arial Narrow" panose="020B0606020202030204" pitchFamily="34" charset="0"/>
              </a:rPr>
              <a:t>外界事件的异步性和突发性</a:t>
            </a:r>
            <a:r>
              <a:rPr lang="zh-CN" altLang="en-US" sz="2400">
                <a:latin typeface="Arial Narrow" panose="020B0606020202030204" pitchFamily="34" charset="0"/>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页脚占位符 3">
            <a:extLst>
              <a:ext uri="{FF2B5EF4-FFF2-40B4-BE49-F238E27FC236}">
                <a16:creationId xmlns:a16="http://schemas.microsoft.com/office/drawing/2014/main" id="{08D2EC83-3C4C-4844-C272-8F6736AD040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99331" name="灯片编号占位符 4">
            <a:extLst>
              <a:ext uri="{FF2B5EF4-FFF2-40B4-BE49-F238E27FC236}">
                <a16:creationId xmlns:a16="http://schemas.microsoft.com/office/drawing/2014/main" id="{D6416DA2-18AE-08FE-31E6-8E97C79CC3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6444995-30B2-4076-8F0C-796AFF178BEC}" type="slidenum">
              <a:rPr lang="en-US" altLang="zh-CN" sz="1200" smtClean="0">
                <a:solidFill>
                  <a:srgbClr val="3366FF"/>
                </a:solidFill>
                <a:latin typeface="Arial Black" panose="020B0A04020102020204" pitchFamily="34" charset="0"/>
              </a:rPr>
              <a:pPr>
                <a:spcBef>
                  <a:spcPct val="0"/>
                </a:spcBef>
                <a:buClrTx/>
                <a:buSzTx/>
                <a:buFontTx/>
                <a:buNone/>
              </a:pPr>
              <a:t>94</a:t>
            </a:fld>
            <a:endParaRPr lang="en-US" altLang="zh-CN" sz="1200">
              <a:solidFill>
                <a:srgbClr val="3366FF"/>
              </a:solidFill>
              <a:latin typeface="Arial Black" panose="020B0A04020102020204" pitchFamily="34" charset="0"/>
            </a:endParaRPr>
          </a:p>
        </p:txBody>
      </p:sp>
      <p:sp>
        <p:nvSpPr>
          <p:cNvPr id="99332" name="日期占位符 5">
            <a:extLst>
              <a:ext uri="{FF2B5EF4-FFF2-40B4-BE49-F238E27FC236}">
                <a16:creationId xmlns:a16="http://schemas.microsoft.com/office/drawing/2014/main" id="{651E00C6-617E-6DFA-7D2A-B0C3EA45645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F6395FA-7DFB-4F6F-BA88-68A3FDBFE1D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99333" name="Rectangle 2">
            <a:extLst>
              <a:ext uri="{FF2B5EF4-FFF2-40B4-BE49-F238E27FC236}">
                <a16:creationId xmlns:a16="http://schemas.microsoft.com/office/drawing/2014/main" id="{77310F24-F26C-EEE5-9445-A0A7FC5E0A42}"/>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99334" name="Rectangle 3">
            <a:extLst>
              <a:ext uri="{FF2B5EF4-FFF2-40B4-BE49-F238E27FC236}">
                <a16:creationId xmlns:a16="http://schemas.microsoft.com/office/drawing/2014/main" id="{A40D791D-8A89-2D23-83AC-48F19D046438}"/>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rgbClr val="FF0000"/>
                </a:solidFill>
              </a:rPr>
              <a:t>4</a:t>
            </a:r>
            <a:r>
              <a:rPr lang="zh-CN" altLang="en-US">
                <a:solidFill>
                  <a:srgbClr val="FF0000"/>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页脚占位符 3">
            <a:extLst>
              <a:ext uri="{FF2B5EF4-FFF2-40B4-BE49-F238E27FC236}">
                <a16:creationId xmlns:a16="http://schemas.microsoft.com/office/drawing/2014/main" id="{62606679-2079-52CC-957C-4450A50FCFE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0355" name="灯片编号占位符 4">
            <a:extLst>
              <a:ext uri="{FF2B5EF4-FFF2-40B4-BE49-F238E27FC236}">
                <a16:creationId xmlns:a16="http://schemas.microsoft.com/office/drawing/2014/main" id="{54267A9D-267E-0B11-2E08-BAC03FE5FAB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4173BEF-5E8C-4206-A733-81F8940C9284}" type="slidenum">
              <a:rPr lang="en-US" altLang="zh-CN" sz="1200" smtClean="0">
                <a:solidFill>
                  <a:srgbClr val="3366FF"/>
                </a:solidFill>
                <a:latin typeface="Arial Black" panose="020B0A04020102020204" pitchFamily="34" charset="0"/>
              </a:rPr>
              <a:pPr>
                <a:spcBef>
                  <a:spcPct val="0"/>
                </a:spcBef>
                <a:buClrTx/>
                <a:buSzTx/>
                <a:buFontTx/>
                <a:buNone/>
              </a:pPr>
              <a:t>95</a:t>
            </a:fld>
            <a:endParaRPr lang="en-US" altLang="zh-CN" sz="1200">
              <a:solidFill>
                <a:srgbClr val="3366FF"/>
              </a:solidFill>
              <a:latin typeface="Arial Black" panose="020B0A04020102020204" pitchFamily="34" charset="0"/>
            </a:endParaRPr>
          </a:p>
        </p:txBody>
      </p:sp>
      <p:sp>
        <p:nvSpPr>
          <p:cNvPr id="100356" name="日期占位符 5">
            <a:extLst>
              <a:ext uri="{FF2B5EF4-FFF2-40B4-BE49-F238E27FC236}">
                <a16:creationId xmlns:a16="http://schemas.microsoft.com/office/drawing/2014/main" id="{7DCA1E8B-29D5-FBC7-1D84-8B9A884F896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89C9D8-76BE-4FE0-A165-DC00ABD8A5E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0357" name="Rectangle 2">
            <a:extLst>
              <a:ext uri="{FF2B5EF4-FFF2-40B4-BE49-F238E27FC236}">
                <a16:creationId xmlns:a16="http://schemas.microsoft.com/office/drawing/2014/main" id="{BAF73ABB-C2E3-3078-7753-8BA50DBD03B0}"/>
              </a:ext>
            </a:extLst>
          </p:cNvPr>
          <p:cNvSpPr>
            <a:spLocks noGrp="1" noChangeArrowheads="1"/>
          </p:cNvSpPr>
          <p:nvPr>
            <p:ph type="title"/>
          </p:nvPr>
        </p:nvSpPr>
        <p:spPr>
          <a:xfrm>
            <a:off x="457200" y="692150"/>
            <a:ext cx="8229600" cy="668338"/>
          </a:xfrm>
        </p:spPr>
        <p:txBody>
          <a:bodyPr/>
          <a:lstStyle/>
          <a:p>
            <a:pPr eaLnBrk="1" hangingPunct="1"/>
            <a:r>
              <a:rPr lang="zh-CN" altLang="en-US" sz="4000"/>
              <a:t>补充：</a:t>
            </a:r>
            <a:r>
              <a:rPr lang="en-US" altLang="zh-CN" sz="4000"/>
              <a:t>4 --- </a:t>
            </a:r>
            <a:r>
              <a:rPr lang="zh-CN" altLang="en-US" sz="4000"/>
              <a:t>任务的可调度性分析</a:t>
            </a:r>
          </a:p>
        </p:txBody>
      </p:sp>
      <p:sp>
        <p:nvSpPr>
          <p:cNvPr id="100358" name="Text Box 4" descr="羊皮纸">
            <a:extLst>
              <a:ext uri="{FF2B5EF4-FFF2-40B4-BE49-F238E27FC236}">
                <a16:creationId xmlns:a16="http://schemas.microsoft.com/office/drawing/2014/main" id="{E4BBF70F-1C3B-5427-3008-3B619B34652F}"/>
              </a:ext>
            </a:extLst>
          </p:cNvPr>
          <p:cNvSpPr txBox="1">
            <a:spLocks noChangeArrowheads="1"/>
          </p:cNvSpPr>
          <p:nvPr/>
        </p:nvSpPr>
        <p:spPr bwMode="auto">
          <a:xfrm>
            <a:off x="1042988" y="1916113"/>
            <a:ext cx="7129462" cy="3114675"/>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25475">
              <a:spcBef>
                <a:spcPct val="20000"/>
              </a:spcBef>
              <a:buClr>
                <a:schemeClr val="bg2"/>
              </a:buClr>
              <a:buSzPct val="75000"/>
              <a:buFont typeface="Wingdings" panose="05000000000000000000" pitchFamily="2" charset="2"/>
              <a:buChar char="n"/>
              <a:tabLst>
                <a:tab pos="6254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6254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6254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endParaRPr lang="en-US" altLang="zh-CN" sz="1000"/>
          </a:p>
          <a:p>
            <a:pPr eaLnBrk="1" hangingPunct="1">
              <a:lnSpc>
                <a:spcPct val="120000"/>
              </a:lnSpc>
              <a:spcBef>
                <a:spcPct val="50000"/>
              </a:spcBef>
              <a:buClrTx/>
              <a:buSzTx/>
              <a:buFontTx/>
              <a:buNone/>
            </a:pPr>
            <a:r>
              <a:rPr lang="zh-CN" altLang="en-US">
                <a:solidFill>
                  <a:srgbClr val="0000FF"/>
                </a:solidFill>
              </a:rPr>
              <a:t>任务规划</a:t>
            </a:r>
            <a:r>
              <a:rPr lang="en-US" altLang="zh-CN">
                <a:solidFill>
                  <a:srgbClr val="0000FF"/>
                </a:solidFill>
              </a:rPr>
              <a:t>----</a:t>
            </a:r>
            <a:r>
              <a:rPr lang="zh-CN" altLang="en-US"/>
              <a:t>主要完成了逻辑级的任务划分，之后要进行</a:t>
            </a:r>
            <a:r>
              <a:rPr lang="zh-CN" altLang="en-US">
                <a:solidFill>
                  <a:srgbClr val="080808"/>
                </a:solidFill>
              </a:rPr>
              <a:t>任务的可调度性分析 </a:t>
            </a:r>
            <a:r>
              <a:rPr lang="en-US" altLang="zh-CN">
                <a:solidFill>
                  <a:srgbClr val="080808"/>
                </a:solidFill>
              </a:rPr>
              <a:t>--- </a:t>
            </a:r>
            <a:r>
              <a:rPr lang="zh-CN" altLang="en-US">
                <a:solidFill>
                  <a:srgbClr val="080808"/>
                </a:solidFill>
              </a:rPr>
              <a:t>定量的分析这些任务是否可以在</a:t>
            </a:r>
            <a:r>
              <a:rPr lang="en-US" altLang="zh-CN">
                <a:solidFill>
                  <a:srgbClr val="080808"/>
                </a:solidFill>
                <a:latin typeface="Arial Narrow" panose="020B0606020202030204" pitchFamily="34" charset="0"/>
              </a:rPr>
              <a:t>RTOS</a:t>
            </a:r>
            <a:r>
              <a:rPr lang="zh-CN" altLang="en-US">
                <a:solidFill>
                  <a:srgbClr val="080808"/>
                </a:solidFill>
              </a:rPr>
              <a:t>调度下正常运行。</a:t>
            </a:r>
          </a:p>
          <a:p>
            <a:pPr eaLnBrk="1" hangingPunct="1">
              <a:lnSpc>
                <a:spcPct val="120000"/>
              </a:lnSpc>
              <a:spcBef>
                <a:spcPct val="50000"/>
              </a:spcBef>
              <a:buClrTx/>
              <a:buSzTx/>
              <a:buFontTx/>
              <a:buNone/>
            </a:pPr>
            <a:endParaRPr lang="en-US" altLang="zh-CN" sz="1000">
              <a:solidFill>
                <a:srgbClr val="080808"/>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页脚占位符 3">
            <a:extLst>
              <a:ext uri="{FF2B5EF4-FFF2-40B4-BE49-F238E27FC236}">
                <a16:creationId xmlns:a16="http://schemas.microsoft.com/office/drawing/2014/main" id="{F2AD9D99-26F4-ADE1-1C24-342EFA02CFE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1379" name="灯片编号占位符 4">
            <a:extLst>
              <a:ext uri="{FF2B5EF4-FFF2-40B4-BE49-F238E27FC236}">
                <a16:creationId xmlns:a16="http://schemas.microsoft.com/office/drawing/2014/main" id="{C68EA0E8-BC98-5E73-D09F-8A04C4A6CC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521F52F-3492-4811-AE3E-38A75D7C9746}" type="slidenum">
              <a:rPr lang="en-US" altLang="zh-CN" sz="1200" smtClean="0">
                <a:solidFill>
                  <a:srgbClr val="3366FF"/>
                </a:solidFill>
                <a:latin typeface="Arial Black" panose="020B0A04020102020204" pitchFamily="34" charset="0"/>
              </a:rPr>
              <a:pPr>
                <a:spcBef>
                  <a:spcPct val="0"/>
                </a:spcBef>
                <a:buClrTx/>
                <a:buSzTx/>
                <a:buFontTx/>
                <a:buNone/>
              </a:pPr>
              <a:t>96</a:t>
            </a:fld>
            <a:endParaRPr lang="en-US" altLang="zh-CN" sz="1200">
              <a:solidFill>
                <a:srgbClr val="3366FF"/>
              </a:solidFill>
              <a:latin typeface="Arial Black" panose="020B0A04020102020204" pitchFamily="34" charset="0"/>
            </a:endParaRPr>
          </a:p>
        </p:txBody>
      </p:sp>
      <p:sp>
        <p:nvSpPr>
          <p:cNvPr id="101380" name="日期占位符 5">
            <a:extLst>
              <a:ext uri="{FF2B5EF4-FFF2-40B4-BE49-F238E27FC236}">
                <a16:creationId xmlns:a16="http://schemas.microsoft.com/office/drawing/2014/main" id="{8DBC6618-74D9-EEB6-FB69-59D09AF9A8E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6378B65-A690-40B2-A8A7-2829511BA5F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1381" name="Rectangle 2">
            <a:extLst>
              <a:ext uri="{FF2B5EF4-FFF2-40B4-BE49-F238E27FC236}">
                <a16:creationId xmlns:a16="http://schemas.microsoft.com/office/drawing/2014/main" id="{C8DEF06C-DB6E-0C33-7858-3356341B11C5}"/>
              </a:ext>
            </a:extLst>
          </p:cNvPr>
          <p:cNvSpPr>
            <a:spLocks noGrp="1" noChangeArrowheads="1"/>
          </p:cNvSpPr>
          <p:nvPr>
            <p:ph type="title"/>
          </p:nvPr>
        </p:nvSpPr>
        <p:spPr>
          <a:xfrm>
            <a:off x="457200" y="692150"/>
            <a:ext cx="8229600" cy="668338"/>
          </a:xfrm>
        </p:spPr>
        <p:txBody>
          <a:bodyPr/>
          <a:lstStyle/>
          <a:p>
            <a:pPr eaLnBrk="1" hangingPunct="1"/>
            <a:r>
              <a:rPr lang="zh-CN" altLang="en-US" sz="4000"/>
              <a:t>补充：</a:t>
            </a:r>
            <a:r>
              <a:rPr lang="en-US" altLang="zh-CN" sz="4000"/>
              <a:t>4 --- </a:t>
            </a:r>
            <a:r>
              <a:rPr lang="zh-CN" altLang="en-US" sz="4000"/>
              <a:t>任务的可调度性分析</a:t>
            </a:r>
          </a:p>
        </p:txBody>
      </p:sp>
      <p:sp>
        <p:nvSpPr>
          <p:cNvPr id="101382" name="Text Box 4">
            <a:extLst>
              <a:ext uri="{FF2B5EF4-FFF2-40B4-BE49-F238E27FC236}">
                <a16:creationId xmlns:a16="http://schemas.microsoft.com/office/drawing/2014/main" id="{8C49931E-21F0-D77C-1010-16661A6E1DE5}"/>
              </a:ext>
            </a:extLst>
          </p:cNvPr>
          <p:cNvSpPr txBox="1">
            <a:spLocks noChangeArrowheads="1"/>
          </p:cNvSpPr>
          <p:nvPr/>
        </p:nvSpPr>
        <p:spPr bwMode="auto">
          <a:xfrm>
            <a:off x="611188" y="3011488"/>
            <a:ext cx="82804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所有任务都是周期性的。</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各个任务相互独立，功能间的逻辑关系通过</a:t>
            </a:r>
            <a:r>
              <a:rPr lang="zh-CN" altLang="en-US" sz="2400">
                <a:solidFill>
                  <a:srgbClr val="CC0000"/>
                </a:solidFill>
                <a:latin typeface="Arial Narrow" panose="020B0606020202030204" pitchFamily="34" charset="0"/>
              </a:rPr>
              <a:t>任务通信机制</a:t>
            </a:r>
            <a:r>
              <a:rPr lang="zh-CN" altLang="en-US" sz="2400">
                <a:latin typeface="Arial Narrow" panose="020B0606020202030204" pitchFamily="34" charset="0"/>
              </a:rPr>
              <a:t>完成。</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每个任务都能在下一个首期开始前，完成本次规定的操作。</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每个任务执行的时间是固定的。</a:t>
            </a:r>
          </a:p>
        </p:txBody>
      </p:sp>
      <p:sp>
        <p:nvSpPr>
          <p:cNvPr id="101383" name="Text Box 8">
            <a:extLst>
              <a:ext uri="{FF2B5EF4-FFF2-40B4-BE49-F238E27FC236}">
                <a16:creationId xmlns:a16="http://schemas.microsoft.com/office/drawing/2014/main" id="{C3FF69DD-0991-31C6-C9A9-F8E55352A3A5}"/>
              </a:ext>
            </a:extLst>
          </p:cNvPr>
          <p:cNvSpPr txBox="1">
            <a:spLocks noChangeArrowheads="1"/>
          </p:cNvSpPr>
          <p:nvPr/>
        </p:nvSpPr>
        <p:spPr bwMode="auto">
          <a:xfrm>
            <a:off x="468313" y="1762125"/>
            <a:ext cx="81359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25475">
              <a:spcBef>
                <a:spcPct val="20000"/>
              </a:spcBef>
              <a:buClr>
                <a:schemeClr val="bg2"/>
              </a:buClr>
              <a:buSzPct val="75000"/>
              <a:buFont typeface="Wingdings" panose="05000000000000000000" pitchFamily="2" charset="2"/>
              <a:buChar char="n"/>
              <a:tabLst>
                <a:tab pos="6254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6254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6254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solidFill>
                  <a:srgbClr val="080808"/>
                </a:solidFill>
              </a:rPr>
              <a:t>速率单调分析（</a:t>
            </a:r>
            <a:r>
              <a:rPr lang="en-US" altLang="zh-CN" sz="2800">
                <a:solidFill>
                  <a:srgbClr val="080808"/>
                </a:solidFill>
              </a:rPr>
              <a:t>RMA</a:t>
            </a:r>
            <a:r>
              <a:rPr lang="zh-CN" altLang="en-US" sz="2800">
                <a:solidFill>
                  <a:srgbClr val="080808"/>
                </a:solidFill>
              </a:rPr>
              <a:t>）是普遍的分析方法，该分析方法基于以下假设：</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3">
            <a:extLst>
              <a:ext uri="{FF2B5EF4-FFF2-40B4-BE49-F238E27FC236}">
                <a16:creationId xmlns:a16="http://schemas.microsoft.com/office/drawing/2014/main" id="{141E8CA2-9DA2-1DA0-C034-920FA9F4E44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2403" name="灯片编号占位符 4">
            <a:extLst>
              <a:ext uri="{FF2B5EF4-FFF2-40B4-BE49-F238E27FC236}">
                <a16:creationId xmlns:a16="http://schemas.microsoft.com/office/drawing/2014/main" id="{72C93BBB-6998-26D0-CD61-4401A29A8E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6F19C55-ECD3-47E4-BE5B-8F2F88EF9889}" type="slidenum">
              <a:rPr lang="en-US" altLang="zh-CN" sz="1200" smtClean="0">
                <a:solidFill>
                  <a:srgbClr val="3366FF"/>
                </a:solidFill>
                <a:latin typeface="Arial Black" panose="020B0A04020102020204" pitchFamily="34" charset="0"/>
              </a:rPr>
              <a:pPr>
                <a:spcBef>
                  <a:spcPct val="0"/>
                </a:spcBef>
                <a:buClrTx/>
                <a:buSzTx/>
                <a:buFontTx/>
                <a:buNone/>
              </a:pPr>
              <a:t>97</a:t>
            </a:fld>
            <a:endParaRPr lang="en-US" altLang="zh-CN" sz="1200">
              <a:solidFill>
                <a:srgbClr val="3366FF"/>
              </a:solidFill>
              <a:latin typeface="Arial Black" panose="020B0A04020102020204" pitchFamily="34" charset="0"/>
            </a:endParaRPr>
          </a:p>
        </p:txBody>
      </p:sp>
      <p:sp>
        <p:nvSpPr>
          <p:cNvPr id="102404" name="日期占位符 5">
            <a:extLst>
              <a:ext uri="{FF2B5EF4-FFF2-40B4-BE49-F238E27FC236}">
                <a16:creationId xmlns:a16="http://schemas.microsoft.com/office/drawing/2014/main" id="{0DE3BF1D-6573-69A4-4E34-2637A4D3670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CECA527-AC2C-4748-8D3A-974C8DDDF64F}"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2405" name="Rectangle 2">
            <a:extLst>
              <a:ext uri="{FF2B5EF4-FFF2-40B4-BE49-F238E27FC236}">
                <a16:creationId xmlns:a16="http://schemas.microsoft.com/office/drawing/2014/main" id="{DE1462A3-61B0-6F86-EE86-EAD2E69D4F57}"/>
              </a:ext>
            </a:extLst>
          </p:cNvPr>
          <p:cNvSpPr>
            <a:spLocks noGrp="1" noChangeArrowheads="1"/>
          </p:cNvSpPr>
          <p:nvPr>
            <p:ph type="title"/>
          </p:nvPr>
        </p:nvSpPr>
        <p:spPr>
          <a:xfrm>
            <a:off x="457200" y="692150"/>
            <a:ext cx="8229600" cy="668338"/>
          </a:xfrm>
        </p:spPr>
        <p:txBody>
          <a:bodyPr/>
          <a:lstStyle/>
          <a:p>
            <a:pPr eaLnBrk="1" hangingPunct="1"/>
            <a:r>
              <a:rPr lang="zh-CN" altLang="en-US" sz="4000">
                <a:solidFill>
                  <a:srgbClr val="080808"/>
                </a:solidFill>
              </a:rPr>
              <a:t>补充：</a:t>
            </a:r>
            <a:r>
              <a:rPr lang="en-US" altLang="zh-CN" sz="4000">
                <a:solidFill>
                  <a:srgbClr val="080808"/>
                </a:solidFill>
              </a:rPr>
              <a:t>4 --- </a:t>
            </a:r>
            <a:r>
              <a:rPr lang="zh-CN" altLang="en-US" sz="4000">
                <a:solidFill>
                  <a:srgbClr val="080808"/>
                </a:solidFill>
              </a:rPr>
              <a:t>任务的可调度性分析</a:t>
            </a:r>
          </a:p>
        </p:txBody>
      </p:sp>
      <p:sp>
        <p:nvSpPr>
          <p:cNvPr id="102406" name="Text Box 3">
            <a:extLst>
              <a:ext uri="{FF2B5EF4-FFF2-40B4-BE49-F238E27FC236}">
                <a16:creationId xmlns:a16="http://schemas.microsoft.com/office/drawing/2014/main" id="{4736290B-7566-DD6D-983B-66BB81898003}"/>
              </a:ext>
            </a:extLst>
          </p:cNvPr>
          <p:cNvSpPr txBox="1">
            <a:spLocks noChangeArrowheads="1"/>
          </p:cNvSpPr>
          <p:nvPr/>
        </p:nvSpPr>
        <p:spPr bwMode="auto">
          <a:xfrm>
            <a:off x="1908175" y="4437063"/>
            <a:ext cx="6121400"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0000"/>
              </a:spcBef>
              <a:buClr>
                <a:srgbClr val="F66C04"/>
              </a:buClr>
              <a:buSzPct val="55000"/>
              <a:buFont typeface="Wingdings" panose="05000000000000000000" pitchFamily="2" charset="2"/>
              <a:buChar char="Ø"/>
            </a:pPr>
            <a:r>
              <a:rPr lang="en-US" altLang="zh-CN" sz="2400">
                <a:latin typeface="Arial Narrow" panose="020B0606020202030204" pitchFamily="34" charset="0"/>
              </a:rPr>
              <a:t>n --- </a:t>
            </a:r>
            <a:r>
              <a:rPr lang="zh-CN" altLang="en-US" sz="2400">
                <a:latin typeface="Arial Narrow" panose="020B0606020202030204" pitchFamily="34" charset="0"/>
              </a:rPr>
              <a:t>任务的总个数；</a:t>
            </a:r>
          </a:p>
          <a:p>
            <a:pPr eaLnBrk="1" hangingPunct="1">
              <a:lnSpc>
                <a:spcPct val="105000"/>
              </a:lnSpc>
              <a:spcBef>
                <a:spcPct val="10000"/>
              </a:spcBef>
              <a:buClr>
                <a:srgbClr val="F66C04"/>
              </a:buClr>
              <a:buSzPct val="55000"/>
              <a:buFont typeface="Wingdings" panose="05000000000000000000" pitchFamily="2" charset="2"/>
              <a:buChar char="Ø"/>
            </a:pPr>
            <a:r>
              <a:rPr lang="en-US" altLang="zh-CN" sz="2400">
                <a:latin typeface="Arial Narrow" panose="020B0606020202030204" pitchFamily="34" charset="0"/>
              </a:rPr>
              <a:t>Ci --- Task_i </a:t>
            </a:r>
            <a:r>
              <a:rPr lang="zh-CN" altLang="en-US" sz="2400">
                <a:latin typeface="Arial Narrow" panose="020B0606020202030204" pitchFamily="34" charset="0"/>
              </a:rPr>
              <a:t>执行一次的时间；</a:t>
            </a:r>
          </a:p>
          <a:p>
            <a:pPr eaLnBrk="1" hangingPunct="1">
              <a:lnSpc>
                <a:spcPct val="105000"/>
              </a:lnSpc>
              <a:spcBef>
                <a:spcPct val="10000"/>
              </a:spcBef>
              <a:buClr>
                <a:srgbClr val="F66C04"/>
              </a:buClr>
              <a:buSzPct val="55000"/>
              <a:buFont typeface="Wingdings" panose="05000000000000000000" pitchFamily="2" charset="2"/>
              <a:buChar char="Ø"/>
            </a:pPr>
            <a:r>
              <a:rPr lang="en-US" altLang="zh-CN" sz="2400">
                <a:latin typeface="Arial Narrow" panose="020B0606020202030204" pitchFamily="34" charset="0"/>
              </a:rPr>
              <a:t>Ti --- Task_i </a:t>
            </a:r>
            <a:r>
              <a:rPr lang="zh-CN" altLang="en-US" sz="2400">
                <a:latin typeface="Arial Narrow" panose="020B0606020202030204" pitchFamily="34" charset="0"/>
              </a:rPr>
              <a:t>的周期；</a:t>
            </a:r>
          </a:p>
          <a:p>
            <a:pPr eaLnBrk="1" hangingPunct="1">
              <a:lnSpc>
                <a:spcPct val="105000"/>
              </a:lnSpc>
              <a:spcBef>
                <a:spcPct val="10000"/>
              </a:spcBef>
              <a:buClr>
                <a:srgbClr val="F66C04"/>
              </a:buClr>
              <a:buSzPct val="55000"/>
              <a:buFont typeface="Wingdings" panose="05000000000000000000" pitchFamily="2" charset="2"/>
              <a:buChar char="Ø"/>
            </a:pPr>
            <a:r>
              <a:rPr lang="en-US" altLang="zh-CN" sz="2400">
                <a:latin typeface="Arial Narrow" panose="020B0606020202030204" pitchFamily="34" charset="0"/>
              </a:rPr>
              <a:t>U(n) --- </a:t>
            </a:r>
            <a:r>
              <a:rPr lang="zh-CN" altLang="en-US" sz="2400">
                <a:latin typeface="Arial Narrow" panose="020B0606020202030204" pitchFamily="34" charset="0"/>
              </a:rPr>
              <a:t>用户可使用的 </a:t>
            </a:r>
            <a:r>
              <a:rPr lang="en-US" altLang="zh-CN" sz="2400">
                <a:latin typeface="Arial Narrow" panose="020B0606020202030204" pitchFamily="34" charset="0"/>
              </a:rPr>
              <a:t>CPU </a:t>
            </a:r>
            <a:r>
              <a:rPr lang="zh-CN" altLang="en-US" sz="2400">
                <a:latin typeface="Arial Narrow" panose="020B0606020202030204" pitchFamily="34" charset="0"/>
              </a:rPr>
              <a:t>使用系数上限。</a:t>
            </a:r>
          </a:p>
        </p:txBody>
      </p:sp>
      <p:sp>
        <p:nvSpPr>
          <p:cNvPr id="102407" name="Text Box 4">
            <a:extLst>
              <a:ext uri="{FF2B5EF4-FFF2-40B4-BE49-F238E27FC236}">
                <a16:creationId xmlns:a16="http://schemas.microsoft.com/office/drawing/2014/main" id="{D9C65962-B2DE-319E-B92C-9E127D93CFE4}"/>
              </a:ext>
            </a:extLst>
          </p:cNvPr>
          <p:cNvSpPr txBox="1">
            <a:spLocks noChangeArrowheads="1"/>
          </p:cNvSpPr>
          <p:nvPr/>
        </p:nvSpPr>
        <p:spPr bwMode="auto">
          <a:xfrm>
            <a:off x="468313" y="1762125"/>
            <a:ext cx="8135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25475">
              <a:spcBef>
                <a:spcPct val="20000"/>
              </a:spcBef>
              <a:buClr>
                <a:schemeClr val="bg2"/>
              </a:buClr>
              <a:buSzPct val="75000"/>
              <a:buFont typeface="Wingdings" panose="05000000000000000000" pitchFamily="2" charset="2"/>
              <a:buChar char="n"/>
              <a:tabLst>
                <a:tab pos="6254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6254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6254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solidFill>
                  <a:srgbClr val="080808"/>
                </a:solidFill>
                <a:latin typeface="Arial Narrow" panose="020B0606020202030204" pitchFamily="34" charset="0"/>
              </a:rPr>
              <a:t>速率单调分析（</a:t>
            </a:r>
            <a:r>
              <a:rPr lang="en-US" altLang="zh-CN" sz="2800">
                <a:solidFill>
                  <a:srgbClr val="080808"/>
                </a:solidFill>
                <a:latin typeface="Arial Narrow" panose="020B0606020202030204" pitchFamily="34" charset="0"/>
              </a:rPr>
              <a:t>RMA</a:t>
            </a:r>
            <a:r>
              <a:rPr lang="zh-CN" altLang="en-US" sz="2800">
                <a:solidFill>
                  <a:srgbClr val="080808"/>
                </a:solidFill>
                <a:latin typeface="Arial Narrow" panose="020B0606020202030204" pitchFamily="34" charset="0"/>
              </a:rPr>
              <a:t>）分析公式：</a:t>
            </a:r>
          </a:p>
        </p:txBody>
      </p:sp>
      <p:sp>
        <p:nvSpPr>
          <p:cNvPr id="102408" name="Rectangle 6">
            <a:extLst>
              <a:ext uri="{FF2B5EF4-FFF2-40B4-BE49-F238E27FC236}">
                <a16:creationId xmlns:a16="http://schemas.microsoft.com/office/drawing/2014/main" id="{F639EAE2-E5AE-D3CB-3F5A-1FEFA0EF6819}"/>
              </a:ext>
            </a:extLst>
          </p:cNvPr>
          <p:cNvSpPr>
            <a:spLocks noChangeArrowheads="1"/>
          </p:cNvSpPr>
          <p:nvPr/>
        </p:nvSpPr>
        <p:spPr bwMode="auto">
          <a:xfrm>
            <a:off x="0" y="2990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102409" name="Object 5">
            <a:extLst>
              <a:ext uri="{FF2B5EF4-FFF2-40B4-BE49-F238E27FC236}">
                <a16:creationId xmlns:a16="http://schemas.microsoft.com/office/drawing/2014/main" id="{BF70B67A-0B4B-2D2E-03FF-F39CCD7F81FC}"/>
              </a:ext>
            </a:extLst>
          </p:cNvPr>
          <p:cNvGraphicFramePr>
            <a:graphicFrameLocks noChangeAspect="1"/>
          </p:cNvGraphicFramePr>
          <p:nvPr/>
        </p:nvGraphicFramePr>
        <p:xfrm>
          <a:off x="1331913" y="2563813"/>
          <a:ext cx="6480175" cy="1152525"/>
        </p:xfrm>
        <a:graphic>
          <a:graphicData uri="http://schemas.openxmlformats.org/presentationml/2006/ole">
            <mc:AlternateContent xmlns:mc="http://schemas.openxmlformats.org/markup-compatibility/2006">
              <mc:Choice xmlns:v="urn:schemas-microsoft-com:vml" Requires="v">
                <p:oleObj name="公式" r:id="rId2" imgW="1587500" imgH="381000" progId="Equation.3">
                  <p:embed/>
                </p:oleObj>
              </mc:Choice>
              <mc:Fallback>
                <p:oleObj name="公式" r:id="rId2" imgW="1587500" imgH="3810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563813"/>
                        <a:ext cx="6480175" cy="115252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10" name="Text Box 7">
            <a:extLst>
              <a:ext uri="{FF2B5EF4-FFF2-40B4-BE49-F238E27FC236}">
                <a16:creationId xmlns:a16="http://schemas.microsoft.com/office/drawing/2014/main" id="{FDD02177-600F-5C84-A41D-1F1AF29D228D}"/>
              </a:ext>
            </a:extLst>
          </p:cNvPr>
          <p:cNvSpPr txBox="1">
            <a:spLocks noChangeArrowheads="1"/>
          </p:cNvSpPr>
          <p:nvPr/>
        </p:nvSpPr>
        <p:spPr bwMode="auto">
          <a:xfrm>
            <a:off x="1258888" y="393382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公式参数说明：</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页脚占位符 3">
            <a:extLst>
              <a:ext uri="{FF2B5EF4-FFF2-40B4-BE49-F238E27FC236}">
                <a16:creationId xmlns:a16="http://schemas.microsoft.com/office/drawing/2014/main" id="{69666090-794B-A5F3-E8ED-AA0BFCB803F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3427" name="灯片编号占位符 4">
            <a:extLst>
              <a:ext uri="{FF2B5EF4-FFF2-40B4-BE49-F238E27FC236}">
                <a16:creationId xmlns:a16="http://schemas.microsoft.com/office/drawing/2014/main" id="{89124D6B-7731-38D6-9366-96817629556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D579D3E-D279-4AD3-A918-C77508540F60}" type="slidenum">
              <a:rPr lang="en-US" altLang="zh-CN" sz="1200" smtClean="0">
                <a:solidFill>
                  <a:srgbClr val="3366FF"/>
                </a:solidFill>
                <a:latin typeface="Arial Black" panose="020B0A04020102020204" pitchFamily="34" charset="0"/>
              </a:rPr>
              <a:pPr>
                <a:spcBef>
                  <a:spcPct val="0"/>
                </a:spcBef>
                <a:buClrTx/>
                <a:buSzTx/>
                <a:buFontTx/>
                <a:buNone/>
              </a:pPr>
              <a:t>98</a:t>
            </a:fld>
            <a:endParaRPr lang="en-US" altLang="zh-CN" sz="1200">
              <a:solidFill>
                <a:srgbClr val="3366FF"/>
              </a:solidFill>
              <a:latin typeface="Arial Black" panose="020B0A04020102020204" pitchFamily="34" charset="0"/>
            </a:endParaRPr>
          </a:p>
        </p:txBody>
      </p:sp>
      <p:sp>
        <p:nvSpPr>
          <p:cNvPr id="103428" name="日期占位符 5">
            <a:extLst>
              <a:ext uri="{FF2B5EF4-FFF2-40B4-BE49-F238E27FC236}">
                <a16:creationId xmlns:a16="http://schemas.microsoft.com/office/drawing/2014/main" id="{6421C629-7980-A334-3569-3A5D4EC47F4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DAA36D8-19DE-4143-AC6B-C8BED3038114}"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3429" name="Rectangle 2">
            <a:extLst>
              <a:ext uri="{FF2B5EF4-FFF2-40B4-BE49-F238E27FC236}">
                <a16:creationId xmlns:a16="http://schemas.microsoft.com/office/drawing/2014/main" id="{6D40D3CC-5553-1937-ADE3-E4270B025F86}"/>
              </a:ext>
            </a:extLst>
          </p:cNvPr>
          <p:cNvSpPr>
            <a:spLocks noGrp="1" noChangeArrowheads="1"/>
          </p:cNvSpPr>
          <p:nvPr>
            <p:ph type="title"/>
          </p:nvPr>
        </p:nvSpPr>
        <p:spPr>
          <a:xfrm>
            <a:off x="457200" y="692150"/>
            <a:ext cx="8229600" cy="668338"/>
          </a:xfrm>
        </p:spPr>
        <p:txBody>
          <a:bodyPr/>
          <a:lstStyle/>
          <a:p>
            <a:pPr eaLnBrk="1" hangingPunct="1"/>
            <a:r>
              <a:rPr lang="zh-CN" altLang="en-US" sz="4000">
                <a:solidFill>
                  <a:srgbClr val="080808"/>
                </a:solidFill>
              </a:rPr>
              <a:t>补充：</a:t>
            </a:r>
            <a:r>
              <a:rPr lang="en-US" altLang="zh-CN" sz="4000">
                <a:solidFill>
                  <a:srgbClr val="080808"/>
                </a:solidFill>
              </a:rPr>
              <a:t>4 --- </a:t>
            </a:r>
            <a:r>
              <a:rPr lang="zh-CN" altLang="en-US" sz="4000">
                <a:solidFill>
                  <a:srgbClr val="080808"/>
                </a:solidFill>
              </a:rPr>
              <a:t>任务的可调度性分析</a:t>
            </a:r>
          </a:p>
        </p:txBody>
      </p:sp>
      <p:sp>
        <p:nvSpPr>
          <p:cNvPr id="128004" name="Text Box 4">
            <a:extLst>
              <a:ext uri="{FF2B5EF4-FFF2-40B4-BE49-F238E27FC236}">
                <a16:creationId xmlns:a16="http://schemas.microsoft.com/office/drawing/2014/main" id="{7560B01C-5FEF-3899-4177-F43A78884B43}"/>
              </a:ext>
            </a:extLst>
          </p:cNvPr>
          <p:cNvSpPr txBox="1">
            <a:spLocks noChangeArrowheads="1"/>
          </p:cNvSpPr>
          <p:nvPr/>
        </p:nvSpPr>
        <p:spPr bwMode="auto">
          <a:xfrm>
            <a:off x="468313" y="1762125"/>
            <a:ext cx="81359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6575">
              <a:spcBef>
                <a:spcPct val="20000"/>
              </a:spcBef>
              <a:buClr>
                <a:schemeClr val="bg2"/>
              </a:buClr>
              <a:buSzPct val="75000"/>
              <a:buFont typeface="Wingdings" panose="05000000000000000000" pitchFamily="2" charset="2"/>
              <a:buChar char="n"/>
              <a:tabLst>
                <a:tab pos="625475"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tabLst>
                <a:tab pos="625475"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tabLst>
                <a:tab pos="625475"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tabLst>
                <a:tab pos="625475"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0">
                <a:solidFill>
                  <a:srgbClr val="080808"/>
                </a:solidFill>
              </a:rPr>
              <a:t>随着任务数的增多（</a:t>
            </a:r>
            <a:r>
              <a:rPr lang="en-US" altLang="zh-CN" sz="2800" b="0">
                <a:solidFill>
                  <a:srgbClr val="080808"/>
                </a:solidFill>
              </a:rPr>
              <a:t>n </a:t>
            </a:r>
            <a:r>
              <a:rPr lang="zh-CN" altLang="en-US" sz="2800" b="0">
                <a:solidFill>
                  <a:srgbClr val="080808"/>
                </a:solidFill>
              </a:rPr>
              <a:t>变大），</a:t>
            </a:r>
            <a:r>
              <a:rPr lang="en-US" altLang="zh-CN" sz="2800" b="0">
                <a:solidFill>
                  <a:srgbClr val="080808"/>
                </a:solidFill>
              </a:rPr>
              <a:t>U(n)</a:t>
            </a:r>
            <a:r>
              <a:rPr lang="zh-CN" altLang="en-US" sz="2800" b="0">
                <a:solidFill>
                  <a:srgbClr val="080808"/>
                </a:solidFill>
              </a:rPr>
              <a:t>在下降，这是因为系统开销在增大。</a:t>
            </a:r>
          </a:p>
        </p:txBody>
      </p:sp>
      <p:sp>
        <p:nvSpPr>
          <p:cNvPr id="103431" name="Rectangle 5">
            <a:extLst>
              <a:ext uri="{FF2B5EF4-FFF2-40B4-BE49-F238E27FC236}">
                <a16:creationId xmlns:a16="http://schemas.microsoft.com/office/drawing/2014/main" id="{1335C2B8-CE97-58D1-D279-F860E6E40B35}"/>
              </a:ext>
            </a:extLst>
          </p:cNvPr>
          <p:cNvSpPr>
            <a:spLocks noChangeArrowheads="1"/>
          </p:cNvSpPr>
          <p:nvPr/>
        </p:nvSpPr>
        <p:spPr bwMode="auto">
          <a:xfrm>
            <a:off x="0" y="2990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3432" name="Rectangle 8">
            <a:extLst>
              <a:ext uri="{FF2B5EF4-FFF2-40B4-BE49-F238E27FC236}">
                <a16:creationId xmlns:a16="http://schemas.microsoft.com/office/drawing/2014/main" id="{38B4258E-8F8F-2E07-4A41-0526B7C55DC0}"/>
              </a:ext>
            </a:extLst>
          </p:cNvPr>
          <p:cNvSpPr>
            <a:spLocks noChangeArrowheads="1"/>
          </p:cNvSpPr>
          <p:nvPr/>
        </p:nvSpPr>
        <p:spPr bwMode="auto">
          <a:xfrm>
            <a:off x="942975" y="3124200"/>
            <a:ext cx="5037138" cy="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3433" name="Rectangle 107">
            <a:extLst>
              <a:ext uri="{FF2B5EF4-FFF2-40B4-BE49-F238E27FC236}">
                <a16:creationId xmlns:a16="http://schemas.microsoft.com/office/drawing/2014/main" id="{1CB8C14C-9D9C-8A6E-4E8A-9641F9649898}"/>
              </a:ext>
            </a:extLst>
          </p:cNvPr>
          <p:cNvSpPr>
            <a:spLocks noChangeArrowheads="1"/>
          </p:cNvSpPr>
          <p:nvPr/>
        </p:nvSpPr>
        <p:spPr bwMode="auto">
          <a:xfrm>
            <a:off x="942975" y="3124200"/>
            <a:ext cx="5037138" cy="0"/>
          </a:xfrm>
          <a:prstGeom prst="rect">
            <a:avLst/>
          </a:prstGeom>
          <a:solidFill>
            <a:srgbClr val="E6E6E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128205" name="Group 205">
            <a:extLst>
              <a:ext uri="{FF2B5EF4-FFF2-40B4-BE49-F238E27FC236}">
                <a16:creationId xmlns:a16="http://schemas.microsoft.com/office/drawing/2014/main" id="{43AA8D92-7C81-793D-F467-7CAB82376760}"/>
              </a:ext>
            </a:extLst>
          </p:cNvPr>
          <p:cNvGraphicFramePr>
            <a:graphicFrameLocks noGrp="1"/>
          </p:cNvGraphicFramePr>
          <p:nvPr/>
        </p:nvGraphicFramePr>
        <p:xfrm>
          <a:off x="1042988" y="2997200"/>
          <a:ext cx="7158037" cy="1008063"/>
        </p:xfrm>
        <a:graphic>
          <a:graphicData uri="http://schemas.openxmlformats.org/drawingml/2006/table">
            <a:tbl>
              <a:tblPr/>
              <a:tblGrid>
                <a:gridCol w="852487">
                  <a:extLst>
                    <a:ext uri="{9D8B030D-6E8A-4147-A177-3AD203B41FA5}">
                      <a16:colId xmlns:a16="http://schemas.microsoft.com/office/drawing/2014/main" val="20000"/>
                    </a:ext>
                  </a:extLst>
                </a:gridCol>
                <a:gridCol w="900113">
                  <a:extLst>
                    <a:ext uri="{9D8B030D-6E8A-4147-A177-3AD203B41FA5}">
                      <a16:colId xmlns:a16="http://schemas.microsoft.com/office/drawing/2014/main" val="20001"/>
                    </a:ext>
                  </a:extLst>
                </a:gridCol>
                <a:gridCol w="901700">
                  <a:extLst>
                    <a:ext uri="{9D8B030D-6E8A-4147-A177-3AD203B41FA5}">
                      <a16:colId xmlns:a16="http://schemas.microsoft.com/office/drawing/2014/main" val="20002"/>
                    </a:ext>
                  </a:extLst>
                </a:gridCol>
                <a:gridCol w="900112">
                  <a:extLst>
                    <a:ext uri="{9D8B030D-6E8A-4147-A177-3AD203B41FA5}">
                      <a16:colId xmlns:a16="http://schemas.microsoft.com/office/drawing/2014/main" val="20003"/>
                    </a:ext>
                  </a:extLst>
                </a:gridCol>
                <a:gridCol w="901700">
                  <a:extLst>
                    <a:ext uri="{9D8B030D-6E8A-4147-A177-3AD203B41FA5}">
                      <a16:colId xmlns:a16="http://schemas.microsoft.com/office/drawing/2014/main" val="20004"/>
                    </a:ext>
                  </a:extLst>
                </a:gridCol>
                <a:gridCol w="900113">
                  <a:extLst>
                    <a:ext uri="{9D8B030D-6E8A-4147-A177-3AD203B41FA5}">
                      <a16:colId xmlns:a16="http://schemas.microsoft.com/office/drawing/2014/main" val="20005"/>
                    </a:ext>
                  </a:extLst>
                </a:gridCol>
                <a:gridCol w="901700">
                  <a:extLst>
                    <a:ext uri="{9D8B030D-6E8A-4147-A177-3AD203B41FA5}">
                      <a16:colId xmlns:a16="http://schemas.microsoft.com/office/drawing/2014/main" val="20006"/>
                    </a:ext>
                  </a:extLst>
                </a:gridCol>
                <a:gridCol w="900112">
                  <a:extLst>
                    <a:ext uri="{9D8B030D-6E8A-4147-A177-3AD203B41FA5}">
                      <a16:colId xmlns:a16="http://schemas.microsoft.com/office/drawing/2014/main" val="20007"/>
                    </a:ext>
                  </a:extLst>
                </a:gridCol>
              </a:tblGrid>
              <a:tr h="5048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n</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1</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2</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3</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4</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5</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Arial" panose="020B0604020202020204" pitchFamily="34" charset="0"/>
                          <a:ea typeface="Angsana New" pitchFamily="18" charset="-120"/>
                          <a:cs typeface="Angsana New" pitchFamily="18" charset="-120"/>
                        </a:rPr>
                        <a:t>…</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0"/>
                  </a:ext>
                </a:extLst>
              </a:tr>
              <a:tr h="5032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U(n)</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1.000</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0.828</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0.779</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0.756</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0.743</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Arial" panose="020B0604020202020204" pitchFamily="34" charset="0"/>
                          <a:ea typeface="Angsana New" pitchFamily="18" charset="-120"/>
                          <a:cs typeface="Angsana New" pitchFamily="18" charset="-120"/>
                        </a:rPr>
                        <a:t>…</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Angsana New" pitchFamily="18" charset="-120"/>
                          <a:cs typeface="Angsana New" pitchFamily="18" charset="-120"/>
                        </a:rPr>
                        <a:t>0.693</a:t>
                      </a:r>
                      <a:endPar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1"/>
                  </a:ext>
                </a:extLst>
              </a:tr>
            </a:tbl>
          </a:graphicData>
        </a:graphic>
      </p:graphicFrame>
      <p:sp>
        <p:nvSpPr>
          <p:cNvPr id="128206" name="Text Box 206">
            <a:extLst>
              <a:ext uri="{FF2B5EF4-FFF2-40B4-BE49-F238E27FC236}">
                <a16:creationId xmlns:a16="http://schemas.microsoft.com/office/drawing/2014/main" id="{3D0E3725-01CD-BE28-357F-B92843C691DF}"/>
              </a:ext>
            </a:extLst>
          </p:cNvPr>
          <p:cNvSpPr txBox="1">
            <a:spLocks noChangeArrowheads="1"/>
          </p:cNvSpPr>
          <p:nvPr/>
        </p:nvSpPr>
        <p:spPr bwMode="auto">
          <a:xfrm>
            <a:off x="539750" y="1700213"/>
            <a:ext cx="79930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1700" indent="-901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400">
                <a:latin typeface="Arial Narrow" panose="020B0606020202030204" pitchFamily="34" charset="0"/>
              </a:rPr>
              <a:t>举例：某系统由 </a:t>
            </a:r>
            <a:r>
              <a:rPr lang="en-US" altLang="zh-CN" sz="2400">
                <a:latin typeface="Arial Narrow" panose="020B0606020202030204" pitchFamily="34" charset="0"/>
              </a:rPr>
              <a:t>5</a:t>
            </a:r>
            <a:r>
              <a:rPr lang="zh-CN" altLang="en-US" sz="2400">
                <a:latin typeface="Arial Narrow" panose="020B0606020202030204" pitchFamily="34" charset="0"/>
              </a:rPr>
              <a:t>个用户任务组成，它们的</a:t>
            </a:r>
            <a:r>
              <a:rPr lang="zh-CN" altLang="en-US" sz="2400" u="sng">
                <a:latin typeface="Arial Narrow" panose="020B0606020202030204" pitchFamily="34" charset="0"/>
              </a:rPr>
              <a:t> </a:t>
            </a:r>
            <a:r>
              <a:rPr lang="zh-CN" altLang="en-US" sz="2400" i="1" u="sng">
                <a:solidFill>
                  <a:srgbClr val="F66C04"/>
                </a:solidFill>
                <a:latin typeface="Arial Narrow" panose="020B0606020202030204" pitchFamily="34" charset="0"/>
              </a:rPr>
              <a:t>周期</a:t>
            </a:r>
            <a:r>
              <a:rPr lang="zh-CN" altLang="en-US" sz="2400" i="1" u="sng">
                <a:solidFill>
                  <a:srgbClr val="336699"/>
                </a:solidFill>
                <a:latin typeface="Arial Narrow" panose="020B0606020202030204" pitchFamily="34" charset="0"/>
              </a:rPr>
              <a:t> </a:t>
            </a:r>
            <a:r>
              <a:rPr lang="zh-CN" altLang="en-US" sz="2400">
                <a:latin typeface="Arial Narrow" panose="020B0606020202030204" pitchFamily="34" charset="0"/>
              </a:rPr>
              <a:t>和</a:t>
            </a:r>
            <a:r>
              <a:rPr lang="zh-CN" altLang="en-US" sz="2400" u="sng">
                <a:latin typeface="Arial Narrow" panose="020B0606020202030204" pitchFamily="34" charset="0"/>
              </a:rPr>
              <a:t> </a:t>
            </a:r>
            <a:r>
              <a:rPr lang="zh-CN" altLang="en-US" sz="2400" i="1" u="sng">
                <a:solidFill>
                  <a:srgbClr val="F66C04"/>
                </a:solidFill>
                <a:latin typeface="Arial Narrow" panose="020B0606020202030204" pitchFamily="34" charset="0"/>
              </a:rPr>
              <a:t>最长执行时间</a:t>
            </a:r>
            <a:r>
              <a:rPr lang="zh-CN" altLang="en-US" sz="2400" u="sng">
                <a:latin typeface="Arial Narrow" panose="020B0606020202030204" pitchFamily="34" charset="0"/>
              </a:rPr>
              <a:t> </a:t>
            </a:r>
            <a:r>
              <a:rPr lang="zh-CN" altLang="en-US" sz="2400">
                <a:latin typeface="Arial Narrow" panose="020B0606020202030204" pitchFamily="34" charset="0"/>
              </a:rPr>
              <a:t> 以及 </a:t>
            </a:r>
            <a:r>
              <a:rPr lang="zh-CN" altLang="en-US" sz="2400" i="1" u="sng">
                <a:solidFill>
                  <a:srgbClr val="F66C04"/>
                </a:solidFill>
                <a:latin typeface="Arial Narrow" panose="020B0606020202030204" pitchFamily="34" charset="0"/>
              </a:rPr>
              <a:t>系统性能分析</a:t>
            </a:r>
            <a:r>
              <a:rPr lang="zh-CN" altLang="en-US" sz="2400" u="sng">
                <a:latin typeface="Arial Narrow" panose="020B0606020202030204" pitchFamily="34" charset="0"/>
              </a:rPr>
              <a:t> </a:t>
            </a:r>
            <a:r>
              <a:rPr lang="zh-CN" altLang="en-US" sz="2400">
                <a:latin typeface="Arial Narrow" panose="020B0606020202030204" pitchFamily="34" charset="0"/>
              </a:rPr>
              <a:t>见下表。</a:t>
            </a:r>
          </a:p>
        </p:txBody>
      </p:sp>
      <p:sp>
        <p:nvSpPr>
          <p:cNvPr id="128207" name="Rectangle 207">
            <a:extLst>
              <a:ext uri="{FF2B5EF4-FFF2-40B4-BE49-F238E27FC236}">
                <a16:creationId xmlns:a16="http://schemas.microsoft.com/office/drawing/2014/main" id="{C01F0434-B61C-E168-6EA0-7DEC53C78417}"/>
              </a:ext>
            </a:extLst>
          </p:cNvPr>
          <p:cNvSpPr>
            <a:spLocks noChangeArrowheads="1"/>
          </p:cNvSpPr>
          <p:nvPr/>
        </p:nvSpPr>
        <p:spPr bwMode="auto">
          <a:xfrm>
            <a:off x="1866900" y="2632075"/>
            <a:ext cx="67627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aphicFrame>
        <p:nvGraphicFramePr>
          <p:cNvPr id="128264" name="Group 264">
            <a:extLst>
              <a:ext uri="{FF2B5EF4-FFF2-40B4-BE49-F238E27FC236}">
                <a16:creationId xmlns:a16="http://schemas.microsoft.com/office/drawing/2014/main" id="{D1FCF0FD-2CF3-B138-F988-1D15C3699DEE}"/>
              </a:ext>
            </a:extLst>
          </p:cNvPr>
          <p:cNvGraphicFramePr>
            <a:graphicFrameLocks noGrp="1"/>
          </p:cNvGraphicFramePr>
          <p:nvPr/>
        </p:nvGraphicFramePr>
        <p:xfrm>
          <a:off x="684213" y="2781300"/>
          <a:ext cx="7775575" cy="2430463"/>
        </p:xfrm>
        <a:graphic>
          <a:graphicData uri="http://schemas.openxmlformats.org/drawingml/2006/table">
            <a:tbl>
              <a:tblPr/>
              <a:tblGrid>
                <a:gridCol w="971550">
                  <a:extLst>
                    <a:ext uri="{9D8B030D-6E8A-4147-A177-3AD203B41FA5}">
                      <a16:colId xmlns:a16="http://schemas.microsoft.com/office/drawing/2014/main" val="20000"/>
                    </a:ext>
                  </a:extLst>
                </a:gridCol>
                <a:gridCol w="973137">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971550">
                  <a:extLst>
                    <a:ext uri="{9D8B030D-6E8A-4147-A177-3AD203B41FA5}">
                      <a16:colId xmlns:a16="http://schemas.microsoft.com/office/drawing/2014/main" val="20004"/>
                    </a:ext>
                  </a:extLst>
                </a:gridCol>
                <a:gridCol w="973138">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gridCol w="971550">
                  <a:extLst>
                    <a:ext uri="{9D8B030D-6E8A-4147-A177-3AD203B41FA5}">
                      <a16:colId xmlns:a16="http://schemas.microsoft.com/office/drawing/2014/main" val="20007"/>
                    </a:ext>
                  </a:extLst>
                </a:gridCol>
              </a:tblGrid>
              <a:tr h="719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i</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Ci (ms)</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Ti (ms)</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Ci/Ti</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i</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Ci (ms)</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Ti (ms)</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Ci/Ti</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560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1</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50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0.10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4</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100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0.05</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5762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2</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20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100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0.20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80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500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0.16</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574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cs typeface="Angsana New" pitchFamily="18" charset="-34"/>
                        </a:rPr>
                        <a:t>3</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30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Angsana New" pitchFamily="18" charset="-34"/>
                        </a:rPr>
                        <a:t>150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cs typeface="Angsana New" pitchFamily="18" charset="-34"/>
                        </a:rPr>
                        <a:t>0.20</a:t>
                      </a:r>
                      <a:endParaRPr kumimoji="0" lang="en-US"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3"/>
                  </a:ext>
                </a:extLst>
              </a:tr>
            </a:tbl>
          </a:graphicData>
        </a:graphic>
      </p:graphicFrame>
      <p:grpSp>
        <p:nvGrpSpPr>
          <p:cNvPr id="2" name="Group 257">
            <a:extLst>
              <a:ext uri="{FF2B5EF4-FFF2-40B4-BE49-F238E27FC236}">
                <a16:creationId xmlns:a16="http://schemas.microsoft.com/office/drawing/2014/main" id="{52C9E9A8-55EE-0E5A-661F-B940159F0FF7}"/>
              </a:ext>
            </a:extLst>
          </p:cNvPr>
          <p:cNvGrpSpPr>
            <a:grpSpLocks/>
          </p:cNvGrpSpPr>
          <p:nvPr/>
        </p:nvGrpSpPr>
        <p:grpSpPr bwMode="auto">
          <a:xfrm>
            <a:off x="2065338" y="5516563"/>
            <a:ext cx="6107112" cy="792162"/>
            <a:chOff x="1301" y="3475"/>
            <a:chExt cx="3847" cy="499"/>
          </a:xfrm>
        </p:grpSpPr>
        <p:graphicFrame>
          <p:nvGraphicFramePr>
            <p:cNvPr id="103513" name="Object 255">
              <a:extLst>
                <a:ext uri="{FF2B5EF4-FFF2-40B4-BE49-F238E27FC236}">
                  <a16:creationId xmlns:a16="http://schemas.microsoft.com/office/drawing/2014/main" id="{9CAE29ED-656B-A99F-886E-89D651404C68}"/>
                </a:ext>
              </a:extLst>
            </p:cNvPr>
            <p:cNvGraphicFramePr>
              <a:graphicFrameLocks noChangeAspect="1"/>
            </p:cNvGraphicFramePr>
            <p:nvPr/>
          </p:nvGraphicFramePr>
          <p:xfrm>
            <a:off x="1301" y="3476"/>
            <a:ext cx="1488" cy="498"/>
          </p:xfrm>
          <a:graphic>
            <a:graphicData uri="http://schemas.openxmlformats.org/presentationml/2006/ole">
              <mc:AlternateContent xmlns:mc="http://schemas.openxmlformats.org/markup-compatibility/2006">
                <mc:Choice xmlns:v="urn:schemas-microsoft-com:vml" Requires="v">
                  <p:oleObj name="公式" r:id="rId2" imgW="863225" imgH="342751" progId="Equation.3">
                    <p:embed/>
                  </p:oleObj>
                </mc:Choice>
                <mc:Fallback>
                  <p:oleObj name="公式" r:id="rId2" imgW="863225" imgH="342751" progId="Equation.3">
                    <p:embed/>
                    <p:pic>
                      <p:nvPicPr>
                        <p:cNvPr id="0" name="Object 2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 y="3476"/>
                          <a:ext cx="1488"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514" name="Text Box 256">
              <a:extLst>
                <a:ext uri="{FF2B5EF4-FFF2-40B4-BE49-F238E27FC236}">
                  <a16:creationId xmlns:a16="http://schemas.microsoft.com/office/drawing/2014/main" id="{175679E1-4815-9323-E7CD-8E4E2BDB7678}"/>
                </a:ext>
              </a:extLst>
            </p:cNvPr>
            <p:cNvSpPr txBox="1">
              <a:spLocks noChangeArrowheads="1"/>
            </p:cNvSpPr>
            <p:nvPr/>
          </p:nvSpPr>
          <p:spPr bwMode="auto">
            <a:xfrm>
              <a:off x="2699" y="3475"/>
              <a:ext cx="24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a:t>&lt; U(n) = 74.3%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blinds(horizontal)">
                                      <p:cBhvr>
                                        <p:cTn id="7" dur="500"/>
                                        <p:tgtEl>
                                          <p:spTgt spid="128004"/>
                                        </p:tgtEl>
                                      </p:cBhvr>
                                    </p:animEffect>
                                  </p:childTnLst>
                                  <p:subTnLst>
                                    <p:set>
                                      <p:cBhvr override="childStyle">
                                        <p:cTn dur="1" fill="hold" display="0" masterRel="nextClick" afterEffect="1"/>
                                        <p:tgtEl>
                                          <p:spTgt spid="128004"/>
                                        </p:tgtEl>
                                        <p:attrNameLst>
                                          <p:attrName>style.visibility</p:attrName>
                                        </p:attrNameLst>
                                      </p:cBhvr>
                                      <p:to>
                                        <p:strVal val="hidden"/>
                                      </p:to>
                                    </p:set>
                                  </p:subTnLst>
                                </p:cTn>
                              </p:par>
                              <p:par>
                                <p:cTn id="8" presetID="3" presetClass="entr" presetSubtype="10" fill="hold" nodeType="withEffect">
                                  <p:stCondLst>
                                    <p:cond delay="0"/>
                                  </p:stCondLst>
                                  <p:childTnLst>
                                    <p:set>
                                      <p:cBhvr>
                                        <p:cTn id="9" dur="1" fill="hold">
                                          <p:stCondLst>
                                            <p:cond delay="0"/>
                                          </p:stCondLst>
                                        </p:cTn>
                                        <p:tgtEl>
                                          <p:spTgt spid="128205"/>
                                        </p:tgtEl>
                                        <p:attrNameLst>
                                          <p:attrName>style.visibility</p:attrName>
                                        </p:attrNameLst>
                                      </p:cBhvr>
                                      <p:to>
                                        <p:strVal val="visible"/>
                                      </p:to>
                                    </p:set>
                                    <p:animEffect transition="in" filter="blinds(horizontal)">
                                      <p:cBhvr>
                                        <p:cTn id="10" dur="500"/>
                                        <p:tgtEl>
                                          <p:spTgt spid="128205"/>
                                        </p:tgtEl>
                                      </p:cBhvr>
                                    </p:animEffect>
                                  </p:childTnLst>
                                  <p:subTnLst>
                                    <p:set>
                                      <p:cBhvr override="childStyle">
                                        <p:cTn dur="1" fill="hold" display="0" masterRel="nextClick" afterEffect="1"/>
                                        <p:tgtEl>
                                          <p:spTgt spid="128205"/>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8206"/>
                                        </p:tgtEl>
                                        <p:attrNameLst>
                                          <p:attrName>style.visibility</p:attrName>
                                        </p:attrNameLst>
                                      </p:cBhvr>
                                      <p:to>
                                        <p:strVal val="visible"/>
                                      </p:to>
                                    </p:set>
                                    <p:animEffect transition="in" filter="blinds(horizontal)">
                                      <p:cBhvr>
                                        <p:cTn id="15" dur="500"/>
                                        <p:tgtEl>
                                          <p:spTgt spid="128206"/>
                                        </p:tgtEl>
                                      </p:cBhvr>
                                    </p:animEffect>
                                  </p:childTnLst>
                                </p:cTn>
                              </p:par>
                              <p:par>
                                <p:cTn id="16" presetID="3" presetClass="entr" presetSubtype="10" fill="hold" grpId="0" nodeType="withEffect" nodePh="1">
                                  <p:stCondLst>
                                    <p:cond delay="0"/>
                                  </p:stCondLst>
                                  <p:endCondLst>
                                    <p:cond evt="begin" delay="0">
                                      <p:tn val="16"/>
                                    </p:cond>
                                  </p:endCondLst>
                                  <p:childTnLst>
                                    <p:set>
                                      <p:cBhvr>
                                        <p:cTn id="17" dur="1" fill="hold">
                                          <p:stCondLst>
                                            <p:cond delay="0"/>
                                          </p:stCondLst>
                                        </p:cTn>
                                        <p:tgtEl>
                                          <p:spTgt spid="128207"/>
                                        </p:tgtEl>
                                        <p:attrNameLst>
                                          <p:attrName>style.visibility</p:attrName>
                                        </p:attrNameLst>
                                      </p:cBhvr>
                                      <p:to>
                                        <p:strVal val="visible"/>
                                      </p:to>
                                    </p:set>
                                    <p:animEffect transition="in" filter="blinds(horizontal)">
                                      <p:cBhvr>
                                        <p:cTn id="18" dur="500"/>
                                        <p:tgtEl>
                                          <p:spTgt spid="128207"/>
                                        </p:tgtEl>
                                      </p:cBhvr>
                                    </p:animEffect>
                                  </p:childTnLst>
                                </p:cTn>
                              </p:par>
                              <p:par>
                                <p:cTn id="19" presetID="3" presetClass="entr" presetSubtype="10" fill="hold" nodeType="withEffect">
                                  <p:stCondLst>
                                    <p:cond delay="0"/>
                                  </p:stCondLst>
                                  <p:childTnLst>
                                    <p:set>
                                      <p:cBhvr>
                                        <p:cTn id="20" dur="1" fill="hold">
                                          <p:stCondLst>
                                            <p:cond delay="0"/>
                                          </p:stCondLst>
                                        </p:cTn>
                                        <p:tgtEl>
                                          <p:spTgt spid="128264"/>
                                        </p:tgtEl>
                                        <p:attrNameLst>
                                          <p:attrName>style.visibility</p:attrName>
                                        </p:attrNameLst>
                                      </p:cBhvr>
                                      <p:to>
                                        <p:strVal val="visible"/>
                                      </p:to>
                                    </p:set>
                                    <p:animEffect transition="in" filter="blinds(horizontal)">
                                      <p:cBhvr>
                                        <p:cTn id="21" dur="500"/>
                                        <p:tgtEl>
                                          <p:spTgt spid="12826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p:bldP spid="128206" grpId="0"/>
      <p:bldP spid="12820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4">
            <a:extLst>
              <a:ext uri="{FF2B5EF4-FFF2-40B4-BE49-F238E27FC236}">
                <a16:creationId xmlns:a16="http://schemas.microsoft.com/office/drawing/2014/main" id="{DED197A3-BD31-AC8F-43A2-D7298AC6389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4451" name="灯片编号占位符 5">
            <a:extLst>
              <a:ext uri="{FF2B5EF4-FFF2-40B4-BE49-F238E27FC236}">
                <a16:creationId xmlns:a16="http://schemas.microsoft.com/office/drawing/2014/main" id="{9FF507AC-C1DB-1461-81CE-BEB99110595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5360453-149F-4DA9-9FEF-60F869421946}" type="slidenum">
              <a:rPr lang="en-US" altLang="zh-CN" sz="1200" smtClean="0">
                <a:solidFill>
                  <a:srgbClr val="3366FF"/>
                </a:solidFill>
                <a:latin typeface="Arial Black" panose="020B0A04020102020204" pitchFamily="34" charset="0"/>
              </a:rPr>
              <a:pPr>
                <a:spcBef>
                  <a:spcPct val="0"/>
                </a:spcBef>
                <a:buClrTx/>
                <a:buSzTx/>
                <a:buFontTx/>
                <a:buNone/>
              </a:pPr>
              <a:t>99</a:t>
            </a:fld>
            <a:endParaRPr lang="en-US" altLang="zh-CN" sz="1200">
              <a:solidFill>
                <a:srgbClr val="3366FF"/>
              </a:solidFill>
              <a:latin typeface="Arial Black" panose="020B0A04020102020204" pitchFamily="34" charset="0"/>
            </a:endParaRPr>
          </a:p>
        </p:txBody>
      </p:sp>
      <p:sp>
        <p:nvSpPr>
          <p:cNvPr id="104452" name="日期占位符 6">
            <a:extLst>
              <a:ext uri="{FF2B5EF4-FFF2-40B4-BE49-F238E27FC236}">
                <a16:creationId xmlns:a16="http://schemas.microsoft.com/office/drawing/2014/main" id="{7C7250FB-EEA1-7C26-9DE9-7A7B6505BE1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2B6B597-7AC7-4602-A1CC-888422B0B51F}"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4453" name="Rectangle 2">
            <a:extLst>
              <a:ext uri="{FF2B5EF4-FFF2-40B4-BE49-F238E27FC236}">
                <a16:creationId xmlns:a16="http://schemas.microsoft.com/office/drawing/2014/main" id="{CF451B2A-5801-F0C2-2776-3B2606E718B8}"/>
              </a:ext>
            </a:extLst>
          </p:cNvPr>
          <p:cNvSpPr>
            <a:spLocks noGrp="1" noChangeArrowheads="1"/>
          </p:cNvSpPr>
          <p:nvPr>
            <p:ph type="title"/>
          </p:nvPr>
        </p:nvSpPr>
        <p:spPr/>
        <p:txBody>
          <a:bodyPr/>
          <a:lstStyle/>
          <a:p>
            <a:pPr eaLnBrk="1" hangingPunct="1"/>
            <a:r>
              <a:rPr lang="zh-CN" altLang="en-US" sz="4000">
                <a:solidFill>
                  <a:srgbClr val="080808"/>
                </a:solidFill>
              </a:rPr>
              <a:t>补充：</a:t>
            </a:r>
            <a:r>
              <a:rPr lang="en-US" altLang="zh-CN" sz="4000">
                <a:solidFill>
                  <a:srgbClr val="080808"/>
                </a:solidFill>
              </a:rPr>
              <a:t>4 --- </a:t>
            </a:r>
            <a:r>
              <a:rPr lang="zh-CN" altLang="en-US" sz="4000">
                <a:solidFill>
                  <a:srgbClr val="080808"/>
                </a:solidFill>
              </a:rPr>
              <a:t>任务的可调度性分析</a:t>
            </a:r>
          </a:p>
        </p:txBody>
      </p:sp>
      <p:sp>
        <p:nvSpPr>
          <p:cNvPr id="104454" name="Rectangle 3">
            <a:extLst>
              <a:ext uri="{FF2B5EF4-FFF2-40B4-BE49-F238E27FC236}">
                <a16:creationId xmlns:a16="http://schemas.microsoft.com/office/drawing/2014/main" id="{84B33AB0-CEC6-9000-879E-972339D2328D}"/>
              </a:ext>
            </a:extLst>
          </p:cNvPr>
          <p:cNvSpPr>
            <a:spLocks noGrp="1" noChangeArrowheads="1"/>
          </p:cNvSpPr>
          <p:nvPr>
            <p:ph type="body" sz="half" idx="1"/>
          </p:nvPr>
        </p:nvSpPr>
        <p:spPr>
          <a:xfrm>
            <a:off x="457200" y="1412875"/>
            <a:ext cx="8291513" cy="936625"/>
          </a:xfrm>
        </p:spPr>
        <p:txBody>
          <a:bodyPr/>
          <a:lstStyle/>
          <a:p>
            <a:pPr eaLnBrk="1" hangingPunct="1"/>
            <a:r>
              <a:rPr lang="zh-CN" altLang="en-US" sz="2400"/>
              <a:t>问题</a:t>
            </a:r>
          </a:p>
          <a:p>
            <a:pPr eaLnBrk="1" hangingPunct="1">
              <a:buFont typeface="Wingdings" panose="05000000000000000000" pitchFamily="2" charset="2"/>
              <a:buNone/>
            </a:pPr>
            <a:r>
              <a:rPr lang="zh-CN" altLang="en-US" sz="2400"/>
              <a:t>    如果由于某原因造成 “分析式” 不成立，如何处理？</a:t>
            </a:r>
          </a:p>
        </p:txBody>
      </p:sp>
      <p:graphicFrame>
        <p:nvGraphicFramePr>
          <p:cNvPr id="159798" name="Group 54">
            <a:extLst>
              <a:ext uri="{FF2B5EF4-FFF2-40B4-BE49-F238E27FC236}">
                <a16:creationId xmlns:a16="http://schemas.microsoft.com/office/drawing/2014/main" id="{BD42C984-3BD1-92F2-BF22-2FA17CC79FB6}"/>
              </a:ext>
            </a:extLst>
          </p:cNvPr>
          <p:cNvGraphicFramePr>
            <a:graphicFrameLocks noGrp="1"/>
          </p:cNvGraphicFramePr>
          <p:nvPr>
            <p:ph sz="half" idx="2"/>
          </p:nvPr>
        </p:nvGraphicFramePr>
        <p:xfrm>
          <a:off x="684213" y="2492375"/>
          <a:ext cx="7931150" cy="2160588"/>
        </p:xfrm>
        <a:graphic>
          <a:graphicData uri="http://schemas.openxmlformats.org/drawingml/2006/table">
            <a:tbl>
              <a:tblPr/>
              <a:tblGrid>
                <a:gridCol w="990600">
                  <a:extLst>
                    <a:ext uri="{9D8B030D-6E8A-4147-A177-3AD203B41FA5}">
                      <a16:colId xmlns:a16="http://schemas.microsoft.com/office/drawing/2014/main" val="20000"/>
                    </a:ext>
                  </a:extLst>
                </a:gridCol>
                <a:gridCol w="993775">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993775">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990600">
                  <a:extLst>
                    <a:ext uri="{9D8B030D-6E8A-4147-A177-3AD203B41FA5}">
                      <a16:colId xmlns:a16="http://schemas.microsoft.com/office/drawing/2014/main" val="20007"/>
                    </a:ext>
                  </a:extLst>
                </a:gridCol>
              </a:tblGrid>
              <a:tr h="490538">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i</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Ci (ms)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Ti (ms)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Ci/Ti</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i</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Ci (ms)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Ti (ms)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Ci/Ti</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0"/>
                  </a:ext>
                </a:extLst>
              </a:tr>
              <a:tr h="490538">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1</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50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0.10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100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0.05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603250">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2</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20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100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0.20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80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500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0.16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576263">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Angsana New" pitchFamily="18" charset="-34"/>
                        </a:rPr>
                        <a:t>3</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30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ngsana New" pitchFamily="18" charset="-34"/>
                        </a:rPr>
                        <a:t>150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Angsana New" pitchFamily="18" charset="-34"/>
                        </a:rPr>
                        <a:t>0.20</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10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30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Arial" panose="020B0604020202020204" pitchFamily="34" charset="0"/>
                          <a:ea typeface="宋体" panose="02010600030101010101" pitchFamily="2" charset="-122"/>
                        </a:rPr>
                        <a:t>0.33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3"/>
                  </a:ext>
                </a:extLst>
              </a:tr>
            </a:tbl>
          </a:graphicData>
        </a:graphic>
      </p:graphicFrame>
      <p:sp>
        <p:nvSpPr>
          <p:cNvPr id="159799" name="Text Box 55">
            <a:extLst>
              <a:ext uri="{FF2B5EF4-FFF2-40B4-BE49-F238E27FC236}">
                <a16:creationId xmlns:a16="http://schemas.microsoft.com/office/drawing/2014/main" id="{A7F17B75-0C25-7F49-52AD-CD3B2F0F3BB7}"/>
              </a:ext>
            </a:extLst>
          </p:cNvPr>
          <p:cNvSpPr txBox="1">
            <a:spLocks noChangeArrowheads="1"/>
          </p:cNvSpPr>
          <p:nvPr/>
        </p:nvSpPr>
        <p:spPr bwMode="auto">
          <a:xfrm>
            <a:off x="611188" y="4868863"/>
            <a:ext cx="79930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a:solidFill>
                  <a:srgbClr val="CC0000"/>
                </a:solidFill>
                <a:latin typeface="宋体" panose="02010600030101010101" pitchFamily="2" charset="-122"/>
              </a:rPr>
              <a:t>解决方案：</a:t>
            </a:r>
          </a:p>
          <a:p>
            <a:pPr eaLnBrk="1" hangingPunct="1">
              <a:spcBef>
                <a:spcPct val="50000"/>
              </a:spcBef>
              <a:buClrTx/>
              <a:buSzTx/>
              <a:buFontTx/>
              <a:buNone/>
            </a:pPr>
            <a:r>
              <a:rPr lang="en-US" altLang="zh-CN" sz="2000" b="0">
                <a:latin typeface="宋体" panose="02010600030101010101" pitchFamily="2" charset="-122"/>
              </a:rPr>
              <a:t>1</a:t>
            </a:r>
            <a:r>
              <a:rPr lang="zh-CN" altLang="en-US" sz="2000" b="0">
                <a:latin typeface="宋体" panose="02010600030101010101" pitchFamily="2" charset="-122"/>
              </a:rPr>
              <a:t>、在满足系统技术要求前提下，尽量降低 </a:t>
            </a:r>
            <a:r>
              <a:rPr lang="en-US" altLang="zh-CN" sz="2000" b="0">
                <a:latin typeface="宋体" panose="02010600030101010101" pitchFamily="2" charset="-122"/>
              </a:rPr>
              <a:t>Task </a:t>
            </a:r>
            <a:r>
              <a:rPr lang="zh-CN" altLang="en-US" sz="2000" b="0">
                <a:latin typeface="宋体" panose="02010600030101010101" pitchFamily="2" charset="-122"/>
              </a:rPr>
              <a:t>的激活频率；</a:t>
            </a:r>
          </a:p>
          <a:p>
            <a:pPr eaLnBrk="1" hangingPunct="1">
              <a:spcBef>
                <a:spcPct val="50000"/>
              </a:spcBef>
              <a:buClrTx/>
              <a:buSzTx/>
              <a:buFontTx/>
              <a:buNone/>
            </a:pPr>
            <a:r>
              <a:rPr lang="en-US" altLang="zh-CN" sz="2000" b="0">
                <a:latin typeface="宋体" panose="02010600030101010101" pitchFamily="2" charset="-122"/>
              </a:rPr>
              <a:t>2</a:t>
            </a:r>
            <a:r>
              <a:rPr lang="zh-CN" altLang="en-US" sz="2000" b="0">
                <a:latin typeface="宋体" panose="02010600030101010101" pitchFamily="2" charset="-122"/>
              </a:rPr>
              <a:t>、提升硬件平台性能。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9798"/>
                                        </p:tgtEl>
                                        <p:attrNameLst>
                                          <p:attrName>style.visibility</p:attrName>
                                        </p:attrNameLst>
                                      </p:cBhvr>
                                      <p:to>
                                        <p:strVal val="visible"/>
                                      </p:to>
                                    </p:set>
                                    <p:animEffect transition="in" filter="blinds(horizontal)">
                                      <p:cBhvr>
                                        <p:cTn id="7" dur="500"/>
                                        <p:tgtEl>
                                          <p:spTgt spid="1597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99"/>
                                        </p:tgtEl>
                                        <p:attrNameLst>
                                          <p:attrName>style.visibility</p:attrName>
                                        </p:attrNameLst>
                                      </p:cBhvr>
                                      <p:to>
                                        <p:strVal val="visible"/>
                                      </p:to>
                                    </p:set>
                                    <p:animEffect transition="in" filter="blinds(horizontal)">
                                      <p:cBhvr>
                                        <p:cTn id="12" dur="500"/>
                                        <p:tgtEl>
                                          <p:spTgt spid="159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9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页脚占位符 3">
            <a:extLst>
              <a:ext uri="{FF2B5EF4-FFF2-40B4-BE49-F238E27FC236}">
                <a16:creationId xmlns:a16="http://schemas.microsoft.com/office/drawing/2014/main" id="{9412270E-F04A-A023-9F72-9E340EBD980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5475" name="灯片编号占位符 4">
            <a:extLst>
              <a:ext uri="{FF2B5EF4-FFF2-40B4-BE49-F238E27FC236}">
                <a16:creationId xmlns:a16="http://schemas.microsoft.com/office/drawing/2014/main" id="{03D6EFAA-58C3-0676-5B49-85C5B1BED7E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91D1415-C67A-4A2C-A77D-D24E5337DA8F}" type="slidenum">
              <a:rPr lang="en-US" altLang="zh-CN" sz="1200" smtClean="0">
                <a:solidFill>
                  <a:srgbClr val="3366FF"/>
                </a:solidFill>
                <a:latin typeface="Arial Black" panose="020B0A04020102020204" pitchFamily="34" charset="0"/>
              </a:rPr>
              <a:pPr>
                <a:spcBef>
                  <a:spcPct val="0"/>
                </a:spcBef>
                <a:buClrTx/>
                <a:buSzTx/>
                <a:buFontTx/>
                <a:buNone/>
              </a:pPr>
              <a:t>100</a:t>
            </a:fld>
            <a:endParaRPr lang="en-US" altLang="zh-CN" sz="1200">
              <a:solidFill>
                <a:srgbClr val="3366FF"/>
              </a:solidFill>
              <a:latin typeface="Arial Black" panose="020B0A04020102020204" pitchFamily="34" charset="0"/>
            </a:endParaRPr>
          </a:p>
        </p:txBody>
      </p:sp>
      <p:sp>
        <p:nvSpPr>
          <p:cNvPr id="105476" name="日期占位符 5">
            <a:extLst>
              <a:ext uri="{FF2B5EF4-FFF2-40B4-BE49-F238E27FC236}">
                <a16:creationId xmlns:a16="http://schemas.microsoft.com/office/drawing/2014/main" id="{3F2FFB49-6DBD-B19E-B966-91E346102B8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87C67E3-53F7-4581-A2E4-7F9B908430A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5477" name="Rectangle 2">
            <a:extLst>
              <a:ext uri="{FF2B5EF4-FFF2-40B4-BE49-F238E27FC236}">
                <a16:creationId xmlns:a16="http://schemas.microsoft.com/office/drawing/2014/main" id="{783C8EC8-53EE-333F-EB55-1AFA94FF2730}"/>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105478" name="Rectangle 3">
            <a:extLst>
              <a:ext uri="{FF2B5EF4-FFF2-40B4-BE49-F238E27FC236}">
                <a16:creationId xmlns:a16="http://schemas.microsoft.com/office/drawing/2014/main" id="{38EC9E3F-0CC9-9549-F919-787D819974A5}"/>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rgbClr val="FF0000"/>
                </a:solidFill>
              </a:rPr>
              <a:t>5</a:t>
            </a:r>
            <a:r>
              <a:rPr lang="zh-CN" altLang="en-US">
                <a:solidFill>
                  <a:srgbClr val="FF0000"/>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3">
            <a:extLst>
              <a:ext uri="{FF2B5EF4-FFF2-40B4-BE49-F238E27FC236}">
                <a16:creationId xmlns:a16="http://schemas.microsoft.com/office/drawing/2014/main" id="{D9E72877-B57F-CE05-E498-B7474B6D15A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6499" name="灯片编号占位符 4">
            <a:extLst>
              <a:ext uri="{FF2B5EF4-FFF2-40B4-BE49-F238E27FC236}">
                <a16:creationId xmlns:a16="http://schemas.microsoft.com/office/drawing/2014/main" id="{E1367CDC-F5B8-5350-5AD7-2DAC17C68E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97F8DC5-E278-4B43-B9CF-07B6A6BDBABF}" type="slidenum">
              <a:rPr lang="en-US" altLang="zh-CN" sz="1200" smtClean="0">
                <a:solidFill>
                  <a:srgbClr val="3366FF"/>
                </a:solidFill>
                <a:latin typeface="Arial Black" panose="020B0A04020102020204" pitchFamily="34" charset="0"/>
              </a:rPr>
              <a:pPr>
                <a:spcBef>
                  <a:spcPct val="0"/>
                </a:spcBef>
                <a:buClrTx/>
                <a:buSzTx/>
                <a:buFontTx/>
                <a:buNone/>
              </a:pPr>
              <a:t>101</a:t>
            </a:fld>
            <a:endParaRPr lang="en-US" altLang="zh-CN" sz="1200">
              <a:solidFill>
                <a:srgbClr val="3366FF"/>
              </a:solidFill>
              <a:latin typeface="Arial Black" panose="020B0A04020102020204" pitchFamily="34" charset="0"/>
            </a:endParaRPr>
          </a:p>
        </p:txBody>
      </p:sp>
      <p:sp>
        <p:nvSpPr>
          <p:cNvPr id="106500" name="日期占位符 5">
            <a:extLst>
              <a:ext uri="{FF2B5EF4-FFF2-40B4-BE49-F238E27FC236}">
                <a16:creationId xmlns:a16="http://schemas.microsoft.com/office/drawing/2014/main" id="{71EB989F-9F4F-566B-779E-4DA73B97609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15B715F-68F4-4EF0-9BEE-A723F9021AD7}"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6501" name="Rectangle 2">
            <a:extLst>
              <a:ext uri="{FF2B5EF4-FFF2-40B4-BE49-F238E27FC236}">
                <a16:creationId xmlns:a16="http://schemas.microsoft.com/office/drawing/2014/main" id="{E6F0FC67-4DDA-FFAD-69AB-387D74767C14}"/>
              </a:ext>
            </a:extLst>
          </p:cNvPr>
          <p:cNvSpPr>
            <a:spLocks noGrp="1" noChangeArrowheads="1"/>
          </p:cNvSpPr>
          <p:nvPr>
            <p:ph type="title"/>
          </p:nvPr>
        </p:nvSpPr>
        <p:spPr>
          <a:xfrm>
            <a:off x="457200" y="600075"/>
            <a:ext cx="8229600" cy="668338"/>
          </a:xfrm>
        </p:spPr>
        <p:txBody>
          <a:bodyPr/>
          <a:lstStyle/>
          <a:p>
            <a:pPr eaLnBrk="1" hangingPunct="1"/>
            <a:r>
              <a:rPr lang="zh-CN" altLang="en-US" sz="3400"/>
              <a:t>补充：</a:t>
            </a:r>
            <a:r>
              <a:rPr lang="en-US" altLang="zh-CN" sz="3400"/>
              <a:t>5 --- </a:t>
            </a:r>
            <a:r>
              <a:rPr lang="zh-CN" altLang="en-US" sz="3400"/>
              <a:t>任务的执行分类和优先级安排</a:t>
            </a:r>
          </a:p>
        </p:txBody>
      </p:sp>
      <p:sp>
        <p:nvSpPr>
          <p:cNvPr id="106502" name="Rectangle 3">
            <a:extLst>
              <a:ext uri="{FF2B5EF4-FFF2-40B4-BE49-F238E27FC236}">
                <a16:creationId xmlns:a16="http://schemas.microsoft.com/office/drawing/2014/main" id="{7560E93D-C5D8-C27C-C0FC-B7F50215D52B}"/>
              </a:ext>
            </a:extLst>
          </p:cNvPr>
          <p:cNvSpPr>
            <a:spLocks noGrp="1" noChangeArrowheads="1"/>
          </p:cNvSpPr>
          <p:nvPr>
            <p:ph type="body" idx="1"/>
          </p:nvPr>
        </p:nvSpPr>
        <p:spPr>
          <a:xfrm>
            <a:off x="468313" y="1341438"/>
            <a:ext cx="8229600" cy="647700"/>
          </a:xfrm>
        </p:spPr>
        <p:txBody>
          <a:bodyPr/>
          <a:lstStyle/>
          <a:p>
            <a:pPr eaLnBrk="1" hangingPunct="1"/>
            <a:r>
              <a:rPr lang="zh-CN" altLang="en-US"/>
              <a:t>任务的执行分类：</a:t>
            </a:r>
          </a:p>
        </p:txBody>
      </p:sp>
      <p:sp>
        <p:nvSpPr>
          <p:cNvPr id="106503" name="Text Box 4">
            <a:extLst>
              <a:ext uri="{FF2B5EF4-FFF2-40B4-BE49-F238E27FC236}">
                <a16:creationId xmlns:a16="http://schemas.microsoft.com/office/drawing/2014/main" id="{CC68242F-3DC9-376A-A1A0-70B86B31892B}"/>
              </a:ext>
            </a:extLst>
          </p:cNvPr>
          <p:cNvSpPr txBox="1">
            <a:spLocks noChangeArrowheads="1"/>
          </p:cNvSpPr>
          <p:nvPr/>
        </p:nvSpPr>
        <p:spPr bwMode="auto">
          <a:xfrm>
            <a:off x="1042988" y="2060575"/>
            <a:ext cx="71294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en-US" altLang="zh-CN" sz="2400">
                <a:solidFill>
                  <a:srgbClr val="0000CC"/>
                </a:solidFill>
                <a:latin typeface="Arial Narrow" panose="020B0606020202030204" pitchFamily="34" charset="0"/>
              </a:rPr>
              <a:t>1</a:t>
            </a:r>
            <a:r>
              <a:rPr lang="zh-CN" altLang="en-US" sz="2400">
                <a:solidFill>
                  <a:srgbClr val="0000CC"/>
                </a:solidFill>
                <a:latin typeface="Arial Narrow" panose="020B0606020202030204" pitchFamily="34" charset="0"/>
              </a:rPr>
              <a:t>、单次执行的任务</a:t>
            </a:r>
          </a:p>
        </p:txBody>
      </p:sp>
      <p:grpSp>
        <p:nvGrpSpPr>
          <p:cNvPr id="2" name="Group 8">
            <a:extLst>
              <a:ext uri="{FF2B5EF4-FFF2-40B4-BE49-F238E27FC236}">
                <a16:creationId xmlns:a16="http://schemas.microsoft.com/office/drawing/2014/main" id="{013BEB09-FA5E-4430-917E-1BEA3EA2CB11}"/>
              </a:ext>
            </a:extLst>
          </p:cNvPr>
          <p:cNvGrpSpPr>
            <a:grpSpLocks/>
          </p:cNvGrpSpPr>
          <p:nvPr/>
        </p:nvGrpSpPr>
        <p:grpSpPr bwMode="auto">
          <a:xfrm>
            <a:off x="827088" y="2582863"/>
            <a:ext cx="7632700" cy="3294062"/>
            <a:chOff x="521" y="1661"/>
            <a:chExt cx="4808" cy="2075"/>
          </a:xfrm>
        </p:grpSpPr>
        <p:sp>
          <p:nvSpPr>
            <p:cNvPr id="106509" name="Text Box 6">
              <a:extLst>
                <a:ext uri="{FF2B5EF4-FFF2-40B4-BE49-F238E27FC236}">
                  <a16:creationId xmlns:a16="http://schemas.microsoft.com/office/drawing/2014/main" id="{1C33BB16-60A7-825D-8A57-E0298D8B96B5}"/>
                </a:ext>
              </a:extLst>
            </p:cNvPr>
            <p:cNvSpPr txBox="1">
              <a:spLocks noChangeArrowheads="1"/>
            </p:cNvSpPr>
            <p:nvPr/>
          </p:nvSpPr>
          <p:spPr bwMode="auto">
            <a:xfrm>
              <a:off x="521" y="1661"/>
              <a:ext cx="480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0"/>
                <a:t>此类任务在</a:t>
              </a:r>
              <a:r>
                <a:rPr lang="en-US" altLang="zh-CN" sz="2400" b="0"/>
                <a:t>OSTaskCreate( )</a:t>
              </a:r>
              <a:r>
                <a:rPr lang="zh-CN" altLang="en-US" sz="2400" b="0"/>
                <a:t>后只执行一次，执行接诉后即自行删除。其结构如下：</a:t>
              </a:r>
            </a:p>
          </p:txBody>
        </p:sp>
        <p:sp>
          <p:nvSpPr>
            <p:cNvPr id="106510" name="Text Box 7">
              <a:extLst>
                <a:ext uri="{FF2B5EF4-FFF2-40B4-BE49-F238E27FC236}">
                  <a16:creationId xmlns:a16="http://schemas.microsoft.com/office/drawing/2014/main" id="{9962DC6C-1BA5-7ADC-132F-A5A200E2CE72}"/>
                </a:ext>
              </a:extLst>
            </p:cNvPr>
            <p:cNvSpPr txBox="1">
              <a:spLocks noChangeArrowheads="1"/>
            </p:cNvSpPr>
            <p:nvPr/>
          </p:nvSpPr>
          <p:spPr bwMode="auto">
            <a:xfrm>
              <a:off x="567" y="2205"/>
              <a:ext cx="4581" cy="1531"/>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800">
                  <a:latin typeface="Arial Narrow" panose="020B0606020202030204" pitchFamily="34" charset="0"/>
                </a:rPr>
                <a:t>void MyTask(void * pdata)</a:t>
              </a:r>
            </a:p>
            <a:p>
              <a:pPr eaLnBrk="1" hangingPunct="1">
                <a:spcBef>
                  <a:spcPct val="50000"/>
                </a:spcBef>
                <a:buClrTx/>
                <a:buSzTx/>
                <a:buFontTx/>
                <a:buNone/>
              </a:pPr>
              <a:r>
                <a:rPr lang="en-US" altLang="zh-CN" sz="1800">
                  <a:latin typeface="Arial Narrow" panose="020B0606020202030204" pitchFamily="34" charset="0"/>
                </a:rPr>
                <a:t>{</a:t>
              </a:r>
            </a:p>
            <a:p>
              <a:pPr eaLnBrk="1" hangingPunct="1">
                <a:spcBef>
                  <a:spcPct val="50000"/>
                </a:spcBef>
                <a:buClrTx/>
                <a:buSzTx/>
                <a:buFontTx/>
                <a:buNone/>
              </a:pPr>
              <a:r>
                <a:rPr lang="en-US" altLang="zh-CN" sz="1800">
                  <a:latin typeface="Arial Narrow" panose="020B0606020202030204" pitchFamily="34" charset="0"/>
                </a:rPr>
                <a:t>    </a:t>
              </a:r>
              <a:r>
                <a:rPr lang="zh-CN" altLang="en-US" sz="1800">
                  <a:latin typeface="Arial Narrow" panose="020B0606020202030204" pitchFamily="34" charset="0"/>
                </a:rPr>
                <a:t>局部环境初始化代码；		</a:t>
              </a:r>
              <a:r>
                <a:rPr lang="en-US" altLang="zh-CN" sz="1800" i="1">
                  <a:solidFill>
                    <a:srgbClr val="009999"/>
                  </a:solidFill>
                  <a:latin typeface="Arial Narrow" panose="020B0606020202030204" pitchFamily="34" charset="0"/>
                </a:rPr>
                <a:t>//</a:t>
              </a:r>
              <a:r>
                <a:rPr lang="zh-CN" altLang="en-US" sz="1800" i="1">
                  <a:solidFill>
                    <a:srgbClr val="009999"/>
                  </a:solidFill>
                  <a:latin typeface="Arial Narrow" panose="020B0606020202030204" pitchFamily="34" charset="0"/>
                </a:rPr>
                <a:t>本任务运行环境的初始化</a:t>
              </a:r>
            </a:p>
            <a:p>
              <a:pPr eaLnBrk="1" hangingPunct="1">
                <a:spcBef>
                  <a:spcPct val="50000"/>
                </a:spcBef>
                <a:buClrTx/>
                <a:buSzTx/>
                <a:buFontTx/>
                <a:buNone/>
              </a:pPr>
              <a:r>
                <a:rPr lang="zh-CN" altLang="en-US" sz="1800">
                  <a:latin typeface="Arial Narrow" panose="020B0606020202030204" pitchFamily="34" charset="0"/>
                </a:rPr>
                <a:t>    任务实体代码；</a:t>
              </a:r>
            </a:p>
            <a:p>
              <a:pPr eaLnBrk="1" hangingPunct="1">
                <a:spcBef>
                  <a:spcPct val="50000"/>
                </a:spcBef>
                <a:buClrTx/>
                <a:buSzTx/>
                <a:buFontTx/>
                <a:buNone/>
              </a:pPr>
              <a:r>
                <a:rPr lang="zh-CN" altLang="en-US" sz="1800">
                  <a:latin typeface="Arial Narrow" panose="020B0606020202030204" pitchFamily="34" charset="0"/>
                </a:rPr>
                <a:t>    </a:t>
              </a:r>
              <a:r>
                <a:rPr lang="en-US" altLang="zh-CN" sz="1800">
                  <a:latin typeface="Arial Narrow" panose="020B0606020202030204" pitchFamily="34" charset="0"/>
                </a:rPr>
                <a:t>OSTaskDel(OS_PRIO_SELF)</a:t>
              </a:r>
              <a:r>
                <a:rPr lang="zh-CN" altLang="en-US" sz="1800">
                  <a:latin typeface="Arial Narrow" panose="020B0606020202030204" pitchFamily="34" charset="0"/>
                </a:rPr>
                <a:t>；	</a:t>
              </a:r>
              <a:r>
                <a:rPr lang="en-US" altLang="zh-CN" sz="1800" i="1">
                  <a:solidFill>
                    <a:srgbClr val="009999"/>
                  </a:solidFill>
                  <a:latin typeface="Arial Narrow" panose="020B0606020202030204" pitchFamily="34" charset="0"/>
                </a:rPr>
                <a:t>//</a:t>
              </a:r>
              <a:r>
                <a:rPr lang="zh-CN" altLang="en-US" sz="1800" i="1">
                  <a:solidFill>
                    <a:srgbClr val="009999"/>
                  </a:solidFill>
                  <a:latin typeface="Arial Narrow" panose="020B0606020202030204" pitchFamily="34" charset="0"/>
                </a:rPr>
                <a:t>删除自身</a:t>
              </a:r>
            </a:p>
            <a:p>
              <a:pPr eaLnBrk="1" hangingPunct="1">
                <a:spcBef>
                  <a:spcPct val="50000"/>
                </a:spcBef>
                <a:buClrTx/>
                <a:buSzTx/>
                <a:buFontTx/>
                <a:buNone/>
              </a:pPr>
              <a:r>
                <a:rPr lang="en-US" altLang="zh-CN" sz="1800">
                  <a:latin typeface="Arial Narrow" panose="020B0606020202030204" pitchFamily="34" charset="0"/>
                </a:rPr>
                <a:t>}</a:t>
              </a:r>
            </a:p>
          </p:txBody>
        </p:sp>
      </p:grpSp>
      <p:grpSp>
        <p:nvGrpSpPr>
          <p:cNvPr id="3" name="Group 13">
            <a:extLst>
              <a:ext uri="{FF2B5EF4-FFF2-40B4-BE49-F238E27FC236}">
                <a16:creationId xmlns:a16="http://schemas.microsoft.com/office/drawing/2014/main" id="{65A1710C-2267-0DD7-4927-7B569A62C9A3}"/>
              </a:ext>
            </a:extLst>
          </p:cNvPr>
          <p:cNvGrpSpPr>
            <a:grpSpLocks/>
          </p:cNvGrpSpPr>
          <p:nvPr/>
        </p:nvGrpSpPr>
        <p:grpSpPr bwMode="auto">
          <a:xfrm>
            <a:off x="755650" y="2601913"/>
            <a:ext cx="7416800" cy="3563937"/>
            <a:chOff x="521" y="1661"/>
            <a:chExt cx="4672" cy="2245"/>
          </a:xfrm>
        </p:grpSpPr>
        <p:sp>
          <p:nvSpPr>
            <p:cNvPr id="106506" name="Text Box 9">
              <a:extLst>
                <a:ext uri="{FF2B5EF4-FFF2-40B4-BE49-F238E27FC236}">
                  <a16:creationId xmlns:a16="http://schemas.microsoft.com/office/drawing/2014/main" id="{F29F77F6-7072-6810-33DA-A9DF67192836}"/>
                </a:ext>
              </a:extLst>
            </p:cNvPr>
            <p:cNvSpPr txBox="1">
              <a:spLocks noChangeArrowheads="1"/>
            </p:cNvSpPr>
            <p:nvPr/>
          </p:nvSpPr>
          <p:spPr bwMode="auto">
            <a:xfrm>
              <a:off x="521" y="1661"/>
              <a:ext cx="4672"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1813">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Arial Narrow" panose="020B0606020202030204" pitchFamily="34" charset="0"/>
                </a:rPr>
                <a:t>此类型任务采用“创建即启动”方式运行任务，这样可以简化任务的启动控制关系，更主要的是可以在每次启动时向任务传递一些参数，使其有不同的运行工作状态。如使用 </a:t>
              </a:r>
              <a:r>
                <a:rPr lang="en-US" altLang="zh-CN" sz="2400">
                  <a:latin typeface="Arial Narrow" panose="020B0606020202030204" pitchFamily="34" charset="0"/>
                </a:rPr>
                <a:t>UART </a:t>
              </a:r>
              <a:r>
                <a:rPr lang="zh-CN" altLang="en-US" sz="2400">
                  <a:latin typeface="Arial Narrow" panose="020B0606020202030204" pitchFamily="34" charset="0"/>
                </a:rPr>
                <a:t>，每次都可以设置其帧格式、数据波特率等。</a:t>
              </a:r>
            </a:p>
          </p:txBody>
        </p:sp>
        <p:sp>
          <p:nvSpPr>
            <p:cNvPr id="106507" name="Text Box 10">
              <a:extLst>
                <a:ext uri="{FF2B5EF4-FFF2-40B4-BE49-F238E27FC236}">
                  <a16:creationId xmlns:a16="http://schemas.microsoft.com/office/drawing/2014/main" id="{EA2DEA2E-9282-EE68-3E0D-EAED8728672F}"/>
                </a:ext>
              </a:extLst>
            </p:cNvPr>
            <p:cNvSpPr txBox="1">
              <a:spLocks noChangeArrowheads="1"/>
            </p:cNvSpPr>
            <p:nvPr/>
          </p:nvSpPr>
          <p:spPr bwMode="auto">
            <a:xfrm>
              <a:off x="521" y="2870"/>
              <a:ext cx="41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注意事项：</a:t>
              </a:r>
            </a:p>
          </p:txBody>
        </p:sp>
        <p:sp>
          <p:nvSpPr>
            <p:cNvPr id="106508" name="Text Box 12">
              <a:extLst>
                <a:ext uri="{FF2B5EF4-FFF2-40B4-BE49-F238E27FC236}">
                  <a16:creationId xmlns:a16="http://schemas.microsoft.com/office/drawing/2014/main" id="{08CD77DC-ED36-EBD3-0E66-8ED1ED937F1A}"/>
                </a:ext>
              </a:extLst>
            </p:cNvPr>
            <p:cNvSpPr txBox="1">
              <a:spLocks noChangeArrowheads="1"/>
            </p:cNvSpPr>
            <p:nvPr/>
          </p:nvSpPr>
          <p:spPr bwMode="auto">
            <a:xfrm>
              <a:off x="657" y="3158"/>
              <a:ext cx="3992"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66C04"/>
                </a:buClr>
                <a:buSzPct val="55000"/>
                <a:buFont typeface="Wingdings" panose="05000000000000000000" pitchFamily="2" charset="2"/>
                <a:buChar char="Ø"/>
              </a:pPr>
              <a:r>
                <a:rPr lang="zh-CN" altLang="en-US" sz="2400"/>
                <a:t>安排合适的优先级</a:t>
              </a:r>
            </a:p>
            <a:p>
              <a:pPr eaLnBrk="1" hangingPunct="1">
                <a:spcBef>
                  <a:spcPct val="0"/>
                </a:spcBef>
                <a:buClr>
                  <a:srgbClr val="F66C04"/>
                </a:buClr>
                <a:buSzPct val="55000"/>
                <a:buFont typeface="Wingdings" panose="05000000000000000000" pitchFamily="2" charset="2"/>
                <a:buChar char="Ø"/>
              </a:pPr>
              <a:r>
                <a:rPr lang="zh-CN" altLang="en-US" sz="2400"/>
                <a:t>自身删除前释放占用的共享资源</a:t>
              </a:r>
            </a:p>
            <a:p>
              <a:pPr eaLnBrk="1" hangingPunct="1">
                <a:spcBef>
                  <a:spcPct val="0"/>
                </a:spcBef>
                <a:buClr>
                  <a:srgbClr val="F66C04"/>
                </a:buClr>
                <a:buSzPct val="55000"/>
                <a:buFont typeface="Wingdings" panose="05000000000000000000" pitchFamily="2" charset="2"/>
                <a:buChar char="Ø"/>
              </a:pPr>
              <a:r>
                <a:rPr lang="zh-CN" altLang="en-US" sz="2400"/>
                <a:t>适用“孤立任务”</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3">
            <a:extLst>
              <a:ext uri="{FF2B5EF4-FFF2-40B4-BE49-F238E27FC236}">
                <a16:creationId xmlns:a16="http://schemas.microsoft.com/office/drawing/2014/main" id="{F95AED7E-1971-668A-25D7-F70CCBE94FE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7523" name="灯片编号占位符 4">
            <a:extLst>
              <a:ext uri="{FF2B5EF4-FFF2-40B4-BE49-F238E27FC236}">
                <a16:creationId xmlns:a16="http://schemas.microsoft.com/office/drawing/2014/main" id="{B3E02910-6179-FF81-F9C8-B5F38A38D90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6113D2F-1DCC-454F-8444-D70C0454051F}" type="slidenum">
              <a:rPr lang="en-US" altLang="zh-CN" sz="1200" smtClean="0">
                <a:solidFill>
                  <a:srgbClr val="3366FF"/>
                </a:solidFill>
                <a:latin typeface="Arial Black" panose="020B0A04020102020204" pitchFamily="34" charset="0"/>
              </a:rPr>
              <a:pPr>
                <a:spcBef>
                  <a:spcPct val="0"/>
                </a:spcBef>
                <a:buClrTx/>
                <a:buSzTx/>
                <a:buFontTx/>
                <a:buNone/>
              </a:pPr>
              <a:t>102</a:t>
            </a:fld>
            <a:endParaRPr lang="en-US" altLang="zh-CN" sz="1200">
              <a:solidFill>
                <a:srgbClr val="3366FF"/>
              </a:solidFill>
              <a:latin typeface="Arial Black" panose="020B0A04020102020204" pitchFamily="34" charset="0"/>
            </a:endParaRPr>
          </a:p>
        </p:txBody>
      </p:sp>
      <p:sp>
        <p:nvSpPr>
          <p:cNvPr id="107524" name="日期占位符 5">
            <a:extLst>
              <a:ext uri="{FF2B5EF4-FFF2-40B4-BE49-F238E27FC236}">
                <a16:creationId xmlns:a16="http://schemas.microsoft.com/office/drawing/2014/main" id="{AEA943FD-56FC-3136-5CD9-E8721321E30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69CAAA6-069C-45A9-9724-494CE929E65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7525" name="Rectangle 2">
            <a:extLst>
              <a:ext uri="{FF2B5EF4-FFF2-40B4-BE49-F238E27FC236}">
                <a16:creationId xmlns:a16="http://schemas.microsoft.com/office/drawing/2014/main" id="{33FD95B5-FC6D-4F67-01D7-5DE38C5EE710}"/>
              </a:ext>
            </a:extLst>
          </p:cNvPr>
          <p:cNvSpPr>
            <a:spLocks noGrp="1" noChangeArrowheads="1"/>
          </p:cNvSpPr>
          <p:nvPr>
            <p:ph type="title"/>
          </p:nvPr>
        </p:nvSpPr>
        <p:spPr>
          <a:xfrm>
            <a:off x="457200" y="600075"/>
            <a:ext cx="8229600" cy="668338"/>
          </a:xfrm>
        </p:spPr>
        <p:txBody>
          <a:bodyPr/>
          <a:lstStyle/>
          <a:p>
            <a:pPr eaLnBrk="1" hangingPunct="1"/>
            <a:r>
              <a:rPr lang="zh-CN" altLang="en-US" sz="3400"/>
              <a:t>补充：</a:t>
            </a:r>
            <a:r>
              <a:rPr lang="en-US" altLang="zh-CN" sz="3400"/>
              <a:t>5 --- </a:t>
            </a:r>
            <a:r>
              <a:rPr lang="zh-CN" altLang="en-US" sz="3400"/>
              <a:t>任务的执行分类和优先级安排</a:t>
            </a:r>
          </a:p>
        </p:txBody>
      </p:sp>
      <p:sp>
        <p:nvSpPr>
          <p:cNvPr id="107526" name="Rectangle 3">
            <a:extLst>
              <a:ext uri="{FF2B5EF4-FFF2-40B4-BE49-F238E27FC236}">
                <a16:creationId xmlns:a16="http://schemas.microsoft.com/office/drawing/2014/main" id="{BAC9411F-C893-5482-1B75-C6B2D4FDABCA}"/>
              </a:ext>
            </a:extLst>
          </p:cNvPr>
          <p:cNvSpPr>
            <a:spLocks noGrp="1" noChangeArrowheads="1"/>
          </p:cNvSpPr>
          <p:nvPr>
            <p:ph type="body" idx="1"/>
          </p:nvPr>
        </p:nvSpPr>
        <p:spPr>
          <a:xfrm>
            <a:off x="468313" y="1341438"/>
            <a:ext cx="8229600" cy="647700"/>
          </a:xfrm>
        </p:spPr>
        <p:txBody>
          <a:bodyPr/>
          <a:lstStyle/>
          <a:p>
            <a:pPr eaLnBrk="1" hangingPunct="1"/>
            <a:r>
              <a:rPr lang="zh-CN" altLang="en-US"/>
              <a:t>任务的执行分类：</a:t>
            </a:r>
          </a:p>
        </p:txBody>
      </p:sp>
      <p:sp>
        <p:nvSpPr>
          <p:cNvPr id="107527" name="Text Box 4">
            <a:extLst>
              <a:ext uri="{FF2B5EF4-FFF2-40B4-BE49-F238E27FC236}">
                <a16:creationId xmlns:a16="http://schemas.microsoft.com/office/drawing/2014/main" id="{CE9EB7A6-3D9F-8161-79D4-DBE966743727}"/>
              </a:ext>
            </a:extLst>
          </p:cNvPr>
          <p:cNvSpPr txBox="1">
            <a:spLocks noChangeArrowheads="1"/>
          </p:cNvSpPr>
          <p:nvPr/>
        </p:nvSpPr>
        <p:spPr bwMode="auto">
          <a:xfrm>
            <a:off x="1042988" y="1944688"/>
            <a:ext cx="71294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en-US" altLang="zh-CN" sz="2400">
                <a:solidFill>
                  <a:srgbClr val="0000CC"/>
                </a:solidFill>
                <a:latin typeface="Arial Narrow" panose="020B0606020202030204" pitchFamily="34" charset="0"/>
              </a:rPr>
              <a:t>2</a:t>
            </a:r>
            <a:r>
              <a:rPr lang="zh-CN" altLang="en-US" sz="2400">
                <a:solidFill>
                  <a:srgbClr val="0000CC"/>
                </a:solidFill>
                <a:latin typeface="Arial Narrow" panose="020B0606020202030204" pitchFamily="34" charset="0"/>
              </a:rPr>
              <a:t>、周期执行的任务</a:t>
            </a:r>
            <a:r>
              <a:rPr lang="zh-CN" altLang="en-US" sz="2400" b="0">
                <a:solidFill>
                  <a:schemeClr val="accent2"/>
                </a:solidFill>
                <a:latin typeface="Arial Narrow" panose="020B0606020202030204" pitchFamily="34" charset="0"/>
              </a:rPr>
              <a:t>（也可以认为事件触发的特例）</a:t>
            </a:r>
            <a:endParaRPr lang="zh-CN" altLang="en-US" sz="2400" b="0">
              <a:latin typeface="Arial Narrow" panose="020B0606020202030204" pitchFamily="34" charset="0"/>
            </a:endParaRPr>
          </a:p>
        </p:txBody>
      </p:sp>
      <p:grpSp>
        <p:nvGrpSpPr>
          <p:cNvPr id="2" name="Group 8">
            <a:extLst>
              <a:ext uri="{FF2B5EF4-FFF2-40B4-BE49-F238E27FC236}">
                <a16:creationId xmlns:a16="http://schemas.microsoft.com/office/drawing/2014/main" id="{124CA392-998E-6706-706D-5100B96B7104}"/>
              </a:ext>
            </a:extLst>
          </p:cNvPr>
          <p:cNvGrpSpPr>
            <a:grpSpLocks/>
          </p:cNvGrpSpPr>
          <p:nvPr/>
        </p:nvGrpSpPr>
        <p:grpSpPr bwMode="auto">
          <a:xfrm>
            <a:off x="827088" y="2540000"/>
            <a:ext cx="7848600" cy="3706813"/>
            <a:chOff x="521" y="1600"/>
            <a:chExt cx="4944" cy="2335"/>
          </a:xfrm>
        </p:grpSpPr>
        <p:sp>
          <p:nvSpPr>
            <p:cNvPr id="107532" name="Text Box 5">
              <a:extLst>
                <a:ext uri="{FF2B5EF4-FFF2-40B4-BE49-F238E27FC236}">
                  <a16:creationId xmlns:a16="http://schemas.microsoft.com/office/drawing/2014/main" id="{C2B110F7-FBDD-CAC5-EE96-2050ECF9E0BD}"/>
                </a:ext>
              </a:extLst>
            </p:cNvPr>
            <p:cNvSpPr txBox="1">
              <a:spLocks noChangeArrowheads="1"/>
            </p:cNvSpPr>
            <p:nvPr/>
          </p:nvSpPr>
          <p:spPr bwMode="auto">
            <a:xfrm>
              <a:off x="521" y="1600"/>
              <a:ext cx="49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此类任务创建后按某个时间周期被执行。任务结构如下：</a:t>
              </a:r>
            </a:p>
          </p:txBody>
        </p:sp>
        <p:sp>
          <p:nvSpPr>
            <p:cNvPr id="107533" name="Text Box 7">
              <a:extLst>
                <a:ext uri="{FF2B5EF4-FFF2-40B4-BE49-F238E27FC236}">
                  <a16:creationId xmlns:a16="http://schemas.microsoft.com/office/drawing/2014/main" id="{75891C54-E6D5-7218-7E53-960CF6BC3675}"/>
                </a:ext>
              </a:extLst>
            </p:cNvPr>
            <p:cNvSpPr txBox="1">
              <a:spLocks noChangeArrowheads="1"/>
            </p:cNvSpPr>
            <p:nvPr/>
          </p:nvSpPr>
          <p:spPr bwMode="auto">
            <a:xfrm>
              <a:off x="567" y="1997"/>
              <a:ext cx="4581" cy="193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Tx/>
                <a:buSzTx/>
                <a:buFontTx/>
                <a:buNone/>
              </a:pPr>
              <a:r>
                <a:rPr lang="en-US" altLang="zh-CN" sz="2000">
                  <a:solidFill>
                    <a:srgbClr val="080808"/>
                  </a:solidFill>
                  <a:latin typeface="Arial Narrow" panose="020B0606020202030204" pitchFamily="34" charset="0"/>
                </a:rPr>
                <a:t>void MyTask(void * pdata)</a:t>
              </a:r>
            </a:p>
            <a:p>
              <a:pPr eaLnBrk="1" hangingPunct="1">
                <a:spcBef>
                  <a:spcPct val="10000"/>
                </a:spcBef>
                <a:buClrTx/>
                <a:buSzTx/>
                <a:buFontTx/>
                <a:buNone/>
              </a:pPr>
              <a:r>
                <a:rPr lang="en-US" altLang="zh-CN" sz="2000">
                  <a:solidFill>
                    <a:srgbClr val="080808"/>
                  </a:solidFill>
                  <a:latin typeface="Arial Narrow" panose="020B0606020202030204" pitchFamily="34" charset="0"/>
                </a:rPr>
                <a:t>{</a:t>
              </a:r>
            </a:p>
            <a:p>
              <a:pPr eaLnBrk="1" hangingPunct="1">
                <a:spcBef>
                  <a:spcPct val="10000"/>
                </a:spcBef>
                <a:buClrTx/>
                <a:buSzTx/>
                <a:buFontTx/>
                <a:buNone/>
              </a:pPr>
              <a:r>
                <a:rPr lang="en-US" altLang="zh-CN" sz="2000">
                  <a:solidFill>
                    <a:srgbClr val="080808"/>
                  </a:solidFill>
                  <a:latin typeface="Arial Narrow" panose="020B0606020202030204" pitchFamily="34" charset="0"/>
                </a:rPr>
                <a:t>    </a:t>
              </a:r>
              <a:r>
                <a:rPr lang="zh-CN" altLang="en-US" sz="2000">
                  <a:solidFill>
                    <a:srgbClr val="080808"/>
                  </a:solidFill>
                  <a:latin typeface="Arial Narrow" panose="020B0606020202030204" pitchFamily="34" charset="0"/>
                </a:rPr>
                <a:t>局部环境准备代码；			</a:t>
              </a:r>
              <a:r>
                <a:rPr lang="en-US" altLang="zh-CN" sz="2000" b="0" i="1">
                  <a:solidFill>
                    <a:srgbClr val="0000FF"/>
                  </a:solidFill>
                  <a:latin typeface="Arial Narrow" panose="020B0606020202030204" pitchFamily="34" charset="0"/>
                </a:rPr>
                <a:t>//</a:t>
              </a:r>
              <a:r>
                <a:rPr lang="zh-CN" altLang="en-US" sz="2000" b="0" i="1">
                  <a:solidFill>
                    <a:srgbClr val="0000FF"/>
                  </a:solidFill>
                  <a:latin typeface="Arial Narrow" panose="020B0606020202030204" pitchFamily="34" charset="0"/>
                </a:rPr>
                <a:t>硬件、变量等初始化</a:t>
              </a:r>
            </a:p>
            <a:p>
              <a:pPr eaLnBrk="1" hangingPunct="1">
                <a:spcBef>
                  <a:spcPct val="10000"/>
                </a:spcBef>
                <a:buClrTx/>
                <a:buSzTx/>
                <a:buFontTx/>
                <a:buNone/>
              </a:pPr>
              <a:r>
                <a:rPr lang="zh-CN" altLang="en-US" sz="2000">
                  <a:solidFill>
                    <a:srgbClr val="080808"/>
                  </a:solidFill>
                  <a:latin typeface="Arial Narrow" panose="020B0606020202030204" pitchFamily="34" charset="0"/>
                </a:rPr>
                <a:t>    </a:t>
              </a:r>
              <a:r>
                <a:rPr lang="en-US" altLang="zh-CN" sz="2000">
                  <a:solidFill>
                    <a:srgbClr val="080808"/>
                  </a:solidFill>
                  <a:latin typeface="Arial Narrow" panose="020B0606020202030204" pitchFamily="34" charset="0"/>
                </a:rPr>
                <a:t>while(1)</a:t>
              </a:r>
            </a:p>
            <a:p>
              <a:pPr eaLnBrk="1" hangingPunct="1">
                <a:spcBef>
                  <a:spcPct val="10000"/>
                </a:spcBef>
                <a:buClrTx/>
                <a:buSzTx/>
                <a:buFontTx/>
                <a:buNone/>
              </a:pPr>
              <a:r>
                <a:rPr lang="en-US" altLang="zh-CN" sz="2000">
                  <a:solidFill>
                    <a:srgbClr val="080808"/>
                  </a:solidFill>
                  <a:latin typeface="Arial Narrow" panose="020B0606020202030204" pitchFamily="34" charset="0"/>
                </a:rPr>
                <a:t>    {</a:t>
              </a:r>
            </a:p>
            <a:p>
              <a:pPr eaLnBrk="1" hangingPunct="1">
                <a:spcBef>
                  <a:spcPct val="10000"/>
                </a:spcBef>
                <a:buClrTx/>
                <a:buSzTx/>
                <a:buFontTx/>
                <a:buNone/>
              </a:pPr>
              <a:r>
                <a:rPr lang="en-US" altLang="zh-CN" sz="2000">
                  <a:solidFill>
                    <a:srgbClr val="080808"/>
                  </a:solidFill>
                  <a:latin typeface="Arial Narrow" panose="020B0606020202030204" pitchFamily="34" charset="0"/>
                </a:rPr>
                <a:t>        </a:t>
              </a:r>
              <a:r>
                <a:rPr lang="zh-CN" altLang="en-US" sz="2000">
                  <a:solidFill>
                    <a:srgbClr val="080808"/>
                  </a:solidFill>
                  <a:latin typeface="Arial Narrow" panose="020B0606020202030204" pitchFamily="34" charset="0"/>
                </a:rPr>
                <a:t>任务实体代码；			</a:t>
              </a:r>
              <a:r>
                <a:rPr lang="en-US" altLang="zh-CN" sz="2000" b="0" i="1">
                  <a:solidFill>
                    <a:srgbClr val="0000FF"/>
                  </a:solidFill>
                  <a:latin typeface="Arial Narrow" panose="020B0606020202030204" pitchFamily="34" charset="0"/>
                </a:rPr>
                <a:t>//</a:t>
              </a:r>
              <a:r>
                <a:rPr lang="zh-CN" altLang="en-US" sz="2000" b="0" i="1">
                  <a:solidFill>
                    <a:srgbClr val="0000FF"/>
                  </a:solidFill>
                  <a:latin typeface="Arial Narrow" panose="020B0606020202030204" pitchFamily="34" charset="0"/>
                </a:rPr>
                <a:t>具体的任务业务</a:t>
              </a:r>
            </a:p>
            <a:p>
              <a:pPr eaLnBrk="1" hangingPunct="1">
                <a:spcBef>
                  <a:spcPct val="10000"/>
                </a:spcBef>
                <a:buClrTx/>
                <a:buSzTx/>
                <a:buFontTx/>
                <a:buNone/>
              </a:pPr>
              <a:r>
                <a:rPr lang="zh-CN" altLang="en-US" sz="2000">
                  <a:solidFill>
                    <a:srgbClr val="080808"/>
                  </a:solidFill>
                  <a:latin typeface="Arial Narrow" panose="020B0606020202030204" pitchFamily="34" charset="0"/>
                </a:rPr>
                <a:t>        </a:t>
              </a:r>
              <a:r>
                <a:rPr lang="en-US" altLang="zh-CN" sz="2000">
                  <a:solidFill>
                    <a:srgbClr val="FF0000"/>
                  </a:solidFill>
                  <a:latin typeface="Arial Narrow" panose="020B0606020202030204" pitchFamily="34" charset="0"/>
                </a:rPr>
                <a:t>OSTimeDly() / OSTimeDlyHMSM();</a:t>
              </a:r>
              <a:r>
                <a:rPr lang="en-US" altLang="zh-CN" sz="2000">
                  <a:solidFill>
                    <a:srgbClr val="080808"/>
                  </a:solidFill>
                  <a:latin typeface="Arial Narrow" panose="020B0606020202030204" pitchFamily="34" charset="0"/>
                </a:rPr>
                <a:t>	</a:t>
              </a:r>
              <a:r>
                <a:rPr lang="en-US" altLang="zh-CN" sz="2000" b="0" i="1">
                  <a:solidFill>
                    <a:srgbClr val="0000FF"/>
                  </a:solidFill>
                  <a:latin typeface="Arial Narrow" panose="020B0606020202030204" pitchFamily="34" charset="0"/>
                </a:rPr>
                <a:t>//</a:t>
              </a:r>
              <a:r>
                <a:rPr lang="zh-CN" altLang="en-US" sz="2000" b="0" i="1">
                  <a:solidFill>
                    <a:srgbClr val="0000FF"/>
                  </a:solidFill>
                  <a:latin typeface="Arial Narrow" panose="020B0606020202030204" pitchFamily="34" charset="0"/>
                </a:rPr>
                <a:t>周期约定</a:t>
              </a:r>
            </a:p>
            <a:p>
              <a:pPr eaLnBrk="1" hangingPunct="1">
                <a:spcBef>
                  <a:spcPct val="10000"/>
                </a:spcBef>
                <a:buClrTx/>
                <a:buSzTx/>
                <a:buFontTx/>
                <a:buNone/>
              </a:pPr>
              <a:r>
                <a:rPr lang="zh-CN" altLang="en-US" sz="2000">
                  <a:solidFill>
                    <a:srgbClr val="080808"/>
                  </a:solidFill>
                  <a:latin typeface="Arial Narrow" panose="020B0606020202030204" pitchFamily="34" charset="0"/>
                </a:rPr>
                <a:t>    </a:t>
              </a:r>
              <a:r>
                <a:rPr lang="en-US" altLang="zh-CN" sz="2000">
                  <a:solidFill>
                    <a:srgbClr val="080808"/>
                  </a:solidFill>
                  <a:latin typeface="Arial Narrow" panose="020B0606020202030204" pitchFamily="34" charset="0"/>
                </a:rPr>
                <a:t>}</a:t>
              </a:r>
            </a:p>
            <a:p>
              <a:pPr eaLnBrk="1" hangingPunct="1">
                <a:spcBef>
                  <a:spcPct val="10000"/>
                </a:spcBef>
                <a:buClrTx/>
                <a:buSzTx/>
                <a:buFontTx/>
                <a:buNone/>
              </a:pPr>
              <a:r>
                <a:rPr lang="en-US" altLang="zh-CN" sz="2000">
                  <a:solidFill>
                    <a:srgbClr val="080808"/>
                  </a:solidFill>
                  <a:latin typeface="Arial Narrow" panose="020B0606020202030204" pitchFamily="34" charset="0"/>
                </a:rPr>
                <a:t>}</a:t>
              </a:r>
            </a:p>
          </p:txBody>
        </p:sp>
      </p:grpSp>
      <p:grpSp>
        <p:nvGrpSpPr>
          <p:cNvPr id="3" name="Group 9">
            <a:extLst>
              <a:ext uri="{FF2B5EF4-FFF2-40B4-BE49-F238E27FC236}">
                <a16:creationId xmlns:a16="http://schemas.microsoft.com/office/drawing/2014/main" id="{903697AA-C6A3-EAFC-DEA7-E8949E5C442B}"/>
              </a:ext>
            </a:extLst>
          </p:cNvPr>
          <p:cNvGrpSpPr>
            <a:grpSpLocks/>
          </p:cNvGrpSpPr>
          <p:nvPr/>
        </p:nvGrpSpPr>
        <p:grpSpPr bwMode="auto">
          <a:xfrm>
            <a:off x="827088" y="2565400"/>
            <a:ext cx="7848600" cy="2620963"/>
            <a:chOff x="521" y="1600"/>
            <a:chExt cx="4944" cy="1651"/>
          </a:xfrm>
        </p:grpSpPr>
        <p:sp>
          <p:nvSpPr>
            <p:cNvPr id="107530" name="Text Box 10">
              <a:extLst>
                <a:ext uri="{FF2B5EF4-FFF2-40B4-BE49-F238E27FC236}">
                  <a16:creationId xmlns:a16="http://schemas.microsoft.com/office/drawing/2014/main" id="{118FB34A-9336-BEAD-3DDD-E5DF78D2CD59}"/>
                </a:ext>
              </a:extLst>
            </p:cNvPr>
            <p:cNvSpPr txBox="1">
              <a:spLocks noChangeArrowheads="1"/>
            </p:cNvSpPr>
            <p:nvPr/>
          </p:nvSpPr>
          <p:spPr bwMode="auto">
            <a:xfrm>
              <a:off x="521" y="1600"/>
              <a:ext cx="49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此类任务运行特性分析：</a:t>
              </a:r>
            </a:p>
          </p:txBody>
        </p:sp>
        <p:sp>
          <p:nvSpPr>
            <p:cNvPr id="107531" name="Text Box 11">
              <a:extLst>
                <a:ext uri="{FF2B5EF4-FFF2-40B4-BE49-F238E27FC236}">
                  <a16:creationId xmlns:a16="http://schemas.microsoft.com/office/drawing/2014/main" id="{700E7F41-EB66-6CF0-B5CF-3C5B5BDA42C8}"/>
                </a:ext>
              </a:extLst>
            </p:cNvPr>
            <p:cNvSpPr txBox="1">
              <a:spLocks noChangeArrowheads="1"/>
            </p:cNvSpPr>
            <p:nvPr/>
          </p:nvSpPr>
          <p:spPr bwMode="auto">
            <a:xfrm>
              <a:off x="567" y="1997"/>
              <a:ext cx="4581" cy="12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
                  <a:srgbClr val="F66C04"/>
                </a:buClr>
                <a:buSzPct val="60000"/>
                <a:buFont typeface="Wingdings" panose="05000000000000000000" pitchFamily="2" charset="2"/>
                <a:buChar char="Ø"/>
              </a:pPr>
              <a:r>
                <a:rPr lang="zh-CN" altLang="en-US" sz="2400">
                  <a:solidFill>
                    <a:srgbClr val="080808"/>
                  </a:solidFill>
                  <a:latin typeface="Arial Narrow" panose="020B0606020202030204" pitchFamily="34" charset="0"/>
                </a:rPr>
                <a:t>运行周期越大，任务执行周期的相对误差越小，适用于任务周期稳定性要求不太高的应用。</a:t>
              </a:r>
            </a:p>
            <a:p>
              <a:pPr eaLnBrk="1" hangingPunct="1">
                <a:spcBef>
                  <a:spcPct val="10000"/>
                </a:spcBef>
                <a:buClr>
                  <a:srgbClr val="F66C04"/>
                </a:buClr>
                <a:buSzPct val="60000"/>
                <a:buFont typeface="Wingdings" panose="05000000000000000000" pitchFamily="2" charset="2"/>
                <a:buChar char="Ø"/>
              </a:pPr>
              <a:r>
                <a:rPr lang="zh-CN" altLang="en-US" sz="2400">
                  <a:solidFill>
                    <a:srgbClr val="080808"/>
                  </a:solidFill>
                  <a:latin typeface="Arial Narrow" panose="020B0606020202030204" pitchFamily="34" charset="0"/>
                </a:rPr>
                <a:t>任务周期只能是系统节拍的整倍数。</a:t>
              </a:r>
            </a:p>
            <a:p>
              <a:pPr eaLnBrk="1" hangingPunct="1">
                <a:spcBef>
                  <a:spcPct val="10000"/>
                </a:spcBef>
                <a:buClr>
                  <a:srgbClr val="F66C04"/>
                </a:buClr>
                <a:buSzPct val="60000"/>
                <a:buFont typeface="Wingdings" panose="05000000000000000000" pitchFamily="2" charset="2"/>
                <a:buChar char="Ø"/>
              </a:pPr>
              <a:r>
                <a:rPr lang="zh-CN" altLang="en-US" sz="2400">
                  <a:solidFill>
                    <a:srgbClr val="080808"/>
                  </a:solidFill>
                  <a:latin typeface="Arial Narrow" panose="020B0606020202030204" pitchFamily="34" charset="0"/>
                </a:rPr>
                <a:t>当任务周期要求很严格或不是系统节拍的整倍数时，应采用定时器中断的方式解决（</a:t>
              </a:r>
              <a:r>
                <a:rPr lang="zh-CN" altLang="en-US" sz="2400">
                  <a:solidFill>
                    <a:schemeClr val="folHlink"/>
                  </a:solidFill>
                  <a:latin typeface="Arial Narrow" panose="020B0606020202030204" pitchFamily="34" charset="0"/>
                </a:rPr>
                <a:t>电子钟</a:t>
              </a:r>
              <a:r>
                <a:rPr lang="zh-CN" altLang="en-US" sz="2400">
                  <a:solidFill>
                    <a:srgbClr val="080808"/>
                  </a:solidFill>
                  <a:latin typeface="Arial Narrow" panose="020B0606020202030204" pitchFamily="34"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页脚占位符 3">
            <a:extLst>
              <a:ext uri="{FF2B5EF4-FFF2-40B4-BE49-F238E27FC236}">
                <a16:creationId xmlns:a16="http://schemas.microsoft.com/office/drawing/2014/main" id="{706AC322-723D-DDDD-CB43-022E0B171F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8547" name="灯片编号占位符 4">
            <a:extLst>
              <a:ext uri="{FF2B5EF4-FFF2-40B4-BE49-F238E27FC236}">
                <a16:creationId xmlns:a16="http://schemas.microsoft.com/office/drawing/2014/main" id="{558CA6D0-1050-DBD7-5518-4A3A8F95A80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DFB2B9F-EBFB-401F-AFD1-9BF3F3AFCBE8}" type="slidenum">
              <a:rPr lang="en-US" altLang="zh-CN" sz="1200" smtClean="0">
                <a:solidFill>
                  <a:srgbClr val="3366FF"/>
                </a:solidFill>
                <a:latin typeface="Arial Black" panose="020B0A04020102020204" pitchFamily="34" charset="0"/>
              </a:rPr>
              <a:pPr>
                <a:spcBef>
                  <a:spcPct val="0"/>
                </a:spcBef>
                <a:buClrTx/>
                <a:buSzTx/>
                <a:buFontTx/>
                <a:buNone/>
              </a:pPr>
              <a:t>103</a:t>
            </a:fld>
            <a:endParaRPr lang="en-US" altLang="zh-CN" sz="1200">
              <a:solidFill>
                <a:srgbClr val="3366FF"/>
              </a:solidFill>
              <a:latin typeface="Arial Black" panose="020B0A04020102020204" pitchFamily="34" charset="0"/>
            </a:endParaRPr>
          </a:p>
        </p:txBody>
      </p:sp>
      <p:sp>
        <p:nvSpPr>
          <p:cNvPr id="108548" name="日期占位符 5">
            <a:extLst>
              <a:ext uri="{FF2B5EF4-FFF2-40B4-BE49-F238E27FC236}">
                <a16:creationId xmlns:a16="http://schemas.microsoft.com/office/drawing/2014/main" id="{876B91BB-0DE2-16D7-497D-33B8855BCF9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40100D7-F151-49A7-899E-607B6EEB0EFB}"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8549" name="Rectangle 2">
            <a:extLst>
              <a:ext uri="{FF2B5EF4-FFF2-40B4-BE49-F238E27FC236}">
                <a16:creationId xmlns:a16="http://schemas.microsoft.com/office/drawing/2014/main" id="{ED1E144E-B21F-4B0A-0210-12962079C3B1}"/>
              </a:ext>
            </a:extLst>
          </p:cNvPr>
          <p:cNvSpPr>
            <a:spLocks noGrp="1" noChangeArrowheads="1"/>
          </p:cNvSpPr>
          <p:nvPr>
            <p:ph type="title"/>
          </p:nvPr>
        </p:nvSpPr>
        <p:spPr>
          <a:xfrm>
            <a:off x="457200" y="600075"/>
            <a:ext cx="8229600" cy="668338"/>
          </a:xfrm>
        </p:spPr>
        <p:txBody>
          <a:bodyPr/>
          <a:lstStyle/>
          <a:p>
            <a:pPr eaLnBrk="1" hangingPunct="1"/>
            <a:r>
              <a:rPr lang="zh-CN" altLang="en-US" sz="3400"/>
              <a:t>补充：</a:t>
            </a:r>
            <a:r>
              <a:rPr lang="en-US" altLang="zh-CN" sz="3400"/>
              <a:t>5 --- </a:t>
            </a:r>
            <a:r>
              <a:rPr lang="zh-CN" altLang="en-US" sz="3400"/>
              <a:t>任务的执行分类和优先级安排</a:t>
            </a:r>
          </a:p>
        </p:txBody>
      </p:sp>
      <p:sp>
        <p:nvSpPr>
          <p:cNvPr id="108550" name="Rectangle 3">
            <a:extLst>
              <a:ext uri="{FF2B5EF4-FFF2-40B4-BE49-F238E27FC236}">
                <a16:creationId xmlns:a16="http://schemas.microsoft.com/office/drawing/2014/main" id="{1848EB41-DEA9-F356-F1B8-2102D47CB465}"/>
              </a:ext>
            </a:extLst>
          </p:cNvPr>
          <p:cNvSpPr>
            <a:spLocks noGrp="1" noChangeArrowheads="1"/>
          </p:cNvSpPr>
          <p:nvPr>
            <p:ph type="body" idx="1"/>
          </p:nvPr>
        </p:nvSpPr>
        <p:spPr>
          <a:xfrm>
            <a:off x="468313" y="1341438"/>
            <a:ext cx="8229600" cy="647700"/>
          </a:xfrm>
        </p:spPr>
        <p:txBody>
          <a:bodyPr/>
          <a:lstStyle/>
          <a:p>
            <a:pPr eaLnBrk="1" hangingPunct="1"/>
            <a:r>
              <a:rPr lang="zh-CN" altLang="en-US"/>
              <a:t>任务的执行分类：</a:t>
            </a:r>
          </a:p>
        </p:txBody>
      </p:sp>
      <p:sp>
        <p:nvSpPr>
          <p:cNvPr id="108551" name="Text Box 4">
            <a:extLst>
              <a:ext uri="{FF2B5EF4-FFF2-40B4-BE49-F238E27FC236}">
                <a16:creationId xmlns:a16="http://schemas.microsoft.com/office/drawing/2014/main" id="{588C84B9-02F0-DA65-46DC-2BE0591339CD}"/>
              </a:ext>
            </a:extLst>
          </p:cNvPr>
          <p:cNvSpPr txBox="1">
            <a:spLocks noChangeArrowheads="1"/>
          </p:cNvSpPr>
          <p:nvPr/>
        </p:nvSpPr>
        <p:spPr bwMode="auto">
          <a:xfrm>
            <a:off x="1042988" y="1844675"/>
            <a:ext cx="71294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en-US" altLang="zh-CN" sz="2400">
                <a:solidFill>
                  <a:srgbClr val="0000CC"/>
                </a:solidFill>
                <a:latin typeface="Arial Narrow" panose="020B0606020202030204" pitchFamily="34" charset="0"/>
              </a:rPr>
              <a:t>3</a:t>
            </a:r>
            <a:r>
              <a:rPr lang="zh-CN" altLang="en-US" sz="2400">
                <a:solidFill>
                  <a:srgbClr val="0000CC"/>
                </a:solidFill>
                <a:latin typeface="Arial Narrow" panose="020B0606020202030204" pitchFamily="34" charset="0"/>
              </a:rPr>
              <a:t>、事件触发执行的任务</a:t>
            </a:r>
          </a:p>
        </p:txBody>
      </p:sp>
      <p:sp>
        <p:nvSpPr>
          <p:cNvPr id="108552" name="Text Box 9">
            <a:extLst>
              <a:ext uri="{FF2B5EF4-FFF2-40B4-BE49-F238E27FC236}">
                <a16:creationId xmlns:a16="http://schemas.microsoft.com/office/drawing/2014/main" id="{4EE5FA3F-DBCF-F447-4444-B708C2D18BE0}"/>
              </a:ext>
            </a:extLst>
          </p:cNvPr>
          <p:cNvSpPr txBox="1">
            <a:spLocks noChangeArrowheads="1"/>
          </p:cNvSpPr>
          <p:nvPr/>
        </p:nvSpPr>
        <p:spPr bwMode="auto">
          <a:xfrm>
            <a:off x="827088" y="2312988"/>
            <a:ext cx="78486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200"/>
              <a:t>此类任务创建后其任务实体代码要等待预约的事件，在该事件发生前任务被强制等待，相关事件发生一次，任务实体执行一次。任务结构如下：</a:t>
            </a:r>
          </a:p>
        </p:txBody>
      </p:sp>
      <p:sp>
        <p:nvSpPr>
          <p:cNvPr id="132107" name="Text Box 11">
            <a:extLst>
              <a:ext uri="{FF2B5EF4-FFF2-40B4-BE49-F238E27FC236}">
                <a16:creationId xmlns:a16="http://schemas.microsoft.com/office/drawing/2014/main" id="{8FE9878E-4E09-176E-99EA-81E9ECFA3777}"/>
              </a:ext>
            </a:extLst>
          </p:cNvPr>
          <p:cNvSpPr txBox="1">
            <a:spLocks noChangeArrowheads="1"/>
          </p:cNvSpPr>
          <p:nvPr/>
        </p:nvSpPr>
        <p:spPr bwMode="auto">
          <a:xfrm>
            <a:off x="1116013" y="3429000"/>
            <a:ext cx="7488237" cy="304323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Tx/>
              <a:buSzTx/>
              <a:buFontTx/>
              <a:buNone/>
            </a:pPr>
            <a:r>
              <a:rPr lang="en-US" altLang="zh-CN" sz="2000">
                <a:solidFill>
                  <a:srgbClr val="080808"/>
                </a:solidFill>
                <a:latin typeface="Arial Narrow" panose="020B0606020202030204" pitchFamily="34" charset="0"/>
              </a:rPr>
              <a:t>void MyTask(void * pdata)</a:t>
            </a:r>
          </a:p>
          <a:p>
            <a:pPr eaLnBrk="1" hangingPunct="1">
              <a:spcBef>
                <a:spcPct val="10000"/>
              </a:spcBef>
              <a:buClrTx/>
              <a:buSzTx/>
              <a:buFontTx/>
              <a:buNone/>
            </a:pPr>
            <a:r>
              <a:rPr lang="en-US" altLang="zh-CN" sz="2000">
                <a:solidFill>
                  <a:srgbClr val="080808"/>
                </a:solidFill>
                <a:latin typeface="Arial Narrow" panose="020B0606020202030204" pitchFamily="34" charset="0"/>
              </a:rPr>
              <a:t>{</a:t>
            </a:r>
          </a:p>
          <a:p>
            <a:pPr eaLnBrk="1" hangingPunct="1">
              <a:spcBef>
                <a:spcPct val="10000"/>
              </a:spcBef>
              <a:buClrTx/>
              <a:buSzTx/>
              <a:buFontTx/>
              <a:buNone/>
            </a:pPr>
            <a:r>
              <a:rPr lang="en-US" altLang="zh-CN" sz="2000">
                <a:solidFill>
                  <a:srgbClr val="080808"/>
                </a:solidFill>
                <a:latin typeface="Arial Narrow" panose="020B0606020202030204" pitchFamily="34" charset="0"/>
              </a:rPr>
              <a:t>    </a:t>
            </a:r>
            <a:r>
              <a:rPr lang="zh-CN" altLang="en-US" sz="2000">
                <a:solidFill>
                  <a:srgbClr val="080808"/>
                </a:solidFill>
                <a:latin typeface="Arial Narrow" panose="020B0606020202030204" pitchFamily="34" charset="0"/>
              </a:rPr>
              <a:t>局部环境准备代码；		</a:t>
            </a:r>
            <a:r>
              <a:rPr lang="en-US" altLang="zh-CN" sz="1800" i="1">
                <a:solidFill>
                  <a:srgbClr val="0000FF"/>
                </a:solidFill>
                <a:latin typeface="Arial Narrow" panose="020B0606020202030204" pitchFamily="34" charset="0"/>
              </a:rPr>
              <a:t>//</a:t>
            </a:r>
            <a:r>
              <a:rPr lang="zh-CN" altLang="en-US" sz="1800" i="1">
                <a:solidFill>
                  <a:srgbClr val="0000FF"/>
                </a:solidFill>
                <a:latin typeface="Arial Narrow" panose="020B0606020202030204" pitchFamily="34" charset="0"/>
              </a:rPr>
              <a:t>硬件、变量等初始化</a:t>
            </a:r>
          </a:p>
          <a:p>
            <a:pPr eaLnBrk="1" hangingPunct="1">
              <a:spcBef>
                <a:spcPct val="10000"/>
              </a:spcBef>
              <a:buClrTx/>
              <a:buSzTx/>
              <a:buFontTx/>
              <a:buNone/>
            </a:pPr>
            <a:r>
              <a:rPr lang="zh-CN" altLang="en-US" sz="2000">
                <a:solidFill>
                  <a:srgbClr val="080808"/>
                </a:solidFill>
                <a:latin typeface="Arial Narrow" panose="020B0606020202030204" pitchFamily="34" charset="0"/>
              </a:rPr>
              <a:t>    </a:t>
            </a:r>
            <a:r>
              <a:rPr lang="en-US" altLang="zh-CN" sz="2000">
                <a:solidFill>
                  <a:srgbClr val="080808"/>
                </a:solidFill>
                <a:latin typeface="Arial Narrow" panose="020B0606020202030204" pitchFamily="34" charset="0"/>
              </a:rPr>
              <a:t>while(1)</a:t>
            </a:r>
          </a:p>
          <a:p>
            <a:pPr eaLnBrk="1" hangingPunct="1">
              <a:spcBef>
                <a:spcPct val="10000"/>
              </a:spcBef>
              <a:buClrTx/>
              <a:buSzTx/>
              <a:buFontTx/>
              <a:buNone/>
            </a:pPr>
            <a:r>
              <a:rPr lang="en-US" altLang="zh-CN" sz="2000">
                <a:solidFill>
                  <a:srgbClr val="080808"/>
                </a:solidFill>
                <a:latin typeface="Arial Narrow" panose="020B0606020202030204" pitchFamily="34" charset="0"/>
              </a:rPr>
              <a:t>    {</a:t>
            </a:r>
          </a:p>
          <a:p>
            <a:pPr eaLnBrk="1" hangingPunct="1">
              <a:spcBef>
                <a:spcPct val="10000"/>
              </a:spcBef>
              <a:buClrTx/>
              <a:buSzTx/>
              <a:buFontTx/>
              <a:buNone/>
            </a:pPr>
            <a:r>
              <a:rPr lang="en-US" altLang="zh-CN" sz="1800"/>
              <a:t>       </a:t>
            </a:r>
            <a:r>
              <a:rPr lang="zh-CN" altLang="en-US" sz="1800">
                <a:solidFill>
                  <a:srgbClr val="FF0000"/>
                </a:solidFill>
              </a:rPr>
              <a:t>获取事件的系统函数</a:t>
            </a:r>
            <a:r>
              <a:rPr lang="zh-CN" altLang="en-US" sz="1800"/>
              <a:t>；		</a:t>
            </a:r>
            <a:r>
              <a:rPr lang="en-US" altLang="zh-CN" sz="1800" i="1">
                <a:solidFill>
                  <a:srgbClr val="0000FF"/>
                </a:solidFill>
                <a:latin typeface="Arial Narrow" panose="020B0606020202030204" pitchFamily="34" charset="0"/>
              </a:rPr>
              <a:t>//</a:t>
            </a:r>
            <a:r>
              <a:rPr lang="zh-CN" altLang="en-US" sz="1800" i="1">
                <a:solidFill>
                  <a:srgbClr val="0000FF"/>
                </a:solidFill>
                <a:latin typeface="Arial Narrow" panose="020B0606020202030204" pitchFamily="34" charset="0"/>
              </a:rPr>
              <a:t>等待事件（信号量、消息）发生</a:t>
            </a:r>
          </a:p>
          <a:p>
            <a:pPr eaLnBrk="1" hangingPunct="1">
              <a:spcBef>
                <a:spcPct val="10000"/>
              </a:spcBef>
              <a:buClrTx/>
              <a:buSzTx/>
              <a:buFontTx/>
              <a:buNone/>
            </a:pPr>
            <a:r>
              <a:rPr lang="zh-CN" altLang="en-US" sz="2000">
                <a:solidFill>
                  <a:srgbClr val="080808"/>
                </a:solidFill>
                <a:latin typeface="Arial Narrow" panose="020B0606020202030204" pitchFamily="34" charset="0"/>
              </a:rPr>
              <a:t>        任务实体代码；		</a:t>
            </a:r>
            <a:r>
              <a:rPr lang="en-US" altLang="zh-CN" sz="1800" i="1">
                <a:solidFill>
                  <a:srgbClr val="0000FF"/>
                </a:solidFill>
                <a:latin typeface="Arial Narrow" panose="020B0606020202030204" pitchFamily="34" charset="0"/>
              </a:rPr>
              <a:t>//</a:t>
            </a:r>
            <a:r>
              <a:rPr lang="zh-CN" altLang="en-US" sz="1800" i="1">
                <a:solidFill>
                  <a:srgbClr val="0000FF"/>
                </a:solidFill>
                <a:latin typeface="Arial Narrow" panose="020B0606020202030204" pitchFamily="34" charset="0"/>
              </a:rPr>
              <a:t>具体的任务业务</a:t>
            </a:r>
          </a:p>
          <a:p>
            <a:pPr eaLnBrk="1" hangingPunct="1">
              <a:spcBef>
                <a:spcPct val="10000"/>
              </a:spcBef>
              <a:buClrTx/>
              <a:buSzTx/>
              <a:buFontTx/>
              <a:buNone/>
            </a:pPr>
            <a:r>
              <a:rPr lang="zh-CN" altLang="en-US" sz="2000">
                <a:solidFill>
                  <a:srgbClr val="080808"/>
                </a:solidFill>
                <a:latin typeface="Arial Narrow" panose="020B0606020202030204" pitchFamily="34" charset="0"/>
              </a:rPr>
              <a:t>    </a:t>
            </a:r>
            <a:r>
              <a:rPr lang="en-US" altLang="zh-CN" sz="2000">
                <a:solidFill>
                  <a:srgbClr val="080808"/>
                </a:solidFill>
                <a:latin typeface="Arial Narrow" panose="020B0606020202030204" pitchFamily="34" charset="0"/>
              </a:rPr>
              <a:t>}</a:t>
            </a:r>
          </a:p>
          <a:p>
            <a:pPr eaLnBrk="1" hangingPunct="1">
              <a:spcBef>
                <a:spcPct val="10000"/>
              </a:spcBef>
              <a:buClrTx/>
              <a:buSzTx/>
              <a:buFontTx/>
              <a:buNone/>
            </a:pPr>
            <a:r>
              <a:rPr lang="en-US" altLang="zh-CN" sz="2000">
                <a:solidFill>
                  <a:srgbClr val="080808"/>
                </a:solidFill>
                <a:latin typeface="Arial Narrow" panose="020B060602020203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107"/>
                                        </p:tgtEl>
                                        <p:attrNameLst>
                                          <p:attrName>style.visibility</p:attrName>
                                        </p:attrNameLst>
                                      </p:cBhvr>
                                      <p:to>
                                        <p:strVal val="visible"/>
                                      </p:to>
                                    </p:set>
                                    <p:animEffect transition="in" filter="blinds(horizontal)">
                                      <p:cBhvr>
                                        <p:cTn id="7" dur="500"/>
                                        <p:tgtEl>
                                          <p:spTgt spid="132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页脚占位符 3">
            <a:extLst>
              <a:ext uri="{FF2B5EF4-FFF2-40B4-BE49-F238E27FC236}">
                <a16:creationId xmlns:a16="http://schemas.microsoft.com/office/drawing/2014/main" id="{315F192E-8343-0BBE-03F2-B417F812C57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09571" name="灯片编号占位符 4">
            <a:extLst>
              <a:ext uri="{FF2B5EF4-FFF2-40B4-BE49-F238E27FC236}">
                <a16:creationId xmlns:a16="http://schemas.microsoft.com/office/drawing/2014/main" id="{C73AC733-ED70-23CB-A27E-87C285C7C1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20B6C2C-873C-4614-B31E-B878C599D5EF}" type="slidenum">
              <a:rPr lang="en-US" altLang="zh-CN" sz="1200" smtClean="0">
                <a:solidFill>
                  <a:srgbClr val="3366FF"/>
                </a:solidFill>
                <a:latin typeface="Arial Black" panose="020B0A04020102020204" pitchFamily="34" charset="0"/>
              </a:rPr>
              <a:pPr>
                <a:spcBef>
                  <a:spcPct val="0"/>
                </a:spcBef>
                <a:buClrTx/>
                <a:buSzTx/>
                <a:buFontTx/>
                <a:buNone/>
              </a:pPr>
              <a:t>104</a:t>
            </a:fld>
            <a:endParaRPr lang="en-US" altLang="zh-CN" sz="1200">
              <a:solidFill>
                <a:srgbClr val="3366FF"/>
              </a:solidFill>
              <a:latin typeface="Arial Black" panose="020B0A04020102020204" pitchFamily="34" charset="0"/>
            </a:endParaRPr>
          </a:p>
        </p:txBody>
      </p:sp>
      <p:sp>
        <p:nvSpPr>
          <p:cNvPr id="109572" name="日期占位符 5">
            <a:extLst>
              <a:ext uri="{FF2B5EF4-FFF2-40B4-BE49-F238E27FC236}">
                <a16:creationId xmlns:a16="http://schemas.microsoft.com/office/drawing/2014/main" id="{7A8C6131-F1B9-8C0D-B31E-5DC683297E7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7C6D8AB-F763-4EA8-8F72-9BDC70FA3E72}"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09573" name="Rectangle 2">
            <a:extLst>
              <a:ext uri="{FF2B5EF4-FFF2-40B4-BE49-F238E27FC236}">
                <a16:creationId xmlns:a16="http://schemas.microsoft.com/office/drawing/2014/main" id="{B0447A32-F6EC-9D45-4C91-8401A0A61242}"/>
              </a:ext>
            </a:extLst>
          </p:cNvPr>
          <p:cNvSpPr>
            <a:spLocks noGrp="1" noChangeArrowheads="1"/>
          </p:cNvSpPr>
          <p:nvPr>
            <p:ph type="title"/>
          </p:nvPr>
        </p:nvSpPr>
        <p:spPr>
          <a:xfrm>
            <a:off x="457200" y="673100"/>
            <a:ext cx="8229600" cy="668338"/>
          </a:xfrm>
        </p:spPr>
        <p:txBody>
          <a:bodyPr/>
          <a:lstStyle/>
          <a:p>
            <a:pPr eaLnBrk="1" hangingPunct="1"/>
            <a:r>
              <a:rPr lang="zh-CN" altLang="en-US" sz="3400"/>
              <a:t>补充：</a:t>
            </a:r>
            <a:r>
              <a:rPr lang="en-US" altLang="zh-CN" sz="3400"/>
              <a:t>5 --- </a:t>
            </a:r>
            <a:r>
              <a:rPr lang="zh-CN" altLang="en-US" sz="3400"/>
              <a:t>任务的执行分类和优先级安排</a:t>
            </a:r>
          </a:p>
        </p:txBody>
      </p:sp>
      <p:sp>
        <p:nvSpPr>
          <p:cNvPr id="109574" name="Rectangle 3">
            <a:extLst>
              <a:ext uri="{FF2B5EF4-FFF2-40B4-BE49-F238E27FC236}">
                <a16:creationId xmlns:a16="http://schemas.microsoft.com/office/drawing/2014/main" id="{851BBAC4-EF4E-EE1F-1389-2D0144ADE226}"/>
              </a:ext>
            </a:extLst>
          </p:cNvPr>
          <p:cNvSpPr>
            <a:spLocks noGrp="1" noChangeArrowheads="1"/>
          </p:cNvSpPr>
          <p:nvPr>
            <p:ph type="body" idx="1"/>
          </p:nvPr>
        </p:nvSpPr>
        <p:spPr>
          <a:xfrm>
            <a:off x="468313" y="1485900"/>
            <a:ext cx="8229600" cy="647700"/>
          </a:xfrm>
        </p:spPr>
        <p:txBody>
          <a:bodyPr/>
          <a:lstStyle/>
          <a:p>
            <a:pPr eaLnBrk="1" hangingPunct="1"/>
            <a:r>
              <a:rPr lang="zh-CN" altLang="en-US"/>
              <a:t>任务的优先级安排：</a:t>
            </a:r>
          </a:p>
        </p:txBody>
      </p:sp>
      <p:sp>
        <p:nvSpPr>
          <p:cNvPr id="109575" name="Text Box 4">
            <a:extLst>
              <a:ext uri="{FF2B5EF4-FFF2-40B4-BE49-F238E27FC236}">
                <a16:creationId xmlns:a16="http://schemas.microsoft.com/office/drawing/2014/main" id="{2A7A2F28-51B5-E532-0C32-2C75A84A8F52}"/>
              </a:ext>
            </a:extLst>
          </p:cNvPr>
          <p:cNvSpPr txBox="1">
            <a:spLocks noChangeArrowheads="1"/>
          </p:cNvSpPr>
          <p:nvPr/>
        </p:nvSpPr>
        <p:spPr bwMode="auto">
          <a:xfrm>
            <a:off x="1042988" y="2232025"/>
            <a:ext cx="712946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800">
                <a:latin typeface="Arial Narrow" panose="020B0606020202030204" pitchFamily="34" charset="0"/>
              </a:rPr>
              <a:t>任务的优先级资源</a:t>
            </a:r>
          </a:p>
        </p:txBody>
      </p:sp>
      <p:grpSp>
        <p:nvGrpSpPr>
          <p:cNvPr id="2" name="Group 11">
            <a:extLst>
              <a:ext uri="{FF2B5EF4-FFF2-40B4-BE49-F238E27FC236}">
                <a16:creationId xmlns:a16="http://schemas.microsoft.com/office/drawing/2014/main" id="{5B512B21-7549-DFA7-FA55-4BE202C54473}"/>
              </a:ext>
            </a:extLst>
          </p:cNvPr>
          <p:cNvGrpSpPr>
            <a:grpSpLocks/>
          </p:cNvGrpSpPr>
          <p:nvPr/>
        </p:nvGrpSpPr>
        <p:grpSpPr bwMode="auto">
          <a:xfrm>
            <a:off x="611188" y="2962275"/>
            <a:ext cx="8064500" cy="2411413"/>
            <a:chOff x="385" y="1866"/>
            <a:chExt cx="5080" cy="1519"/>
          </a:xfrm>
        </p:grpSpPr>
        <p:sp>
          <p:nvSpPr>
            <p:cNvPr id="109577" name="Text Box 5">
              <a:extLst>
                <a:ext uri="{FF2B5EF4-FFF2-40B4-BE49-F238E27FC236}">
                  <a16:creationId xmlns:a16="http://schemas.microsoft.com/office/drawing/2014/main" id="{F33E5BE4-4CE3-53BA-80F9-C64E895B0153}"/>
                </a:ext>
              </a:extLst>
            </p:cNvPr>
            <p:cNvSpPr txBox="1">
              <a:spLocks noChangeArrowheads="1"/>
            </p:cNvSpPr>
            <p:nvPr/>
          </p:nvSpPr>
          <p:spPr bwMode="auto">
            <a:xfrm>
              <a:off x="521" y="1866"/>
              <a:ext cx="4944"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400">
                  <a:latin typeface="Arial Narrow" panose="020B0606020202030204" pitchFamily="34" charset="0"/>
                </a:rPr>
                <a:t>任务的优先级资源由</a:t>
              </a:r>
              <a:r>
                <a:rPr lang="en-US" altLang="zh-CN" sz="2400">
                  <a:latin typeface="Arial Narrow" panose="020B0606020202030204" pitchFamily="34" charset="0"/>
                </a:rPr>
                <a:t>RTOS</a:t>
              </a:r>
              <a:r>
                <a:rPr lang="zh-CN" altLang="en-US" sz="2400">
                  <a:latin typeface="Arial Narrow" panose="020B0606020202030204" pitchFamily="34" charset="0"/>
                </a:rPr>
                <a:t>提供，</a:t>
              </a:r>
              <a:r>
                <a:rPr lang="en-US" altLang="zh-CN" sz="2400">
                  <a:latin typeface="Arial Narrow" panose="020B0606020202030204" pitchFamily="34" charset="0"/>
                </a:rPr>
                <a:t>uC/OS-II</a:t>
              </a:r>
              <a:r>
                <a:rPr lang="zh-CN" altLang="en-US" sz="2400">
                  <a:latin typeface="Arial Narrow" panose="020B0606020202030204" pitchFamily="34" charset="0"/>
                </a:rPr>
                <a:t>中使用系统宏常数</a:t>
              </a:r>
              <a:r>
                <a:rPr lang="en-US" altLang="zh-CN" sz="2400">
                  <a:latin typeface="Arial Narrow" panose="020B0606020202030204" pitchFamily="34" charset="0"/>
                </a:rPr>
                <a:t>OS_LOWEST_PRIO</a:t>
              </a:r>
              <a:r>
                <a:rPr lang="zh-CN" altLang="en-US" sz="2400">
                  <a:latin typeface="Arial Narrow" panose="020B0606020202030204" pitchFamily="34" charset="0"/>
                </a:rPr>
                <a:t>约定其可用的优先级个数，其值最大为</a:t>
              </a:r>
              <a:r>
                <a:rPr lang="en-US" altLang="zh-CN" sz="2400">
                  <a:latin typeface="Arial Narrow" panose="020B0606020202030204" pitchFamily="34" charset="0"/>
                </a:rPr>
                <a:t>63</a:t>
              </a:r>
              <a:r>
                <a:rPr lang="zh-CN" altLang="en-US" sz="2400">
                  <a:latin typeface="Arial Narrow" panose="020B0606020202030204" pitchFamily="34" charset="0"/>
                </a:rPr>
                <a:t>。</a:t>
              </a:r>
            </a:p>
          </p:txBody>
        </p:sp>
        <p:sp>
          <p:nvSpPr>
            <p:cNvPr id="109578" name="Text Box 7" descr="羊皮纸">
              <a:extLst>
                <a:ext uri="{FF2B5EF4-FFF2-40B4-BE49-F238E27FC236}">
                  <a16:creationId xmlns:a16="http://schemas.microsoft.com/office/drawing/2014/main" id="{770B172D-61CB-4CE2-D90E-D6707F377937}"/>
                </a:ext>
              </a:extLst>
            </p:cNvPr>
            <p:cNvSpPr txBox="1">
              <a:spLocks noChangeArrowheads="1"/>
            </p:cNvSpPr>
            <p:nvPr/>
          </p:nvSpPr>
          <p:spPr bwMode="auto">
            <a:xfrm>
              <a:off x="385" y="2904"/>
              <a:ext cx="5035" cy="481"/>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en-US" altLang="zh-CN" sz="800">
                <a:solidFill>
                  <a:srgbClr val="0000FF"/>
                </a:solidFill>
                <a:latin typeface="Arial Narrow" panose="020B0606020202030204" pitchFamily="34" charset="0"/>
              </a:endParaRPr>
            </a:p>
            <a:p>
              <a:pPr algn="ctr" eaLnBrk="1" hangingPunct="1">
                <a:spcBef>
                  <a:spcPct val="0"/>
                </a:spcBef>
                <a:buClrTx/>
                <a:buSzTx/>
                <a:buFontTx/>
                <a:buNone/>
              </a:pPr>
              <a:r>
                <a:rPr lang="en-US" altLang="zh-CN" sz="2800">
                  <a:solidFill>
                    <a:srgbClr val="0000FF"/>
                  </a:solidFill>
                  <a:latin typeface="Arial Narrow" panose="020B0606020202030204" pitchFamily="34" charset="0"/>
                </a:rPr>
                <a:t>#define OS_LOWEST_PRIO     xx</a:t>
              </a:r>
              <a:r>
                <a:rPr lang="en-US" altLang="zh-CN" sz="2400">
                  <a:solidFill>
                    <a:srgbClr val="0000FF"/>
                  </a:solidFill>
                  <a:latin typeface="Arial Narrow" panose="020B0606020202030204" pitchFamily="34" charset="0"/>
                </a:rPr>
                <a:t>     </a:t>
              </a:r>
              <a:r>
                <a:rPr lang="en-US" altLang="zh-CN" sz="2000">
                  <a:solidFill>
                    <a:srgbClr val="0000FF"/>
                  </a:solidFill>
                  <a:latin typeface="Arial Narrow" panose="020B0606020202030204" pitchFamily="34" charset="0"/>
                </a:rPr>
                <a:t>//</a:t>
              </a:r>
              <a:r>
                <a:rPr lang="zh-CN" altLang="en-US" sz="2000">
                  <a:solidFill>
                    <a:srgbClr val="0000FF"/>
                  </a:solidFill>
                  <a:latin typeface="Arial Narrow" panose="020B0606020202030204" pitchFamily="34" charset="0"/>
                </a:rPr>
                <a:t>该行属于</a:t>
              </a:r>
              <a:r>
                <a:rPr lang="en-US" altLang="zh-CN" sz="2000">
                  <a:solidFill>
                    <a:srgbClr val="0000FF"/>
                  </a:solidFill>
                  <a:latin typeface="Arial Narrow" panose="020B0606020202030204" pitchFamily="34" charset="0"/>
                </a:rPr>
                <a:t>OS_CFG.H</a:t>
              </a:r>
              <a:r>
                <a:rPr lang="zh-CN" altLang="en-US" sz="2000">
                  <a:solidFill>
                    <a:srgbClr val="0000FF"/>
                  </a:solidFill>
                  <a:latin typeface="Arial Narrow" panose="020B0606020202030204" pitchFamily="34" charset="0"/>
                </a:rPr>
                <a:t>文件</a:t>
              </a:r>
            </a:p>
            <a:p>
              <a:pPr algn="ctr" eaLnBrk="1" hangingPunct="1">
                <a:spcBef>
                  <a:spcPct val="0"/>
                </a:spcBef>
                <a:buClrTx/>
                <a:buSzTx/>
                <a:buFontTx/>
                <a:buNone/>
              </a:pPr>
              <a:endParaRPr lang="en-US" altLang="zh-CN" sz="800">
                <a:solidFill>
                  <a:srgbClr val="0000FF"/>
                </a:solidFill>
                <a:latin typeface="Arial Narrow" panose="020B060602020203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页脚占位符 1">
            <a:extLst>
              <a:ext uri="{FF2B5EF4-FFF2-40B4-BE49-F238E27FC236}">
                <a16:creationId xmlns:a16="http://schemas.microsoft.com/office/drawing/2014/main" id="{27125ACF-7EA9-8F73-AC02-6D73228C140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0595" name="灯片编号占位符 2">
            <a:extLst>
              <a:ext uri="{FF2B5EF4-FFF2-40B4-BE49-F238E27FC236}">
                <a16:creationId xmlns:a16="http://schemas.microsoft.com/office/drawing/2014/main" id="{E968EE94-760E-1BDC-01F7-89C4F872BE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6EA1E84-B9D4-4535-BC03-6661E775CB96}" type="slidenum">
              <a:rPr lang="en-US" altLang="zh-CN" sz="1200" smtClean="0">
                <a:solidFill>
                  <a:srgbClr val="3366FF"/>
                </a:solidFill>
                <a:latin typeface="Arial Black" panose="020B0A04020102020204" pitchFamily="34" charset="0"/>
              </a:rPr>
              <a:pPr>
                <a:spcBef>
                  <a:spcPct val="0"/>
                </a:spcBef>
                <a:buClrTx/>
                <a:buSzTx/>
                <a:buFontTx/>
                <a:buNone/>
              </a:pPr>
              <a:t>105</a:t>
            </a:fld>
            <a:endParaRPr lang="en-US" altLang="zh-CN" sz="1200">
              <a:solidFill>
                <a:srgbClr val="3366FF"/>
              </a:solidFill>
              <a:latin typeface="Arial Black" panose="020B0A04020102020204" pitchFamily="34" charset="0"/>
            </a:endParaRPr>
          </a:p>
        </p:txBody>
      </p:sp>
      <p:sp>
        <p:nvSpPr>
          <p:cNvPr id="110596" name="日期占位符 3">
            <a:extLst>
              <a:ext uri="{FF2B5EF4-FFF2-40B4-BE49-F238E27FC236}">
                <a16:creationId xmlns:a16="http://schemas.microsoft.com/office/drawing/2014/main" id="{C79D4F2B-3898-3A7F-E01A-BFDC51D96FD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FAA297D-754C-4606-869D-01B3BF7673DF}"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0597" name="Text Box 5">
            <a:extLst>
              <a:ext uri="{FF2B5EF4-FFF2-40B4-BE49-F238E27FC236}">
                <a16:creationId xmlns:a16="http://schemas.microsoft.com/office/drawing/2014/main" id="{D5942F58-75A4-2660-C16B-1CEFFBFC5340}"/>
              </a:ext>
            </a:extLst>
          </p:cNvPr>
          <p:cNvSpPr txBox="1">
            <a:spLocks noChangeArrowheads="1"/>
          </p:cNvSpPr>
          <p:nvPr/>
        </p:nvSpPr>
        <p:spPr bwMode="auto">
          <a:xfrm>
            <a:off x="539750" y="2625725"/>
            <a:ext cx="8208963"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35000"/>
              </a:spcBef>
              <a:buClr>
                <a:srgbClr val="F66C04"/>
              </a:buClr>
              <a:buSzPct val="55000"/>
              <a:buFont typeface="Wingdings" panose="05000000000000000000" pitchFamily="2" charset="2"/>
              <a:buChar char="Ø"/>
            </a:pPr>
            <a:r>
              <a:rPr lang="zh-CN" altLang="en-US" sz="2000">
                <a:latin typeface="Arial Narrow" panose="020B0606020202030204" pitchFamily="34" charset="0"/>
              </a:rPr>
              <a:t>任务可用的优先级总个数为  </a:t>
            </a:r>
            <a:r>
              <a:rPr lang="en-US" altLang="zh-CN" sz="2000">
                <a:latin typeface="Arial Narrow" panose="020B0606020202030204" pitchFamily="34" charset="0"/>
              </a:rPr>
              <a:t>(OS_LOWEST_PRIO + 1) </a:t>
            </a:r>
            <a:r>
              <a:rPr lang="zh-CN" altLang="en-US" sz="2000">
                <a:latin typeface="Arial Narrow" panose="020B0606020202030204" pitchFamily="34" charset="0"/>
              </a:rPr>
              <a:t>个，</a:t>
            </a:r>
            <a:r>
              <a:rPr lang="en-US" altLang="zh-CN" sz="2000">
                <a:latin typeface="Arial Narrow" panose="020B0606020202030204" pitchFamily="34" charset="0"/>
              </a:rPr>
              <a:t>Task-&gt;prio</a:t>
            </a:r>
            <a:r>
              <a:rPr lang="zh-CN" altLang="en-US" sz="2000">
                <a:latin typeface="Arial Narrow" panose="020B0606020202030204" pitchFamily="34" charset="0"/>
              </a:rPr>
              <a:t>的值域为</a:t>
            </a:r>
            <a:r>
              <a:rPr lang="en-US" altLang="zh-CN" sz="2000">
                <a:latin typeface="Arial Narrow" panose="020B0606020202030204" pitchFamily="34" charset="0"/>
              </a:rPr>
              <a:t>{ 0,...,OS_LOWEST_PRIO}</a:t>
            </a:r>
            <a:r>
              <a:rPr lang="zh-CN" altLang="en-US" sz="2000">
                <a:latin typeface="Arial Narrow" panose="020B0606020202030204" pitchFamily="34" charset="0"/>
              </a:rPr>
              <a:t>；</a:t>
            </a:r>
          </a:p>
          <a:p>
            <a:pPr eaLnBrk="1" hangingPunct="1">
              <a:lnSpc>
                <a:spcPct val="115000"/>
              </a:lnSpc>
              <a:spcBef>
                <a:spcPct val="35000"/>
              </a:spcBef>
              <a:buClr>
                <a:srgbClr val="F66C04"/>
              </a:buClr>
              <a:buSzPct val="55000"/>
              <a:buFont typeface="Wingdings" panose="05000000000000000000" pitchFamily="2" charset="2"/>
              <a:buChar char="Ø"/>
            </a:pPr>
            <a:r>
              <a:rPr lang="zh-CN" altLang="en-US" sz="2000">
                <a:latin typeface="Arial Narrow" panose="020B0606020202030204" pitchFamily="34" charset="0"/>
              </a:rPr>
              <a:t> 优先级  </a:t>
            </a:r>
            <a:r>
              <a:rPr lang="en-US" altLang="zh-CN" sz="2000">
                <a:latin typeface="Arial Narrow" panose="020B0606020202030204" pitchFamily="34" charset="0"/>
              </a:rPr>
              <a:t>OS_LOWEST_PRIO </a:t>
            </a:r>
            <a:r>
              <a:rPr lang="zh-CN" altLang="en-US" sz="2000">
                <a:latin typeface="Arial Narrow" panose="020B0606020202030204" pitchFamily="34" charset="0"/>
              </a:rPr>
              <a:t>固定分给给了</a:t>
            </a:r>
            <a:r>
              <a:rPr lang="en-US" altLang="zh-CN" sz="2000">
                <a:latin typeface="Arial Narrow" panose="020B0606020202030204" pitchFamily="34" charset="0"/>
              </a:rPr>
              <a:t>OSTaskIdel(),</a:t>
            </a:r>
            <a:r>
              <a:rPr lang="zh-CN" altLang="en-US" sz="2000">
                <a:latin typeface="Arial Narrow" panose="020B0606020202030204" pitchFamily="34" charset="0"/>
              </a:rPr>
              <a:t>优先级  </a:t>
            </a:r>
            <a:r>
              <a:rPr lang="en-US" altLang="zh-CN" sz="2000">
                <a:latin typeface="Arial Narrow" panose="020B0606020202030204" pitchFamily="34" charset="0"/>
              </a:rPr>
              <a:t>OS_LOWEST_PRIO - 1 </a:t>
            </a:r>
            <a:r>
              <a:rPr lang="zh-CN" altLang="en-US" sz="2000">
                <a:latin typeface="Arial Narrow" panose="020B0606020202030204" pitchFamily="34" charset="0"/>
              </a:rPr>
              <a:t>固定分给给了</a:t>
            </a:r>
            <a:r>
              <a:rPr lang="en-US" altLang="zh-CN" sz="2000">
                <a:latin typeface="Arial Narrow" panose="020B0606020202030204" pitchFamily="34" charset="0"/>
              </a:rPr>
              <a:t>OSTaskStat()</a:t>
            </a:r>
            <a:r>
              <a:rPr lang="zh-CN" altLang="en-US" sz="2000">
                <a:latin typeface="Arial Narrow" panose="020B0606020202030204" pitchFamily="34" charset="0"/>
              </a:rPr>
              <a:t>；</a:t>
            </a:r>
          </a:p>
          <a:p>
            <a:pPr eaLnBrk="1" hangingPunct="1">
              <a:lnSpc>
                <a:spcPct val="115000"/>
              </a:lnSpc>
              <a:spcBef>
                <a:spcPct val="35000"/>
              </a:spcBef>
              <a:buClr>
                <a:srgbClr val="F66C04"/>
              </a:buClr>
              <a:buSzPct val="55000"/>
              <a:buFont typeface="Wingdings" panose="05000000000000000000" pitchFamily="2" charset="2"/>
              <a:buChar char="Ø"/>
            </a:pPr>
            <a:r>
              <a:rPr lang="en-US" altLang="zh-CN" sz="2000">
                <a:latin typeface="Arial Narrow" panose="020B0606020202030204" pitchFamily="34" charset="0"/>
              </a:rPr>
              <a:t>uC/OS-II </a:t>
            </a:r>
            <a:r>
              <a:rPr lang="zh-CN" altLang="en-US" sz="2000">
                <a:latin typeface="Arial Narrow" panose="020B0606020202030204" pitchFamily="34" charset="0"/>
              </a:rPr>
              <a:t>建议保留优先级：</a:t>
            </a:r>
            <a:r>
              <a:rPr lang="en-US" altLang="zh-CN" sz="2000">
                <a:latin typeface="Arial Narrow" panose="020B0606020202030204" pitchFamily="34" charset="0"/>
              </a:rPr>
              <a:t>0,1,2,3, OS_LOWEST_PRIO</a:t>
            </a:r>
            <a:r>
              <a:rPr lang="en-US" altLang="en-US" sz="2000"/>
              <a:t>－</a:t>
            </a:r>
            <a:r>
              <a:rPr lang="en-US" altLang="zh-CN" sz="2000">
                <a:latin typeface="Arial Narrow" panose="020B0606020202030204" pitchFamily="34" charset="0"/>
              </a:rPr>
              <a:t>2, OS_LOWEST_PRIO</a:t>
            </a:r>
            <a:r>
              <a:rPr lang="en-US" altLang="en-US" sz="2000"/>
              <a:t>－</a:t>
            </a:r>
            <a:r>
              <a:rPr lang="en-US" altLang="zh-CN" sz="2000">
                <a:latin typeface="Arial Narrow" panose="020B0606020202030204" pitchFamily="34" charset="0"/>
              </a:rPr>
              <a:t>3 </a:t>
            </a:r>
            <a:r>
              <a:rPr lang="zh-CN" altLang="en-US" sz="2000">
                <a:latin typeface="Arial Narrow" panose="020B0606020202030204" pitchFamily="34" charset="0"/>
              </a:rPr>
              <a:t>，以备将来可能的</a:t>
            </a:r>
            <a:r>
              <a:rPr lang="en-US" altLang="zh-CN" sz="2000">
                <a:latin typeface="Arial Narrow" panose="020B0606020202030204" pitchFamily="34" charset="0"/>
              </a:rPr>
              <a:t>uC/OS-II</a:t>
            </a:r>
            <a:r>
              <a:rPr lang="zh-CN" altLang="en-US" sz="2000">
                <a:latin typeface="Arial Narrow" panose="020B0606020202030204" pitchFamily="34" charset="0"/>
              </a:rPr>
              <a:t>系统升级；</a:t>
            </a:r>
          </a:p>
          <a:p>
            <a:pPr eaLnBrk="1" hangingPunct="1">
              <a:lnSpc>
                <a:spcPct val="115000"/>
              </a:lnSpc>
              <a:spcBef>
                <a:spcPct val="35000"/>
              </a:spcBef>
              <a:buClr>
                <a:srgbClr val="F66C04"/>
              </a:buClr>
              <a:buSzPct val="55000"/>
              <a:buFont typeface="Wingdings" panose="05000000000000000000" pitchFamily="2" charset="2"/>
              <a:buChar char="Ø"/>
            </a:pPr>
            <a:r>
              <a:rPr lang="zh-CN" altLang="en-US" sz="2000">
                <a:latin typeface="Arial Narrow" panose="020B0606020202030204" pitchFamily="34" charset="0"/>
              </a:rPr>
              <a:t>规划系统时优先级的个数过度冗余会造成资源浪费；</a:t>
            </a:r>
          </a:p>
          <a:p>
            <a:pPr eaLnBrk="1" hangingPunct="1">
              <a:lnSpc>
                <a:spcPct val="115000"/>
              </a:lnSpc>
              <a:spcBef>
                <a:spcPct val="35000"/>
              </a:spcBef>
              <a:buClr>
                <a:srgbClr val="F66C04"/>
              </a:buClr>
              <a:buSzPct val="55000"/>
              <a:buFont typeface="Wingdings" panose="05000000000000000000" pitchFamily="2" charset="2"/>
              <a:buChar char="Ø"/>
            </a:pPr>
            <a:r>
              <a:rPr lang="zh-CN" altLang="en-US" sz="2000">
                <a:latin typeface="Arial Narrow" panose="020B0606020202030204" pitchFamily="34" charset="0"/>
              </a:rPr>
              <a:t>要注意“临时任务”的优先级规划；</a:t>
            </a:r>
          </a:p>
        </p:txBody>
      </p:sp>
      <p:sp>
        <p:nvSpPr>
          <p:cNvPr id="110598" name="Rectangle 6">
            <a:extLst>
              <a:ext uri="{FF2B5EF4-FFF2-40B4-BE49-F238E27FC236}">
                <a16:creationId xmlns:a16="http://schemas.microsoft.com/office/drawing/2014/main" id="{6FB8A106-D190-25E6-1855-FA7F22F0B91A}"/>
              </a:ext>
            </a:extLst>
          </p:cNvPr>
          <p:cNvSpPr>
            <a:spLocks noChangeArrowheads="1"/>
          </p:cNvSpPr>
          <p:nvPr/>
        </p:nvSpPr>
        <p:spPr bwMode="auto">
          <a:xfrm>
            <a:off x="457200" y="673100"/>
            <a:ext cx="8229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400" b="0"/>
              <a:t>补充：</a:t>
            </a:r>
            <a:r>
              <a:rPr lang="en-US" altLang="zh-CN" sz="3400" b="0"/>
              <a:t>5 --- </a:t>
            </a:r>
            <a:r>
              <a:rPr lang="zh-CN" altLang="en-US" sz="3400" b="0"/>
              <a:t>任务的执行分类和优先级安排</a:t>
            </a:r>
          </a:p>
        </p:txBody>
      </p:sp>
      <p:sp>
        <p:nvSpPr>
          <p:cNvPr id="110599" name="Rectangle 7">
            <a:extLst>
              <a:ext uri="{FF2B5EF4-FFF2-40B4-BE49-F238E27FC236}">
                <a16:creationId xmlns:a16="http://schemas.microsoft.com/office/drawing/2014/main" id="{EE5019E7-5D0C-F71D-3482-9E9D737321BE}"/>
              </a:ext>
            </a:extLst>
          </p:cNvPr>
          <p:cNvSpPr>
            <a:spLocks noChangeArrowheads="1"/>
          </p:cNvSpPr>
          <p:nvPr/>
        </p:nvSpPr>
        <p:spPr bwMode="auto">
          <a:xfrm>
            <a:off x="468313" y="17002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0"/>
              <a:t>任务的优先级安排注意事项：</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页脚占位符 3">
            <a:extLst>
              <a:ext uri="{FF2B5EF4-FFF2-40B4-BE49-F238E27FC236}">
                <a16:creationId xmlns:a16="http://schemas.microsoft.com/office/drawing/2014/main" id="{D369D677-028C-E0A2-D0FD-02B3E5AB9A6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1619" name="灯片编号占位符 4">
            <a:extLst>
              <a:ext uri="{FF2B5EF4-FFF2-40B4-BE49-F238E27FC236}">
                <a16:creationId xmlns:a16="http://schemas.microsoft.com/office/drawing/2014/main" id="{E9957487-04A4-D138-C4B9-16D7A6AF7A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7B41200B-2784-45BF-BF96-5E2141ADA1D0}" type="slidenum">
              <a:rPr lang="en-US" altLang="zh-CN" sz="1200" smtClean="0">
                <a:solidFill>
                  <a:srgbClr val="3366FF"/>
                </a:solidFill>
                <a:latin typeface="Arial Black" panose="020B0A04020102020204" pitchFamily="34" charset="0"/>
              </a:rPr>
              <a:pPr>
                <a:spcBef>
                  <a:spcPct val="0"/>
                </a:spcBef>
                <a:buClrTx/>
                <a:buSzTx/>
                <a:buFontTx/>
                <a:buNone/>
              </a:pPr>
              <a:t>106</a:t>
            </a:fld>
            <a:endParaRPr lang="en-US" altLang="zh-CN" sz="1200">
              <a:solidFill>
                <a:srgbClr val="3366FF"/>
              </a:solidFill>
              <a:latin typeface="Arial Black" panose="020B0A04020102020204" pitchFamily="34" charset="0"/>
            </a:endParaRPr>
          </a:p>
        </p:txBody>
      </p:sp>
      <p:sp>
        <p:nvSpPr>
          <p:cNvPr id="111620" name="日期占位符 5">
            <a:extLst>
              <a:ext uri="{FF2B5EF4-FFF2-40B4-BE49-F238E27FC236}">
                <a16:creationId xmlns:a16="http://schemas.microsoft.com/office/drawing/2014/main" id="{82A243CB-A92F-6D36-D623-8CA2E9F0C0A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58F035B-91A5-4EF9-AF3D-E388BBFA1EE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1621" name="Rectangle 2">
            <a:extLst>
              <a:ext uri="{FF2B5EF4-FFF2-40B4-BE49-F238E27FC236}">
                <a16:creationId xmlns:a16="http://schemas.microsoft.com/office/drawing/2014/main" id="{62D1441E-155C-2AB4-7B78-35883A23B02B}"/>
              </a:ext>
            </a:extLst>
          </p:cNvPr>
          <p:cNvSpPr>
            <a:spLocks noGrp="1" noChangeArrowheads="1"/>
          </p:cNvSpPr>
          <p:nvPr>
            <p:ph type="title"/>
          </p:nvPr>
        </p:nvSpPr>
        <p:spPr>
          <a:xfrm>
            <a:off x="457200" y="600075"/>
            <a:ext cx="8229600" cy="668338"/>
          </a:xfrm>
        </p:spPr>
        <p:txBody>
          <a:bodyPr/>
          <a:lstStyle/>
          <a:p>
            <a:pPr eaLnBrk="1" hangingPunct="1"/>
            <a:r>
              <a:rPr lang="zh-CN" altLang="en-US" sz="3400"/>
              <a:t>补充：</a:t>
            </a:r>
            <a:r>
              <a:rPr lang="en-US" altLang="zh-CN" sz="3400"/>
              <a:t>5 --- </a:t>
            </a:r>
            <a:r>
              <a:rPr lang="zh-CN" altLang="en-US" sz="3400"/>
              <a:t>任务的执行分类和优先级安排</a:t>
            </a:r>
          </a:p>
        </p:txBody>
      </p:sp>
      <p:sp>
        <p:nvSpPr>
          <p:cNvPr id="111622" name="Rectangle 3">
            <a:extLst>
              <a:ext uri="{FF2B5EF4-FFF2-40B4-BE49-F238E27FC236}">
                <a16:creationId xmlns:a16="http://schemas.microsoft.com/office/drawing/2014/main" id="{6F214EE8-2734-A9B2-9B6F-00BAF0DF1AC8}"/>
              </a:ext>
            </a:extLst>
          </p:cNvPr>
          <p:cNvSpPr>
            <a:spLocks noGrp="1" noChangeArrowheads="1"/>
          </p:cNvSpPr>
          <p:nvPr>
            <p:ph type="body" idx="1"/>
          </p:nvPr>
        </p:nvSpPr>
        <p:spPr>
          <a:xfrm>
            <a:off x="468313" y="1341438"/>
            <a:ext cx="8229600" cy="647700"/>
          </a:xfrm>
        </p:spPr>
        <p:txBody>
          <a:bodyPr/>
          <a:lstStyle/>
          <a:p>
            <a:pPr eaLnBrk="1" hangingPunct="1"/>
            <a:r>
              <a:rPr lang="zh-CN" altLang="en-US"/>
              <a:t>任务的优先级安排一般性原则：</a:t>
            </a:r>
          </a:p>
        </p:txBody>
      </p:sp>
      <p:sp>
        <p:nvSpPr>
          <p:cNvPr id="111623" name="Text Box 4">
            <a:extLst>
              <a:ext uri="{FF2B5EF4-FFF2-40B4-BE49-F238E27FC236}">
                <a16:creationId xmlns:a16="http://schemas.microsoft.com/office/drawing/2014/main" id="{C86A69CE-65D1-81F3-FA12-781ECDCE231D}"/>
              </a:ext>
            </a:extLst>
          </p:cNvPr>
          <p:cNvSpPr txBox="1">
            <a:spLocks noChangeArrowheads="1"/>
          </p:cNvSpPr>
          <p:nvPr/>
        </p:nvSpPr>
        <p:spPr bwMode="auto">
          <a:xfrm>
            <a:off x="827088" y="1982788"/>
            <a:ext cx="7777162" cy="353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3525" indent="-26352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en-US" altLang="zh-CN" sz="2400">
                <a:solidFill>
                  <a:srgbClr val="3333FF"/>
                </a:solidFill>
                <a:latin typeface="Arial Narrow" panose="020B0606020202030204" pitchFamily="34" charset="0"/>
              </a:rPr>
              <a:t>ISR </a:t>
            </a:r>
            <a:r>
              <a:rPr lang="zh-CN" altLang="en-US" sz="2400">
                <a:solidFill>
                  <a:srgbClr val="3333FF"/>
                </a:solidFill>
                <a:latin typeface="Arial Narrow" panose="020B0606020202030204" pitchFamily="34" charset="0"/>
              </a:rPr>
              <a:t>相关联的任务</a:t>
            </a:r>
            <a:r>
              <a:rPr lang="zh-CN" altLang="en-US" sz="2400">
                <a:latin typeface="Arial Narrow" panose="020B0606020202030204" pitchFamily="34" charset="0"/>
              </a:rPr>
              <a:t>应安排较高的优先级，以便尽快响应中断的业务处理。</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solidFill>
                  <a:srgbClr val="3333FF"/>
                </a:solidFill>
                <a:latin typeface="Arial Narrow" panose="020B0606020202030204" pitchFamily="34" charset="0"/>
              </a:rPr>
              <a:t>紧迫性任务</a:t>
            </a:r>
            <a:r>
              <a:rPr lang="zh-CN" altLang="en-US" sz="2400">
                <a:latin typeface="Arial Narrow" panose="020B0606020202030204" pitchFamily="34" charset="0"/>
              </a:rPr>
              <a:t>有高实时性要求，应安排高优先级（通常此类任务是由</a:t>
            </a:r>
            <a:r>
              <a:rPr lang="en-US" altLang="zh-CN" sz="2400">
                <a:latin typeface="Arial Narrow" panose="020B0606020202030204" pitchFamily="34" charset="0"/>
              </a:rPr>
              <a:t>ISR</a:t>
            </a:r>
            <a:r>
              <a:rPr lang="zh-CN" altLang="en-US" sz="2400">
                <a:latin typeface="Arial Narrow" panose="020B0606020202030204" pitchFamily="34" charset="0"/>
              </a:rPr>
              <a:t>关联的）。</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solidFill>
                  <a:srgbClr val="3333FF"/>
                </a:solidFill>
                <a:latin typeface="Arial Narrow" panose="020B0606020202030204" pitchFamily="34" charset="0"/>
              </a:rPr>
              <a:t>关键性任务</a:t>
            </a:r>
            <a:r>
              <a:rPr lang="zh-CN" altLang="en-US" sz="2400">
                <a:latin typeface="Arial Narrow" panose="020B0606020202030204" pitchFamily="34" charset="0"/>
              </a:rPr>
              <a:t>要保障有执行的机会。</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短周期任务、快捷任务安排较高优先级。</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实时性要求不高的任务和大数据量处理型任务安排较低的优先级。</a:t>
            </a:r>
          </a:p>
        </p:txBody>
      </p:sp>
      <p:sp>
        <p:nvSpPr>
          <p:cNvPr id="111624" name="Text Box 5">
            <a:extLst>
              <a:ext uri="{FF2B5EF4-FFF2-40B4-BE49-F238E27FC236}">
                <a16:creationId xmlns:a16="http://schemas.microsoft.com/office/drawing/2014/main" id="{45C1D075-475B-C1B9-C392-878F9F991758}"/>
              </a:ext>
            </a:extLst>
          </p:cNvPr>
          <p:cNvSpPr txBox="1">
            <a:spLocks noChangeArrowheads="1"/>
          </p:cNvSpPr>
          <p:nvPr/>
        </p:nvSpPr>
        <p:spPr bwMode="auto">
          <a:xfrm>
            <a:off x="827088" y="5516563"/>
            <a:ext cx="7848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200">
                <a:solidFill>
                  <a:srgbClr val="080808"/>
                </a:solidFill>
              </a:rPr>
              <a:t>实际应用中各个任务的优先级规划要根据实际情况确定，要从整个系统的角度考虑分析，在此难数言了之。</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页脚占位符 3">
            <a:extLst>
              <a:ext uri="{FF2B5EF4-FFF2-40B4-BE49-F238E27FC236}">
                <a16:creationId xmlns:a16="http://schemas.microsoft.com/office/drawing/2014/main" id="{F174E633-1835-167B-A638-E4C79225562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2643" name="灯片编号占位符 4">
            <a:extLst>
              <a:ext uri="{FF2B5EF4-FFF2-40B4-BE49-F238E27FC236}">
                <a16:creationId xmlns:a16="http://schemas.microsoft.com/office/drawing/2014/main" id="{686D6348-6523-4EB3-842E-7F755A48FB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CA55DDA-3A27-40C7-84E0-762E7231FE63}" type="slidenum">
              <a:rPr lang="en-US" altLang="zh-CN" sz="1200" smtClean="0">
                <a:solidFill>
                  <a:srgbClr val="3366FF"/>
                </a:solidFill>
                <a:latin typeface="Arial Black" panose="020B0A04020102020204" pitchFamily="34" charset="0"/>
              </a:rPr>
              <a:pPr>
                <a:spcBef>
                  <a:spcPct val="0"/>
                </a:spcBef>
                <a:buClrTx/>
                <a:buSzTx/>
                <a:buFontTx/>
                <a:buNone/>
              </a:pPr>
              <a:t>107</a:t>
            </a:fld>
            <a:endParaRPr lang="en-US" altLang="zh-CN" sz="1200">
              <a:solidFill>
                <a:srgbClr val="3366FF"/>
              </a:solidFill>
              <a:latin typeface="Arial Black" panose="020B0A04020102020204" pitchFamily="34" charset="0"/>
            </a:endParaRPr>
          </a:p>
        </p:txBody>
      </p:sp>
      <p:sp>
        <p:nvSpPr>
          <p:cNvPr id="112644" name="日期占位符 5">
            <a:extLst>
              <a:ext uri="{FF2B5EF4-FFF2-40B4-BE49-F238E27FC236}">
                <a16:creationId xmlns:a16="http://schemas.microsoft.com/office/drawing/2014/main" id="{1E72438E-7419-13D6-4E8D-21B2B1FB517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59DF8EA-A26F-4844-A88E-CEE6522CDBC7}"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2645" name="Rectangle 2">
            <a:extLst>
              <a:ext uri="{FF2B5EF4-FFF2-40B4-BE49-F238E27FC236}">
                <a16:creationId xmlns:a16="http://schemas.microsoft.com/office/drawing/2014/main" id="{549905D8-09A1-7D03-40D6-23B516248CC0}"/>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112646" name="Rectangle 3">
            <a:extLst>
              <a:ext uri="{FF2B5EF4-FFF2-40B4-BE49-F238E27FC236}">
                <a16:creationId xmlns:a16="http://schemas.microsoft.com/office/drawing/2014/main" id="{EF1F1A8E-CC04-7CF7-C8D0-A61648105F7F}"/>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rgbClr val="FF0000"/>
                </a:solidFill>
              </a:rPr>
              <a:t>6</a:t>
            </a:r>
            <a:r>
              <a:rPr lang="zh-CN" altLang="en-US">
                <a:solidFill>
                  <a:srgbClr val="FF0000"/>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页脚占位符 3">
            <a:extLst>
              <a:ext uri="{FF2B5EF4-FFF2-40B4-BE49-F238E27FC236}">
                <a16:creationId xmlns:a16="http://schemas.microsoft.com/office/drawing/2014/main" id="{49A2AB09-D469-CAD4-91E2-3D1F4E2385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3667" name="灯片编号占位符 4">
            <a:extLst>
              <a:ext uri="{FF2B5EF4-FFF2-40B4-BE49-F238E27FC236}">
                <a16:creationId xmlns:a16="http://schemas.microsoft.com/office/drawing/2014/main" id="{0782EF63-05F1-DF88-4A7B-C2757A7BC84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5831D4E-031B-4566-AF15-19ACDA7AE5E6}" type="slidenum">
              <a:rPr lang="en-US" altLang="zh-CN" sz="1200" smtClean="0">
                <a:solidFill>
                  <a:srgbClr val="3366FF"/>
                </a:solidFill>
                <a:latin typeface="Arial Black" panose="020B0A04020102020204" pitchFamily="34" charset="0"/>
              </a:rPr>
              <a:pPr>
                <a:spcBef>
                  <a:spcPct val="0"/>
                </a:spcBef>
                <a:buClrTx/>
                <a:buSzTx/>
                <a:buFontTx/>
                <a:buNone/>
              </a:pPr>
              <a:t>108</a:t>
            </a:fld>
            <a:endParaRPr lang="en-US" altLang="zh-CN" sz="1200">
              <a:solidFill>
                <a:srgbClr val="3366FF"/>
              </a:solidFill>
              <a:latin typeface="Arial Black" panose="020B0A04020102020204" pitchFamily="34" charset="0"/>
            </a:endParaRPr>
          </a:p>
        </p:txBody>
      </p:sp>
      <p:sp>
        <p:nvSpPr>
          <p:cNvPr id="113668" name="日期占位符 5">
            <a:extLst>
              <a:ext uri="{FF2B5EF4-FFF2-40B4-BE49-F238E27FC236}">
                <a16:creationId xmlns:a16="http://schemas.microsoft.com/office/drawing/2014/main" id="{4C7E8C73-9FCC-6E65-7248-01697C7DF65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0B5869C-2449-45F4-82EF-7C316F824F4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3669" name="Rectangle 2">
            <a:extLst>
              <a:ext uri="{FF2B5EF4-FFF2-40B4-BE49-F238E27FC236}">
                <a16:creationId xmlns:a16="http://schemas.microsoft.com/office/drawing/2014/main" id="{E895700E-0881-1883-4E71-FB3C0F0206BE}"/>
              </a:ext>
            </a:extLst>
          </p:cNvPr>
          <p:cNvSpPr>
            <a:spLocks noGrp="1" noChangeArrowheads="1"/>
          </p:cNvSpPr>
          <p:nvPr>
            <p:ph type="title"/>
          </p:nvPr>
        </p:nvSpPr>
        <p:spPr>
          <a:xfrm>
            <a:off x="457200" y="889000"/>
            <a:ext cx="8229600" cy="668338"/>
          </a:xfrm>
        </p:spPr>
        <p:txBody>
          <a:bodyPr/>
          <a:lstStyle/>
          <a:p>
            <a:pPr eaLnBrk="1" hangingPunct="1"/>
            <a:r>
              <a:rPr lang="zh-CN" altLang="en-US" sz="3400"/>
              <a:t>补充：</a:t>
            </a:r>
            <a:r>
              <a:rPr lang="en-US" altLang="zh-CN" sz="3400"/>
              <a:t>6 --- </a:t>
            </a:r>
            <a:r>
              <a:rPr lang="zh-CN" altLang="en-US" sz="3400"/>
              <a:t>任务设计中的问题</a:t>
            </a:r>
          </a:p>
        </p:txBody>
      </p:sp>
      <p:sp>
        <p:nvSpPr>
          <p:cNvPr id="113670" name="Text Box 4">
            <a:extLst>
              <a:ext uri="{FF2B5EF4-FFF2-40B4-BE49-F238E27FC236}">
                <a16:creationId xmlns:a16="http://schemas.microsoft.com/office/drawing/2014/main" id="{BB8E658D-12D9-D599-2F8F-E8B33961ECDD}"/>
              </a:ext>
            </a:extLst>
          </p:cNvPr>
          <p:cNvSpPr txBox="1">
            <a:spLocks noChangeArrowheads="1"/>
          </p:cNvSpPr>
          <p:nvPr/>
        </p:nvSpPr>
        <p:spPr bwMode="auto">
          <a:xfrm>
            <a:off x="827088" y="3871913"/>
            <a:ext cx="79216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编码的</a:t>
            </a:r>
            <a:r>
              <a:rPr lang="zh-CN" altLang="en-US" sz="2400">
                <a:solidFill>
                  <a:srgbClr val="0000FF"/>
                </a:solidFill>
                <a:latin typeface="Arial Narrow" panose="020B0606020202030204" pitchFamily="34" charset="0"/>
              </a:rPr>
              <a:t>运行效率</a:t>
            </a:r>
            <a:r>
              <a:rPr lang="zh-CN" altLang="en-US" sz="2400">
                <a:latin typeface="Arial Narrow" panose="020B0606020202030204" pitchFamily="34" charset="0"/>
              </a:rPr>
              <a:t> </a:t>
            </a:r>
            <a:r>
              <a:rPr lang="en-US" altLang="zh-CN" sz="2400">
                <a:latin typeface="Arial Narrow" panose="020B0606020202030204" pitchFamily="34" charset="0"/>
              </a:rPr>
              <a:t>--- </a:t>
            </a:r>
            <a:r>
              <a:rPr lang="zh-CN" altLang="en-US" sz="2400">
                <a:latin typeface="Arial Narrow" panose="020B0606020202030204" pitchFamily="34" charset="0"/>
              </a:rPr>
              <a:t>高效的算法。</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编码的</a:t>
            </a:r>
            <a:r>
              <a:rPr lang="zh-CN" altLang="en-US" sz="2400">
                <a:solidFill>
                  <a:srgbClr val="0000FF"/>
                </a:solidFill>
                <a:latin typeface="Arial Narrow" panose="020B0606020202030204" pitchFamily="34" charset="0"/>
              </a:rPr>
              <a:t>可靠性</a:t>
            </a:r>
            <a:r>
              <a:rPr lang="zh-CN" altLang="en-US" sz="2400">
                <a:latin typeface="Arial Narrow" panose="020B0606020202030204" pitchFamily="34" charset="0"/>
              </a:rPr>
              <a:t> </a:t>
            </a:r>
            <a:r>
              <a:rPr lang="en-US" altLang="zh-CN" sz="2400">
                <a:latin typeface="Arial Narrow" panose="020B0606020202030204" pitchFamily="34" charset="0"/>
              </a:rPr>
              <a:t>--- </a:t>
            </a:r>
            <a:r>
              <a:rPr lang="zh-CN" altLang="en-US" sz="2400">
                <a:latin typeface="Arial Narrow" panose="020B0606020202030204" pitchFamily="34" charset="0"/>
              </a:rPr>
              <a:t>良好的编程风格、算法级抗干扰策略。</a:t>
            </a:r>
          </a:p>
          <a:p>
            <a:pPr eaLnBrk="1" hangingPunct="1">
              <a:lnSpc>
                <a:spcPct val="105000"/>
              </a:lnSpc>
              <a:spcBef>
                <a:spcPct val="25000"/>
              </a:spcBef>
              <a:buClr>
                <a:srgbClr val="F66C04"/>
              </a:buClr>
              <a:buSzPct val="55000"/>
              <a:buFont typeface="Wingdings" panose="05000000000000000000" pitchFamily="2" charset="2"/>
              <a:buChar char="Ø"/>
            </a:pPr>
            <a:r>
              <a:rPr lang="zh-CN" altLang="en-US" sz="2400">
                <a:latin typeface="Arial Narrow" panose="020B0606020202030204" pitchFamily="34" charset="0"/>
              </a:rPr>
              <a:t>编码的</a:t>
            </a:r>
            <a:r>
              <a:rPr lang="zh-CN" altLang="en-US" sz="2400">
                <a:solidFill>
                  <a:srgbClr val="0000FF"/>
                </a:solidFill>
                <a:latin typeface="Arial Narrow" panose="020B0606020202030204" pitchFamily="34" charset="0"/>
              </a:rPr>
              <a:t>容错性</a:t>
            </a:r>
            <a:r>
              <a:rPr lang="zh-CN" altLang="en-US" sz="2400">
                <a:latin typeface="Arial Narrow" panose="020B0606020202030204" pitchFamily="34" charset="0"/>
              </a:rPr>
              <a:t> </a:t>
            </a:r>
            <a:r>
              <a:rPr lang="en-US" altLang="zh-CN" sz="2400">
                <a:latin typeface="Arial Narrow" panose="020B0606020202030204" pitchFamily="34" charset="0"/>
              </a:rPr>
              <a:t>--- </a:t>
            </a:r>
            <a:r>
              <a:rPr lang="zh-CN" altLang="en-US" sz="2400">
                <a:latin typeface="Arial Narrow" panose="020B0606020202030204" pitchFamily="34" charset="0"/>
              </a:rPr>
              <a:t>多种情况非常规事件的处理策略等。</a:t>
            </a:r>
          </a:p>
        </p:txBody>
      </p:sp>
      <p:sp>
        <p:nvSpPr>
          <p:cNvPr id="113671" name="Text Box 5">
            <a:extLst>
              <a:ext uri="{FF2B5EF4-FFF2-40B4-BE49-F238E27FC236}">
                <a16:creationId xmlns:a16="http://schemas.microsoft.com/office/drawing/2014/main" id="{4CAF9B1C-9CCD-70CC-36B8-8BE45048DC04}"/>
              </a:ext>
            </a:extLst>
          </p:cNvPr>
          <p:cNvSpPr txBox="1">
            <a:spLocks noChangeArrowheads="1"/>
          </p:cNvSpPr>
          <p:nvPr/>
        </p:nvSpPr>
        <p:spPr bwMode="auto">
          <a:xfrm>
            <a:off x="827088" y="1844675"/>
            <a:ext cx="741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65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solidFill>
                  <a:srgbClr val="080808"/>
                </a:solidFill>
              </a:rPr>
              <a:t>任务功能的实现过程也就是任务的编码过程，不难完成但不易做好，内容很丰富，难以在此数言了之。一般来说，任务编码时要注意以下三点：</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3">
            <a:extLst>
              <a:ext uri="{FF2B5EF4-FFF2-40B4-BE49-F238E27FC236}">
                <a16:creationId xmlns:a16="http://schemas.microsoft.com/office/drawing/2014/main" id="{C75580A2-788F-3378-2378-31D89A2297D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4691" name="灯片编号占位符 4">
            <a:extLst>
              <a:ext uri="{FF2B5EF4-FFF2-40B4-BE49-F238E27FC236}">
                <a16:creationId xmlns:a16="http://schemas.microsoft.com/office/drawing/2014/main" id="{A2361DFE-BE06-0A51-A9DB-DB7C9B43E2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5864B4CD-8F63-4AAD-8C62-5DD1AE50ED1E}" type="slidenum">
              <a:rPr lang="en-US" altLang="zh-CN" sz="1200" smtClean="0">
                <a:solidFill>
                  <a:srgbClr val="3366FF"/>
                </a:solidFill>
                <a:latin typeface="Arial Black" panose="020B0A04020102020204" pitchFamily="34" charset="0"/>
              </a:rPr>
              <a:pPr>
                <a:spcBef>
                  <a:spcPct val="0"/>
                </a:spcBef>
                <a:buClrTx/>
                <a:buSzTx/>
                <a:buFontTx/>
                <a:buNone/>
              </a:pPr>
              <a:t>109</a:t>
            </a:fld>
            <a:endParaRPr lang="en-US" altLang="zh-CN" sz="1200">
              <a:solidFill>
                <a:srgbClr val="3366FF"/>
              </a:solidFill>
              <a:latin typeface="Arial Black" panose="020B0A04020102020204" pitchFamily="34" charset="0"/>
            </a:endParaRPr>
          </a:p>
        </p:txBody>
      </p:sp>
      <p:sp>
        <p:nvSpPr>
          <p:cNvPr id="114692" name="日期占位符 5">
            <a:extLst>
              <a:ext uri="{FF2B5EF4-FFF2-40B4-BE49-F238E27FC236}">
                <a16:creationId xmlns:a16="http://schemas.microsoft.com/office/drawing/2014/main" id="{0EAD4841-EC5B-2AE2-9FC4-D967B3F6D57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8C9A53D3-3E2D-4D93-B076-06A30E2C9130}"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4693" name="Rectangle 2">
            <a:extLst>
              <a:ext uri="{FF2B5EF4-FFF2-40B4-BE49-F238E27FC236}">
                <a16:creationId xmlns:a16="http://schemas.microsoft.com/office/drawing/2014/main" id="{40FFF058-479A-089E-E638-6A681791B066}"/>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114694" name="Rectangle 3">
            <a:extLst>
              <a:ext uri="{FF2B5EF4-FFF2-40B4-BE49-F238E27FC236}">
                <a16:creationId xmlns:a16="http://schemas.microsoft.com/office/drawing/2014/main" id="{00E546BD-689C-7CF8-5301-DF50FE3548A4}"/>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rgbClr val="FF0000"/>
                </a:solidFill>
              </a:rPr>
              <a:t>7</a:t>
            </a:r>
            <a:r>
              <a:rPr lang="zh-CN" altLang="en-US">
                <a:solidFill>
                  <a:srgbClr val="FF0000"/>
                </a:solidFill>
              </a:rPr>
              <a:t>、系统设计编码实现过程</a:t>
            </a:r>
          </a:p>
          <a:p>
            <a:pPr eaLnBrk="1" hangingPunct="1"/>
            <a:r>
              <a:rPr lang="en-US" altLang="zh-CN">
                <a:solidFill>
                  <a:schemeClr val="accent2"/>
                </a:solidFill>
              </a:rPr>
              <a:t>8</a:t>
            </a:r>
            <a:r>
              <a:rPr lang="zh-CN" altLang="en-US">
                <a:solidFill>
                  <a:schemeClr val="accent2"/>
                </a:solidFill>
              </a:rPr>
              <a:t>、中断服务程序的设计</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页脚占位符 3">
            <a:extLst>
              <a:ext uri="{FF2B5EF4-FFF2-40B4-BE49-F238E27FC236}">
                <a16:creationId xmlns:a16="http://schemas.microsoft.com/office/drawing/2014/main" id="{3A8C3847-EC79-E3FE-64E8-60116DFFB8C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5715" name="灯片编号占位符 4">
            <a:extLst>
              <a:ext uri="{FF2B5EF4-FFF2-40B4-BE49-F238E27FC236}">
                <a16:creationId xmlns:a16="http://schemas.microsoft.com/office/drawing/2014/main" id="{299EE1C9-B807-99D2-7B1D-681F0C29C81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53181A0-BC57-45FB-A7CE-A408226D6901}" type="slidenum">
              <a:rPr lang="en-US" altLang="zh-CN" sz="1200" smtClean="0">
                <a:solidFill>
                  <a:srgbClr val="3366FF"/>
                </a:solidFill>
                <a:latin typeface="Arial Black" panose="020B0A04020102020204" pitchFamily="34" charset="0"/>
              </a:rPr>
              <a:pPr>
                <a:spcBef>
                  <a:spcPct val="0"/>
                </a:spcBef>
                <a:buClrTx/>
                <a:buSzTx/>
                <a:buFontTx/>
                <a:buNone/>
              </a:pPr>
              <a:t>110</a:t>
            </a:fld>
            <a:endParaRPr lang="en-US" altLang="zh-CN" sz="1200">
              <a:solidFill>
                <a:srgbClr val="3366FF"/>
              </a:solidFill>
              <a:latin typeface="Arial Black" panose="020B0A04020102020204" pitchFamily="34" charset="0"/>
            </a:endParaRPr>
          </a:p>
        </p:txBody>
      </p:sp>
      <p:sp>
        <p:nvSpPr>
          <p:cNvPr id="115716" name="日期占位符 5">
            <a:extLst>
              <a:ext uri="{FF2B5EF4-FFF2-40B4-BE49-F238E27FC236}">
                <a16:creationId xmlns:a16="http://schemas.microsoft.com/office/drawing/2014/main" id="{78F3E1EA-D817-8024-0463-29F0286444C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3C59E10-80BD-4898-A93A-1B8AC29C19F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5717" name="Rectangle 2">
            <a:extLst>
              <a:ext uri="{FF2B5EF4-FFF2-40B4-BE49-F238E27FC236}">
                <a16:creationId xmlns:a16="http://schemas.microsoft.com/office/drawing/2014/main" id="{55D3B74F-4D09-9A15-80BB-C49D8B3A783D}"/>
              </a:ext>
            </a:extLst>
          </p:cNvPr>
          <p:cNvSpPr>
            <a:spLocks noGrp="1" noChangeArrowheads="1"/>
          </p:cNvSpPr>
          <p:nvPr>
            <p:ph type="title"/>
          </p:nvPr>
        </p:nvSpPr>
        <p:spPr>
          <a:xfrm>
            <a:off x="457200" y="692150"/>
            <a:ext cx="8229600" cy="668338"/>
          </a:xfrm>
        </p:spPr>
        <p:txBody>
          <a:bodyPr/>
          <a:lstStyle/>
          <a:p>
            <a:pPr eaLnBrk="1" hangingPunct="1"/>
            <a:r>
              <a:rPr lang="zh-CN" altLang="en-US" sz="3400"/>
              <a:t>补充：</a:t>
            </a:r>
            <a:r>
              <a:rPr lang="en-US" altLang="zh-CN" sz="3400"/>
              <a:t>7 --- </a:t>
            </a:r>
            <a:r>
              <a:rPr lang="zh-CN" altLang="en-US" sz="4000">
                <a:solidFill>
                  <a:srgbClr val="080808"/>
                </a:solidFill>
              </a:rPr>
              <a:t>系统设计编码实现过程</a:t>
            </a:r>
          </a:p>
        </p:txBody>
      </p:sp>
      <p:sp>
        <p:nvSpPr>
          <p:cNvPr id="115718" name="Text Box 3">
            <a:extLst>
              <a:ext uri="{FF2B5EF4-FFF2-40B4-BE49-F238E27FC236}">
                <a16:creationId xmlns:a16="http://schemas.microsoft.com/office/drawing/2014/main" id="{F1784AD2-25C7-4E00-D352-E1711BBBB546}"/>
              </a:ext>
            </a:extLst>
          </p:cNvPr>
          <p:cNvSpPr txBox="1">
            <a:spLocks noChangeArrowheads="1"/>
          </p:cNvSpPr>
          <p:nvPr/>
        </p:nvSpPr>
        <p:spPr bwMode="auto">
          <a:xfrm>
            <a:off x="611188" y="2781300"/>
            <a:ext cx="8208962"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系统需求分析；</a:t>
            </a:r>
            <a:r>
              <a:rPr lang="en-US" altLang="zh-CN" sz="2200" b="0">
                <a:solidFill>
                  <a:srgbClr val="0000FF"/>
                </a:solidFill>
                <a:latin typeface="Arial Narrow" panose="020B0606020202030204" pitchFamily="34" charset="0"/>
              </a:rPr>
              <a:t>《</a:t>
            </a:r>
            <a:r>
              <a:rPr lang="zh-CN" altLang="en-US" sz="2200" b="0">
                <a:solidFill>
                  <a:srgbClr val="0000FF"/>
                </a:solidFill>
                <a:latin typeface="Arial Narrow" panose="020B0606020202030204" pitchFamily="34" charset="0"/>
              </a:rPr>
              <a:t>系统需求分析报告</a:t>
            </a:r>
            <a:r>
              <a:rPr lang="en-US" altLang="zh-CN" sz="2200" b="0">
                <a:solidFill>
                  <a:srgbClr val="0000FF"/>
                </a:solidFill>
                <a:latin typeface="Arial Narrow" panose="020B0606020202030204" pitchFamily="34" charset="0"/>
              </a:rPr>
              <a:t>》</a:t>
            </a:r>
          </a:p>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系统硬件平台资源抽象；</a:t>
            </a:r>
            <a:r>
              <a:rPr lang="en-US" altLang="zh-CN" sz="2200" b="0">
                <a:solidFill>
                  <a:srgbClr val="3333FF"/>
                </a:solidFill>
                <a:latin typeface="Arial Narrow" panose="020B0606020202030204" pitchFamily="34" charset="0"/>
              </a:rPr>
              <a:t>《</a:t>
            </a:r>
            <a:r>
              <a:rPr lang="zh-CN" altLang="en-US" sz="2200" b="0">
                <a:solidFill>
                  <a:srgbClr val="3333FF"/>
                </a:solidFill>
                <a:latin typeface="Arial Narrow" panose="020B0606020202030204" pitchFamily="34" charset="0"/>
              </a:rPr>
              <a:t>系统硬件方案</a:t>
            </a:r>
            <a:r>
              <a:rPr lang="en-US" altLang="zh-CN" sz="2200" b="0">
                <a:solidFill>
                  <a:srgbClr val="3333FF"/>
                </a:solidFill>
                <a:latin typeface="Arial Narrow" panose="020B0606020202030204" pitchFamily="34" charset="0"/>
              </a:rPr>
              <a:t>---</a:t>
            </a:r>
            <a:r>
              <a:rPr lang="zh-CN" altLang="en-US" sz="2200" b="0">
                <a:solidFill>
                  <a:srgbClr val="3333FF"/>
                </a:solidFill>
                <a:latin typeface="Arial Narrow" panose="020B0606020202030204" pitchFamily="34" charset="0"/>
              </a:rPr>
              <a:t>初稿草案</a:t>
            </a:r>
            <a:r>
              <a:rPr lang="en-US" altLang="zh-CN" sz="2200" b="0">
                <a:solidFill>
                  <a:srgbClr val="3333FF"/>
                </a:solidFill>
                <a:latin typeface="Arial Narrow" panose="020B0606020202030204" pitchFamily="34" charset="0"/>
              </a:rPr>
              <a:t>》</a:t>
            </a:r>
          </a:p>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系统模型数据结构、任务规划（任务的划分、任务优先级规划、任务间关联分析、任务间的数据通信和触发），形成</a:t>
            </a:r>
            <a:r>
              <a:rPr lang="en-US" altLang="zh-CN" sz="2200" b="0">
                <a:solidFill>
                  <a:srgbClr val="3333FF"/>
                </a:solidFill>
                <a:latin typeface="Arial Narrow" panose="020B0606020202030204" pitchFamily="34" charset="0"/>
              </a:rPr>
              <a:t>《</a:t>
            </a:r>
            <a:r>
              <a:rPr lang="zh-CN" altLang="en-US" sz="2200" b="0">
                <a:solidFill>
                  <a:srgbClr val="3333FF"/>
                </a:solidFill>
                <a:latin typeface="Arial Narrow" panose="020B0606020202030204" pitchFamily="34" charset="0"/>
              </a:rPr>
              <a:t>系统总体任务关联图</a:t>
            </a:r>
            <a:r>
              <a:rPr lang="en-US" altLang="zh-CN" sz="2200" b="0">
                <a:solidFill>
                  <a:srgbClr val="3333FF"/>
                </a:solidFill>
                <a:latin typeface="Arial Narrow" panose="020B0606020202030204" pitchFamily="34" charset="0"/>
              </a:rPr>
              <a:t>》</a:t>
            </a:r>
            <a:r>
              <a:rPr lang="zh-CN" altLang="en-US" sz="2200" b="0">
                <a:latin typeface="Arial Narrow" panose="020B0606020202030204" pitchFamily="34" charset="0"/>
              </a:rPr>
              <a:t>；</a:t>
            </a:r>
            <a:r>
              <a:rPr lang="zh-CN" altLang="en-US" sz="2200" b="0">
                <a:solidFill>
                  <a:srgbClr val="C4C4E2"/>
                </a:solidFill>
                <a:latin typeface="Arial Narrow" panose="020B0606020202030204" pitchFamily="34" charset="0"/>
              </a:rPr>
              <a:t>（周航慈</a:t>
            </a:r>
            <a:r>
              <a:rPr lang="en-US" altLang="zh-CN" sz="2200" b="0">
                <a:solidFill>
                  <a:srgbClr val="C4C4E2"/>
                </a:solidFill>
                <a:latin typeface="Arial Narrow" panose="020B0606020202030204" pitchFamily="34" charset="0"/>
              </a:rPr>
              <a:t>Book P41</a:t>
            </a:r>
            <a:r>
              <a:rPr lang="zh-CN" altLang="en-US" sz="2200" b="0">
                <a:solidFill>
                  <a:srgbClr val="C4C4E2"/>
                </a:solidFill>
                <a:latin typeface="Arial Narrow" panose="020B0606020202030204" pitchFamily="34" charset="0"/>
              </a:rPr>
              <a:t>）</a:t>
            </a:r>
          </a:p>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任务资源占用分析，给出系统资源较为详细的参数需求。</a:t>
            </a:r>
          </a:p>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各任务的程序流程图；</a:t>
            </a:r>
          </a:p>
          <a:p>
            <a:pPr eaLnBrk="1" hangingPunct="1">
              <a:lnSpc>
                <a:spcPct val="110000"/>
              </a:lnSpc>
              <a:spcBef>
                <a:spcPct val="10000"/>
              </a:spcBef>
              <a:buClr>
                <a:srgbClr val="F66C04"/>
              </a:buClr>
              <a:buSzTx/>
              <a:buFont typeface="Wingdings" panose="05000000000000000000" pitchFamily="2" charset="2"/>
              <a:buAutoNum type="arabicPeriod"/>
            </a:pPr>
            <a:r>
              <a:rPr lang="zh-CN" altLang="en-US" sz="2200" b="0">
                <a:latin typeface="Arial Narrow" panose="020B0606020202030204" pitchFamily="34" charset="0"/>
              </a:rPr>
              <a:t>编写各任务编码并调试；</a:t>
            </a:r>
          </a:p>
          <a:p>
            <a:pPr eaLnBrk="1" hangingPunct="1">
              <a:lnSpc>
                <a:spcPct val="110000"/>
              </a:lnSpc>
              <a:spcBef>
                <a:spcPct val="10000"/>
              </a:spcBef>
              <a:buClr>
                <a:srgbClr val="F66C04"/>
              </a:buClr>
              <a:buSzTx/>
              <a:buFont typeface="Wingdings" panose="05000000000000000000" pitchFamily="2" charset="2"/>
              <a:buNone/>
            </a:pPr>
            <a:r>
              <a:rPr lang="zh-CN" altLang="en-US" sz="2200" b="0">
                <a:solidFill>
                  <a:srgbClr val="0000FF"/>
                </a:solidFill>
                <a:latin typeface="Arial Narrow" panose="020B0606020202030204" pitchFamily="34" charset="0"/>
              </a:rPr>
              <a:t>备注：</a:t>
            </a:r>
            <a:r>
              <a:rPr lang="en-US" altLang="zh-CN" sz="2200" b="0">
                <a:solidFill>
                  <a:srgbClr val="0000FF"/>
                </a:solidFill>
                <a:latin typeface="Arial Narrow" panose="020B0606020202030204" pitchFamily="34" charset="0"/>
              </a:rPr>
              <a:t>2</a:t>
            </a:r>
            <a:r>
              <a:rPr lang="zh-CN" altLang="en-US" sz="2200" b="0">
                <a:solidFill>
                  <a:srgbClr val="0000FF"/>
                </a:solidFill>
                <a:latin typeface="Arial Narrow" panose="020B0606020202030204" pitchFamily="34" charset="0"/>
              </a:rPr>
              <a:t>、</a:t>
            </a:r>
            <a:r>
              <a:rPr lang="en-US" altLang="zh-CN" sz="2200" b="0">
                <a:solidFill>
                  <a:srgbClr val="0000FF"/>
                </a:solidFill>
                <a:latin typeface="Arial Narrow" panose="020B0606020202030204" pitchFamily="34" charset="0"/>
              </a:rPr>
              <a:t>3</a:t>
            </a:r>
            <a:r>
              <a:rPr lang="zh-CN" altLang="en-US" sz="2200" b="0">
                <a:solidFill>
                  <a:srgbClr val="0000FF"/>
                </a:solidFill>
                <a:latin typeface="Arial Narrow" panose="020B0606020202030204" pitchFamily="34" charset="0"/>
              </a:rPr>
              <a:t>、</a:t>
            </a:r>
            <a:r>
              <a:rPr lang="en-US" altLang="zh-CN" sz="2200" b="0">
                <a:solidFill>
                  <a:srgbClr val="0000FF"/>
                </a:solidFill>
                <a:latin typeface="Arial Narrow" panose="020B0606020202030204" pitchFamily="34" charset="0"/>
              </a:rPr>
              <a:t>4 </a:t>
            </a:r>
            <a:r>
              <a:rPr lang="zh-CN" altLang="en-US" sz="2200" b="0">
                <a:solidFill>
                  <a:srgbClr val="0000FF"/>
                </a:solidFill>
                <a:latin typeface="Arial Narrow" panose="020B0606020202030204" pitchFamily="34" charset="0"/>
              </a:rPr>
              <a:t>步骤通常还会迭代。</a:t>
            </a:r>
          </a:p>
        </p:txBody>
      </p:sp>
      <p:sp>
        <p:nvSpPr>
          <p:cNvPr id="115719" name="Text Box 4">
            <a:extLst>
              <a:ext uri="{FF2B5EF4-FFF2-40B4-BE49-F238E27FC236}">
                <a16:creationId xmlns:a16="http://schemas.microsoft.com/office/drawing/2014/main" id="{967CD2F6-C13F-5973-29EE-E24DC3ACED37}"/>
              </a:ext>
            </a:extLst>
          </p:cNvPr>
          <p:cNvSpPr txBox="1">
            <a:spLocks noChangeArrowheads="1"/>
          </p:cNvSpPr>
          <p:nvPr/>
        </p:nvSpPr>
        <p:spPr bwMode="auto">
          <a:xfrm>
            <a:off x="684213" y="1628775"/>
            <a:ext cx="79200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65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solidFill>
                  <a:srgbClr val="080808"/>
                </a:solidFill>
              </a:rPr>
              <a:t>系统功能要有软</a:t>
            </a:r>
            <a:r>
              <a:rPr lang="en-US" altLang="zh-CN" sz="2400">
                <a:solidFill>
                  <a:srgbClr val="080808"/>
                </a:solidFill>
              </a:rPr>
              <a:t>/</a:t>
            </a:r>
            <a:r>
              <a:rPr lang="zh-CN" altLang="en-US" sz="2400">
                <a:solidFill>
                  <a:srgbClr val="080808"/>
                </a:solidFill>
              </a:rPr>
              <a:t>硬件结合实现。在此我们仅简单地讨论软件系统的设计方法。（其实际内容很丰富庞杂）</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页脚占位符 1">
            <a:extLst>
              <a:ext uri="{FF2B5EF4-FFF2-40B4-BE49-F238E27FC236}">
                <a16:creationId xmlns:a16="http://schemas.microsoft.com/office/drawing/2014/main" id="{73ACCC55-21C1-9519-4416-BFA6D2DD2E0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6739" name="灯片编号占位符 2">
            <a:extLst>
              <a:ext uri="{FF2B5EF4-FFF2-40B4-BE49-F238E27FC236}">
                <a16:creationId xmlns:a16="http://schemas.microsoft.com/office/drawing/2014/main" id="{F3009BBB-BA52-CF84-E650-9A229C797D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27AD8E1E-EBE1-491C-9795-13704DD8F1DB}" type="slidenum">
              <a:rPr lang="en-US" altLang="zh-CN" sz="1200" smtClean="0">
                <a:solidFill>
                  <a:srgbClr val="3366FF"/>
                </a:solidFill>
                <a:latin typeface="Arial Black" panose="020B0A04020102020204" pitchFamily="34" charset="0"/>
              </a:rPr>
              <a:pPr>
                <a:spcBef>
                  <a:spcPct val="0"/>
                </a:spcBef>
                <a:buClrTx/>
                <a:buSzTx/>
                <a:buFontTx/>
                <a:buNone/>
              </a:pPr>
              <a:t>111</a:t>
            </a:fld>
            <a:endParaRPr lang="en-US" altLang="zh-CN" sz="1200">
              <a:solidFill>
                <a:srgbClr val="3366FF"/>
              </a:solidFill>
              <a:latin typeface="Arial Black" panose="020B0A04020102020204" pitchFamily="34" charset="0"/>
            </a:endParaRPr>
          </a:p>
        </p:txBody>
      </p:sp>
      <p:sp>
        <p:nvSpPr>
          <p:cNvPr id="116740" name="日期占位符 3">
            <a:extLst>
              <a:ext uri="{FF2B5EF4-FFF2-40B4-BE49-F238E27FC236}">
                <a16:creationId xmlns:a16="http://schemas.microsoft.com/office/drawing/2014/main" id="{2C43A9BE-2388-8CD7-AB56-BA6A9566820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1D6EF1A-EF8C-4165-9FCA-CFAC1036FCE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6741" name="Rectangle 4">
            <a:extLst>
              <a:ext uri="{FF2B5EF4-FFF2-40B4-BE49-F238E27FC236}">
                <a16:creationId xmlns:a16="http://schemas.microsoft.com/office/drawing/2014/main" id="{C85A82B0-4CF4-6C36-6B8A-A62567233277}"/>
              </a:ext>
            </a:extLst>
          </p:cNvPr>
          <p:cNvSpPr>
            <a:spLocks noChangeArrowheads="1"/>
          </p:cNvSpPr>
          <p:nvPr/>
        </p:nvSpPr>
        <p:spPr bwMode="auto">
          <a:xfrm>
            <a:off x="457200" y="81756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4000" b="0"/>
              <a:t>实验</a:t>
            </a:r>
            <a:r>
              <a:rPr lang="en-US" altLang="zh-CN" sz="4000" b="0"/>
              <a:t>5</a:t>
            </a:r>
            <a:r>
              <a:rPr lang="zh-CN" altLang="en-US" sz="4000" b="0"/>
              <a:t>：</a:t>
            </a:r>
          </a:p>
        </p:txBody>
      </p:sp>
      <p:sp>
        <p:nvSpPr>
          <p:cNvPr id="116742" name="Rectangle 5">
            <a:extLst>
              <a:ext uri="{FF2B5EF4-FFF2-40B4-BE49-F238E27FC236}">
                <a16:creationId xmlns:a16="http://schemas.microsoft.com/office/drawing/2014/main" id="{1BD006B9-319E-2B73-702F-76C339BB4713}"/>
              </a:ext>
            </a:extLst>
          </p:cNvPr>
          <p:cNvSpPr>
            <a:spLocks noChangeArrowheads="1"/>
          </p:cNvSpPr>
          <p:nvPr/>
        </p:nvSpPr>
        <p:spPr bwMode="auto">
          <a:xfrm>
            <a:off x="971550" y="1701800"/>
            <a:ext cx="79216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0"/>
              <a:t>1</a:t>
            </a:r>
            <a:r>
              <a:rPr lang="zh-CN" altLang="en-US" sz="2400" b="0"/>
              <a:t>、试描述一个电子钟的系统模型。</a:t>
            </a:r>
          </a:p>
          <a:p>
            <a:pPr eaLnBrk="1" hangingPunct="1">
              <a:buFont typeface="Wingdings" panose="05000000000000000000" pitchFamily="2" charset="2"/>
              <a:buNone/>
            </a:pPr>
            <a:r>
              <a:rPr lang="en-US" altLang="zh-CN" sz="2400" b="0"/>
              <a:t>2</a:t>
            </a:r>
            <a:r>
              <a:rPr lang="zh-CN" altLang="en-US" sz="2400" b="0"/>
              <a:t>、试描述一个交通灯的系统模型。</a:t>
            </a:r>
          </a:p>
          <a:p>
            <a:pPr eaLnBrk="1" hangingPunct="1">
              <a:buFont typeface="Wingdings" panose="05000000000000000000" pitchFamily="2" charset="2"/>
              <a:buNone/>
            </a:pPr>
            <a:r>
              <a:rPr lang="en-US" altLang="zh-CN" sz="2400" b="0"/>
              <a:t>3</a:t>
            </a:r>
            <a:r>
              <a:rPr lang="zh-CN" altLang="en-US" sz="2400" b="0"/>
              <a:t>、试描述一个“码表”的系统模型。</a:t>
            </a:r>
          </a:p>
          <a:p>
            <a:pPr eaLnBrk="1" hangingPunct="1">
              <a:buFont typeface="Wingdings" panose="05000000000000000000" pitchFamily="2" charset="2"/>
              <a:buNone/>
            </a:pPr>
            <a:r>
              <a:rPr lang="zh-CN" altLang="en-US" sz="2400" b="0"/>
              <a:t>要求：系统需求分析，硬件资源规划，软件系统规划。 </a:t>
            </a:r>
          </a:p>
        </p:txBody>
      </p:sp>
      <p:sp>
        <p:nvSpPr>
          <p:cNvPr id="116743" name="Rectangle 6">
            <a:extLst>
              <a:ext uri="{FF2B5EF4-FFF2-40B4-BE49-F238E27FC236}">
                <a16:creationId xmlns:a16="http://schemas.microsoft.com/office/drawing/2014/main" id="{FCB5747B-8D37-21B4-A6BC-70545131E199}"/>
              </a:ext>
            </a:extLst>
          </p:cNvPr>
          <p:cNvSpPr>
            <a:spLocks noChangeArrowheads="1"/>
          </p:cNvSpPr>
          <p:nvPr/>
        </p:nvSpPr>
        <p:spPr bwMode="auto">
          <a:xfrm>
            <a:off x="1331913" y="4437063"/>
            <a:ext cx="7488237"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7675" indent="-4476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0"/>
              <a:t>1</a:t>
            </a:r>
            <a:r>
              <a:rPr lang="zh-CN" altLang="en-US" sz="2400" b="0"/>
              <a:t>、有目的地主动设计实验，验证推测，得到结论；</a:t>
            </a:r>
          </a:p>
          <a:p>
            <a:pPr eaLnBrk="1" hangingPunct="1">
              <a:buFont typeface="Wingdings" panose="05000000000000000000" pitchFamily="2" charset="2"/>
              <a:buNone/>
            </a:pPr>
            <a:r>
              <a:rPr lang="en-US" altLang="zh-CN" sz="2400" b="0"/>
              <a:t>2</a:t>
            </a:r>
            <a:r>
              <a:rPr lang="zh-CN" altLang="en-US" sz="2400" b="0"/>
              <a:t>、体验多任务操作系统环境中，“任务优先级” 对任务调度的影响，加深相关认识。</a:t>
            </a:r>
          </a:p>
        </p:txBody>
      </p:sp>
      <p:sp>
        <p:nvSpPr>
          <p:cNvPr id="116744" name="Rectangle 7">
            <a:extLst>
              <a:ext uri="{FF2B5EF4-FFF2-40B4-BE49-F238E27FC236}">
                <a16:creationId xmlns:a16="http://schemas.microsoft.com/office/drawing/2014/main" id="{EE262D31-751B-626A-1225-54403634CF58}"/>
              </a:ext>
            </a:extLst>
          </p:cNvPr>
          <p:cNvSpPr>
            <a:spLocks noChangeArrowheads="1"/>
          </p:cNvSpPr>
          <p:nvPr/>
        </p:nvSpPr>
        <p:spPr bwMode="auto">
          <a:xfrm>
            <a:off x="611188" y="3573463"/>
            <a:ext cx="82296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0"/>
              <a:t>实验目的：</a:t>
            </a:r>
          </a:p>
        </p:txBody>
      </p:sp>
      <p:sp>
        <p:nvSpPr>
          <p:cNvPr id="116745" name="Text Box 8">
            <a:extLst>
              <a:ext uri="{FF2B5EF4-FFF2-40B4-BE49-F238E27FC236}">
                <a16:creationId xmlns:a16="http://schemas.microsoft.com/office/drawing/2014/main" id="{0F521918-BF2A-340B-C769-E94DAADD4C25}"/>
              </a:ext>
            </a:extLst>
          </p:cNvPr>
          <p:cNvSpPr txBox="1">
            <a:spLocks noChangeArrowheads="1"/>
          </p:cNvSpPr>
          <p:nvPr/>
        </p:nvSpPr>
        <p:spPr bwMode="auto">
          <a:xfrm>
            <a:off x="6948488" y="2060575"/>
            <a:ext cx="1727200" cy="409575"/>
          </a:xfrm>
          <a:prstGeom prst="rect">
            <a:avLst/>
          </a:prstGeom>
          <a:solidFill>
            <a:srgbClr val="FFFFCC"/>
          </a:solidFill>
          <a:ln w="12700">
            <a:solidFill>
              <a:srgbClr val="CC0000"/>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2000" b="0"/>
              <a:t>{ </a:t>
            </a:r>
            <a:r>
              <a:rPr lang="zh-CN" altLang="en-US" sz="2000" b="0"/>
              <a:t>任选一个 </a:t>
            </a:r>
            <a:r>
              <a:rPr lang="en-US" altLang="zh-CN" sz="2000" b="0"/>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页脚占位符 3">
            <a:extLst>
              <a:ext uri="{FF2B5EF4-FFF2-40B4-BE49-F238E27FC236}">
                <a16:creationId xmlns:a16="http://schemas.microsoft.com/office/drawing/2014/main" id="{54EBC97D-5797-14C1-B09E-23CCF164680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7763" name="灯片编号占位符 4">
            <a:extLst>
              <a:ext uri="{FF2B5EF4-FFF2-40B4-BE49-F238E27FC236}">
                <a16:creationId xmlns:a16="http://schemas.microsoft.com/office/drawing/2014/main" id="{8F5E0BF1-0D00-E193-1C5E-8AAA311CE4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0CF87B1-1BA8-42AD-9374-93D4602D75F9}" type="slidenum">
              <a:rPr lang="en-US" altLang="zh-CN" sz="1200" smtClean="0">
                <a:solidFill>
                  <a:srgbClr val="3366FF"/>
                </a:solidFill>
                <a:latin typeface="Arial Black" panose="020B0A04020102020204" pitchFamily="34" charset="0"/>
              </a:rPr>
              <a:pPr>
                <a:spcBef>
                  <a:spcPct val="0"/>
                </a:spcBef>
                <a:buClrTx/>
                <a:buSzTx/>
                <a:buFontTx/>
                <a:buNone/>
              </a:pPr>
              <a:t>112</a:t>
            </a:fld>
            <a:endParaRPr lang="en-US" altLang="zh-CN" sz="1200">
              <a:solidFill>
                <a:srgbClr val="3366FF"/>
              </a:solidFill>
              <a:latin typeface="Arial Black" panose="020B0A04020102020204" pitchFamily="34" charset="0"/>
            </a:endParaRPr>
          </a:p>
        </p:txBody>
      </p:sp>
      <p:sp>
        <p:nvSpPr>
          <p:cNvPr id="117764" name="日期占位符 5">
            <a:extLst>
              <a:ext uri="{FF2B5EF4-FFF2-40B4-BE49-F238E27FC236}">
                <a16:creationId xmlns:a16="http://schemas.microsoft.com/office/drawing/2014/main" id="{6B634A3B-F54F-0AA2-BA51-9CAD30539D9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0C5CE1A-65EE-4B7F-97F4-B4F493554D2B}"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7765" name="Rectangle 2">
            <a:extLst>
              <a:ext uri="{FF2B5EF4-FFF2-40B4-BE49-F238E27FC236}">
                <a16:creationId xmlns:a16="http://schemas.microsoft.com/office/drawing/2014/main" id="{2F03B9F5-5297-55A0-C477-916148F409A6}"/>
              </a:ext>
            </a:extLst>
          </p:cNvPr>
          <p:cNvSpPr>
            <a:spLocks noGrp="1" noChangeArrowheads="1"/>
          </p:cNvSpPr>
          <p:nvPr>
            <p:ph type="title"/>
          </p:nvPr>
        </p:nvSpPr>
        <p:spPr/>
        <p:txBody>
          <a:bodyPr/>
          <a:lstStyle/>
          <a:p>
            <a:pPr algn="ctr" eaLnBrk="1" hangingPunct="1"/>
            <a:r>
              <a:rPr lang="zh-CN" altLang="en-US" sz="4000"/>
              <a:t>第</a:t>
            </a:r>
            <a:r>
              <a:rPr lang="en-US" altLang="zh-CN" sz="4000"/>
              <a:t>2</a:t>
            </a:r>
            <a:r>
              <a:rPr lang="zh-CN" altLang="en-US" sz="4000"/>
              <a:t>章    补充</a:t>
            </a:r>
            <a:r>
              <a:rPr lang="en-US" altLang="zh-CN" sz="4000"/>
              <a:t>.</a:t>
            </a:r>
            <a:r>
              <a:rPr lang="zh-CN" altLang="en-US" sz="4000"/>
              <a:t>目录</a:t>
            </a:r>
          </a:p>
        </p:txBody>
      </p:sp>
      <p:sp>
        <p:nvSpPr>
          <p:cNvPr id="117766" name="Rectangle 3">
            <a:extLst>
              <a:ext uri="{FF2B5EF4-FFF2-40B4-BE49-F238E27FC236}">
                <a16:creationId xmlns:a16="http://schemas.microsoft.com/office/drawing/2014/main" id="{04C2595C-5606-2A03-40CD-C3232AD92150}"/>
              </a:ext>
            </a:extLst>
          </p:cNvPr>
          <p:cNvSpPr>
            <a:spLocks noGrp="1" noChangeArrowheads="1"/>
          </p:cNvSpPr>
          <p:nvPr>
            <p:ph type="body" idx="1"/>
          </p:nvPr>
        </p:nvSpPr>
        <p:spPr>
          <a:xfrm>
            <a:off x="1116013" y="1412875"/>
            <a:ext cx="7499350" cy="4752975"/>
          </a:xfrm>
        </p:spPr>
        <p:txBody>
          <a:bodyPr/>
          <a:lstStyle/>
          <a:p>
            <a:pPr eaLnBrk="1" hangingPunct="1"/>
            <a:r>
              <a:rPr lang="en-US" altLang="zh-CN">
                <a:solidFill>
                  <a:schemeClr val="accent2"/>
                </a:solidFill>
              </a:rPr>
              <a:t>1</a:t>
            </a:r>
            <a:r>
              <a:rPr lang="zh-CN" altLang="en-US">
                <a:solidFill>
                  <a:schemeClr val="accent2"/>
                </a:solidFill>
              </a:rPr>
              <a:t>、任务的特性</a:t>
            </a:r>
          </a:p>
          <a:p>
            <a:pPr eaLnBrk="1" hangingPunct="1"/>
            <a:r>
              <a:rPr lang="en-US" altLang="zh-CN">
                <a:solidFill>
                  <a:schemeClr val="accent2"/>
                </a:solidFill>
              </a:rPr>
              <a:t>2</a:t>
            </a:r>
            <a:r>
              <a:rPr lang="zh-CN" altLang="en-US">
                <a:solidFill>
                  <a:schemeClr val="accent2"/>
                </a:solidFill>
              </a:rPr>
              <a:t>、任务的划分目标</a:t>
            </a:r>
          </a:p>
          <a:p>
            <a:pPr eaLnBrk="1" hangingPunct="1"/>
            <a:r>
              <a:rPr lang="en-US" altLang="zh-CN">
                <a:solidFill>
                  <a:schemeClr val="accent2"/>
                </a:solidFill>
              </a:rPr>
              <a:t>3</a:t>
            </a:r>
            <a:r>
              <a:rPr lang="zh-CN" altLang="en-US">
                <a:solidFill>
                  <a:schemeClr val="accent2"/>
                </a:solidFill>
              </a:rPr>
              <a:t>、任务的划分方法</a:t>
            </a:r>
          </a:p>
          <a:p>
            <a:pPr eaLnBrk="1" hangingPunct="1"/>
            <a:r>
              <a:rPr lang="en-US" altLang="zh-CN">
                <a:solidFill>
                  <a:schemeClr val="accent2"/>
                </a:solidFill>
              </a:rPr>
              <a:t>4</a:t>
            </a:r>
            <a:r>
              <a:rPr lang="zh-CN" altLang="en-US">
                <a:solidFill>
                  <a:schemeClr val="accent2"/>
                </a:solidFill>
              </a:rPr>
              <a:t>、任务的可调度性分析</a:t>
            </a:r>
          </a:p>
          <a:p>
            <a:pPr eaLnBrk="1" hangingPunct="1"/>
            <a:r>
              <a:rPr lang="en-US" altLang="zh-CN">
                <a:solidFill>
                  <a:schemeClr val="accent2"/>
                </a:solidFill>
              </a:rPr>
              <a:t>5</a:t>
            </a:r>
            <a:r>
              <a:rPr lang="zh-CN" altLang="en-US">
                <a:solidFill>
                  <a:schemeClr val="accent2"/>
                </a:solidFill>
              </a:rPr>
              <a:t>、任务的执行分类和优先级安排</a:t>
            </a:r>
          </a:p>
          <a:p>
            <a:pPr eaLnBrk="1" hangingPunct="1"/>
            <a:r>
              <a:rPr lang="en-US" altLang="zh-CN">
                <a:solidFill>
                  <a:schemeClr val="accent2"/>
                </a:solidFill>
              </a:rPr>
              <a:t>6</a:t>
            </a:r>
            <a:r>
              <a:rPr lang="zh-CN" altLang="en-US">
                <a:solidFill>
                  <a:schemeClr val="accent2"/>
                </a:solidFill>
              </a:rPr>
              <a:t>、任务设计中的问题</a:t>
            </a:r>
          </a:p>
          <a:p>
            <a:pPr eaLnBrk="1" hangingPunct="1"/>
            <a:r>
              <a:rPr lang="en-US" altLang="zh-CN">
                <a:solidFill>
                  <a:schemeClr val="accent2"/>
                </a:solidFill>
              </a:rPr>
              <a:t>7</a:t>
            </a:r>
            <a:r>
              <a:rPr lang="zh-CN" altLang="en-US">
                <a:solidFill>
                  <a:schemeClr val="accent2"/>
                </a:solidFill>
              </a:rPr>
              <a:t>、系统设计编码实现过程</a:t>
            </a:r>
          </a:p>
          <a:p>
            <a:pPr eaLnBrk="1" hangingPunct="1"/>
            <a:r>
              <a:rPr lang="en-US" altLang="zh-CN">
                <a:solidFill>
                  <a:srgbClr val="FF0000"/>
                </a:solidFill>
              </a:rPr>
              <a:t>8</a:t>
            </a:r>
            <a:r>
              <a:rPr lang="zh-CN" altLang="en-US">
                <a:solidFill>
                  <a:srgbClr val="FF0000"/>
                </a:solidFill>
              </a:rPr>
              <a:t>、中断服务程序的设计</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页脚占位符 3">
            <a:extLst>
              <a:ext uri="{FF2B5EF4-FFF2-40B4-BE49-F238E27FC236}">
                <a16:creationId xmlns:a16="http://schemas.microsoft.com/office/drawing/2014/main" id="{57B4E943-47C6-6603-4DA9-9287765E55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8787" name="灯片编号占位符 4">
            <a:extLst>
              <a:ext uri="{FF2B5EF4-FFF2-40B4-BE49-F238E27FC236}">
                <a16:creationId xmlns:a16="http://schemas.microsoft.com/office/drawing/2014/main" id="{446E990C-8F92-69CF-EB12-857E39C5E8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35D31BF5-C9DD-49A8-8D09-601E51DD153C}" type="slidenum">
              <a:rPr lang="en-US" altLang="zh-CN" sz="1200" smtClean="0">
                <a:solidFill>
                  <a:srgbClr val="3366FF"/>
                </a:solidFill>
                <a:latin typeface="Arial Black" panose="020B0A04020102020204" pitchFamily="34" charset="0"/>
              </a:rPr>
              <a:pPr>
                <a:spcBef>
                  <a:spcPct val="0"/>
                </a:spcBef>
                <a:buClrTx/>
                <a:buSzTx/>
                <a:buFontTx/>
                <a:buNone/>
              </a:pPr>
              <a:t>113</a:t>
            </a:fld>
            <a:endParaRPr lang="en-US" altLang="zh-CN" sz="1200">
              <a:solidFill>
                <a:srgbClr val="3366FF"/>
              </a:solidFill>
              <a:latin typeface="Arial Black" panose="020B0A04020102020204" pitchFamily="34" charset="0"/>
            </a:endParaRPr>
          </a:p>
        </p:txBody>
      </p:sp>
      <p:sp>
        <p:nvSpPr>
          <p:cNvPr id="118788" name="日期占位符 5">
            <a:extLst>
              <a:ext uri="{FF2B5EF4-FFF2-40B4-BE49-F238E27FC236}">
                <a16:creationId xmlns:a16="http://schemas.microsoft.com/office/drawing/2014/main" id="{138E4093-1188-16DD-9D18-ACCA61C1775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9F6937A-39C1-43FD-98E0-CE34F454C24C}"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
        <p:nvSpPr>
          <p:cNvPr id="118789" name="Rectangle 2">
            <a:extLst>
              <a:ext uri="{FF2B5EF4-FFF2-40B4-BE49-F238E27FC236}">
                <a16:creationId xmlns:a16="http://schemas.microsoft.com/office/drawing/2014/main" id="{90B59415-321A-34D9-6809-DA7F92B9DFB0}"/>
              </a:ext>
            </a:extLst>
          </p:cNvPr>
          <p:cNvSpPr>
            <a:spLocks noGrp="1" noChangeArrowheads="1"/>
          </p:cNvSpPr>
          <p:nvPr>
            <p:ph type="title"/>
          </p:nvPr>
        </p:nvSpPr>
        <p:spPr>
          <a:xfrm>
            <a:off x="457200" y="815975"/>
            <a:ext cx="8229600" cy="668338"/>
          </a:xfrm>
        </p:spPr>
        <p:txBody>
          <a:bodyPr/>
          <a:lstStyle/>
          <a:p>
            <a:pPr eaLnBrk="1" hangingPunct="1"/>
            <a:r>
              <a:rPr lang="zh-CN" altLang="en-US" sz="3400"/>
              <a:t>补充：</a:t>
            </a:r>
            <a:r>
              <a:rPr lang="en-US" altLang="zh-CN" sz="3400"/>
              <a:t>8 --- </a:t>
            </a:r>
            <a:r>
              <a:rPr lang="zh-CN" altLang="en-US" sz="4000">
                <a:solidFill>
                  <a:srgbClr val="080808"/>
                </a:solidFill>
              </a:rPr>
              <a:t>中断服务程序的设计</a:t>
            </a:r>
          </a:p>
        </p:txBody>
      </p:sp>
      <p:sp>
        <p:nvSpPr>
          <p:cNvPr id="118790" name="Text Box 4">
            <a:extLst>
              <a:ext uri="{FF2B5EF4-FFF2-40B4-BE49-F238E27FC236}">
                <a16:creationId xmlns:a16="http://schemas.microsoft.com/office/drawing/2014/main" id="{80AECE38-CB03-155E-8CA2-2B2487FCB243}"/>
              </a:ext>
            </a:extLst>
          </p:cNvPr>
          <p:cNvSpPr txBox="1">
            <a:spLocks noChangeArrowheads="1"/>
          </p:cNvSpPr>
          <p:nvPr/>
        </p:nvSpPr>
        <p:spPr bwMode="auto">
          <a:xfrm>
            <a:off x="755650" y="2349500"/>
            <a:ext cx="741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800">
                <a:solidFill>
                  <a:srgbClr val="080808"/>
                </a:solidFill>
              </a:rPr>
              <a:t>详见第三章相关部分。</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0ADF56F8-0206-CE84-F6CC-35DC859039FE}"/>
              </a:ext>
            </a:extLst>
          </p:cNvPr>
          <p:cNvSpPr>
            <a:spLocks noGrp="1" noChangeArrowheads="1"/>
          </p:cNvSpPr>
          <p:nvPr>
            <p:ph type="title"/>
          </p:nvPr>
        </p:nvSpPr>
        <p:spPr>
          <a:xfrm>
            <a:off x="457200" y="528638"/>
            <a:ext cx="8229600" cy="236537"/>
          </a:xfrm>
        </p:spPr>
        <p:txBody>
          <a:bodyPr/>
          <a:lstStyle/>
          <a:p>
            <a:r>
              <a:rPr lang="en-US" altLang="zh-CN"/>
              <a:t>OS_TCBInit</a:t>
            </a:r>
            <a:r>
              <a:rPr lang="zh-CN" altLang="en-US"/>
              <a:t>源码分析</a:t>
            </a:r>
          </a:p>
        </p:txBody>
      </p:sp>
      <p:sp>
        <p:nvSpPr>
          <p:cNvPr id="3" name="内容占位符 2">
            <a:extLst>
              <a:ext uri="{FF2B5EF4-FFF2-40B4-BE49-F238E27FC236}">
                <a16:creationId xmlns:a16="http://schemas.microsoft.com/office/drawing/2014/main" id="{DD4000C5-97F8-72E2-893F-C251D7048271}"/>
              </a:ext>
            </a:extLst>
          </p:cNvPr>
          <p:cNvSpPr>
            <a:spLocks noGrp="1"/>
          </p:cNvSpPr>
          <p:nvPr>
            <p:ph idx="1"/>
          </p:nvPr>
        </p:nvSpPr>
        <p:spPr>
          <a:xfrm>
            <a:off x="179388" y="981075"/>
            <a:ext cx="8964612" cy="5832475"/>
          </a:xfrm>
        </p:spPr>
        <p:txBody>
          <a:bodyPr>
            <a:normAutofit fontScale="70000" lnSpcReduction="20000"/>
          </a:bodyPr>
          <a:lstStyle/>
          <a:p>
            <a:pPr marL="0" indent="0">
              <a:buFont typeface="Wingdings" panose="05000000000000000000" pitchFamily="2" charset="2"/>
              <a:buNone/>
              <a:defRPr/>
            </a:pPr>
            <a:r>
              <a:rPr lang="en-US" altLang="zh-CN" sz="2800" dirty="0"/>
              <a:t>INT8U  </a:t>
            </a:r>
            <a:r>
              <a:rPr lang="en-US" altLang="zh-CN" sz="2800" dirty="0" err="1"/>
              <a:t>OS_TCBInit</a:t>
            </a:r>
            <a:r>
              <a:rPr lang="en-US" altLang="zh-CN" sz="2800" dirty="0"/>
              <a:t> (INT8U </a:t>
            </a:r>
            <a:r>
              <a:rPr lang="en-US" altLang="zh-CN" sz="2800" dirty="0" err="1"/>
              <a:t>prio</a:t>
            </a:r>
            <a:r>
              <a:rPr lang="en-US" altLang="zh-CN" sz="2800" dirty="0"/>
              <a:t>, OS_STK *</a:t>
            </a:r>
            <a:r>
              <a:rPr lang="en-US" altLang="zh-CN" sz="2800" dirty="0" err="1"/>
              <a:t>ptos</a:t>
            </a:r>
            <a:r>
              <a:rPr lang="en-US" altLang="zh-CN" sz="2800" dirty="0"/>
              <a:t>, OS_STK *</a:t>
            </a:r>
            <a:r>
              <a:rPr lang="en-US" altLang="zh-CN" sz="2800" dirty="0" err="1"/>
              <a:t>pbos</a:t>
            </a:r>
            <a:r>
              <a:rPr lang="en-US" altLang="zh-CN" sz="2800" dirty="0"/>
              <a:t>, INT16U id, INT32U </a:t>
            </a:r>
            <a:r>
              <a:rPr lang="en-US" altLang="zh-CN" sz="2800" dirty="0" err="1"/>
              <a:t>stk_size</a:t>
            </a:r>
            <a:r>
              <a:rPr lang="en-US" altLang="zh-CN" sz="2800" dirty="0"/>
              <a:t>, void *</a:t>
            </a:r>
            <a:r>
              <a:rPr lang="en-US" altLang="zh-CN" sz="2800" dirty="0" err="1"/>
              <a:t>pext</a:t>
            </a:r>
            <a:r>
              <a:rPr lang="en-US" altLang="zh-CN" sz="2800" dirty="0"/>
              <a:t>, INT16U opt)</a:t>
            </a:r>
          </a:p>
          <a:p>
            <a:pPr marL="0" indent="0">
              <a:buFont typeface="Wingdings" panose="05000000000000000000" pitchFamily="2" charset="2"/>
              <a:buNone/>
              <a:defRPr/>
            </a:pPr>
            <a:r>
              <a:rPr lang="en-US" altLang="zh-CN" sz="2800" dirty="0"/>
              <a:t>{</a:t>
            </a:r>
          </a:p>
          <a:p>
            <a:pPr marL="0" indent="0">
              <a:buFont typeface="Wingdings" panose="05000000000000000000" pitchFamily="2" charset="2"/>
              <a:buNone/>
              <a:defRPr/>
            </a:pPr>
            <a:r>
              <a:rPr lang="en-US" altLang="zh-CN" sz="2800" dirty="0"/>
              <a:t>     OS_TCB    *</a:t>
            </a:r>
            <a:r>
              <a:rPr lang="en-US" altLang="zh-CN" sz="2800" dirty="0" err="1"/>
              <a:t>ptcb</a:t>
            </a:r>
            <a:r>
              <a:rPr lang="en-US" altLang="zh-CN" sz="2800" dirty="0"/>
              <a:t>;</a:t>
            </a:r>
          </a:p>
          <a:p>
            <a:pPr marL="0" indent="0">
              <a:buFont typeface="Wingdings" panose="05000000000000000000" pitchFamily="2" charset="2"/>
              <a:buNone/>
              <a:defRPr/>
            </a:pPr>
            <a:r>
              <a:rPr lang="en-US" altLang="zh-CN" sz="2800" dirty="0"/>
              <a:t>    OS_ENTER_CRITICAL();</a:t>
            </a:r>
          </a:p>
          <a:p>
            <a:pPr marL="0" indent="0">
              <a:buFont typeface="Wingdings" panose="05000000000000000000" pitchFamily="2" charset="2"/>
              <a:buNone/>
              <a:defRPr/>
            </a:pPr>
            <a:r>
              <a:rPr lang="en-US" altLang="zh-CN" sz="2800" dirty="0"/>
              <a:t>    </a:t>
            </a:r>
            <a:r>
              <a:rPr lang="en-US" altLang="zh-CN" sz="2800" dirty="0" err="1"/>
              <a:t>ptcb</a:t>
            </a:r>
            <a:r>
              <a:rPr lang="en-US" altLang="zh-CN" sz="2800" dirty="0"/>
              <a:t> = </a:t>
            </a:r>
            <a:r>
              <a:rPr lang="en-US" altLang="zh-CN" sz="2800" dirty="0" err="1"/>
              <a:t>OSTCBFreeList</a:t>
            </a:r>
            <a:r>
              <a:rPr lang="en-US" altLang="zh-CN" sz="2800" dirty="0"/>
              <a:t>;           /* Get a free TCB from the free TCB list    */</a:t>
            </a:r>
          </a:p>
          <a:p>
            <a:pPr marL="0" indent="0">
              <a:buFont typeface="Wingdings" panose="05000000000000000000" pitchFamily="2" charset="2"/>
              <a:buNone/>
              <a:defRPr/>
            </a:pPr>
            <a:r>
              <a:rPr lang="en-US" altLang="zh-CN" sz="2800" dirty="0"/>
              <a:t>    if (</a:t>
            </a:r>
            <a:r>
              <a:rPr lang="en-US" altLang="zh-CN" sz="2800" dirty="0" err="1"/>
              <a:t>ptcb</a:t>
            </a:r>
            <a:r>
              <a:rPr lang="en-US" altLang="zh-CN" sz="2800" dirty="0"/>
              <a:t> != (OS_TCB *)0) {</a:t>
            </a:r>
          </a:p>
          <a:p>
            <a:pPr marL="0" indent="0">
              <a:buFont typeface="Wingdings" panose="05000000000000000000" pitchFamily="2" charset="2"/>
              <a:buNone/>
              <a:defRPr/>
            </a:pPr>
            <a:r>
              <a:rPr lang="en-US" altLang="zh-CN" sz="2800" dirty="0"/>
              <a:t>     </a:t>
            </a:r>
            <a:r>
              <a:rPr lang="en-US" altLang="zh-CN" sz="2800" dirty="0" err="1"/>
              <a:t>OSTCBFreeList</a:t>
            </a:r>
            <a:r>
              <a:rPr lang="en-US" altLang="zh-CN" sz="2800" dirty="0"/>
              <a:t>  = </a:t>
            </a:r>
            <a:r>
              <a:rPr lang="en-US" altLang="zh-CN" sz="2800" dirty="0" err="1"/>
              <a:t>ptcb</a:t>
            </a:r>
            <a:r>
              <a:rPr lang="en-US" altLang="zh-CN" sz="2800" dirty="0"/>
              <a:t>-&gt;</a:t>
            </a:r>
            <a:r>
              <a:rPr lang="en-US" altLang="zh-CN" sz="2800" dirty="0" err="1"/>
              <a:t>OSTCBNext</a:t>
            </a:r>
            <a:r>
              <a:rPr lang="en-US" altLang="zh-CN" sz="2800" dirty="0"/>
              <a:t>;  /* Update pointer to free TCB list */</a:t>
            </a:r>
          </a:p>
          <a:p>
            <a:pPr marL="0" indent="0">
              <a:buFont typeface="Wingdings" panose="05000000000000000000" pitchFamily="2" charset="2"/>
              <a:buNone/>
              <a:defRPr/>
            </a:pPr>
            <a:r>
              <a:rPr lang="en-US" altLang="zh-CN" sz="2800" dirty="0"/>
              <a:t>        OS_EXIT_CRITICAL();</a:t>
            </a:r>
          </a:p>
          <a:p>
            <a:pPr marL="0" indent="0">
              <a:buFont typeface="Wingdings" panose="05000000000000000000" pitchFamily="2" charset="2"/>
              <a:buNone/>
              <a:defRPr/>
            </a:pPr>
            <a:r>
              <a:rPr lang="en-US" altLang="zh-CN" sz="2800" dirty="0"/>
              <a:t>        </a:t>
            </a:r>
            <a:r>
              <a:rPr lang="en-US" altLang="zh-CN" sz="2800" dirty="0" err="1"/>
              <a:t>ptcb</a:t>
            </a:r>
            <a:r>
              <a:rPr lang="en-US" altLang="zh-CN" sz="2800" dirty="0"/>
              <a:t>-&gt;</a:t>
            </a:r>
            <a:r>
              <a:rPr lang="en-US" altLang="zh-CN" sz="2800" dirty="0" err="1"/>
              <a:t>OSTCBStkPtr</a:t>
            </a:r>
            <a:r>
              <a:rPr lang="en-US" altLang="zh-CN" sz="2800" dirty="0"/>
              <a:t>    = </a:t>
            </a:r>
            <a:r>
              <a:rPr lang="en-US" altLang="zh-CN" sz="2800" dirty="0" err="1"/>
              <a:t>ptos</a:t>
            </a:r>
            <a:r>
              <a:rPr lang="en-US" altLang="zh-CN" sz="2800" dirty="0"/>
              <a:t>;                /* Load Stack pointer in TCB  */</a:t>
            </a:r>
          </a:p>
          <a:p>
            <a:pPr marL="0" indent="0">
              <a:buFont typeface="Wingdings" panose="05000000000000000000" pitchFamily="2" charset="2"/>
              <a:buNone/>
              <a:defRPr/>
            </a:pPr>
            <a:r>
              <a:rPr lang="en-US" altLang="zh-CN" sz="2800" dirty="0"/>
              <a:t>        </a:t>
            </a:r>
            <a:r>
              <a:rPr lang="en-US" altLang="zh-CN" sz="2800" dirty="0" err="1"/>
              <a:t>ptcb</a:t>
            </a:r>
            <a:r>
              <a:rPr lang="en-US" altLang="zh-CN" sz="2800" dirty="0"/>
              <a:t>-&gt;</a:t>
            </a:r>
            <a:r>
              <a:rPr lang="en-US" altLang="zh-CN" sz="2800" dirty="0" err="1"/>
              <a:t>OSTCBPrio</a:t>
            </a:r>
            <a:r>
              <a:rPr lang="en-US" altLang="zh-CN" sz="2800" dirty="0"/>
              <a:t>      = (INT8U)</a:t>
            </a:r>
            <a:r>
              <a:rPr lang="en-US" altLang="zh-CN" sz="2800" dirty="0" err="1"/>
              <a:t>prio</a:t>
            </a:r>
            <a:r>
              <a:rPr lang="en-US" altLang="zh-CN" sz="2800" dirty="0"/>
              <a:t>;     /* Load task priority into TCB     */</a:t>
            </a:r>
          </a:p>
          <a:p>
            <a:pPr marL="0" indent="0">
              <a:buFont typeface="Wingdings" panose="05000000000000000000" pitchFamily="2" charset="2"/>
              <a:buNone/>
              <a:defRPr/>
            </a:pPr>
            <a:r>
              <a:rPr lang="en-US" altLang="zh-CN" sz="2800" dirty="0"/>
              <a:t>        </a:t>
            </a:r>
            <a:r>
              <a:rPr lang="en-US" altLang="zh-CN" sz="2800" dirty="0" err="1"/>
              <a:t>ptcb</a:t>
            </a:r>
            <a:r>
              <a:rPr lang="en-US" altLang="zh-CN" sz="2800" dirty="0"/>
              <a:t>-&gt;</a:t>
            </a:r>
            <a:r>
              <a:rPr lang="en-US" altLang="zh-CN" sz="2800" dirty="0" err="1"/>
              <a:t>OSTCBStat</a:t>
            </a:r>
            <a:r>
              <a:rPr lang="en-US" altLang="zh-CN" sz="2800" dirty="0"/>
              <a:t>      = OS_STAT_RDY;    /* Task is ready to run        */</a:t>
            </a:r>
          </a:p>
          <a:p>
            <a:pPr marL="0" indent="0">
              <a:buFont typeface="Wingdings" panose="05000000000000000000" pitchFamily="2" charset="2"/>
              <a:buNone/>
              <a:defRPr/>
            </a:pPr>
            <a:r>
              <a:rPr lang="en-US" altLang="zh-CN" sz="2800" dirty="0"/>
              <a:t>        </a:t>
            </a:r>
            <a:r>
              <a:rPr lang="en-US" altLang="zh-CN" sz="2800" dirty="0" err="1"/>
              <a:t>ptcb</a:t>
            </a:r>
            <a:r>
              <a:rPr lang="en-US" altLang="zh-CN" sz="2800" dirty="0"/>
              <a:t>-&gt;</a:t>
            </a:r>
            <a:r>
              <a:rPr lang="en-US" altLang="zh-CN" sz="2800" dirty="0" err="1"/>
              <a:t>OSTCBDly</a:t>
            </a:r>
            <a:r>
              <a:rPr lang="en-US" altLang="zh-CN" sz="2800" dirty="0"/>
              <a:t>       = 0;                          /* Task is not delayed           */</a:t>
            </a:r>
          </a:p>
          <a:p>
            <a:pPr marL="0" indent="0">
              <a:buFont typeface="Wingdings" panose="05000000000000000000" pitchFamily="2" charset="2"/>
              <a:buNone/>
              <a:defRPr/>
            </a:pPr>
            <a:endParaRPr lang="en-US" altLang="zh-CN" sz="2800" dirty="0"/>
          </a:p>
          <a:p>
            <a:pPr marL="0" indent="0">
              <a:buFont typeface="Wingdings" panose="05000000000000000000" pitchFamily="2" charset="2"/>
              <a:buNone/>
              <a:defRPr/>
            </a:pPr>
            <a:r>
              <a:rPr lang="en-US" altLang="zh-CN" sz="2800" dirty="0"/>
              <a:t>#if OS_TASK_CREATE_EXT_EN &gt; 0</a:t>
            </a:r>
          </a:p>
        </p:txBody>
      </p:sp>
      <p:sp>
        <p:nvSpPr>
          <p:cNvPr id="119812" name="页脚占位符 3">
            <a:extLst>
              <a:ext uri="{FF2B5EF4-FFF2-40B4-BE49-F238E27FC236}">
                <a16:creationId xmlns:a16="http://schemas.microsoft.com/office/drawing/2014/main" id="{C5AD1BAD-DEA5-081E-1AA6-A164DCB0AE8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19813" name="灯片编号占位符 4">
            <a:extLst>
              <a:ext uri="{FF2B5EF4-FFF2-40B4-BE49-F238E27FC236}">
                <a16:creationId xmlns:a16="http://schemas.microsoft.com/office/drawing/2014/main" id="{4FD5B4BE-3F39-10C0-E035-E444CE149F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DAD17C1-5AD2-4927-B014-B9B7F4B8BEA7}" type="slidenum">
              <a:rPr lang="en-US" altLang="zh-CN" sz="1200" smtClean="0">
                <a:solidFill>
                  <a:srgbClr val="3366FF"/>
                </a:solidFill>
                <a:latin typeface="Arial Black" panose="020B0A04020102020204" pitchFamily="34" charset="0"/>
              </a:rPr>
              <a:pPr>
                <a:spcBef>
                  <a:spcPct val="0"/>
                </a:spcBef>
                <a:buClrTx/>
                <a:buSzTx/>
                <a:buFontTx/>
                <a:buNone/>
              </a:pPr>
              <a:t>114</a:t>
            </a:fld>
            <a:endParaRPr lang="en-US" altLang="zh-CN" sz="1200">
              <a:solidFill>
                <a:srgbClr val="3366FF"/>
              </a:solidFill>
              <a:latin typeface="Arial Black" panose="020B0A04020102020204" pitchFamily="34" charset="0"/>
            </a:endParaRPr>
          </a:p>
        </p:txBody>
      </p:sp>
      <p:sp>
        <p:nvSpPr>
          <p:cNvPr id="119814" name="日期占位符 5">
            <a:extLst>
              <a:ext uri="{FF2B5EF4-FFF2-40B4-BE49-F238E27FC236}">
                <a16:creationId xmlns:a16="http://schemas.microsoft.com/office/drawing/2014/main" id="{1CBC5A7B-DCCA-7A54-0403-14FE9E41823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9171020C-4602-4858-8516-32F49D4B853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C5F5FD8-B724-23B5-69B0-EEBD5B0FABA3}"/>
              </a:ext>
            </a:extLst>
          </p:cNvPr>
          <p:cNvSpPr>
            <a:spLocks noGrp="1"/>
          </p:cNvSpPr>
          <p:nvPr>
            <p:ph idx="1"/>
          </p:nvPr>
        </p:nvSpPr>
        <p:spPr>
          <a:xfrm>
            <a:off x="34925" y="476250"/>
            <a:ext cx="9109075" cy="6057900"/>
          </a:xfrm>
        </p:spPr>
        <p:txBody>
          <a:bodyPr>
            <a:normAutofit fontScale="55000" lnSpcReduction="20000"/>
          </a:bodyPr>
          <a:lstStyle/>
          <a:p>
            <a:pPr marL="0" indent="0">
              <a:buFont typeface="Wingdings" panose="05000000000000000000" pitchFamily="2" charset="2"/>
              <a:buNone/>
              <a:defRPr/>
            </a:pPr>
            <a:r>
              <a:rPr lang="en-US" altLang="zh-CN" sz="2800" dirty="0"/>
              <a:t>        </a:t>
            </a:r>
            <a:r>
              <a:rPr lang="en-US" altLang="zh-CN" sz="3600" dirty="0" err="1"/>
              <a:t>ptcb</a:t>
            </a:r>
            <a:r>
              <a:rPr lang="en-US" altLang="zh-CN" sz="3600" dirty="0"/>
              <a:t>-&gt;</a:t>
            </a:r>
            <a:r>
              <a:rPr lang="en-US" altLang="zh-CN" sz="3600" dirty="0" err="1"/>
              <a:t>OSTCBExtPtr</a:t>
            </a:r>
            <a:r>
              <a:rPr lang="en-US" altLang="zh-CN" sz="3600" dirty="0"/>
              <a:t>    = </a:t>
            </a:r>
            <a:r>
              <a:rPr lang="en-US" altLang="zh-CN" sz="3600" dirty="0" err="1"/>
              <a:t>pext</a:t>
            </a:r>
            <a:r>
              <a:rPr lang="en-US" altLang="zh-CN" sz="3600" dirty="0"/>
              <a:t>;            /* Store pointer to TCB extension*/</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OSTCBStkSize</a:t>
            </a:r>
            <a:r>
              <a:rPr lang="en-US" altLang="zh-CN" sz="3600" dirty="0"/>
              <a:t>   = </a:t>
            </a:r>
            <a:r>
              <a:rPr lang="en-US" altLang="zh-CN" sz="3600" dirty="0" err="1"/>
              <a:t>stk_size</a:t>
            </a:r>
            <a:r>
              <a:rPr lang="en-US" altLang="zh-CN" sz="3600" dirty="0"/>
              <a:t>;  /* Store stack size */</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OSTCBStkBottom</a:t>
            </a:r>
            <a:r>
              <a:rPr lang="en-US" altLang="zh-CN" sz="3600" dirty="0"/>
              <a:t> = </a:t>
            </a:r>
            <a:r>
              <a:rPr lang="en-US" altLang="zh-CN" sz="3600" dirty="0" err="1"/>
              <a:t>pbos</a:t>
            </a:r>
            <a:r>
              <a:rPr lang="en-US" altLang="zh-CN" sz="3600" dirty="0"/>
              <a:t>;     /* Store pointer to bottom of stack */</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OSTCBOpt</a:t>
            </a:r>
            <a:r>
              <a:rPr lang="en-US" altLang="zh-CN" sz="3600" dirty="0"/>
              <a:t>       = opt;                        /* Store task options   */</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OSTCBId</a:t>
            </a:r>
            <a:r>
              <a:rPr lang="en-US" altLang="zh-CN" sz="3600" dirty="0"/>
              <a:t>        = id;                  /* Store task ID  */</a:t>
            </a:r>
          </a:p>
          <a:p>
            <a:pPr marL="0" indent="0">
              <a:buFont typeface="Wingdings" panose="05000000000000000000" pitchFamily="2" charset="2"/>
              <a:buNone/>
              <a:defRPr/>
            </a:pPr>
            <a:r>
              <a:rPr lang="en-US" altLang="zh-CN" sz="3600" dirty="0"/>
              <a:t>#else</a:t>
            </a:r>
          </a:p>
          <a:p>
            <a:pPr marL="0" indent="0">
              <a:buFont typeface="Wingdings" panose="05000000000000000000" pitchFamily="2" charset="2"/>
              <a:buNone/>
              <a:defRPr/>
            </a:pPr>
            <a:r>
              <a:rPr lang="en-US" altLang="zh-CN" sz="3600" dirty="0"/>
              <a:t>        </a:t>
            </a:r>
            <a:r>
              <a:rPr lang="en-US" altLang="zh-CN" sz="3600" dirty="0" err="1"/>
              <a:t>pext</a:t>
            </a:r>
            <a:r>
              <a:rPr lang="en-US" altLang="zh-CN" sz="3600" dirty="0"/>
              <a:t>                 = </a:t>
            </a:r>
            <a:r>
              <a:rPr lang="en-US" altLang="zh-CN" sz="3600" dirty="0" err="1"/>
              <a:t>pext</a:t>
            </a:r>
            <a:r>
              <a:rPr lang="en-US" altLang="zh-CN" sz="3600" dirty="0"/>
              <a:t>;        /* Prevent compiler warning if not used     */</a:t>
            </a:r>
          </a:p>
          <a:p>
            <a:pPr marL="0" indent="0">
              <a:buFont typeface="Wingdings" panose="05000000000000000000" pitchFamily="2" charset="2"/>
              <a:buNone/>
              <a:defRPr/>
            </a:pPr>
            <a:r>
              <a:rPr lang="en-US" altLang="zh-CN" sz="3600" dirty="0"/>
              <a:t>        </a:t>
            </a:r>
            <a:r>
              <a:rPr lang="en-US" altLang="zh-CN" sz="3600" dirty="0" err="1"/>
              <a:t>stk_size</a:t>
            </a:r>
            <a:r>
              <a:rPr lang="en-US" altLang="zh-CN" sz="3600" dirty="0"/>
              <a:t>             = </a:t>
            </a:r>
            <a:r>
              <a:rPr lang="en-US" altLang="zh-CN" sz="3600" dirty="0" err="1"/>
              <a:t>stk_size</a:t>
            </a:r>
            <a:r>
              <a:rPr lang="en-US" altLang="zh-CN" sz="3600" dirty="0"/>
              <a:t>;</a:t>
            </a:r>
          </a:p>
          <a:p>
            <a:pPr marL="0" indent="0">
              <a:buFont typeface="Wingdings" panose="05000000000000000000" pitchFamily="2" charset="2"/>
              <a:buNone/>
              <a:defRPr/>
            </a:pPr>
            <a:r>
              <a:rPr lang="en-US" altLang="zh-CN" sz="3600" dirty="0"/>
              <a:t>        </a:t>
            </a:r>
            <a:r>
              <a:rPr lang="en-US" altLang="zh-CN" sz="3600" dirty="0" err="1"/>
              <a:t>pbos</a:t>
            </a:r>
            <a:r>
              <a:rPr lang="en-US" altLang="zh-CN" sz="3600" dirty="0"/>
              <a:t>                 = </a:t>
            </a:r>
            <a:r>
              <a:rPr lang="en-US" altLang="zh-CN" sz="3600" dirty="0" err="1"/>
              <a:t>pbos</a:t>
            </a:r>
            <a:r>
              <a:rPr lang="en-US" altLang="zh-CN" sz="3600" dirty="0"/>
              <a:t>;</a:t>
            </a:r>
          </a:p>
          <a:p>
            <a:pPr marL="0" indent="0">
              <a:buFont typeface="Wingdings" panose="05000000000000000000" pitchFamily="2" charset="2"/>
              <a:buNone/>
              <a:defRPr/>
            </a:pPr>
            <a:r>
              <a:rPr lang="en-US" altLang="zh-CN" sz="3600" dirty="0"/>
              <a:t>        opt                  = opt;</a:t>
            </a:r>
          </a:p>
          <a:p>
            <a:pPr marL="0" indent="0">
              <a:buFont typeface="Wingdings" panose="05000000000000000000" pitchFamily="2" charset="2"/>
              <a:buNone/>
              <a:defRPr/>
            </a:pPr>
            <a:r>
              <a:rPr lang="en-US" altLang="zh-CN" sz="3600" dirty="0"/>
              <a:t>        id                   = id;</a:t>
            </a:r>
          </a:p>
          <a:p>
            <a:pPr marL="0" indent="0">
              <a:buFont typeface="Wingdings" panose="05000000000000000000" pitchFamily="2" charset="2"/>
              <a:buNone/>
              <a:defRPr/>
            </a:pPr>
            <a:r>
              <a:rPr lang="en-US" altLang="zh-CN" sz="3600" dirty="0"/>
              <a:t>#</a:t>
            </a:r>
            <a:r>
              <a:rPr lang="en-US" altLang="zh-CN" sz="3600" dirty="0" err="1"/>
              <a:t>endif</a:t>
            </a:r>
            <a:endParaRPr lang="en-US" altLang="zh-CN" sz="3600" dirty="0"/>
          </a:p>
          <a:p>
            <a:pPr marL="0" indent="0">
              <a:buFont typeface="Wingdings" panose="05000000000000000000" pitchFamily="2" charset="2"/>
              <a:buNone/>
              <a:defRPr/>
            </a:pPr>
            <a:r>
              <a:rPr lang="en-US" altLang="zh-CN" sz="3600" dirty="0"/>
              <a:t>#if OS_TASK_DEL_EN &gt; 0</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OSTCBDelReq</a:t>
            </a:r>
            <a:r>
              <a:rPr lang="en-US" altLang="zh-CN" sz="3600" dirty="0"/>
              <a:t>    = OS_NO_ERR;</a:t>
            </a:r>
          </a:p>
          <a:p>
            <a:pPr marL="0" indent="0">
              <a:buFont typeface="Wingdings" panose="05000000000000000000" pitchFamily="2" charset="2"/>
              <a:buNone/>
              <a:defRPr/>
            </a:pPr>
            <a:r>
              <a:rPr lang="en-US" altLang="zh-CN" sz="3600" dirty="0"/>
              <a:t>#</a:t>
            </a:r>
            <a:r>
              <a:rPr lang="en-US" altLang="zh-CN" sz="3600" dirty="0" err="1"/>
              <a:t>endif</a:t>
            </a:r>
            <a:endParaRPr lang="en-US" altLang="zh-CN" sz="3600" dirty="0"/>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-&gt;OSTCBY         = </a:t>
            </a:r>
            <a:r>
              <a:rPr lang="en-US" altLang="zh-CN" sz="3600" dirty="0" err="1"/>
              <a:t>prio</a:t>
            </a:r>
            <a:r>
              <a:rPr lang="en-US" altLang="zh-CN" sz="3600" dirty="0"/>
              <a:t> &gt;&gt; 3;      /* Pre-compute X, Y, </a:t>
            </a:r>
            <a:r>
              <a:rPr lang="en-US" altLang="zh-CN" sz="3600" dirty="0" err="1"/>
              <a:t>BitX</a:t>
            </a:r>
            <a:r>
              <a:rPr lang="en-US" altLang="zh-CN" sz="3600" dirty="0"/>
              <a:t> and </a:t>
            </a:r>
            <a:r>
              <a:rPr lang="en-US" altLang="zh-CN" sz="3600" dirty="0" err="1"/>
              <a:t>BitY</a:t>
            </a:r>
            <a:r>
              <a:rPr lang="en-US" altLang="zh-CN" sz="3600" dirty="0"/>
              <a:t>*/</a:t>
            </a:r>
          </a:p>
          <a:p>
            <a:pPr marL="0" indent="0">
              <a:buFont typeface="Wingdings" panose="05000000000000000000" pitchFamily="2" charset="2"/>
              <a:buNone/>
              <a:defRPr/>
            </a:pPr>
            <a:r>
              <a:rPr lang="en-US" altLang="zh-CN" sz="3600" dirty="0"/>
              <a:t>        </a:t>
            </a:r>
            <a:r>
              <a:rPr lang="en-US" altLang="zh-CN" sz="3600" dirty="0" err="1"/>
              <a:t>ptcb</a:t>
            </a:r>
            <a:r>
              <a:rPr lang="en-US" altLang="zh-CN" sz="3600" dirty="0"/>
              <a:t>-&gt;</a:t>
            </a:r>
            <a:r>
              <a:rPr lang="en-US" altLang="zh-CN" sz="3600" dirty="0" err="1"/>
              <a:t>OSTCBBitY</a:t>
            </a:r>
            <a:r>
              <a:rPr lang="en-US" altLang="zh-CN" sz="3600" dirty="0"/>
              <a:t>      = </a:t>
            </a:r>
            <a:r>
              <a:rPr lang="en-US" altLang="zh-CN" sz="3600" dirty="0" err="1"/>
              <a:t>OSMapTbl</a:t>
            </a:r>
            <a:r>
              <a:rPr lang="en-US" altLang="zh-CN" sz="3600" dirty="0"/>
              <a:t>[</a:t>
            </a:r>
            <a:r>
              <a:rPr lang="en-US" altLang="zh-CN" sz="3600" dirty="0" err="1"/>
              <a:t>ptcb</a:t>
            </a:r>
            <a:r>
              <a:rPr lang="en-US" altLang="zh-CN" sz="3600" dirty="0"/>
              <a:t>-&gt;OSTCBY];</a:t>
            </a:r>
          </a:p>
        </p:txBody>
      </p:sp>
      <p:sp>
        <p:nvSpPr>
          <p:cNvPr id="120835" name="页脚占位符 3">
            <a:extLst>
              <a:ext uri="{FF2B5EF4-FFF2-40B4-BE49-F238E27FC236}">
                <a16:creationId xmlns:a16="http://schemas.microsoft.com/office/drawing/2014/main" id="{FB893FC0-4F6B-BE59-28CC-3241575A62B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0836" name="灯片编号占位符 4">
            <a:extLst>
              <a:ext uri="{FF2B5EF4-FFF2-40B4-BE49-F238E27FC236}">
                <a16:creationId xmlns:a16="http://schemas.microsoft.com/office/drawing/2014/main" id="{B96B5FAF-81C9-276A-5C72-1EAF03FA5E5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9037AC4-3B89-4E1C-9C7C-830CA7DED16C}" type="slidenum">
              <a:rPr lang="en-US" altLang="zh-CN" sz="1200" smtClean="0">
                <a:solidFill>
                  <a:srgbClr val="3366FF"/>
                </a:solidFill>
                <a:latin typeface="Arial Black" panose="020B0A04020102020204" pitchFamily="34" charset="0"/>
              </a:rPr>
              <a:pPr>
                <a:spcBef>
                  <a:spcPct val="0"/>
                </a:spcBef>
                <a:buClrTx/>
                <a:buSzTx/>
                <a:buFontTx/>
                <a:buNone/>
              </a:pPr>
              <a:t>115</a:t>
            </a:fld>
            <a:endParaRPr lang="en-US" altLang="zh-CN" sz="1200">
              <a:solidFill>
                <a:srgbClr val="3366FF"/>
              </a:solidFill>
              <a:latin typeface="Arial Black" panose="020B0A04020102020204" pitchFamily="34" charset="0"/>
            </a:endParaRPr>
          </a:p>
        </p:txBody>
      </p:sp>
      <p:sp>
        <p:nvSpPr>
          <p:cNvPr id="120837" name="日期占位符 5">
            <a:extLst>
              <a:ext uri="{FF2B5EF4-FFF2-40B4-BE49-F238E27FC236}">
                <a16:creationId xmlns:a16="http://schemas.microsoft.com/office/drawing/2014/main" id="{725E8CF2-1456-9B87-304D-F3859CA6D6A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6C1B2C6-E59D-41F5-88C3-F8E0964CD39A}"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38F3C42-5580-07DC-0865-85A7634ABC04}"/>
              </a:ext>
            </a:extLst>
          </p:cNvPr>
          <p:cNvSpPr>
            <a:spLocks noGrp="1"/>
          </p:cNvSpPr>
          <p:nvPr>
            <p:ph idx="1"/>
          </p:nvPr>
        </p:nvSpPr>
        <p:spPr>
          <a:xfrm>
            <a:off x="26988" y="620713"/>
            <a:ext cx="9117012" cy="6227762"/>
          </a:xfrm>
        </p:spPr>
        <p:txBody>
          <a:bodyPr>
            <a:normAutofit fontScale="55000" lnSpcReduction="20000"/>
          </a:bodyPr>
          <a:lstStyle/>
          <a:p>
            <a:pPr marL="0" indent="0">
              <a:buFont typeface="Wingdings" panose="05000000000000000000" pitchFamily="2" charset="2"/>
              <a:buNone/>
              <a:defRPr/>
            </a:pPr>
            <a:r>
              <a:rPr lang="en-US" altLang="zh-CN" dirty="0"/>
              <a:t>        </a:t>
            </a:r>
            <a:r>
              <a:rPr lang="en-US" altLang="zh-CN" dirty="0" err="1"/>
              <a:t>ptcb</a:t>
            </a:r>
            <a:r>
              <a:rPr lang="en-US" altLang="zh-CN" dirty="0"/>
              <a:t>-&gt;OSTCBX         = </a:t>
            </a:r>
            <a:r>
              <a:rPr lang="en-US" altLang="zh-CN" dirty="0" err="1"/>
              <a:t>prio</a:t>
            </a:r>
            <a:r>
              <a:rPr lang="en-US" altLang="zh-CN" dirty="0"/>
              <a:t> &amp; 0x07;</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OSTCBBitX</a:t>
            </a:r>
            <a:r>
              <a:rPr lang="en-US" altLang="zh-CN" dirty="0"/>
              <a:t>      = </a:t>
            </a:r>
            <a:r>
              <a:rPr lang="en-US" altLang="zh-CN" dirty="0" err="1"/>
              <a:t>OSMapTbl</a:t>
            </a:r>
            <a:r>
              <a:rPr lang="en-US" altLang="zh-CN" dirty="0"/>
              <a:t>[</a:t>
            </a:r>
            <a:r>
              <a:rPr lang="en-US" altLang="zh-CN" dirty="0" err="1"/>
              <a:t>ptcb</a:t>
            </a:r>
            <a:r>
              <a:rPr lang="en-US" altLang="zh-CN" dirty="0"/>
              <a:t>-&gt;OSTCBX];</a:t>
            </a:r>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#if OS_EVENT_EN &gt; 0</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OSTCBEventPtr</a:t>
            </a:r>
            <a:r>
              <a:rPr lang="en-US" altLang="zh-CN" dirty="0"/>
              <a:t>  = (OS_EVENT *)0;              /* Task is not pending on an event          */</a:t>
            </a:r>
          </a:p>
          <a:p>
            <a:pPr marL="0" indent="0">
              <a:buFont typeface="Wingdings" panose="05000000000000000000" pitchFamily="2" charset="2"/>
              <a:buNone/>
              <a:defRPr/>
            </a:pPr>
            <a:r>
              <a:rPr lang="en-US" altLang="zh-CN" dirty="0"/>
              <a:t>#</a:t>
            </a:r>
            <a:r>
              <a:rPr lang="en-US" altLang="zh-CN" dirty="0" err="1"/>
              <a:t>endif</a:t>
            </a:r>
            <a:endParaRPr lang="en-US" altLang="zh-CN" dirty="0"/>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#if (OS_VERSION &gt;= 251) &amp;&amp; (OS_FLAG_EN &gt; 0) &amp;&amp; (OS_MAX_FLAGS &gt; 0) &amp;&amp; (OS_TASK_DEL_EN &gt; 0)</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OSTCBFlagNode</a:t>
            </a:r>
            <a:r>
              <a:rPr lang="en-US" altLang="zh-CN" dirty="0"/>
              <a:t>  = (OS_FLAG_NODE *)0;          /* Task is not pending on an event flag     */</a:t>
            </a:r>
          </a:p>
          <a:p>
            <a:pPr marL="0" indent="0">
              <a:buFont typeface="Wingdings" panose="05000000000000000000" pitchFamily="2" charset="2"/>
              <a:buNone/>
              <a:defRPr/>
            </a:pPr>
            <a:r>
              <a:rPr lang="en-US" altLang="zh-CN" dirty="0"/>
              <a:t>#</a:t>
            </a:r>
            <a:r>
              <a:rPr lang="en-US" altLang="zh-CN" dirty="0" err="1"/>
              <a:t>endif</a:t>
            </a:r>
            <a:endParaRPr lang="en-US" altLang="zh-CN" dirty="0"/>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#if (OS_MBOX_EN &gt; 0) || ((OS_Q_EN &gt; 0) &amp;&amp; (OS_MAX_QS &gt; 0))</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OSTCBMsg</a:t>
            </a:r>
            <a:r>
              <a:rPr lang="en-US" altLang="zh-CN" dirty="0"/>
              <a:t>       = (void *)0;                  /* No message received                      */</a:t>
            </a:r>
          </a:p>
          <a:p>
            <a:pPr marL="0" indent="0">
              <a:buFont typeface="Wingdings" panose="05000000000000000000" pitchFamily="2" charset="2"/>
              <a:buNone/>
              <a:defRPr/>
            </a:pPr>
            <a:r>
              <a:rPr lang="en-US" altLang="zh-CN" dirty="0"/>
              <a:t>#</a:t>
            </a:r>
            <a:r>
              <a:rPr lang="en-US" altLang="zh-CN" dirty="0" err="1"/>
              <a:t>endif</a:t>
            </a:r>
            <a:endParaRPr lang="en-US" altLang="zh-CN" dirty="0"/>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#if OS_VERSION &gt;= 204</a:t>
            </a:r>
          </a:p>
          <a:p>
            <a:pPr marL="0" indent="0">
              <a:buFont typeface="Wingdings" panose="05000000000000000000" pitchFamily="2" charset="2"/>
              <a:buNone/>
              <a:defRPr/>
            </a:pPr>
            <a:r>
              <a:rPr lang="en-US" altLang="zh-CN" dirty="0"/>
              <a:t>        </a:t>
            </a:r>
            <a:r>
              <a:rPr lang="en-US" altLang="zh-CN" dirty="0" err="1"/>
              <a:t>OSTCBInitHook</a:t>
            </a:r>
            <a:r>
              <a:rPr lang="en-US" altLang="zh-CN" dirty="0"/>
              <a:t>(</a:t>
            </a:r>
            <a:r>
              <a:rPr lang="en-US" altLang="zh-CN" dirty="0" err="1"/>
              <a:t>ptcb</a:t>
            </a:r>
            <a:r>
              <a:rPr lang="en-US" altLang="zh-CN" dirty="0"/>
              <a:t>);</a:t>
            </a:r>
          </a:p>
          <a:p>
            <a:pPr marL="0" indent="0">
              <a:buFont typeface="Wingdings" panose="05000000000000000000" pitchFamily="2" charset="2"/>
              <a:buNone/>
              <a:defRPr/>
            </a:pPr>
            <a:r>
              <a:rPr lang="en-US" altLang="zh-CN" dirty="0"/>
              <a:t>#</a:t>
            </a:r>
            <a:r>
              <a:rPr lang="en-US" altLang="zh-CN" dirty="0" err="1"/>
              <a:t>endif</a:t>
            </a:r>
            <a:endParaRPr lang="en-US" altLang="zh-CN" dirty="0"/>
          </a:p>
          <a:p>
            <a:pPr marL="0" indent="0">
              <a:buFont typeface="Wingdings" panose="05000000000000000000" pitchFamily="2" charset="2"/>
              <a:buNone/>
              <a:defRPr/>
            </a:pPr>
            <a:endParaRPr lang="en-US" altLang="zh-CN" dirty="0"/>
          </a:p>
        </p:txBody>
      </p:sp>
      <p:sp>
        <p:nvSpPr>
          <p:cNvPr id="121859" name="页脚占位符 3">
            <a:extLst>
              <a:ext uri="{FF2B5EF4-FFF2-40B4-BE49-F238E27FC236}">
                <a16:creationId xmlns:a16="http://schemas.microsoft.com/office/drawing/2014/main" id="{D389CF22-566C-9B72-F02E-0C636190D08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1860" name="灯片编号占位符 4">
            <a:extLst>
              <a:ext uri="{FF2B5EF4-FFF2-40B4-BE49-F238E27FC236}">
                <a16:creationId xmlns:a16="http://schemas.microsoft.com/office/drawing/2014/main" id="{9C52EAD5-77B7-B3E2-D595-2A2257D8B73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2FAC9C6-03F9-4AA7-9CC2-E08BCE7A7025}" type="slidenum">
              <a:rPr lang="en-US" altLang="zh-CN" sz="1200" smtClean="0">
                <a:solidFill>
                  <a:srgbClr val="3366FF"/>
                </a:solidFill>
                <a:latin typeface="Arial Black" panose="020B0A04020102020204" pitchFamily="34" charset="0"/>
              </a:rPr>
              <a:pPr>
                <a:spcBef>
                  <a:spcPct val="0"/>
                </a:spcBef>
                <a:buClrTx/>
                <a:buSzTx/>
                <a:buFontTx/>
                <a:buNone/>
              </a:pPr>
              <a:t>116</a:t>
            </a:fld>
            <a:endParaRPr lang="en-US" altLang="zh-CN" sz="1200">
              <a:solidFill>
                <a:srgbClr val="3366FF"/>
              </a:solidFill>
              <a:latin typeface="Arial Black" panose="020B0A04020102020204" pitchFamily="34" charset="0"/>
            </a:endParaRPr>
          </a:p>
        </p:txBody>
      </p:sp>
      <p:sp>
        <p:nvSpPr>
          <p:cNvPr id="121861" name="日期占位符 5">
            <a:extLst>
              <a:ext uri="{FF2B5EF4-FFF2-40B4-BE49-F238E27FC236}">
                <a16:creationId xmlns:a16="http://schemas.microsoft.com/office/drawing/2014/main" id="{ABE7ECCA-988B-EFF6-4536-C098A4B6635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F54FD35F-7D7B-49C9-B0CA-993CE1BBF641}"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128FA61-36A6-6E55-D4E3-02928EF5F3D1}"/>
              </a:ext>
            </a:extLst>
          </p:cNvPr>
          <p:cNvSpPr>
            <a:spLocks noGrp="1"/>
          </p:cNvSpPr>
          <p:nvPr>
            <p:ph idx="1"/>
          </p:nvPr>
        </p:nvSpPr>
        <p:spPr>
          <a:xfrm>
            <a:off x="26988" y="620713"/>
            <a:ext cx="9117012" cy="6227762"/>
          </a:xfrm>
        </p:spPr>
        <p:txBody>
          <a:bodyPr>
            <a:normAutofit fontScale="62500" lnSpcReduction="20000"/>
          </a:bodyPr>
          <a:lstStyle/>
          <a:p>
            <a:pPr marL="0" indent="0">
              <a:buFont typeface="Wingdings" panose="05000000000000000000" pitchFamily="2" charset="2"/>
              <a:buNone/>
              <a:defRPr/>
            </a:pPr>
            <a:r>
              <a:rPr lang="en-US" altLang="zh-CN" dirty="0"/>
              <a:t>        </a:t>
            </a:r>
            <a:r>
              <a:rPr lang="en-US" altLang="zh-CN" dirty="0" err="1"/>
              <a:t>OSTaskCreateHook</a:t>
            </a:r>
            <a:r>
              <a:rPr lang="en-US" altLang="zh-CN" dirty="0"/>
              <a:t>(</a:t>
            </a:r>
            <a:r>
              <a:rPr lang="en-US" altLang="zh-CN" dirty="0" err="1"/>
              <a:t>ptcb</a:t>
            </a:r>
            <a:r>
              <a:rPr lang="en-US" altLang="zh-CN" dirty="0"/>
              <a:t>);    /* Call user defined hook  */</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OS_ENTER_CRITICAL();</a:t>
            </a:r>
          </a:p>
          <a:p>
            <a:pPr marL="0" indent="0">
              <a:buFont typeface="Wingdings" panose="05000000000000000000" pitchFamily="2" charset="2"/>
              <a:buNone/>
              <a:defRPr/>
            </a:pPr>
            <a:r>
              <a:rPr lang="en-US" altLang="zh-CN" dirty="0"/>
              <a:t>        </a:t>
            </a:r>
            <a:r>
              <a:rPr lang="en-US" altLang="zh-CN" dirty="0" err="1"/>
              <a:t>OSTCBPrioTbl</a:t>
            </a:r>
            <a:r>
              <a:rPr lang="en-US" altLang="zh-CN" dirty="0"/>
              <a:t>[</a:t>
            </a:r>
            <a:r>
              <a:rPr lang="en-US" altLang="zh-CN" dirty="0" err="1"/>
              <a:t>prio</a:t>
            </a:r>
            <a:r>
              <a:rPr lang="en-US" altLang="zh-CN" dirty="0"/>
              <a:t>] = </a:t>
            </a:r>
            <a:r>
              <a:rPr lang="en-US" altLang="zh-CN" dirty="0" err="1"/>
              <a:t>ptcb</a:t>
            </a:r>
            <a:r>
              <a:rPr lang="en-US" altLang="zh-CN" dirty="0"/>
              <a:t>;</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OSTCBNext</a:t>
            </a:r>
            <a:r>
              <a:rPr lang="en-US" altLang="zh-CN" dirty="0"/>
              <a:t>    = </a:t>
            </a:r>
            <a:r>
              <a:rPr lang="en-US" altLang="zh-CN" dirty="0" err="1"/>
              <a:t>OSTCBList</a:t>
            </a:r>
            <a:r>
              <a:rPr lang="en-US" altLang="zh-CN" dirty="0"/>
              <a:t>; /* Link into TCB chain */</a:t>
            </a:r>
          </a:p>
          <a:p>
            <a:pPr marL="0" indent="0">
              <a:buFont typeface="Wingdings" panose="05000000000000000000" pitchFamily="2" charset="2"/>
              <a:buNone/>
              <a:defRPr/>
            </a:pPr>
            <a:r>
              <a:rPr lang="en-US" altLang="zh-CN" dirty="0"/>
              <a:t>        </a:t>
            </a:r>
            <a:r>
              <a:rPr lang="en-US" altLang="zh-CN" dirty="0" err="1"/>
              <a:t>ptcb</a:t>
            </a:r>
            <a:r>
              <a:rPr lang="en-US" altLang="zh-CN" dirty="0"/>
              <a:t>-&gt;</a:t>
            </a:r>
            <a:r>
              <a:rPr lang="en-US" altLang="zh-CN" dirty="0" err="1"/>
              <a:t>OSTCBPrev</a:t>
            </a:r>
            <a:r>
              <a:rPr lang="en-US" altLang="zh-CN" dirty="0"/>
              <a:t>    = (OS_TCB *)0;</a:t>
            </a:r>
          </a:p>
          <a:p>
            <a:pPr marL="0" indent="0">
              <a:buFont typeface="Wingdings" panose="05000000000000000000" pitchFamily="2" charset="2"/>
              <a:buNone/>
              <a:defRPr/>
            </a:pPr>
            <a:r>
              <a:rPr lang="en-US" altLang="zh-CN" dirty="0"/>
              <a:t>        if (</a:t>
            </a:r>
            <a:r>
              <a:rPr lang="en-US" altLang="zh-CN" dirty="0" err="1"/>
              <a:t>OSTCBList</a:t>
            </a:r>
            <a:r>
              <a:rPr lang="en-US" altLang="zh-CN" dirty="0"/>
              <a:t> != (OS_TCB *)0) {</a:t>
            </a:r>
          </a:p>
          <a:p>
            <a:pPr marL="0" indent="0">
              <a:buFont typeface="Wingdings" panose="05000000000000000000" pitchFamily="2" charset="2"/>
              <a:buNone/>
              <a:defRPr/>
            </a:pPr>
            <a:r>
              <a:rPr lang="en-US" altLang="zh-CN" dirty="0"/>
              <a:t>            </a:t>
            </a:r>
            <a:r>
              <a:rPr lang="en-US" altLang="zh-CN" dirty="0" err="1"/>
              <a:t>OSTCBList</a:t>
            </a:r>
            <a:r>
              <a:rPr lang="en-US" altLang="zh-CN" dirty="0"/>
              <a:t>-&gt;</a:t>
            </a:r>
            <a:r>
              <a:rPr lang="en-US" altLang="zh-CN" dirty="0" err="1"/>
              <a:t>OSTCBPrev</a:t>
            </a:r>
            <a:r>
              <a:rPr lang="en-US" altLang="zh-CN" dirty="0"/>
              <a:t> = </a:t>
            </a:r>
            <a:r>
              <a:rPr lang="en-US" altLang="zh-CN" dirty="0" err="1"/>
              <a:t>ptcb</a:t>
            </a:r>
            <a:r>
              <a:rPr lang="en-US" altLang="zh-CN"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en-US" altLang="zh-CN" dirty="0" err="1"/>
              <a:t>OSTCBList</a:t>
            </a:r>
            <a:r>
              <a:rPr lang="en-US" altLang="zh-CN" dirty="0"/>
              <a:t>               = </a:t>
            </a:r>
            <a:r>
              <a:rPr lang="en-US" altLang="zh-CN" dirty="0" err="1"/>
              <a:t>ptcb</a:t>
            </a:r>
            <a:r>
              <a:rPr lang="en-US" altLang="zh-CN" dirty="0"/>
              <a:t>;</a:t>
            </a:r>
          </a:p>
          <a:p>
            <a:pPr marL="0" indent="0">
              <a:buFont typeface="Wingdings" panose="05000000000000000000" pitchFamily="2" charset="2"/>
              <a:buNone/>
              <a:defRPr/>
            </a:pPr>
            <a:r>
              <a:rPr lang="en-US" altLang="zh-CN" dirty="0"/>
              <a:t>        </a:t>
            </a:r>
            <a:r>
              <a:rPr lang="en-US" altLang="zh-CN" dirty="0" err="1"/>
              <a:t>OSRdyGrp</a:t>
            </a:r>
            <a:r>
              <a:rPr lang="en-US" altLang="zh-CN" dirty="0"/>
              <a:t>               |= </a:t>
            </a:r>
            <a:r>
              <a:rPr lang="en-US" altLang="zh-CN" dirty="0" err="1"/>
              <a:t>ptcb</a:t>
            </a:r>
            <a:r>
              <a:rPr lang="en-US" altLang="zh-CN" dirty="0"/>
              <a:t>-&gt;</a:t>
            </a:r>
            <a:r>
              <a:rPr lang="en-US" altLang="zh-CN" dirty="0" err="1"/>
              <a:t>OSTCBBitY</a:t>
            </a:r>
            <a:r>
              <a:rPr lang="en-US" altLang="zh-CN" dirty="0"/>
              <a:t>; /* Make task ready to run */</a:t>
            </a:r>
          </a:p>
          <a:p>
            <a:pPr marL="0" indent="0">
              <a:buFont typeface="Wingdings" panose="05000000000000000000" pitchFamily="2" charset="2"/>
              <a:buNone/>
              <a:defRPr/>
            </a:pPr>
            <a:r>
              <a:rPr lang="en-US" altLang="zh-CN" dirty="0"/>
              <a:t>        </a:t>
            </a:r>
            <a:r>
              <a:rPr lang="en-US" altLang="zh-CN" dirty="0" err="1"/>
              <a:t>OSRdyTbl</a:t>
            </a:r>
            <a:r>
              <a:rPr lang="en-US" altLang="zh-CN" dirty="0"/>
              <a:t>[</a:t>
            </a:r>
            <a:r>
              <a:rPr lang="en-US" altLang="zh-CN" dirty="0" err="1"/>
              <a:t>ptcb</a:t>
            </a:r>
            <a:r>
              <a:rPr lang="en-US" altLang="zh-CN" dirty="0"/>
              <a:t>-&gt;OSTCBY] |= </a:t>
            </a:r>
            <a:r>
              <a:rPr lang="en-US" altLang="zh-CN" dirty="0" err="1"/>
              <a:t>ptcb</a:t>
            </a:r>
            <a:r>
              <a:rPr lang="en-US" altLang="zh-CN" dirty="0"/>
              <a:t>-&gt;</a:t>
            </a:r>
            <a:r>
              <a:rPr lang="en-US" altLang="zh-CN" dirty="0" err="1"/>
              <a:t>OSTCBBitX</a:t>
            </a:r>
            <a:r>
              <a:rPr lang="en-US" altLang="zh-CN" dirty="0"/>
              <a:t>;</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return (OS_NO_ERR);</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return (OS_NO_MORE_TCB);</a:t>
            </a:r>
          </a:p>
          <a:p>
            <a:pPr marL="0" indent="0">
              <a:buFont typeface="Wingdings" panose="05000000000000000000" pitchFamily="2" charset="2"/>
              <a:buNone/>
              <a:defRPr/>
            </a:pPr>
            <a:r>
              <a:rPr lang="en-US" altLang="zh-CN" dirty="0"/>
              <a:t>}</a:t>
            </a:r>
          </a:p>
          <a:p>
            <a:pPr>
              <a:defRPr/>
            </a:pPr>
            <a:endParaRPr lang="zh-CN" altLang="en-US" dirty="0"/>
          </a:p>
        </p:txBody>
      </p:sp>
      <p:sp>
        <p:nvSpPr>
          <p:cNvPr id="122883" name="页脚占位符 3">
            <a:extLst>
              <a:ext uri="{FF2B5EF4-FFF2-40B4-BE49-F238E27FC236}">
                <a16:creationId xmlns:a16="http://schemas.microsoft.com/office/drawing/2014/main" id="{C55B38B1-C293-4C16-4604-93B79929893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2884" name="灯片编号占位符 4">
            <a:extLst>
              <a:ext uri="{FF2B5EF4-FFF2-40B4-BE49-F238E27FC236}">
                <a16:creationId xmlns:a16="http://schemas.microsoft.com/office/drawing/2014/main" id="{E09C1307-EF00-B1C5-3722-378935F796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C4C47956-0E41-44A5-8E3E-9BFF411C1CA5}" type="slidenum">
              <a:rPr lang="en-US" altLang="zh-CN" sz="1200" smtClean="0">
                <a:solidFill>
                  <a:srgbClr val="3366FF"/>
                </a:solidFill>
                <a:latin typeface="Arial Black" panose="020B0A04020102020204" pitchFamily="34" charset="0"/>
              </a:rPr>
              <a:pPr>
                <a:spcBef>
                  <a:spcPct val="0"/>
                </a:spcBef>
                <a:buClrTx/>
                <a:buSzTx/>
                <a:buFontTx/>
                <a:buNone/>
              </a:pPr>
              <a:t>117</a:t>
            </a:fld>
            <a:endParaRPr lang="en-US" altLang="zh-CN" sz="1200">
              <a:solidFill>
                <a:srgbClr val="3366FF"/>
              </a:solidFill>
              <a:latin typeface="Arial Black" panose="020B0A04020102020204" pitchFamily="34" charset="0"/>
            </a:endParaRPr>
          </a:p>
        </p:txBody>
      </p:sp>
      <p:sp>
        <p:nvSpPr>
          <p:cNvPr id="122885" name="日期占位符 5">
            <a:extLst>
              <a:ext uri="{FF2B5EF4-FFF2-40B4-BE49-F238E27FC236}">
                <a16:creationId xmlns:a16="http://schemas.microsoft.com/office/drawing/2014/main" id="{22A84B43-CAD1-7E93-5177-2C806C0F280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1DEEBD0-3997-4EE2-BD6C-8BEEC741EA19}"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AE93C588-6453-AADB-265E-1990DC03A8C9}"/>
              </a:ext>
            </a:extLst>
          </p:cNvPr>
          <p:cNvSpPr>
            <a:spLocks noGrp="1" noChangeArrowheads="1"/>
          </p:cNvSpPr>
          <p:nvPr>
            <p:ph type="title"/>
          </p:nvPr>
        </p:nvSpPr>
        <p:spPr>
          <a:xfrm>
            <a:off x="34925" y="528638"/>
            <a:ext cx="8651875" cy="379412"/>
          </a:xfrm>
        </p:spPr>
        <p:txBody>
          <a:bodyPr/>
          <a:lstStyle/>
          <a:p>
            <a:r>
              <a:rPr lang="en-US" altLang="zh-CN" sz="1800" b="1"/>
              <a:t>OSTaskCreate </a:t>
            </a:r>
            <a:r>
              <a:rPr lang="zh-CN" altLang="en-US" sz="1800" b="1"/>
              <a:t>源代码</a:t>
            </a:r>
          </a:p>
        </p:txBody>
      </p:sp>
      <p:sp>
        <p:nvSpPr>
          <p:cNvPr id="3" name="内容占位符 2">
            <a:extLst>
              <a:ext uri="{FF2B5EF4-FFF2-40B4-BE49-F238E27FC236}">
                <a16:creationId xmlns:a16="http://schemas.microsoft.com/office/drawing/2014/main" id="{DA8930D5-79A2-133F-6EF3-88A435531B47}"/>
              </a:ext>
            </a:extLst>
          </p:cNvPr>
          <p:cNvSpPr>
            <a:spLocks noGrp="1"/>
          </p:cNvSpPr>
          <p:nvPr>
            <p:ph idx="1"/>
          </p:nvPr>
        </p:nvSpPr>
        <p:spPr>
          <a:xfrm>
            <a:off x="0" y="908050"/>
            <a:ext cx="9144000" cy="5626100"/>
          </a:xfrm>
        </p:spPr>
        <p:txBody>
          <a:bodyPr>
            <a:normAutofit fontScale="55000" lnSpcReduction="20000"/>
          </a:bodyPr>
          <a:lstStyle/>
          <a:p>
            <a:pPr marL="0" indent="0">
              <a:buFont typeface="Wingdings" panose="05000000000000000000" pitchFamily="2" charset="2"/>
              <a:buNone/>
              <a:defRPr/>
            </a:pPr>
            <a:r>
              <a:rPr lang="en-US" altLang="zh-CN" dirty="0"/>
              <a:t>INT8U  </a:t>
            </a:r>
            <a:r>
              <a:rPr lang="en-US" altLang="zh-CN" dirty="0" err="1"/>
              <a:t>OSTaskCreate</a:t>
            </a:r>
            <a:r>
              <a:rPr lang="en-US" altLang="zh-CN" dirty="0"/>
              <a:t> (void (*task)(void *</a:t>
            </a:r>
            <a:r>
              <a:rPr lang="en-US" altLang="zh-CN" dirty="0" err="1"/>
              <a:t>pd</a:t>
            </a:r>
            <a:r>
              <a:rPr lang="en-US" altLang="zh-CN" dirty="0"/>
              <a:t>), void *</a:t>
            </a:r>
            <a:r>
              <a:rPr lang="en-US" altLang="zh-CN" dirty="0" err="1"/>
              <a:t>pdata</a:t>
            </a:r>
            <a:r>
              <a:rPr lang="en-US" altLang="zh-CN" dirty="0"/>
              <a:t>, OS_STK *</a:t>
            </a:r>
            <a:r>
              <a:rPr lang="en-US" altLang="zh-CN" dirty="0" err="1"/>
              <a:t>ptos</a:t>
            </a:r>
            <a:r>
              <a:rPr lang="en-US" altLang="zh-CN" dirty="0"/>
              <a:t>, INT8U </a:t>
            </a:r>
            <a:r>
              <a:rPr lang="en-US" altLang="zh-CN" dirty="0" err="1"/>
              <a:t>prio</a:t>
            </a:r>
            <a:r>
              <a:rPr lang="en-US" altLang="zh-CN" dirty="0"/>
              <a:t>)</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    OS_STK    *</a:t>
            </a:r>
            <a:r>
              <a:rPr lang="en-US" altLang="zh-CN" dirty="0" err="1"/>
              <a:t>psp</a:t>
            </a:r>
            <a:r>
              <a:rPr lang="en-US" altLang="zh-CN" dirty="0"/>
              <a:t>;</a:t>
            </a:r>
          </a:p>
          <a:p>
            <a:pPr marL="0" indent="0">
              <a:buFont typeface="Wingdings" panose="05000000000000000000" pitchFamily="2" charset="2"/>
              <a:buNone/>
              <a:defRPr/>
            </a:pPr>
            <a:r>
              <a:rPr lang="en-US" altLang="zh-CN" dirty="0"/>
              <a:t>    INT8U      err;</a:t>
            </a:r>
          </a:p>
          <a:p>
            <a:pPr marL="0" indent="0">
              <a:buFont typeface="Wingdings" panose="05000000000000000000" pitchFamily="2" charset="2"/>
              <a:buNone/>
              <a:defRPr/>
            </a:pPr>
            <a:r>
              <a:rPr lang="en-US" altLang="zh-CN" dirty="0"/>
              <a:t>#if OS_ARG_CHK_EN &gt; 0</a:t>
            </a:r>
          </a:p>
          <a:p>
            <a:pPr marL="0" indent="0">
              <a:buFont typeface="Wingdings" panose="05000000000000000000" pitchFamily="2" charset="2"/>
              <a:buNone/>
              <a:defRPr/>
            </a:pPr>
            <a:r>
              <a:rPr lang="en-US" altLang="zh-CN" dirty="0"/>
              <a:t>    if (</a:t>
            </a:r>
            <a:r>
              <a:rPr lang="en-US" altLang="zh-CN" dirty="0" err="1"/>
              <a:t>prio</a:t>
            </a:r>
            <a:r>
              <a:rPr lang="en-US" altLang="zh-CN" dirty="0"/>
              <a:t> &gt; OS_LOWEST_PRIO) {             /* Make sure priority is within allowable range           */</a:t>
            </a:r>
          </a:p>
          <a:p>
            <a:pPr marL="0" indent="0">
              <a:buFont typeface="Wingdings" panose="05000000000000000000" pitchFamily="2" charset="2"/>
              <a:buNone/>
              <a:defRPr/>
            </a:pPr>
            <a:r>
              <a:rPr lang="en-US" altLang="zh-CN" dirty="0"/>
              <a:t>        return (OS_PRIO_INVALID);</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a:t>
            </a:r>
            <a:r>
              <a:rPr lang="en-US" altLang="zh-CN" dirty="0" err="1"/>
              <a:t>endif</a:t>
            </a:r>
            <a:endParaRPr lang="en-US" altLang="zh-CN" dirty="0"/>
          </a:p>
          <a:p>
            <a:pPr marL="0" indent="0">
              <a:buFont typeface="Wingdings" panose="05000000000000000000" pitchFamily="2" charset="2"/>
              <a:buNone/>
              <a:defRPr/>
            </a:pPr>
            <a:r>
              <a:rPr lang="en-US" altLang="zh-CN" dirty="0"/>
              <a:t>    OS_ENTER_CRITICAL();</a:t>
            </a:r>
          </a:p>
          <a:p>
            <a:pPr marL="0" indent="0">
              <a:buFont typeface="Wingdings" panose="05000000000000000000" pitchFamily="2" charset="2"/>
              <a:buNone/>
              <a:defRPr/>
            </a:pPr>
            <a:r>
              <a:rPr lang="en-US" altLang="zh-CN" dirty="0"/>
              <a:t>    if (</a:t>
            </a:r>
            <a:r>
              <a:rPr lang="en-US" altLang="zh-CN" dirty="0" err="1"/>
              <a:t>OSTCBPrioTbl</a:t>
            </a:r>
            <a:r>
              <a:rPr lang="en-US" altLang="zh-CN" dirty="0"/>
              <a:t>[</a:t>
            </a:r>
            <a:r>
              <a:rPr lang="en-US" altLang="zh-CN" dirty="0" err="1"/>
              <a:t>prio</a:t>
            </a:r>
            <a:r>
              <a:rPr lang="en-US" altLang="zh-CN" dirty="0"/>
              <a:t>] == (OS_TCB *)0) { /* Make sure task doesn't already exist at this priority  */</a:t>
            </a:r>
          </a:p>
          <a:p>
            <a:pPr marL="0" indent="0">
              <a:buFont typeface="Wingdings" panose="05000000000000000000" pitchFamily="2" charset="2"/>
              <a:buNone/>
              <a:defRPr/>
            </a:pPr>
            <a:r>
              <a:rPr lang="en-US" altLang="zh-CN" dirty="0"/>
              <a:t>        </a:t>
            </a:r>
            <a:r>
              <a:rPr lang="en-US" altLang="zh-CN" dirty="0" err="1"/>
              <a:t>OSTCBPrioTbl</a:t>
            </a:r>
            <a:r>
              <a:rPr lang="en-US" altLang="zh-CN" dirty="0"/>
              <a:t>[</a:t>
            </a:r>
            <a:r>
              <a:rPr lang="en-US" altLang="zh-CN" dirty="0" err="1"/>
              <a:t>prio</a:t>
            </a:r>
            <a:r>
              <a:rPr lang="en-US" altLang="zh-CN" dirty="0"/>
              <a:t>] = (OS_TCB *)1;    /* Reserve the priority to prevent others from doing ...  */</a:t>
            </a:r>
          </a:p>
          <a:p>
            <a:pPr marL="0" indent="0">
              <a:buFont typeface="Wingdings" panose="05000000000000000000" pitchFamily="2" charset="2"/>
              <a:buNone/>
              <a:defRPr/>
            </a:pPr>
            <a:r>
              <a:rPr lang="en-US" altLang="zh-CN" dirty="0"/>
              <a:t>                                             /* ... the same thing until task is created.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a:t>
            </a:r>
            <a:r>
              <a:rPr lang="en-US" altLang="zh-CN" dirty="0" err="1"/>
              <a:t>psp</a:t>
            </a:r>
            <a:r>
              <a:rPr lang="en-US" altLang="zh-CN" dirty="0"/>
              <a:t> = (OS_STK *)</a:t>
            </a:r>
            <a:r>
              <a:rPr lang="en-US" altLang="zh-CN" dirty="0" err="1"/>
              <a:t>OSTaskStkInit</a:t>
            </a:r>
            <a:r>
              <a:rPr lang="en-US" altLang="zh-CN" dirty="0"/>
              <a:t>(task, </a:t>
            </a:r>
            <a:r>
              <a:rPr lang="en-US" altLang="zh-CN" dirty="0" err="1"/>
              <a:t>pdata</a:t>
            </a:r>
            <a:r>
              <a:rPr lang="en-US" altLang="zh-CN" dirty="0"/>
              <a:t>, </a:t>
            </a:r>
            <a:r>
              <a:rPr lang="en-US" altLang="zh-CN" dirty="0" err="1"/>
              <a:t>ptos</a:t>
            </a:r>
            <a:r>
              <a:rPr lang="en-US" altLang="zh-CN" dirty="0"/>
              <a:t>, 0);    /* Initialize the task's stack         */</a:t>
            </a:r>
          </a:p>
          <a:p>
            <a:pPr marL="0" indent="0">
              <a:buFont typeface="Wingdings" panose="05000000000000000000" pitchFamily="2" charset="2"/>
              <a:buNone/>
              <a:defRPr/>
            </a:pPr>
            <a:r>
              <a:rPr lang="en-US" altLang="zh-CN" dirty="0"/>
              <a:t>        err = </a:t>
            </a:r>
            <a:r>
              <a:rPr lang="en-US" altLang="zh-CN" dirty="0" err="1"/>
              <a:t>OS_TCBInit</a:t>
            </a:r>
            <a:r>
              <a:rPr lang="en-US" altLang="zh-CN" dirty="0"/>
              <a:t>(</a:t>
            </a:r>
            <a:r>
              <a:rPr lang="en-US" altLang="zh-CN" dirty="0" err="1"/>
              <a:t>prio</a:t>
            </a:r>
            <a:r>
              <a:rPr lang="en-US" altLang="zh-CN" dirty="0"/>
              <a:t>, </a:t>
            </a:r>
            <a:r>
              <a:rPr lang="en-US" altLang="zh-CN" dirty="0" err="1"/>
              <a:t>psp</a:t>
            </a:r>
            <a:r>
              <a:rPr lang="en-US" altLang="zh-CN" dirty="0"/>
              <a:t>, (OS_STK *)0, 0, 0, (void *)0, 0);</a:t>
            </a:r>
          </a:p>
        </p:txBody>
      </p:sp>
      <p:sp>
        <p:nvSpPr>
          <p:cNvPr id="123908" name="页脚占位符 3">
            <a:extLst>
              <a:ext uri="{FF2B5EF4-FFF2-40B4-BE49-F238E27FC236}">
                <a16:creationId xmlns:a16="http://schemas.microsoft.com/office/drawing/2014/main" id="{4227E9B0-C3C1-ADBE-D028-CA27FECCB2E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3909" name="灯片编号占位符 4">
            <a:extLst>
              <a:ext uri="{FF2B5EF4-FFF2-40B4-BE49-F238E27FC236}">
                <a16:creationId xmlns:a16="http://schemas.microsoft.com/office/drawing/2014/main" id="{BD6613FC-2088-1523-760D-362262C2818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5D5A98A-7E08-4C58-911F-B818FF8A3E0F}" type="slidenum">
              <a:rPr lang="en-US" altLang="zh-CN" sz="1200" smtClean="0">
                <a:solidFill>
                  <a:srgbClr val="3366FF"/>
                </a:solidFill>
                <a:latin typeface="Arial Black" panose="020B0A04020102020204" pitchFamily="34" charset="0"/>
              </a:rPr>
              <a:pPr>
                <a:spcBef>
                  <a:spcPct val="0"/>
                </a:spcBef>
                <a:buClrTx/>
                <a:buSzTx/>
                <a:buFontTx/>
                <a:buNone/>
              </a:pPr>
              <a:t>118</a:t>
            </a:fld>
            <a:endParaRPr lang="en-US" altLang="zh-CN" sz="1200">
              <a:solidFill>
                <a:srgbClr val="3366FF"/>
              </a:solidFill>
              <a:latin typeface="Arial Black" panose="020B0A04020102020204" pitchFamily="34" charset="0"/>
            </a:endParaRPr>
          </a:p>
        </p:txBody>
      </p:sp>
      <p:sp>
        <p:nvSpPr>
          <p:cNvPr id="123910" name="日期占位符 5">
            <a:extLst>
              <a:ext uri="{FF2B5EF4-FFF2-40B4-BE49-F238E27FC236}">
                <a16:creationId xmlns:a16="http://schemas.microsoft.com/office/drawing/2014/main" id="{EFCF7B2B-2386-D1E8-B531-9F61183E3FB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4165D67-08BE-4872-BD83-F79D7186701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9AC02F-A0ED-40DE-3B92-153BF45E9269}"/>
              </a:ext>
            </a:extLst>
          </p:cNvPr>
          <p:cNvSpPr>
            <a:spLocks noGrp="1"/>
          </p:cNvSpPr>
          <p:nvPr>
            <p:ph idx="1"/>
          </p:nvPr>
        </p:nvSpPr>
        <p:spPr>
          <a:xfrm>
            <a:off x="0" y="620713"/>
            <a:ext cx="9144000" cy="5913437"/>
          </a:xfrm>
        </p:spPr>
        <p:txBody>
          <a:bodyPr>
            <a:normAutofit fontScale="62500" lnSpcReduction="20000"/>
          </a:bodyPr>
          <a:lstStyle/>
          <a:p>
            <a:pPr marL="0" indent="0">
              <a:buFont typeface="Wingdings" panose="05000000000000000000" pitchFamily="2" charset="2"/>
              <a:buNone/>
              <a:defRPr/>
            </a:pPr>
            <a:r>
              <a:rPr lang="en-US" altLang="zh-CN" dirty="0"/>
              <a:t>        if (err == OS_NO_ERR) {</a:t>
            </a:r>
          </a:p>
          <a:p>
            <a:pPr marL="0" indent="0">
              <a:buFont typeface="Wingdings" panose="05000000000000000000" pitchFamily="2" charset="2"/>
              <a:buNone/>
              <a:defRPr/>
            </a:pPr>
            <a:r>
              <a:rPr lang="en-US" altLang="zh-CN" dirty="0"/>
              <a:t>            OS_ENTER_CRITICAL();</a:t>
            </a:r>
          </a:p>
          <a:p>
            <a:pPr marL="0" indent="0">
              <a:buFont typeface="Wingdings" panose="05000000000000000000" pitchFamily="2" charset="2"/>
              <a:buNone/>
              <a:defRPr/>
            </a:pPr>
            <a:r>
              <a:rPr lang="en-US" altLang="zh-CN" dirty="0"/>
              <a:t>            </a:t>
            </a:r>
            <a:r>
              <a:rPr lang="en-US" altLang="zh-CN" dirty="0" err="1"/>
              <a:t>OSTaskCtr</a:t>
            </a:r>
            <a:r>
              <a:rPr lang="en-US" altLang="zh-CN" dirty="0"/>
              <a:t>++;           /* Increment the #tasks counter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if (</a:t>
            </a:r>
            <a:r>
              <a:rPr lang="en-US" altLang="zh-CN" dirty="0" err="1"/>
              <a:t>OSRunning</a:t>
            </a:r>
            <a:r>
              <a:rPr lang="en-US" altLang="zh-CN" dirty="0"/>
              <a:t> == TRUE) { /* Find highest priority task if multitasking has started */</a:t>
            </a:r>
          </a:p>
          <a:p>
            <a:pPr marL="0" indent="0">
              <a:buFont typeface="Wingdings" panose="05000000000000000000" pitchFamily="2" charset="2"/>
              <a:buNone/>
              <a:defRPr/>
            </a:pPr>
            <a:r>
              <a:rPr lang="en-US" altLang="zh-CN" dirty="0"/>
              <a:t>                </a:t>
            </a:r>
            <a:r>
              <a:rPr lang="en-US" altLang="zh-CN" dirty="0" err="1"/>
              <a:t>OS_Sched</a:t>
            </a:r>
            <a:r>
              <a:rPr lang="en-US" altLang="zh-CN"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 else {</a:t>
            </a:r>
          </a:p>
          <a:p>
            <a:pPr marL="0" indent="0">
              <a:buFont typeface="Wingdings" panose="05000000000000000000" pitchFamily="2" charset="2"/>
              <a:buNone/>
              <a:defRPr/>
            </a:pPr>
            <a:r>
              <a:rPr lang="en-US" altLang="zh-CN" dirty="0"/>
              <a:t>            OS_ENTER_CRITICAL();</a:t>
            </a:r>
          </a:p>
          <a:p>
            <a:pPr marL="0" indent="0">
              <a:buFont typeface="Wingdings" panose="05000000000000000000" pitchFamily="2" charset="2"/>
              <a:buNone/>
              <a:defRPr/>
            </a:pPr>
            <a:r>
              <a:rPr lang="en-US" altLang="zh-CN" dirty="0"/>
              <a:t>            </a:t>
            </a:r>
            <a:r>
              <a:rPr lang="en-US" altLang="zh-CN" dirty="0" err="1"/>
              <a:t>OSTCBPrioTbl</a:t>
            </a:r>
            <a:r>
              <a:rPr lang="en-US" altLang="zh-CN" dirty="0"/>
              <a:t>[</a:t>
            </a:r>
            <a:r>
              <a:rPr lang="en-US" altLang="zh-CN" dirty="0" err="1"/>
              <a:t>prio</a:t>
            </a:r>
            <a:r>
              <a:rPr lang="en-US" altLang="zh-CN" dirty="0"/>
              <a:t>] = (OS_TCB *)0;/* Make this priority available to others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return (err);</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    return (OS_PRIO_EXIST);</a:t>
            </a:r>
          </a:p>
          <a:p>
            <a:pPr marL="0" indent="0">
              <a:buFont typeface="Wingdings" panose="05000000000000000000" pitchFamily="2" charset="2"/>
              <a:buNone/>
              <a:defRPr/>
            </a:pPr>
            <a:r>
              <a:rPr lang="en-US" altLang="zh-CN" dirty="0"/>
              <a:t>}</a:t>
            </a:r>
            <a:endParaRPr lang="zh-CN" altLang="en-US" dirty="0"/>
          </a:p>
        </p:txBody>
      </p:sp>
      <p:sp>
        <p:nvSpPr>
          <p:cNvPr id="124931" name="页脚占位符 3">
            <a:extLst>
              <a:ext uri="{FF2B5EF4-FFF2-40B4-BE49-F238E27FC236}">
                <a16:creationId xmlns:a16="http://schemas.microsoft.com/office/drawing/2014/main" id="{8B7E375F-5B76-1D86-3102-D6DB0E27521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4932" name="灯片编号占位符 4">
            <a:extLst>
              <a:ext uri="{FF2B5EF4-FFF2-40B4-BE49-F238E27FC236}">
                <a16:creationId xmlns:a16="http://schemas.microsoft.com/office/drawing/2014/main" id="{200F7833-FE8C-8B6F-88EA-022CBC17F0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0C53913-CBBD-4154-8003-9B9911770BA2}" type="slidenum">
              <a:rPr lang="en-US" altLang="zh-CN" sz="1200" smtClean="0">
                <a:solidFill>
                  <a:srgbClr val="3366FF"/>
                </a:solidFill>
                <a:latin typeface="Arial Black" panose="020B0A04020102020204" pitchFamily="34" charset="0"/>
              </a:rPr>
              <a:pPr>
                <a:spcBef>
                  <a:spcPct val="0"/>
                </a:spcBef>
                <a:buClrTx/>
                <a:buSzTx/>
                <a:buFontTx/>
                <a:buNone/>
              </a:pPr>
              <a:t>119</a:t>
            </a:fld>
            <a:endParaRPr lang="en-US" altLang="zh-CN" sz="1200">
              <a:solidFill>
                <a:srgbClr val="3366FF"/>
              </a:solidFill>
              <a:latin typeface="Arial Black" panose="020B0A04020102020204" pitchFamily="34" charset="0"/>
            </a:endParaRPr>
          </a:p>
        </p:txBody>
      </p:sp>
      <p:sp>
        <p:nvSpPr>
          <p:cNvPr id="124933" name="日期占位符 5">
            <a:extLst>
              <a:ext uri="{FF2B5EF4-FFF2-40B4-BE49-F238E27FC236}">
                <a16:creationId xmlns:a16="http://schemas.microsoft.com/office/drawing/2014/main" id="{D6BCF3B2-8D89-1153-B2A7-9F4C9E99992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37E76FD-81D2-451B-9332-2AA2E5937216}"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3011648-4FCA-E5FE-7323-3D79C534B065}"/>
              </a:ext>
            </a:extLst>
          </p:cNvPr>
          <p:cNvSpPr>
            <a:spLocks noGrp="1"/>
          </p:cNvSpPr>
          <p:nvPr>
            <p:ph idx="1"/>
          </p:nvPr>
        </p:nvSpPr>
        <p:spPr>
          <a:xfrm>
            <a:off x="34925" y="549275"/>
            <a:ext cx="9109075" cy="6264275"/>
          </a:xfrm>
        </p:spPr>
        <p:txBody>
          <a:bodyPr>
            <a:normAutofit fontScale="70000" lnSpcReduction="20000"/>
          </a:bodyPr>
          <a:lstStyle/>
          <a:p>
            <a:pPr marL="0" indent="0">
              <a:buFont typeface="Wingdings" panose="05000000000000000000" pitchFamily="2" charset="2"/>
              <a:buNone/>
              <a:defRPr/>
            </a:pPr>
            <a:r>
              <a:rPr lang="en-US" altLang="zh-CN" dirty="0"/>
              <a:t>void  </a:t>
            </a:r>
            <a:r>
              <a:rPr lang="en-US" altLang="zh-CN" dirty="0" err="1"/>
              <a:t>OS_Sched</a:t>
            </a:r>
            <a:r>
              <a:rPr lang="en-US" altLang="zh-CN" dirty="0"/>
              <a:t> (void)</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    INT8U      y;</a:t>
            </a:r>
          </a:p>
          <a:p>
            <a:pPr marL="0" indent="0">
              <a:buFont typeface="Wingdings" panose="05000000000000000000" pitchFamily="2" charset="2"/>
              <a:buNone/>
              <a:defRPr/>
            </a:pPr>
            <a:r>
              <a:rPr lang="en-US" altLang="zh-CN" dirty="0"/>
              <a:t>OS_ENTER_CRITICAL();</a:t>
            </a:r>
          </a:p>
          <a:p>
            <a:pPr marL="0" indent="0">
              <a:buFont typeface="Wingdings" panose="05000000000000000000" pitchFamily="2" charset="2"/>
              <a:buNone/>
              <a:defRPr/>
            </a:pPr>
            <a:r>
              <a:rPr lang="en-US" altLang="zh-CN" dirty="0"/>
              <a:t>    if ((</a:t>
            </a:r>
            <a:r>
              <a:rPr lang="en-US" altLang="zh-CN" dirty="0" err="1"/>
              <a:t>OSIntNesting</a:t>
            </a:r>
            <a:r>
              <a:rPr lang="en-US" altLang="zh-CN" dirty="0"/>
              <a:t> == 0) &amp;&amp; (</a:t>
            </a:r>
            <a:r>
              <a:rPr lang="en-US" altLang="zh-CN" dirty="0" err="1"/>
              <a:t>OSLockNesting</a:t>
            </a:r>
            <a:r>
              <a:rPr lang="en-US" altLang="zh-CN" dirty="0"/>
              <a:t> == 0)) { /* </a:t>
            </a:r>
            <a:r>
              <a:rPr lang="en-US" altLang="zh-CN" dirty="0" err="1"/>
              <a:t>Sched</a:t>
            </a:r>
            <a:r>
              <a:rPr lang="en-US" altLang="zh-CN" dirty="0"/>
              <a:t>. only if all ISRs done &amp; not locked    */</a:t>
            </a:r>
          </a:p>
          <a:p>
            <a:pPr marL="0" indent="0">
              <a:buFont typeface="Wingdings" panose="05000000000000000000" pitchFamily="2" charset="2"/>
              <a:buNone/>
              <a:defRPr/>
            </a:pPr>
            <a:r>
              <a:rPr lang="en-US" altLang="zh-CN" dirty="0"/>
              <a:t>    y  = </a:t>
            </a:r>
            <a:r>
              <a:rPr lang="en-US" altLang="zh-CN" dirty="0" err="1"/>
              <a:t>OSUnMapTbl</a:t>
            </a:r>
            <a:r>
              <a:rPr lang="en-US" altLang="zh-CN" dirty="0"/>
              <a:t>[</a:t>
            </a:r>
            <a:r>
              <a:rPr lang="en-US" altLang="zh-CN" dirty="0" err="1"/>
              <a:t>OSRdyGrp</a:t>
            </a:r>
            <a:r>
              <a:rPr lang="en-US" altLang="zh-CN" dirty="0"/>
              <a:t>]; /* Get pointer to HPT ready to run */</a:t>
            </a:r>
          </a:p>
          <a:p>
            <a:pPr marL="0" indent="0">
              <a:buFont typeface="Wingdings" panose="05000000000000000000" pitchFamily="2" charset="2"/>
              <a:buNone/>
              <a:defRPr/>
            </a:pPr>
            <a:r>
              <a:rPr lang="en-US" altLang="zh-CN" dirty="0"/>
              <a:t>    </a:t>
            </a:r>
            <a:r>
              <a:rPr lang="en-US" altLang="zh-CN" dirty="0" err="1"/>
              <a:t>OSPrioHighRdy</a:t>
            </a:r>
            <a:r>
              <a:rPr lang="en-US" altLang="zh-CN" dirty="0"/>
              <a:t> = (INT8U)((y &lt;&lt; 3) + </a:t>
            </a:r>
            <a:r>
              <a:rPr lang="en-US" altLang="zh-CN" dirty="0" err="1"/>
              <a:t>OSUnMapTbl</a:t>
            </a:r>
            <a:r>
              <a:rPr lang="en-US" altLang="zh-CN" dirty="0"/>
              <a:t>[</a:t>
            </a:r>
            <a:r>
              <a:rPr lang="en-US" altLang="zh-CN" dirty="0" err="1"/>
              <a:t>OSRdyTbl</a:t>
            </a:r>
            <a:r>
              <a:rPr lang="en-US" altLang="zh-CN" dirty="0"/>
              <a:t>[y]]);</a:t>
            </a:r>
          </a:p>
          <a:p>
            <a:pPr marL="0" indent="0">
              <a:buFont typeface="Wingdings" panose="05000000000000000000" pitchFamily="2" charset="2"/>
              <a:buNone/>
              <a:defRPr/>
            </a:pPr>
            <a:r>
              <a:rPr lang="en-US" altLang="zh-CN" dirty="0"/>
              <a:t>    if (</a:t>
            </a:r>
            <a:r>
              <a:rPr lang="en-US" altLang="zh-CN" dirty="0" err="1"/>
              <a:t>OSPrioHighRdy</a:t>
            </a:r>
            <a:r>
              <a:rPr lang="en-US" altLang="zh-CN" dirty="0"/>
              <a:t> != </a:t>
            </a:r>
            <a:r>
              <a:rPr lang="en-US" altLang="zh-CN" dirty="0" err="1"/>
              <a:t>OSPrioCur</a:t>
            </a:r>
            <a:r>
              <a:rPr lang="en-US" altLang="zh-CN" dirty="0"/>
              <a:t>) {/* No </a:t>
            </a:r>
            <a:r>
              <a:rPr lang="en-US" altLang="zh-CN" dirty="0" err="1"/>
              <a:t>Ctx</a:t>
            </a:r>
            <a:r>
              <a:rPr lang="en-US" altLang="zh-CN" dirty="0"/>
              <a:t> </a:t>
            </a:r>
            <a:r>
              <a:rPr lang="en-US" altLang="zh-CN" dirty="0" err="1"/>
              <a:t>Sw</a:t>
            </a:r>
            <a:r>
              <a:rPr lang="en-US" altLang="zh-CN" dirty="0"/>
              <a:t> if current task is highest </a:t>
            </a:r>
            <a:r>
              <a:rPr lang="en-US" altLang="zh-CN" dirty="0" err="1"/>
              <a:t>rdy</a:t>
            </a:r>
            <a:r>
              <a:rPr lang="en-US" altLang="zh-CN" dirty="0"/>
              <a:t>*/</a:t>
            </a:r>
          </a:p>
          <a:p>
            <a:pPr marL="0" indent="0">
              <a:buFont typeface="Wingdings" panose="05000000000000000000" pitchFamily="2" charset="2"/>
              <a:buNone/>
              <a:defRPr/>
            </a:pPr>
            <a:r>
              <a:rPr lang="en-US" altLang="zh-CN" dirty="0"/>
              <a:t>     </a:t>
            </a:r>
            <a:r>
              <a:rPr lang="en-US" altLang="zh-CN" dirty="0" err="1"/>
              <a:t>OSTCBHighRdy</a:t>
            </a:r>
            <a:r>
              <a:rPr lang="en-US" altLang="zh-CN" dirty="0"/>
              <a:t> = </a:t>
            </a:r>
            <a:r>
              <a:rPr lang="en-US" altLang="zh-CN" dirty="0" err="1"/>
              <a:t>OSTCBPrioTbl</a:t>
            </a:r>
            <a:r>
              <a:rPr lang="en-US" altLang="zh-CN" dirty="0"/>
              <a:t>[</a:t>
            </a:r>
            <a:r>
              <a:rPr lang="en-US" altLang="zh-CN" dirty="0" err="1"/>
              <a:t>OSPrioHighRdy</a:t>
            </a:r>
            <a:r>
              <a:rPr lang="en-US" altLang="zh-CN" dirty="0"/>
              <a:t>];</a:t>
            </a:r>
          </a:p>
          <a:p>
            <a:pPr marL="0" indent="0">
              <a:buFont typeface="Wingdings" panose="05000000000000000000" pitchFamily="2" charset="2"/>
              <a:buNone/>
              <a:defRPr/>
            </a:pPr>
            <a:r>
              <a:rPr lang="en-US" altLang="zh-CN" dirty="0"/>
              <a:t>     </a:t>
            </a:r>
            <a:r>
              <a:rPr lang="en-US" altLang="zh-CN" dirty="0" err="1"/>
              <a:t>OSCtxSwCtr</a:t>
            </a:r>
            <a:r>
              <a:rPr lang="en-US" altLang="zh-CN" dirty="0"/>
              <a:t>++; /* Increment context switch counter */</a:t>
            </a:r>
          </a:p>
          <a:p>
            <a:pPr marL="0" indent="0">
              <a:buFont typeface="Wingdings" panose="05000000000000000000" pitchFamily="2" charset="2"/>
              <a:buNone/>
              <a:defRPr/>
            </a:pPr>
            <a:r>
              <a:rPr lang="en-US" altLang="zh-CN" dirty="0"/>
              <a:t>      OS_TASK_SW(); /* Perform a context switch  */</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OS_EXIT_CRITICAL();</a:t>
            </a:r>
          </a:p>
          <a:p>
            <a:pPr marL="0" indent="0">
              <a:buFont typeface="Wingdings" panose="05000000000000000000" pitchFamily="2" charset="2"/>
              <a:buNone/>
              <a:defRPr/>
            </a:pPr>
            <a:r>
              <a:rPr lang="en-US" altLang="zh-CN" dirty="0"/>
              <a:t>}</a:t>
            </a:r>
            <a:endParaRPr lang="zh-CN" altLang="en-US" dirty="0"/>
          </a:p>
        </p:txBody>
      </p:sp>
      <p:sp>
        <p:nvSpPr>
          <p:cNvPr id="125955" name="页脚占位符 3">
            <a:extLst>
              <a:ext uri="{FF2B5EF4-FFF2-40B4-BE49-F238E27FC236}">
                <a16:creationId xmlns:a16="http://schemas.microsoft.com/office/drawing/2014/main" id="{CDD41972-D27B-93E5-8BC6-7EC8F259802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5956" name="灯片编号占位符 4">
            <a:extLst>
              <a:ext uri="{FF2B5EF4-FFF2-40B4-BE49-F238E27FC236}">
                <a16:creationId xmlns:a16="http://schemas.microsoft.com/office/drawing/2014/main" id="{89039E58-817C-505C-F91D-0205131B6D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43F2B746-0CE9-49AA-B9CA-D6073A419C59}" type="slidenum">
              <a:rPr lang="en-US" altLang="zh-CN" sz="1200" smtClean="0">
                <a:solidFill>
                  <a:srgbClr val="3366FF"/>
                </a:solidFill>
                <a:latin typeface="Arial Black" panose="020B0A04020102020204" pitchFamily="34" charset="0"/>
              </a:rPr>
              <a:pPr>
                <a:spcBef>
                  <a:spcPct val="0"/>
                </a:spcBef>
                <a:buClrTx/>
                <a:buSzTx/>
                <a:buFontTx/>
                <a:buNone/>
              </a:pPr>
              <a:t>120</a:t>
            </a:fld>
            <a:endParaRPr lang="en-US" altLang="zh-CN" sz="1200">
              <a:solidFill>
                <a:srgbClr val="3366FF"/>
              </a:solidFill>
              <a:latin typeface="Arial Black" panose="020B0A04020102020204" pitchFamily="34" charset="0"/>
            </a:endParaRPr>
          </a:p>
        </p:txBody>
      </p:sp>
      <p:sp>
        <p:nvSpPr>
          <p:cNvPr id="125957" name="日期占位符 5">
            <a:extLst>
              <a:ext uri="{FF2B5EF4-FFF2-40B4-BE49-F238E27FC236}">
                <a16:creationId xmlns:a16="http://schemas.microsoft.com/office/drawing/2014/main" id="{E3D4245A-7C5F-FEB5-13C8-874E4D16366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D448B232-160E-443C-8D3D-4A0120408BE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页脚占位符 3">
            <a:extLst>
              <a:ext uri="{FF2B5EF4-FFF2-40B4-BE49-F238E27FC236}">
                <a16:creationId xmlns:a16="http://schemas.microsoft.com/office/drawing/2014/main" id="{23AEDCA2-64B4-D4AF-A041-F66D183C0ED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200">
                <a:solidFill>
                  <a:srgbClr val="3366FF"/>
                </a:solidFill>
              </a:rPr>
              <a:t>山东科技大学 电信学院</a:t>
            </a:r>
            <a:endParaRPr lang="en-US" altLang="zh-CN" sz="1200">
              <a:solidFill>
                <a:srgbClr val="3366FF"/>
              </a:solidFill>
            </a:endParaRPr>
          </a:p>
        </p:txBody>
      </p:sp>
      <p:sp>
        <p:nvSpPr>
          <p:cNvPr id="126979" name="灯片编号占位符 4">
            <a:extLst>
              <a:ext uri="{FF2B5EF4-FFF2-40B4-BE49-F238E27FC236}">
                <a16:creationId xmlns:a16="http://schemas.microsoft.com/office/drawing/2014/main" id="{9DA6C8F8-532E-282D-A6EC-D8DC0A4C08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14F0F14B-F30B-4B62-A9FB-DBB74C73B0E5}" type="slidenum">
              <a:rPr lang="en-US" altLang="zh-CN" sz="1200" smtClean="0">
                <a:solidFill>
                  <a:srgbClr val="3366FF"/>
                </a:solidFill>
                <a:latin typeface="Arial Black" panose="020B0A04020102020204" pitchFamily="34" charset="0"/>
              </a:rPr>
              <a:pPr>
                <a:spcBef>
                  <a:spcPct val="0"/>
                </a:spcBef>
                <a:buClrTx/>
                <a:buSzTx/>
                <a:buFontTx/>
                <a:buNone/>
              </a:pPr>
              <a:t>121</a:t>
            </a:fld>
            <a:endParaRPr lang="en-US" altLang="zh-CN" sz="1200">
              <a:solidFill>
                <a:srgbClr val="3366FF"/>
              </a:solidFill>
              <a:latin typeface="Arial Black" panose="020B0A04020102020204" pitchFamily="34" charset="0"/>
            </a:endParaRPr>
          </a:p>
        </p:txBody>
      </p:sp>
      <p:sp>
        <p:nvSpPr>
          <p:cNvPr id="126980" name="日期占位符 5">
            <a:extLst>
              <a:ext uri="{FF2B5EF4-FFF2-40B4-BE49-F238E27FC236}">
                <a16:creationId xmlns:a16="http://schemas.microsoft.com/office/drawing/2014/main" id="{A6F3B96B-96FC-72E0-F63E-5C7538DBFED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3DF3742-B54E-4FD5-AB88-769678D99455}" type="datetime1">
              <a:rPr lang="zh-CN" altLang="en-US" sz="1200" smtClean="0">
                <a:solidFill>
                  <a:srgbClr val="3366FF"/>
                </a:solidFill>
              </a:rPr>
              <a:pPr>
                <a:spcBef>
                  <a:spcPct val="0"/>
                </a:spcBef>
                <a:buClrTx/>
                <a:buSzTx/>
                <a:buFontTx/>
                <a:buNone/>
              </a:pPr>
              <a:t>2025/4/2</a:t>
            </a:fld>
            <a:endParaRPr lang="en-US" altLang="zh-CN" sz="1200">
              <a:solidFill>
                <a:srgbClr val="3366FF"/>
              </a:solidFill>
            </a:endParaRPr>
          </a:p>
        </p:txBody>
      </p:sp>
      <p:pic>
        <p:nvPicPr>
          <p:cNvPr id="126981" name="内容占位符 7">
            <a:extLst>
              <a:ext uri="{FF2B5EF4-FFF2-40B4-BE49-F238E27FC236}">
                <a16:creationId xmlns:a16="http://schemas.microsoft.com/office/drawing/2014/main" id="{C816008B-0292-34E5-FC94-08BAA70B9C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 y="260350"/>
            <a:ext cx="9755188" cy="6481763"/>
          </a:xfrm>
        </p:spPr>
      </p:pic>
    </p:spTree>
  </p:cSld>
  <p:clrMapOvr>
    <a:masterClrMapping/>
  </p:clrMapOvr>
</p:sld>
</file>

<file path=ppt/theme/theme1.xml><?xml version="1.0" encoding="utf-8"?>
<a:theme xmlns:a="http://schemas.openxmlformats.org/drawingml/2006/main" name="ZQL">
  <a:themeElements>
    <a:clrScheme name="ZQ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ZQ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ZQ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ZQ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ZQ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ZQ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ZQ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ZQ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ZQ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ZQ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ZQ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ZQ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ZQ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ZQ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3477</TotalTime>
  <Words>11326</Words>
  <Application>Microsoft Office PowerPoint</Application>
  <PresentationFormat>全屏显示(4:3)</PresentationFormat>
  <Paragraphs>1624</Paragraphs>
  <Slides>121</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121</vt:i4>
      </vt:variant>
    </vt:vector>
  </HeadingPairs>
  <TitlesOfParts>
    <vt:vector size="138" baseType="lpstr">
      <vt:lpstr>Arial</vt:lpstr>
      <vt:lpstr>宋体</vt:lpstr>
      <vt:lpstr>Wingdings</vt:lpstr>
      <vt:lpstr>Arial Black</vt:lpstr>
      <vt:lpstr>Times New Roman</vt:lpstr>
      <vt:lpstr>华文新魏</vt:lpstr>
      <vt:lpstr>Tahoma</vt:lpstr>
      <vt:lpstr>黑体</vt:lpstr>
      <vt:lpstr>Berlin Sans FB</vt:lpstr>
      <vt:lpstr>Verdana</vt:lpstr>
      <vt:lpstr>Arial Narrow</vt:lpstr>
      <vt:lpstr>隶书</vt:lpstr>
      <vt:lpstr>Lucida Sans</vt:lpstr>
      <vt:lpstr>Angsana New</vt:lpstr>
      <vt:lpstr>ZQL</vt:lpstr>
      <vt:lpstr>Microsoft Visio 绘图</vt:lpstr>
      <vt:lpstr>Microsoft 公式 3.0</vt:lpstr>
      <vt:lpstr>PowerPoint 演示文稿</vt:lpstr>
      <vt:lpstr>第2章   uC/OS-II 中的任务</vt:lpstr>
      <vt:lpstr>第2章    目录</vt:lpstr>
      <vt:lpstr>第2章    补充.目录</vt:lpstr>
      <vt:lpstr>第2章    目录</vt:lpstr>
      <vt:lpstr>2.1   任务的基本概念</vt:lpstr>
      <vt:lpstr>2.1   任务的基本概念</vt:lpstr>
      <vt:lpstr>2.1    任务的基本概念</vt:lpstr>
      <vt:lpstr>PowerPoint 演示文稿</vt:lpstr>
      <vt:lpstr>PowerPoint 演示文稿</vt:lpstr>
      <vt:lpstr>PowerPoint 演示文稿</vt:lpstr>
      <vt:lpstr>2.1   任务的基本概念</vt:lpstr>
      <vt:lpstr>PowerPoint 演示文稿</vt:lpstr>
      <vt:lpstr>2.1   任务的基本概念</vt:lpstr>
      <vt:lpstr>2.1   任务的基本概念</vt:lpstr>
      <vt:lpstr>第2章    目录</vt:lpstr>
      <vt:lpstr>2.2   任务堆栈</vt:lpstr>
      <vt:lpstr>2.2   任务堆栈</vt:lpstr>
      <vt:lpstr>2.2   任务堆栈</vt:lpstr>
      <vt:lpstr>第2章    目录</vt:lpstr>
      <vt:lpstr>2.3  任务控制块及任务控制块链表</vt:lpstr>
      <vt:lpstr>2.3  任务控制块及任务控制块链表</vt:lpstr>
      <vt:lpstr>2.3  任务控制块及任务控制块链表</vt:lpstr>
      <vt:lpstr>2.3  任务控制块及任务控制块链表</vt:lpstr>
      <vt:lpstr>PowerPoint 演示文稿</vt:lpstr>
      <vt:lpstr>PowerPoint 演示文稿</vt:lpstr>
      <vt:lpstr>PowerPoint 演示文稿</vt:lpstr>
      <vt:lpstr>第2章    目录</vt:lpstr>
      <vt:lpstr>补充：多任务 OS                ---- 的基本工作方式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任务就绪表及任务调度</vt:lpstr>
      <vt:lpstr>PowerPoint 演示文稿</vt:lpstr>
      <vt:lpstr>PowerPoint 演示文稿</vt:lpstr>
      <vt:lpstr>PowerPoint 演示文稿</vt:lpstr>
      <vt:lpstr>2.4  任务就绪表及任务调度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任务控制块及任务控制块链表</vt:lpstr>
      <vt:lpstr>PowerPoint 演示文稿</vt:lpstr>
      <vt:lpstr>PowerPoint 演示文稿</vt:lpstr>
      <vt:lpstr>PowerPoint 演示文稿</vt:lpstr>
      <vt:lpstr>第2章    目录</vt:lpstr>
      <vt:lpstr>PowerPoint 演示文稿</vt:lpstr>
      <vt:lpstr>PowerPoint 演示文稿</vt:lpstr>
      <vt:lpstr>PowerPoint 演示文稿</vt:lpstr>
      <vt:lpstr>PowerPoint 演示文稿</vt:lpstr>
      <vt:lpstr>实验1：</vt:lpstr>
      <vt:lpstr>第2章    目录</vt:lpstr>
      <vt:lpstr>PowerPoint 演示文稿</vt:lpstr>
      <vt:lpstr>PowerPoint 演示文稿</vt:lpstr>
      <vt:lpstr>PowerPoint 演示文稿</vt:lpstr>
      <vt:lpstr>第2章    目录</vt:lpstr>
      <vt:lpstr>PowerPoint 演示文稿</vt:lpstr>
      <vt:lpstr>实验2：</vt:lpstr>
      <vt:lpstr>PowerPoint 演示文稿</vt:lpstr>
      <vt:lpstr>PowerPoint 演示文稿</vt:lpstr>
      <vt:lpstr>PowerPoint 演示文稿</vt:lpstr>
      <vt:lpstr>PowerPoint 演示文稿</vt:lpstr>
      <vt:lpstr>PowerPoint 演示文稿</vt:lpstr>
      <vt:lpstr>实验3：</vt:lpstr>
      <vt:lpstr>第2章    目录</vt:lpstr>
      <vt:lpstr>PowerPoint 演示文稿</vt:lpstr>
      <vt:lpstr>PowerPoint 演示文稿</vt:lpstr>
      <vt:lpstr>本章小结</vt:lpstr>
      <vt:lpstr>实验4：</vt:lpstr>
      <vt:lpstr>第2章    补充.目录</vt:lpstr>
      <vt:lpstr>补充：1 --- 任务的特性</vt:lpstr>
      <vt:lpstr>补充：1 --- 任务的特性</vt:lpstr>
      <vt:lpstr>补充：1 --- 任务的特性</vt:lpstr>
      <vt:lpstr>第2章    补充.目录</vt:lpstr>
      <vt:lpstr>补充：2 --- 任务的划分目标</vt:lpstr>
      <vt:lpstr>第2章    补充.目录</vt:lpstr>
      <vt:lpstr>补充：3 --- 任务的划分方法</vt:lpstr>
      <vt:lpstr>补充：3 --- 任务的划分方法</vt:lpstr>
      <vt:lpstr>补充：3 --- 任务的划分方法</vt:lpstr>
      <vt:lpstr>第2章    补充.目录</vt:lpstr>
      <vt:lpstr>补充：4 --- 任务的可调度性分析</vt:lpstr>
      <vt:lpstr>补充：4 --- 任务的可调度性分析</vt:lpstr>
      <vt:lpstr>补充：4 --- 任务的可调度性分析</vt:lpstr>
      <vt:lpstr>补充：4 --- 任务的可调度性分析</vt:lpstr>
      <vt:lpstr>补充：4 --- 任务的可调度性分析</vt:lpstr>
      <vt:lpstr>第2章    补充.目录</vt:lpstr>
      <vt:lpstr>补充：5 --- 任务的执行分类和优先级安排</vt:lpstr>
      <vt:lpstr>补充：5 --- 任务的执行分类和优先级安排</vt:lpstr>
      <vt:lpstr>补充：5 --- 任务的执行分类和优先级安排</vt:lpstr>
      <vt:lpstr>补充：5 --- 任务的执行分类和优先级安排</vt:lpstr>
      <vt:lpstr>PowerPoint 演示文稿</vt:lpstr>
      <vt:lpstr>补充：5 --- 任务的执行分类和优先级安排</vt:lpstr>
      <vt:lpstr>第2章    补充.目录</vt:lpstr>
      <vt:lpstr>补充：6 --- 任务设计中的问题</vt:lpstr>
      <vt:lpstr>第2章    补充.目录</vt:lpstr>
      <vt:lpstr>补充：7 --- 系统设计编码实现过程</vt:lpstr>
      <vt:lpstr>PowerPoint 演示文稿</vt:lpstr>
      <vt:lpstr>第2章    补充.目录</vt:lpstr>
      <vt:lpstr>补充：8 --- 中断服务程序的设计</vt:lpstr>
      <vt:lpstr>OS_TCBInit源码分析</vt:lpstr>
      <vt:lpstr>PowerPoint 演示文稿</vt:lpstr>
      <vt:lpstr>PowerPoint 演示文稿</vt:lpstr>
      <vt:lpstr>PowerPoint 演示文稿</vt:lpstr>
      <vt:lpstr>OSTaskCreate 源代码</vt:lpstr>
      <vt:lpstr>PowerPoint 演示文稿</vt:lpstr>
      <vt:lpstr>PowerPoint 演示文稿</vt:lpstr>
      <vt:lpstr>PowerPoint 演示文稿</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GH</dc:creator>
  <cp:lastModifiedBy>辰星 赵</cp:lastModifiedBy>
  <cp:revision>229</cp:revision>
  <dcterms:created xsi:type="dcterms:W3CDTF">2007-08-31T09:17:47Z</dcterms:created>
  <dcterms:modified xsi:type="dcterms:W3CDTF">2025-04-02T07:21:48Z</dcterms:modified>
</cp:coreProperties>
</file>