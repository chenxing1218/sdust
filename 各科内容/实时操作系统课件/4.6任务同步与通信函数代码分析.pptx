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4" r:id="rId19"/>
    <p:sldId id="273" r:id="rId20"/>
    <p:sldId id="275" r:id="rId21"/>
    <p:sldId id="276" r:id="rId22"/>
    <p:sldId id="279" r:id="rId23"/>
    <p:sldId id="277" r:id="rId24"/>
    <p:sldId id="278" r:id="rId25"/>
    <p:sldId id="280" r:id="rId26"/>
    <p:sldId id="281" r:id="rId27"/>
    <p:sldId id="282" r:id="rId28"/>
    <p:sldId id="285" r:id="rId29"/>
    <p:sldId id="283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2" r:id="rId39"/>
    <p:sldId id="297" r:id="rId40"/>
    <p:sldId id="294" r:id="rId41"/>
    <p:sldId id="296" r:id="rId42"/>
    <p:sldId id="295" r:id="rId43"/>
    <p:sldId id="298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68FC45-A89F-4D76-B730-521F933DBC6D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84AA6-8319-4B4C-B928-66E479F7F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86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84AA6-8319-4B4C-B928-66E479F7FA2E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77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784AA6-8319-4B4C-B928-66E479F7FA2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869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75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51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11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89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74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24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827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84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9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03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30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F1458-4375-4777-B13C-66A52DC62C52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B947F-186B-46A4-AFFA-E8876AA70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21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同步与通信函数分析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935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6006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信号量相关函数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02166"/>
            <a:ext cx="12192000" cy="6255834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dirty="0"/>
              <a:t>OS_EVENT  *</a:t>
            </a:r>
            <a:r>
              <a:rPr lang="en-US" altLang="zh-CN" dirty="0" err="1"/>
              <a:t>OSSemCreate</a:t>
            </a:r>
            <a:r>
              <a:rPr lang="en-US" altLang="zh-CN" dirty="0"/>
              <a:t> (INT16U </a:t>
            </a:r>
            <a:r>
              <a:rPr lang="en-US" altLang="zh-CN" dirty="0" err="1"/>
              <a:t>cnt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OS_EVENT  *</a:t>
            </a:r>
            <a:r>
              <a:rPr lang="en-US" altLang="zh-CN" dirty="0" err="1"/>
              <a:t>pevent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               /* See if called from ISR ...               */</a:t>
            </a:r>
          </a:p>
          <a:p>
            <a:r>
              <a:rPr lang="en-US" altLang="zh-CN" dirty="0"/>
              <a:t>        return ((OS_EVENT *)0);                            /* ... can't CREATE from an ISR             */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OS_ENTER_CRITICAL();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pevent</a:t>
            </a:r>
            <a:r>
              <a:rPr lang="en-US" altLang="zh-CN" dirty="0"/>
              <a:t> = </a:t>
            </a:r>
            <a:r>
              <a:rPr lang="en-US" altLang="zh-CN" dirty="0" err="1"/>
              <a:t>OSEventFreeList</a:t>
            </a:r>
            <a:r>
              <a:rPr lang="en-US" altLang="zh-CN" dirty="0"/>
              <a:t>;                              /* Get next free event control block        */</a:t>
            </a:r>
          </a:p>
          <a:p>
            <a:r>
              <a:rPr lang="en-US" altLang="zh-CN" dirty="0"/>
              <a:t>    if (</a:t>
            </a:r>
            <a:r>
              <a:rPr lang="en-US" altLang="zh-CN" dirty="0" err="1"/>
              <a:t>OSEventFreeList</a:t>
            </a:r>
            <a:r>
              <a:rPr lang="en-US" altLang="zh-CN" dirty="0"/>
              <a:t> != (OS_EVENT *)0) {                /* See if pool of free ECB pool was empty   */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OSEventFreeList</a:t>
            </a:r>
            <a:r>
              <a:rPr lang="en-US" altLang="zh-CN" dirty="0"/>
              <a:t> = (OS_EVENT *)</a:t>
            </a:r>
            <a:r>
              <a:rPr lang="en-US" altLang="zh-CN" dirty="0" err="1"/>
              <a:t>OSEventFreeList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OS_EXIT_CRITICAL();</a:t>
            </a:r>
          </a:p>
          <a:p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!= (OS_EVENT *)0) {                         /* Get an event control block               */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= OS_EVENT_TYPE_SEM;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 = </a:t>
            </a:r>
            <a:r>
              <a:rPr lang="en-US" altLang="zh-CN" dirty="0" err="1"/>
              <a:t>cnt</a:t>
            </a:r>
            <a:r>
              <a:rPr lang="en-US" altLang="zh-CN" dirty="0"/>
              <a:t>;                         /* Set semaphore value                      */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(void *)0;                   /* Unlink from ECB free list                */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OS_EventWaitListInit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);                      /* Initialize to 'nobody waiting' on sem.   */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矩形标注 3"/>
          <p:cNvSpPr/>
          <p:nvPr/>
        </p:nvSpPr>
        <p:spPr>
          <a:xfrm>
            <a:off x="3010829" y="847493"/>
            <a:ext cx="4772721" cy="524107"/>
          </a:xfrm>
          <a:prstGeom prst="wedgeRectCallout">
            <a:avLst>
              <a:gd name="adj1" fmla="val -66965"/>
              <a:gd name="adj2" fmla="val 1007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判断是否在中断中，中断中不能创建信号量</a:t>
            </a:r>
          </a:p>
        </p:txBody>
      </p:sp>
      <p:sp>
        <p:nvSpPr>
          <p:cNvPr id="5" name="矩形标注 4"/>
          <p:cNvSpPr/>
          <p:nvPr/>
        </p:nvSpPr>
        <p:spPr>
          <a:xfrm>
            <a:off x="3133493" y="1806498"/>
            <a:ext cx="4650057" cy="535258"/>
          </a:xfrm>
          <a:prstGeom prst="wedgeRectCallout">
            <a:avLst>
              <a:gd name="adj1" fmla="val -67496"/>
              <a:gd name="adj2" fmla="val 6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进入临界状态，下面的代码不允许打断</a:t>
            </a:r>
          </a:p>
        </p:txBody>
      </p:sp>
      <p:sp>
        <p:nvSpPr>
          <p:cNvPr id="6" name="矩形标注 5"/>
          <p:cNvSpPr/>
          <p:nvPr/>
        </p:nvSpPr>
        <p:spPr>
          <a:xfrm>
            <a:off x="7014116" y="2536747"/>
            <a:ext cx="4795025" cy="1042793"/>
          </a:xfrm>
          <a:prstGeom prst="wedgeRectCallout">
            <a:avLst>
              <a:gd name="adj1" fmla="val -56752"/>
              <a:gd name="adj2" fmla="val -8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将当前的空白事件控制块链表表头，放入</a:t>
            </a:r>
            <a:r>
              <a:rPr lang="en-US" altLang="zh-CN" dirty="0" err="1"/>
              <a:t>pevent</a:t>
            </a:r>
            <a:r>
              <a:rPr lang="zh-CN" altLang="en-US" dirty="0"/>
              <a:t>，并判断该链表是否已经用完，如果没用完，表头就指向下一个空白事件控制块</a:t>
            </a:r>
          </a:p>
        </p:txBody>
      </p:sp>
      <p:sp>
        <p:nvSpPr>
          <p:cNvPr id="8" name="右大括号 7"/>
          <p:cNvSpPr/>
          <p:nvPr/>
        </p:nvSpPr>
        <p:spPr>
          <a:xfrm>
            <a:off x="5649951" y="2483857"/>
            <a:ext cx="892097" cy="1095684"/>
          </a:xfrm>
          <a:prstGeom prst="rightBrace">
            <a:avLst>
              <a:gd name="adj1" fmla="val 8333"/>
              <a:gd name="adj2" fmla="val 52035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/>
        </p:nvSpPr>
        <p:spPr>
          <a:xfrm>
            <a:off x="2403088" y="3579540"/>
            <a:ext cx="2854712" cy="289934"/>
          </a:xfrm>
          <a:prstGeom prst="wedgeRectCallout">
            <a:avLst>
              <a:gd name="adj1" fmla="val -57942"/>
              <a:gd name="adj2" fmla="val 356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退出临界状态</a:t>
            </a:r>
          </a:p>
        </p:txBody>
      </p:sp>
      <p:sp>
        <p:nvSpPr>
          <p:cNvPr id="10" name="右大括号 9"/>
          <p:cNvSpPr/>
          <p:nvPr/>
        </p:nvSpPr>
        <p:spPr>
          <a:xfrm>
            <a:off x="4650059" y="4011576"/>
            <a:ext cx="869795" cy="1664396"/>
          </a:xfrm>
          <a:prstGeom prst="righ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标注 10"/>
          <p:cNvSpPr/>
          <p:nvPr/>
        </p:nvSpPr>
        <p:spPr>
          <a:xfrm>
            <a:off x="6311590" y="4192859"/>
            <a:ext cx="5497551" cy="858643"/>
          </a:xfrm>
          <a:prstGeom prst="wedgeRectCallout">
            <a:avLst>
              <a:gd name="adj1" fmla="val -60184"/>
              <a:gd name="adj2" fmla="val 274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先判断</a:t>
            </a:r>
            <a:r>
              <a:rPr lang="en-US" altLang="zh-CN" dirty="0" err="1"/>
              <a:t>pevent</a:t>
            </a:r>
            <a:r>
              <a:rPr lang="zh-CN" altLang="en-US" dirty="0"/>
              <a:t>中的事件控制块是否可用，可用的化就初始化，然后返回，事件指针</a:t>
            </a:r>
            <a:r>
              <a:rPr lang="en-US" altLang="zh-CN" dirty="0" err="1"/>
              <a:t>pevent</a:t>
            </a:r>
            <a:r>
              <a:rPr lang="zh-CN" altLang="en-US" dirty="0"/>
              <a:t>。当然如果不可用，就返回</a:t>
            </a:r>
            <a:r>
              <a:rPr lang="en-US" altLang="zh-CN" dirty="0"/>
              <a:t>NULL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39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9137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信号相关函数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13316"/>
            <a:ext cx="12192000" cy="6244683"/>
          </a:xfrm>
        </p:spPr>
        <p:txBody>
          <a:bodyPr>
            <a:normAutofit fontScale="47500" lnSpcReduction="20000"/>
          </a:bodyPr>
          <a:lstStyle/>
          <a:p>
            <a:r>
              <a:rPr lang="en-US" altLang="zh-CN" dirty="0"/>
              <a:t>INT8U  </a:t>
            </a:r>
            <a:r>
              <a:rPr lang="en-US" altLang="zh-CN" dirty="0" err="1"/>
              <a:t>OSSemPost</a:t>
            </a:r>
            <a:r>
              <a:rPr lang="en-US" altLang="zh-CN" dirty="0"/>
              <a:t> (OS_EVENT *</a:t>
            </a:r>
            <a:r>
              <a:rPr lang="en-US" altLang="zh-CN" dirty="0" err="1"/>
              <a:t>pevent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              /* Validate '</a:t>
            </a:r>
            <a:r>
              <a:rPr lang="en-US" altLang="zh-CN" dirty="0" err="1"/>
              <a:t>pevent</a:t>
            </a:r>
            <a:r>
              <a:rPr lang="en-US" altLang="zh-CN" dirty="0"/>
              <a:t>'                        */</a:t>
            </a:r>
          </a:p>
          <a:p>
            <a:r>
              <a:rPr lang="en-US" altLang="zh-CN" dirty="0"/>
              <a:t>        return (OS_ERR_PEVENT_NULL);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!= OS_EVENT_TYPE_SEM) {        /* Validate event block type                */</a:t>
            </a:r>
          </a:p>
          <a:p>
            <a:r>
              <a:rPr lang="en-US" altLang="zh-CN" dirty="0"/>
              <a:t>        return (OS_ERR_EVENT_TYPE);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OS_ENTER_CRITICAL();</a:t>
            </a:r>
          </a:p>
          <a:p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                /* See if any task waiting for semaphore    */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OS_EventTaskRdy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, (void *)0, OS_STAT_SEM);   /* Ready highest </a:t>
            </a:r>
            <a:r>
              <a:rPr lang="en-US" altLang="zh-CN" dirty="0" err="1"/>
              <a:t>prio</a:t>
            </a:r>
            <a:r>
              <a:rPr lang="en-US" altLang="zh-CN" dirty="0"/>
              <a:t> task waiting on event */</a:t>
            </a:r>
          </a:p>
          <a:p>
            <a:r>
              <a:rPr lang="en-US" altLang="zh-CN" dirty="0"/>
              <a:t>        OS_EXIT_CRITICAL();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OS_Sched</a:t>
            </a:r>
            <a:r>
              <a:rPr lang="en-US" altLang="zh-CN" dirty="0"/>
              <a:t>();                                        /* Find highest priority task ready to run  */</a:t>
            </a:r>
          </a:p>
          <a:p>
            <a:r>
              <a:rPr lang="en-US" altLang="zh-CN" dirty="0"/>
              <a:t>        return (OS_NO_ERR);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&lt; 65535) {                 /* Make sure semaphore will not overflow         */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++;                         /* Increment semaphore count to register event   */</a:t>
            </a:r>
          </a:p>
          <a:p>
            <a:r>
              <a:rPr lang="en-US" altLang="zh-CN" dirty="0"/>
              <a:t>        OS_EXIT_CRITICAL();</a:t>
            </a:r>
          </a:p>
          <a:p>
            <a:r>
              <a:rPr lang="en-US" altLang="zh-CN" dirty="0"/>
              <a:t>        return (OS_NO_ERR);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OS_EXIT_CRITICAL();                               /* Semaphore value has reached its maximum       */</a:t>
            </a:r>
          </a:p>
          <a:p>
            <a:r>
              <a:rPr lang="en-US" altLang="zh-CN" dirty="0"/>
              <a:t>    return (OS_SEM_OVF);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6200078" y="1037063"/>
            <a:ext cx="1070517" cy="1583474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标注 4"/>
          <p:cNvSpPr/>
          <p:nvPr/>
        </p:nvSpPr>
        <p:spPr>
          <a:xfrm>
            <a:off x="7750098" y="869795"/>
            <a:ext cx="3791414" cy="1126273"/>
          </a:xfrm>
          <a:prstGeom prst="wedgeRectCallout">
            <a:avLst>
              <a:gd name="adj1" fmla="val -67872"/>
              <a:gd name="adj2" fmla="val 367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判断是否是一个有效的信号量事件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6066263" y="2955073"/>
            <a:ext cx="657922" cy="1449659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7270595" y="2999678"/>
            <a:ext cx="4460488" cy="925551"/>
          </a:xfrm>
          <a:prstGeom prst="wedgeRectCallout">
            <a:avLst>
              <a:gd name="adj1" fmla="val -58833"/>
              <a:gd name="adj2" fmla="val 251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如果事件等待表有处于等待态的任务，那就将最高优先级的等待任务置为就绪态，并进行一次调度，退出本程序</a:t>
            </a:r>
          </a:p>
        </p:txBody>
      </p:sp>
      <p:sp>
        <p:nvSpPr>
          <p:cNvPr id="8" name="右大括号 7"/>
          <p:cNvSpPr/>
          <p:nvPr/>
        </p:nvSpPr>
        <p:spPr>
          <a:xfrm>
            <a:off x="6200078" y="4572000"/>
            <a:ext cx="312234" cy="1182029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/>
        </p:nvSpPr>
        <p:spPr>
          <a:xfrm>
            <a:off x="7270595" y="4572000"/>
            <a:ext cx="4460488" cy="702527"/>
          </a:xfrm>
          <a:prstGeom prst="wedgeRectCallout">
            <a:avLst>
              <a:gd name="adj1" fmla="val -65583"/>
              <a:gd name="adj2" fmla="val 371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判断信号量的值是否溢出，如果没有溢出则对其值加一，如果溢出返回溢出错误</a:t>
            </a:r>
          </a:p>
        </p:txBody>
      </p:sp>
    </p:spTree>
    <p:extLst>
      <p:ext uri="{BB962C8B-B14F-4D97-AF65-F5344CB8AC3E}">
        <p14:creationId xmlns:p14="http://schemas.microsoft.com/office/powerpoint/2010/main" val="4696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3708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信号相关函数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526972"/>
            <a:ext cx="6869151" cy="6487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</a:rPr>
              <a:t>void  </a:t>
            </a:r>
            <a:r>
              <a:rPr lang="en-US" altLang="zh-CN" dirty="0" err="1">
                <a:solidFill>
                  <a:schemeClr val="tx1"/>
                </a:solidFill>
              </a:rPr>
              <a:t>OSSemPend</a:t>
            </a:r>
            <a:r>
              <a:rPr lang="en-US" altLang="zh-CN" dirty="0">
                <a:solidFill>
                  <a:schemeClr val="tx1"/>
                </a:solidFill>
              </a:rPr>
              <a:t> (OS_EVENT *</a:t>
            </a:r>
            <a:r>
              <a:rPr lang="en-US" altLang="zh-CN" dirty="0" err="1">
                <a:solidFill>
                  <a:schemeClr val="tx1"/>
                </a:solidFill>
              </a:rPr>
              <a:t>pevent</a:t>
            </a:r>
            <a:r>
              <a:rPr lang="en-US" altLang="zh-CN" dirty="0">
                <a:solidFill>
                  <a:schemeClr val="tx1"/>
                </a:solidFill>
              </a:rPr>
              <a:t>, INT16U timeout, INT8U *err)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if (</a:t>
            </a:r>
            <a:r>
              <a:rPr lang="en-US" altLang="zh-CN" dirty="0" err="1">
                <a:solidFill>
                  <a:schemeClr val="tx1"/>
                </a:solidFill>
              </a:rPr>
              <a:t>OSIntNesting</a:t>
            </a:r>
            <a:r>
              <a:rPr lang="en-US" altLang="zh-CN" dirty="0">
                <a:solidFill>
                  <a:schemeClr val="tx1"/>
                </a:solidFill>
              </a:rPr>
              <a:t> &gt; 0) {                         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*err = OS_ERR_PEND_ISR; */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return;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}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if (</a:t>
            </a:r>
            <a:r>
              <a:rPr lang="en-US" altLang="zh-CN" dirty="0" err="1">
                <a:solidFill>
                  <a:schemeClr val="tx1"/>
                </a:solidFill>
              </a:rPr>
              <a:t>pevent</a:t>
            </a:r>
            <a:r>
              <a:rPr lang="en-US" altLang="zh-CN" dirty="0">
                <a:solidFill>
                  <a:schemeClr val="tx1"/>
                </a:solidFill>
              </a:rPr>
              <a:t> == (OS_EVENT *)0) {                 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*err = OS_ERR_PEVENT_NULL;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return;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}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if (</a:t>
            </a:r>
            <a:r>
              <a:rPr lang="en-US" altLang="zh-CN" dirty="0" err="1">
                <a:solidFill>
                  <a:schemeClr val="tx1"/>
                </a:solidFill>
              </a:rPr>
              <a:t>pevent</a:t>
            </a:r>
            <a:r>
              <a:rPr lang="en-US" altLang="zh-CN" dirty="0">
                <a:solidFill>
                  <a:schemeClr val="tx1"/>
                </a:solidFill>
              </a:rPr>
              <a:t>-&gt;</a:t>
            </a:r>
            <a:r>
              <a:rPr lang="en-US" altLang="zh-CN" dirty="0" err="1">
                <a:solidFill>
                  <a:schemeClr val="tx1"/>
                </a:solidFill>
              </a:rPr>
              <a:t>OSEventType</a:t>
            </a:r>
            <a:r>
              <a:rPr lang="en-US" altLang="zh-CN" dirty="0">
                <a:solidFill>
                  <a:schemeClr val="tx1"/>
                </a:solidFill>
              </a:rPr>
              <a:t> != OS_EVENT_TYPE_SEM) {      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*err = OS_ERR_EVENT_TYPE;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return;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}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OS_ENTER_CRITICAL();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if (</a:t>
            </a:r>
            <a:r>
              <a:rPr lang="en-US" altLang="zh-CN" dirty="0" err="1">
                <a:solidFill>
                  <a:schemeClr val="tx1"/>
                </a:solidFill>
              </a:rPr>
              <a:t>pevent</a:t>
            </a:r>
            <a:r>
              <a:rPr lang="en-US" altLang="zh-CN" dirty="0">
                <a:solidFill>
                  <a:schemeClr val="tx1"/>
                </a:solidFill>
              </a:rPr>
              <a:t>-&gt;</a:t>
            </a:r>
            <a:r>
              <a:rPr lang="en-US" altLang="zh-CN" dirty="0" err="1">
                <a:solidFill>
                  <a:schemeClr val="tx1"/>
                </a:solidFill>
              </a:rPr>
              <a:t>OSEventCnt</a:t>
            </a:r>
            <a:r>
              <a:rPr lang="en-US" altLang="zh-CN" dirty="0">
                <a:solidFill>
                  <a:schemeClr val="tx1"/>
                </a:solidFill>
              </a:rPr>
              <a:t> &gt; 0) {</a:t>
            </a:r>
          </a:p>
          <a:p>
            <a:r>
              <a:rPr lang="en-US" altLang="zh-CN" dirty="0" err="1">
                <a:solidFill>
                  <a:schemeClr val="tx1"/>
                </a:solidFill>
              </a:rPr>
              <a:t>pevent</a:t>
            </a:r>
            <a:r>
              <a:rPr lang="en-US" altLang="zh-CN" dirty="0">
                <a:solidFill>
                  <a:schemeClr val="tx1"/>
                </a:solidFill>
              </a:rPr>
              <a:t>-&gt;</a:t>
            </a:r>
            <a:r>
              <a:rPr lang="en-US" altLang="zh-CN" dirty="0" err="1">
                <a:solidFill>
                  <a:schemeClr val="tx1"/>
                </a:solidFill>
              </a:rPr>
              <a:t>OSEventCnt</a:t>
            </a:r>
            <a:r>
              <a:rPr lang="en-US" altLang="zh-CN" dirty="0">
                <a:solidFill>
                  <a:schemeClr val="tx1"/>
                </a:solidFill>
              </a:rPr>
              <a:t>--;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OS_EXIT_CRITICAL();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*err = OS_NO_ERR;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return;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}</a:t>
            </a:r>
          </a:p>
        </p:txBody>
      </p:sp>
      <p:sp>
        <p:nvSpPr>
          <p:cNvPr id="6" name="矩形标注 5"/>
          <p:cNvSpPr/>
          <p:nvPr/>
        </p:nvSpPr>
        <p:spPr>
          <a:xfrm>
            <a:off x="3389971" y="1639229"/>
            <a:ext cx="2531327" cy="735981"/>
          </a:xfrm>
          <a:prstGeom prst="wedgeRectCallout">
            <a:avLst>
              <a:gd name="adj1" fmla="val -75899"/>
              <a:gd name="adj2" fmla="val -26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判断是否在中断中</a:t>
            </a:r>
          </a:p>
        </p:txBody>
      </p:sp>
      <p:sp>
        <p:nvSpPr>
          <p:cNvPr id="7" name="矩形标注 6"/>
          <p:cNvSpPr/>
          <p:nvPr/>
        </p:nvSpPr>
        <p:spPr>
          <a:xfrm>
            <a:off x="3724507" y="2687444"/>
            <a:ext cx="2497873" cy="479502"/>
          </a:xfrm>
          <a:prstGeom prst="wedgeRectCallout">
            <a:avLst>
              <a:gd name="adj1" fmla="val -57887"/>
              <a:gd name="adj2" fmla="val -11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是否是有效的信号量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3557239" y="4070195"/>
            <a:ext cx="2888166" cy="612648"/>
          </a:xfrm>
          <a:prstGeom prst="wedgeRectCallout">
            <a:avLst>
              <a:gd name="adj1" fmla="val -67165"/>
              <a:gd name="adj2" fmla="val -448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是否是正确的事件类型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3557239" y="5196469"/>
            <a:ext cx="2932770" cy="1069848"/>
          </a:xfrm>
          <a:prstGeom prst="wedgeRectCallout">
            <a:avLst>
              <a:gd name="adj1" fmla="val -72504"/>
              <a:gd name="adj2" fmla="val -325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如果事件计数值大于</a:t>
            </a:r>
            <a:r>
              <a:rPr lang="en-US" altLang="zh-CN" dirty="0"/>
              <a:t>0</a:t>
            </a:r>
            <a:r>
              <a:rPr lang="zh-CN" altLang="en-US" dirty="0"/>
              <a:t>，那对其值减一，表示请求到了信号量，并成功退出。</a:t>
            </a:r>
          </a:p>
        </p:txBody>
      </p:sp>
    </p:spTree>
    <p:extLst>
      <p:ext uri="{BB962C8B-B14F-4D97-AF65-F5344CB8AC3E}">
        <p14:creationId xmlns:p14="http://schemas.microsoft.com/office/powerpoint/2010/main" val="180051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006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信号相关函数</a:t>
            </a:r>
          </a:p>
        </p:txBody>
      </p:sp>
      <p:sp>
        <p:nvSpPr>
          <p:cNvPr id="5" name="矩形 4"/>
          <p:cNvSpPr/>
          <p:nvPr/>
        </p:nvSpPr>
        <p:spPr>
          <a:xfrm>
            <a:off x="156395" y="724216"/>
            <a:ext cx="5878645" cy="56651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</a:rPr>
              <a:t>OSTCBCur-&gt;</a:t>
            </a:r>
            <a:r>
              <a:rPr lang="en-US" altLang="zh-CN" dirty="0" err="1">
                <a:solidFill>
                  <a:schemeClr val="tx1"/>
                </a:solidFill>
              </a:rPr>
              <a:t>OSTCBStat</a:t>
            </a:r>
            <a:r>
              <a:rPr lang="en-US" altLang="zh-CN" dirty="0">
                <a:solidFill>
                  <a:schemeClr val="tx1"/>
                </a:solidFill>
              </a:rPr>
              <a:t> |= OS_STAT_SEM;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OSTCBCur-&gt;</a:t>
            </a:r>
            <a:r>
              <a:rPr lang="en-US" altLang="zh-CN" dirty="0" err="1">
                <a:solidFill>
                  <a:schemeClr val="tx1"/>
                </a:solidFill>
              </a:rPr>
              <a:t>OSTCBDly</a:t>
            </a:r>
            <a:r>
              <a:rPr lang="en-US" altLang="zh-CN" dirty="0">
                <a:solidFill>
                  <a:schemeClr val="tx1"/>
                </a:solidFill>
              </a:rPr>
              <a:t>   = timeout;                  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OS_EventTaskWait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pevent</a:t>
            </a:r>
            <a:r>
              <a:rPr lang="en-US" altLang="zh-CN" dirty="0">
                <a:solidFill>
                  <a:schemeClr val="tx1"/>
                </a:solidFill>
              </a:rPr>
              <a:t>);                        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OS_EXIT_CRITICAL();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OS_Sched</a:t>
            </a:r>
            <a:r>
              <a:rPr lang="en-US" altLang="zh-CN" dirty="0">
                <a:solidFill>
                  <a:schemeClr val="tx1"/>
                </a:solidFill>
              </a:rPr>
              <a:t>();                                      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OS_ENTER_CRITICAL();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if (OSTCBCur-&gt;</a:t>
            </a:r>
            <a:r>
              <a:rPr lang="en-US" altLang="zh-CN" dirty="0" err="1">
                <a:solidFill>
                  <a:schemeClr val="tx1"/>
                </a:solidFill>
              </a:rPr>
              <a:t>OSTCBStat</a:t>
            </a:r>
            <a:r>
              <a:rPr lang="en-US" altLang="zh-CN" dirty="0">
                <a:solidFill>
                  <a:schemeClr val="tx1"/>
                </a:solidFill>
              </a:rPr>
              <a:t> &amp; OS_STAT_SEM) {         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</a:t>
            </a:r>
            <a:r>
              <a:rPr lang="en-US" altLang="zh-CN" dirty="0" err="1">
                <a:solidFill>
                  <a:schemeClr val="tx1"/>
                </a:solidFill>
              </a:rPr>
              <a:t>OS_EventTO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pevent</a:t>
            </a:r>
            <a:r>
              <a:rPr lang="en-US" altLang="zh-CN" dirty="0">
                <a:solidFill>
                  <a:schemeClr val="tx1"/>
                </a:solidFill>
              </a:rPr>
              <a:t>);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OS_EXIT_CRITICAL();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*err = OS_TIMEOUT;                           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    return;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}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OSTCBCur-&gt;</a:t>
            </a:r>
            <a:r>
              <a:rPr lang="en-US" altLang="zh-CN" dirty="0" err="1">
                <a:solidFill>
                  <a:schemeClr val="tx1"/>
                </a:solidFill>
              </a:rPr>
              <a:t>OSTCBEventPtr</a:t>
            </a:r>
            <a:r>
              <a:rPr lang="en-US" altLang="zh-CN" dirty="0">
                <a:solidFill>
                  <a:schemeClr val="tx1"/>
                </a:solidFill>
              </a:rPr>
              <a:t> = (OS_EVENT *)0;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OS_EXIT_CRITICAL();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    *err = OS_NO_ERR;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标注 5"/>
          <p:cNvSpPr/>
          <p:nvPr/>
        </p:nvSpPr>
        <p:spPr>
          <a:xfrm>
            <a:off x="5543550" y="1531620"/>
            <a:ext cx="6297930" cy="582930"/>
          </a:xfrm>
          <a:prstGeom prst="wedgeRectCallout">
            <a:avLst>
              <a:gd name="adj1" fmla="val -60782"/>
              <a:gd name="adj2" fmla="val 507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如果信号量当前值已经为</a:t>
            </a:r>
            <a:r>
              <a:rPr lang="en-US" altLang="zh-CN" dirty="0"/>
              <a:t>0</a:t>
            </a:r>
            <a:r>
              <a:rPr lang="zh-CN" altLang="en-US" dirty="0"/>
              <a:t>，则将当前任务设置为等待态，并执行一次调度，去运行更高优先级的任务</a:t>
            </a:r>
          </a:p>
        </p:txBody>
      </p:sp>
      <p:sp>
        <p:nvSpPr>
          <p:cNvPr id="7" name="右大括号 6"/>
          <p:cNvSpPr/>
          <p:nvPr/>
        </p:nvSpPr>
        <p:spPr>
          <a:xfrm>
            <a:off x="4343400" y="1417320"/>
            <a:ext cx="468630" cy="1394460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大括号 7"/>
          <p:cNvSpPr/>
          <p:nvPr/>
        </p:nvSpPr>
        <p:spPr>
          <a:xfrm>
            <a:off x="5132070" y="3154680"/>
            <a:ext cx="514350" cy="1085850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/>
        </p:nvSpPr>
        <p:spPr>
          <a:xfrm>
            <a:off x="6035040" y="2971165"/>
            <a:ext cx="6156960" cy="630713"/>
          </a:xfrm>
          <a:prstGeom prst="wedgeRectCallout">
            <a:avLst>
              <a:gd name="adj1" fmla="val -54910"/>
              <a:gd name="adj2" fmla="val 661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如果等待超时，则返回超时错误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6537960" y="4458493"/>
            <a:ext cx="5532120" cy="925830"/>
          </a:xfrm>
          <a:prstGeom prst="wedgeRectCallout">
            <a:avLst>
              <a:gd name="adj1" fmla="val -74094"/>
              <a:gd name="adj2" fmla="val 155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成功获得信号量，返回</a:t>
            </a:r>
          </a:p>
        </p:txBody>
      </p:sp>
      <p:sp>
        <p:nvSpPr>
          <p:cNvPr id="11" name="右大括号 10"/>
          <p:cNvSpPr/>
          <p:nvPr/>
        </p:nvSpPr>
        <p:spPr>
          <a:xfrm>
            <a:off x="5132070" y="4754880"/>
            <a:ext cx="411480" cy="640080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53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7157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信号量相关函数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71576"/>
            <a:ext cx="12192000" cy="62864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OS_EVENT  *</a:t>
            </a:r>
            <a:r>
              <a:rPr lang="en-US" altLang="zh-CN" dirty="0" err="1"/>
              <a:t>OSSemDel</a:t>
            </a:r>
            <a:r>
              <a:rPr lang="en-US" altLang="zh-CN" dirty="0"/>
              <a:t> (OS_EVENT *</a:t>
            </a:r>
            <a:r>
              <a:rPr lang="en-US" altLang="zh-CN" dirty="0" err="1"/>
              <a:t>pevent</a:t>
            </a:r>
            <a:r>
              <a:rPr lang="en-US" altLang="zh-CN" dirty="0"/>
              <a:t>, INT8U opt, INT8U *err)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               /* See if called from ISR ...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OS_ERR_DEL_ISR;                      /* ... can't DELETE from an ISR             */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              /* Validate '</a:t>
            </a:r>
            <a:r>
              <a:rPr lang="en-US" altLang="zh-CN" dirty="0" err="1"/>
              <a:t>pevent</a:t>
            </a:r>
            <a:r>
              <a:rPr lang="en-US" altLang="zh-CN" dirty="0"/>
              <a:t>'    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OS_ERR_PEVENT_NULL;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!= OS_EVENT_TYPE_SEM) { /* Validate event block type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OS_ERR_EVENT_TYPE;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4651899" y="1322773"/>
            <a:ext cx="239697" cy="161573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015883" y="1615736"/>
            <a:ext cx="2965142" cy="1029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判断是否在中断中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5264458" y="3409025"/>
            <a:ext cx="408373" cy="12872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61608" y="3524435"/>
            <a:ext cx="3275860" cy="1012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判断是不是无效的事件</a:t>
            </a:r>
          </a:p>
        </p:txBody>
      </p:sp>
      <p:sp>
        <p:nvSpPr>
          <p:cNvPr id="8" name="右大括号 7"/>
          <p:cNvSpPr/>
          <p:nvPr/>
        </p:nvSpPr>
        <p:spPr>
          <a:xfrm>
            <a:off x="7981025" y="4962617"/>
            <a:ext cx="1056443" cy="165124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223899" y="5450889"/>
            <a:ext cx="2565647" cy="887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判断事件类型是否正确</a:t>
            </a:r>
          </a:p>
        </p:txBody>
      </p:sp>
    </p:spTree>
    <p:extLst>
      <p:ext uri="{BB962C8B-B14F-4D97-AF65-F5344CB8AC3E}">
        <p14:creationId xmlns:p14="http://schemas.microsoft.com/office/powerpoint/2010/main" val="198278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7157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信号量相关函数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71577"/>
            <a:ext cx="11353800" cy="56053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OS_ENTER_CRITICAL();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                /* See if any tasks waiting on semaphore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tasks_waiting</a:t>
            </a:r>
            <a:r>
              <a:rPr lang="en-US" altLang="zh-CN" dirty="0"/>
              <a:t> = TRUE;                              /* Yes         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} else {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tasks_waiting</a:t>
            </a:r>
            <a:r>
              <a:rPr lang="en-US" altLang="zh-CN" dirty="0"/>
              <a:t> = FALSE;                             /* No          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switch (opt) {</a:t>
            </a:r>
          </a:p>
          <a:p>
            <a:pPr marL="0" indent="0">
              <a:buNone/>
            </a:pPr>
            <a:r>
              <a:rPr lang="en-US" altLang="zh-CN" dirty="0"/>
              <a:t>        case OS_DEL_NO_PEND:                               /* Delete semaphore only if no task waiting */</a:t>
            </a:r>
          </a:p>
          <a:p>
            <a:pPr marL="0" indent="0">
              <a:buNone/>
            </a:pPr>
            <a:r>
              <a:rPr lang="en-US" altLang="zh-CN" dirty="0"/>
              <a:t>             if (</a:t>
            </a:r>
            <a:r>
              <a:rPr lang="en-US" altLang="zh-CN" dirty="0" err="1"/>
              <a:t>tasks_waiting</a:t>
            </a:r>
            <a:r>
              <a:rPr lang="en-US" altLang="zh-CN" dirty="0"/>
              <a:t> == FALSE) {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= OS_EVENT_TYPE_UNUSED;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</a:t>
            </a:r>
            <a:r>
              <a:rPr lang="en-US" altLang="zh-CN" dirty="0" err="1"/>
              <a:t>OSEventFreeList</a:t>
            </a:r>
            <a:r>
              <a:rPr lang="en-US" altLang="zh-CN" dirty="0"/>
              <a:t>;    /* Return Event Control Block to free list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OSEventFreeList</a:t>
            </a:r>
            <a:r>
              <a:rPr lang="en-US" altLang="zh-CN" dirty="0"/>
              <a:t>     = </a:t>
            </a:r>
            <a:r>
              <a:rPr lang="en-US" altLang="zh-CN" dirty="0" err="1"/>
              <a:t>pevent</a:t>
            </a:r>
            <a:r>
              <a:rPr lang="en-US" altLang="zh-CN" dirty="0"/>
              <a:t>;             /* Get next free event control block        */</a:t>
            </a:r>
          </a:p>
          <a:p>
            <a:pPr marL="0" indent="0">
              <a:buNone/>
            </a:pPr>
            <a:r>
              <a:rPr lang="en-US" altLang="zh-CN" dirty="0"/>
              <a:t>                 OS_EXIT_CRITICAL();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6054571" y="1145219"/>
            <a:ext cx="976544" cy="158022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075503" y="1615736"/>
            <a:ext cx="3142695" cy="1012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查看是否有任务正在等待中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7767961" y="3551068"/>
            <a:ext cx="1012055" cy="23880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948691" y="4003828"/>
            <a:ext cx="2876365" cy="15979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如果删除参数为无任务等待事件时删除，正好又没有任务在等待，则删除信号量，将事件控制块归还给空白事件链表</a:t>
            </a:r>
          </a:p>
        </p:txBody>
      </p:sp>
    </p:spTree>
    <p:extLst>
      <p:ext uri="{BB962C8B-B14F-4D97-AF65-F5344CB8AC3E}">
        <p14:creationId xmlns:p14="http://schemas.microsoft.com/office/powerpoint/2010/main" val="1982784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7157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信号量相关函数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71577"/>
            <a:ext cx="11949344" cy="56053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         *err = OS_NO_ERR;</a:t>
            </a:r>
          </a:p>
          <a:p>
            <a:pPr marL="0" indent="0">
              <a:buNone/>
            </a:pPr>
            <a:r>
              <a:rPr lang="en-US" altLang="zh-CN" dirty="0"/>
              <a:t>                 return ((OS_EVENT *)0);                   /* Semaphore has been deleted               */</a:t>
            </a:r>
          </a:p>
          <a:p>
            <a:pPr marL="0" indent="0">
              <a:buNone/>
            </a:pPr>
            <a:r>
              <a:rPr lang="en-US" altLang="zh-CN" dirty="0"/>
              <a:t>             } else {</a:t>
            </a:r>
          </a:p>
          <a:p>
            <a:pPr marL="0" indent="0">
              <a:buNone/>
            </a:pPr>
            <a:r>
              <a:rPr lang="en-US" altLang="zh-CN" dirty="0"/>
              <a:t>    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    *err = OS_ERR_TASK_WAITING;</a:t>
            </a:r>
          </a:p>
          <a:p>
            <a:pPr marL="0" indent="0">
              <a:buNone/>
            </a:pPr>
            <a:r>
              <a:rPr lang="en-US" altLang="zh-CN" dirty="0"/>
              <a:t>         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         }</a:t>
            </a:r>
          </a:p>
          <a:p>
            <a:pPr marL="0" indent="0">
              <a:buNone/>
            </a:pPr>
            <a:r>
              <a:rPr lang="en-US" altLang="zh-CN" dirty="0"/>
              <a:t>        case OS_DEL_ALWAYS:                                /* Always delete the semaphore              */</a:t>
            </a:r>
          </a:p>
          <a:p>
            <a:pPr marL="0" indent="0">
              <a:buNone/>
            </a:pPr>
            <a:r>
              <a:rPr lang="en-US" altLang="zh-CN" dirty="0"/>
              <a:t>             while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/* Ready ALL tasks waiting for semaphore 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OS_EventTaskRdy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, (void *)0, OS_STAT_SEM);</a:t>
            </a:r>
          </a:p>
          <a:p>
            <a:pPr marL="0" indent="0">
              <a:buNone/>
            </a:pPr>
            <a:r>
              <a:rPr lang="en-US" altLang="zh-CN" dirty="0"/>
              <a:t>             }</a:t>
            </a:r>
          </a:p>
          <a:p>
            <a:pPr marL="0" indent="0">
              <a:buNone/>
            </a:pPr>
            <a:r>
              <a:rPr lang="en-US" altLang="zh-CN" dirty="0"/>
              <a:t>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= OS_EVENT_TYPE_UNUSED;</a:t>
            </a:r>
          </a:p>
          <a:p>
            <a:pPr marL="0" indent="0">
              <a:buNone/>
            </a:pPr>
            <a:r>
              <a:rPr lang="en-US" altLang="zh-CN" dirty="0"/>
              <a:t>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</a:t>
            </a:r>
            <a:r>
              <a:rPr lang="en-US" altLang="zh-CN" dirty="0" err="1"/>
              <a:t>OSEventFreeList</a:t>
            </a:r>
            <a:r>
              <a:rPr lang="en-US" altLang="zh-CN" dirty="0"/>
              <a:t>;   /* Return Event Control Block to free list  */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5379868" y="1677880"/>
            <a:ext cx="834501" cy="11274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551720" y="1855433"/>
            <a:ext cx="2894121" cy="85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如果有事件在等待，那返回错误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7688062" y="3453414"/>
            <a:ext cx="656948" cy="11185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504807" y="3728621"/>
            <a:ext cx="3311371" cy="1180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如果是直接删掉选项，则把所有的等待任务都置为就绪态</a:t>
            </a:r>
          </a:p>
        </p:txBody>
      </p:sp>
    </p:spTree>
    <p:extLst>
      <p:ext uri="{BB962C8B-B14F-4D97-AF65-F5344CB8AC3E}">
        <p14:creationId xmlns:p14="http://schemas.microsoft.com/office/powerpoint/2010/main" val="1982784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7157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信号量相关函数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71577"/>
            <a:ext cx="11353800" cy="56053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     </a:t>
            </a:r>
            <a:r>
              <a:rPr lang="en-US" altLang="zh-CN" dirty="0" err="1"/>
              <a:t>OSEventFreeList</a:t>
            </a:r>
            <a:r>
              <a:rPr lang="en-US" altLang="zh-CN" dirty="0"/>
              <a:t>     = </a:t>
            </a:r>
            <a:r>
              <a:rPr lang="en-US" altLang="zh-CN" dirty="0" err="1"/>
              <a:t>pevent</a:t>
            </a:r>
            <a:r>
              <a:rPr lang="en-US" altLang="zh-CN" dirty="0"/>
              <a:t>;                 /* Get next free event control block        */</a:t>
            </a:r>
          </a:p>
          <a:p>
            <a:pPr marL="0" indent="0">
              <a:buNone/>
            </a:pPr>
            <a:r>
              <a:rPr lang="en-US" altLang="zh-CN" dirty="0"/>
              <a:t>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if (</a:t>
            </a:r>
            <a:r>
              <a:rPr lang="en-US" altLang="zh-CN" dirty="0" err="1"/>
              <a:t>tasks_waiting</a:t>
            </a:r>
            <a:r>
              <a:rPr lang="en-US" altLang="zh-CN" dirty="0"/>
              <a:t> == TRUE) {                  /* Reschedule only if task(s) were waiting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OS_Sched</a:t>
            </a:r>
            <a:r>
              <a:rPr lang="en-US" altLang="zh-CN" dirty="0"/>
              <a:t>();                               /* Find highest priority task ready to run  */</a:t>
            </a:r>
          </a:p>
          <a:p>
            <a:pPr marL="0" indent="0">
              <a:buNone/>
            </a:pPr>
            <a:r>
              <a:rPr lang="en-US" altLang="zh-CN" dirty="0"/>
              <a:t>             }</a:t>
            </a:r>
          </a:p>
          <a:p>
            <a:pPr marL="0" indent="0">
              <a:buNone/>
            </a:pPr>
            <a:r>
              <a:rPr lang="en-US" altLang="zh-CN" dirty="0"/>
              <a:t>             *err = OS_NO_ERR;</a:t>
            </a:r>
          </a:p>
          <a:p>
            <a:pPr marL="0" indent="0">
              <a:buNone/>
            </a:pPr>
            <a:r>
              <a:rPr lang="en-US" altLang="zh-CN" dirty="0"/>
              <a:t>             return ((OS_EVENT *)0);                       /* Semaphore has been deleted               */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default:</a:t>
            </a:r>
          </a:p>
          <a:p>
            <a:pPr marL="0" indent="0">
              <a:buNone/>
            </a:pPr>
            <a:r>
              <a:rPr lang="en-US" altLang="zh-CN" dirty="0"/>
              <a:t>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*err = OS_ERR_INVALID_OPT;</a:t>
            </a:r>
          </a:p>
          <a:p>
            <a:pPr marL="0" indent="0">
              <a:buNone/>
            </a:pPr>
            <a:r>
              <a:rPr lang="en-US" altLang="zh-CN" dirty="0"/>
              <a:t>     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4838330" y="1358283"/>
            <a:ext cx="506027" cy="95878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442012" y="1500326"/>
            <a:ext cx="3773009" cy="834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如果有等待任务被强制置为就绪态了，那必须执行一次调度</a:t>
            </a:r>
          </a:p>
        </p:txBody>
      </p:sp>
    </p:spTree>
    <p:extLst>
      <p:ext uri="{BB962C8B-B14F-4D97-AF65-F5344CB8AC3E}">
        <p14:creationId xmlns:p14="http://schemas.microsoft.com/office/powerpoint/2010/main" val="198278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7121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71216"/>
            <a:ext cx="11353800" cy="570574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OS_EVENT  *</a:t>
            </a:r>
            <a:r>
              <a:rPr lang="en-US" altLang="zh-CN" dirty="0" err="1"/>
              <a:t>OSMutexCreate</a:t>
            </a:r>
            <a:r>
              <a:rPr lang="en-US" altLang="zh-CN" dirty="0"/>
              <a:t> (INT8U </a:t>
            </a:r>
            <a:r>
              <a:rPr lang="en-US" altLang="zh-CN" dirty="0" err="1"/>
              <a:t>prio</a:t>
            </a:r>
            <a:r>
              <a:rPr lang="en-US" altLang="zh-CN" dirty="0"/>
              <a:t>, INT8U *err)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OS_EVENT  *</a:t>
            </a:r>
            <a:r>
              <a:rPr lang="en-US" altLang="zh-CN" dirty="0" err="1"/>
              <a:t>pevent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               /* See if called from ISR ...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OS_ERR_CREATE_ISR;                          /* ... can't CREATE </a:t>
            </a:r>
            <a:r>
              <a:rPr lang="en-US" altLang="zh-CN" dirty="0" err="1"/>
              <a:t>mutex</a:t>
            </a:r>
            <a:r>
              <a:rPr lang="en-US" altLang="zh-CN" dirty="0"/>
              <a:t> from an ISR       */</a:t>
            </a:r>
          </a:p>
          <a:p>
            <a:pPr marL="0" indent="0">
              <a:buNone/>
            </a:pPr>
            <a:r>
              <a:rPr lang="en-US" altLang="zh-CN" dirty="0"/>
              <a:t>        return ((OS_EVENT *)0);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#if OS_ARG_CHK_EN &gt; 0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prio</a:t>
            </a:r>
            <a:r>
              <a:rPr lang="en-US" altLang="zh-CN" dirty="0"/>
              <a:t> &gt;= OS_LOWEST_PRIO) {                          /* Validate PIP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OS_PRIO_INVALID;</a:t>
            </a:r>
          </a:p>
          <a:p>
            <a:pPr marL="0" indent="0">
              <a:buNone/>
            </a:pPr>
            <a:r>
              <a:rPr lang="en-US" altLang="zh-CN" dirty="0"/>
              <a:t>        return ((OS_EVENT *)0);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OSTCBPrioTbl</a:t>
            </a:r>
            <a:r>
              <a:rPr lang="en-US" altLang="zh-CN" dirty="0"/>
              <a:t>[</a:t>
            </a:r>
            <a:r>
              <a:rPr lang="en-US" altLang="zh-CN" dirty="0" err="1"/>
              <a:t>prio</a:t>
            </a:r>
            <a:r>
              <a:rPr lang="en-US" altLang="zh-CN" dirty="0"/>
              <a:t>] != (OS_TCB *)0) {               /* </a:t>
            </a:r>
            <a:r>
              <a:rPr lang="en-US" altLang="zh-CN" dirty="0" err="1"/>
              <a:t>Mutex</a:t>
            </a:r>
            <a:r>
              <a:rPr lang="en-US" altLang="zh-CN" dirty="0"/>
              <a:t> priority must not already exist    */</a:t>
            </a:r>
          </a:p>
          <a:p>
            <a:pPr marL="0" indent="0">
              <a:buNone/>
            </a:pPr>
            <a:r>
              <a:rPr lang="en-US" altLang="zh-CN" dirty="0"/>
              <a:t>        OS_EXIT_CRITICAL();                                /* Task already exist at priority ...       */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4030462" y="1278384"/>
            <a:ext cx="230820" cy="13050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80878" y="1526959"/>
            <a:ext cx="4589755" cy="9232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判断是否在中断中，中断中不能创建互斥量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4119239" y="2974019"/>
            <a:ext cx="399495" cy="14115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891596" y="3320249"/>
            <a:ext cx="3346882" cy="1056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判断互斥量提升优先级参数是否是有效的优先级</a:t>
            </a:r>
          </a:p>
        </p:txBody>
      </p:sp>
      <p:sp>
        <p:nvSpPr>
          <p:cNvPr id="8" name="矩形 7"/>
          <p:cNvSpPr/>
          <p:nvPr/>
        </p:nvSpPr>
        <p:spPr>
          <a:xfrm>
            <a:off x="5007006" y="5078027"/>
            <a:ext cx="577936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判断该优先级是否没用过</a:t>
            </a:r>
          </a:p>
        </p:txBody>
      </p:sp>
    </p:spTree>
    <p:extLst>
      <p:ext uri="{BB962C8B-B14F-4D97-AF65-F5344CB8AC3E}">
        <p14:creationId xmlns:p14="http://schemas.microsoft.com/office/powerpoint/2010/main" val="1326686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7121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71216"/>
            <a:ext cx="11353800" cy="5705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       *err = OS_PRIO_EXIST;                              /* ... inheritance priority                 */</a:t>
            </a:r>
          </a:p>
          <a:p>
            <a:pPr marL="0" indent="0">
              <a:buNone/>
            </a:pPr>
            <a:r>
              <a:rPr lang="en-US" altLang="zh-CN" dirty="0"/>
              <a:t>        return ((OS_EVENT *)0);                            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OSTCBPrioTbl</a:t>
            </a:r>
            <a:r>
              <a:rPr lang="en-US" altLang="zh-CN" dirty="0"/>
              <a:t>[</a:t>
            </a:r>
            <a:r>
              <a:rPr lang="en-US" altLang="zh-CN" dirty="0" err="1"/>
              <a:t>prio</a:t>
            </a:r>
            <a:r>
              <a:rPr lang="en-US" altLang="zh-CN" dirty="0"/>
              <a:t>] = (OS_TCB *)1;     /* Reserve the table entry      */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pevent</a:t>
            </a:r>
            <a:r>
              <a:rPr lang="en-US" altLang="zh-CN" dirty="0"/>
              <a:t>  = </a:t>
            </a:r>
            <a:r>
              <a:rPr lang="en-US" altLang="zh-CN" dirty="0" err="1"/>
              <a:t>OSEventFreeList</a:t>
            </a:r>
            <a:r>
              <a:rPr lang="en-US" altLang="zh-CN" dirty="0"/>
              <a:t>;     /* Get next free event control block */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/* See if an ECB was available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OSTCBPrioTbl</a:t>
            </a:r>
            <a:r>
              <a:rPr lang="en-US" altLang="zh-CN" dirty="0"/>
              <a:t>[</a:t>
            </a:r>
            <a:r>
              <a:rPr lang="en-US" altLang="zh-CN" dirty="0" err="1"/>
              <a:t>prio</a:t>
            </a:r>
            <a:r>
              <a:rPr lang="en-US" altLang="zh-CN" dirty="0"/>
              <a:t>] = (OS_TCB *)0; /* No, Release the table entry*/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*err= OS_ERR_PEVENT_NULL; /* No more event control blocks*/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6338656" y="3453414"/>
            <a:ext cx="346229" cy="21483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89072" y="3586579"/>
            <a:ext cx="4927107" cy="1740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判断取到的事件控制块是否是个空白</a:t>
            </a:r>
          </a:p>
        </p:txBody>
      </p:sp>
    </p:spTree>
    <p:extLst>
      <p:ext uri="{BB962C8B-B14F-4D97-AF65-F5344CB8AC3E}">
        <p14:creationId xmlns:p14="http://schemas.microsoft.com/office/powerpoint/2010/main" val="1326686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7121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71216"/>
            <a:ext cx="12091386" cy="5705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sz="2200" dirty="0"/>
              <a:t>}</a:t>
            </a:r>
          </a:p>
          <a:p>
            <a:pPr marL="0" indent="0"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OSEventFreeList</a:t>
            </a:r>
            <a:r>
              <a:rPr lang="en-US" altLang="zh-CN" sz="2200" dirty="0"/>
              <a:t> = (OS_EVENT *)</a:t>
            </a:r>
            <a:r>
              <a:rPr lang="en-US" altLang="zh-CN" sz="2200" dirty="0" err="1"/>
              <a:t>OSEventFreeList</a:t>
            </a:r>
            <a:r>
              <a:rPr lang="en-US" altLang="zh-CN" sz="2200" dirty="0"/>
              <a:t>-&gt;</a:t>
            </a:r>
            <a:r>
              <a:rPr lang="en-US" altLang="zh-CN" sz="2200" dirty="0" err="1"/>
              <a:t>OSEventPtr</a:t>
            </a:r>
            <a:r>
              <a:rPr lang="en-US" altLang="zh-CN" sz="2200" dirty="0"/>
              <a:t>;   /* Adjust the free list*/</a:t>
            </a:r>
          </a:p>
          <a:p>
            <a:pPr marL="0" indent="0">
              <a:buNone/>
            </a:pPr>
            <a:r>
              <a:rPr lang="en-US" altLang="zh-CN" sz="2200" dirty="0"/>
              <a:t>    OS_EXIT_CRITICAL();</a:t>
            </a:r>
          </a:p>
          <a:p>
            <a:pPr marL="0" indent="0"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pevent</a:t>
            </a:r>
            <a:r>
              <a:rPr lang="en-US" altLang="zh-CN" sz="2200" dirty="0"/>
              <a:t>-&gt;</a:t>
            </a:r>
            <a:r>
              <a:rPr lang="en-US" altLang="zh-CN" sz="2200" dirty="0" err="1"/>
              <a:t>OSEventType</a:t>
            </a:r>
            <a:r>
              <a:rPr lang="en-US" altLang="zh-CN" sz="2200" dirty="0"/>
              <a:t> = OS_EVENT_TYPE_MUTEX;</a:t>
            </a:r>
          </a:p>
          <a:p>
            <a:pPr marL="0" indent="0"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pevent</a:t>
            </a:r>
            <a:r>
              <a:rPr lang="en-US" altLang="zh-CN" sz="2200" dirty="0"/>
              <a:t>-&gt;</a:t>
            </a:r>
            <a:r>
              <a:rPr lang="en-US" altLang="zh-CN" sz="2200" dirty="0" err="1"/>
              <a:t>OSEventCnt</a:t>
            </a:r>
            <a:r>
              <a:rPr lang="en-US" altLang="zh-CN" sz="2200" dirty="0"/>
              <a:t>  = (</a:t>
            </a:r>
            <a:r>
              <a:rPr lang="en-US" altLang="zh-CN" sz="2200" dirty="0" err="1"/>
              <a:t>prio</a:t>
            </a:r>
            <a:r>
              <a:rPr lang="en-US" altLang="zh-CN" sz="2200" dirty="0"/>
              <a:t> &lt;&lt; 8) | OS_MUTEX_AVAILABLE;/* Resource is available                    */</a:t>
            </a:r>
          </a:p>
          <a:p>
            <a:pPr marL="0" indent="0"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pevent</a:t>
            </a:r>
            <a:r>
              <a:rPr lang="en-US" altLang="zh-CN" sz="2200" dirty="0"/>
              <a:t>-&gt;</a:t>
            </a:r>
            <a:r>
              <a:rPr lang="en-US" altLang="zh-CN" sz="2200" dirty="0" err="1"/>
              <a:t>OSEventPtr</a:t>
            </a:r>
            <a:r>
              <a:rPr lang="en-US" altLang="zh-CN" sz="2200" dirty="0"/>
              <a:t>  = (void *)0;                       /* No task owning the </a:t>
            </a:r>
            <a:r>
              <a:rPr lang="en-US" altLang="zh-CN" sz="2200" dirty="0" err="1"/>
              <a:t>mutex</a:t>
            </a:r>
            <a:r>
              <a:rPr lang="en-US" altLang="zh-CN" sz="2200" dirty="0"/>
              <a:t>                 */</a:t>
            </a:r>
          </a:p>
          <a:p>
            <a:pPr marL="0" indent="0"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OS_EventWaitListInit</a:t>
            </a:r>
            <a:r>
              <a:rPr lang="en-US" altLang="zh-CN" sz="2200" dirty="0"/>
              <a:t>(</a:t>
            </a:r>
            <a:r>
              <a:rPr lang="en-US" altLang="zh-CN" sz="2200" dirty="0" err="1"/>
              <a:t>pevent</a:t>
            </a:r>
            <a:r>
              <a:rPr lang="en-US" altLang="zh-CN" sz="2200" dirty="0"/>
              <a:t>);</a:t>
            </a:r>
          </a:p>
          <a:p>
            <a:pPr marL="0" indent="0">
              <a:buNone/>
            </a:pPr>
            <a:r>
              <a:rPr lang="en-US" altLang="zh-CN" sz="2200" dirty="0"/>
              <a:t>    *err                = OS_NO_ERR;</a:t>
            </a:r>
          </a:p>
          <a:p>
            <a:pPr marL="0" indent="0">
              <a:buNone/>
            </a:pPr>
            <a:r>
              <a:rPr lang="en-US" altLang="zh-CN" sz="2200" dirty="0"/>
              <a:t>    return (</a:t>
            </a:r>
            <a:r>
              <a:rPr lang="en-US" altLang="zh-CN" sz="2200" dirty="0" err="1"/>
              <a:t>pevent</a:t>
            </a:r>
            <a:r>
              <a:rPr lang="en-US" altLang="zh-CN" sz="2200" dirty="0"/>
              <a:t>);</a:t>
            </a:r>
          </a:p>
          <a:p>
            <a:pPr marL="0" indent="0">
              <a:buNone/>
            </a:pPr>
            <a:r>
              <a:rPr lang="en-US" altLang="zh-CN" sz="2200" dirty="0"/>
              <a:t>}</a:t>
            </a:r>
          </a:p>
          <a:p>
            <a:pPr marL="0" indent="0">
              <a:buNone/>
            </a:pP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4199138" y="471216"/>
            <a:ext cx="2547891" cy="45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702641" y="239697"/>
            <a:ext cx="4216893" cy="674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事件控制链表的表头指向下一个表项</a:t>
            </a:r>
          </a:p>
        </p:txBody>
      </p:sp>
      <p:sp>
        <p:nvSpPr>
          <p:cNvPr id="9" name="右大括号 8"/>
          <p:cNvSpPr/>
          <p:nvPr/>
        </p:nvSpPr>
        <p:spPr>
          <a:xfrm>
            <a:off x="7785717" y="1811045"/>
            <a:ext cx="754601" cy="25922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019713" y="2610035"/>
            <a:ext cx="2592279" cy="1127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初始化事件控制块为互斥量</a:t>
            </a:r>
          </a:p>
        </p:txBody>
      </p:sp>
    </p:spTree>
    <p:extLst>
      <p:ext uri="{BB962C8B-B14F-4D97-AF65-F5344CB8AC3E}">
        <p14:creationId xmlns:p14="http://schemas.microsoft.com/office/powerpoint/2010/main" val="132668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38200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68712"/>
            <a:ext cx="11353800" cy="621122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dirty="0"/>
              <a:t>void  </a:t>
            </a:r>
            <a:r>
              <a:rPr lang="en-US" altLang="zh-CN" dirty="0" err="1"/>
              <a:t>OSMutexPend</a:t>
            </a:r>
            <a:r>
              <a:rPr lang="en-US" altLang="zh-CN" dirty="0"/>
              <a:t> (OS_EVENT *</a:t>
            </a:r>
            <a:r>
              <a:rPr lang="en-US" altLang="zh-CN" dirty="0" err="1"/>
              <a:t>pevent</a:t>
            </a:r>
            <a:r>
              <a:rPr lang="en-US" altLang="zh-CN" dirty="0"/>
              <a:t>, INT16U timeout, INT8U *err)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INT8U      pip;                                        /* Priority Inheritance Priority (PIP)      */</a:t>
            </a:r>
          </a:p>
          <a:p>
            <a:pPr marL="0" indent="0">
              <a:buNone/>
            </a:pPr>
            <a:r>
              <a:rPr lang="en-US" altLang="zh-CN" dirty="0"/>
              <a:t>    INT8U      </a:t>
            </a:r>
            <a:r>
              <a:rPr lang="en-US" altLang="zh-CN" dirty="0" err="1"/>
              <a:t>mprio</a:t>
            </a:r>
            <a:r>
              <a:rPr lang="en-US" altLang="zh-CN" dirty="0"/>
              <a:t>;                                      /* </a:t>
            </a:r>
            <a:r>
              <a:rPr lang="en-US" altLang="zh-CN" dirty="0" err="1"/>
              <a:t>Mutex</a:t>
            </a:r>
            <a:r>
              <a:rPr lang="en-US" altLang="zh-CN" dirty="0"/>
              <a:t> owner priority                     */</a:t>
            </a:r>
          </a:p>
          <a:p>
            <a:pPr marL="0" indent="0">
              <a:buNone/>
            </a:pPr>
            <a:r>
              <a:rPr lang="en-US" altLang="zh-CN" dirty="0"/>
              <a:t>    BOOLEAN    </a:t>
            </a:r>
            <a:r>
              <a:rPr lang="en-US" altLang="zh-CN" dirty="0" err="1"/>
              <a:t>rdy</a:t>
            </a:r>
            <a:r>
              <a:rPr lang="en-US" altLang="zh-CN" dirty="0"/>
              <a:t>;                                        /* Flag indicating task was ready           */</a:t>
            </a:r>
          </a:p>
          <a:p>
            <a:pPr marL="0" indent="0">
              <a:buNone/>
            </a:pPr>
            <a:r>
              <a:rPr lang="en-US" altLang="zh-CN" dirty="0"/>
              <a:t>    OS_TCB    *</a:t>
            </a:r>
            <a:r>
              <a:rPr lang="en-US" altLang="zh-CN" dirty="0" err="1"/>
              <a:t>ptcb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           /* See if called from ISR ...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OS_ERR_PEND_ISR;             /* ... can't PEND from an ISR               */</a:t>
            </a:r>
          </a:p>
          <a:p>
            <a:pPr marL="0" indent="0">
              <a:buNone/>
            </a:pPr>
            <a:r>
              <a:rPr lang="en-US" altLang="zh-CN" dirty="0"/>
              <a:t>        return;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#if OS_ARG_CHK_EN &gt; 0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    /* Validate '</a:t>
            </a:r>
            <a:r>
              <a:rPr lang="en-US" altLang="zh-CN" dirty="0" err="1"/>
              <a:t>pevent</a:t>
            </a:r>
            <a:r>
              <a:rPr lang="en-US" altLang="zh-CN" dirty="0"/>
              <a:t>'    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OS_ERR_PEVENT_NULL;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4367814" y="3506680"/>
            <a:ext cx="532660" cy="12961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13538" y="3701988"/>
            <a:ext cx="4412202" cy="905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中断中不能申请互斥量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5397623" y="5468645"/>
            <a:ext cx="133165" cy="9499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34975" y="5619565"/>
            <a:ext cx="3959441" cy="102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判断事件的有效性</a:t>
            </a:r>
          </a:p>
        </p:txBody>
      </p:sp>
    </p:spTree>
    <p:extLst>
      <p:ext uri="{BB962C8B-B14F-4D97-AF65-F5344CB8AC3E}">
        <p14:creationId xmlns:p14="http://schemas.microsoft.com/office/powerpoint/2010/main" val="6445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351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93519"/>
            <a:ext cx="12192000" cy="636448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return;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!= OS_EVENT_TYPE_MUTEX) {      /* Validate event block type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OS_ERR_EVENT_TYPE;</a:t>
            </a:r>
          </a:p>
          <a:p>
            <a:pPr marL="0" indent="0">
              <a:buNone/>
            </a:pPr>
            <a:r>
              <a:rPr lang="en-US" altLang="zh-CN" dirty="0"/>
              <a:t>        return;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OS_ENTER_CRITICAL();                                   /* Is </a:t>
            </a:r>
            <a:r>
              <a:rPr lang="en-US" altLang="zh-CN" dirty="0" err="1"/>
              <a:t>Mutex</a:t>
            </a:r>
            <a:r>
              <a:rPr lang="en-US" altLang="zh-CN" dirty="0"/>
              <a:t> available?                      */</a:t>
            </a:r>
          </a:p>
          <a:p>
            <a:pPr marL="0" indent="0">
              <a:buNone/>
            </a:pPr>
            <a:r>
              <a:rPr lang="en-US" altLang="zh-CN" dirty="0"/>
              <a:t>    if ((INT8U)(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&amp; OS_MUTEX_KEEP_LOWER_8) == OS_MUTEX_AVAILABLE) {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&amp;= OS_MUTEX_KEEP_UPPER_8;       /* Yes, Acquire the resource            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|= OSTCBCur-&gt;</a:t>
            </a:r>
            <a:r>
              <a:rPr lang="en-US" altLang="zh-CN" dirty="0" err="1"/>
              <a:t>OSTCBPrio</a:t>
            </a:r>
            <a:r>
              <a:rPr lang="en-US" altLang="zh-CN" dirty="0"/>
              <a:t>;         /*      Save priority of owning task    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(void *)OSTCBCur;            /*      Point to owning task's OS_TCB       */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*err  = OS_NO_ERR;</a:t>
            </a:r>
          </a:p>
          <a:p>
            <a:pPr marL="0" indent="0">
              <a:buNone/>
            </a:pPr>
            <a:r>
              <a:rPr lang="en-US" altLang="zh-CN" dirty="0"/>
              <a:t>        return;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pip   = (INT8U)(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&gt;&gt; 8);                     /* No, Get PIP from </a:t>
            </a:r>
            <a:r>
              <a:rPr lang="en-US" altLang="zh-CN" dirty="0" err="1"/>
              <a:t>mutex</a:t>
            </a:r>
            <a:r>
              <a:rPr lang="en-US" altLang="zh-CN" dirty="0"/>
              <a:t>            */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mprio</a:t>
            </a:r>
            <a:r>
              <a:rPr lang="en-US" altLang="zh-CN" dirty="0"/>
              <a:t> = (INT8U)(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&amp; OS_MUTEX_KEEP_LOWER_8);  /*     Get priority of </a:t>
            </a:r>
            <a:r>
              <a:rPr lang="en-US" altLang="zh-CN" dirty="0" err="1"/>
              <a:t>mutex</a:t>
            </a:r>
            <a:r>
              <a:rPr lang="en-US" altLang="zh-CN" dirty="0"/>
              <a:t> owner   */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ptcb</a:t>
            </a:r>
            <a:r>
              <a:rPr lang="en-US" altLang="zh-CN" dirty="0"/>
              <a:t>  = (OS_TCB *)(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);                       /*     Point to TCB of </a:t>
            </a:r>
            <a:r>
              <a:rPr lang="en-US" altLang="zh-CN" dirty="0" err="1"/>
              <a:t>mutex</a:t>
            </a:r>
            <a:r>
              <a:rPr lang="en-US" altLang="zh-CN" dirty="0"/>
              <a:t> owner   */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6897950" y="1083076"/>
            <a:ext cx="621436" cy="96766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732450" y="1313895"/>
            <a:ext cx="2059620" cy="781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判断是不是互斥量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9641150" y="2823099"/>
            <a:ext cx="612559" cy="19442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413507" y="2769833"/>
            <a:ext cx="1778493" cy="1669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如果互斥量可用，则分配给该任务</a:t>
            </a:r>
          </a:p>
        </p:txBody>
      </p:sp>
    </p:spTree>
    <p:extLst>
      <p:ext uri="{BB962C8B-B14F-4D97-AF65-F5344CB8AC3E}">
        <p14:creationId xmlns:p14="http://schemas.microsoft.com/office/powerpoint/2010/main" val="64454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49275"/>
            <a:ext cx="11353800" cy="630872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OSTCBPrio</a:t>
            </a:r>
            <a:r>
              <a:rPr lang="en-US" altLang="zh-CN" dirty="0"/>
              <a:t> != pip &amp;&amp; </a:t>
            </a:r>
            <a:r>
              <a:rPr lang="en-US" altLang="zh-CN" dirty="0" err="1"/>
              <a:t>mprio</a:t>
            </a:r>
            <a:r>
              <a:rPr lang="en-US" altLang="zh-CN" dirty="0"/>
              <a:t> &gt; OSTCBCur-&gt;</a:t>
            </a:r>
            <a:r>
              <a:rPr lang="en-US" altLang="zh-CN" dirty="0" err="1"/>
              <a:t>OSTCBPrio</a:t>
            </a:r>
            <a:r>
              <a:rPr lang="en-US" altLang="zh-CN" dirty="0"/>
              <a:t>) {  /*     Need to promote </a:t>
            </a:r>
            <a:r>
              <a:rPr lang="en-US" altLang="zh-CN" dirty="0" err="1"/>
              <a:t>prio</a:t>
            </a:r>
            <a:r>
              <a:rPr lang="en-US" altLang="zh-CN" dirty="0"/>
              <a:t> of owner?*/</a:t>
            </a:r>
          </a:p>
          <a:p>
            <a:pPr marL="0" indent="0">
              <a:buNone/>
            </a:pPr>
            <a:r>
              <a:rPr lang="en-US" altLang="zh-CN" dirty="0"/>
              <a:t>        if ((</a:t>
            </a:r>
            <a:r>
              <a:rPr lang="en-US" altLang="zh-CN" dirty="0" err="1"/>
              <a:t>OSRdyTbl</a:t>
            </a:r>
            <a:r>
              <a:rPr lang="en-US" altLang="zh-CN" dirty="0"/>
              <a:t>[</a:t>
            </a:r>
            <a:r>
              <a:rPr lang="en-US" altLang="zh-CN" dirty="0" err="1"/>
              <a:t>ptcb</a:t>
            </a:r>
            <a:r>
              <a:rPr lang="en-US" altLang="zh-CN" dirty="0"/>
              <a:t>-&gt;OSTCBY] &amp; 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OSTCBBitX</a:t>
            </a:r>
            <a:r>
              <a:rPr lang="en-US" altLang="zh-CN" dirty="0"/>
              <a:t>) != 0x00) { /*     See if </a:t>
            </a:r>
            <a:r>
              <a:rPr lang="en-US" altLang="zh-CN" dirty="0" err="1"/>
              <a:t>mutex</a:t>
            </a:r>
            <a:r>
              <a:rPr lang="en-US" altLang="zh-CN" dirty="0"/>
              <a:t> owner is ready   */</a:t>
            </a:r>
          </a:p>
          <a:p>
            <a:pPr marL="0" indent="0">
              <a:buNone/>
            </a:pPr>
            <a:r>
              <a:rPr lang="en-US" altLang="zh-CN" dirty="0"/>
              <a:t>                                                                  /*     Yes, Remove owner from </a:t>
            </a:r>
            <a:r>
              <a:rPr lang="en-US" altLang="zh-CN" dirty="0" err="1"/>
              <a:t>Rdy</a:t>
            </a:r>
            <a:r>
              <a:rPr lang="en-US" altLang="zh-CN" dirty="0"/>
              <a:t> ...*/</a:t>
            </a:r>
          </a:p>
          <a:p>
            <a:pPr marL="0" indent="0">
              <a:buNone/>
            </a:pPr>
            <a:r>
              <a:rPr lang="en-US" altLang="zh-CN" dirty="0"/>
              <a:t>                                                                  /*          ... list at current </a:t>
            </a:r>
            <a:r>
              <a:rPr lang="en-US" altLang="zh-CN" dirty="0" err="1"/>
              <a:t>prio</a:t>
            </a:r>
            <a:r>
              <a:rPr lang="en-US" altLang="zh-CN" dirty="0"/>
              <a:t> */</a:t>
            </a:r>
          </a:p>
          <a:p>
            <a:pPr marL="0" indent="0">
              <a:buNone/>
            </a:pPr>
            <a:r>
              <a:rPr lang="en-US" altLang="zh-CN" dirty="0"/>
              <a:t>            if ((</a:t>
            </a:r>
            <a:r>
              <a:rPr lang="en-US" altLang="zh-CN" dirty="0" err="1"/>
              <a:t>OSRdyTbl</a:t>
            </a:r>
            <a:r>
              <a:rPr lang="en-US" altLang="zh-CN" dirty="0"/>
              <a:t>[</a:t>
            </a:r>
            <a:r>
              <a:rPr lang="en-US" altLang="zh-CN" dirty="0" err="1"/>
              <a:t>ptcb</a:t>
            </a:r>
            <a:r>
              <a:rPr lang="en-US" altLang="zh-CN" dirty="0"/>
              <a:t>-&gt;OSTCBY] &amp;= ~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OSTCBBitX</a:t>
            </a:r>
            <a:r>
              <a:rPr lang="en-US" altLang="zh-CN" dirty="0"/>
              <a:t>) == 0x00) {</a:t>
            </a:r>
          </a:p>
          <a:p>
            <a:pPr marL="0" indent="0">
              <a:buNone/>
            </a:pPr>
            <a:r>
              <a:rPr lang="en-US" altLang="zh-CN" dirty="0"/>
              <a:t>                </a:t>
            </a:r>
            <a:r>
              <a:rPr lang="en-US" altLang="zh-CN" dirty="0" err="1"/>
              <a:t>OSRdyGrp</a:t>
            </a:r>
            <a:r>
              <a:rPr lang="en-US" altLang="zh-CN" dirty="0"/>
              <a:t> &amp;= ~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OSTCBBitY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       }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rdy</a:t>
            </a:r>
            <a:r>
              <a:rPr lang="en-US" altLang="zh-CN" dirty="0"/>
              <a:t> = TRUE;</a:t>
            </a:r>
          </a:p>
          <a:p>
            <a:pPr marL="0" indent="0">
              <a:buNone/>
            </a:pPr>
            <a:r>
              <a:rPr lang="en-US" altLang="zh-CN" dirty="0"/>
              <a:t>        } else {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rdy</a:t>
            </a:r>
            <a:r>
              <a:rPr lang="en-US" altLang="zh-CN" dirty="0"/>
              <a:t> = FALSE;                                          /* No   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    }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OSTCBPrio</a:t>
            </a:r>
            <a:r>
              <a:rPr lang="en-US" altLang="zh-CN" dirty="0"/>
              <a:t>         = pip;                     /* Change owner task </a:t>
            </a:r>
            <a:r>
              <a:rPr lang="en-US" altLang="zh-CN" dirty="0" err="1"/>
              <a:t>prio</a:t>
            </a:r>
            <a:r>
              <a:rPr lang="en-US" altLang="zh-CN" dirty="0"/>
              <a:t> to PIP        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ptcb</a:t>
            </a:r>
            <a:r>
              <a:rPr lang="en-US" altLang="zh-CN" dirty="0"/>
              <a:t>-&gt;OSTCBY            = 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OSTCBPrio</a:t>
            </a:r>
            <a:r>
              <a:rPr lang="en-US" altLang="zh-CN" dirty="0"/>
              <a:t> &gt;&gt; 3;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OSTCBBitY</a:t>
            </a:r>
            <a:r>
              <a:rPr lang="en-US" altLang="zh-CN" dirty="0"/>
              <a:t>         = </a:t>
            </a:r>
            <a:r>
              <a:rPr lang="en-US" altLang="zh-CN" dirty="0" err="1"/>
              <a:t>OSMapTbl</a:t>
            </a:r>
            <a:r>
              <a:rPr lang="en-US" altLang="zh-CN" dirty="0"/>
              <a:t>[</a:t>
            </a:r>
            <a:r>
              <a:rPr lang="en-US" altLang="zh-CN" dirty="0" err="1"/>
              <a:t>ptcb</a:t>
            </a:r>
            <a:r>
              <a:rPr lang="en-US" altLang="zh-CN" dirty="0"/>
              <a:t>-&gt;OSTCBY];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ptcb</a:t>
            </a:r>
            <a:r>
              <a:rPr lang="en-US" altLang="zh-CN" dirty="0"/>
              <a:t>-&gt;OSTCBX            = 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OSTCBPrio</a:t>
            </a:r>
            <a:r>
              <a:rPr lang="en-US" altLang="zh-CN" dirty="0"/>
              <a:t> &amp; 0x07;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OSTCBBitX</a:t>
            </a:r>
            <a:r>
              <a:rPr lang="en-US" altLang="zh-CN" dirty="0"/>
              <a:t>         = </a:t>
            </a:r>
            <a:r>
              <a:rPr lang="en-US" altLang="zh-CN" dirty="0" err="1"/>
              <a:t>OSMapTbl</a:t>
            </a:r>
            <a:r>
              <a:rPr lang="en-US" altLang="zh-CN" dirty="0"/>
              <a:t>[</a:t>
            </a:r>
            <a:r>
              <a:rPr lang="en-US" altLang="zh-CN" dirty="0" err="1"/>
              <a:t>ptcb</a:t>
            </a:r>
            <a:r>
              <a:rPr lang="en-US" altLang="zh-CN" dirty="0"/>
              <a:t>-&gt;OSTCBX];</a:t>
            </a:r>
          </a:p>
          <a:p>
            <a:pPr marL="0" indent="0">
              <a:buNone/>
            </a:pPr>
            <a:r>
              <a:rPr lang="en-US" altLang="zh-CN" dirty="0"/>
              <a:t>        if (</a:t>
            </a:r>
            <a:r>
              <a:rPr lang="en-US" altLang="zh-CN" dirty="0" err="1"/>
              <a:t>rdy</a:t>
            </a:r>
            <a:r>
              <a:rPr lang="en-US" altLang="zh-CN" dirty="0"/>
              <a:t> == TRUE) {                                 /* If task was ready at owner's priority ...*/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OSRdyGrp</a:t>
            </a:r>
            <a:r>
              <a:rPr lang="en-US" altLang="zh-CN" dirty="0"/>
              <a:t>               |= 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OSTCBBitY</a:t>
            </a:r>
            <a:r>
              <a:rPr lang="en-US" altLang="zh-CN" dirty="0"/>
              <a:t>;     /* ... make it ready at new priority.       */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OSRdyTbl</a:t>
            </a:r>
            <a:r>
              <a:rPr lang="en-US" altLang="zh-CN" dirty="0"/>
              <a:t>[</a:t>
            </a:r>
            <a:r>
              <a:rPr lang="en-US" altLang="zh-CN" dirty="0" err="1"/>
              <a:t>ptcb</a:t>
            </a:r>
            <a:r>
              <a:rPr lang="en-US" altLang="zh-CN" dirty="0"/>
              <a:t>-&gt;OSTCBY] |= </a:t>
            </a:r>
            <a:r>
              <a:rPr lang="en-US" altLang="zh-CN" dirty="0" err="1"/>
              <a:t>ptcb</a:t>
            </a:r>
            <a:r>
              <a:rPr lang="en-US" altLang="zh-CN" dirty="0"/>
              <a:t>-&gt;</a:t>
            </a:r>
            <a:r>
              <a:rPr lang="en-US" altLang="zh-CN" dirty="0" err="1"/>
              <a:t>OSTCBBitX</a:t>
            </a:r>
            <a:r>
              <a:rPr lang="en-US" altLang="zh-CN" dirty="0"/>
              <a:t>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7954392" y="639192"/>
            <a:ext cx="532660" cy="169563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691239" y="949911"/>
            <a:ext cx="3107184" cy="1083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如果有优先级比占有互斥量任务低的任务来申请互斥量，则将它放入等待队列表中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8611340" y="3551068"/>
            <a:ext cx="630314" cy="28497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357064" y="4216893"/>
            <a:ext cx="2707689" cy="16778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如果有优先级更高的任务来申请互斥量，则把占有互斥量的任务优先级提升到设定的优先级，让他加速运行完毕</a:t>
            </a:r>
          </a:p>
        </p:txBody>
      </p:sp>
    </p:spTree>
    <p:extLst>
      <p:ext uri="{BB962C8B-B14F-4D97-AF65-F5344CB8AC3E}">
        <p14:creationId xmlns:p14="http://schemas.microsoft.com/office/powerpoint/2010/main" val="64454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4891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48914"/>
            <a:ext cx="11353800" cy="640908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}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OSTCBPrioTbl</a:t>
            </a:r>
            <a:r>
              <a:rPr lang="en-US" altLang="zh-CN" dirty="0"/>
              <a:t>[pip]       = (OS_TCB *)</a:t>
            </a:r>
            <a:r>
              <a:rPr lang="en-US" altLang="zh-CN" dirty="0" err="1"/>
              <a:t>ptcb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OSTCBCur-&gt;</a:t>
            </a:r>
            <a:r>
              <a:rPr lang="en-US" altLang="zh-CN" dirty="0" err="1"/>
              <a:t>OSTCBStat</a:t>
            </a:r>
            <a:r>
              <a:rPr lang="en-US" altLang="zh-CN" dirty="0"/>
              <a:t> |= OS_STAT_MUTEX;             /* </a:t>
            </a:r>
            <a:r>
              <a:rPr lang="en-US" altLang="zh-CN" dirty="0" err="1"/>
              <a:t>Mutex</a:t>
            </a:r>
            <a:r>
              <a:rPr lang="en-US" altLang="zh-CN" dirty="0"/>
              <a:t> not available, pend current task        */</a:t>
            </a:r>
          </a:p>
          <a:p>
            <a:pPr marL="0" indent="0">
              <a:buNone/>
            </a:pPr>
            <a:r>
              <a:rPr lang="en-US" altLang="zh-CN" dirty="0"/>
              <a:t>    OSTCBCur-&gt;</a:t>
            </a:r>
            <a:r>
              <a:rPr lang="en-US" altLang="zh-CN" dirty="0" err="1"/>
              <a:t>OSTCBDly</a:t>
            </a:r>
            <a:r>
              <a:rPr lang="en-US" altLang="zh-CN" dirty="0"/>
              <a:t>   = timeout;                   /* Store timeout in current task's TCB           */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OS_EventTaskWait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);                         /* Suspend task until event or timeout occurs    */</a:t>
            </a:r>
          </a:p>
          <a:p>
            <a:pPr marL="0" indent="0">
              <a:buNone/>
            </a:pPr>
            <a:r>
              <a:rPr lang="en-US" altLang="zh-CN" dirty="0"/>
              <a:t>    OS_EXIT_CRITICAL();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OS_Sched</a:t>
            </a:r>
            <a:r>
              <a:rPr lang="en-US" altLang="zh-CN" dirty="0"/>
              <a:t>();                                        /* Find next highest priority task ready         */</a:t>
            </a:r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  <a:p>
            <a:pPr marL="0" indent="0">
              <a:buNone/>
            </a:pPr>
            <a:r>
              <a:rPr lang="en-US" altLang="zh-CN" dirty="0"/>
              <a:t>    if (OSTCBCur-&gt;</a:t>
            </a:r>
            <a:r>
              <a:rPr lang="en-US" altLang="zh-CN" dirty="0" err="1"/>
              <a:t>OSTCBStat</a:t>
            </a:r>
            <a:r>
              <a:rPr lang="en-US" altLang="zh-CN" dirty="0"/>
              <a:t> &amp; OS_STAT_MUTEX) {        /* Must have timed out if still waiting for event*/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OS_EventTO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*err = OS_TIMEOUT;                            /* Indicate that we didn't get </a:t>
            </a:r>
            <a:r>
              <a:rPr lang="en-US" altLang="zh-CN" dirty="0" err="1"/>
              <a:t>mutex</a:t>
            </a:r>
            <a:r>
              <a:rPr lang="en-US" altLang="zh-CN" dirty="0"/>
              <a:t> within TO   */</a:t>
            </a:r>
          </a:p>
          <a:p>
            <a:pPr marL="0" indent="0">
              <a:buNone/>
            </a:pPr>
            <a:r>
              <a:rPr lang="en-US" altLang="zh-CN" dirty="0"/>
              <a:t>        return;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OSTCBCur-&gt;</a:t>
            </a:r>
            <a:r>
              <a:rPr lang="en-US" altLang="zh-CN" dirty="0" err="1"/>
              <a:t>OSTCBEventPtr</a:t>
            </a:r>
            <a:r>
              <a:rPr lang="en-US" altLang="zh-CN" dirty="0"/>
              <a:t> = (OS_EVENT *)0;</a:t>
            </a:r>
          </a:p>
          <a:p>
            <a:pPr marL="0" indent="0">
              <a:buNone/>
            </a:pPr>
            <a:r>
              <a:rPr lang="en-US" altLang="zh-CN" dirty="0"/>
              <a:t>    OS_EXIT_CRITICAL();</a:t>
            </a:r>
          </a:p>
          <a:p>
            <a:pPr marL="0" indent="0">
              <a:buNone/>
            </a:pPr>
            <a:r>
              <a:rPr lang="en-US" altLang="zh-CN" dirty="0"/>
              <a:t>    *err = OS_NO_ERR;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5681709" y="1384917"/>
            <a:ext cx="630314" cy="120736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445188" y="1544715"/>
            <a:ext cx="4554245" cy="985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将申请互斥量的任务放到等待队列中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5468645" y="3169328"/>
            <a:ext cx="497149" cy="22549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187736" y="3595456"/>
            <a:ext cx="4057095" cy="958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等待超时</a:t>
            </a:r>
          </a:p>
        </p:txBody>
      </p:sp>
    </p:spTree>
    <p:extLst>
      <p:ext uri="{BB962C8B-B14F-4D97-AF65-F5344CB8AC3E}">
        <p14:creationId xmlns:p14="http://schemas.microsoft.com/office/powerpoint/2010/main" val="64454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46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04670"/>
            <a:ext cx="12304450" cy="6353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INT8U  </a:t>
            </a:r>
            <a:r>
              <a:rPr lang="en-US" altLang="zh-CN" dirty="0" err="1"/>
              <a:t>OSMutexPost</a:t>
            </a:r>
            <a:r>
              <a:rPr lang="en-US" altLang="zh-CN" dirty="0"/>
              <a:t> (OS_EVENT *</a:t>
            </a:r>
            <a:r>
              <a:rPr lang="en-US" altLang="zh-CN" dirty="0" err="1"/>
              <a:t>pevent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INT8U      pip;                                     /* Priority inheritance priority */</a:t>
            </a:r>
          </a:p>
          <a:p>
            <a:pPr marL="0" indent="0">
              <a:buNone/>
            </a:pPr>
            <a:r>
              <a:rPr lang="en-US" altLang="zh-CN" dirty="0"/>
              <a:t>    INT8U      </a:t>
            </a:r>
            <a:r>
              <a:rPr lang="en-US" altLang="zh-CN" dirty="0" err="1"/>
              <a:t>prio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/* See if called from ISR ... */</a:t>
            </a:r>
          </a:p>
          <a:p>
            <a:pPr marL="0" indent="0">
              <a:buNone/>
            </a:pPr>
            <a:r>
              <a:rPr lang="en-US" altLang="zh-CN" dirty="0"/>
              <a:t>        return (OS_ERR_POST_ISR);      /* ... can't POST </a:t>
            </a:r>
            <a:r>
              <a:rPr lang="en-US" altLang="zh-CN" dirty="0" err="1"/>
              <a:t>mutex</a:t>
            </a:r>
            <a:r>
              <a:rPr lang="en-US" altLang="zh-CN" dirty="0"/>
              <a:t> from an ISR   */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#if OS_ARG_CHK_EN &gt; 0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         /* Validate '</a:t>
            </a:r>
            <a:r>
              <a:rPr lang="en-US" altLang="zh-CN" dirty="0" err="1"/>
              <a:t>pevent</a:t>
            </a:r>
            <a:r>
              <a:rPr lang="en-US" altLang="zh-CN" dirty="0"/>
              <a:t>'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    return (OS_ERR_PEVENT_NULL);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5406501" y="2698812"/>
            <a:ext cx="124287" cy="10475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46198" y="2512381"/>
            <a:ext cx="6090082" cy="1233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中断中，不能</a:t>
            </a:r>
            <a:r>
              <a:rPr lang="en-US" altLang="zh-CN" dirty="0"/>
              <a:t>post</a:t>
            </a:r>
            <a:endParaRPr lang="zh-CN" altLang="en-US" dirty="0"/>
          </a:p>
        </p:txBody>
      </p:sp>
      <p:sp>
        <p:nvSpPr>
          <p:cNvPr id="6" name="右大括号 5"/>
          <p:cNvSpPr/>
          <p:nvPr/>
        </p:nvSpPr>
        <p:spPr>
          <a:xfrm>
            <a:off x="6045693" y="4696287"/>
            <a:ext cx="390618" cy="15624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773662" y="4270159"/>
            <a:ext cx="5086905" cy="1944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是否是有效的事件</a:t>
            </a:r>
          </a:p>
        </p:txBody>
      </p:sp>
    </p:spTree>
    <p:extLst>
      <p:ext uri="{BB962C8B-B14F-4D97-AF65-F5344CB8AC3E}">
        <p14:creationId xmlns:p14="http://schemas.microsoft.com/office/powerpoint/2010/main" val="3965819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46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04670"/>
            <a:ext cx="11353800" cy="6353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    if (</a:t>
            </a:r>
            <a:r>
              <a:rPr lang="en-US" altLang="zh-CN" sz="2000" dirty="0" err="1"/>
              <a:t>pevent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OSEventType</a:t>
            </a:r>
            <a:r>
              <a:rPr lang="en-US" altLang="zh-CN" sz="2000" dirty="0"/>
              <a:t> != OS_EVENT_TYPE_MUTEX) { /* Validate event block type   */</a:t>
            </a:r>
          </a:p>
          <a:p>
            <a:pPr marL="0" indent="0">
              <a:buNone/>
            </a:pPr>
            <a:r>
              <a:rPr lang="en-US" altLang="zh-CN" sz="2000" dirty="0"/>
              <a:t>        return (OS_ERR_EVENT_TYPE);</a:t>
            </a:r>
          </a:p>
          <a:p>
            <a:pPr marL="0" indent="0">
              <a:buNone/>
            </a:pPr>
            <a:r>
              <a:rPr lang="en-US" altLang="zh-CN" sz="2000" dirty="0"/>
              <a:t>    }                                                 </a:t>
            </a:r>
          </a:p>
          <a:p>
            <a:pPr marL="0" indent="0">
              <a:buNone/>
            </a:pPr>
            <a:r>
              <a:rPr lang="en-US" altLang="zh-CN" sz="2000" dirty="0"/>
              <a:t>#</a:t>
            </a:r>
            <a:r>
              <a:rPr lang="en-US" altLang="zh-CN" sz="2000" dirty="0" err="1"/>
              <a:t>endif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OS_ENTER_CRITICAL();</a:t>
            </a:r>
          </a:p>
          <a:p>
            <a:pPr marL="0" indent="0">
              <a:buNone/>
            </a:pPr>
            <a:r>
              <a:rPr lang="en-US" altLang="zh-CN" sz="2000" dirty="0"/>
              <a:t>    pip  = (INT8U)(</a:t>
            </a:r>
            <a:r>
              <a:rPr lang="en-US" altLang="zh-CN" sz="2000" dirty="0" err="1"/>
              <a:t>pevent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OSEventCnt</a:t>
            </a:r>
            <a:r>
              <a:rPr lang="en-US" altLang="zh-CN" sz="2000" dirty="0"/>
              <a:t> &gt;&gt; 8);          /* Get priority inheritance priority of </a:t>
            </a:r>
            <a:r>
              <a:rPr lang="en-US" altLang="zh-CN" sz="2000" dirty="0" err="1"/>
              <a:t>mutex</a:t>
            </a:r>
            <a:r>
              <a:rPr lang="en-US" altLang="zh-CN" sz="2000" dirty="0"/>
              <a:t>    */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prio</a:t>
            </a:r>
            <a:r>
              <a:rPr lang="en-US" altLang="zh-CN" sz="2000" dirty="0"/>
              <a:t> = (INT8U)(</a:t>
            </a:r>
            <a:r>
              <a:rPr lang="en-US" altLang="zh-CN" sz="2000" dirty="0" err="1"/>
              <a:t>pevent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OSEventCnt</a:t>
            </a:r>
            <a:r>
              <a:rPr lang="en-US" altLang="zh-CN" sz="2000" dirty="0"/>
              <a:t> &amp; OS_MUTEX_KEEP_LOWER_8);  /* Get owner's original priority      */</a:t>
            </a:r>
          </a:p>
          <a:p>
            <a:pPr marL="0" indent="0">
              <a:buNone/>
            </a:pPr>
            <a:r>
              <a:rPr lang="en-US" altLang="zh-CN" sz="2000" dirty="0"/>
              <a:t>    if (OSTCBCur-&gt;</a:t>
            </a:r>
            <a:r>
              <a:rPr lang="en-US" altLang="zh-CN" sz="2000" dirty="0" err="1"/>
              <a:t>OSTCBPrio</a:t>
            </a:r>
            <a:r>
              <a:rPr lang="en-US" altLang="zh-CN" sz="2000" dirty="0"/>
              <a:t> != pip &amp;&amp; </a:t>
            </a:r>
          </a:p>
          <a:p>
            <a:pPr marL="0" indent="0">
              <a:buNone/>
            </a:pPr>
            <a:r>
              <a:rPr lang="en-US" altLang="zh-CN" sz="2000" dirty="0"/>
              <a:t>        OSTCBCur-&gt;</a:t>
            </a:r>
            <a:r>
              <a:rPr lang="en-US" altLang="zh-CN" sz="2000" dirty="0" err="1"/>
              <a:t>OSTCBPrio</a:t>
            </a:r>
            <a:r>
              <a:rPr lang="en-US" altLang="zh-CN" sz="2000" dirty="0"/>
              <a:t> != </a:t>
            </a:r>
            <a:r>
              <a:rPr lang="en-US" altLang="zh-CN" sz="2000" dirty="0" err="1"/>
              <a:t>prio</a:t>
            </a:r>
            <a:r>
              <a:rPr lang="en-US" altLang="zh-CN" sz="2000" dirty="0"/>
              <a:t>) {                /* See if posting task owns the MUTEX            */</a:t>
            </a:r>
          </a:p>
          <a:p>
            <a:pPr marL="0" indent="0">
              <a:buNone/>
            </a:pPr>
            <a:r>
              <a:rPr lang="en-US" altLang="zh-CN" sz="2000" dirty="0"/>
              <a:t>        OS_EXIT_CRITICAL();</a:t>
            </a:r>
          </a:p>
          <a:p>
            <a:pPr marL="0" indent="0">
              <a:buNone/>
            </a:pPr>
            <a:r>
              <a:rPr lang="en-US" altLang="zh-CN" sz="2000" dirty="0"/>
              <a:t>        return (OS_ERR_NOT_MUTEX_OWNER);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    if (OSTCBCur-&gt;</a:t>
            </a:r>
            <a:r>
              <a:rPr lang="en-US" altLang="zh-CN" sz="2000" dirty="0" err="1"/>
              <a:t>OSTCBPrio</a:t>
            </a:r>
            <a:r>
              <a:rPr lang="en-US" altLang="zh-CN" sz="2000" dirty="0"/>
              <a:t> == pip) {                 /* Did we have to raise current task's priority? */</a:t>
            </a:r>
          </a:p>
          <a:p>
            <a:pPr marL="0" indent="0">
              <a:buNone/>
            </a:pPr>
            <a:r>
              <a:rPr lang="en-US" altLang="zh-CN" sz="2000" dirty="0"/>
              <a:t>                                                      /* Yes, Return to original priority              */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7270812" y="504670"/>
            <a:ext cx="381739" cy="8269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803472" y="504670"/>
            <a:ext cx="3808520" cy="9157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是否是互斥量事件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7652551" y="2246914"/>
            <a:ext cx="1491448" cy="28319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036728" y="2551651"/>
            <a:ext cx="2645546" cy="26011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判断执行</a:t>
            </a:r>
            <a:r>
              <a:rPr lang="en-US" altLang="zh-CN" dirty="0"/>
              <a:t>post</a:t>
            </a:r>
            <a:r>
              <a:rPr lang="zh-CN" altLang="en-US" dirty="0"/>
              <a:t>的任务是否是占有互斥量的任务</a:t>
            </a:r>
          </a:p>
        </p:txBody>
      </p:sp>
      <p:sp>
        <p:nvSpPr>
          <p:cNvPr id="8" name="右大括号 7"/>
          <p:cNvSpPr/>
          <p:nvPr/>
        </p:nvSpPr>
        <p:spPr>
          <a:xfrm>
            <a:off x="4527612" y="5583560"/>
            <a:ext cx="213064" cy="8634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71495" y="5406501"/>
            <a:ext cx="6063449" cy="1003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是否因为竞争，曾经把优先级给提升了？</a:t>
            </a:r>
          </a:p>
        </p:txBody>
      </p:sp>
    </p:spTree>
    <p:extLst>
      <p:ext uri="{BB962C8B-B14F-4D97-AF65-F5344CB8AC3E}">
        <p14:creationId xmlns:p14="http://schemas.microsoft.com/office/powerpoint/2010/main" val="3965819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46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04670"/>
            <a:ext cx="11353800" cy="635333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dirty="0"/>
              <a:t>                                                      /*      Remove owner from ready list at 'pip'    */</a:t>
            </a:r>
          </a:p>
          <a:p>
            <a:pPr marL="0" indent="0">
              <a:buNone/>
            </a:pPr>
            <a:r>
              <a:rPr lang="en-US" altLang="zh-CN" dirty="0"/>
              <a:t>        if ((</a:t>
            </a:r>
            <a:r>
              <a:rPr lang="en-US" altLang="zh-CN" dirty="0" err="1"/>
              <a:t>OSRdyTbl</a:t>
            </a:r>
            <a:r>
              <a:rPr lang="en-US" altLang="zh-CN" dirty="0"/>
              <a:t>[OSTCBCur-&gt;OSTCBY] &amp;= ~OSTCBCur-&gt;</a:t>
            </a:r>
            <a:r>
              <a:rPr lang="en-US" altLang="zh-CN" dirty="0" err="1"/>
              <a:t>OSTCBBitX</a:t>
            </a:r>
            <a:r>
              <a:rPr lang="en-US" altLang="zh-CN" dirty="0"/>
              <a:t>) == 0) {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OSRdyGrp</a:t>
            </a:r>
            <a:r>
              <a:rPr lang="en-US" altLang="zh-CN" dirty="0"/>
              <a:t> &amp;= ~OSTCBCur-&gt;</a:t>
            </a:r>
            <a:r>
              <a:rPr lang="en-US" altLang="zh-CN" dirty="0" err="1"/>
              <a:t>OSTCBBitY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   }</a:t>
            </a:r>
          </a:p>
          <a:p>
            <a:pPr marL="0" indent="0">
              <a:buNone/>
            </a:pPr>
            <a:r>
              <a:rPr lang="en-US" altLang="zh-CN" dirty="0"/>
              <a:t>        OSTCBCur-&gt;</a:t>
            </a:r>
            <a:r>
              <a:rPr lang="en-US" altLang="zh-CN" dirty="0" err="1"/>
              <a:t>OSTCBPrio</a:t>
            </a:r>
            <a:r>
              <a:rPr lang="en-US" altLang="zh-CN" dirty="0"/>
              <a:t>         = </a:t>
            </a:r>
            <a:r>
              <a:rPr lang="en-US" altLang="zh-CN" dirty="0" err="1"/>
              <a:t>prio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   OSTCBCur-&gt;OSTCBY            = </a:t>
            </a:r>
            <a:r>
              <a:rPr lang="en-US" altLang="zh-CN" dirty="0" err="1"/>
              <a:t>prio</a:t>
            </a:r>
            <a:r>
              <a:rPr lang="en-US" altLang="zh-CN" dirty="0"/>
              <a:t> &gt;&gt; 3;</a:t>
            </a:r>
          </a:p>
          <a:p>
            <a:pPr marL="0" indent="0">
              <a:buNone/>
            </a:pPr>
            <a:r>
              <a:rPr lang="en-US" altLang="zh-CN" dirty="0"/>
              <a:t>        OSTCBCur-&gt;</a:t>
            </a:r>
            <a:r>
              <a:rPr lang="en-US" altLang="zh-CN" dirty="0" err="1"/>
              <a:t>OSTCBBitY</a:t>
            </a:r>
            <a:r>
              <a:rPr lang="en-US" altLang="zh-CN" dirty="0"/>
              <a:t>         = </a:t>
            </a:r>
            <a:r>
              <a:rPr lang="en-US" altLang="zh-CN" dirty="0" err="1"/>
              <a:t>OSMapTbl</a:t>
            </a:r>
            <a:r>
              <a:rPr lang="en-US" altLang="zh-CN" dirty="0"/>
              <a:t>[OSTCBCur-&gt;OSTCBY];</a:t>
            </a:r>
          </a:p>
          <a:p>
            <a:pPr marL="0" indent="0">
              <a:buNone/>
            </a:pPr>
            <a:r>
              <a:rPr lang="en-US" altLang="zh-CN" dirty="0"/>
              <a:t>        OSTCBCur-&gt;OSTCBX            = </a:t>
            </a:r>
            <a:r>
              <a:rPr lang="en-US" altLang="zh-CN" dirty="0" err="1"/>
              <a:t>prio</a:t>
            </a:r>
            <a:r>
              <a:rPr lang="en-US" altLang="zh-CN" dirty="0"/>
              <a:t> &amp; 0x07;</a:t>
            </a:r>
          </a:p>
          <a:p>
            <a:pPr marL="0" indent="0">
              <a:buNone/>
            </a:pPr>
            <a:r>
              <a:rPr lang="en-US" altLang="zh-CN" dirty="0"/>
              <a:t>        OSTCBCur-&gt;</a:t>
            </a:r>
            <a:r>
              <a:rPr lang="en-US" altLang="zh-CN" dirty="0" err="1"/>
              <a:t>OSTCBBitX</a:t>
            </a:r>
            <a:r>
              <a:rPr lang="en-US" altLang="zh-CN" dirty="0"/>
              <a:t>         = </a:t>
            </a:r>
            <a:r>
              <a:rPr lang="en-US" altLang="zh-CN" dirty="0" err="1"/>
              <a:t>OSMapTbl</a:t>
            </a:r>
            <a:r>
              <a:rPr lang="en-US" altLang="zh-CN" dirty="0"/>
              <a:t>[OSTCBCur-&gt;OSTCBX];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OSRdyGrp</a:t>
            </a:r>
            <a:r>
              <a:rPr lang="en-US" altLang="zh-CN" dirty="0"/>
              <a:t>                   |= OSTCBCur-&gt;</a:t>
            </a:r>
            <a:r>
              <a:rPr lang="en-US" altLang="zh-CN" dirty="0" err="1"/>
              <a:t>OSTCBBitY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OSRdyTbl</a:t>
            </a:r>
            <a:r>
              <a:rPr lang="en-US" altLang="zh-CN" dirty="0"/>
              <a:t>[OSTCBCur-&gt;OSTCBY] |= OSTCBCur-&gt;</a:t>
            </a:r>
            <a:r>
              <a:rPr lang="en-US" altLang="zh-CN" dirty="0" err="1"/>
              <a:t>OSTCBBitX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OSTCBPrioTbl</a:t>
            </a:r>
            <a:r>
              <a:rPr lang="en-US" altLang="zh-CN" dirty="0"/>
              <a:t>[</a:t>
            </a:r>
            <a:r>
              <a:rPr lang="en-US" altLang="zh-CN" dirty="0" err="1"/>
              <a:t>prio</a:t>
            </a:r>
            <a:r>
              <a:rPr lang="en-US" altLang="zh-CN" dirty="0"/>
              <a:t>]          = (OS_TCB *)OSTCBCur;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OSTCBPrioTbl</a:t>
            </a:r>
            <a:r>
              <a:rPr lang="en-US" altLang="zh-CN" dirty="0"/>
              <a:t>[pip] = (OS_TCB *)1;                  /* Reserve table entry                           */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10617693" y="870012"/>
            <a:ext cx="168676" cy="10120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839635" y="896645"/>
            <a:ext cx="1352365" cy="923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就绪表中清除临时提高到的优先级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9241654" y="1819922"/>
            <a:ext cx="577049" cy="34534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42990" y="2530136"/>
            <a:ext cx="2015231" cy="2077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恢复原来的优先级，并加入到就绪表中</a:t>
            </a:r>
          </a:p>
        </p:txBody>
      </p:sp>
    </p:spTree>
    <p:extLst>
      <p:ext uri="{BB962C8B-B14F-4D97-AF65-F5344CB8AC3E}">
        <p14:creationId xmlns:p14="http://schemas.microsoft.com/office/powerpoint/2010/main" val="3965819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46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04670"/>
            <a:ext cx="11353800" cy="635333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           /* Any task waiting for the </a:t>
            </a:r>
            <a:r>
              <a:rPr lang="en-US" altLang="zh-CN" dirty="0" err="1"/>
              <a:t>mutex</a:t>
            </a:r>
            <a:r>
              <a:rPr lang="en-US" altLang="zh-CN" dirty="0"/>
              <a:t>?               */</a:t>
            </a:r>
          </a:p>
          <a:p>
            <a:pPr marL="0" indent="0">
              <a:buNone/>
            </a:pPr>
            <a:r>
              <a:rPr lang="en-US" altLang="zh-CN" dirty="0"/>
              <a:t>                                                      /* Yes, Make HPT waiting for </a:t>
            </a:r>
            <a:r>
              <a:rPr lang="en-US" altLang="zh-CN" dirty="0" err="1"/>
              <a:t>mutex</a:t>
            </a:r>
            <a:r>
              <a:rPr lang="en-US" altLang="zh-CN" dirty="0"/>
              <a:t> ready     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prio</a:t>
            </a:r>
            <a:r>
              <a:rPr lang="en-US" altLang="zh-CN" dirty="0"/>
              <a:t>= </a:t>
            </a:r>
            <a:r>
              <a:rPr lang="en-US" altLang="zh-CN" dirty="0" err="1"/>
              <a:t>OS_EventTaskRdy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, (void *)0, OS_STAT_MUTEX);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&amp;= OS_MUTEX_KEEP_UPPER_8;  </a:t>
            </a:r>
            <a:r>
              <a:rPr lang="en-US" altLang="zh-CN" sz="1000" dirty="0"/>
              <a:t>/* Save priority of </a:t>
            </a:r>
            <a:r>
              <a:rPr lang="en-US" altLang="zh-CN" sz="1000" dirty="0" err="1"/>
              <a:t>mutex's</a:t>
            </a:r>
            <a:r>
              <a:rPr lang="en-US" altLang="zh-CN" sz="1000" dirty="0"/>
              <a:t> new owner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|= </a:t>
            </a:r>
            <a:r>
              <a:rPr lang="en-US" altLang="zh-CN" dirty="0" err="1"/>
              <a:t>prio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</a:t>
            </a:r>
            <a:r>
              <a:rPr lang="en-US" altLang="zh-CN" dirty="0" err="1"/>
              <a:t>OSTCBPrioTbl</a:t>
            </a:r>
            <a:r>
              <a:rPr lang="en-US" altLang="zh-CN" dirty="0"/>
              <a:t>[</a:t>
            </a:r>
            <a:r>
              <a:rPr lang="en-US" altLang="zh-CN" dirty="0" err="1"/>
              <a:t>prio</a:t>
            </a:r>
            <a:r>
              <a:rPr lang="en-US" altLang="zh-CN" dirty="0"/>
              <a:t>];     /*      Link to </a:t>
            </a:r>
            <a:r>
              <a:rPr lang="en-US" altLang="zh-CN" dirty="0" err="1"/>
              <a:t>mutex</a:t>
            </a:r>
            <a:r>
              <a:rPr lang="en-US" altLang="zh-CN" dirty="0"/>
              <a:t> owner's OS_TCB             */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OS_Sched</a:t>
            </a:r>
            <a:r>
              <a:rPr lang="en-US" altLang="zh-CN" dirty="0"/>
              <a:t>();                                   /*      Find highest priority task ready to run  */</a:t>
            </a:r>
          </a:p>
          <a:p>
            <a:pPr marL="0" indent="0">
              <a:buNone/>
            </a:pPr>
            <a:r>
              <a:rPr lang="en-US" altLang="zh-CN" dirty="0"/>
              <a:t>        return (OS_NO_ERR);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|= OS_MUTEX_AVAILABLE;         /* No,  </a:t>
            </a:r>
            <a:r>
              <a:rPr lang="en-US" altLang="zh-CN" dirty="0" err="1"/>
              <a:t>Mutex</a:t>
            </a:r>
            <a:r>
              <a:rPr lang="en-US" altLang="zh-CN" dirty="0"/>
              <a:t> is now available                   */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(void *)0;</a:t>
            </a:r>
          </a:p>
          <a:p>
            <a:pPr marL="0" indent="0">
              <a:buNone/>
            </a:pPr>
            <a:r>
              <a:rPr lang="en-US" altLang="zh-CN" dirty="0"/>
              <a:t>    OS_EXIT_CRITICAL();</a:t>
            </a:r>
          </a:p>
          <a:p>
            <a:pPr marL="0" indent="0">
              <a:buNone/>
            </a:pPr>
            <a:r>
              <a:rPr lang="en-US" altLang="zh-CN" dirty="0"/>
              <a:t>    return (OS_NO_ERR);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43021" y="504670"/>
            <a:ext cx="5872579" cy="6227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有任务正在等待互斥量？</a:t>
            </a:r>
          </a:p>
        </p:txBody>
      </p:sp>
      <p:sp>
        <p:nvSpPr>
          <p:cNvPr id="5" name="矩形 4"/>
          <p:cNvSpPr/>
          <p:nvPr/>
        </p:nvSpPr>
        <p:spPr>
          <a:xfrm>
            <a:off x="8105313" y="1127464"/>
            <a:ext cx="3009530" cy="4172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选出优先级最高的等待任务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7057748" y="1544715"/>
            <a:ext cx="230819" cy="13582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368466" y="1740023"/>
            <a:ext cx="3870664" cy="8522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互斥量分配给该任务</a:t>
            </a:r>
          </a:p>
        </p:txBody>
      </p:sp>
      <p:sp>
        <p:nvSpPr>
          <p:cNvPr id="8" name="矩形 7"/>
          <p:cNvSpPr/>
          <p:nvPr/>
        </p:nvSpPr>
        <p:spPr>
          <a:xfrm>
            <a:off x="4163627" y="2902998"/>
            <a:ext cx="6351973" cy="807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执行一次调度</a:t>
            </a:r>
          </a:p>
        </p:txBody>
      </p:sp>
      <p:sp>
        <p:nvSpPr>
          <p:cNvPr id="9" name="右大括号 8"/>
          <p:cNvSpPr/>
          <p:nvPr/>
        </p:nvSpPr>
        <p:spPr>
          <a:xfrm>
            <a:off x="6276513" y="4403324"/>
            <a:ext cx="195308" cy="15092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613863" y="4403324"/>
            <a:ext cx="5406501" cy="1136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没有任务等待，则把互斥量置为初始状态（可用状态）</a:t>
            </a:r>
          </a:p>
        </p:txBody>
      </p:sp>
    </p:spTree>
    <p:extLst>
      <p:ext uri="{BB962C8B-B14F-4D97-AF65-F5344CB8AC3E}">
        <p14:creationId xmlns:p14="http://schemas.microsoft.com/office/powerpoint/2010/main" val="3965819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57561"/>
            <a:ext cx="11353800" cy="561940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#if OS_MUTEX_DEL_EN</a:t>
            </a:r>
          </a:p>
          <a:p>
            <a:pPr marL="0" indent="0">
              <a:buNone/>
            </a:pPr>
            <a:r>
              <a:rPr lang="en-US" altLang="zh-CN" dirty="0"/>
              <a:t>OS_EVENT  *</a:t>
            </a:r>
            <a:r>
              <a:rPr lang="en-US" altLang="zh-CN" dirty="0" err="1"/>
              <a:t>OSMutexDel</a:t>
            </a:r>
            <a:r>
              <a:rPr lang="en-US" altLang="zh-CN" dirty="0"/>
              <a:t> (OS_EVENT *</a:t>
            </a:r>
            <a:r>
              <a:rPr lang="en-US" altLang="zh-CN" dirty="0" err="1"/>
              <a:t>pevent</a:t>
            </a:r>
            <a:r>
              <a:rPr lang="en-US" altLang="zh-CN" dirty="0"/>
              <a:t>, INT8U opt, INT8U *err)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#if OS_CRITICAL_METHOD == 3                      /* Allocate storage for CPU status register           */</a:t>
            </a:r>
          </a:p>
          <a:p>
            <a:pPr marL="0" indent="0">
              <a:buNone/>
            </a:pPr>
            <a:r>
              <a:rPr lang="en-US" altLang="zh-CN" dirty="0"/>
              <a:t>    OS_CPU_SR  </a:t>
            </a:r>
            <a:r>
              <a:rPr lang="en-US" altLang="zh-CN" dirty="0" err="1"/>
              <a:t>cpu_sr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r>
              <a:rPr lang="en-US" altLang="zh-CN" dirty="0"/>
              <a:t>    </a:t>
            </a:r>
          </a:p>
          <a:p>
            <a:pPr marL="0" indent="0">
              <a:buNone/>
            </a:pPr>
            <a:r>
              <a:rPr lang="en-US" altLang="zh-CN" dirty="0"/>
              <a:t>    BOOLEAN    </a:t>
            </a:r>
            <a:r>
              <a:rPr lang="en-US" altLang="zh-CN" dirty="0" err="1"/>
              <a:t>tasks_waiting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INT8U      pip;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               /* See if called from ISR ...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OS_ERR_DEL_ISR;                             /* ... can't DELETE from an ISR             */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#if OS_ARG_CHK_EN &gt; 0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              /* Validate '</a:t>
            </a:r>
            <a:r>
              <a:rPr lang="en-US" altLang="zh-CN" dirty="0" err="1"/>
              <a:t>pevent</a:t>
            </a:r>
            <a:r>
              <a:rPr lang="en-US" altLang="zh-CN" dirty="0"/>
              <a:t>'    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OS_ERR_PEVENT_NULL;</a:t>
            </a:r>
          </a:p>
        </p:txBody>
      </p:sp>
      <p:sp>
        <p:nvSpPr>
          <p:cNvPr id="4" name="矩形 3"/>
          <p:cNvSpPr/>
          <p:nvPr/>
        </p:nvSpPr>
        <p:spPr>
          <a:xfrm>
            <a:off x="4199138" y="3586579"/>
            <a:ext cx="5974672" cy="1171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中断中，不能删除互斥量</a:t>
            </a:r>
          </a:p>
        </p:txBody>
      </p:sp>
      <p:sp>
        <p:nvSpPr>
          <p:cNvPr id="5" name="矩形 4"/>
          <p:cNvSpPr/>
          <p:nvPr/>
        </p:nvSpPr>
        <p:spPr>
          <a:xfrm>
            <a:off x="4341181" y="4989250"/>
            <a:ext cx="5965794" cy="1038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判断是否是有效的事件</a:t>
            </a:r>
          </a:p>
        </p:txBody>
      </p:sp>
    </p:spTree>
    <p:extLst>
      <p:ext uri="{BB962C8B-B14F-4D97-AF65-F5344CB8AC3E}">
        <p14:creationId xmlns:p14="http://schemas.microsoft.com/office/powerpoint/2010/main" val="2133298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57561"/>
            <a:ext cx="11353800" cy="561940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return ((OS_EVENT *)0);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!= OS_EVENT_TYPE_MUTEX) {      /* Validate event block type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OS_ERR_EVENT_TYPE;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                /* See if any tasks waiting on </a:t>
            </a:r>
            <a:r>
              <a:rPr lang="en-US" altLang="zh-CN" dirty="0" err="1"/>
              <a:t>mutex</a:t>
            </a:r>
            <a:r>
              <a:rPr lang="en-US" altLang="zh-CN" dirty="0"/>
              <a:t>    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tasks_waiting</a:t>
            </a:r>
            <a:r>
              <a:rPr lang="en-US" altLang="zh-CN" dirty="0"/>
              <a:t> = TRUE;                              /* Yes         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} else {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tasks_waiting</a:t>
            </a:r>
            <a:r>
              <a:rPr lang="en-US" altLang="zh-CN" dirty="0"/>
              <a:t> = FALSE;                             /* No          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switch (opt) {</a:t>
            </a:r>
          </a:p>
          <a:p>
            <a:pPr marL="0" indent="0">
              <a:buNone/>
            </a:pPr>
            <a:r>
              <a:rPr lang="en-US" altLang="zh-CN" dirty="0"/>
              <a:t>        case OS_DEL_NO_PEND:                               /* Delete </a:t>
            </a:r>
            <a:r>
              <a:rPr lang="en-US" altLang="zh-CN" dirty="0" err="1"/>
              <a:t>mutex</a:t>
            </a:r>
            <a:r>
              <a:rPr lang="en-US" altLang="zh-CN" dirty="0"/>
              <a:t> only if no task waiting     */</a:t>
            </a:r>
          </a:p>
          <a:p>
            <a:pPr marL="0" indent="0">
              <a:buNone/>
            </a:pPr>
            <a:r>
              <a:rPr lang="en-US" altLang="zh-CN" dirty="0"/>
              <a:t>             if (</a:t>
            </a:r>
            <a:r>
              <a:rPr lang="en-US" altLang="zh-CN" dirty="0" err="1"/>
              <a:t>tasks_waiting</a:t>
            </a:r>
            <a:r>
              <a:rPr lang="en-US" altLang="zh-CN" dirty="0"/>
              <a:t> == FALSE) {</a:t>
            </a:r>
          </a:p>
          <a:p>
            <a:pPr marL="0" indent="0">
              <a:buNone/>
            </a:pPr>
            <a:r>
              <a:rPr lang="en-US" altLang="zh-CN" dirty="0"/>
              <a:t>                 pip= (INT8U)(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&gt;&gt; 8);</a:t>
            </a:r>
          </a:p>
        </p:txBody>
      </p:sp>
      <p:sp>
        <p:nvSpPr>
          <p:cNvPr id="4" name="矩形 3"/>
          <p:cNvSpPr/>
          <p:nvPr/>
        </p:nvSpPr>
        <p:spPr>
          <a:xfrm>
            <a:off x="6036816" y="976544"/>
            <a:ext cx="5024761" cy="1056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是否是互斥量类型</a:t>
            </a:r>
          </a:p>
        </p:txBody>
      </p:sp>
      <p:sp>
        <p:nvSpPr>
          <p:cNvPr id="5" name="矩形 4"/>
          <p:cNvSpPr/>
          <p:nvPr/>
        </p:nvSpPr>
        <p:spPr>
          <a:xfrm>
            <a:off x="4660777" y="3000652"/>
            <a:ext cx="6152225" cy="14914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是否有任务在等待中</a:t>
            </a:r>
          </a:p>
        </p:txBody>
      </p:sp>
      <p:sp>
        <p:nvSpPr>
          <p:cNvPr id="6" name="矩形 5"/>
          <p:cNvSpPr/>
          <p:nvPr/>
        </p:nvSpPr>
        <p:spPr>
          <a:xfrm>
            <a:off x="4660777" y="4811697"/>
            <a:ext cx="5948039" cy="497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删除选项为“没有任何等待任务再删除”</a:t>
            </a:r>
          </a:p>
        </p:txBody>
      </p:sp>
    </p:spTree>
    <p:extLst>
      <p:ext uri="{BB962C8B-B14F-4D97-AF65-F5344CB8AC3E}">
        <p14:creationId xmlns:p14="http://schemas.microsoft.com/office/powerpoint/2010/main" val="2133298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57561"/>
            <a:ext cx="11353800" cy="561940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OSTCBPrioTbl</a:t>
            </a:r>
            <a:r>
              <a:rPr lang="en-US" altLang="zh-CN" dirty="0"/>
              <a:t>[pip]   = (OS_TCB *)0;        /* Free up the PIP                        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= OS_EVENT_TYPE_UNUSED;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</a:t>
            </a:r>
            <a:r>
              <a:rPr lang="en-US" altLang="zh-CN" dirty="0" err="1"/>
              <a:t>OSEventFreeList</a:t>
            </a:r>
            <a:r>
              <a:rPr lang="en-US" altLang="zh-CN" dirty="0"/>
              <a:t>;    /* Return Event Control Block to free list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OSEventFreeList</a:t>
            </a:r>
            <a:r>
              <a:rPr lang="en-US" altLang="zh-CN" dirty="0"/>
              <a:t>     = </a:t>
            </a:r>
            <a:r>
              <a:rPr lang="en-US" altLang="zh-CN" dirty="0" err="1"/>
              <a:t>pevent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    *err = OS_NO_ERR;</a:t>
            </a:r>
          </a:p>
          <a:p>
            <a:pPr marL="0" indent="0">
              <a:buNone/>
            </a:pPr>
            <a:r>
              <a:rPr lang="en-US" altLang="zh-CN" dirty="0"/>
              <a:t>                 return ((OS_EVENT *)0);                   /* </a:t>
            </a:r>
            <a:r>
              <a:rPr lang="en-US" altLang="zh-CN" dirty="0" err="1"/>
              <a:t>Mutex</a:t>
            </a:r>
            <a:r>
              <a:rPr lang="en-US" altLang="zh-CN" dirty="0"/>
              <a:t> has been deleted                   */</a:t>
            </a:r>
          </a:p>
          <a:p>
            <a:pPr marL="0" indent="0">
              <a:buNone/>
            </a:pPr>
            <a:r>
              <a:rPr lang="en-US" altLang="zh-CN" dirty="0"/>
              <a:t>             } else {</a:t>
            </a:r>
          </a:p>
          <a:p>
            <a:pPr marL="0" indent="0">
              <a:buNone/>
            </a:pPr>
            <a:r>
              <a:rPr lang="en-US" altLang="zh-CN" dirty="0"/>
              <a:t>    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    *err = OS_ERR_TASK_WAITING;</a:t>
            </a:r>
          </a:p>
          <a:p>
            <a:pPr marL="0" indent="0">
              <a:buNone/>
            </a:pPr>
            <a:r>
              <a:rPr lang="en-US" altLang="zh-CN" dirty="0"/>
              <a:t>         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         }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case OS_DEL_ALWAYS:                                /* Always delete the </a:t>
            </a:r>
            <a:r>
              <a:rPr lang="en-US" altLang="zh-CN" dirty="0" err="1"/>
              <a:t>mutex</a:t>
            </a:r>
            <a:r>
              <a:rPr lang="en-US" altLang="zh-CN" dirty="0"/>
              <a:t>                  */</a:t>
            </a:r>
          </a:p>
          <a:p>
            <a:pPr marL="0" indent="0">
              <a:buNone/>
            </a:pPr>
            <a:r>
              <a:rPr lang="en-US" altLang="zh-CN" dirty="0"/>
              <a:t>             while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    /* Ready ALL tasks waiting for </a:t>
            </a:r>
            <a:r>
              <a:rPr lang="en-US" altLang="zh-CN" dirty="0" err="1"/>
              <a:t>mutex</a:t>
            </a:r>
            <a:r>
              <a:rPr lang="en-US" altLang="zh-CN" dirty="0"/>
              <a:t>      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OS_EventTaskRdy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, (void *)0, OS_STAT_MUTEX);</a:t>
            </a:r>
          </a:p>
          <a:p>
            <a:pPr marL="0" indent="0">
              <a:buNone/>
            </a:pPr>
            <a:r>
              <a:rPr lang="en-US" altLang="zh-CN" dirty="0"/>
              <a:t>             }</a:t>
            </a:r>
          </a:p>
        </p:txBody>
      </p:sp>
    </p:spTree>
    <p:extLst>
      <p:ext uri="{BB962C8B-B14F-4D97-AF65-F5344CB8AC3E}">
        <p14:creationId xmlns:p14="http://schemas.microsoft.com/office/powerpoint/2010/main" val="2133298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4963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互斥量相关函数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57561"/>
            <a:ext cx="11353800" cy="561940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/>
              <a:t>             </a:t>
            </a:r>
            <a:r>
              <a:rPr lang="en-US" altLang="zh-CN" dirty="0"/>
              <a:t>pip                 = (INT8U)(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&gt;&gt; 8);</a:t>
            </a:r>
          </a:p>
          <a:p>
            <a:pPr marL="0" indent="0">
              <a:buNone/>
            </a:pPr>
            <a:r>
              <a:rPr lang="en-US" altLang="zh-CN" dirty="0"/>
              <a:t>             </a:t>
            </a:r>
            <a:r>
              <a:rPr lang="en-US" altLang="zh-CN" dirty="0" err="1"/>
              <a:t>OSTCBPrioTbl</a:t>
            </a:r>
            <a:r>
              <a:rPr lang="en-US" altLang="zh-CN" dirty="0"/>
              <a:t>[pip]   = (OS_TCB *)0;            /* Free up the PIP                          */</a:t>
            </a:r>
          </a:p>
          <a:p>
            <a:pPr marL="0" indent="0">
              <a:buNone/>
            </a:pPr>
            <a:r>
              <a:rPr lang="en-US" altLang="zh-CN" dirty="0"/>
              <a:t>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= OS_EVENT_TYPE_UNUSED;</a:t>
            </a:r>
          </a:p>
          <a:p>
            <a:pPr marL="0" indent="0">
              <a:buNone/>
            </a:pPr>
            <a:r>
              <a:rPr lang="en-US" altLang="zh-CN" dirty="0"/>
              <a:t>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</a:t>
            </a:r>
            <a:r>
              <a:rPr lang="en-US" altLang="zh-CN" dirty="0" err="1"/>
              <a:t>OSEventFreeList</a:t>
            </a:r>
            <a:r>
              <a:rPr lang="en-US" altLang="zh-CN" dirty="0"/>
              <a:t>;        /* Return Event Control Block to free list  */</a:t>
            </a:r>
          </a:p>
          <a:p>
            <a:pPr marL="0" indent="0">
              <a:buNone/>
            </a:pPr>
            <a:r>
              <a:rPr lang="en-US" altLang="zh-CN" dirty="0"/>
              <a:t>             </a:t>
            </a:r>
            <a:r>
              <a:rPr lang="en-US" altLang="zh-CN" dirty="0" err="1"/>
              <a:t>OSEventFreeList</a:t>
            </a:r>
            <a:r>
              <a:rPr lang="en-US" altLang="zh-CN" dirty="0"/>
              <a:t>     = </a:t>
            </a:r>
            <a:r>
              <a:rPr lang="en-US" altLang="zh-CN" dirty="0" err="1"/>
              <a:t>pevent</a:t>
            </a:r>
            <a:r>
              <a:rPr lang="en-US" altLang="zh-CN" dirty="0"/>
              <a:t>;                 /* Get next free event control block        */</a:t>
            </a:r>
          </a:p>
          <a:p>
            <a:pPr marL="0" indent="0">
              <a:buNone/>
            </a:pPr>
            <a:r>
              <a:rPr lang="en-US" altLang="zh-CN" dirty="0"/>
              <a:t>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if (</a:t>
            </a:r>
            <a:r>
              <a:rPr lang="en-US" altLang="zh-CN" dirty="0" err="1"/>
              <a:t>tasks_waiting</a:t>
            </a:r>
            <a:r>
              <a:rPr lang="en-US" altLang="zh-CN" dirty="0"/>
              <a:t> == TRUE) {                  /* Reschedule only if task(s) were waiting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OS_Sched</a:t>
            </a:r>
            <a:r>
              <a:rPr lang="en-US" altLang="zh-CN" dirty="0"/>
              <a:t>();                               /* Find highest priority task ready to run  */</a:t>
            </a:r>
          </a:p>
          <a:p>
            <a:pPr marL="0" indent="0">
              <a:buNone/>
            </a:pPr>
            <a:r>
              <a:rPr lang="en-US" altLang="zh-CN" dirty="0"/>
              <a:t>             }</a:t>
            </a:r>
          </a:p>
          <a:p>
            <a:pPr marL="0" indent="0">
              <a:buNone/>
            </a:pPr>
            <a:r>
              <a:rPr lang="en-US" altLang="zh-CN" dirty="0"/>
              <a:t>             *err = OS_NO_ERR;</a:t>
            </a:r>
          </a:p>
          <a:p>
            <a:pPr marL="0" indent="0">
              <a:buNone/>
            </a:pPr>
            <a:r>
              <a:rPr lang="en-US" altLang="zh-CN" dirty="0"/>
              <a:t>             return ((OS_EVENT *)0);                       /* </a:t>
            </a:r>
            <a:r>
              <a:rPr lang="en-US" altLang="zh-CN" dirty="0" err="1"/>
              <a:t>Mutex</a:t>
            </a:r>
            <a:r>
              <a:rPr lang="en-US" altLang="zh-CN" dirty="0"/>
              <a:t> has been deleted                   */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default:</a:t>
            </a:r>
          </a:p>
          <a:p>
            <a:pPr marL="0" indent="0">
              <a:buNone/>
            </a:pPr>
            <a:r>
              <a:rPr lang="en-US" altLang="zh-CN" dirty="0"/>
              <a:t>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*err = OS_ERR_INVALID_OPT;</a:t>
            </a:r>
          </a:p>
          <a:p>
            <a:pPr marL="0" indent="0">
              <a:buNone/>
            </a:pPr>
            <a:r>
              <a:rPr lang="en-US" altLang="zh-CN" dirty="0"/>
              <a:t>     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3298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7121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35620"/>
            <a:ext cx="12192000" cy="6222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OS_EVENT  *</a:t>
            </a:r>
            <a:r>
              <a:rPr lang="en-US" altLang="zh-CN" dirty="0" err="1"/>
              <a:t>OSMboxCreate</a:t>
            </a:r>
            <a:r>
              <a:rPr lang="en-US" altLang="zh-CN" dirty="0"/>
              <a:t> (void *</a:t>
            </a:r>
            <a:r>
              <a:rPr lang="en-US" altLang="zh-CN" dirty="0" err="1"/>
              <a:t>msg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OS_EVENT  *</a:t>
            </a:r>
            <a:r>
              <a:rPr lang="en-US" altLang="zh-CN" dirty="0" err="1"/>
              <a:t>pevent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     /* See if called from ISR ... */</a:t>
            </a:r>
          </a:p>
          <a:p>
            <a:pPr marL="0" indent="0">
              <a:buNone/>
            </a:pPr>
            <a:r>
              <a:rPr lang="en-US" altLang="zh-CN" dirty="0"/>
              <a:t>        return ((OS_EVENT *)0);                  /* ... can't CREATE from an ISR          */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</p:txBody>
      </p:sp>
      <p:sp>
        <p:nvSpPr>
          <p:cNvPr id="4" name="矩形 3"/>
          <p:cNvSpPr/>
          <p:nvPr/>
        </p:nvSpPr>
        <p:spPr>
          <a:xfrm>
            <a:off x="5726097" y="1961965"/>
            <a:ext cx="6338656" cy="14914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中断中，不能创建邮箱</a:t>
            </a:r>
          </a:p>
        </p:txBody>
      </p:sp>
    </p:spTree>
    <p:extLst>
      <p:ext uri="{BB962C8B-B14F-4D97-AF65-F5344CB8AC3E}">
        <p14:creationId xmlns:p14="http://schemas.microsoft.com/office/powerpoint/2010/main" val="2553256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7121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35620"/>
            <a:ext cx="12192000" cy="622238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pevent</a:t>
            </a:r>
            <a:r>
              <a:rPr lang="en-US" altLang="zh-CN" dirty="0"/>
              <a:t> = </a:t>
            </a:r>
            <a:r>
              <a:rPr lang="en-US" altLang="zh-CN" dirty="0" err="1"/>
              <a:t>OSEventFreeList</a:t>
            </a:r>
            <a:r>
              <a:rPr lang="en-US" altLang="zh-CN" dirty="0"/>
              <a:t>;                    /* Get next free event control block                  */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OSEventFreeList</a:t>
            </a:r>
            <a:r>
              <a:rPr lang="en-US" altLang="zh-CN" dirty="0"/>
              <a:t> != (OS_EVENT *)0) {      /* See if pool of free ECB pool was empty         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OSEventFreeList</a:t>
            </a:r>
            <a:r>
              <a:rPr lang="en-US" altLang="zh-CN" dirty="0"/>
              <a:t> = (OS_EVENT *)</a:t>
            </a:r>
            <a:r>
              <a:rPr lang="en-US" altLang="zh-CN" dirty="0" err="1"/>
              <a:t>OSEventFreeList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OS_EXIT_CRITICAL();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!= (OS_EVENT *)0) {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= OS_EVENT_TYPE_MBOX;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OSEventCnt</a:t>
            </a:r>
            <a:r>
              <a:rPr lang="en-US" altLang="zh-CN" dirty="0"/>
              <a:t>  = 0;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</a:t>
            </a:r>
            <a:r>
              <a:rPr lang="en-US" altLang="zh-CN" dirty="0" err="1"/>
              <a:t>msg</a:t>
            </a:r>
            <a:r>
              <a:rPr lang="en-US" altLang="zh-CN" dirty="0"/>
              <a:t>;               /* Deposit message in event control block         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OS_EventWaitListInit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return (</a:t>
            </a:r>
            <a:r>
              <a:rPr lang="en-US" altLang="zh-CN" dirty="0" err="1"/>
              <a:t>pevent</a:t>
            </a:r>
            <a:r>
              <a:rPr lang="en-US" altLang="zh-CN" dirty="0"/>
              <a:t>);                             /* Return pointer to event control block              */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477522" y="471216"/>
            <a:ext cx="6516210" cy="496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从空白事件链表的头部取得一个空白表</a:t>
            </a:r>
          </a:p>
        </p:txBody>
      </p:sp>
      <p:sp>
        <p:nvSpPr>
          <p:cNvPr id="5" name="矩形 4"/>
          <p:cNvSpPr/>
          <p:nvPr/>
        </p:nvSpPr>
        <p:spPr>
          <a:xfrm>
            <a:off x="9516863" y="1367161"/>
            <a:ext cx="2596718" cy="1029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如果表没到末尾，就将表头指向下一个表项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8975324" y="1132070"/>
            <a:ext cx="408373" cy="11761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大括号 6"/>
          <p:cNvSpPr/>
          <p:nvPr/>
        </p:nvSpPr>
        <p:spPr>
          <a:xfrm>
            <a:off x="7608163" y="2725445"/>
            <a:ext cx="195309" cy="266330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972148" y="3124940"/>
            <a:ext cx="4021584" cy="192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初始化邮箱</a:t>
            </a:r>
          </a:p>
        </p:txBody>
      </p:sp>
    </p:spTree>
    <p:extLst>
      <p:ext uri="{BB962C8B-B14F-4D97-AF65-F5344CB8AC3E}">
        <p14:creationId xmlns:p14="http://schemas.microsoft.com/office/powerpoint/2010/main" val="2553256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351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93519"/>
            <a:ext cx="11353800" cy="5683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void  *</a:t>
            </a:r>
            <a:r>
              <a:rPr lang="en-US" altLang="zh-CN" dirty="0" err="1"/>
              <a:t>OSMboxPend</a:t>
            </a:r>
            <a:r>
              <a:rPr lang="en-US" altLang="zh-CN" dirty="0"/>
              <a:t> (OS_EVENT *</a:t>
            </a:r>
            <a:r>
              <a:rPr lang="en-US" altLang="zh-CN" dirty="0" err="1"/>
              <a:t>pevent</a:t>
            </a:r>
            <a:r>
              <a:rPr lang="en-US" altLang="zh-CN" dirty="0"/>
              <a:t>, INT16U timeout, INT8U *err)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void      *</a:t>
            </a:r>
            <a:r>
              <a:rPr lang="en-US" altLang="zh-CN" dirty="0" err="1"/>
              <a:t>msg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          /* See if called from ISR ...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OS_ERR_PEND_ISR;                       /* ... can't PEND from an ISR                    */</a:t>
            </a:r>
          </a:p>
          <a:p>
            <a:pPr marL="0" indent="0">
              <a:buNone/>
            </a:pPr>
            <a:r>
              <a:rPr lang="en-US" altLang="zh-CN" dirty="0"/>
              <a:t>        return ((void *)0);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5149049" y="1926454"/>
            <a:ext cx="390617" cy="24679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983550" y="1500326"/>
            <a:ext cx="5450889" cy="2610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中断中，不能</a:t>
            </a:r>
            <a:r>
              <a:rPr lang="en-US" altLang="zh-CN" dirty="0"/>
              <a:t>pend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2809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351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93519"/>
            <a:ext cx="11353800" cy="568344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#if OS_ARG_CHK_EN &gt; 0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         /* Validate '</a:t>
            </a:r>
            <a:r>
              <a:rPr lang="en-US" altLang="zh-CN" dirty="0" err="1"/>
              <a:t>pevent</a:t>
            </a:r>
            <a:r>
              <a:rPr lang="en-US" altLang="zh-CN" dirty="0"/>
              <a:t>'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OS_ERR_PEVENT_NULL;</a:t>
            </a:r>
          </a:p>
          <a:p>
            <a:pPr marL="0" indent="0">
              <a:buNone/>
            </a:pPr>
            <a:r>
              <a:rPr lang="en-US" altLang="zh-CN" dirty="0"/>
              <a:t>        return ((void *)0);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!= OS_EVENT_TYPE_MBOX) {  /* Validate event block type    */</a:t>
            </a:r>
          </a:p>
          <a:p>
            <a:pPr marL="0" indent="0">
              <a:buNone/>
            </a:pPr>
            <a:r>
              <a:rPr lang="en-US" altLang="zh-CN" dirty="0"/>
              <a:t>        *err = OS_ERR_EVENT_TYPE;</a:t>
            </a:r>
          </a:p>
          <a:p>
            <a:pPr marL="0" indent="0">
              <a:buNone/>
            </a:pPr>
            <a:r>
              <a:rPr lang="en-US" altLang="zh-CN" dirty="0"/>
              <a:t>        return ((void *)0);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msg</a:t>
            </a:r>
            <a:r>
              <a:rPr lang="en-US" altLang="zh-CN" dirty="0"/>
              <a:t> =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msg</a:t>
            </a:r>
            <a:r>
              <a:rPr lang="en-US" altLang="zh-CN" dirty="0"/>
              <a:t> != (void *)0) {                           /* See if there is already a message             */</a:t>
            </a:r>
          </a:p>
        </p:txBody>
      </p:sp>
      <p:sp>
        <p:nvSpPr>
          <p:cNvPr id="4" name="矩形 3"/>
          <p:cNvSpPr/>
          <p:nvPr/>
        </p:nvSpPr>
        <p:spPr>
          <a:xfrm>
            <a:off x="5282214" y="577049"/>
            <a:ext cx="5690586" cy="1047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是否是有效事件</a:t>
            </a:r>
          </a:p>
        </p:txBody>
      </p:sp>
      <p:sp>
        <p:nvSpPr>
          <p:cNvPr id="5" name="矩形 4"/>
          <p:cNvSpPr/>
          <p:nvPr/>
        </p:nvSpPr>
        <p:spPr>
          <a:xfrm>
            <a:off x="7075503" y="1970843"/>
            <a:ext cx="4190260" cy="905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是否是邮箱类型</a:t>
            </a:r>
          </a:p>
        </p:txBody>
      </p:sp>
      <p:sp>
        <p:nvSpPr>
          <p:cNvPr id="6" name="矩形 5"/>
          <p:cNvSpPr/>
          <p:nvPr/>
        </p:nvSpPr>
        <p:spPr>
          <a:xfrm>
            <a:off x="4856085" y="4758431"/>
            <a:ext cx="6116715" cy="577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里面是否有邮件可用？</a:t>
            </a:r>
          </a:p>
        </p:txBody>
      </p:sp>
    </p:spTree>
    <p:extLst>
      <p:ext uri="{BB962C8B-B14F-4D97-AF65-F5344CB8AC3E}">
        <p14:creationId xmlns:p14="http://schemas.microsoft.com/office/powerpoint/2010/main" val="2722809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351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93519"/>
            <a:ext cx="12034982" cy="568344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= (void *)0;               /* Clear the mailbox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*err = OS_NO_ERR;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msg</a:t>
            </a:r>
            <a:r>
              <a:rPr lang="en-US" altLang="zh-CN" dirty="0"/>
              <a:t>);                                 /* Return the message received (or NULL)         */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OSTCBCur-&gt;</a:t>
            </a:r>
            <a:r>
              <a:rPr lang="en-US" altLang="zh-CN" dirty="0" err="1"/>
              <a:t>OSTCBStat</a:t>
            </a:r>
            <a:r>
              <a:rPr lang="en-US" altLang="zh-CN" dirty="0"/>
              <a:t> |= OS_STAT_MBOX;     /* Message not available, task will pend/</a:t>
            </a:r>
          </a:p>
          <a:p>
            <a:pPr marL="0" indent="0">
              <a:buNone/>
            </a:pPr>
            <a:r>
              <a:rPr lang="en-US" altLang="zh-CN" dirty="0"/>
              <a:t>    OSTCBCur-&gt;</a:t>
            </a:r>
            <a:r>
              <a:rPr lang="en-US" altLang="zh-CN" dirty="0" err="1"/>
              <a:t>OSTCBDly</a:t>
            </a:r>
            <a:r>
              <a:rPr lang="en-US" altLang="zh-CN" dirty="0"/>
              <a:t>   = timeout;                   /* Load timeout in TCB     */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OS_EventTaskWait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);                         /* Suspend task until event or timeout    */</a:t>
            </a:r>
          </a:p>
          <a:p>
            <a:pPr marL="0" indent="0">
              <a:buNone/>
            </a:pPr>
            <a:r>
              <a:rPr lang="en-US" altLang="zh-CN" dirty="0"/>
              <a:t>    OS_EXIT_CRITICAL();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OS_Sched</a:t>
            </a:r>
            <a:r>
              <a:rPr lang="en-US" altLang="zh-CN" dirty="0"/>
              <a:t>();                                       /* Find next highest priority task ready to run  */</a:t>
            </a:r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msg</a:t>
            </a:r>
            <a:r>
              <a:rPr lang="en-US" altLang="zh-CN" dirty="0"/>
              <a:t> = OSTCBCur-&gt;</a:t>
            </a:r>
            <a:r>
              <a:rPr lang="en-US" altLang="zh-CN" dirty="0" err="1"/>
              <a:t>OSTCBMsg</a:t>
            </a:r>
            <a:r>
              <a:rPr lang="en-US" altLang="zh-CN" dirty="0"/>
              <a:t>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4722920" y="381740"/>
            <a:ext cx="79899" cy="13760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228948" y="337351"/>
            <a:ext cx="5415378" cy="1500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如果有可用的邮件，则返回邮件指针，并清空邮箱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5652656" y="2201662"/>
            <a:ext cx="330894" cy="150032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228948" y="3893928"/>
            <a:ext cx="5077287" cy="10044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如果邮箱没有可用邮件，则将任务置为等待态，并执行一次调度</a:t>
            </a:r>
          </a:p>
        </p:txBody>
      </p:sp>
      <p:sp>
        <p:nvSpPr>
          <p:cNvPr id="8" name="右大括号 7"/>
          <p:cNvSpPr/>
          <p:nvPr/>
        </p:nvSpPr>
        <p:spPr>
          <a:xfrm>
            <a:off x="4003828" y="3832731"/>
            <a:ext cx="719092" cy="69308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228986" y="2492293"/>
            <a:ext cx="5805996" cy="1127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当有别的任务发送邮件到邮箱中</a:t>
            </a:r>
          </a:p>
        </p:txBody>
      </p:sp>
    </p:spTree>
    <p:extLst>
      <p:ext uri="{BB962C8B-B14F-4D97-AF65-F5344CB8AC3E}">
        <p14:creationId xmlns:p14="http://schemas.microsoft.com/office/powerpoint/2010/main" val="2722809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351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93519"/>
            <a:ext cx="11353800" cy="568344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msg</a:t>
            </a:r>
            <a:r>
              <a:rPr lang="en-US" altLang="zh-CN" dirty="0"/>
              <a:t> != (void *)0) {                           /* See if we were given the message              */</a:t>
            </a:r>
          </a:p>
          <a:p>
            <a:pPr marL="0" indent="0">
              <a:buNone/>
            </a:pPr>
            <a:r>
              <a:rPr lang="en-US" altLang="zh-CN" dirty="0"/>
              <a:t>        OSTCBCur-&gt;</a:t>
            </a:r>
            <a:r>
              <a:rPr lang="en-US" altLang="zh-CN" dirty="0" err="1"/>
              <a:t>OSTCBMsg</a:t>
            </a:r>
            <a:r>
              <a:rPr lang="en-US" altLang="zh-CN" dirty="0"/>
              <a:t>      = (void *)0;          /* Yes, clear message received*/</a:t>
            </a:r>
          </a:p>
          <a:p>
            <a:pPr marL="0" indent="0">
              <a:buNone/>
            </a:pPr>
            <a:r>
              <a:rPr lang="en-US" altLang="zh-CN" dirty="0"/>
              <a:t>        OSTCBCur-&gt;</a:t>
            </a:r>
            <a:r>
              <a:rPr lang="en-US" altLang="zh-CN" dirty="0" err="1"/>
              <a:t>OSTCBStat</a:t>
            </a:r>
            <a:r>
              <a:rPr lang="en-US" altLang="zh-CN" dirty="0"/>
              <a:t>     = OS_STAT_RDY;</a:t>
            </a:r>
          </a:p>
          <a:p>
            <a:pPr marL="0" indent="0">
              <a:buNone/>
            </a:pPr>
            <a:r>
              <a:rPr lang="en-US" altLang="zh-CN" dirty="0"/>
              <a:t>        OSTCBCur-&gt;</a:t>
            </a:r>
            <a:r>
              <a:rPr lang="en-US" altLang="zh-CN" dirty="0" err="1"/>
              <a:t>OSTCBEventPtr</a:t>
            </a:r>
            <a:r>
              <a:rPr lang="en-US" altLang="zh-CN" dirty="0"/>
              <a:t> = (OS_EVENT *)0;      /* No longer waiting for event         */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*err                    = OS_NO_ERR;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msg</a:t>
            </a:r>
            <a:r>
              <a:rPr lang="en-US" altLang="zh-CN" dirty="0"/>
              <a:t>);                                 /* Return the message received                   */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OS_EventTO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);                               /* Timed out, Make task ready                    */</a:t>
            </a:r>
          </a:p>
          <a:p>
            <a:pPr marL="0" indent="0">
              <a:buNone/>
            </a:pPr>
            <a:r>
              <a:rPr lang="en-US" altLang="zh-CN" dirty="0"/>
              <a:t>    OS_EXIT_CRITICAL();</a:t>
            </a:r>
          </a:p>
          <a:p>
            <a:pPr marL="0" indent="0">
              <a:buNone/>
            </a:pPr>
            <a:r>
              <a:rPr lang="en-US" altLang="zh-CN" dirty="0"/>
              <a:t>    *err = OS_TIMEOUT;                                /* Indicate that a timeout </a:t>
            </a:r>
            <a:r>
              <a:rPr lang="en-US" altLang="zh-CN" dirty="0" err="1"/>
              <a:t>occured</a:t>
            </a:r>
            <a:r>
              <a:rPr lang="en-US" altLang="zh-CN" dirty="0"/>
              <a:t>               */</a:t>
            </a:r>
          </a:p>
          <a:p>
            <a:pPr marL="0" indent="0">
              <a:buNone/>
            </a:pPr>
            <a:r>
              <a:rPr lang="en-US" altLang="zh-CN" dirty="0"/>
              <a:t>    return ((void *)0);                               /* Return a NULL message                         */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6294268" y="594804"/>
            <a:ext cx="355107" cy="26008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89987" y="553755"/>
            <a:ext cx="4749553" cy="2388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如果消息不是空消息，则将任务从等待态改为就绪态，并返回该消息，同时清空邮箱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3059820" y="3429000"/>
            <a:ext cx="133165" cy="13227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05659" y="3335241"/>
            <a:ext cx="5094291" cy="19086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处理超时</a:t>
            </a:r>
          </a:p>
        </p:txBody>
      </p:sp>
    </p:spTree>
    <p:extLst>
      <p:ext uri="{BB962C8B-B14F-4D97-AF65-F5344CB8AC3E}">
        <p14:creationId xmlns:p14="http://schemas.microsoft.com/office/powerpoint/2010/main" val="2722809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827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82729"/>
            <a:ext cx="11353800" cy="5594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#if OS_MBOX_POST_EN &gt; 0</a:t>
            </a:r>
          </a:p>
          <a:p>
            <a:pPr marL="0" indent="0">
              <a:buNone/>
            </a:pPr>
            <a:r>
              <a:rPr lang="en-US" altLang="zh-CN" sz="1800" dirty="0"/>
              <a:t>INT8U  </a:t>
            </a:r>
            <a:r>
              <a:rPr lang="en-US" altLang="zh-CN" sz="1800" dirty="0" err="1"/>
              <a:t>OSMboxPost</a:t>
            </a:r>
            <a:r>
              <a:rPr lang="en-US" altLang="zh-CN" sz="1800" dirty="0"/>
              <a:t> (OS_EVENT *</a:t>
            </a:r>
            <a:r>
              <a:rPr lang="en-US" altLang="zh-CN" sz="1800" dirty="0" err="1"/>
              <a:t>pevent</a:t>
            </a:r>
            <a:r>
              <a:rPr lang="en-US" altLang="zh-CN" sz="1800" dirty="0"/>
              <a:t>, void *</a:t>
            </a:r>
            <a:r>
              <a:rPr lang="en-US" altLang="zh-CN" sz="1800" dirty="0" err="1"/>
              <a:t>msg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dirty="0"/>
              <a:t>{</a:t>
            </a:r>
          </a:p>
          <a:p>
            <a:pPr marL="0" indent="0">
              <a:buNone/>
            </a:pPr>
            <a:r>
              <a:rPr lang="en-US" altLang="zh-CN" sz="1800" dirty="0"/>
              <a:t>#if OS_ARG_CHK_EN &gt; 0</a:t>
            </a:r>
          </a:p>
          <a:p>
            <a:pPr marL="0" indent="0">
              <a:buNone/>
            </a:pPr>
            <a:r>
              <a:rPr lang="en-US" altLang="zh-CN" sz="1800" dirty="0"/>
              <a:t>    if (</a:t>
            </a:r>
            <a:r>
              <a:rPr lang="en-US" altLang="zh-CN" sz="1800" dirty="0" err="1"/>
              <a:t>pevent</a:t>
            </a:r>
            <a:r>
              <a:rPr lang="en-US" altLang="zh-CN" sz="1800" dirty="0"/>
              <a:t> == (OS_EVENT *)0) {                    /* Validate '</a:t>
            </a:r>
            <a:r>
              <a:rPr lang="en-US" altLang="zh-CN" sz="1800" dirty="0" err="1"/>
              <a:t>pevent</a:t>
            </a:r>
            <a:r>
              <a:rPr lang="en-US" altLang="zh-CN" sz="1800" dirty="0"/>
              <a:t>'                             */</a:t>
            </a:r>
          </a:p>
          <a:p>
            <a:pPr marL="0" indent="0">
              <a:buNone/>
            </a:pPr>
            <a:r>
              <a:rPr lang="en-US" altLang="zh-CN" sz="1800" dirty="0"/>
              <a:t>        return (OS_ERR_PEVENT_NULL);</a:t>
            </a:r>
          </a:p>
          <a:p>
            <a:pPr marL="0" indent="0">
              <a:buNone/>
            </a:pPr>
            <a:r>
              <a:rPr lang="en-US" altLang="zh-CN" sz="1800" dirty="0"/>
              <a:t>    }</a:t>
            </a:r>
          </a:p>
          <a:p>
            <a:pPr marL="0" indent="0">
              <a:buNone/>
            </a:pPr>
            <a:r>
              <a:rPr lang="en-US" altLang="zh-CN" sz="1800" dirty="0"/>
              <a:t>    if (</a:t>
            </a:r>
            <a:r>
              <a:rPr lang="en-US" altLang="zh-CN" sz="1800" dirty="0" err="1"/>
              <a:t>msg</a:t>
            </a:r>
            <a:r>
              <a:rPr lang="en-US" altLang="zh-CN" sz="1800" dirty="0"/>
              <a:t> == (void *)0) {                           /* Make sure we are not posting a NULL pointer   */</a:t>
            </a:r>
          </a:p>
          <a:p>
            <a:pPr marL="0" indent="0">
              <a:buNone/>
            </a:pPr>
            <a:r>
              <a:rPr lang="en-US" altLang="zh-CN" sz="1800" dirty="0"/>
              <a:t>        return (OS_ERR_POST_NULL_PTR);</a:t>
            </a:r>
          </a:p>
          <a:p>
            <a:pPr marL="0" indent="0">
              <a:buNone/>
            </a:pPr>
            <a:r>
              <a:rPr lang="en-US" altLang="zh-CN" sz="1800" dirty="0"/>
              <a:t>    }</a:t>
            </a:r>
          </a:p>
          <a:p>
            <a:pPr marL="0" indent="0">
              <a:buNone/>
            </a:pPr>
            <a:r>
              <a:rPr lang="en-US" altLang="zh-CN" sz="1800" dirty="0"/>
              <a:t>    if (</a:t>
            </a:r>
            <a:r>
              <a:rPr lang="en-US" altLang="zh-CN" sz="1800" dirty="0" err="1"/>
              <a:t>pevent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OSEventType</a:t>
            </a:r>
            <a:r>
              <a:rPr lang="en-US" altLang="zh-CN" sz="1800" dirty="0"/>
              <a:t> != OS_EVENT_TYPE_MBOX) {  /* Validate event block type                     */</a:t>
            </a:r>
          </a:p>
          <a:p>
            <a:pPr marL="0" indent="0">
              <a:buNone/>
            </a:pPr>
            <a:r>
              <a:rPr lang="en-US" altLang="zh-CN" sz="1800" dirty="0"/>
              <a:t>        return (OS_ERR_EVENT_TYPE);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3790765" y="1695635"/>
            <a:ext cx="612559" cy="107419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492102" y="1695635"/>
            <a:ext cx="4545367" cy="9854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判断是否是有效的事件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4225771" y="3169328"/>
            <a:ext cx="266331" cy="77235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43021" y="3178206"/>
            <a:ext cx="4509857" cy="704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判断消息是否是空指针</a:t>
            </a:r>
          </a:p>
        </p:txBody>
      </p:sp>
      <p:sp>
        <p:nvSpPr>
          <p:cNvPr id="8" name="右大括号 7"/>
          <p:cNvSpPr/>
          <p:nvPr/>
        </p:nvSpPr>
        <p:spPr>
          <a:xfrm>
            <a:off x="5992427" y="4279037"/>
            <a:ext cx="213064" cy="7989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303146" y="4287915"/>
            <a:ext cx="3950563" cy="7457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判断事件是否是邮箱事件</a:t>
            </a:r>
          </a:p>
        </p:txBody>
      </p:sp>
    </p:spTree>
    <p:extLst>
      <p:ext uri="{BB962C8B-B14F-4D97-AF65-F5344CB8AC3E}">
        <p14:creationId xmlns:p14="http://schemas.microsoft.com/office/powerpoint/2010/main" val="1046684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827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582729"/>
            <a:ext cx="11353800" cy="559423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           /* See if any task pending on mailbox        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OS_EventTaskRdy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, </a:t>
            </a:r>
            <a:r>
              <a:rPr lang="en-US" altLang="zh-CN" dirty="0" err="1"/>
              <a:t>msg</a:t>
            </a:r>
            <a:r>
              <a:rPr lang="en-US" altLang="zh-CN" dirty="0"/>
              <a:t>, OS_STAT_MBOX);   /* Ready highest priority task waiting on event  */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OS_Sched</a:t>
            </a:r>
            <a:r>
              <a:rPr lang="en-US" altLang="zh-CN" dirty="0"/>
              <a:t>();                                   /* Find highest priority task ready to run       */</a:t>
            </a:r>
          </a:p>
          <a:p>
            <a:pPr marL="0" indent="0">
              <a:buNone/>
            </a:pPr>
            <a:r>
              <a:rPr lang="en-US" altLang="zh-CN" dirty="0"/>
              <a:t>        return (OS_NO_ERR);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!= (void *)0) {            /* Make sure mailbox doesn't already have a </a:t>
            </a:r>
            <a:r>
              <a:rPr lang="en-US" altLang="zh-CN" dirty="0" err="1"/>
              <a:t>msg</a:t>
            </a:r>
            <a:r>
              <a:rPr lang="en-US" altLang="zh-CN" dirty="0"/>
              <a:t>  */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return (OS_MBOX_FULL);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= </a:t>
            </a:r>
            <a:r>
              <a:rPr lang="en-US" altLang="zh-CN" dirty="0" err="1"/>
              <a:t>msg</a:t>
            </a:r>
            <a:r>
              <a:rPr lang="en-US" altLang="zh-CN" dirty="0"/>
              <a:t>;                         /* Place message in mailbox                      */</a:t>
            </a:r>
          </a:p>
          <a:p>
            <a:pPr marL="0" indent="0">
              <a:buNone/>
            </a:pPr>
            <a:r>
              <a:rPr lang="en-US" altLang="zh-CN" dirty="0"/>
              <a:t>    OS_EXIT_CRITICAL();</a:t>
            </a:r>
          </a:p>
          <a:p>
            <a:pPr marL="0" indent="0">
              <a:buNone/>
            </a:pPr>
            <a:r>
              <a:rPr lang="en-US" altLang="zh-CN" dirty="0"/>
              <a:t>    return (OS_NO_ERR);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2210540" y="582729"/>
            <a:ext cx="2414726" cy="624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678532" y="346229"/>
            <a:ext cx="4252404" cy="630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进入临界区</a:t>
            </a:r>
          </a:p>
        </p:txBody>
      </p:sp>
      <p:sp>
        <p:nvSpPr>
          <p:cNvPr id="7" name="右大括号 6"/>
          <p:cNvSpPr/>
          <p:nvPr/>
        </p:nvSpPr>
        <p:spPr>
          <a:xfrm>
            <a:off x="4625266" y="1358283"/>
            <a:ext cx="186431" cy="70133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918229" y="1340528"/>
            <a:ext cx="4536489" cy="630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查看邮箱的等待表，如果有任务正在等待，找出优先级最高的，把它置为就绪态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2334827" y="2175029"/>
            <a:ext cx="3116062" cy="8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601810" y="2059619"/>
            <a:ext cx="4740675" cy="363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退出临界区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1580225" y="2423604"/>
            <a:ext cx="3098307" cy="266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811697" y="2610035"/>
            <a:ext cx="5122416" cy="3639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执行一次调度</a:t>
            </a:r>
          </a:p>
        </p:txBody>
      </p:sp>
      <p:sp>
        <p:nvSpPr>
          <p:cNvPr id="17" name="右大括号 16"/>
          <p:cNvSpPr/>
          <p:nvPr/>
        </p:nvSpPr>
        <p:spPr>
          <a:xfrm>
            <a:off x="3595456" y="3195961"/>
            <a:ext cx="45719" cy="179328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737499" y="3137308"/>
            <a:ext cx="5415379" cy="1597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如果没有任何任务在等待，则检查一下邮箱是否满了，如果满了就报错退出，如果没满就将消息指针放入邮箱</a:t>
            </a:r>
          </a:p>
        </p:txBody>
      </p:sp>
    </p:spTree>
    <p:extLst>
      <p:ext uri="{BB962C8B-B14F-4D97-AF65-F5344CB8AC3E}">
        <p14:creationId xmlns:p14="http://schemas.microsoft.com/office/powerpoint/2010/main" val="1046684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275208"/>
            <a:ext cx="11353800" cy="64451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void  *</a:t>
            </a:r>
            <a:r>
              <a:rPr lang="en-US" altLang="zh-CN" dirty="0" err="1"/>
              <a:t>OSMboxPend</a:t>
            </a:r>
            <a:r>
              <a:rPr lang="en-US" altLang="zh-CN" dirty="0"/>
              <a:t> (OS_EVENT *</a:t>
            </a:r>
            <a:r>
              <a:rPr lang="en-US" altLang="zh-CN" dirty="0" err="1"/>
              <a:t>pevent</a:t>
            </a:r>
            <a:r>
              <a:rPr lang="en-US" altLang="zh-CN" dirty="0"/>
              <a:t>, INT16U timeout, INT8U *err)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void      *</a:t>
            </a:r>
            <a:r>
              <a:rPr lang="en-US" altLang="zh-CN" dirty="0" err="1"/>
              <a:t>msg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          /* See if called from ISR ...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OS_ERR_PEND_ISR;                       /* ... can't PEND from an ISR                    */</a:t>
            </a:r>
          </a:p>
          <a:p>
            <a:pPr marL="0" indent="0">
              <a:buNone/>
            </a:pPr>
            <a:r>
              <a:rPr lang="en-US" altLang="zh-CN" dirty="0"/>
              <a:t>        return ((void *)0);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#if OS_ARG_CHK_EN &gt; 0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         /* Validate '</a:t>
            </a:r>
            <a:r>
              <a:rPr lang="en-US" altLang="zh-CN" dirty="0" err="1"/>
              <a:t>pevent</a:t>
            </a:r>
            <a:r>
              <a:rPr lang="en-US" altLang="zh-CN" dirty="0"/>
              <a:t>'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OS_ERR_PEVENT_NULL;</a:t>
            </a:r>
          </a:p>
          <a:p>
            <a:pPr marL="0" indent="0">
              <a:buNone/>
            </a:pPr>
            <a:r>
              <a:rPr lang="en-US" altLang="zh-CN" dirty="0"/>
              <a:t>        return ((void *)0);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!= OS_EVENT_TYPE_MBOX) {  /* Validate event block type 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OS_ERR_EVENT_TYPE;</a:t>
            </a:r>
          </a:p>
          <a:p>
            <a:pPr marL="0" indent="0">
              <a:buNone/>
            </a:pPr>
            <a:r>
              <a:rPr lang="en-US" altLang="zh-CN" dirty="0"/>
              <a:t>        return ((void *)0);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msg</a:t>
            </a:r>
            <a:r>
              <a:rPr lang="en-US" altLang="zh-CN" dirty="0"/>
              <a:t> =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msg</a:t>
            </a:r>
            <a:r>
              <a:rPr lang="en-US" altLang="zh-CN" dirty="0"/>
              <a:t> != (void *)0) {                           /* See if there is already a message             */</a:t>
            </a:r>
          </a:p>
        </p:txBody>
      </p:sp>
      <p:sp>
        <p:nvSpPr>
          <p:cNvPr id="2" name="右大括号 1"/>
          <p:cNvSpPr/>
          <p:nvPr/>
        </p:nvSpPr>
        <p:spPr>
          <a:xfrm>
            <a:off x="3417903" y="1198485"/>
            <a:ext cx="319596" cy="10653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65973" y="1003177"/>
            <a:ext cx="4927107" cy="1278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中断中，不允许申请邮箱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3915052" y="2805344"/>
            <a:ext cx="186431" cy="9232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438835" y="2752078"/>
            <a:ext cx="4554245" cy="985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判断是否是有效的事件</a:t>
            </a:r>
          </a:p>
        </p:txBody>
      </p:sp>
      <p:sp>
        <p:nvSpPr>
          <p:cNvPr id="7" name="右大括号 6"/>
          <p:cNvSpPr/>
          <p:nvPr/>
        </p:nvSpPr>
        <p:spPr>
          <a:xfrm>
            <a:off x="5859262" y="4101483"/>
            <a:ext cx="363985" cy="10298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329779" y="4012707"/>
            <a:ext cx="3728621" cy="105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判断是否是邮箱事件</a:t>
            </a:r>
          </a:p>
        </p:txBody>
      </p:sp>
      <p:sp>
        <p:nvSpPr>
          <p:cNvPr id="9" name="右大括号 8"/>
          <p:cNvSpPr/>
          <p:nvPr/>
        </p:nvSpPr>
        <p:spPr>
          <a:xfrm>
            <a:off x="3409025" y="5699464"/>
            <a:ext cx="328474" cy="9587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915052" y="5672831"/>
            <a:ext cx="5717220" cy="1109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判断邮箱里有没有消息，如果有消息</a:t>
            </a:r>
          </a:p>
        </p:txBody>
      </p:sp>
    </p:spTree>
    <p:extLst>
      <p:ext uri="{BB962C8B-B14F-4D97-AF65-F5344CB8AC3E}">
        <p14:creationId xmlns:p14="http://schemas.microsoft.com/office/powerpoint/2010/main" val="1788027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6835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2" y="468350"/>
            <a:ext cx="12192001" cy="6478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= (void *)0;               /* Clear the mailbox          */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*err = OS_NO_ERR;</a:t>
            </a:r>
          </a:p>
          <a:p>
            <a:pPr marL="0" indent="0">
              <a:buNone/>
            </a:pPr>
            <a:r>
              <a:rPr lang="en-US" altLang="zh-CN" dirty="0"/>
              <a:t>        return (msg);                                 /* </a:t>
            </a:r>
            <a:r>
              <a:rPr lang="en-US" altLang="zh-CN" sz="900" dirty="0"/>
              <a:t>Return the message received </a:t>
            </a:r>
            <a:r>
              <a:rPr lang="en-US" altLang="zh-CN" sz="900" dirty="0" err="1"/>
              <a:t>orNULL</a:t>
            </a:r>
            <a:r>
              <a:rPr lang="en-US" altLang="zh-CN" dirty="0"/>
              <a:t>) */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OSTCBCur-&gt;</a:t>
            </a:r>
            <a:r>
              <a:rPr lang="en-US" altLang="zh-CN" dirty="0" err="1"/>
              <a:t>OSTCBStat</a:t>
            </a:r>
            <a:r>
              <a:rPr lang="en-US" altLang="zh-CN" dirty="0"/>
              <a:t> |= OS_STAT_MBOX; </a:t>
            </a:r>
          </a:p>
          <a:p>
            <a:pPr marL="0" indent="0">
              <a:buNone/>
            </a:pPr>
            <a:r>
              <a:rPr lang="en-US" altLang="zh-CN" dirty="0"/>
              <a:t>    OSTCBCur-&gt;</a:t>
            </a:r>
            <a:r>
              <a:rPr lang="en-US" altLang="zh-CN" dirty="0" err="1"/>
              <a:t>OSTCBDly</a:t>
            </a:r>
            <a:r>
              <a:rPr lang="en-US" altLang="zh-CN" dirty="0"/>
              <a:t>   = timeout;                   /* </a:t>
            </a:r>
            <a:r>
              <a:rPr lang="en-US" altLang="zh-CN" sz="1000" dirty="0"/>
              <a:t>Load timeout in TCB              </a:t>
            </a:r>
            <a:r>
              <a:rPr lang="en-US" altLang="zh-CN" dirty="0"/>
              <a:t>*/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OS_EventTaskWait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);                         /* </a:t>
            </a:r>
            <a:r>
              <a:rPr lang="en-US" altLang="zh-CN" sz="1000" dirty="0"/>
              <a:t>Suspend task until event or timeout </a:t>
            </a:r>
            <a:r>
              <a:rPr lang="en-US" altLang="zh-CN" dirty="0"/>
              <a:t>occurs    */</a:t>
            </a:r>
          </a:p>
          <a:p>
            <a:pPr marL="0" indent="0">
              <a:buNone/>
            </a:pPr>
            <a:r>
              <a:rPr lang="en-US" altLang="zh-CN" dirty="0"/>
              <a:t>    OS_EXIT_CRITICAL();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OS_Sched</a:t>
            </a:r>
            <a:r>
              <a:rPr lang="en-US" altLang="zh-CN" dirty="0"/>
              <a:t>();                                       /* Find next </a:t>
            </a:r>
            <a:r>
              <a:rPr lang="en-US" altLang="zh-CN" sz="1000" dirty="0"/>
              <a:t>highest priority task ready to </a:t>
            </a:r>
            <a:r>
              <a:rPr lang="en-US" altLang="zh-CN" dirty="0"/>
              <a:t>run  */</a:t>
            </a:r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msg</a:t>
            </a:r>
            <a:r>
              <a:rPr lang="en-US" altLang="zh-CN" dirty="0"/>
              <a:t> = OSTCBCur-&gt;</a:t>
            </a:r>
            <a:r>
              <a:rPr lang="en-US" altLang="zh-CN" dirty="0" err="1"/>
              <a:t>OSTCBMsg</a:t>
            </a:r>
            <a:r>
              <a:rPr lang="en-US" altLang="zh-CN" dirty="0"/>
              <a:t>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5863701" y="468349"/>
            <a:ext cx="337352" cy="18931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366365" y="325118"/>
            <a:ext cx="4606180" cy="192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返回消息指针，并将邮箱清空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7250692" y="2995131"/>
            <a:ext cx="45719" cy="25745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444574" y="3084396"/>
            <a:ext cx="4651899" cy="192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如果没有消息，则将任务置为等待态，放入等待表中，并设置等待延时，再执行一次调度。</a:t>
            </a:r>
          </a:p>
        </p:txBody>
      </p:sp>
      <p:sp>
        <p:nvSpPr>
          <p:cNvPr id="8" name="右大括号 7"/>
          <p:cNvSpPr/>
          <p:nvPr/>
        </p:nvSpPr>
        <p:spPr>
          <a:xfrm>
            <a:off x="5556614" y="5844086"/>
            <a:ext cx="461639" cy="7457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328166" y="5873176"/>
            <a:ext cx="5246703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当邮箱中有消息到来时，</a:t>
            </a:r>
          </a:p>
        </p:txBody>
      </p:sp>
    </p:spTree>
    <p:extLst>
      <p:ext uri="{BB962C8B-B14F-4D97-AF65-F5344CB8AC3E}">
        <p14:creationId xmlns:p14="http://schemas.microsoft.com/office/powerpoint/2010/main" val="1788027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6835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68350"/>
            <a:ext cx="12099636" cy="6478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sz="2200" dirty="0"/>
              <a:t>if (msg != (void *)0) {                           /* See if we were given the message */</a:t>
            </a:r>
          </a:p>
          <a:p>
            <a:pPr marL="0" indent="0">
              <a:buNone/>
            </a:pPr>
            <a:r>
              <a:rPr lang="en-US" altLang="zh-CN" sz="2200" dirty="0"/>
              <a:t>        OSTCBCur-&gt;</a:t>
            </a:r>
            <a:r>
              <a:rPr lang="en-US" altLang="zh-CN" sz="2200" dirty="0" err="1"/>
              <a:t>OSTCBMsg</a:t>
            </a:r>
            <a:r>
              <a:rPr lang="en-US" altLang="zh-CN" sz="2200" dirty="0"/>
              <a:t>      = (void *)0;          /* Yes, clear message received*/</a:t>
            </a:r>
          </a:p>
          <a:p>
            <a:pPr marL="0" indent="0">
              <a:buNone/>
            </a:pPr>
            <a:r>
              <a:rPr lang="en-US" altLang="zh-CN" sz="2200" dirty="0"/>
              <a:t>        OSTCBCur-&gt;</a:t>
            </a:r>
            <a:r>
              <a:rPr lang="en-US" altLang="zh-CN" sz="2200" dirty="0" err="1"/>
              <a:t>OSTCBStat</a:t>
            </a:r>
            <a:r>
              <a:rPr lang="en-US" altLang="zh-CN" sz="2200" dirty="0"/>
              <a:t>     = OS_STAT_RDY;</a:t>
            </a:r>
          </a:p>
          <a:p>
            <a:pPr marL="0" indent="0">
              <a:buNone/>
            </a:pPr>
            <a:r>
              <a:rPr lang="en-US" altLang="zh-CN" sz="2200" dirty="0"/>
              <a:t>        OSTCBCur-&gt;</a:t>
            </a:r>
            <a:r>
              <a:rPr lang="en-US" altLang="zh-CN" sz="2200" dirty="0" err="1"/>
              <a:t>OSTCBEventPtr</a:t>
            </a:r>
            <a:r>
              <a:rPr lang="en-US" altLang="zh-CN" sz="2200" dirty="0"/>
              <a:t> = (OS_EVENT *)0;      /* No longer </a:t>
            </a:r>
            <a:r>
              <a:rPr lang="en-US" altLang="zh-CN" sz="2200" dirty="0" err="1"/>
              <a:t>waitingorevent</a:t>
            </a:r>
            <a:r>
              <a:rPr lang="en-US" altLang="zh-CN" sz="2200" dirty="0"/>
              <a:t>*/</a:t>
            </a:r>
          </a:p>
          <a:p>
            <a:pPr marL="0" indent="0">
              <a:buNone/>
            </a:pPr>
            <a:r>
              <a:rPr lang="en-US" altLang="zh-CN" sz="2200" dirty="0"/>
              <a:t>        OS_EXIT_CRITICAL();</a:t>
            </a:r>
          </a:p>
          <a:p>
            <a:pPr marL="0" indent="0">
              <a:buNone/>
            </a:pPr>
            <a:r>
              <a:rPr lang="en-US" altLang="zh-CN" sz="2200" dirty="0"/>
              <a:t>        *err                    = OS_NO_ERR;</a:t>
            </a:r>
          </a:p>
          <a:p>
            <a:pPr marL="0" indent="0">
              <a:buNone/>
            </a:pPr>
            <a:r>
              <a:rPr lang="en-US" altLang="zh-CN" sz="2200" dirty="0"/>
              <a:t>        return (</a:t>
            </a:r>
            <a:r>
              <a:rPr lang="en-US" altLang="zh-CN" sz="2200" dirty="0" err="1"/>
              <a:t>msg</a:t>
            </a:r>
            <a:r>
              <a:rPr lang="en-US" altLang="zh-CN" sz="2200" dirty="0"/>
              <a:t>);                                 /* Return the message received                   */</a:t>
            </a:r>
          </a:p>
          <a:p>
            <a:pPr marL="0" indent="0">
              <a:buNone/>
            </a:pPr>
            <a:r>
              <a:rPr lang="en-US" altLang="zh-CN" sz="2200" dirty="0"/>
              <a:t>    }</a:t>
            </a:r>
          </a:p>
          <a:p>
            <a:pPr marL="0" indent="0">
              <a:buNone/>
            </a:pPr>
            <a:r>
              <a:rPr lang="en-US" altLang="zh-CN" sz="2200" dirty="0"/>
              <a:t>    </a:t>
            </a:r>
            <a:r>
              <a:rPr lang="en-US" altLang="zh-CN" sz="2200" dirty="0" err="1"/>
              <a:t>OS_EventTO</a:t>
            </a:r>
            <a:r>
              <a:rPr lang="en-US" altLang="zh-CN" sz="2200" dirty="0"/>
              <a:t>(</a:t>
            </a:r>
            <a:r>
              <a:rPr lang="en-US" altLang="zh-CN" sz="2200" dirty="0" err="1"/>
              <a:t>pevent</a:t>
            </a:r>
            <a:r>
              <a:rPr lang="en-US" altLang="zh-CN" sz="2200" dirty="0"/>
              <a:t>);                               /* Timed out, Make task ready                    */</a:t>
            </a:r>
          </a:p>
          <a:p>
            <a:pPr marL="0" indent="0">
              <a:buNone/>
            </a:pPr>
            <a:r>
              <a:rPr lang="en-US" altLang="zh-CN" sz="2200" dirty="0"/>
              <a:t>    OS_EXIT_CRITICAL();</a:t>
            </a:r>
          </a:p>
          <a:p>
            <a:pPr marL="0" indent="0">
              <a:buNone/>
            </a:pPr>
            <a:r>
              <a:rPr lang="en-US" altLang="zh-CN" sz="2200" dirty="0"/>
              <a:t>    *err = OS_TIMEOUT;                                /* Indicate that a timeout </a:t>
            </a:r>
            <a:r>
              <a:rPr lang="en-US" altLang="zh-CN" sz="2200" dirty="0" err="1"/>
              <a:t>occured</a:t>
            </a:r>
            <a:r>
              <a:rPr lang="en-US" altLang="zh-CN" sz="2200" dirty="0"/>
              <a:t>               */</a:t>
            </a:r>
          </a:p>
          <a:p>
            <a:pPr marL="0" indent="0">
              <a:buNone/>
            </a:pPr>
            <a:r>
              <a:rPr lang="en-US" altLang="zh-CN" sz="2200" dirty="0"/>
              <a:t>    return ((void *)0);  </a:t>
            </a:r>
            <a:r>
              <a:rPr lang="en-US" altLang="zh-CN" dirty="0"/>
              <a:t>                             /* Return a NULL message  */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6684885" y="363984"/>
            <a:ext cx="648070" cy="33557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106712" y="313530"/>
            <a:ext cx="4607510" cy="2496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如果消息为有效的消息，则等待表中最高优先级的任务被唤醒，置为就绪态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3657600" y="4332303"/>
            <a:ext cx="284085" cy="20418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36816" y="4047679"/>
            <a:ext cx="6684885" cy="20596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如果是等待超时，则返回空消息</a:t>
            </a:r>
          </a:p>
        </p:txBody>
      </p:sp>
    </p:spTree>
    <p:extLst>
      <p:ext uri="{BB962C8B-B14F-4D97-AF65-F5344CB8AC3E}">
        <p14:creationId xmlns:p14="http://schemas.microsoft.com/office/powerpoint/2010/main" val="1788027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53252"/>
            <a:ext cx="10515600" cy="57157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24828"/>
            <a:ext cx="11353800" cy="6133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#if OS_MBOX_POST_OPT_EN &gt; 0</a:t>
            </a:r>
          </a:p>
          <a:p>
            <a:pPr marL="0" indent="0">
              <a:buNone/>
            </a:pPr>
            <a:r>
              <a:rPr lang="en-US" altLang="zh-CN" dirty="0"/>
              <a:t>INT8U  </a:t>
            </a:r>
            <a:r>
              <a:rPr lang="en-US" altLang="zh-CN" dirty="0" err="1"/>
              <a:t>OSMboxPostOpt</a:t>
            </a:r>
            <a:r>
              <a:rPr lang="en-US" altLang="zh-CN" dirty="0"/>
              <a:t> (OS_EVENT *</a:t>
            </a:r>
            <a:r>
              <a:rPr lang="en-US" altLang="zh-CN" dirty="0" err="1"/>
              <a:t>pevent</a:t>
            </a:r>
            <a:r>
              <a:rPr lang="en-US" altLang="zh-CN" dirty="0"/>
              <a:t>, void *</a:t>
            </a:r>
            <a:r>
              <a:rPr lang="en-US" altLang="zh-CN" dirty="0" err="1"/>
              <a:t>msg</a:t>
            </a:r>
            <a:r>
              <a:rPr lang="en-US" altLang="zh-CN" dirty="0"/>
              <a:t>, INT8U opt)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##if OS_ARG_CHK_EN &gt; 0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   /* Validate '</a:t>
            </a:r>
            <a:r>
              <a:rPr lang="en-US" altLang="zh-CN" dirty="0" err="1"/>
              <a:t>pevent</a:t>
            </a:r>
            <a:r>
              <a:rPr lang="en-US" altLang="zh-CN" dirty="0"/>
              <a:t>'            */</a:t>
            </a:r>
          </a:p>
          <a:p>
            <a:pPr marL="0" indent="0">
              <a:buNone/>
            </a:pPr>
            <a:r>
              <a:rPr lang="en-US" altLang="zh-CN" dirty="0"/>
              <a:t>   return (OS_ERR_PEVENT_NULL);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</p:txBody>
      </p:sp>
      <p:sp>
        <p:nvSpPr>
          <p:cNvPr id="4" name="矩形标注 3"/>
          <p:cNvSpPr/>
          <p:nvPr/>
        </p:nvSpPr>
        <p:spPr>
          <a:xfrm>
            <a:off x="7549375" y="153252"/>
            <a:ext cx="3804425" cy="872660"/>
          </a:xfrm>
          <a:prstGeom prst="wedgeRectCallout">
            <a:avLst>
              <a:gd name="adj1" fmla="val -315"/>
              <a:gd name="adj2" fmla="val 752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OS_POST_OPT_NONE</a:t>
            </a:r>
          </a:p>
          <a:p>
            <a:pPr algn="ctr"/>
            <a:r>
              <a:rPr lang="en-US" altLang="zh-CN" dirty="0"/>
              <a:t>OS_POST_OPT_BROADCAST</a:t>
            </a:r>
            <a:endParaRPr lang="zh-CN" altLang="en-US" dirty="0"/>
          </a:p>
        </p:txBody>
      </p:sp>
      <p:sp>
        <p:nvSpPr>
          <p:cNvPr id="5" name="右大括号 4"/>
          <p:cNvSpPr/>
          <p:nvPr/>
        </p:nvSpPr>
        <p:spPr>
          <a:xfrm>
            <a:off x="5752730" y="2485748"/>
            <a:ext cx="523783" cy="164236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418555" y="2423604"/>
            <a:ext cx="5007006" cy="17400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判断是否是有效事件</a:t>
            </a:r>
          </a:p>
        </p:txBody>
      </p:sp>
    </p:spTree>
    <p:extLst>
      <p:ext uri="{BB962C8B-B14F-4D97-AF65-F5344CB8AC3E}">
        <p14:creationId xmlns:p14="http://schemas.microsoft.com/office/powerpoint/2010/main" val="987609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53252"/>
            <a:ext cx="10515600" cy="57157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24829"/>
            <a:ext cx="11353800" cy="5452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if (</a:t>
            </a:r>
            <a:r>
              <a:rPr lang="en-US" altLang="zh-CN" dirty="0" err="1"/>
              <a:t>msg</a:t>
            </a:r>
            <a:r>
              <a:rPr lang="en-US" altLang="zh-CN" dirty="0"/>
              <a:t> == (void *)0) {                                 </a:t>
            </a:r>
            <a:r>
              <a:rPr lang="en-US" altLang="zh-CN" sz="1000" dirty="0"/>
              <a:t>/* Make sure we are not posting a NULL pointer   */</a:t>
            </a:r>
          </a:p>
          <a:p>
            <a:pPr marL="0" indent="0">
              <a:buNone/>
            </a:pPr>
            <a:r>
              <a:rPr lang="en-US" altLang="zh-CN" dirty="0"/>
              <a:t>        return (OS_ERR_POST_NULL_PTR);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!= OS_EVENT_TYPE_MBOX) {  </a:t>
            </a:r>
            <a:r>
              <a:rPr lang="en-US" altLang="zh-CN" sz="800" dirty="0"/>
              <a:t>/* Validate event block type                     */</a:t>
            </a:r>
          </a:p>
          <a:p>
            <a:pPr marL="0" indent="0">
              <a:buNone/>
            </a:pPr>
            <a:r>
              <a:rPr lang="en-US" altLang="zh-CN" dirty="0"/>
              <a:t>        return (OS_ERR_EVENT_TYPE);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5717219" y="724829"/>
            <a:ext cx="701336" cy="16277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516209" y="292963"/>
            <a:ext cx="4917489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判断消息是否为空指针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6320901" y="2831977"/>
            <a:ext cx="1420427" cy="941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723573" y="2924160"/>
            <a:ext cx="4252404" cy="17898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判断事件是否为邮箱事件</a:t>
            </a:r>
          </a:p>
        </p:txBody>
      </p:sp>
    </p:spTree>
    <p:extLst>
      <p:ext uri="{BB962C8B-B14F-4D97-AF65-F5344CB8AC3E}">
        <p14:creationId xmlns:p14="http://schemas.microsoft.com/office/powerpoint/2010/main" val="987609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53252"/>
            <a:ext cx="10515600" cy="57157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24829"/>
            <a:ext cx="11353800" cy="5452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           </a:t>
            </a:r>
            <a:r>
              <a:rPr lang="en-US" altLang="zh-CN" sz="1100" dirty="0"/>
              <a:t>/* See if any task pending on mailbox            */</a:t>
            </a:r>
          </a:p>
          <a:p>
            <a:pPr marL="0" indent="0">
              <a:buNone/>
            </a:pPr>
            <a:r>
              <a:rPr lang="en-US" altLang="zh-CN" dirty="0"/>
              <a:t>        if ((opt &amp; OS_POST_OPT_BROADCAST) != 0x00) {  </a:t>
            </a:r>
            <a:r>
              <a:rPr lang="en-US" altLang="zh-CN" sz="900" dirty="0"/>
              <a:t>/* Do we need to post </a:t>
            </a:r>
            <a:r>
              <a:rPr lang="en-US" altLang="zh-CN" sz="900" dirty="0" err="1"/>
              <a:t>msg</a:t>
            </a:r>
            <a:r>
              <a:rPr lang="en-US" altLang="zh-CN" sz="900" dirty="0"/>
              <a:t> to ALL waiting tasks ? */</a:t>
            </a:r>
          </a:p>
          <a:p>
            <a:pPr marL="0" indent="0">
              <a:buNone/>
            </a:pPr>
            <a:r>
              <a:rPr lang="en-US" altLang="zh-CN" dirty="0"/>
              <a:t>            while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</a:t>
            </a:r>
            <a:r>
              <a:rPr lang="en-US" altLang="zh-CN" sz="900" dirty="0"/>
              <a:t>/* Yes, Post to ALL tasks waiting on mailbox     */           </a:t>
            </a:r>
          </a:p>
          <a:p>
            <a:pPr marL="0" indent="0">
              <a:buNone/>
            </a:pPr>
            <a:r>
              <a:rPr lang="en-US" altLang="zh-CN" dirty="0"/>
              <a:t>                </a:t>
            </a:r>
            <a:r>
              <a:rPr lang="en-US" altLang="zh-CN" dirty="0" err="1"/>
              <a:t>OS_EventTaskRdy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, </a:t>
            </a:r>
            <a:r>
              <a:rPr lang="en-US" altLang="zh-CN" dirty="0" err="1"/>
              <a:t>msg</a:t>
            </a:r>
            <a:r>
              <a:rPr lang="en-US" altLang="zh-CN" dirty="0"/>
              <a:t>, OS_STAT_MBOX);    </a:t>
            </a:r>
          </a:p>
          <a:p>
            <a:pPr marL="0" indent="0">
              <a:buNone/>
            </a:pPr>
            <a:r>
              <a:rPr lang="en-US" altLang="zh-CN" dirty="0"/>
              <a:t>            }</a:t>
            </a:r>
          </a:p>
          <a:p>
            <a:pPr marL="0" indent="0">
              <a:buNone/>
            </a:pPr>
            <a:r>
              <a:rPr lang="en-US" altLang="zh-CN" dirty="0"/>
              <a:t>        } else {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OS_EventTaskRdy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, </a:t>
            </a:r>
            <a:r>
              <a:rPr lang="en-US" altLang="zh-CN" dirty="0" err="1"/>
              <a:t>msg</a:t>
            </a:r>
            <a:r>
              <a:rPr lang="en-US" altLang="zh-CN" dirty="0"/>
              <a:t>, OS_STAT_MBOX);    </a:t>
            </a:r>
            <a:r>
              <a:rPr lang="en-US" altLang="zh-CN" sz="900" dirty="0"/>
              <a:t>/* No,  Post to HPT waiting on </a:t>
            </a:r>
            <a:r>
              <a:rPr lang="en-US" altLang="zh-CN" sz="900" dirty="0" err="1"/>
              <a:t>mbox</a:t>
            </a:r>
            <a:r>
              <a:rPr lang="en-US" altLang="zh-CN" sz="900" dirty="0"/>
              <a:t>         */</a:t>
            </a:r>
          </a:p>
          <a:p>
            <a:pPr marL="0" indent="0">
              <a:buNone/>
            </a:pPr>
            <a:r>
              <a:rPr lang="en-US" altLang="zh-CN" dirty="0"/>
              <a:t>        }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OS_Sched</a:t>
            </a:r>
            <a:r>
              <a:rPr lang="en-US" altLang="zh-CN" sz="800" dirty="0"/>
              <a:t>();                                        /* Find highest priority task ready to run  */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9046346" y="724829"/>
            <a:ext cx="665825" cy="21604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889724" y="585926"/>
            <a:ext cx="2228295" cy="2352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如果等待表中，有等待任务，则如果参数为广播模式，则将所有的任务唤醒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8726750" y="3506680"/>
            <a:ext cx="319596" cy="97654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046346" y="3462291"/>
            <a:ext cx="2982897" cy="10031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如果不是广播模式则只把优先级最高的唤醒</a:t>
            </a:r>
          </a:p>
        </p:txBody>
      </p:sp>
      <p:sp>
        <p:nvSpPr>
          <p:cNvPr id="8" name="矩形 7"/>
          <p:cNvSpPr/>
          <p:nvPr/>
        </p:nvSpPr>
        <p:spPr>
          <a:xfrm>
            <a:off x="3515557" y="5539666"/>
            <a:ext cx="4563123" cy="8788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执行一次调度</a:t>
            </a:r>
          </a:p>
        </p:txBody>
      </p:sp>
    </p:spTree>
    <p:extLst>
      <p:ext uri="{BB962C8B-B14F-4D97-AF65-F5344CB8AC3E}">
        <p14:creationId xmlns:p14="http://schemas.microsoft.com/office/powerpoint/2010/main" val="987609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53252"/>
            <a:ext cx="10515600" cy="57157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24829"/>
            <a:ext cx="11353800" cy="54521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        return (OS_NO_ERR);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!= (void *)0) {            </a:t>
            </a:r>
            <a:r>
              <a:rPr lang="en-US" altLang="zh-CN" sz="900" dirty="0"/>
              <a:t>/* Make sure mailbox doesn't already have a </a:t>
            </a:r>
            <a:r>
              <a:rPr lang="en-US" altLang="zh-CN" sz="900" dirty="0" err="1"/>
              <a:t>msg</a:t>
            </a:r>
            <a:r>
              <a:rPr lang="en-US" altLang="zh-CN" sz="900" dirty="0"/>
              <a:t>  */</a:t>
            </a:r>
          </a:p>
          <a:p>
            <a:pPr marL="0" indent="0">
              <a:buNone/>
            </a:pPr>
            <a:r>
              <a:rPr lang="en-US" altLang="zh-CN" dirty="0"/>
              <a:t>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return (OS_MBOX_FULL);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= </a:t>
            </a:r>
            <a:r>
              <a:rPr lang="en-US" altLang="zh-CN" dirty="0" err="1"/>
              <a:t>msg</a:t>
            </a:r>
            <a:r>
              <a:rPr lang="en-US" altLang="zh-CN" dirty="0"/>
              <a:t>;                         </a:t>
            </a:r>
            <a:r>
              <a:rPr lang="en-US" altLang="zh-CN" sz="900" dirty="0"/>
              <a:t>/* Place message in mailbox                      */</a:t>
            </a:r>
          </a:p>
          <a:p>
            <a:pPr marL="0" indent="0">
              <a:buNone/>
            </a:pPr>
            <a:r>
              <a:rPr lang="en-US" altLang="zh-CN" dirty="0"/>
              <a:t>    OS_EXIT_CRITICAL();</a:t>
            </a:r>
          </a:p>
          <a:p>
            <a:pPr marL="0" indent="0">
              <a:buNone/>
            </a:pPr>
            <a:r>
              <a:rPr lang="en-US" altLang="zh-CN" dirty="0"/>
              <a:t>    return (OS_NO_ERR);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6356412" y="1669002"/>
            <a:ext cx="292963" cy="14026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18050" y="1482571"/>
            <a:ext cx="4625267" cy="1464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如果没有任务正在等待，则判断邮箱是否满，满了就退出并报错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5086905" y="3666478"/>
            <a:ext cx="319596" cy="12162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99464" y="3595456"/>
            <a:ext cx="5859262" cy="13849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如果邮箱没有满，则把消息写入邮箱</a:t>
            </a:r>
          </a:p>
        </p:txBody>
      </p:sp>
    </p:spTree>
    <p:extLst>
      <p:ext uri="{BB962C8B-B14F-4D97-AF65-F5344CB8AC3E}">
        <p14:creationId xmlns:p14="http://schemas.microsoft.com/office/powerpoint/2010/main" val="9876092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46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02166"/>
            <a:ext cx="11353800" cy="557479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dirty="0"/>
              <a:t>#if OS_MBOX_DEL_EN &gt; 0</a:t>
            </a:r>
          </a:p>
          <a:p>
            <a:pPr marL="0" indent="0">
              <a:buNone/>
            </a:pPr>
            <a:r>
              <a:rPr lang="en-US" altLang="zh-CN" dirty="0"/>
              <a:t>OS_EVENT  *</a:t>
            </a:r>
            <a:r>
              <a:rPr lang="en-US" altLang="zh-CN" dirty="0" err="1"/>
              <a:t>OSMboxDel</a:t>
            </a:r>
            <a:r>
              <a:rPr lang="en-US" altLang="zh-CN" dirty="0"/>
              <a:t> (OS_EVENT *</a:t>
            </a:r>
            <a:r>
              <a:rPr lang="en-US" altLang="zh-CN" dirty="0" err="1"/>
              <a:t>pevent</a:t>
            </a:r>
            <a:r>
              <a:rPr lang="en-US" altLang="zh-CN" dirty="0"/>
              <a:t>, INT8U opt, INT8U *err)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BOOLEAN    </a:t>
            </a:r>
            <a:r>
              <a:rPr lang="en-US" altLang="zh-CN" dirty="0" err="1"/>
              <a:t>tasks_waiting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OSIntNesting</a:t>
            </a:r>
            <a:r>
              <a:rPr lang="en-US" altLang="zh-CN" dirty="0"/>
              <a:t> &gt; 0) {                             /* See if called from ISR ...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OS_ERR_DEL_ISR;                      /* ... can't DELETE from an ISR             */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#if OS_ARG_CHK_EN &gt; 0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 == (OS_EVENT *)0) {                 /* Validate '</a:t>
            </a:r>
            <a:r>
              <a:rPr lang="en-US" altLang="zh-CN" dirty="0" err="1"/>
              <a:t>pevent</a:t>
            </a:r>
            <a:r>
              <a:rPr lang="en-US" altLang="zh-CN" dirty="0"/>
              <a:t>'        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OS_ERR_PEVENT_NULL;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4136994" y="3000652"/>
            <a:ext cx="363985" cy="13050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856085" y="2858610"/>
            <a:ext cx="6356412" cy="1411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中断中，不能删除邮箱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5211192" y="5131293"/>
            <a:ext cx="230820" cy="10456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97118" y="5113538"/>
            <a:ext cx="5415379" cy="8700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是否是有效事件</a:t>
            </a:r>
          </a:p>
        </p:txBody>
      </p:sp>
    </p:spTree>
    <p:extLst>
      <p:ext uri="{BB962C8B-B14F-4D97-AF65-F5344CB8AC3E}">
        <p14:creationId xmlns:p14="http://schemas.microsoft.com/office/powerpoint/2010/main" val="3616965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46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02166"/>
            <a:ext cx="11353800" cy="557479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!= OS_EVENT_TYPE_MBOX) {       /* Validate event block type                */</a:t>
            </a:r>
          </a:p>
          <a:p>
            <a:pPr marL="0" indent="0">
              <a:buNone/>
            </a:pPr>
            <a:r>
              <a:rPr lang="en-US" altLang="zh-CN" dirty="0"/>
              <a:t>        *err = OS_ERR_EVENT_TYPE;</a:t>
            </a:r>
          </a:p>
          <a:p>
            <a:pPr marL="0" indent="0">
              <a:buNone/>
            </a:pPr>
            <a:r>
              <a:rPr lang="en-US" altLang="zh-CN" dirty="0"/>
              <a:t>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OS_ENTER_CRITICAL();</a:t>
            </a:r>
          </a:p>
          <a:p>
            <a:pPr marL="0" indent="0">
              <a:buNone/>
            </a:pPr>
            <a:r>
              <a:rPr lang="en-US" altLang="zh-CN" dirty="0"/>
              <a:t>    if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                /* See if any tasks waiting on mailbox      */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tasks_waiting</a:t>
            </a:r>
            <a:r>
              <a:rPr lang="en-US" altLang="zh-CN" dirty="0"/>
              <a:t> = TRUE;                              /* Yes         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} else {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tasks_waiting</a:t>
            </a:r>
            <a:r>
              <a:rPr lang="en-US" altLang="zh-CN" dirty="0"/>
              <a:t> = FALSE;                             /* No                                       */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switch (opt) {</a:t>
            </a:r>
          </a:p>
          <a:p>
            <a:pPr marL="0" indent="0">
              <a:buNone/>
            </a:pPr>
            <a:r>
              <a:rPr lang="en-US" altLang="zh-CN" dirty="0"/>
              <a:t>        case OS_DEL_NO_PEND:                               /* Delete mailbox only if no task waiting   */</a:t>
            </a:r>
          </a:p>
          <a:p>
            <a:pPr marL="0" indent="0">
              <a:buNone/>
            </a:pPr>
            <a:r>
              <a:rPr lang="en-US" altLang="zh-CN" dirty="0"/>
              <a:t>             if (</a:t>
            </a:r>
            <a:r>
              <a:rPr lang="en-US" altLang="zh-CN" dirty="0" err="1"/>
              <a:t>tasks_waiting</a:t>
            </a:r>
            <a:r>
              <a:rPr lang="en-US" altLang="zh-CN" dirty="0"/>
              <a:t> == FALSE) {</a:t>
            </a:r>
          </a:p>
        </p:txBody>
      </p:sp>
      <p:sp>
        <p:nvSpPr>
          <p:cNvPr id="4" name="矩形 3"/>
          <p:cNvSpPr/>
          <p:nvPr/>
        </p:nvSpPr>
        <p:spPr>
          <a:xfrm>
            <a:off x="6747029" y="976544"/>
            <a:ext cx="4740676" cy="1136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是否是邮箱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6409678" y="1047565"/>
            <a:ext cx="230819" cy="10475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大括号 5"/>
          <p:cNvSpPr/>
          <p:nvPr/>
        </p:nvSpPr>
        <p:spPr>
          <a:xfrm>
            <a:off x="4509856" y="3151573"/>
            <a:ext cx="301841" cy="15447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024761" y="3080551"/>
            <a:ext cx="6542843" cy="1740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判断是否有任务正在等待</a:t>
            </a:r>
          </a:p>
        </p:txBody>
      </p:sp>
      <p:sp>
        <p:nvSpPr>
          <p:cNvPr id="8" name="矩形 7"/>
          <p:cNvSpPr/>
          <p:nvPr/>
        </p:nvSpPr>
        <p:spPr>
          <a:xfrm>
            <a:off x="5220070" y="5051394"/>
            <a:ext cx="5930283" cy="6125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如果删除方式为，没有等待任务时才删除</a:t>
            </a:r>
          </a:p>
        </p:txBody>
      </p:sp>
    </p:spTree>
    <p:extLst>
      <p:ext uri="{BB962C8B-B14F-4D97-AF65-F5344CB8AC3E}">
        <p14:creationId xmlns:p14="http://schemas.microsoft.com/office/powerpoint/2010/main" val="3616965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46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02166"/>
            <a:ext cx="11353800" cy="557479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= OS_EVENT_TYPE_UNUSED;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</a:t>
            </a:r>
            <a:r>
              <a:rPr lang="en-US" altLang="zh-CN" dirty="0" err="1"/>
              <a:t>OSEventFreeList</a:t>
            </a:r>
            <a:r>
              <a:rPr lang="en-US" altLang="zh-CN" dirty="0"/>
              <a:t>;    /* Return Event Control Block to free list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OSEventFreeList</a:t>
            </a:r>
            <a:r>
              <a:rPr lang="en-US" altLang="zh-CN" dirty="0"/>
              <a:t>     = </a:t>
            </a:r>
            <a:r>
              <a:rPr lang="en-US" altLang="zh-CN" dirty="0" err="1"/>
              <a:t>pevent</a:t>
            </a:r>
            <a:r>
              <a:rPr lang="en-US" altLang="zh-CN" dirty="0"/>
              <a:t>;             /* Get next free event control block        */</a:t>
            </a:r>
          </a:p>
          <a:p>
            <a:pPr marL="0" indent="0">
              <a:buNone/>
            </a:pPr>
            <a:r>
              <a:rPr lang="en-US" altLang="zh-CN" dirty="0"/>
              <a:t>    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    *err = OS_NO_ERR;</a:t>
            </a:r>
          </a:p>
          <a:p>
            <a:pPr marL="0" indent="0">
              <a:buNone/>
            </a:pPr>
            <a:r>
              <a:rPr lang="en-US" altLang="zh-CN" dirty="0"/>
              <a:t>                 return ((OS_EVENT *)0);                   /* Mailbox has been deleted                 */</a:t>
            </a:r>
          </a:p>
          <a:p>
            <a:pPr marL="0" indent="0">
              <a:buNone/>
            </a:pPr>
            <a:r>
              <a:rPr lang="en-US" altLang="zh-CN" dirty="0"/>
              <a:t>             } else {</a:t>
            </a:r>
          </a:p>
          <a:p>
            <a:pPr marL="0" indent="0">
              <a:buNone/>
            </a:pPr>
            <a:r>
              <a:rPr lang="en-US" altLang="zh-CN" dirty="0"/>
              <a:t>    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    *err = OS_ERR_TASK_WAITING;</a:t>
            </a:r>
          </a:p>
          <a:p>
            <a:pPr marL="0" indent="0">
              <a:buNone/>
            </a:pPr>
            <a:r>
              <a:rPr lang="en-US" altLang="zh-CN" dirty="0"/>
              <a:t>         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         }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case OS_DEL_ALWAYS:                                /* Always delete the mailbox                */</a:t>
            </a:r>
          </a:p>
          <a:p>
            <a:pPr marL="0" indent="0">
              <a:buNone/>
            </a:pPr>
            <a:r>
              <a:rPr lang="en-US" altLang="zh-CN" dirty="0"/>
              <a:t>             while (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OSEventGrp</a:t>
            </a:r>
            <a:r>
              <a:rPr lang="en-US" altLang="zh-CN" dirty="0"/>
              <a:t> != 0x00) {          /* Ready ALL tasks waiting for mailbox    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OS_EventTaskRdy</a:t>
            </a:r>
            <a:r>
              <a:rPr lang="en-US" altLang="zh-CN" dirty="0"/>
              <a:t>(</a:t>
            </a:r>
            <a:r>
              <a:rPr lang="en-US" altLang="zh-CN" dirty="0" err="1"/>
              <a:t>pevent</a:t>
            </a:r>
            <a:r>
              <a:rPr lang="en-US" altLang="zh-CN" dirty="0"/>
              <a:t>, (void *)0, OS_STAT_MBOX);</a:t>
            </a:r>
          </a:p>
          <a:p>
            <a:pPr marL="0" indent="0">
              <a:buNone/>
            </a:pPr>
            <a:r>
              <a:rPr lang="en-US" altLang="zh-CN" dirty="0"/>
              <a:t>             }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7111014" y="602166"/>
            <a:ext cx="106532" cy="193684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430610" y="602166"/>
            <a:ext cx="4367813" cy="2061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等待表中没有等待任务了，则将该邮箱事件的控制块归还给空白事件链表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4873841" y="2947386"/>
            <a:ext cx="292963" cy="9765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317724" y="3045041"/>
            <a:ext cx="4953740" cy="1074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如果还有等待任务，则直接返回有任务在等待</a:t>
            </a:r>
          </a:p>
        </p:txBody>
      </p:sp>
      <p:sp>
        <p:nvSpPr>
          <p:cNvPr id="8" name="右大括号 7"/>
          <p:cNvSpPr/>
          <p:nvPr/>
        </p:nvSpPr>
        <p:spPr>
          <a:xfrm>
            <a:off x="7430610" y="4705165"/>
            <a:ext cx="177553" cy="11185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830105" y="4705165"/>
            <a:ext cx="3523695" cy="1074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如果删除方式为“直接强制删除”，则把所有等待任务置为就绪态</a:t>
            </a:r>
          </a:p>
        </p:txBody>
      </p:sp>
    </p:spTree>
    <p:extLst>
      <p:ext uri="{BB962C8B-B14F-4D97-AF65-F5344CB8AC3E}">
        <p14:creationId xmlns:p14="http://schemas.microsoft.com/office/powerpoint/2010/main" val="36169650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46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邮箱相关函数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02166"/>
            <a:ext cx="11353800" cy="557479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/>
              <a:t>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OSEventType</a:t>
            </a:r>
            <a:r>
              <a:rPr lang="en-US" altLang="zh-CN" dirty="0"/>
              <a:t> = OS_EVENT_TYPE_UNUSED;</a:t>
            </a:r>
          </a:p>
          <a:p>
            <a:pPr marL="0" indent="0">
              <a:buNone/>
            </a:pPr>
            <a:r>
              <a:rPr lang="en-US" altLang="zh-CN" dirty="0"/>
              <a:t>             </a:t>
            </a:r>
            <a:r>
              <a:rPr lang="en-US" altLang="zh-CN" dirty="0" err="1"/>
              <a:t>pevent</a:t>
            </a:r>
            <a:r>
              <a:rPr lang="en-US" altLang="zh-CN" dirty="0"/>
              <a:t>-&gt;</a:t>
            </a:r>
            <a:r>
              <a:rPr lang="en-US" altLang="zh-CN" dirty="0" err="1"/>
              <a:t>OSEventPtr</a:t>
            </a:r>
            <a:r>
              <a:rPr lang="en-US" altLang="zh-CN" dirty="0"/>
              <a:t>  = </a:t>
            </a:r>
            <a:r>
              <a:rPr lang="en-US" altLang="zh-CN" dirty="0" err="1"/>
              <a:t>OSEventFreeList</a:t>
            </a:r>
            <a:r>
              <a:rPr lang="en-US" altLang="zh-CN" dirty="0"/>
              <a:t>;        /* Return Event Control Block to free list  */</a:t>
            </a:r>
          </a:p>
          <a:p>
            <a:pPr marL="0" indent="0">
              <a:buNone/>
            </a:pPr>
            <a:r>
              <a:rPr lang="en-US" altLang="zh-CN" dirty="0"/>
              <a:t>             </a:t>
            </a:r>
            <a:r>
              <a:rPr lang="en-US" altLang="zh-CN" dirty="0" err="1"/>
              <a:t>OSEventFreeList</a:t>
            </a:r>
            <a:r>
              <a:rPr lang="en-US" altLang="zh-CN" dirty="0"/>
              <a:t>     = </a:t>
            </a:r>
            <a:r>
              <a:rPr lang="en-US" altLang="zh-CN" dirty="0" err="1"/>
              <a:t>pevent</a:t>
            </a:r>
            <a:r>
              <a:rPr lang="en-US" altLang="zh-CN" dirty="0"/>
              <a:t>;                 /* Get next free event control block        */</a:t>
            </a:r>
          </a:p>
          <a:p>
            <a:pPr marL="0" indent="0">
              <a:buNone/>
            </a:pPr>
            <a:r>
              <a:rPr lang="en-US" altLang="zh-CN" dirty="0"/>
              <a:t>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if (</a:t>
            </a:r>
            <a:r>
              <a:rPr lang="en-US" altLang="zh-CN" dirty="0" err="1"/>
              <a:t>tasks_waiting</a:t>
            </a:r>
            <a:r>
              <a:rPr lang="en-US" altLang="zh-CN" dirty="0"/>
              <a:t> == TRUE) {                  /* Reschedule only if task(s) were waiting  */</a:t>
            </a:r>
          </a:p>
          <a:p>
            <a:pPr marL="0" indent="0">
              <a:buNone/>
            </a:pPr>
            <a:r>
              <a:rPr lang="en-US" altLang="zh-CN" dirty="0"/>
              <a:t>                 </a:t>
            </a:r>
            <a:r>
              <a:rPr lang="en-US" altLang="zh-CN" dirty="0" err="1"/>
              <a:t>OS_Sched</a:t>
            </a:r>
            <a:r>
              <a:rPr lang="en-US" altLang="zh-CN" dirty="0"/>
              <a:t>();                               /* Find highest priority task ready to run  */</a:t>
            </a:r>
          </a:p>
          <a:p>
            <a:pPr marL="0" indent="0">
              <a:buNone/>
            </a:pPr>
            <a:r>
              <a:rPr lang="en-US" altLang="zh-CN" dirty="0"/>
              <a:t>             }</a:t>
            </a:r>
          </a:p>
          <a:p>
            <a:pPr marL="0" indent="0">
              <a:buNone/>
            </a:pPr>
            <a:r>
              <a:rPr lang="en-US" altLang="zh-CN" dirty="0"/>
              <a:t>             *err = OS_NO_ERR;</a:t>
            </a:r>
          </a:p>
          <a:p>
            <a:pPr marL="0" indent="0">
              <a:buNone/>
            </a:pPr>
            <a:r>
              <a:rPr lang="en-US" altLang="zh-CN" dirty="0"/>
              <a:t>             return ((OS_EVENT *)0);                       /* Mailbox has been deleted                 */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default:</a:t>
            </a:r>
          </a:p>
          <a:p>
            <a:pPr marL="0" indent="0">
              <a:buNone/>
            </a:pPr>
            <a:r>
              <a:rPr lang="en-US" altLang="zh-CN" dirty="0"/>
              <a:t>             OS_EXIT_CRITICAL();</a:t>
            </a:r>
          </a:p>
          <a:p>
            <a:pPr marL="0" indent="0">
              <a:buNone/>
            </a:pPr>
            <a:r>
              <a:rPr lang="en-US" altLang="zh-CN" dirty="0"/>
              <a:t>             *err = OS_ERR_INVALID_OPT;</a:t>
            </a:r>
          </a:p>
          <a:p>
            <a:pPr marL="0" indent="0">
              <a:buNone/>
            </a:pPr>
            <a:r>
              <a:rPr lang="en-US" altLang="zh-CN" dirty="0"/>
              <a:t>             return (</a:t>
            </a:r>
            <a:r>
              <a:rPr lang="en-US" altLang="zh-CN" dirty="0" err="1"/>
              <a:t>pevent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6010183" y="602166"/>
            <a:ext cx="159798" cy="12355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05491" y="435006"/>
            <a:ext cx="4509857" cy="1331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归还邮箱控制块到空白事件链表</a:t>
            </a:r>
          </a:p>
        </p:txBody>
      </p:sp>
      <p:sp>
        <p:nvSpPr>
          <p:cNvPr id="6" name="矩形 5"/>
          <p:cNvSpPr/>
          <p:nvPr/>
        </p:nvSpPr>
        <p:spPr>
          <a:xfrm>
            <a:off x="4012707" y="2157274"/>
            <a:ext cx="6098959" cy="585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如果，当时任务等待表不为空，则执行一次调度</a:t>
            </a:r>
          </a:p>
        </p:txBody>
      </p:sp>
      <p:sp>
        <p:nvSpPr>
          <p:cNvPr id="7" name="右大括号 6"/>
          <p:cNvSpPr/>
          <p:nvPr/>
        </p:nvSpPr>
        <p:spPr>
          <a:xfrm>
            <a:off x="3986074" y="3932808"/>
            <a:ext cx="408373" cy="11008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607511" y="3977196"/>
            <a:ext cx="5353235" cy="1012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其他选项为非法选项</a:t>
            </a:r>
          </a:p>
        </p:txBody>
      </p:sp>
    </p:spTree>
    <p:extLst>
      <p:ext uri="{BB962C8B-B14F-4D97-AF65-F5344CB8AC3E}">
        <p14:creationId xmlns:p14="http://schemas.microsoft.com/office/powerpoint/2010/main" val="3616965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7211</Words>
  <Application>Microsoft Office PowerPoint</Application>
  <PresentationFormat>宽屏</PresentationFormat>
  <Paragraphs>750</Paragraphs>
  <Slides>43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7" baseType="lpstr">
      <vt:lpstr>等线</vt:lpstr>
      <vt:lpstr>等线 Light</vt:lpstr>
      <vt:lpstr>Arial</vt:lpstr>
      <vt:lpstr>Office 主题​​</vt:lpstr>
      <vt:lpstr>同步与通信函数分析</vt:lpstr>
      <vt:lpstr>信号量相关函数</vt:lpstr>
      <vt:lpstr>信号相关函数</vt:lpstr>
      <vt:lpstr>信号相关函数</vt:lpstr>
      <vt:lpstr>信号相关函数</vt:lpstr>
      <vt:lpstr>信号量相关函数</vt:lpstr>
      <vt:lpstr>信号量相关函数</vt:lpstr>
      <vt:lpstr>信号量相关函数</vt:lpstr>
      <vt:lpstr>信号量相关函数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互斥量相关函数</vt:lpstr>
      <vt:lpstr>邮箱相关函数</vt:lpstr>
      <vt:lpstr>邮箱相关函数</vt:lpstr>
      <vt:lpstr>邮箱相关函数</vt:lpstr>
      <vt:lpstr>邮箱相关函数</vt:lpstr>
      <vt:lpstr>邮箱相关函数</vt:lpstr>
      <vt:lpstr>邮箱相关函数</vt:lpstr>
      <vt:lpstr>邮箱相关函数</vt:lpstr>
      <vt:lpstr>邮箱相关函数</vt:lpstr>
      <vt:lpstr>PowerPoint 演示文稿</vt:lpstr>
      <vt:lpstr>邮箱相关函数</vt:lpstr>
      <vt:lpstr>邮箱相关函数</vt:lpstr>
      <vt:lpstr>邮箱相关函数</vt:lpstr>
      <vt:lpstr>邮箱相关函数</vt:lpstr>
      <vt:lpstr>邮箱相关函数</vt:lpstr>
      <vt:lpstr>邮箱相关函数</vt:lpstr>
      <vt:lpstr>邮箱相关函数</vt:lpstr>
      <vt:lpstr>邮箱相关函数</vt:lpstr>
      <vt:lpstr>邮箱相关函数</vt:lpstr>
      <vt:lpstr>邮箱相关函数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同步与通信函数分析</dc:title>
  <dc:creator>google</dc:creator>
  <cp:lastModifiedBy>strong stone</cp:lastModifiedBy>
  <cp:revision>39</cp:revision>
  <dcterms:created xsi:type="dcterms:W3CDTF">2019-05-12T22:59:18Z</dcterms:created>
  <dcterms:modified xsi:type="dcterms:W3CDTF">2022-04-19T00:26:54Z</dcterms:modified>
</cp:coreProperties>
</file>