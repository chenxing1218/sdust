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68" r:id="rId3"/>
    <p:sldId id="257" r:id="rId4"/>
    <p:sldId id="271" r:id="rId5"/>
    <p:sldId id="258" r:id="rId6"/>
    <p:sldId id="370" r:id="rId7"/>
    <p:sldId id="259" r:id="rId8"/>
    <p:sldId id="260" r:id="rId9"/>
    <p:sldId id="261" r:id="rId10"/>
    <p:sldId id="264" r:id="rId11"/>
    <p:sldId id="262" r:id="rId12"/>
    <p:sldId id="263" r:id="rId13"/>
    <p:sldId id="269" r:id="rId14"/>
    <p:sldId id="265" r:id="rId15"/>
    <p:sldId id="270" r:id="rId16"/>
    <p:sldId id="266" r:id="rId17"/>
    <p:sldId id="267" r:id="rId18"/>
    <p:sldId id="36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黑体" panose="0201060906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黑体" panose="0201060906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黑体" panose="0201060906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黑体" panose="0201060906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黑体" panose="0201060906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2A2C-913A-4914-BB8C-6243339ED964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E4A6-203A-4569-A081-3DDC96308B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2A2C-913A-4914-BB8C-6243339ED964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E4A6-203A-4569-A081-3DDC96308B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2A2C-913A-4914-BB8C-6243339ED964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E4A6-203A-4569-A081-3DDC96308B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2A2C-913A-4914-BB8C-6243339ED964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E4A6-203A-4569-A081-3DDC96308B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2A2C-913A-4914-BB8C-6243339ED964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E4A6-203A-4569-A081-3DDC96308B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2A2C-913A-4914-BB8C-6243339ED964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E4A6-203A-4569-A081-3DDC96308B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2A2C-913A-4914-BB8C-6243339ED964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E4A6-203A-4569-A081-3DDC96308B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2A2C-913A-4914-BB8C-6243339ED964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E4A6-203A-4569-A081-3DDC96308B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2A2C-913A-4914-BB8C-6243339ED964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E4A6-203A-4569-A081-3DDC96308B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2A2C-913A-4914-BB8C-6243339ED964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E4A6-203A-4569-A081-3DDC96308B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2A2C-913A-4914-BB8C-6243339ED964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E4A6-203A-4569-A081-3DDC96308B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fld id="{493B2A2C-913A-4914-BB8C-6243339ED964}" type="datetimeFigureOut">
              <a:rPr lang="zh-CN" altLang="en-US" smtClean="0"/>
              <a:t>2020/11/16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fld id="{BE49E4A6-203A-4569-A081-3DDC96308B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90204" pitchFamily="34" charset="0"/>
        <a:buChar char="•"/>
        <a:defRPr sz="2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/>
              <a:t>UCOS-II</a:t>
            </a:r>
            <a:r>
              <a:rPr lang="zh-CN" altLang="en-US" sz="4000" b="1" dirty="0"/>
              <a:t>中断和时钟相关函数说明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17650" y="2128367"/>
            <a:ext cx="10515600" cy="1325563"/>
          </a:xfrm>
        </p:spPr>
        <p:txBody>
          <a:bodyPr/>
          <a:lstStyle/>
          <a:p>
            <a:r>
              <a:rPr lang="en-US" altLang="zh-CN" dirty="0" err="1"/>
              <a:t>OSIntEnter</a:t>
            </a:r>
            <a:r>
              <a:rPr lang="en-US" altLang="zh-CN" dirty="0"/>
              <a:t>()</a:t>
            </a:r>
            <a:r>
              <a:rPr lang="zh-CN" altLang="en-US" dirty="0"/>
              <a:t>流程图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590549"/>
            <a:ext cx="4381500" cy="5572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7150" y="955195"/>
            <a:ext cx="1169485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200" dirty="0"/>
              <a:t>void  </a:t>
            </a:r>
            <a:r>
              <a:rPr lang="en-US" altLang="zh-CN" sz="3200" dirty="0" err="1"/>
              <a:t>OSIntEnter</a:t>
            </a:r>
            <a:r>
              <a:rPr lang="en-US" altLang="zh-CN" sz="3200" dirty="0"/>
              <a:t> (void)</a:t>
            </a:r>
          </a:p>
          <a:p>
            <a:pPr marL="0" indent="0">
              <a:buNone/>
            </a:pPr>
            <a:r>
              <a:rPr lang="en-US" altLang="zh-CN" sz="3200" dirty="0"/>
              <a:t>{</a:t>
            </a:r>
          </a:p>
          <a:p>
            <a:pPr marL="0" indent="0">
              <a:buNone/>
            </a:pPr>
            <a:r>
              <a:rPr lang="en-US" altLang="zh-CN" sz="3200" dirty="0"/>
              <a:t>    if (</a:t>
            </a:r>
            <a:r>
              <a:rPr lang="en-US" altLang="zh-CN" sz="3200" dirty="0" err="1"/>
              <a:t>OSRunning</a:t>
            </a:r>
            <a:r>
              <a:rPr lang="en-US" altLang="zh-CN" sz="3200" dirty="0"/>
              <a:t> == TRUE) {</a:t>
            </a:r>
          </a:p>
          <a:p>
            <a:pPr marL="0" indent="0">
              <a:buNone/>
            </a:pPr>
            <a:r>
              <a:rPr lang="en-US" altLang="zh-CN" sz="3200" dirty="0"/>
              <a:t>        if (</a:t>
            </a:r>
            <a:r>
              <a:rPr lang="en-US" altLang="zh-CN" sz="3200" dirty="0" err="1"/>
              <a:t>OSIntNesting</a:t>
            </a:r>
            <a:r>
              <a:rPr lang="en-US" altLang="zh-CN" sz="3200" dirty="0"/>
              <a:t> &lt; 255) {</a:t>
            </a:r>
          </a:p>
          <a:p>
            <a:pPr marL="0" indent="0">
              <a:buNone/>
            </a:pPr>
            <a:r>
              <a:rPr lang="en-US" altLang="zh-CN" sz="3200" dirty="0"/>
              <a:t>     /* Increment ISR nesting level */</a:t>
            </a:r>
          </a:p>
          <a:p>
            <a:pPr marL="0" indent="0">
              <a:buNone/>
            </a:pPr>
            <a:r>
              <a:rPr lang="en-US" altLang="zh-CN" sz="3200" dirty="0"/>
              <a:t>            </a:t>
            </a:r>
            <a:r>
              <a:rPr lang="en-US" altLang="zh-CN" sz="3200" dirty="0" err="1"/>
              <a:t>OSIntNesting</a:t>
            </a:r>
            <a:r>
              <a:rPr lang="en-US" altLang="zh-CN" sz="3200" dirty="0"/>
              <a:t>++;  </a:t>
            </a:r>
          </a:p>
          <a:p>
            <a:pPr marL="0" indent="0">
              <a:buNone/>
            </a:pPr>
            <a:r>
              <a:rPr lang="en-US" altLang="zh-CN" sz="3200" dirty="0"/>
              <a:t>        }</a:t>
            </a:r>
          </a:p>
          <a:p>
            <a:pPr marL="0" indent="0">
              <a:buNone/>
            </a:pPr>
            <a:r>
              <a:rPr lang="en-US" altLang="zh-CN" sz="3200" dirty="0"/>
              <a:t>   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DC805-D169-41B6-B08E-790D2C52C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06727"/>
          </a:xfrm>
        </p:spPr>
        <p:txBody>
          <a:bodyPr/>
          <a:lstStyle/>
          <a:p>
            <a:r>
              <a:rPr lang="en-US" altLang="zh-CN" dirty="0" err="1"/>
              <a:t>OSIntExit</a:t>
            </a:r>
            <a:r>
              <a:rPr lang="zh-CN" altLang="en-US" dirty="0"/>
              <a:t>（）函数流程图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55E71B-D918-4B27-9680-DBB6EF86A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333" y="999733"/>
            <a:ext cx="440055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69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pPr marL="0" indent="0">
              <a:buNone/>
            </a:pPr>
            <a:r>
              <a:rPr lang="en-US" altLang="zh-CN" sz="2400" dirty="0"/>
              <a:t>void  </a:t>
            </a:r>
            <a:r>
              <a:rPr lang="en-US" altLang="zh-CN" sz="2400" dirty="0" err="1"/>
              <a:t>OSIntExit</a:t>
            </a:r>
            <a:r>
              <a:rPr lang="en-US" altLang="zh-CN" sz="2400" dirty="0"/>
              <a:t> (void)</a:t>
            </a:r>
          </a:p>
          <a:p>
            <a:pPr marL="0" indent="0">
              <a:buNone/>
            </a:pPr>
            <a:r>
              <a:rPr lang="en-US" altLang="zh-CN" sz="2400" dirty="0"/>
              <a:t>{</a:t>
            </a:r>
          </a:p>
          <a:p>
            <a:pPr marL="0" indent="0">
              <a:buNone/>
            </a:pPr>
            <a:r>
              <a:rPr lang="en-US" altLang="zh-CN" sz="2400" dirty="0"/>
              <a:t>#if OS_CRITICAL_METHOD == 3 /* Allocate storage for CPU status register */</a:t>
            </a:r>
          </a:p>
          <a:p>
            <a:pPr marL="0" indent="0">
              <a:buNone/>
            </a:pPr>
            <a:r>
              <a:rPr lang="en-US" altLang="zh-CN" sz="2400" dirty="0"/>
              <a:t>    OS_CPU_SR  </a:t>
            </a:r>
            <a:r>
              <a:rPr lang="en-US" altLang="zh-CN" sz="2400" dirty="0" err="1"/>
              <a:t>cpu_sr</a:t>
            </a:r>
            <a:r>
              <a:rPr lang="en-US" altLang="zh-CN" sz="2400" dirty="0"/>
              <a:t>;</a:t>
            </a:r>
          </a:p>
          <a:p>
            <a:pPr marL="0" indent="0">
              <a:buNone/>
            </a:pPr>
            <a:r>
              <a:rPr lang="en-US" altLang="zh-CN" sz="2400" dirty="0"/>
              <a:t>#endif</a:t>
            </a:r>
          </a:p>
          <a:p>
            <a:pPr marL="0" indent="0">
              <a:buNone/>
            </a:pPr>
            <a:r>
              <a:rPr lang="en-US" altLang="zh-CN" sz="2400" dirty="0"/>
              <a:t>    if (</a:t>
            </a:r>
            <a:r>
              <a:rPr lang="en-US" altLang="zh-CN" sz="2400" dirty="0" err="1"/>
              <a:t>OSRunning</a:t>
            </a:r>
            <a:r>
              <a:rPr lang="en-US" altLang="zh-CN" sz="2400" dirty="0"/>
              <a:t> == TRUE) {</a:t>
            </a:r>
          </a:p>
          <a:p>
            <a:pPr marL="0" indent="0">
              <a:buNone/>
            </a:pPr>
            <a:r>
              <a:rPr lang="en-US" altLang="zh-CN" sz="2400" dirty="0"/>
              <a:t>        OS_ENTER_CRITICAL();</a:t>
            </a:r>
          </a:p>
          <a:p>
            <a:pPr marL="0" indent="0">
              <a:buNone/>
            </a:pPr>
            <a:r>
              <a:rPr lang="en-US" altLang="zh-CN" sz="2400" dirty="0"/>
              <a:t>        if (</a:t>
            </a:r>
            <a:r>
              <a:rPr lang="en-US" altLang="zh-CN" sz="2400" dirty="0" err="1"/>
              <a:t>OSIntNesting</a:t>
            </a:r>
            <a:r>
              <a:rPr lang="en-US" altLang="zh-CN" sz="2400" dirty="0"/>
              <a:t> &gt; 0) {/* Prevent </a:t>
            </a:r>
            <a:r>
              <a:rPr lang="en-US" altLang="zh-CN" sz="2400" dirty="0" err="1"/>
              <a:t>OSIntNesting</a:t>
            </a:r>
            <a:r>
              <a:rPr lang="en-US" altLang="zh-CN" sz="2400" dirty="0"/>
              <a:t> from wrapping*/</a:t>
            </a:r>
          </a:p>
          <a:p>
            <a:pPr marL="0" indent="0">
              <a:buNone/>
            </a:pPr>
            <a:r>
              <a:rPr lang="en-US" altLang="zh-CN" sz="2400" dirty="0"/>
              <a:t>            </a:t>
            </a:r>
            <a:r>
              <a:rPr lang="en-US" altLang="zh-CN" sz="2400" dirty="0" err="1"/>
              <a:t>OSIntNesting</a:t>
            </a:r>
            <a:r>
              <a:rPr lang="en-US" altLang="zh-CN" sz="2400" dirty="0"/>
              <a:t>--;</a:t>
            </a:r>
          </a:p>
          <a:p>
            <a:pPr marL="0" indent="0">
              <a:buNone/>
            </a:pPr>
            <a:r>
              <a:rPr lang="en-US" altLang="zh-CN" sz="2400" dirty="0"/>
              <a:t>        }</a:t>
            </a:r>
          </a:p>
        </p:txBody>
      </p:sp>
      <p:cxnSp>
        <p:nvCxnSpPr>
          <p:cNvPr id="5" name="直接连接符 4"/>
          <p:cNvCxnSpPr>
            <a:cxnSpLocks/>
          </p:cNvCxnSpPr>
          <p:nvPr/>
        </p:nvCxnSpPr>
        <p:spPr>
          <a:xfrm>
            <a:off x="1284009" y="3168449"/>
            <a:ext cx="264554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473693" y="4127942"/>
            <a:ext cx="28674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cxnSpLocks/>
          </p:cNvCxnSpPr>
          <p:nvPr/>
        </p:nvCxnSpPr>
        <p:spPr>
          <a:xfrm>
            <a:off x="1908698" y="4589755"/>
            <a:ext cx="243248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dirty="0"/>
              <a:t> /* Reschedule only if all ISRs complete ... */</a:t>
            </a:r>
          </a:p>
          <a:p>
            <a:pPr marL="0" indent="0">
              <a:buNone/>
            </a:pPr>
            <a:r>
              <a:rPr lang="en-US" altLang="zh-CN" sz="2400" dirty="0"/>
              <a:t>if ((</a:t>
            </a:r>
            <a:r>
              <a:rPr lang="en-US" altLang="zh-CN" sz="2400" dirty="0" err="1"/>
              <a:t>OSIntNesting</a:t>
            </a:r>
            <a:r>
              <a:rPr lang="en-US" altLang="zh-CN" sz="2400" dirty="0"/>
              <a:t> == 0) &amp;&amp; (</a:t>
            </a:r>
            <a:r>
              <a:rPr lang="en-US" altLang="zh-CN" sz="2400" dirty="0" err="1"/>
              <a:t>OSLockNesting</a:t>
            </a:r>
            <a:r>
              <a:rPr lang="en-US" altLang="zh-CN" sz="2400" dirty="0"/>
              <a:t> == 0)) { </a:t>
            </a:r>
          </a:p>
          <a:p>
            <a:pPr marL="0" indent="0">
              <a:buNone/>
            </a:pPr>
            <a:r>
              <a:rPr lang="en-US" altLang="zh-CN" sz="2400" dirty="0"/>
              <a:t>   </a:t>
            </a:r>
            <a:r>
              <a:rPr lang="en-US" altLang="zh-CN" sz="2400" dirty="0" err="1"/>
              <a:t>OSIntExitY</a:t>
            </a:r>
            <a:r>
              <a:rPr lang="en-US" altLang="zh-CN" sz="2400" dirty="0"/>
              <a:t>    = </a:t>
            </a:r>
            <a:r>
              <a:rPr lang="en-US" altLang="zh-CN" sz="2400" dirty="0" err="1"/>
              <a:t>OSUnMapTbl</a:t>
            </a:r>
            <a:r>
              <a:rPr lang="en-US" altLang="zh-CN" sz="2400" dirty="0"/>
              <a:t>[</a:t>
            </a:r>
            <a:r>
              <a:rPr lang="en-US" altLang="zh-CN" sz="2400" dirty="0" err="1"/>
              <a:t>OSRdyGrp</a:t>
            </a:r>
            <a:r>
              <a:rPr lang="en-US" altLang="zh-CN" sz="2400" dirty="0"/>
              <a:t>]; /* ... and not locked. */</a:t>
            </a:r>
          </a:p>
          <a:p>
            <a:pPr marL="0" indent="0">
              <a:buNone/>
            </a:pPr>
            <a:r>
              <a:rPr lang="en-US" altLang="zh-CN" sz="2400" dirty="0"/>
              <a:t>  </a:t>
            </a:r>
            <a:r>
              <a:rPr lang="en-US" altLang="zh-CN" sz="2400" dirty="0" err="1"/>
              <a:t>OSPrioHighRdy</a:t>
            </a:r>
            <a:r>
              <a:rPr lang="en-US" altLang="zh-CN" sz="2400" dirty="0"/>
              <a:t> = (INT8U)((</a:t>
            </a:r>
            <a:r>
              <a:rPr lang="en-US" altLang="zh-CN" sz="2400" dirty="0" err="1"/>
              <a:t>OSIntExitY</a:t>
            </a:r>
            <a:r>
              <a:rPr lang="en-US" altLang="zh-CN" sz="2400" dirty="0"/>
              <a:t> &lt;&lt; 3)+ </a:t>
            </a:r>
            <a:r>
              <a:rPr lang="en-US" altLang="zh-CN" sz="2400" dirty="0" err="1"/>
              <a:t>OSUnMapTbl</a:t>
            </a:r>
            <a:r>
              <a:rPr lang="en-US" altLang="zh-CN" sz="2400" dirty="0"/>
              <a:t>[</a:t>
            </a:r>
            <a:r>
              <a:rPr lang="en-US" altLang="zh-CN" sz="2400" dirty="0" err="1"/>
              <a:t>OSRdyTbl</a:t>
            </a:r>
            <a:r>
              <a:rPr lang="en-US" altLang="zh-CN" sz="2400" dirty="0"/>
              <a:t>[</a:t>
            </a:r>
            <a:r>
              <a:rPr lang="en-US" altLang="zh-CN" sz="2400" dirty="0" err="1"/>
              <a:t>OSIntExitY</a:t>
            </a:r>
            <a:r>
              <a:rPr lang="en-US" altLang="zh-CN" sz="2400" dirty="0"/>
              <a:t>]]);</a:t>
            </a:r>
          </a:p>
          <a:p>
            <a:pPr marL="0" indent="0">
              <a:buNone/>
            </a:pPr>
            <a:r>
              <a:rPr lang="en-US" altLang="zh-CN" sz="2400" dirty="0"/>
              <a:t> if (</a:t>
            </a:r>
            <a:r>
              <a:rPr lang="en-US" altLang="zh-CN" sz="2400" dirty="0" err="1"/>
              <a:t>OSPrioHighRdy</a:t>
            </a:r>
            <a:r>
              <a:rPr lang="en-US" altLang="zh-CN" sz="2400" dirty="0"/>
              <a:t> != </a:t>
            </a:r>
            <a:r>
              <a:rPr lang="en-US" altLang="zh-CN" sz="2400" dirty="0" err="1"/>
              <a:t>OSPrioCur</a:t>
            </a:r>
            <a:r>
              <a:rPr lang="en-US" altLang="zh-CN" sz="2400" dirty="0"/>
              <a:t>){/* No </a:t>
            </a:r>
            <a:r>
              <a:rPr lang="en-US" altLang="zh-CN" sz="2400" dirty="0" err="1"/>
              <a:t>CtxSw</a:t>
            </a:r>
            <a:r>
              <a:rPr lang="en-US" altLang="zh-CN" sz="2400" dirty="0"/>
              <a:t> if current task is highest </a:t>
            </a:r>
            <a:r>
              <a:rPr lang="en-US" altLang="zh-CN" sz="2400" dirty="0" err="1"/>
              <a:t>rdy</a:t>
            </a:r>
            <a:r>
              <a:rPr lang="en-US" altLang="zh-CN" sz="2400" dirty="0"/>
              <a:t> */</a:t>
            </a:r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 err="1"/>
              <a:t>OSTCBHighRdy</a:t>
            </a:r>
            <a:r>
              <a:rPr lang="en-US" altLang="zh-CN" sz="2400" dirty="0"/>
              <a:t>  = </a:t>
            </a:r>
            <a:r>
              <a:rPr lang="en-US" altLang="zh-CN" sz="2400" dirty="0" err="1"/>
              <a:t>OSTCBPrioTbl</a:t>
            </a:r>
            <a:r>
              <a:rPr lang="en-US" altLang="zh-CN" sz="2400" dirty="0"/>
              <a:t>[</a:t>
            </a:r>
            <a:r>
              <a:rPr lang="en-US" altLang="zh-CN" sz="2400" dirty="0" err="1"/>
              <a:t>OSPrioHighRdy</a:t>
            </a:r>
            <a:r>
              <a:rPr lang="en-US" altLang="zh-CN" sz="2400" dirty="0"/>
              <a:t>];</a:t>
            </a:r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 err="1"/>
              <a:t>OSCtxSwCtr</a:t>
            </a:r>
            <a:r>
              <a:rPr lang="en-US" altLang="zh-CN" sz="2400" dirty="0"/>
              <a:t>++; /* Keep track of the number of </a:t>
            </a:r>
            <a:r>
              <a:rPr lang="en-US" altLang="zh-CN" sz="2400" dirty="0" err="1"/>
              <a:t>ctx</a:t>
            </a:r>
            <a:r>
              <a:rPr lang="en-US" altLang="zh-CN" sz="2400" dirty="0"/>
              <a:t> switches */</a:t>
            </a:r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 err="1"/>
              <a:t>OSIntCtxSw</a:t>
            </a:r>
            <a:r>
              <a:rPr lang="en-US" altLang="zh-CN" sz="2400" dirty="0"/>
              <a:t>(); /* Perform interrupt level </a:t>
            </a:r>
            <a:r>
              <a:rPr lang="en-US" altLang="zh-CN" sz="2400" dirty="0" err="1"/>
              <a:t>ctx</a:t>
            </a:r>
            <a:r>
              <a:rPr lang="en-US" altLang="zh-CN" sz="2400" dirty="0"/>
              <a:t> switch       */</a:t>
            </a:r>
          </a:p>
          <a:p>
            <a:pPr marL="0" indent="0">
              <a:buNone/>
            </a:pPr>
            <a:r>
              <a:rPr lang="en-US" altLang="zh-CN" sz="2400" dirty="0"/>
              <a:t>            }</a:t>
            </a:r>
          </a:p>
          <a:p>
            <a:pPr marL="0" indent="0">
              <a:buNone/>
            </a:pPr>
            <a:r>
              <a:rPr lang="en-US" altLang="zh-CN" sz="2400" dirty="0"/>
              <a:t>        }</a:t>
            </a:r>
          </a:p>
          <a:p>
            <a:pPr marL="0" indent="0">
              <a:buNone/>
            </a:pPr>
            <a:r>
              <a:rPr lang="en-US" altLang="zh-CN" sz="2400" dirty="0"/>
              <a:t>        OS_EXIT_CRITICAL();</a:t>
            </a:r>
          </a:p>
          <a:p>
            <a:pPr marL="0" indent="0">
              <a:buNone/>
            </a:pPr>
            <a:r>
              <a:rPr lang="en-US" altLang="zh-CN" sz="2400" dirty="0"/>
              <a:t>    }</a:t>
            </a:r>
          </a:p>
          <a:p>
            <a:pPr marL="0" indent="0"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cxnSp>
        <p:nvCxnSpPr>
          <p:cNvPr id="5" name="直接连接符 4"/>
          <p:cNvCxnSpPr>
            <a:cxnSpLocks/>
          </p:cNvCxnSpPr>
          <p:nvPr/>
        </p:nvCxnSpPr>
        <p:spPr>
          <a:xfrm>
            <a:off x="537493" y="822635"/>
            <a:ext cx="682297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66972" y="957418"/>
            <a:ext cx="11825027" cy="9347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745723" y="2236206"/>
            <a:ext cx="436948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cxnSpLocks/>
          </p:cNvCxnSpPr>
          <p:nvPr/>
        </p:nvCxnSpPr>
        <p:spPr>
          <a:xfrm>
            <a:off x="854365" y="2723424"/>
            <a:ext cx="666906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8DE48DD-505B-47EF-A3C0-09C5D01928C1}"/>
              </a:ext>
            </a:extLst>
          </p:cNvPr>
          <p:cNvCxnSpPr>
            <a:cxnSpLocks/>
          </p:cNvCxnSpPr>
          <p:nvPr/>
        </p:nvCxnSpPr>
        <p:spPr>
          <a:xfrm>
            <a:off x="854365" y="3645368"/>
            <a:ext cx="196126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31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530" y="2611755"/>
            <a:ext cx="6398895" cy="163449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一个中断服务程序的完整流程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780" y="271462"/>
            <a:ext cx="4095750" cy="6105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6400" y="626745"/>
            <a:ext cx="10515600" cy="5046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时钟相关函数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7965" y="1328420"/>
            <a:ext cx="11736705" cy="4793615"/>
          </a:xfrm>
        </p:spPr>
        <p:txBody>
          <a:bodyPr>
            <a:normAutofit fontScale="97500"/>
          </a:bodyPr>
          <a:lstStyle/>
          <a:p>
            <a:pPr>
              <a:spcBef>
                <a:spcPct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>
                <a:latin typeface="黑体" panose="02010609060101010101" charset="-122"/>
              </a:rPr>
              <a:t>void Timer1Init(void)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charset="-122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00"/>
                </a:solidFill>
                <a:latin typeface="黑体" panose="02010609060101010101" charset="-122"/>
              </a:rPr>
              <a:t>    T1IR = 0xffffffff;	</a:t>
            </a:r>
            <a:r>
              <a:rPr lang="en-US" altLang="zh-CN" dirty="0">
                <a:latin typeface="黑体" panose="02010609060101010101" charset="-122"/>
              </a:rPr>
              <a:t>	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/* </a:t>
            </a:r>
            <a:r>
              <a:rPr lang="zh-CN" altLang="en-US" i="1" dirty="0">
                <a:solidFill>
                  <a:srgbClr val="339966"/>
                </a:solidFill>
                <a:latin typeface="黑体" panose="02010609060101010101" charset="-122"/>
              </a:rPr>
              <a:t>清除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Timer1</a:t>
            </a:r>
            <a:r>
              <a:rPr lang="zh-CN" altLang="en-US" i="1" dirty="0">
                <a:solidFill>
                  <a:srgbClr val="339966"/>
                </a:solidFill>
                <a:latin typeface="黑体" panose="02010609060101010101" charset="-122"/>
              </a:rPr>
              <a:t>的中断标示 *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/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latin typeface="黑体" panose="02010609060101010101" charset="-122"/>
              </a:rPr>
              <a:t>    T1TC = 0;		          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/* Timer1</a:t>
            </a:r>
            <a:r>
              <a:rPr lang="zh-CN" altLang="en-US" i="1" dirty="0">
                <a:solidFill>
                  <a:srgbClr val="339966"/>
                </a:solidFill>
                <a:latin typeface="黑体" panose="02010609060101010101" charset="-122"/>
              </a:rPr>
              <a:t>的定时计数器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TC</a:t>
            </a:r>
            <a:r>
              <a:rPr lang="zh-CN" altLang="en-US" i="1" dirty="0">
                <a:solidFill>
                  <a:srgbClr val="339966"/>
                </a:solidFill>
                <a:latin typeface="黑体" panose="02010609060101010101" charset="-122"/>
              </a:rPr>
              <a:t>赋初值 *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/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latin typeface="黑体" panose="02010609060101010101" charset="-122"/>
              </a:rPr>
              <a:t>    T1TCR = 0x01;		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/* Timer1</a:t>
            </a:r>
            <a:r>
              <a:rPr lang="zh-CN" altLang="en-US" i="1" dirty="0">
                <a:solidFill>
                  <a:srgbClr val="339966"/>
                </a:solidFill>
                <a:latin typeface="黑体" panose="02010609060101010101" charset="-122"/>
              </a:rPr>
              <a:t>使能 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&amp; </a:t>
            </a:r>
            <a:r>
              <a:rPr lang="zh-CN" altLang="en-US" i="1" dirty="0">
                <a:solidFill>
                  <a:srgbClr val="339966"/>
                </a:solidFill>
                <a:latin typeface="黑体" panose="02010609060101010101" charset="-122"/>
              </a:rPr>
              <a:t>解复位 *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/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latin typeface="黑体" panose="02010609060101010101" charset="-122"/>
              </a:rPr>
              <a:t>    T1MCR = 0x03;		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/* </a:t>
            </a:r>
            <a:r>
              <a:rPr lang="zh-CN" altLang="en-US" i="1" dirty="0">
                <a:solidFill>
                  <a:srgbClr val="339966"/>
                </a:solidFill>
                <a:latin typeface="黑体" panose="02010609060101010101" charset="-122"/>
              </a:rPr>
              <a:t>设置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Timer1 </a:t>
            </a:r>
            <a:r>
              <a:rPr lang="zh-CN" altLang="en-US" i="1" dirty="0">
                <a:solidFill>
                  <a:srgbClr val="339966"/>
                </a:solidFill>
                <a:latin typeface="黑体" panose="02010609060101010101" charset="-122"/>
              </a:rPr>
              <a:t>匹配控制寄存器：</a:t>
            </a:r>
            <a:endParaRPr lang="en-US" altLang="zh-CN" i="1" dirty="0">
              <a:solidFill>
                <a:srgbClr val="339966"/>
              </a:solidFill>
              <a:latin typeface="黑体" panose="02010609060101010101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i="1" dirty="0">
                <a:solidFill>
                  <a:srgbClr val="339966"/>
                </a:solidFill>
              </a:rPr>
              <a:t>                         </a:t>
            </a:r>
            <a:r>
              <a:rPr lang="zh-CN" altLang="en-US" i="1" dirty="0">
                <a:solidFill>
                  <a:srgbClr val="339966"/>
                </a:solidFill>
                <a:latin typeface="黑体" panose="02010609060101010101" charset="-122"/>
              </a:rPr>
              <a:t>当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T1TC==T1MR0</a:t>
            </a:r>
            <a:r>
              <a:rPr lang="zh-CN" altLang="en-US" i="1" dirty="0">
                <a:solidFill>
                  <a:srgbClr val="339966"/>
                </a:solidFill>
                <a:latin typeface="黑体" panose="02010609060101010101" charset="-122"/>
              </a:rPr>
              <a:t>时，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Timer1 </a:t>
            </a:r>
            <a:r>
              <a:rPr lang="zh-CN" altLang="en-US" i="1" dirty="0">
                <a:solidFill>
                  <a:srgbClr val="339966"/>
                </a:solidFill>
                <a:latin typeface="黑体" panose="02010609060101010101" charset="-122"/>
              </a:rPr>
              <a:t>复位并产生中断 *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/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latin typeface="黑体" panose="02010609060101010101" charset="-122"/>
              </a:rPr>
              <a:t>    T1MR0 = (</a:t>
            </a:r>
            <a:r>
              <a:rPr lang="en-US" altLang="zh-CN" dirty="0" err="1">
                <a:latin typeface="黑体" panose="02010609060101010101" charset="-122"/>
              </a:rPr>
              <a:t>Fpclk</a:t>
            </a:r>
            <a:r>
              <a:rPr lang="en-US" altLang="zh-CN" dirty="0">
                <a:latin typeface="黑体" panose="02010609060101010101" charset="-122"/>
              </a:rPr>
              <a:t> / OS_TICKS_PER_SEC);	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/* </a:t>
            </a:r>
            <a:r>
              <a:rPr lang="zh-CN" altLang="en-US" i="1" dirty="0">
                <a:solidFill>
                  <a:srgbClr val="339966"/>
                </a:solidFill>
                <a:latin typeface="黑体" panose="02010609060101010101" charset="-122"/>
              </a:rPr>
              <a:t>设置匹配常数 *</a:t>
            </a:r>
            <a:r>
              <a:rPr lang="en-US" altLang="zh-CN" i="1" dirty="0">
                <a:solidFill>
                  <a:srgbClr val="339966"/>
                </a:solidFill>
                <a:latin typeface="黑体" panose="02010609060101010101" charset="-122"/>
              </a:rPr>
              <a:t>/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latin typeface="黑体" panose="02010609060101010101" charset="-122"/>
              </a:rPr>
              <a:t> }</a:t>
            </a:r>
          </a:p>
          <a:p>
            <a:pPr marL="0" indent="0">
              <a:buNone/>
            </a:pPr>
            <a:r>
              <a:rPr lang="en-US" altLang="zh-CN" dirty="0"/>
              <a:t> OS_TICKS_PER_SEC</a:t>
            </a:r>
            <a:r>
              <a:rPr lang="zh-CN" altLang="en-US" dirty="0"/>
              <a:t>的定义在</a:t>
            </a:r>
            <a:r>
              <a:rPr lang="en-US" altLang="zh-CN" dirty="0" err="1"/>
              <a:t>OS_config.h</a:t>
            </a:r>
            <a:r>
              <a:rPr lang="zh-CN" altLang="en-US" dirty="0"/>
              <a:t>中：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#define OS_TICKS_PER_SEC        200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void Timer0_Exception(void)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    T0IR = 0x01;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VICVectAddr</a:t>
            </a:r>
            <a:r>
              <a:rPr lang="en-US" altLang="zh-CN" dirty="0"/>
              <a:t> = 0;  //</a:t>
            </a:r>
            <a:r>
              <a:rPr lang="zh-CN" altLang="en-US" dirty="0"/>
              <a:t>通知中断控制器清除中断信号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OSTimeTick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115" y="1641475"/>
            <a:ext cx="5040630" cy="426720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OSTimeTick</a:t>
            </a:r>
            <a:r>
              <a:rPr lang="en-US" altLang="zh-CN" dirty="0"/>
              <a:t>()</a:t>
            </a:r>
            <a:r>
              <a:rPr lang="zh-CN" altLang="en-US" dirty="0"/>
              <a:t>流程图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1530" y="-19685"/>
            <a:ext cx="6679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0561" y="217170"/>
            <a:ext cx="11431859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void  </a:t>
            </a:r>
            <a:r>
              <a:rPr lang="en-US" altLang="zh-CN" sz="2000" dirty="0" err="1"/>
              <a:t>OSTimeTick</a:t>
            </a:r>
            <a:r>
              <a:rPr lang="en-US" altLang="zh-CN" sz="2000" dirty="0"/>
              <a:t> (void)</a:t>
            </a:r>
          </a:p>
          <a:p>
            <a:pPr marL="0" indent="0">
              <a:buNone/>
            </a:pPr>
            <a:r>
              <a:rPr lang="en-US" altLang="zh-CN" sz="2000" dirty="0"/>
              <a:t>{</a:t>
            </a:r>
          </a:p>
          <a:p>
            <a:pPr marL="0" indent="0">
              <a:buNone/>
            </a:pPr>
            <a:r>
              <a:rPr lang="en-US" altLang="zh-CN" sz="2000" dirty="0"/>
              <a:t>#if OS_CRITICAL_METHOD == 3               /* Allocate storage for CPU status register */</a:t>
            </a:r>
          </a:p>
          <a:p>
            <a:pPr marL="0" indent="0">
              <a:buNone/>
            </a:pPr>
            <a:r>
              <a:rPr lang="en-US" altLang="zh-CN" sz="2000" dirty="0"/>
              <a:t>    OS_CPU_SR  </a:t>
            </a:r>
            <a:r>
              <a:rPr lang="en-US" altLang="zh-CN" sz="2000" dirty="0" err="1"/>
              <a:t>cpu_sr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#</a:t>
            </a:r>
            <a:r>
              <a:rPr lang="en-US" altLang="zh-CN" sz="2000" dirty="0" err="1"/>
              <a:t>endif</a:t>
            </a:r>
            <a:r>
              <a:rPr lang="en-US" altLang="zh-CN" sz="2000" dirty="0"/>
              <a:t>    </a:t>
            </a:r>
          </a:p>
          <a:p>
            <a:pPr marL="0" indent="0">
              <a:buNone/>
            </a:pPr>
            <a:r>
              <a:rPr lang="en-US" altLang="zh-CN" sz="2000" dirty="0"/>
              <a:t>    OS_TCB    *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OSTimeTickHook</a:t>
            </a:r>
            <a:r>
              <a:rPr lang="en-US" altLang="zh-CN" sz="2000" dirty="0"/>
              <a:t>();                     /* Call user definable hook*/</a:t>
            </a:r>
          </a:p>
          <a:p>
            <a:pPr marL="0" indent="0">
              <a:buNone/>
            </a:pPr>
            <a:r>
              <a:rPr lang="en-US" altLang="zh-CN" sz="2000" dirty="0"/>
              <a:t>#if OS_TIME_GET_SET_EN &gt; 0   </a:t>
            </a:r>
          </a:p>
          <a:p>
            <a:pPr marL="0" indent="0">
              <a:buNone/>
            </a:pPr>
            <a:r>
              <a:rPr lang="en-US" altLang="zh-CN" sz="2000" dirty="0"/>
              <a:t>    OS_ENTER_CRITICAL();                 /* Update the 32-bit tick counter*/</a:t>
            </a:r>
          </a:p>
          <a:p>
            <a:pPr marL="0" indent="0"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OSTime</a:t>
            </a:r>
            <a:r>
              <a:rPr lang="en-US" altLang="zh-CN" sz="2000" dirty="0"/>
              <a:t>++;</a:t>
            </a:r>
          </a:p>
          <a:p>
            <a:pPr marL="0" indent="0">
              <a:buNone/>
            </a:pPr>
            <a:r>
              <a:rPr lang="en-US" altLang="zh-CN" sz="2000" dirty="0"/>
              <a:t>    OS_EXIT_CRITICAL();</a:t>
            </a:r>
          </a:p>
          <a:p>
            <a:pPr marL="0" indent="0">
              <a:buNone/>
            </a:pPr>
            <a:r>
              <a:rPr lang="en-US" altLang="zh-CN" sz="2000" dirty="0"/>
              <a:t>#</a:t>
            </a:r>
            <a:r>
              <a:rPr lang="en-US" altLang="zh-CN" sz="2000" dirty="0" err="1"/>
              <a:t>endif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if (</a:t>
            </a:r>
            <a:r>
              <a:rPr lang="en-US" altLang="zh-CN" sz="2000" dirty="0" err="1"/>
              <a:t>OSRunning</a:t>
            </a:r>
            <a:r>
              <a:rPr lang="en-US" altLang="zh-CN" sz="2000" dirty="0"/>
              <a:t> == TRUE) {    </a:t>
            </a:r>
          </a:p>
          <a:p>
            <a:pPr marL="0" indent="0"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OSTCBList</a:t>
            </a:r>
            <a:r>
              <a:rPr lang="en-US" altLang="zh-CN" sz="2000" dirty="0"/>
              <a:t>;               /* Point at first TCB in TCB list*/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849839" y="4201764"/>
            <a:ext cx="181992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336" y="0"/>
            <a:ext cx="12157664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700" dirty="0"/>
              <a:t>        </a:t>
            </a:r>
            <a:r>
              <a:rPr lang="en-US" altLang="zh-CN" sz="2000" dirty="0"/>
              <a:t>while (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OSTCBPrio</a:t>
            </a:r>
            <a:r>
              <a:rPr lang="en-US" altLang="zh-CN" sz="2000" dirty="0"/>
              <a:t> != OS_IDLE_PRIO) {/* Go through all TCBs in TCB list */</a:t>
            </a:r>
          </a:p>
          <a:p>
            <a:pPr marL="0" indent="0">
              <a:buNone/>
            </a:pPr>
            <a:r>
              <a:rPr lang="en-US" altLang="zh-CN" sz="2000" dirty="0"/>
              <a:t>       OS_ENTER_CRITICAL();</a:t>
            </a:r>
          </a:p>
          <a:p>
            <a:pPr marL="0" indent="0">
              <a:buNone/>
            </a:pPr>
            <a:r>
              <a:rPr lang="en-US" altLang="zh-CN" sz="2000" dirty="0"/>
              <a:t>       if (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OSTCBDly</a:t>
            </a:r>
            <a:r>
              <a:rPr lang="en-US" altLang="zh-CN" sz="2000" dirty="0"/>
              <a:t> != 0) {        /* Delayed or waiting for event with TO   */</a:t>
            </a:r>
          </a:p>
          <a:p>
            <a:pPr marL="0" indent="0">
              <a:buNone/>
            </a:pPr>
            <a:r>
              <a:rPr lang="en-US" altLang="zh-CN" sz="2000" dirty="0"/>
              <a:t>       if (--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OSTCBDly</a:t>
            </a:r>
            <a:r>
              <a:rPr lang="en-US" altLang="zh-CN" sz="2000" dirty="0"/>
              <a:t> == 0) {   /* Decrement </a:t>
            </a:r>
            <a:r>
              <a:rPr lang="en-US" altLang="zh-CN" sz="2000" dirty="0" err="1"/>
              <a:t>nbr</a:t>
            </a:r>
            <a:r>
              <a:rPr lang="en-US" altLang="zh-CN" sz="2000" dirty="0"/>
              <a:t> of ticks to end of delay  */</a:t>
            </a:r>
          </a:p>
          <a:p>
            <a:pPr marL="0" indent="0">
              <a:buNone/>
            </a:pPr>
            <a:r>
              <a:rPr lang="en-US" altLang="zh-CN" sz="2000" dirty="0"/>
              <a:t>          if ((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OSTCBStat</a:t>
            </a:r>
            <a:r>
              <a:rPr lang="en-US" altLang="zh-CN" sz="2000" dirty="0"/>
              <a:t> &amp; OS_STAT_SUSPEND) == OS_STAT_RDY) { /* Is task suspended? */</a:t>
            </a:r>
          </a:p>
          <a:p>
            <a:pPr marL="0" indent="0"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OSRdyGrp</a:t>
            </a:r>
            <a:r>
              <a:rPr lang="en-US" altLang="zh-CN" sz="2000" dirty="0"/>
              <a:t>|= 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OSTCBBitY</a:t>
            </a:r>
            <a:r>
              <a:rPr lang="en-US" altLang="zh-CN" sz="2000" dirty="0"/>
              <a:t>; /* No,  Make task R-to-R (</a:t>
            </a:r>
            <a:r>
              <a:rPr lang="en-US" altLang="zh-CN" sz="2000" dirty="0" err="1"/>
              <a:t>timedout</a:t>
            </a:r>
            <a:r>
              <a:rPr lang="en-US" altLang="zh-CN" sz="2000" dirty="0"/>
              <a:t>)*/</a:t>
            </a:r>
          </a:p>
          <a:p>
            <a:pPr marL="0" indent="0">
              <a:buNone/>
            </a:pPr>
            <a:r>
              <a:rPr lang="en-US" altLang="zh-CN" sz="2000" dirty="0"/>
              <a:t>           </a:t>
            </a:r>
            <a:r>
              <a:rPr lang="en-US" altLang="zh-CN" sz="2000" dirty="0" err="1"/>
              <a:t>OSRdyTbl</a:t>
            </a:r>
            <a:r>
              <a:rPr lang="en-US" altLang="zh-CN" sz="2000" dirty="0"/>
              <a:t>[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-&gt;OSTCBY] |= 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OSTCBBitX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                    } else {         /* Yes, Leave 1 tick to prevent ...        */</a:t>
            </a:r>
          </a:p>
          <a:p>
            <a:pPr marL="0" indent="0">
              <a:buNone/>
            </a:pPr>
            <a:r>
              <a:rPr lang="en-US" altLang="zh-CN" sz="2000" dirty="0"/>
              <a:t>                        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OSTCBDly</a:t>
            </a:r>
            <a:r>
              <a:rPr lang="en-US" altLang="zh-CN" sz="2000" dirty="0"/>
              <a:t> = 1;     /* ... loosing the task when the ... */</a:t>
            </a:r>
          </a:p>
          <a:p>
            <a:pPr marL="0" indent="0">
              <a:buNone/>
            </a:pPr>
            <a:r>
              <a:rPr lang="en-US" altLang="zh-CN" sz="2000" dirty="0"/>
              <a:t>                    }                          /* ... suspension is removed. */</a:t>
            </a:r>
          </a:p>
          <a:p>
            <a:pPr marL="0" indent="0">
              <a:buNone/>
            </a:pPr>
            <a:r>
              <a:rPr lang="en-US" altLang="zh-CN" sz="2000" dirty="0"/>
              <a:t>                }</a:t>
            </a:r>
          </a:p>
          <a:p>
            <a:pPr marL="0" indent="0">
              <a:buNone/>
            </a:pPr>
            <a:r>
              <a:rPr lang="en-US" altLang="zh-CN" sz="2000" dirty="0"/>
              <a:t>            }</a:t>
            </a:r>
          </a:p>
          <a:p>
            <a:pPr marL="0" indent="0"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OSTCBNext</a:t>
            </a:r>
            <a:r>
              <a:rPr lang="en-US" altLang="zh-CN" sz="2000" dirty="0"/>
              <a:t>;        /* Point at next TCB in TCB list           */</a:t>
            </a:r>
          </a:p>
          <a:p>
            <a:pPr marL="0" indent="0">
              <a:buNone/>
            </a:pPr>
            <a:r>
              <a:rPr lang="en-US" altLang="zh-CN" sz="2000" dirty="0"/>
              <a:t>            OS_EXIT_CRITICAL();</a:t>
            </a:r>
          </a:p>
          <a:p>
            <a:pPr marL="0" indent="0">
              <a:buNone/>
            </a:pPr>
            <a:r>
              <a:rPr lang="en-US" altLang="zh-CN" sz="2000" dirty="0"/>
              <a:t>        }</a:t>
            </a:r>
          </a:p>
          <a:p>
            <a:pPr marL="0" indent="0"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154097" y="1154097"/>
            <a:ext cx="333800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020932" y="1242874"/>
            <a:ext cx="7279690" cy="10741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053918" y="3568823"/>
            <a:ext cx="257452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5125" y="2018665"/>
            <a:ext cx="10515600" cy="1325563"/>
          </a:xfrm>
        </p:spPr>
        <p:txBody>
          <a:bodyPr/>
          <a:lstStyle/>
          <a:p>
            <a:r>
              <a:rPr lang="en-US" altLang="zh-CN" dirty="0" err="1"/>
              <a:t>OSTimeDly</a:t>
            </a:r>
            <a:r>
              <a:rPr lang="en-US" altLang="zh-CN" dirty="0"/>
              <a:t>()</a:t>
            </a:r>
            <a:r>
              <a:rPr lang="zh-CN" altLang="en-US" dirty="0"/>
              <a:t>流程图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155" y="400050"/>
            <a:ext cx="3286125" cy="6057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094"/>
            <a:ext cx="12192000" cy="6843906"/>
          </a:xfrm>
        </p:spPr>
        <p:txBody>
          <a:bodyPr>
            <a:normAutofit fontScale="32500" lnSpcReduction="20000"/>
          </a:bodyPr>
          <a:lstStyle/>
          <a:p>
            <a:endParaRPr lang="en-US" altLang="zh-CN" dirty="0"/>
          </a:p>
          <a:p>
            <a:pPr marL="0" indent="0">
              <a:buNone/>
            </a:pPr>
            <a:r>
              <a:rPr lang="en-US" altLang="zh-CN" sz="6200" dirty="0"/>
              <a:t>void  </a:t>
            </a:r>
            <a:r>
              <a:rPr lang="en-US" altLang="zh-CN" sz="6200" dirty="0" err="1"/>
              <a:t>OSTimeDly</a:t>
            </a:r>
            <a:r>
              <a:rPr lang="en-US" altLang="zh-CN" sz="6200" dirty="0"/>
              <a:t> (INT16U ticks)</a:t>
            </a:r>
          </a:p>
          <a:p>
            <a:pPr marL="0" indent="0">
              <a:buNone/>
            </a:pPr>
            <a:r>
              <a:rPr lang="en-US" altLang="zh-CN" sz="6200" dirty="0"/>
              <a:t>{</a:t>
            </a:r>
          </a:p>
          <a:p>
            <a:pPr marL="0" indent="0">
              <a:buNone/>
            </a:pPr>
            <a:r>
              <a:rPr lang="en-US" altLang="zh-CN" sz="6200" dirty="0"/>
              <a:t>#if OS_CRITICAL_METHOD == 3                 /* Allocate storage for CPU status register */</a:t>
            </a:r>
          </a:p>
          <a:p>
            <a:pPr marL="0" indent="0">
              <a:buNone/>
            </a:pPr>
            <a:r>
              <a:rPr lang="en-US" altLang="zh-CN" sz="6200" dirty="0"/>
              <a:t>    OS_CPU_SR  </a:t>
            </a:r>
            <a:r>
              <a:rPr lang="en-US" altLang="zh-CN" sz="6200" dirty="0" err="1"/>
              <a:t>cpu_sr</a:t>
            </a:r>
            <a:r>
              <a:rPr lang="en-US" altLang="zh-CN" sz="6200" dirty="0"/>
              <a:t>;</a:t>
            </a:r>
          </a:p>
          <a:p>
            <a:pPr marL="0" indent="0">
              <a:buNone/>
            </a:pPr>
            <a:r>
              <a:rPr lang="en-US" altLang="zh-CN" sz="6200" dirty="0"/>
              <a:t>#</a:t>
            </a:r>
            <a:r>
              <a:rPr lang="en-US" altLang="zh-CN" sz="6200" dirty="0" err="1"/>
              <a:t>endif</a:t>
            </a:r>
            <a:r>
              <a:rPr lang="en-US" altLang="zh-CN" sz="6200" dirty="0"/>
              <a:t>    </a:t>
            </a:r>
          </a:p>
          <a:p>
            <a:pPr marL="0" indent="0">
              <a:buNone/>
            </a:pPr>
            <a:endParaRPr lang="en-US" altLang="zh-CN" sz="6200" dirty="0"/>
          </a:p>
          <a:p>
            <a:pPr marL="0" indent="0">
              <a:buNone/>
            </a:pPr>
            <a:r>
              <a:rPr lang="en-US" altLang="zh-CN" sz="6200" dirty="0"/>
              <a:t>    if (ticks &gt; 0) {                                          /* 0 means no delay! */</a:t>
            </a:r>
          </a:p>
          <a:p>
            <a:pPr marL="0" indent="0">
              <a:buNone/>
            </a:pPr>
            <a:r>
              <a:rPr lang="en-US" altLang="zh-CN" sz="6200" dirty="0"/>
              <a:t>        OS_ENTER_CRITICAL();</a:t>
            </a:r>
          </a:p>
          <a:p>
            <a:pPr marL="0" indent="0">
              <a:buNone/>
            </a:pPr>
            <a:r>
              <a:rPr lang="en-US" altLang="zh-CN" sz="6200" dirty="0"/>
              <a:t>        if ((</a:t>
            </a:r>
            <a:r>
              <a:rPr lang="en-US" altLang="zh-CN" sz="6200" dirty="0" err="1"/>
              <a:t>OSRdyTbl</a:t>
            </a:r>
            <a:r>
              <a:rPr lang="en-US" altLang="zh-CN" sz="6200" dirty="0"/>
              <a:t>[</a:t>
            </a:r>
            <a:r>
              <a:rPr lang="en-US" altLang="zh-CN" sz="6200" dirty="0" err="1"/>
              <a:t>OSTCBCur</a:t>
            </a:r>
            <a:r>
              <a:rPr lang="en-US" altLang="zh-CN" sz="6200" dirty="0"/>
              <a:t>-&gt;OSTCBY] &amp;= ~</a:t>
            </a:r>
            <a:r>
              <a:rPr lang="en-US" altLang="zh-CN" sz="6200" dirty="0" err="1"/>
              <a:t>OSTCBCur</a:t>
            </a:r>
            <a:r>
              <a:rPr lang="en-US" altLang="zh-CN" sz="6200" dirty="0"/>
              <a:t>-&gt;</a:t>
            </a:r>
            <a:r>
              <a:rPr lang="en-US" altLang="zh-CN" sz="6200" dirty="0" err="1"/>
              <a:t>OSTCBBitX</a:t>
            </a:r>
            <a:r>
              <a:rPr lang="en-US" altLang="zh-CN" sz="6200" dirty="0"/>
              <a:t>) == 0)</a:t>
            </a:r>
          </a:p>
          <a:p>
            <a:pPr marL="0" indent="0">
              <a:buNone/>
            </a:pPr>
            <a:r>
              <a:rPr lang="en-US" altLang="zh-CN" sz="6200" dirty="0"/>
              <a:t> {  /* Delay current task        */</a:t>
            </a:r>
          </a:p>
          <a:p>
            <a:pPr marL="0" indent="0">
              <a:buNone/>
            </a:pPr>
            <a:r>
              <a:rPr lang="en-US" altLang="zh-CN" sz="6200" dirty="0"/>
              <a:t>            </a:t>
            </a:r>
            <a:r>
              <a:rPr lang="en-US" altLang="zh-CN" sz="6200" dirty="0" err="1"/>
              <a:t>OSRdyGrp</a:t>
            </a:r>
            <a:r>
              <a:rPr lang="en-US" altLang="zh-CN" sz="6200" dirty="0"/>
              <a:t> &amp;= ~</a:t>
            </a:r>
            <a:r>
              <a:rPr lang="en-US" altLang="zh-CN" sz="6200" dirty="0" err="1"/>
              <a:t>OSTCBCur</a:t>
            </a:r>
            <a:r>
              <a:rPr lang="en-US" altLang="zh-CN" sz="6200" dirty="0"/>
              <a:t>-&gt;</a:t>
            </a:r>
            <a:r>
              <a:rPr lang="en-US" altLang="zh-CN" sz="6200" dirty="0" err="1"/>
              <a:t>OSTCBBitY</a:t>
            </a:r>
            <a:r>
              <a:rPr lang="en-US" altLang="zh-CN" sz="6200" dirty="0"/>
              <a:t>;</a:t>
            </a:r>
          </a:p>
          <a:p>
            <a:pPr marL="0" indent="0">
              <a:buNone/>
            </a:pPr>
            <a:r>
              <a:rPr lang="en-US" altLang="zh-CN" sz="6200" dirty="0"/>
              <a:t>        }</a:t>
            </a:r>
          </a:p>
          <a:p>
            <a:pPr marL="0" indent="0">
              <a:buNone/>
            </a:pPr>
            <a:r>
              <a:rPr lang="en-US" altLang="zh-CN" sz="6200" dirty="0"/>
              <a:t>        </a:t>
            </a:r>
            <a:r>
              <a:rPr lang="en-US" altLang="zh-CN" sz="6200" dirty="0" err="1"/>
              <a:t>OSTCBCur</a:t>
            </a:r>
            <a:r>
              <a:rPr lang="en-US" altLang="zh-CN" sz="6200" dirty="0"/>
              <a:t>-&gt;</a:t>
            </a:r>
            <a:r>
              <a:rPr lang="en-US" altLang="zh-CN" sz="6200" dirty="0" err="1"/>
              <a:t>OSTCBDly</a:t>
            </a:r>
            <a:r>
              <a:rPr lang="en-US" altLang="zh-CN" sz="6200" dirty="0"/>
              <a:t> = ticks;                              /* Load ticks in TCB */</a:t>
            </a:r>
          </a:p>
          <a:p>
            <a:pPr marL="0" indent="0">
              <a:buNone/>
            </a:pPr>
            <a:r>
              <a:rPr lang="en-US" altLang="zh-CN" sz="6200" dirty="0"/>
              <a:t>        OS_EXIT_CRITICAL();</a:t>
            </a:r>
          </a:p>
          <a:p>
            <a:pPr marL="0" indent="0">
              <a:buNone/>
            </a:pPr>
            <a:r>
              <a:rPr lang="en-US" altLang="zh-CN" sz="6200" dirty="0"/>
              <a:t>        </a:t>
            </a:r>
            <a:r>
              <a:rPr lang="en-US" altLang="zh-CN" sz="6200" dirty="0" err="1"/>
              <a:t>OS_Sched</a:t>
            </a:r>
            <a:r>
              <a:rPr lang="en-US" altLang="zh-CN" sz="6200" dirty="0"/>
              <a:t>();                                             /* Find next task to run! */</a:t>
            </a:r>
          </a:p>
          <a:p>
            <a:pPr marL="0" indent="0">
              <a:buNone/>
            </a:pPr>
            <a:r>
              <a:rPr lang="en-US" altLang="zh-CN" sz="6200" dirty="0"/>
              <a:t>    }</a:t>
            </a:r>
          </a:p>
          <a:p>
            <a:pPr marL="0" indent="0">
              <a:buNone/>
            </a:pPr>
            <a:r>
              <a:rPr lang="en-US" altLang="zh-CN" sz="6200" dirty="0"/>
              <a:t>}</a:t>
            </a:r>
            <a:endParaRPr lang="zh-CN" altLang="en-US" sz="62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1130928" y="3240349"/>
            <a:ext cx="7625918" cy="6214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538328" y="3935027"/>
            <a:ext cx="441220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58934" y="4598632"/>
            <a:ext cx="334688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058934" y="5291090"/>
            <a:ext cx="129614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9415" y="2766060"/>
            <a:ext cx="10515600" cy="1325563"/>
          </a:xfrm>
        </p:spPr>
        <p:txBody>
          <a:bodyPr/>
          <a:lstStyle/>
          <a:p>
            <a:r>
              <a:rPr lang="en-US" altLang="zh-CN" dirty="0" err="1"/>
              <a:t>OSTimeDlyResume</a:t>
            </a:r>
            <a:r>
              <a:rPr lang="en-US" altLang="zh-CN" dirty="0"/>
              <a:t>()</a:t>
            </a:r>
            <a:r>
              <a:rPr lang="zh-CN" altLang="en-US" dirty="0"/>
              <a:t>流程图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262" y="99000"/>
            <a:ext cx="3081338" cy="6659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INT8U  </a:t>
            </a:r>
            <a:r>
              <a:rPr lang="en-US" altLang="zh-CN" sz="2000" dirty="0" err="1"/>
              <a:t>OSTimeDlyResume</a:t>
            </a:r>
            <a:r>
              <a:rPr lang="en-US" altLang="zh-CN" sz="2000" dirty="0"/>
              <a:t> (INT8U </a:t>
            </a:r>
            <a:r>
              <a:rPr lang="en-US" altLang="zh-CN" sz="2000" dirty="0" err="1"/>
              <a:t>prio</a:t>
            </a:r>
            <a:r>
              <a:rPr lang="en-US" altLang="zh-CN" sz="2000" dirty="0"/>
              <a:t>)</a:t>
            </a:r>
          </a:p>
          <a:p>
            <a:pPr marL="0" indent="0">
              <a:buNone/>
            </a:pPr>
            <a:r>
              <a:rPr lang="en-US" altLang="zh-CN" sz="2000" dirty="0"/>
              <a:t>{</a:t>
            </a:r>
          </a:p>
          <a:p>
            <a:pPr marL="0" indent="0">
              <a:buNone/>
            </a:pPr>
            <a:r>
              <a:rPr lang="en-US" altLang="zh-CN" sz="2000" dirty="0"/>
              <a:t>#if OS_CRITICAL_METHOD == 3          /* Allocate storage for CPU status register  */</a:t>
            </a:r>
          </a:p>
          <a:p>
            <a:pPr marL="0" indent="0">
              <a:buNone/>
            </a:pPr>
            <a:r>
              <a:rPr lang="en-US" altLang="zh-CN" sz="2000" dirty="0"/>
              <a:t>    OS_CPU_SR  </a:t>
            </a:r>
            <a:r>
              <a:rPr lang="en-US" altLang="zh-CN" sz="2000" dirty="0" err="1"/>
              <a:t>cpu_sr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#</a:t>
            </a:r>
            <a:r>
              <a:rPr lang="en-US" altLang="zh-CN" sz="2000" dirty="0" err="1"/>
              <a:t>endif</a:t>
            </a:r>
            <a:r>
              <a:rPr lang="en-US" altLang="zh-CN" sz="2000" dirty="0"/>
              <a:t>    </a:t>
            </a:r>
          </a:p>
          <a:p>
            <a:pPr marL="0" indent="0">
              <a:buNone/>
            </a:pPr>
            <a:r>
              <a:rPr lang="en-US" altLang="zh-CN" sz="2000" dirty="0"/>
              <a:t>    OS_TCB    *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if (</a:t>
            </a:r>
            <a:r>
              <a:rPr lang="en-US" altLang="zh-CN" sz="2000" dirty="0" err="1"/>
              <a:t>prio</a:t>
            </a:r>
            <a:r>
              <a:rPr lang="en-US" altLang="zh-CN" sz="2000" dirty="0"/>
              <a:t> &gt;= OS_LOWEST_PRIO) {</a:t>
            </a:r>
          </a:p>
          <a:p>
            <a:pPr marL="0" indent="0">
              <a:buNone/>
            </a:pPr>
            <a:r>
              <a:rPr lang="en-US" altLang="zh-CN" sz="2000" dirty="0"/>
              <a:t>        return (OS_PRIO_INVALID);</a:t>
            </a:r>
          </a:p>
          <a:p>
            <a:pPr marL="0" indent="0"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None/>
            </a:pPr>
            <a:r>
              <a:rPr lang="en-US" altLang="zh-CN" sz="2000" dirty="0"/>
              <a:t>    OS_ENTER_CRITICAL();</a:t>
            </a:r>
          </a:p>
          <a:p>
            <a:pPr marL="0" indent="0"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 = (OS_TCB *)</a:t>
            </a:r>
            <a:r>
              <a:rPr lang="en-US" altLang="zh-CN" sz="2000" dirty="0" err="1"/>
              <a:t>OSTCBPrioTbl</a:t>
            </a:r>
            <a:r>
              <a:rPr lang="en-US" altLang="zh-CN" sz="2000" dirty="0"/>
              <a:t>[</a:t>
            </a:r>
            <a:r>
              <a:rPr lang="en-US" altLang="zh-CN" sz="2000" dirty="0" err="1"/>
              <a:t>prio</a:t>
            </a:r>
            <a:r>
              <a:rPr lang="en-US" altLang="zh-CN" sz="2000" dirty="0"/>
              <a:t>];           /* Make sure that task exist            */</a:t>
            </a:r>
          </a:p>
          <a:p>
            <a:pPr marL="0" indent="0">
              <a:buNone/>
            </a:pPr>
            <a:r>
              <a:rPr lang="en-US" altLang="zh-CN" sz="2000" dirty="0"/>
              <a:t>    if (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 != (OS_TCB *)0) {</a:t>
            </a:r>
          </a:p>
          <a:p>
            <a:pPr marL="0" indent="0">
              <a:buNone/>
            </a:pPr>
            <a:r>
              <a:rPr lang="en-US" altLang="zh-CN" sz="2000" dirty="0"/>
              <a:t>        if (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OSTCBDly</a:t>
            </a:r>
            <a:r>
              <a:rPr lang="en-US" altLang="zh-CN" sz="2000" dirty="0"/>
              <a:t> != 0) {                 /* See if task is delayed               */</a:t>
            </a:r>
          </a:p>
          <a:p>
            <a:pPr marL="0" indent="0"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OSTCBDly</a:t>
            </a:r>
            <a:r>
              <a:rPr lang="en-US" altLang="zh-CN" sz="2000" dirty="0"/>
              <a:t>  = 0;                  /* Clear the time delay         */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49943" y="3628571"/>
            <a:ext cx="422365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449943" y="4823957"/>
            <a:ext cx="503645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49943" y="5194846"/>
            <a:ext cx="400594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093503" y="5619424"/>
            <a:ext cx="328022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dirty="0"/>
              <a:t>if ((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OSTCBStat</a:t>
            </a:r>
            <a:r>
              <a:rPr lang="en-US" altLang="zh-CN" sz="2000" dirty="0"/>
              <a:t> &amp; OS_STAT_SUSPEND) == OS_STAT_RDY) {  /* See if task is ready to run  */</a:t>
            </a:r>
          </a:p>
          <a:p>
            <a:pPr marL="0" indent="0">
              <a:buNone/>
            </a:pPr>
            <a:r>
              <a:rPr lang="en-US" altLang="zh-CN" sz="2000" dirty="0"/>
              <a:t>                </a:t>
            </a:r>
            <a:r>
              <a:rPr lang="en-US" altLang="zh-CN" sz="2000" dirty="0" err="1"/>
              <a:t>OSRdyGrp</a:t>
            </a:r>
            <a:r>
              <a:rPr lang="en-US" altLang="zh-CN" sz="2000" dirty="0"/>
              <a:t>|= 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OSTCBBitY</a:t>
            </a:r>
            <a:r>
              <a:rPr lang="en-US" altLang="zh-CN" sz="2000" dirty="0"/>
              <a:t>;               /* Make task ready to run */</a:t>
            </a:r>
          </a:p>
          <a:p>
            <a:pPr marL="0" indent="0">
              <a:buNone/>
            </a:pPr>
            <a:r>
              <a:rPr lang="en-US" altLang="zh-CN" sz="2000" dirty="0"/>
              <a:t>                </a:t>
            </a:r>
            <a:r>
              <a:rPr lang="en-US" altLang="zh-CN" sz="2000" dirty="0" err="1"/>
              <a:t>OSRdyTbl</a:t>
            </a:r>
            <a:r>
              <a:rPr lang="en-US" altLang="zh-CN" sz="2000" dirty="0"/>
              <a:t>[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-&gt;OSTCBY] |= </a:t>
            </a:r>
            <a:r>
              <a:rPr lang="en-US" altLang="zh-CN" sz="2000" dirty="0" err="1"/>
              <a:t>ptcb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OSTCBBitX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                OS_EXIT_CRITICAL();</a:t>
            </a:r>
          </a:p>
          <a:p>
            <a:pPr marL="0" indent="0">
              <a:buNone/>
            </a:pPr>
            <a:r>
              <a:rPr lang="en-US" altLang="zh-CN" sz="2000" dirty="0"/>
              <a:t>                </a:t>
            </a:r>
            <a:r>
              <a:rPr lang="en-US" altLang="zh-CN" sz="2000" dirty="0" err="1"/>
              <a:t>OS_Sched</a:t>
            </a:r>
            <a:r>
              <a:rPr lang="en-US" altLang="zh-CN" sz="2000" dirty="0"/>
              <a:t>();                          /* See if this is new highest priority*/</a:t>
            </a:r>
          </a:p>
          <a:p>
            <a:pPr marL="0" indent="0">
              <a:buNone/>
            </a:pPr>
            <a:r>
              <a:rPr lang="en-US" altLang="zh-CN" sz="2000" dirty="0"/>
              <a:t>            } else {</a:t>
            </a:r>
          </a:p>
          <a:p>
            <a:pPr marL="0" indent="0">
              <a:buNone/>
            </a:pPr>
            <a:r>
              <a:rPr lang="en-US" altLang="zh-CN" sz="2000" dirty="0"/>
              <a:t>                OS_EXIT_CRITICAL();                        /* Task may be suspended */</a:t>
            </a:r>
          </a:p>
          <a:p>
            <a:pPr marL="0" indent="0">
              <a:buNone/>
            </a:pPr>
            <a:r>
              <a:rPr lang="en-US" altLang="zh-CN" sz="2000" dirty="0"/>
              <a:t>            }</a:t>
            </a:r>
          </a:p>
          <a:p>
            <a:pPr marL="0" indent="0">
              <a:buNone/>
            </a:pPr>
            <a:r>
              <a:rPr lang="en-US" altLang="zh-CN" sz="2000" dirty="0"/>
              <a:t>            return (OS_NO_ERR);</a:t>
            </a:r>
          </a:p>
          <a:p>
            <a:pPr marL="0" indent="0">
              <a:buNone/>
            </a:pPr>
            <a:r>
              <a:rPr lang="en-US" altLang="zh-CN" sz="2000" dirty="0"/>
              <a:t>        } else {</a:t>
            </a:r>
          </a:p>
          <a:p>
            <a:pPr marL="0" indent="0">
              <a:buNone/>
            </a:pPr>
            <a:r>
              <a:rPr lang="en-US" altLang="zh-CN" sz="2000" dirty="0"/>
              <a:t>            OS_EXIT_CRITICAL();</a:t>
            </a:r>
          </a:p>
          <a:p>
            <a:pPr marL="0" indent="0">
              <a:buNone/>
            </a:pPr>
            <a:r>
              <a:rPr lang="en-US" altLang="zh-CN" sz="2000" dirty="0"/>
              <a:t>            return (OS_TIME_NOT_DLY);           /* Indicate that task was not delayed  */</a:t>
            </a:r>
          </a:p>
          <a:p>
            <a:pPr marL="0" indent="0">
              <a:buNone/>
            </a:pPr>
            <a:r>
              <a:rPr lang="en-US" altLang="zh-CN" sz="2000" dirty="0"/>
              <a:t>        }</a:t>
            </a:r>
          </a:p>
          <a:p>
            <a:pPr marL="0" indent="0"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None/>
            </a:pPr>
            <a:r>
              <a:rPr lang="en-US" altLang="zh-CN" sz="2000" dirty="0"/>
              <a:t>    OS_EXIT_CRITICAL();</a:t>
            </a:r>
          </a:p>
          <a:p>
            <a:pPr marL="0" indent="0">
              <a:buNone/>
            </a:pPr>
            <a:r>
              <a:rPr lang="en-US" altLang="zh-CN" sz="2000" dirty="0"/>
              <a:t>    return (OS_TASK_NOT_EXIST);              /* The task does not exist*/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059544" y="304800"/>
            <a:ext cx="76490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059544" y="462766"/>
            <a:ext cx="6691085" cy="14368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24218" y="2659559"/>
            <a:ext cx="30059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谢谢观看！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1145</Words>
  <Application>Microsoft Office PowerPoint</Application>
  <PresentationFormat>宽屏</PresentationFormat>
  <Paragraphs>139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黑体</vt:lpstr>
      <vt:lpstr>Arial</vt:lpstr>
      <vt:lpstr>Calibri</vt:lpstr>
      <vt:lpstr>Office 主题​​</vt:lpstr>
      <vt:lpstr>UCOS-II中断和时钟相关函数说明</vt:lpstr>
      <vt:lpstr>OSIntEnter()流程图</vt:lpstr>
      <vt:lpstr>PowerPoint 演示文稿</vt:lpstr>
      <vt:lpstr>OSIntExit（）函数流程图</vt:lpstr>
      <vt:lpstr>PowerPoint 演示文稿</vt:lpstr>
      <vt:lpstr>PowerPoint 演示文稿</vt:lpstr>
      <vt:lpstr>PowerPoint 演示文稿</vt:lpstr>
      <vt:lpstr>时钟相关函数</vt:lpstr>
      <vt:lpstr>PowerPoint 演示文稿</vt:lpstr>
      <vt:lpstr>OSTimeTick()流程图</vt:lpstr>
      <vt:lpstr>PowerPoint 演示文稿</vt:lpstr>
      <vt:lpstr>PowerPoint 演示文稿</vt:lpstr>
      <vt:lpstr>OSTimeDly()流程图</vt:lpstr>
      <vt:lpstr>PowerPoint 演示文稿</vt:lpstr>
      <vt:lpstr>OSTimeDlyResume()流程图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Ucos-II中断相关函数说明</dc:title>
  <dc:creator>google</dc:creator>
  <cp:lastModifiedBy>google</cp:lastModifiedBy>
  <cp:revision>32</cp:revision>
  <dcterms:created xsi:type="dcterms:W3CDTF">2020-11-11T11:22:02Z</dcterms:created>
  <dcterms:modified xsi:type="dcterms:W3CDTF">2020-11-16T12:00:01Z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2052-2.7.1.4479</vt:lpwstr>
  </property>
</Properties>
</file>