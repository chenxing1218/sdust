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7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8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9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0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1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2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3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4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5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6.xml" ContentType="application/vnd.openxmlformats-officedocument.presentationml.notesSlide+xml"/>
  <Override PartName="/ppt/tags/tag42.xml" ContentType="application/vnd.openxmlformats-officedocument.presentationml.tags+xml"/>
  <Override PartName="/ppt/notesSlides/notesSlide17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18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19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20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21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22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23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24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25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26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27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28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29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30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31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32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notesSlides/notesSlide33.xml" ContentType="application/vnd.openxmlformats-officedocument.presentationml.notesSlide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34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35.xml" ContentType="application/vnd.openxmlformats-officedocument.presentationml.notesSlid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notesSlides/notesSlide36.xml" ContentType="application/vnd.openxmlformats-officedocument.presentationml.notesSlide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notesSlides/notesSlide37.xml" ContentType="application/vnd.openxmlformats-officedocument.presentationml.notesSlide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38.xml" ContentType="application/vnd.openxmlformats-officedocument.presentationml.notesSlid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39.xml" ContentType="application/vnd.openxmlformats-officedocument.presentationml.notesSlide+xml"/>
  <Override PartName="/ppt/tags/tag122.xml" ContentType="application/vnd.openxmlformats-officedocument.presentationml.tags+xml"/>
  <Override PartName="/ppt/notesSlides/notesSlide40.xml" ContentType="application/vnd.openxmlformats-officedocument.presentationml.notesSlid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notesSlides/notesSlide41.xml" ContentType="application/vnd.openxmlformats-officedocument.presentationml.notesSlide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notesSlides/notesSlide42.xml" ContentType="application/vnd.openxmlformats-officedocument.presentationml.notesSlide+xml"/>
  <Override PartName="/ppt/tags/tag129.xml" ContentType="application/vnd.openxmlformats-officedocument.presentationml.tags+xml"/>
  <Override PartName="/ppt/notesSlides/notesSlide43.xml" ContentType="application/vnd.openxmlformats-officedocument.presentationml.notesSlide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notesSlides/notesSlide44.xml" ContentType="application/vnd.openxmlformats-officedocument.presentationml.notesSlide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notesSlides/notesSlide45.xml" ContentType="application/vnd.openxmlformats-officedocument.presentationml.notesSlide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notesSlides/notesSlide46.xml" ContentType="application/vnd.openxmlformats-officedocument.presentationml.notesSlide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notesSlides/notesSlide47.xml" ContentType="application/vnd.openxmlformats-officedocument.presentationml.notesSlide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notesSlides/notesSlide48.xml" ContentType="application/vnd.openxmlformats-officedocument.presentationml.notesSlide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notesSlides/notesSlide49.xml" ContentType="application/vnd.openxmlformats-officedocument.presentationml.notesSlide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notesSlides/notesSlide50.xml" ContentType="application/vnd.openxmlformats-officedocument.presentationml.notesSlide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notesSlides/notesSlide51.xml" ContentType="application/vnd.openxmlformats-officedocument.presentationml.notesSlide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notesSlides/notesSlide52.xml" ContentType="application/vnd.openxmlformats-officedocument.presentationml.notesSlide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notesSlides/notesSlide53.xml" ContentType="application/vnd.openxmlformats-officedocument.presentationml.notesSlide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notesSlides/notesSlide54.xml" ContentType="application/vnd.openxmlformats-officedocument.presentationml.notesSlide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notesSlides/notesSlide55.xml" ContentType="application/vnd.openxmlformats-officedocument.presentationml.notesSlide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notesSlides/notesSlide56.xml" ContentType="application/vnd.openxmlformats-officedocument.presentationml.notesSlide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notesSlides/notesSlide57.xml" ContentType="application/vnd.openxmlformats-officedocument.presentationml.notesSlide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notesSlides/notesSlide58.xml" ContentType="application/vnd.openxmlformats-officedocument.presentationml.notesSlide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notesSlides/notesSlide59.xml" ContentType="application/vnd.openxmlformats-officedocument.presentationml.notesSlide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notesSlides/notesSlide60.xml" ContentType="application/vnd.openxmlformats-officedocument.presentationml.notesSlide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notesSlides/notesSlide61.xml" ContentType="application/vnd.openxmlformats-officedocument.presentationml.notesSlide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notesSlides/notesSlide62.xml" ContentType="application/vnd.openxmlformats-officedocument.presentationml.notesSlide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notesSlides/notesSlide63.xml" ContentType="application/vnd.openxmlformats-officedocument.presentationml.notesSlide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notesSlides/notesSlide64.xml" ContentType="application/vnd.openxmlformats-officedocument.presentationml.notesSlide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notesSlides/notesSlide65.xml" ContentType="application/vnd.openxmlformats-officedocument.presentationml.notesSlide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notesSlides/notesSlide66.xml" ContentType="application/vnd.openxmlformats-officedocument.presentationml.notesSlide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notesSlides/notesSlide67.xml" ContentType="application/vnd.openxmlformats-officedocument.presentationml.notesSlide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notesSlides/notesSlide68.xml" ContentType="application/vnd.openxmlformats-officedocument.presentationml.notesSlide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notesSlides/notesSlide69.xml" ContentType="application/vnd.openxmlformats-officedocument.presentationml.notesSlide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notesSlides/notesSlide70.xml" ContentType="application/vnd.openxmlformats-officedocument.presentationml.notesSlide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notesSlides/notesSlide71.xml" ContentType="application/vnd.openxmlformats-officedocument.presentationml.notesSlide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notesSlides/notesSlide72.xml" ContentType="application/vnd.openxmlformats-officedocument.presentationml.notesSlide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notesSlides/notesSlide73.xml" ContentType="application/vnd.openxmlformats-officedocument.presentationml.notesSlide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notesSlides/notesSlide74.xml" ContentType="application/vnd.openxmlformats-officedocument.presentationml.notesSlide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notesSlides/notesSlide75.xml" ContentType="application/vnd.openxmlformats-officedocument.presentationml.notesSlide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notesSlides/notesSlide76.xml" ContentType="application/vnd.openxmlformats-officedocument.presentationml.notesSlide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notesSlides/notesSlide77.xml" ContentType="application/vnd.openxmlformats-officedocument.presentationml.notesSlide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notesSlides/notesSlide78.xml" ContentType="application/vnd.openxmlformats-officedocument.presentationml.notesSlide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notesSlides/notesSlide79.xml" ContentType="application/vnd.openxmlformats-officedocument.presentationml.notesSlide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notesSlides/notesSlide80.xml" ContentType="application/vnd.openxmlformats-officedocument.presentationml.notesSlide+xml"/>
  <Override PartName="/ppt/tags/tag257.xml" ContentType="application/vnd.openxmlformats-officedocument.presentationml.tags+xml"/>
  <Override PartName="/ppt/notesSlides/notesSlide81.xml" ContentType="application/vnd.openxmlformats-officedocument.presentationml.notesSlide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notesSlides/notesSlide82.xml" ContentType="application/vnd.openxmlformats-officedocument.presentationml.notesSlide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notesSlides/notesSlide83.xml" ContentType="application/vnd.openxmlformats-officedocument.presentationml.notesSlide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notesSlides/notesSlide84.xml" ContentType="application/vnd.openxmlformats-officedocument.presentationml.notesSlide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notesSlides/notesSlide85.xml" ContentType="application/vnd.openxmlformats-officedocument.presentationml.notesSlide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notesSlides/notesSlide86.xml" ContentType="application/vnd.openxmlformats-officedocument.presentationml.notesSlide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notesSlides/notesSlide87.xml" ContentType="application/vnd.openxmlformats-officedocument.presentationml.notesSlide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notesSlides/notesSlide88.xml" ContentType="application/vnd.openxmlformats-officedocument.presentationml.notesSlide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notesSlides/notesSlide89.xml" ContentType="application/vnd.openxmlformats-officedocument.presentationml.notesSlide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notesSlides/notesSlide90.xml" ContentType="application/vnd.openxmlformats-officedocument.presentationml.notesSlide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notesSlides/notesSlide91.xml" ContentType="application/vnd.openxmlformats-officedocument.presentationml.notesSlide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notesSlides/notesSlide92.xml" ContentType="application/vnd.openxmlformats-officedocument.presentationml.notesSlide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notesSlides/notesSlide93.xml" ContentType="application/vnd.openxmlformats-officedocument.presentationml.notesSlide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notesSlides/notesSlide94.xml" ContentType="application/vnd.openxmlformats-officedocument.presentationml.notesSlide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notesSlides/notesSlide95.xml" ContentType="application/vnd.openxmlformats-officedocument.presentationml.notesSlide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notesSlides/notesSlide96.xml" ContentType="application/vnd.openxmlformats-officedocument.presentationml.notesSlide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notesSlides/notesSlide97.xml" ContentType="application/vnd.openxmlformats-officedocument.presentationml.notesSlide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notesSlides/notesSlide98.xml" ContentType="application/vnd.openxmlformats-officedocument.presentationml.notesSlide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notesSlides/notesSlide99.xml" ContentType="application/vnd.openxmlformats-officedocument.presentationml.notesSlide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notesSlides/notesSlide100.xml" ContentType="application/vnd.openxmlformats-officedocument.presentationml.notesSlide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notesSlides/notesSlide101.xml" ContentType="application/vnd.openxmlformats-officedocument.presentationml.notesSlide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notesSlides/notesSlide102.xml" ContentType="application/vnd.openxmlformats-officedocument.presentationml.notesSlide+xml"/>
  <Override PartName="/ppt/tags/tag332.xml" ContentType="application/vnd.openxmlformats-officedocument.presentationml.tags+xml"/>
  <Override PartName="/ppt/notesSlides/notesSlide103.xml" ContentType="application/vnd.openxmlformats-officedocument.presentationml.notesSlide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notesSlides/notesSlide104.xml" ContentType="application/vnd.openxmlformats-officedocument.presentationml.notesSlide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notesSlides/notesSlide105.xml" ContentType="application/vnd.openxmlformats-officedocument.presentationml.notesSlide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notesSlides/notesSlide106.xml" ContentType="application/vnd.openxmlformats-officedocument.presentationml.notesSlide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notesSlides/notesSlide107.xml" ContentType="application/vnd.openxmlformats-officedocument.presentationml.notesSlide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notesSlides/notesSlide108.xml" ContentType="application/vnd.openxmlformats-officedocument.presentationml.notesSlide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notesSlides/notesSlide109.xml" ContentType="application/vnd.openxmlformats-officedocument.presentationml.notesSlide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notesSlides/notesSlide110.xml" ContentType="application/vnd.openxmlformats-officedocument.presentationml.notesSlide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notesSlides/notesSlide111.xml" ContentType="application/vnd.openxmlformats-officedocument.presentationml.notesSlide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notesSlides/notesSlide112.xml" ContentType="application/vnd.openxmlformats-officedocument.presentationml.notesSlide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notesSlides/notesSlide113.xml" ContentType="application/vnd.openxmlformats-officedocument.presentationml.notesSlide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notesSlides/notesSlide114.xml" ContentType="application/vnd.openxmlformats-officedocument.presentationml.notesSlide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notesSlides/notesSlide115.xml" ContentType="application/vnd.openxmlformats-officedocument.presentationml.notesSlide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notesSlides/notesSlide116.xml" ContentType="application/vnd.openxmlformats-officedocument.presentationml.notesSlide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notesSlides/notesSlide117.xml" ContentType="application/vnd.openxmlformats-officedocument.presentationml.notesSlide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notesSlides/notesSlide118.xml" ContentType="application/vnd.openxmlformats-officedocument.presentationml.notesSlide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notesSlides/notesSlide119.xml" ContentType="application/vnd.openxmlformats-officedocument.presentationml.notesSlide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notesSlides/notesSlide120.xml" ContentType="application/vnd.openxmlformats-officedocument.presentationml.notesSlide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notesSlides/notesSlide121.xml" ContentType="application/vnd.openxmlformats-officedocument.presentationml.notesSlide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notesSlides/notesSlide122.xml" ContentType="application/vnd.openxmlformats-officedocument.presentationml.notesSlide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notesSlides/notesSlide123.xml" ContentType="application/vnd.openxmlformats-officedocument.presentationml.notesSlide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notesSlides/notesSlide124.xml" ContentType="application/vnd.openxmlformats-officedocument.presentationml.notesSlide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notesSlides/notesSlide125.xml" ContentType="application/vnd.openxmlformats-officedocument.presentationml.notesSlide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notesSlides/notesSlide126.xml" ContentType="application/vnd.openxmlformats-officedocument.presentationml.notesSlide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notesSlides/notesSlide127.xml" ContentType="application/vnd.openxmlformats-officedocument.presentationml.notesSlide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notesSlides/notesSlide128.xml" ContentType="application/vnd.openxmlformats-officedocument.presentationml.notesSlide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notesSlides/notesSlide129.xml" ContentType="application/vnd.openxmlformats-officedocument.presentationml.notesSlide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notesSlides/notesSlide130.xml" ContentType="application/vnd.openxmlformats-officedocument.presentationml.notesSlide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notesSlides/notesSlide131.xml" ContentType="application/vnd.openxmlformats-officedocument.presentationml.notesSlide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notesSlides/notesSlide132.xml" ContentType="application/vnd.openxmlformats-officedocument.presentationml.notesSlide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notesSlides/notesSlide133.xml" ContentType="application/vnd.openxmlformats-officedocument.presentationml.notesSlide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notesSlides/notesSlide1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386" r:id="rId22"/>
    <p:sldId id="277" r:id="rId23"/>
    <p:sldId id="387" r:id="rId24"/>
    <p:sldId id="278" r:id="rId25"/>
    <p:sldId id="279" r:id="rId26"/>
    <p:sldId id="388" r:id="rId27"/>
    <p:sldId id="280" r:id="rId28"/>
    <p:sldId id="281" r:id="rId29"/>
    <p:sldId id="282" r:id="rId30"/>
    <p:sldId id="283" r:id="rId31"/>
    <p:sldId id="389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90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8" r:id="rId66"/>
    <p:sldId id="391" r:id="rId67"/>
    <p:sldId id="320" r:id="rId68"/>
    <p:sldId id="392" r:id="rId69"/>
    <p:sldId id="321" r:id="rId70"/>
    <p:sldId id="322" r:id="rId71"/>
    <p:sldId id="323" r:id="rId72"/>
    <p:sldId id="393" r:id="rId73"/>
    <p:sldId id="325" r:id="rId74"/>
    <p:sldId id="394" r:id="rId75"/>
    <p:sldId id="326" r:id="rId76"/>
    <p:sldId id="327" r:id="rId77"/>
    <p:sldId id="329" r:id="rId78"/>
    <p:sldId id="395" r:id="rId79"/>
    <p:sldId id="330" r:id="rId80"/>
    <p:sldId id="331" r:id="rId81"/>
    <p:sldId id="332" r:id="rId82"/>
    <p:sldId id="333" r:id="rId83"/>
    <p:sldId id="334" r:id="rId84"/>
    <p:sldId id="335" r:id="rId85"/>
    <p:sldId id="396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7" r:id="rId117"/>
    <p:sldId id="39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ou Taolue" initials="ZT" lastIdx="2" clrIdx="0">
    <p:extLst>
      <p:ext uri="{19B8F6BF-5375-455C-9EA6-DF929625EA0E}">
        <p15:presenceInfo xmlns:p15="http://schemas.microsoft.com/office/powerpoint/2012/main" userId="5e6ceaeeeeecc64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40EF"/>
    <a:srgbClr val="32A6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61" autoAdjust="0"/>
    <p:restoredTop sz="94142" autoAdjust="0"/>
  </p:normalViewPr>
  <p:slideViewPr>
    <p:cSldViewPr>
      <p:cViewPr varScale="1">
        <p:scale>
          <a:sx n="95" d="100"/>
          <a:sy n="95" d="100"/>
        </p:scale>
        <p:origin x="1046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commentAuthors" Target="commentAuthor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7.wmf"/><Relationship Id="rId1" Type="http://schemas.openxmlformats.org/officeDocument/2006/relationships/image" Target="../media/image21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D5E47-F045-4C01-A154-66E3997AD169}" type="datetimeFigureOut">
              <a:rPr lang="en-US" smtClean="0"/>
              <a:t>10/16/2019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EC52C-64D1-4EF5-AC14-14AF6A3FC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10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2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540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714780-11DF-4472-AE76-0B6C10813017}" type="slidenum">
              <a:rPr lang="en-US"/>
              <a:pPr/>
              <a:t>3</a:t>
            </a:fld>
            <a:endParaRPr lang="en-US"/>
          </a:p>
        </p:txBody>
      </p:sp>
      <p:sp>
        <p:nvSpPr>
          <p:cNvPr id="1181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1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977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1028A3-F306-45FB-8DC7-09A2DE89FFA7}" type="slidenum">
              <a:rPr lang="en-US"/>
              <a:pPr/>
              <a:t>4</a:t>
            </a:fld>
            <a:endParaRPr lang="en-US"/>
          </a:p>
        </p:txBody>
      </p:sp>
      <p:sp>
        <p:nvSpPr>
          <p:cNvPr id="1182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2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128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6E21B5-927C-4F10-A313-A26A3EC7AFAF}" type="slidenum">
              <a:rPr lang="en-US"/>
              <a:pPr/>
              <a:t>5</a:t>
            </a:fld>
            <a:endParaRPr lang="en-US"/>
          </a:p>
        </p:txBody>
      </p:sp>
      <p:sp>
        <p:nvSpPr>
          <p:cNvPr id="1183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3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4391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CF196F-8ABF-4C2A-BFC5-0F48556D9C3C}" type="slidenum">
              <a:rPr lang="en-US"/>
              <a:pPr/>
              <a:t>6</a:t>
            </a:fld>
            <a:endParaRPr lang="en-US"/>
          </a:p>
        </p:txBody>
      </p:sp>
      <p:sp>
        <p:nvSpPr>
          <p:cNvPr id="1185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5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6853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A35BAA-84F1-4764-B73A-1F2654146854}" type="slidenum">
              <a:rPr lang="en-US"/>
              <a:pPr/>
              <a:t>7</a:t>
            </a:fld>
            <a:endParaRPr lang="en-US"/>
          </a:p>
        </p:txBody>
      </p:sp>
      <p:sp>
        <p:nvSpPr>
          <p:cNvPr id="1186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6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0417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7EEF33-535B-4289-ACE8-0AA8225D5BB2}" type="slidenum">
              <a:rPr lang="en-US"/>
              <a:pPr/>
              <a:t>8</a:t>
            </a:fld>
            <a:endParaRPr lang="en-US"/>
          </a:p>
        </p:txBody>
      </p:sp>
      <p:sp>
        <p:nvSpPr>
          <p:cNvPr id="1187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96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F54AA9-D0BF-4405-88C6-7D861E2B3E67}" type="slidenum">
              <a:rPr lang="en-US"/>
              <a:pPr/>
              <a:t>9</a:t>
            </a:fld>
            <a:endParaRPr lang="en-US"/>
          </a:p>
        </p:txBody>
      </p:sp>
      <p:sp>
        <p:nvSpPr>
          <p:cNvPr id="1188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8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4985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05EADD-CCB0-472C-ABD3-FFDCF004B6E0}" type="slidenum">
              <a:rPr lang="en-US"/>
              <a:pPr/>
              <a:t>10</a:t>
            </a:fld>
            <a:endParaRPr lang="en-US"/>
          </a:p>
        </p:txBody>
      </p:sp>
      <p:sp>
        <p:nvSpPr>
          <p:cNvPr id="1189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9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00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35AD08-2D7C-4662-9267-56937F5AC0B8}" type="slidenum">
              <a:rPr lang="en-US"/>
              <a:pPr/>
              <a:t>11</a:t>
            </a:fld>
            <a:endParaRPr lang="en-US"/>
          </a:p>
        </p:txBody>
      </p:sp>
      <p:sp>
        <p:nvSpPr>
          <p:cNvPr id="1190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0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0569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5514EB-0CE7-4905-A965-97AECC752DFE}" type="slidenum">
              <a:rPr lang="en-US"/>
              <a:pPr/>
              <a:t>12</a:t>
            </a:fld>
            <a:endParaRPr lang="en-US"/>
          </a:p>
        </p:txBody>
      </p:sp>
      <p:sp>
        <p:nvSpPr>
          <p:cNvPr id="1191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1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742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7D75E0-0451-4A4A-B8F7-06B341A783C6}" type="slidenum">
              <a:rPr lang="en-US"/>
              <a:pPr/>
              <a:t>13</a:t>
            </a:fld>
            <a:endParaRPr lang="en-US"/>
          </a:p>
        </p:txBody>
      </p:sp>
      <p:sp>
        <p:nvSpPr>
          <p:cNvPr id="1192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2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052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2D7F2A-86CD-4E29-AD15-1F5F5C905A3B}" type="slidenum">
              <a:rPr lang="en-US"/>
              <a:pPr/>
              <a:t>14</a:t>
            </a:fld>
            <a:endParaRPr lang="en-US"/>
          </a:p>
        </p:txBody>
      </p:sp>
      <p:sp>
        <p:nvSpPr>
          <p:cNvPr id="1193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3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3154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EE892D-51DA-4429-BFFA-1D5452FAB7F5}" type="slidenum">
              <a:rPr lang="en-US"/>
              <a:pPr/>
              <a:t>15</a:t>
            </a:fld>
            <a:endParaRPr lang="en-US"/>
          </a:p>
        </p:txBody>
      </p:sp>
      <p:sp>
        <p:nvSpPr>
          <p:cNvPr id="1195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5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856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3E09B9-41CC-44D8-A7EE-522ECA74F13E}" type="slidenum">
              <a:rPr lang="en-US"/>
              <a:pPr/>
              <a:t>16</a:t>
            </a:fld>
            <a:endParaRPr lang="en-US"/>
          </a:p>
        </p:txBody>
      </p:sp>
      <p:sp>
        <p:nvSpPr>
          <p:cNvPr id="1196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6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1635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596F8C-A0A3-4609-BA43-9B76F2650873}" type="slidenum">
              <a:rPr lang="en-US"/>
              <a:pPr/>
              <a:t>17</a:t>
            </a:fld>
            <a:endParaRPr lang="en-US"/>
          </a:p>
        </p:txBody>
      </p:sp>
      <p:sp>
        <p:nvSpPr>
          <p:cNvPr id="1197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7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2613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2A4490-4B03-40FA-91F1-6F47C42D667B}" type="slidenum">
              <a:rPr lang="en-US"/>
              <a:pPr/>
              <a:t>18</a:t>
            </a:fld>
            <a:endParaRPr lang="en-US"/>
          </a:p>
        </p:txBody>
      </p:sp>
      <p:sp>
        <p:nvSpPr>
          <p:cNvPr id="1198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8233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B22A91-C73E-408F-B4C8-43E644120F3A}" type="slidenum">
              <a:rPr lang="en-US"/>
              <a:pPr/>
              <a:t>19</a:t>
            </a:fld>
            <a:endParaRPr lang="en-US"/>
          </a:p>
        </p:txBody>
      </p:sp>
      <p:sp>
        <p:nvSpPr>
          <p:cNvPr id="1199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9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21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C9C055-72E0-4522-A77B-8AF120537E44}" type="slidenum">
              <a:rPr lang="en-US"/>
              <a:pPr/>
              <a:t>20</a:t>
            </a:fld>
            <a:endParaRPr lang="en-US"/>
          </a:p>
        </p:txBody>
      </p:sp>
      <p:sp>
        <p:nvSpPr>
          <p:cNvPr id="1200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0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6545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C9C055-72E0-4522-A77B-8AF120537E44}" type="slidenum">
              <a:rPr lang="en-US"/>
              <a:pPr/>
              <a:t>21</a:t>
            </a:fld>
            <a:endParaRPr lang="en-US"/>
          </a:p>
        </p:txBody>
      </p:sp>
      <p:sp>
        <p:nvSpPr>
          <p:cNvPr id="1200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0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753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3A37F4-AC94-47A7-A663-0685A2BCC5FF}" type="slidenum">
              <a:rPr lang="en-US"/>
              <a:pPr/>
              <a:t>22</a:t>
            </a:fld>
            <a:endParaRPr lang="en-US"/>
          </a:p>
        </p:txBody>
      </p:sp>
      <p:sp>
        <p:nvSpPr>
          <p:cNvPr id="1201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1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286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3A37F4-AC94-47A7-A663-0685A2BCC5FF}" type="slidenum">
              <a:rPr lang="en-US"/>
              <a:pPr/>
              <a:t>23</a:t>
            </a:fld>
            <a:endParaRPr lang="en-US"/>
          </a:p>
        </p:txBody>
      </p:sp>
      <p:sp>
        <p:nvSpPr>
          <p:cNvPr id="1201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1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1331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3D2F49-291D-43EF-B2C2-440CE5CE789E}" type="slidenum">
              <a:rPr lang="en-US"/>
              <a:pPr/>
              <a:t>24</a:t>
            </a:fld>
            <a:endParaRPr lang="en-US"/>
          </a:p>
        </p:txBody>
      </p:sp>
      <p:sp>
        <p:nvSpPr>
          <p:cNvPr id="1202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2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0025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4075C2-A20B-4A7A-8F51-71B0A3CBB4C7}" type="slidenum">
              <a:rPr lang="en-US"/>
              <a:pPr/>
              <a:t>25</a:t>
            </a:fld>
            <a:endParaRPr lang="en-US"/>
          </a:p>
        </p:txBody>
      </p:sp>
      <p:sp>
        <p:nvSpPr>
          <p:cNvPr id="1203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3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3729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4075C2-A20B-4A7A-8F51-71B0A3CBB4C7}" type="slidenum">
              <a:rPr lang="en-US"/>
              <a:pPr/>
              <a:t>26</a:t>
            </a:fld>
            <a:endParaRPr lang="en-US"/>
          </a:p>
        </p:txBody>
      </p:sp>
      <p:sp>
        <p:nvSpPr>
          <p:cNvPr id="1203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3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6600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AF3664-5EDD-4FE6-ACDD-3EAE8351D77D}" type="slidenum">
              <a:rPr lang="en-US"/>
              <a:pPr/>
              <a:t>27</a:t>
            </a:fld>
            <a:endParaRPr lang="en-US"/>
          </a:p>
        </p:txBody>
      </p:sp>
      <p:sp>
        <p:nvSpPr>
          <p:cNvPr id="1204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4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401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AB6B2C-21FC-4D6D-9E7C-29AA6CFA2E86}" type="slidenum">
              <a:rPr lang="en-US"/>
              <a:pPr/>
              <a:t>28</a:t>
            </a:fld>
            <a:endParaRPr lang="en-US"/>
          </a:p>
        </p:txBody>
      </p:sp>
      <p:sp>
        <p:nvSpPr>
          <p:cNvPr id="1205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5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373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06D9D6-DDAD-431E-A80D-583333B50DB4}" type="slidenum">
              <a:rPr lang="en-US"/>
              <a:pPr/>
              <a:t>29</a:t>
            </a:fld>
            <a:endParaRPr lang="en-US"/>
          </a:p>
        </p:txBody>
      </p:sp>
      <p:sp>
        <p:nvSpPr>
          <p:cNvPr id="1206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6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238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339C28-2A6A-4A80-8A16-A0781FEE290E}" type="slidenum">
              <a:rPr lang="en-US"/>
              <a:pPr/>
              <a:t>30</a:t>
            </a:fld>
            <a:endParaRPr lang="en-US"/>
          </a:p>
        </p:txBody>
      </p:sp>
      <p:sp>
        <p:nvSpPr>
          <p:cNvPr id="1207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7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827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339C28-2A6A-4A80-8A16-A0781FEE290E}" type="slidenum">
              <a:rPr lang="en-US"/>
              <a:pPr/>
              <a:t>31</a:t>
            </a:fld>
            <a:endParaRPr lang="en-US"/>
          </a:p>
        </p:txBody>
      </p:sp>
      <p:sp>
        <p:nvSpPr>
          <p:cNvPr id="1207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7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4540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D75B6C-FB4E-4BED-A01F-066E2E4A6A10}" type="slidenum">
              <a:rPr lang="en-US"/>
              <a:pPr/>
              <a:t>32</a:t>
            </a:fld>
            <a:endParaRPr lang="en-US"/>
          </a:p>
        </p:txBody>
      </p:sp>
      <p:sp>
        <p:nvSpPr>
          <p:cNvPr id="1209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9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850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37FB56-FA1D-441A-AC74-3908DC102C15}" type="slidenum">
              <a:rPr lang="en-US"/>
              <a:pPr/>
              <a:t>33</a:t>
            </a:fld>
            <a:endParaRPr lang="en-US"/>
          </a:p>
        </p:txBody>
      </p:sp>
      <p:sp>
        <p:nvSpPr>
          <p:cNvPr id="1210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0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4075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00557C-CEE4-468B-A165-323BC30BE993}" type="slidenum">
              <a:rPr lang="en-US"/>
              <a:pPr/>
              <a:t>34</a:t>
            </a:fld>
            <a:endParaRPr lang="en-US"/>
          </a:p>
        </p:txBody>
      </p:sp>
      <p:sp>
        <p:nvSpPr>
          <p:cNvPr id="1211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1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035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CAF80F-8A72-497D-8F1B-8E720A98BE07}" type="slidenum">
              <a:rPr lang="en-US"/>
              <a:pPr/>
              <a:t>35</a:t>
            </a:fld>
            <a:endParaRPr lang="en-US"/>
          </a:p>
        </p:txBody>
      </p:sp>
      <p:sp>
        <p:nvSpPr>
          <p:cNvPr id="1212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2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037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149760-38BD-4480-89D6-56FE07AB2AC6}" type="slidenum">
              <a:rPr lang="en-US"/>
              <a:pPr/>
              <a:t>36</a:t>
            </a:fld>
            <a:endParaRPr lang="en-US"/>
          </a:p>
        </p:txBody>
      </p:sp>
      <p:sp>
        <p:nvSpPr>
          <p:cNvPr id="1213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3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7598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CFC2C1-50D7-4893-A91D-85BF0E581CE7}" type="slidenum">
              <a:rPr lang="en-US"/>
              <a:pPr/>
              <a:t>37</a:t>
            </a:fld>
            <a:endParaRPr lang="en-US"/>
          </a:p>
        </p:txBody>
      </p:sp>
      <p:sp>
        <p:nvSpPr>
          <p:cNvPr id="1214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4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109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1997F1-2D23-403C-BFC6-3F27FCFA1920}" type="slidenum">
              <a:rPr lang="en-US"/>
              <a:pPr/>
              <a:t>38</a:t>
            </a:fld>
            <a:endParaRPr lang="en-US"/>
          </a:p>
        </p:txBody>
      </p:sp>
      <p:sp>
        <p:nvSpPr>
          <p:cNvPr id="1215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5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6758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5DDC6C-1D2A-4A52-B726-1F8852540491}" type="slidenum">
              <a:rPr lang="en-US"/>
              <a:pPr/>
              <a:t>39</a:t>
            </a:fld>
            <a:endParaRPr lang="en-US"/>
          </a:p>
        </p:txBody>
      </p:sp>
      <p:sp>
        <p:nvSpPr>
          <p:cNvPr id="1216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6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688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A7CE82-ABAB-4D30-AC29-161F7EC3F744}" type="slidenum">
              <a:rPr lang="en-US"/>
              <a:pPr/>
              <a:t>40</a:t>
            </a:fld>
            <a:endParaRPr lang="en-US"/>
          </a:p>
        </p:txBody>
      </p:sp>
      <p:sp>
        <p:nvSpPr>
          <p:cNvPr id="1217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7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93915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FB009B-3AFA-4A89-A9D5-F5A06826A0F7}" type="slidenum">
              <a:rPr lang="en-US"/>
              <a:pPr/>
              <a:t>41</a:t>
            </a:fld>
            <a:endParaRPr lang="en-US"/>
          </a:p>
        </p:txBody>
      </p:sp>
      <p:sp>
        <p:nvSpPr>
          <p:cNvPr id="1218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78060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D59DDD-6FC0-4454-BF32-58CF3FE8C66B}" type="slidenum">
              <a:rPr lang="en-US"/>
              <a:pPr/>
              <a:t>42</a:t>
            </a:fld>
            <a:endParaRPr lang="en-US"/>
          </a:p>
        </p:txBody>
      </p:sp>
      <p:sp>
        <p:nvSpPr>
          <p:cNvPr id="1219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9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74022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D9C153-F05A-416A-B451-4A23C867EF09}" type="slidenum">
              <a:rPr lang="en-US"/>
              <a:pPr/>
              <a:t>43</a:t>
            </a:fld>
            <a:endParaRPr lang="en-US"/>
          </a:p>
        </p:txBody>
      </p:sp>
      <p:sp>
        <p:nvSpPr>
          <p:cNvPr id="1220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0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69859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868D23-EA0C-46DE-891F-6A7F45709439}" type="slidenum">
              <a:rPr lang="en-US"/>
              <a:pPr/>
              <a:t>44</a:t>
            </a:fld>
            <a:endParaRPr lang="en-US"/>
          </a:p>
        </p:txBody>
      </p:sp>
      <p:sp>
        <p:nvSpPr>
          <p:cNvPr id="1221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1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86001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6B16E0-193A-4026-97D8-C274823B92A3}" type="slidenum">
              <a:rPr lang="en-US"/>
              <a:pPr/>
              <a:t>45</a:t>
            </a:fld>
            <a:endParaRPr lang="en-US"/>
          </a:p>
        </p:txBody>
      </p:sp>
      <p:sp>
        <p:nvSpPr>
          <p:cNvPr id="1222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2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4571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58B53D-D146-4466-AB58-746E26CF7D80}" type="slidenum">
              <a:rPr lang="en-US"/>
              <a:pPr/>
              <a:t>46</a:t>
            </a:fld>
            <a:endParaRPr lang="en-US"/>
          </a:p>
        </p:txBody>
      </p:sp>
      <p:sp>
        <p:nvSpPr>
          <p:cNvPr id="1223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3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3692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A34CE3-6301-4E11-9544-5B70D385F500}" type="slidenum">
              <a:rPr lang="en-US"/>
              <a:pPr/>
              <a:t>47</a:t>
            </a:fld>
            <a:endParaRPr lang="en-US"/>
          </a:p>
        </p:txBody>
      </p:sp>
      <p:sp>
        <p:nvSpPr>
          <p:cNvPr id="1224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4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85687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92E1DF-F9BE-4397-9802-5709B8878E25}" type="slidenum">
              <a:rPr lang="en-US"/>
              <a:pPr/>
              <a:t>48</a:t>
            </a:fld>
            <a:endParaRPr lang="en-US"/>
          </a:p>
        </p:txBody>
      </p:sp>
      <p:sp>
        <p:nvSpPr>
          <p:cNvPr id="130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28337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3F8E31-60FC-4684-AB89-5F898620A9AB}" type="slidenum">
              <a:rPr lang="en-US"/>
              <a:pPr/>
              <a:t>49</a:t>
            </a:fld>
            <a:endParaRPr lang="en-US"/>
          </a:p>
        </p:txBody>
      </p:sp>
      <p:sp>
        <p:nvSpPr>
          <p:cNvPr id="1225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5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81373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7835E1-E1F9-4BD8-8D1E-50623ECBF82B}" type="slidenum">
              <a:rPr lang="en-US"/>
              <a:pPr/>
              <a:t>50</a:t>
            </a:fld>
            <a:endParaRPr lang="en-US"/>
          </a:p>
        </p:txBody>
      </p:sp>
      <p:sp>
        <p:nvSpPr>
          <p:cNvPr id="130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81250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BBDC26-24C3-4238-B260-F68152992198}" type="slidenum">
              <a:rPr lang="en-US"/>
              <a:pPr/>
              <a:t>51</a:t>
            </a:fld>
            <a:endParaRPr lang="en-US"/>
          </a:p>
        </p:txBody>
      </p:sp>
      <p:sp>
        <p:nvSpPr>
          <p:cNvPr id="1226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6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60067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BBDC26-24C3-4238-B260-F68152992198}" type="slidenum">
              <a:rPr lang="en-US"/>
              <a:pPr/>
              <a:t>52</a:t>
            </a:fld>
            <a:endParaRPr lang="en-US"/>
          </a:p>
        </p:txBody>
      </p:sp>
      <p:sp>
        <p:nvSpPr>
          <p:cNvPr id="1226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6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2649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8EBEB5-2C47-4A37-80CE-57754A40A07B}" type="slidenum">
              <a:rPr lang="en-US"/>
              <a:pPr/>
              <a:t>53</a:t>
            </a:fld>
            <a:endParaRPr lang="en-US"/>
          </a:p>
        </p:txBody>
      </p:sp>
      <p:sp>
        <p:nvSpPr>
          <p:cNvPr id="1227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7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8444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FE2E5B-ABE0-4137-9A2E-377AF1ADACD2}" type="slidenum">
              <a:rPr lang="en-US"/>
              <a:pPr/>
              <a:t>54</a:t>
            </a:fld>
            <a:endParaRPr lang="en-US"/>
          </a:p>
        </p:txBody>
      </p:sp>
      <p:sp>
        <p:nvSpPr>
          <p:cNvPr id="1228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23594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5039FB-68DD-4C18-92F0-0C883BEBA8EB}" type="slidenum">
              <a:rPr lang="en-US"/>
              <a:pPr/>
              <a:t>55</a:t>
            </a:fld>
            <a:endParaRPr lang="en-US"/>
          </a:p>
        </p:txBody>
      </p:sp>
      <p:sp>
        <p:nvSpPr>
          <p:cNvPr id="1229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2655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741E7A2-D8E5-4B6C-893C-89E37CA58028}" type="slidenum">
              <a:rPr lang="en-US"/>
              <a:pPr/>
              <a:t>56</a:t>
            </a:fld>
            <a:endParaRPr lang="en-US"/>
          </a:p>
        </p:txBody>
      </p:sp>
      <p:sp>
        <p:nvSpPr>
          <p:cNvPr id="1230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0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53695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5015BA-3E20-44A7-978C-35F1F121525E}" type="slidenum">
              <a:rPr lang="en-US"/>
              <a:pPr/>
              <a:t>57</a:t>
            </a:fld>
            <a:endParaRPr lang="en-US"/>
          </a:p>
        </p:txBody>
      </p:sp>
      <p:sp>
        <p:nvSpPr>
          <p:cNvPr id="1231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1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4835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E681F3-034E-4719-A148-E7D8FF9134E2}" type="slidenum">
              <a:rPr lang="en-US"/>
              <a:pPr/>
              <a:t>58</a:t>
            </a:fld>
            <a:endParaRPr lang="en-US"/>
          </a:p>
        </p:txBody>
      </p:sp>
      <p:sp>
        <p:nvSpPr>
          <p:cNvPr id="1232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2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121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1FCC47-19BF-4E3B-B7A0-81EED34C56EC}" type="slidenum">
              <a:rPr lang="en-US"/>
              <a:pPr/>
              <a:t>59</a:t>
            </a:fld>
            <a:endParaRPr lang="en-US"/>
          </a:p>
        </p:txBody>
      </p:sp>
      <p:sp>
        <p:nvSpPr>
          <p:cNvPr id="1233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3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80681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72E576-D3A9-4E0B-9977-FC4CCA079CF5}" type="slidenum">
              <a:rPr lang="en-US"/>
              <a:pPr/>
              <a:t>60</a:t>
            </a:fld>
            <a:endParaRPr lang="en-US"/>
          </a:p>
        </p:txBody>
      </p:sp>
      <p:sp>
        <p:nvSpPr>
          <p:cNvPr id="1234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4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74873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9778F4-BF9B-429F-ACB1-680B34C3F49A}" type="slidenum">
              <a:rPr lang="en-US"/>
              <a:pPr/>
              <a:t>61</a:t>
            </a:fld>
            <a:endParaRPr lang="en-US"/>
          </a:p>
        </p:txBody>
      </p:sp>
      <p:sp>
        <p:nvSpPr>
          <p:cNvPr id="1235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5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20925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CBE5D3-939D-451B-AE90-BB2965369916}" type="slidenum">
              <a:rPr lang="en-US"/>
              <a:pPr/>
              <a:t>62</a:t>
            </a:fld>
            <a:endParaRPr lang="en-US"/>
          </a:p>
        </p:txBody>
      </p:sp>
      <p:sp>
        <p:nvSpPr>
          <p:cNvPr id="1236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6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78994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72950C-8537-4620-8199-921930E1C623}" type="slidenum">
              <a:rPr lang="en-US"/>
              <a:pPr/>
              <a:t>63</a:t>
            </a:fld>
            <a:endParaRPr lang="en-US"/>
          </a:p>
        </p:txBody>
      </p:sp>
      <p:sp>
        <p:nvSpPr>
          <p:cNvPr id="1238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8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9825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4DE3DD-E11A-4F93-B0B2-A43F3A1452B7}" type="slidenum">
              <a:rPr lang="en-US"/>
              <a:pPr/>
              <a:t>64</a:t>
            </a:fld>
            <a:endParaRPr lang="en-US"/>
          </a:p>
        </p:txBody>
      </p:sp>
      <p:sp>
        <p:nvSpPr>
          <p:cNvPr id="130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91482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5FA898-840E-48F2-A421-682B99572A64}" type="slidenum">
              <a:rPr lang="en-US"/>
              <a:pPr/>
              <a:t>65</a:t>
            </a:fld>
            <a:endParaRPr lang="en-US"/>
          </a:p>
        </p:txBody>
      </p:sp>
      <p:sp>
        <p:nvSpPr>
          <p:cNvPr id="131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5661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5FA898-840E-48F2-A421-682B99572A64}" type="slidenum">
              <a:rPr lang="en-US"/>
              <a:pPr/>
              <a:t>66</a:t>
            </a:fld>
            <a:endParaRPr lang="en-US"/>
          </a:p>
        </p:txBody>
      </p:sp>
      <p:sp>
        <p:nvSpPr>
          <p:cNvPr id="131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80451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1A8B0EF-3AD5-4B90-944D-6FB828F2A294}" type="slidenum">
              <a:rPr lang="en-US"/>
              <a:pPr/>
              <a:t>67</a:t>
            </a:fld>
            <a:endParaRPr lang="en-US"/>
          </a:p>
        </p:txBody>
      </p:sp>
      <p:sp>
        <p:nvSpPr>
          <p:cNvPr id="131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65452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1A8B0EF-3AD5-4B90-944D-6FB828F2A294}" type="slidenum">
              <a:rPr lang="en-US"/>
              <a:pPr/>
              <a:t>68</a:t>
            </a:fld>
            <a:endParaRPr lang="en-US"/>
          </a:p>
        </p:txBody>
      </p:sp>
      <p:sp>
        <p:nvSpPr>
          <p:cNvPr id="131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8108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3051F9-1555-4E28-B8BE-FF638FBF4334}" type="slidenum">
              <a:rPr lang="en-US"/>
              <a:pPr/>
              <a:t>69</a:t>
            </a:fld>
            <a:endParaRPr lang="en-US"/>
          </a:p>
        </p:txBody>
      </p:sp>
      <p:sp>
        <p:nvSpPr>
          <p:cNvPr id="1241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1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1086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98363F-CF77-4C9F-BD2A-F595EFE53135}" type="slidenum">
              <a:rPr lang="en-US"/>
              <a:pPr/>
              <a:t>70</a:t>
            </a:fld>
            <a:endParaRPr lang="en-US"/>
          </a:p>
        </p:txBody>
      </p:sp>
      <p:sp>
        <p:nvSpPr>
          <p:cNvPr id="1242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2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7273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DF8DDB-7492-4E1F-A088-D1E1FDF24F71}" type="slidenum">
              <a:rPr lang="en-US"/>
              <a:pPr/>
              <a:t>71</a:t>
            </a:fld>
            <a:endParaRPr lang="en-US"/>
          </a:p>
        </p:txBody>
      </p:sp>
      <p:sp>
        <p:nvSpPr>
          <p:cNvPr id="131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13212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DF8DDB-7492-4E1F-A088-D1E1FDF24F71}" type="slidenum">
              <a:rPr lang="en-US"/>
              <a:pPr/>
              <a:t>72</a:t>
            </a:fld>
            <a:endParaRPr lang="en-US"/>
          </a:p>
        </p:txBody>
      </p:sp>
      <p:sp>
        <p:nvSpPr>
          <p:cNvPr id="131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0724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CFA6C1-DE14-4F5D-A642-2FC9AE636CBE}" type="slidenum">
              <a:rPr lang="en-US"/>
              <a:pPr/>
              <a:t>73</a:t>
            </a:fld>
            <a:endParaRPr lang="en-US"/>
          </a:p>
        </p:txBody>
      </p:sp>
      <p:sp>
        <p:nvSpPr>
          <p:cNvPr id="131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9775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CFA6C1-DE14-4F5D-A642-2FC9AE636CBE}" type="slidenum">
              <a:rPr lang="en-US"/>
              <a:pPr/>
              <a:t>74</a:t>
            </a:fld>
            <a:endParaRPr lang="en-US"/>
          </a:p>
        </p:txBody>
      </p:sp>
      <p:sp>
        <p:nvSpPr>
          <p:cNvPr id="131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2212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D6AF38-7DB7-4E8F-87E0-DC9E46D7B200}" type="slidenum">
              <a:rPr lang="en-US"/>
              <a:pPr/>
              <a:t>75</a:t>
            </a:fld>
            <a:endParaRPr lang="en-US"/>
          </a:p>
        </p:txBody>
      </p:sp>
      <p:sp>
        <p:nvSpPr>
          <p:cNvPr id="1244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4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6673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55DCAF-878F-42BD-B7E0-5045F5526695}" type="slidenum">
              <a:rPr lang="en-US"/>
              <a:pPr/>
              <a:t>76</a:t>
            </a:fld>
            <a:endParaRPr lang="en-US"/>
          </a:p>
        </p:txBody>
      </p:sp>
      <p:sp>
        <p:nvSpPr>
          <p:cNvPr id="1245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5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7246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67ED34-1E2F-4C3B-92E2-692D42E4AA96}" type="slidenum">
              <a:rPr lang="en-US"/>
              <a:pPr/>
              <a:t>77</a:t>
            </a:fld>
            <a:endParaRPr lang="en-US"/>
          </a:p>
        </p:txBody>
      </p:sp>
      <p:sp>
        <p:nvSpPr>
          <p:cNvPr id="131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2112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67ED34-1E2F-4C3B-92E2-692D42E4AA96}" type="slidenum">
              <a:rPr lang="en-US"/>
              <a:pPr/>
              <a:t>78</a:t>
            </a:fld>
            <a:endParaRPr lang="en-US"/>
          </a:p>
        </p:txBody>
      </p:sp>
      <p:sp>
        <p:nvSpPr>
          <p:cNvPr id="131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0086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E6C8E3-0018-4796-93B8-92A390A38B0A}" type="slidenum">
              <a:rPr lang="en-US"/>
              <a:pPr/>
              <a:t>79</a:t>
            </a:fld>
            <a:endParaRPr lang="en-US"/>
          </a:p>
        </p:txBody>
      </p:sp>
      <p:sp>
        <p:nvSpPr>
          <p:cNvPr id="1247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7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2476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D3001D-D256-4E4C-8654-927703D44972}" type="slidenum">
              <a:rPr lang="en-US"/>
              <a:pPr/>
              <a:t>80</a:t>
            </a:fld>
            <a:endParaRPr lang="en-US"/>
          </a:p>
        </p:txBody>
      </p:sp>
      <p:sp>
        <p:nvSpPr>
          <p:cNvPr id="1248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8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59713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1C52DA-B39C-4E9E-8F93-AEC85BE751E4}" type="slidenum">
              <a:rPr lang="en-US"/>
              <a:pPr/>
              <a:t>81</a:t>
            </a:fld>
            <a:endParaRPr lang="en-US"/>
          </a:p>
        </p:txBody>
      </p:sp>
      <p:sp>
        <p:nvSpPr>
          <p:cNvPr id="1249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35471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BE7A3A-BC58-44FC-8634-3056204EDEB2}" type="slidenum">
              <a:rPr lang="en-US"/>
              <a:pPr/>
              <a:t>82</a:t>
            </a:fld>
            <a:endParaRPr lang="en-US"/>
          </a:p>
        </p:txBody>
      </p:sp>
      <p:sp>
        <p:nvSpPr>
          <p:cNvPr id="132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1589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EAE29D-32D5-418F-9989-5CA691C8C9EA}" type="slidenum">
              <a:rPr lang="en-US"/>
              <a:pPr/>
              <a:t>83</a:t>
            </a:fld>
            <a:endParaRPr lang="en-US"/>
          </a:p>
        </p:txBody>
      </p:sp>
      <p:sp>
        <p:nvSpPr>
          <p:cNvPr id="1250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0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374840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EF0F76-070A-43E6-8114-E8C201A6416A}" type="slidenum">
              <a:rPr lang="en-US"/>
              <a:pPr/>
              <a:t>84</a:t>
            </a:fld>
            <a:endParaRPr lang="en-US"/>
          </a:p>
        </p:txBody>
      </p:sp>
      <p:sp>
        <p:nvSpPr>
          <p:cNvPr id="1251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1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80382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EF0F76-070A-43E6-8114-E8C201A6416A}" type="slidenum">
              <a:rPr lang="en-US"/>
              <a:pPr/>
              <a:t>85</a:t>
            </a:fld>
            <a:endParaRPr lang="en-US"/>
          </a:p>
        </p:txBody>
      </p:sp>
      <p:sp>
        <p:nvSpPr>
          <p:cNvPr id="1251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1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01433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8EB127-6C09-4034-9A72-5E846FE8F85A}" type="slidenum">
              <a:rPr lang="en-US"/>
              <a:pPr/>
              <a:t>86</a:t>
            </a:fld>
            <a:endParaRPr lang="en-US"/>
          </a:p>
        </p:txBody>
      </p:sp>
      <p:sp>
        <p:nvSpPr>
          <p:cNvPr id="1252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2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1585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C3F1BE-E7DB-403C-BBA5-B6F67125E5B4}" type="slidenum">
              <a:rPr lang="en-US"/>
              <a:pPr/>
              <a:t>87</a:t>
            </a:fld>
            <a:endParaRPr lang="en-US"/>
          </a:p>
        </p:txBody>
      </p:sp>
      <p:sp>
        <p:nvSpPr>
          <p:cNvPr id="1253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3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749787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079B7E-0766-48C9-A94A-CEBD69B12616}" type="slidenum">
              <a:rPr lang="en-US"/>
              <a:pPr/>
              <a:t>88</a:t>
            </a:fld>
            <a:endParaRPr lang="en-US"/>
          </a:p>
        </p:txBody>
      </p:sp>
      <p:sp>
        <p:nvSpPr>
          <p:cNvPr id="1254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4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49731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0B1B28-4AE5-4DB4-9EA9-AA360BFEFA11}" type="slidenum">
              <a:rPr lang="en-US"/>
              <a:pPr/>
              <a:t>89</a:t>
            </a:fld>
            <a:endParaRPr lang="en-US"/>
          </a:p>
        </p:txBody>
      </p:sp>
      <p:sp>
        <p:nvSpPr>
          <p:cNvPr id="1255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5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7923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27DB3F-E587-4F5A-B2BC-FBC1639CE683}" type="slidenum">
              <a:rPr lang="en-US"/>
              <a:pPr/>
              <a:t>90</a:t>
            </a:fld>
            <a:endParaRPr lang="en-US"/>
          </a:p>
        </p:txBody>
      </p:sp>
      <p:sp>
        <p:nvSpPr>
          <p:cNvPr id="1256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6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37440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82F669-3343-4E69-9804-D7096D3550C3}" type="slidenum">
              <a:rPr lang="en-US"/>
              <a:pPr/>
              <a:t>91</a:t>
            </a:fld>
            <a:endParaRPr lang="en-US"/>
          </a:p>
        </p:txBody>
      </p:sp>
      <p:sp>
        <p:nvSpPr>
          <p:cNvPr id="1257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7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42069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562DC7-8DC2-4099-A774-68B161F42923}" type="slidenum">
              <a:rPr lang="en-US"/>
              <a:pPr/>
              <a:t>92</a:t>
            </a:fld>
            <a:endParaRPr lang="en-US"/>
          </a:p>
        </p:txBody>
      </p:sp>
      <p:sp>
        <p:nvSpPr>
          <p:cNvPr id="1258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8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80858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429E75-0F59-4C6E-97F8-532AD85674B5}" type="slidenum">
              <a:rPr lang="en-US"/>
              <a:pPr/>
              <a:t>93</a:t>
            </a:fld>
            <a:endParaRPr lang="en-US"/>
          </a:p>
        </p:txBody>
      </p:sp>
      <p:sp>
        <p:nvSpPr>
          <p:cNvPr id="1259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54091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C2F67B-10B8-481F-8B26-1B2CA45676FD}" type="slidenum">
              <a:rPr lang="en-US"/>
              <a:pPr/>
              <a:t>94</a:t>
            </a:fld>
            <a:endParaRPr lang="en-US"/>
          </a:p>
        </p:txBody>
      </p:sp>
      <p:sp>
        <p:nvSpPr>
          <p:cNvPr id="1260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0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58847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6E5E39-896A-4A45-BF49-C674F9A7DF48}" type="slidenum">
              <a:rPr lang="en-US"/>
              <a:pPr/>
              <a:t>95</a:t>
            </a:fld>
            <a:endParaRPr lang="en-US"/>
          </a:p>
        </p:txBody>
      </p:sp>
      <p:sp>
        <p:nvSpPr>
          <p:cNvPr id="1261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1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16604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C1FAD3-3192-43D7-B235-391EA1561C69}" type="slidenum">
              <a:rPr lang="en-US"/>
              <a:pPr/>
              <a:t>96</a:t>
            </a:fld>
            <a:endParaRPr lang="en-US"/>
          </a:p>
        </p:txBody>
      </p:sp>
      <p:sp>
        <p:nvSpPr>
          <p:cNvPr id="1262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2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439202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5743D3-E981-4A41-8836-378690818951}" type="slidenum">
              <a:rPr lang="en-US"/>
              <a:pPr/>
              <a:t>97</a:t>
            </a:fld>
            <a:endParaRPr lang="en-US"/>
          </a:p>
        </p:txBody>
      </p:sp>
      <p:sp>
        <p:nvSpPr>
          <p:cNvPr id="1263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3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523417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82C9A1-9459-40CC-B338-56D3092BF632}" type="slidenum">
              <a:rPr lang="en-US"/>
              <a:pPr/>
              <a:t>98</a:t>
            </a:fld>
            <a:endParaRPr lang="en-US"/>
          </a:p>
        </p:txBody>
      </p:sp>
      <p:sp>
        <p:nvSpPr>
          <p:cNvPr id="1264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4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85298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96CD39-A2AB-46BA-BDCA-3963B6660C08}" type="slidenum">
              <a:rPr lang="en-US"/>
              <a:pPr/>
              <a:t>99</a:t>
            </a:fld>
            <a:endParaRPr lang="en-US"/>
          </a:p>
        </p:txBody>
      </p:sp>
      <p:sp>
        <p:nvSpPr>
          <p:cNvPr id="1265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5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84020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347F3A-C214-4E90-951F-7560D2E407A0}" type="slidenum">
              <a:rPr lang="en-US"/>
              <a:pPr/>
              <a:t>100</a:t>
            </a:fld>
            <a:endParaRPr lang="en-US"/>
          </a:p>
        </p:txBody>
      </p:sp>
      <p:sp>
        <p:nvSpPr>
          <p:cNvPr id="1266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6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5224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D1709F-1EDC-4119-A0BF-7D2F34912723}" type="slidenum">
              <a:rPr lang="en-US"/>
              <a:pPr/>
              <a:t>101</a:t>
            </a:fld>
            <a:endParaRPr lang="en-US"/>
          </a:p>
        </p:txBody>
      </p:sp>
      <p:sp>
        <p:nvSpPr>
          <p:cNvPr id="132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27030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950242-D35B-44F1-A8BF-7938C6C933F0}" type="slidenum">
              <a:rPr lang="en-US"/>
              <a:pPr/>
              <a:t>102</a:t>
            </a:fld>
            <a:endParaRPr lang="en-US"/>
          </a:p>
        </p:txBody>
      </p:sp>
      <p:sp>
        <p:nvSpPr>
          <p:cNvPr id="1267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7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17096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65C0EA-653A-422A-A7D6-A4037F3B5E08}" type="slidenum">
              <a:rPr lang="en-US"/>
              <a:pPr/>
              <a:t>103</a:t>
            </a:fld>
            <a:endParaRPr lang="en-US"/>
          </a:p>
        </p:txBody>
      </p:sp>
      <p:sp>
        <p:nvSpPr>
          <p:cNvPr id="1268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8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32508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884760-9F55-447D-9BC3-E99C633C5980}" type="slidenum">
              <a:rPr lang="en-US"/>
              <a:pPr/>
              <a:t>104</a:t>
            </a:fld>
            <a:endParaRPr lang="en-US"/>
          </a:p>
        </p:txBody>
      </p:sp>
      <p:sp>
        <p:nvSpPr>
          <p:cNvPr id="132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434615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1628D2-5DD6-4D63-86A9-6101C631CCB4}" type="slidenum">
              <a:rPr lang="en-US"/>
              <a:pPr/>
              <a:t>105</a:t>
            </a:fld>
            <a:endParaRPr lang="en-US"/>
          </a:p>
        </p:txBody>
      </p:sp>
      <p:sp>
        <p:nvSpPr>
          <p:cNvPr id="1269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498462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1E4B40-CFEF-4A9F-BC41-F6582471A4B2}" type="slidenum">
              <a:rPr lang="en-US"/>
              <a:pPr/>
              <a:t>106</a:t>
            </a:fld>
            <a:endParaRPr lang="en-US"/>
          </a:p>
        </p:txBody>
      </p:sp>
      <p:sp>
        <p:nvSpPr>
          <p:cNvPr id="1270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70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997293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42B0AF-3D46-49E9-B250-922758483AB7}" type="slidenum">
              <a:rPr lang="en-US"/>
              <a:pPr/>
              <a:t>107</a:t>
            </a:fld>
            <a:endParaRPr lang="en-US"/>
          </a:p>
        </p:txBody>
      </p:sp>
      <p:sp>
        <p:nvSpPr>
          <p:cNvPr id="1271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71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97113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7A10D1-CBFD-4F4A-B5DC-0D039A893BB6}" type="slidenum">
              <a:rPr lang="en-US"/>
              <a:pPr/>
              <a:t>108</a:t>
            </a:fld>
            <a:endParaRPr lang="en-US"/>
          </a:p>
        </p:txBody>
      </p:sp>
      <p:sp>
        <p:nvSpPr>
          <p:cNvPr id="1272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72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833429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2B187E-D485-4E55-AE12-62716B2D43F8}" type="slidenum">
              <a:rPr lang="en-US"/>
              <a:pPr/>
              <a:t>109</a:t>
            </a:fld>
            <a:endParaRPr lang="en-US"/>
          </a:p>
        </p:txBody>
      </p:sp>
      <p:sp>
        <p:nvSpPr>
          <p:cNvPr id="1273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73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59713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EEEE73-10C0-4B90-A9A9-1DDBE5960211}" type="slidenum">
              <a:rPr lang="en-US"/>
              <a:pPr/>
              <a:t>110</a:t>
            </a:fld>
            <a:endParaRPr lang="en-US"/>
          </a:p>
        </p:txBody>
      </p:sp>
      <p:sp>
        <p:nvSpPr>
          <p:cNvPr id="1274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74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781499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7F309E-030B-4138-A423-6046D64621CC}" type="slidenum">
              <a:rPr lang="en-US"/>
              <a:pPr/>
              <a:t>111</a:t>
            </a:fld>
            <a:endParaRPr lang="en-US"/>
          </a:p>
        </p:txBody>
      </p:sp>
      <p:sp>
        <p:nvSpPr>
          <p:cNvPr id="1275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75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675720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CA57F8-27F0-40CD-A0D4-BAAD0C726E42}" type="slidenum">
              <a:rPr lang="en-US"/>
              <a:pPr/>
              <a:t>112</a:t>
            </a:fld>
            <a:endParaRPr lang="en-US"/>
          </a:p>
        </p:txBody>
      </p:sp>
      <p:sp>
        <p:nvSpPr>
          <p:cNvPr id="1276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76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407979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C9738C-F67A-4110-9FA5-AD37AC62FF76}" type="slidenum">
              <a:rPr lang="en-US"/>
              <a:pPr/>
              <a:t>113</a:t>
            </a:fld>
            <a:endParaRPr lang="en-US"/>
          </a:p>
        </p:txBody>
      </p:sp>
      <p:sp>
        <p:nvSpPr>
          <p:cNvPr id="1277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77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990519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204154-A750-4923-8C96-79C582CA9A05}" type="slidenum">
              <a:rPr lang="en-US"/>
              <a:pPr/>
              <a:t>114</a:t>
            </a:fld>
            <a:endParaRPr lang="en-US"/>
          </a:p>
        </p:txBody>
      </p:sp>
      <p:sp>
        <p:nvSpPr>
          <p:cNvPr id="1280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566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9CD9D0-8B46-47F9-AE2D-5E89B2355BBA}" type="slidenum">
              <a:rPr lang="en-US"/>
              <a:pPr/>
              <a:t>115</a:t>
            </a:fld>
            <a:endParaRPr lang="en-US"/>
          </a:p>
        </p:txBody>
      </p:sp>
      <p:sp>
        <p:nvSpPr>
          <p:cNvPr id="1281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1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266440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51750E-F3D6-4CE9-9908-D7BBE9FF4840}" type="slidenum">
              <a:rPr lang="en-US"/>
              <a:pPr/>
              <a:t>116</a:t>
            </a:fld>
            <a:endParaRPr lang="en-US"/>
          </a:p>
        </p:txBody>
      </p:sp>
      <p:sp>
        <p:nvSpPr>
          <p:cNvPr id="133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499888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51750E-F3D6-4CE9-9908-D7BBE9FF4840}" type="slidenum">
              <a:rPr lang="en-US"/>
              <a:pPr/>
              <a:t>117</a:t>
            </a:fld>
            <a:endParaRPr lang="en-US"/>
          </a:p>
        </p:txBody>
      </p:sp>
      <p:sp>
        <p:nvSpPr>
          <p:cNvPr id="133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981002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8E816C-13D9-4739-9448-6F224D89BD70}" type="slidenum">
              <a:rPr lang="en-US"/>
              <a:pPr/>
              <a:t>118</a:t>
            </a:fld>
            <a:endParaRPr lang="en-US"/>
          </a:p>
        </p:txBody>
      </p:sp>
      <p:sp>
        <p:nvSpPr>
          <p:cNvPr id="128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08123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CEA6BA-F7FC-4E06-A90D-FFE94903118C}" type="slidenum">
              <a:rPr lang="en-US"/>
              <a:pPr/>
              <a:t>119</a:t>
            </a:fld>
            <a:endParaRPr lang="en-US"/>
          </a:p>
        </p:txBody>
      </p:sp>
      <p:sp>
        <p:nvSpPr>
          <p:cNvPr id="128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452858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8C8CBE-4129-4271-A629-D8AC4C3E7488}" type="slidenum">
              <a:rPr lang="en-US"/>
              <a:pPr/>
              <a:t>120</a:t>
            </a:fld>
            <a:endParaRPr lang="en-US"/>
          </a:p>
        </p:txBody>
      </p:sp>
      <p:sp>
        <p:nvSpPr>
          <p:cNvPr id="128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649084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883A53-237C-4C77-931D-80DDFDBCF2F3}" type="slidenum">
              <a:rPr lang="en-US"/>
              <a:pPr/>
              <a:t>121</a:t>
            </a:fld>
            <a:endParaRPr lang="en-US"/>
          </a:p>
        </p:txBody>
      </p:sp>
      <p:sp>
        <p:nvSpPr>
          <p:cNvPr id="128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43026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F5AF4E-D46E-452B-B513-73C1ABDFA629}" type="slidenum">
              <a:rPr lang="en-US"/>
              <a:pPr/>
              <a:t>122</a:t>
            </a:fld>
            <a:endParaRPr lang="en-US"/>
          </a:p>
        </p:txBody>
      </p:sp>
      <p:sp>
        <p:nvSpPr>
          <p:cNvPr id="128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84860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9F921D-D967-469B-BC5E-E91829B6A93A}" type="slidenum">
              <a:rPr lang="en-US"/>
              <a:pPr/>
              <a:t>123</a:t>
            </a:fld>
            <a:endParaRPr lang="en-US"/>
          </a:p>
        </p:txBody>
      </p:sp>
      <p:sp>
        <p:nvSpPr>
          <p:cNvPr id="128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76642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A78DBB-2FD0-417E-8E48-636802D370F5}" type="slidenum">
              <a:rPr lang="en-US"/>
              <a:pPr/>
              <a:t>124</a:t>
            </a:fld>
            <a:endParaRPr lang="en-US"/>
          </a:p>
        </p:txBody>
      </p:sp>
      <p:sp>
        <p:nvSpPr>
          <p:cNvPr id="129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509846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40D6D8-B5CB-44CF-A076-91AD84751C08}" type="slidenum">
              <a:rPr lang="en-US"/>
              <a:pPr/>
              <a:t>125</a:t>
            </a:fld>
            <a:endParaRPr lang="en-US"/>
          </a:p>
        </p:txBody>
      </p:sp>
      <p:sp>
        <p:nvSpPr>
          <p:cNvPr id="129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113943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8832C6-AD85-45A4-BA9A-4B7D17D30861}" type="slidenum">
              <a:rPr lang="en-US"/>
              <a:pPr/>
              <a:t>126</a:t>
            </a:fld>
            <a:endParaRPr lang="en-US"/>
          </a:p>
        </p:txBody>
      </p:sp>
      <p:sp>
        <p:nvSpPr>
          <p:cNvPr id="129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45584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6C2EA1-3CDC-4ECF-86B2-4D763AEBFCF2}" type="slidenum">
              <a:rPr lang="en-US"/>
              <a:pPr/>
              <a:t>127</a:t>
            </a:fld>
            <a:endParaRPr lang="en-US"/>
          </a:p>
        </p:txBody>
      </p:sp>
      <p:sp>
        <p:nvSpPr>
          <p:cNvPr id="129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612223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43627D-71A1-4567-A2B3-A27A94827337}" type="slidenum">
              <a:rPr lang="en-US"/>
              <a:pPr/>
              <a:t>128</a:t>
            </a:fld>
            <a:endParaRPr lang="en-US"/>
          </a:p>
        </p:txBody>
      </p:sp>
      <p:sp>
        <p:nvSpPr>
          <p:cNvPr id="129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26312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664B26-1039-4A89-B9BE-F571758E0A10}" type="slidenum">
              <a:rPr lang="en-US"/>
              <a:pPr/>
              <a:t>129</a:t>
            </a:fld>
            <a:endParaRPr lang="en-US"/>
          </a:p>
        </p:txBody>
      </p:sp>
      <p:sp>
        <p:nvSpPr>
          <p:cNvPr id="129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28157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70311F-008B-4B0C-9828-CA17DE82EC59}" type="slidenum">
              <a:rPr lang="en-US"/>
              <a:pPr/>
              <a:t>130</a:t>
            </a:fld>
            <a:endParaRPr lang="en-US"/>
          </a:p>
        </p:txBody>
      </p:sp>
      <p:sp>
        <p:nvSpPr>
          <p:cNvPr id="129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56755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EE73E6-3E2F-4FE9-83A4-B07AF79C1FFF}" type="slidenum">
              <a:rPr lang="en-US"/>
              <a:pPr/>
              <a:t>131</a:t>
            </a:fld>
            <a:endParaRPr lang="en-US"/>
          </a:p>
        </p:txBody>
      </p:sp>
      <p:sp>
        <p:nvSpPr>
          <p:cNvPr id="129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7759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033A97-0276-4D5D-9F89-8740F26D54B0}" type="slidenum">
              <a:rPr lang="en-US"/>
              <a:pPr/>
              <a:t>132</a:t>
            </a:fld>
            <a:endParaRPr lang="en-US"/>
          </a:p>
        </p:txBody>
      </p:sp>
      <p:sp>
        <p:nvSpPr>
          <p:cNvPr id="129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24187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7CBB3A-DA45-426E-9703-C0236A055745}" type="slidenum">
              <a:rPr lang="en-US"/>
              <a:pPr/>
              <a:t>133</a:t>
            </a:fld>
            <a:endParaRPr lang="en-US"/>
          </a:p>
        </p:txBody>
      </p:sp>
      <p:sp>
        <p:nvSpPr>
          <p:cNvPr id="129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155115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D4DA1E-7C6D-446C-ACA1-DDF3AB11F0CC}" type="slidenum">
              <a:rPr lang="en-US"/>
              <a:pPr/>
              <a:t>134</a:t>
            </a:fld>
            <a:endParaRPr lang="en-US"/>
          </a:p>
        </p:txBody>
      </p:sp>
      <p:sp>
        <p:nvSpPr>
          <p:cNvPr id="130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85476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4F2B97-851F-4A53-BB9C-D5173485D282}" type="slidenum">
              <a:rPr lang="en-US"/>
              <a:pPr/>
              <a:t>135</a:t>
            </a:fld>
            <a:endParaRPr lang="en-US"/>
          </a:p>
        </p:txBody>
      </p:sp>
      <p:sp>
        <p:nvSpPr>
          <p:cNvPr id="133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026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914400" y="0"/>
            <a:ext cx="8229600" cy="9190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5638800" y="6477000"/>
            <a:ext cx="1905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aseline="0" dirty="0">
                <a:solidFill>
                  <a:schemeClr val="bg1">
                    <a:lumMod val="50000"/>
                  </a:schemeClr>
                </a:solidFill>
              </a:rPr>
              <a:t>Chapter 6 &lt;</a:t>
            </a:r>
            <a:fld id="{D1B2EFE9-D440-4A3B-858C-5FEDF5DD0E10}" type="slidenum">
              <a:rPr lang="en-US" sz="140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&gt; </a:t>
            </a:r>
          </a:p>
        </p:txBody>
      </p:sp>
      <p:sp>
        <p:nvSpPr>
          <p:cNvPr id="5" name="Rectangle 4"/>
          <p:cNvSpPr/>
          <p:nvPr userDrawn="1"/>
        </p:nvSpPr>
        <p:spPr>
          <a:xfrm rot="16200000">
            <a:off x="-2953462" y="3012692"/>
            <a:ext cx="667637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4400" b="1" i="1" cap="all" spc="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758139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914400" y="0"/>
            <a:ext cx="8229600" cy="9190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5638800" y="6474023"/>
            <a:ext cx="198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aseline="0" dirty="0">
                <a:solidFill>
                  <a:schemeClr val="bg1">
                    <a:lumMod val="50000"/>
                  </a:schemeClr>
                </a:solidFill>
              </a:rPr>
              <a:t>Chapter 6 &lt;</a:t>
            </a:r>
            <a:fld id="{D1B2EFE9-D440-4A3B-858C-5FEDF5DD0E10}" type="slidenum">
              <a:rPr lang="en-US" sz="140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&gt; </a:t>
            </a:r>
          </a:p>
        </p:txBody>
      </p:sp>
      <p:sp>
        <p:nvSpPr>
          <p:cNvPr id="5" name="Rectangle 4"/>
          <p:cNvSpPr/>
          <p:nvPr userDrawn="1"/>
        </p:nvSpPr>
        <p:spPr>
          <a:xfrm rot="16200000">
            <a:off x="-2953462" y="3012692"/>
            <a:ext cx="667637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4400" b="1" i="1" cap="all" spc="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044308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CC12C447-90FA-420C-B74C-1A635C444937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29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192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719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E7ED6BBA-2425-4A43-B586-383F2BB07C4C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136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219200"/>
            <a:ext cx="7772400" cy="49530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68946159-E475-47D9-8550-A9F0B445C791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3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2192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192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37719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7719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CCDCC2DC-EBCD-44EE-92DB-9C06DDE632FD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468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1-&lt;</a:t>
            </a:r>
            <a:fld id="{B4FEF99E-A19F-4A0B-A62E-3729EECDD901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501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9F7ADD3E-E1D6-46D5-BCAD-B4AEBA813F75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7660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46080-453C-4BEF-9A1F-F094B996EB79}" type="datetimeFigureOut">
              <a:rPr lang="en-US" smtClean="0"/>
              <a:t>10/16/2019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2EFE9-D440-4A3B-858C-5FEDF5DD0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500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3.wmf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tags" Target="../tags/tag44.xml"/><Relationship Id="rId7" Type="http://schemas.openxmlformats.org/officeDocument/2006/relationships/notesSlide" Target="../notesSlides/notesSlide18.xml"/><Relationship Id="rId2" Type="http://schemas.openxmlformats.org/officeDocument/2006/relationships/tags" Target="../tags/tag43.xml"/><Relationship Id="rId1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9" Type="http://schemas.openxmlformats.org/officeDocument/2006/relationships/image" Target="../media/image5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3" Type="http://schemas.openxmlformats.org/officeDocument/2006/relationships/tags" Target="../tags/tag5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50.xml"/><Relationship Id="rId1" Type="http://schemas.openxmlformats.org/officeDocument/2006/relationships/vmlDrawing" Target="../drawings/vmlDrawing3.v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10" Type="http://schemas.openxmlformats.org/officeDocument/2006/relationships/image" Target="../media/image6.emf"/><Relationship Id="rId4" Type="http://schemas.openxmlformats.org/officeDocument/2006/relationships/tags" Target="../tags/tag52.xml"/><Relationship Id="rId9" Type="http://schemas.openxmlformats.org/officeDocument/2006/relationships/oleObject" Target="../embeddings/oleObject3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3" Type="http://schemas.openxmlformats.org/officeDocument/2006/relationships/tags" Target="../tags/tag5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58.xml"/><Relationship Id="rId1" Type="http://schemas.openxmlformats.org/officeDocument/2006/relationships/vmlDrawing" Target="../drawings/vmlDrawing4.v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10" Type="http://schemas.openxmlformats.org/officeDocument/2006/relationships/image" Target="../media/image7.emf"/><Relationship Id="rId4" Type="http://schemas.openxmlformats.org/officeDocument/2006/relationships/tags" Target="../tags/tag60.xml"/><Relationship Id="rId9" Type="http://schemas.openxmlformats.org/officeDocument/2006/relationships/oleObject" Target="../embeddings/oleObject4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tags" Target="../tags/tag64.xml"/><Relationship Id="rId7" Type="http://schemas.openxmlformats.org/officeDocument/2006/relationships/notesSlide" Target="../notesSlides/notesSlide23.xml"/><Relationship Id="rId2" Type="http://schemas.openxmlformats.org/officeDocument/2006/relationships/tags" Target="../tags/tag63.xml"/><Relationship Id="rId1" Type="http://schemas.openxmlformats.org/officeDocument/2006/relationships/vmlDrawing" Target="../drawings/vmlDrawing5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9" Type="http://schemas.openxmlformats.org/officeDocument/2006/relationships/image" Target="../media/image8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5.xml"/><Relationship Id="rId3" Type="http://schemas.openxmlformats.org/officeDocument/2006/relationships/tags" Target="../tags/tag7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vmlDrawing" Target="../drawings/vmlDrawing6.v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10" Type="http://schemas.openxmlformats.org/officeDocument/2006/relationships/image" Target="../media/image9.emf"/><Relationship Id="rId4" Type="http://schemas.openxmlformats.org/officeDocument/2006/relationships/tags" Target="../tags/tag72.xml"/><Relationship Id="rId9" Type="http://schemas.openxmlformats.org/officeDocument/2006/relationships/oleObject" Target="../embeddings/oleObject6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6.xml"/><Relationship Id="rId3" Type="http://schemas.openxmlformats.org/officeDocument/2006/relationships/tags" Target="../tags/tag76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vmlDrawing" Target="../drawings/vmlDrawing7.v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10" Type="http://schemas.openxmlformats.org/officeDocument/2006/relationships/image" Target="../media/image10.emf"/><Relationship Id="rId4" Type="http://schemas.openxmlformats.org/officeDocument/2006/relationships/tags" Target="../tags/tag77.xml"/><Relationship Id="rId9" Type="http://schemas.openxmlformats.org/officeDocument/2006/relationships/oleObject" Target="../embeddings/oleObject7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tags" Target="../tags/tag81.xml"/><Relationship Id="rId7" Type="http://schemas.openxmlformats.org/officeDocument/2006/relationships/oleObject" Target="../embeddings/oleObject8.bin"/><Relationship Id="rId2" Type="http://schemas.openxmlformats.org/officeDocument/2006/relationships/tags" Target="../tags/tag80.xml"/><Relationship Id="rId1" Type="http://schemas.openxmlformats.org/officeDocument/2006/relationships/vmlDrawing" Target="../drawings/vmlDrawing8.vml"/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7" Type="http://schemas.openxmlformats.org/officeDocument/2006/relationships/image" Target="../media/image11.wmf"/><Relationship Id="rId2" Type="http://schemas.openxmlformats.org/officeDocument/2006/relationships/tags" Target="../tags/tag83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9.bin"/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tags" Target="../tags/tag89.xml"/><Relationship Id="rId7" Type="http://schemas.openxmlformats.org/officeDocument/2006/relationships/notesSlide" Target="../notesSlides/notesSlide30.xml"/><Relationship Id="rId2" Type="http://schemas.openxmlformats.org/officeDocument/2006/relationships/tags" Target="../tags/tag88.xml"/><Relationship Id="rId1" Type="http://schemas.openxmlformats.org/officeDocument/2006/relationships/vmlDrawing" Target="../drawings/vmlDrawing10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9" Type="http://schemas.openxmlformats.org/officeDocument/2006/relationships/image" Target="../media/image12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97.xml"/><Relationship Id="rId7" Type="http://schemas.openxmlformats.org/officeDocument/2006/relationships/notesSlide" Target="../notesSlides/notesSlide32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9.xml"/><Relationship Id="rId4" Type="http://schemas.openxmlformats.org/officeDocument/2006/relationships/tags" Target="../tags/tag9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4" Type="http://schemas.openxmlformats.org/officeDocument/2006/relationships/notesSlide" Target="../notesSlides/notesSlide33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tags" Target="../tags/tag103.xml"/><Relationship Id="rId7" Type="http://schemas.openxmlformats.org/officeDocument/2006/relationships/oleObject" Target="../embeddings/oleObject11.bin"/><Relationship Id="rId2" Type="http://schemas.openxmlformats.org/officeDocument/2006/relationships/tags" Target="../tags/tag102.xml"/><Relationship Id="rId1" Type="http://schemas.openxmlformats.org/officeDocument/2006/relationships/vmlDrawing" Target="../drawings/vmlDrawing11.vml"/><Relationship Id="rId6" Type="http://schemas.openxmlformats.org/officeDocument/2006/relationships/notesSlide" Target="../notesSlides/notesSlide3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5.xml"/><Relationship Id="rId13" Type="http://schemas.openxmlformats.org/officeDocument/2006/relationships/oleObject" Target="../embeddings/oleObject14.bin"/><Relationship Id="rId3" Type="http://schemas.openxmlformats.org/officeDocument/2006/relationships/tags" Target="../tags/tag106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5.wmf"/><Relationship Id="rId2" Type="http://schemas.openxmlformats.org/officeDocument/2006/relationships/tags" Target="../tags/tag105.xml"/><Relationship Id="rId1" Type="http://schemas.openxmlformats.org/officeDocument/2006/relationships/vmlDrawing" Target="../drawings/vmlDrawing12.vml"/><Relationship Id="rId6" Type="http://schemas.openxmlformats.org/officeDocument/2006/relationships/tags" Target="../tags/tag109.xml"/><Relationship Id="rId11" Type="http://schemas.openxmlformats.org/officeDocument/2006/relationships/oleObject" Target="../embeddings/oleObject13.bin"/><Relationship Id="rId5" Type="http://schemas.openxmlformats.org/officeDocument/2006/relationships/tags" Target="../tags/tag108.xml"/><Relationship Id="rId10" Type="http://schemas.openxmlformats.org/officeDocument/2006/relationships/image" Target="../media/image14.wmf"/><Relationship Id="rId4" Type="http://schemas.openxmlformats.org/officeDocument/2006/relationships/tags" Target="../tags/tag107.xml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6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tags" Target="../tags/tag111.xml"/><Relationship Id="rId7" Type="http://schemas.openxmlformats.org/officeDocument/2006/relationships/oleObject" Target="../embeddings/oleObject15.bin"/><Relationship Id="rId2" Type="http://schemas.openxmlformats.org/officeDocument/2006/relationships/tags" Target="../tags/tag110.xml"/><Relationship Id="rId1" Type="http://schemas.openxmlformats.org/officeDocument/2006/relationships/vmlDrawing" Target="../drawings/vmlDrawing13.vml"/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tags" Target="../tags/tag114.xml"/><Relationship Id="rId7" Type="http://schemas.openxmlformats.org/officeDocument/2006/relationships/oleObject" Target="../embeddings/oleObject16.bin"/><Relationship Id="rId2" Type="http://schemas.openxmlformats.org/officeDocument/2006/relationships/tags" Target="../tags/tag113.xml"/><Relationship Id="rId1" Type="http://schemas.openxmlformats.org/officeDocument/2006/relationships/vmlDrawing" Target="../drawings/vmlDrawing14.vml"/><Relationship Id="rId6" Type="http://schemas.openxmlformats.org/officeDocument/2006/relationships/notesSlide" Target="../notesSlides/notesSlide37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9.wmf"/><Relationship Id="rId4" Type="http://schemas.openxmlformats.org/officeDocument/2006/relationships/tags" Target="../tags/tag115.xml"/><Relationship Id="rId9" Type="http://schemas.openxmlformats.org/officeDocument/2006/relationships/oleObject" Target="../embeddings/oleObject17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tags" Target="../tags/tag117.xml"/><Relationship Id="rId7" Type="http://schemas.openxmlformats.org/officeDocument/2006/relationships/image" Target="../media/image20.wmf"/><Relationship Id="rId2" Type="http://schemas.openxmlformats.org/officeDocument/2006/relationships/tags" Target="../tags/tag116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8.bin"/><Relationship Id="rId5" Type="http://schemas.openxmlformats.org/officeDocument/2006/relationships/notesSlide" Target="../notesSlides/notesSlide38.xml"/><Relationship Id="rId4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20.wmf"/><Relationship Id="rId3" Type="http://schemas.openxmlformats.org/officeDocument/2006/relationships/tags" Target="../tags/tag119.xml"/><Relationship Id="rId7" Type="http://schemas.openxmlformats.org/officeDocument/2006/relationships/notesSlide" Target="../notesSlides/notesSlide39.xml"/><Relationship Id="rId12" Type="http://schemas.openxmlformats.org/officeDocument/2006/relationships/oleObject" Target="../embeddings/oleObject21.bin"/><Relationship Id="rId2" Type="http://schemas.openxmlformats.org/officeDocument/2006/relationships/tags" Target="../tags/tag118.xml"/><Relationship Id="rId1" Type="http://schemas.openxmlformats.org/officeDocument/2006/relationships/vmlDrawing" Target="../drawings/vmlDrawing16.v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7.wmf"/><Relationship Id="rId5" Type="http://schemas.openxmlformats.org/officeDocument/2006/relationships/tags" Target="../tags/tag121.xml"/><Relationship Id="rId10" Type="http://schemas.openxmlformats.org/officeDocument/2006/relationships/oleObject" Target="../embeddings/oleObject20.bin"/><Relationship Id="rId4" Type="http://schemas.openxmlformats.org/officeDocument/2006/relationships/tags" Target="../tags/tag120.xml"/><Relationship Id="rId9" Type="http://schemas.openxmlformats.org/officeDocument/2006/relationships/image" Target="../media/image21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tags" Target="../tags/tag124.xml"/><Relationship Id="rId7" Type="http://schemas.openxmlformats.org/officeDocument/2006/relationships/notesSlide" Target="../notesSlides/notesSlide41.xml"/><Relationship Id="rId2" Type="http://schemas.openxmlformats.org/officeDocument/2006/relationships/tags" Target="../tags/tag123.xml"/><Relationship Id="rId1" Type="http://schemas.openxmlformats.org/officeDocument/2006/relationships/vmlDrawing" Target="../drawings/vmlDrawing17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9" Type="http://schemas.openxmlformats.org/officeDocument/2006/relationships/image" Target="../media/image22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tags" Target="../tags/tag128.xml"/><Relationship Id="rId7" Type="http://schemas.openxmlformats.org/officeDocument/2006/relationships/image" Target="../media/image23.wmf"/><Relationship Id="rId2" Type="http://schemas.openxmlformats.org/officeDocument/2006/relationships/tags" Target="../tags/tag12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3.bin"/><Relationship Id="rId5" Type="http://schemas.openxmlformats.org/officeDocument/2006/relationships/notesSlide" Target="../notesSlides/notesSlide42.xml"/><Relationship Id="rId4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4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4" Type="http://schemas.openxmlformats.org/officeDocument/2006/relationships/notesSlide" Target="../notesSlides/notesSlide45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tags" Target="../tags/tag135.xml"/><Relationship Id="rId7" Type="http://schemas.openxmlformats.org/officeDocument/2006/relationships/oleObject" Target="../embeddings/oleObject24.bin"/><Relationship Id="rId2" Type="http://schemas.openxmlformats.org/officeDocument/2006/relationships/tags" Target="../tags/tag134.xml"/><Relationship Id="rId1" Type="http://schemas.openxmlformats.org/officeDocument/2006/relationships/vmlDrawing" Target="../drawings/vmlDrawing19.vml"/><Relationship Id="rId6" Type="http://schemas.openxmlformats.org/officeDocument/2006/relationships/notesSlide" Target="../notesSlides/notesSlide4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6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tags" Target="../tags/tag138.xml"/><Relationship Id="rId7" Type="http://schemas.openxmlformats.org/officeDocument/2006/relationships/oleObject" Target="../embeddings/oleObject25.bin"/><Relationship Id="rId2" Type="http://schemas.openxmlformats.org/officeDocument/2006/relationships/tags" Target="../tags/tag137.xml"/><Relationship Id="rId1" Type="http://schemas.openxmlformats.org/officeDocument/2006/relationships/vmlDrawing" Target="../drawings/vmlDrawing20.vml"/><Relationship Id="rId6" Type="http://schemas.openxmlformats.org/officeDocument/2006/relationships/notesSlide" Target="../notesSlides/notesSlide4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9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tags" Target="../tags/tag141.xml"/><Relationship Id="rId7" Type="http://schemas.openxmlformats.org/officeDocument/2006/relationships/oleObject" Target="../embeddings/oleObject26.bin"/><Relationship Id="rId2" Type="http://schemas.openxmlformats.org/officeDocument/2006/relationships/tags" Target="../tags/tag140.xml"/><Relationship Id="rId1" Type="http://schemas.openxmlformats.org/officeDocument/2006/relationships/vmlDrawing" Target="../drawings/vmlDrawing21.vml"/><Relationship Id="rId6" Type="http://schemas.openxmlformats.org/officeDocument/2006/relationships/notesSlide" Target="../notesSlides/notesSlide4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tags" Target="../tags/tag144.xml"/><Relationship Id="rId7" Type="http://schemas.openxmlformats.org/officeDocument/2006/relationships/oleObject" Target="../embeddings/oleObject27.bin"/><Relationship Id="rId2" Type="http://schemas.openxmlformats.org/officeDocument/2006/relationships/tags" Target="../tags/tag143.xml"/><Relationship Id="rId1" Type="http://schemas.openxmlformats.org/officeDocument/2006/relationships/vmlDrawing" Target="../drawings/vmlDrawing22.vml"/><Relationship Id="rId6" Type="http://schemas.openxmlformats.org/officeDocument/2006/relationships/notesSlide" Target="../notesSlides/notesSlide4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5" Type="http://schemas.openxmlformats.org/officeDocument/2006/relationships/notesSlide" Target="../notesSlides/notesSlide50.xml"/><Relationship Id="rId4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5" Type="http://schemas.openxmlformats.org/officeDocument/2006/relationships/notesSlide" Target="../notesSlides/notesSlide51.xml"/><Relationship Id="rId4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tags" Target="../tags/tag153.xml"/><Relationship Id="rId7" Type="http://schemas.openxmlformats.org/officeDocument/2006/relationships/notesSlide" Target="../notesSlides/notesSlide52.xml"/><Relationship Id="rId2" Type="http://schemas.openxmlformats.org/officeDocument/2006/relationships/tags" Target="../tags/tag152.xml"/><Relationship Id="rId1" Type="http://schemas.openxmlformats.org/officeDocument/2006/relationships/vmlDrawing" Target="../drawings/vmlDrawing23.v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30.wmf"/><Relationship Id="rId5" Type="http://schemas.openxmlformats.org/officeDocument/2006/relationships/tags" Target="../tags/tag155.xml"/><Relationship Id="rId10" Type="http://schemas.openxmlformats.org/officeDocument/2006/relationships/oleObject" Target="../embeddings/oleObject29.bin"/><Relationship Id="rId4" Type="http://schemas.openxmlformats.org/officeDocument/2006/relationships/tags" Target="../tags/tag154.xml"/><Relationship Id="rId9" Type="http://schemas.openxmlformats.org/officeDocument/2006/relationships/image" Target="../media/image29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58.xml"/><Relationship Id="rId7" Type="http://schemas.openxmlformats.org/officeDocument/2006/relationships/tags" Target="../tags/tag162.xml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9" Type="http://schemas.openxmlformats.org/officeDocument/2006/relationships/notesSlide" Target="../notesSlides/notesSlide5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5" Type="http://schemas.openxmlformats.org/officeDocument/2006/relationships/notesSlide" Target="../notesSlides/notesSlide54.xml"/><Relationship Id="rId4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tags" Target="../tags/tag166.xml"/><Relationship Id="rId5" Type="http://schemas.openxmlformats.org/officeDocument/2006/relationships/notesSlide" Target="../notesSlides/notesSlide55.xml"/><Relationship Id="rId4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tags" Target="../tags/tag170.xml"/><Relationship Id="rId7" Type="http://schemas.openxmlformats.org/officeDocument/2006/relationships/oleObject" Target="../embeddings/oleObject30.bin"/><Relationship Id="rId2" Type="http://schemas.openxmlformats.org/officeDocument/2006/relationships/tags" Target="../tags/tag169.xml"/><Relationship Id="rId1" Type="http://schemas.openxmlformats.org/officeDocument/2006/relationships/vmlDrawing" Target="../drawings/vmlDrawing24.vml"/><Relationship Id="rId6" Type="http://schemas.openxmlformats.org/officeDocument/2006/relationships/notesSlide" Target="../notesSlides/notesSlide5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ags" Target="../tags/tag172.xml"/><Relationship Id="rId6" Type="http://schemas.openxmlformats.org/officeDocument/2006/relationships/notesSlide" Target="../notesSlides/notesSlide5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5" Type="http://schemas.openxmlformats.org/officeDocument/2006/relationships/notesSlide" Target="../notesSlides/notesSlide58.xml"/><Relationship Id="rId4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5" Type="http://schemas.openxmlformats.org/officeDocument/2006/relationships/notesSlide" Target="../notesSlides/notesSlide59.xml"/><Relationship Id="rId4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tags" Target="../tags/tag182.xml"/><Relationship Id="rId6" Type="http://schemas.openxmlformats.org/officeDocument/2006/relationships/notesSlide" Target="../notesSlides/notesSlide6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tags" Target="../tags/tag186.xml"/><Relationship Id="rId5" Type="http://schemas.openxmlformats.org/officeDocument/2006/relationships/notesSlide" Target="../notesSlides/notesSlide61.xml"/><Relationship Id="rId4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6" Type="http://schemas.openxmlformats.org/officeDocument/2006/relationships/notesSlide" Target="../notesSlides/notesSlide6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3.xml"/><Relationship Id="rId3" Type="http://schemas.openxmlformats.org/officeDocument/2006/relationships/tags" Target="../tags/tag195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94.xml"/><Relationship Id="rId1" Type="http://schemas.openxmlformats.org/officeDocument/2006/relationships/tags" Target="../tags/tag193.xml"/><Relationship Id="rId6" Type="http://schemas.openxmlformats.org/officeDocument/2006/relationships/tags" Target="../tags/tag198.xml"/><Relationship Id="rId5" Type="http://schemas.openxmlformats.org/officeDocument/2006/relationships/tags" Target="../tags/tag197.xml"/><Relationship Id="rId4" Type="http://schemas.openxmlformats.org/officeDocument/2006/relationships/tags" Target="../tags/tag19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" Type="http://schemas.openxmlformats.org/officeDocument/2006/relationships/tags" Target="../tags/tag199.xml"/><Relationship Id="rId6" Type="http://schemas.openxmlformats.org/officeDocument/2006/relationships/notesSlide" Target="../notesSlides/notesSlide6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notesSlide" Target="../notesSlides/notesSlide6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tags" Target="../tags/tag209.xml"/><Relationship Id="rId7" Type="http://schemas.openxmlformats.org/officeDocument/2006/relationships/notesSlide" Target="../notesSlides/notesSlide66.xml"/><Relationship Id="rId2" Type="http://schemas.openxmlformats.org/officeDocument/2006/relationships/tags" Target="../tags/tag208.xml"/><Relationship Id="rId1" Type="http://schemas.openxmlformats.org/officeDocument/2006/relationships/tags" Target="../tags/tag20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11.xml"/><Relationship Id="rId4" Type="http://schemas.openxmlformats.org/officeDocument/2006/relationships/tags" Target="../tags/tag210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tags" Target="../tags/tag214.xml"/><Relationship Id="rId7" Type="http://schemas.openxmlformats.org/officeDocument/2006/relationships/notesSlide" Target="../notesSlides/notesSlide67.xml"/><Relationship Id="rId2" Type="http://schemas.openxmlformats.org/officeDocument/2006/relationships/tags" Target="../tags/tag213.xml"/><Relationship Id="rId1" Type="http://schemas.openxmlformats.org/officeDocument/2006/relationships/tags" Target="../tags/tag21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16.xml"/><Relationship Id="rId4" Type="http://schemas.openxmlformats.org/officeDocument/2006/relationships/tags" Target="../tags/tag21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8.xml"/><Relationship Id="rId1" Type="http://schemas.openxmlformats.org/officeDocument/2006/relationships/tags" Target="../tags/tag217.xml"/><Relationship Id="rId4" Type="http://schemas.openxmlformats.org/officeDocument/2006/relationships/notesSlide" Target="../notesSlides/notesSlide68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0.xml"/><Relationship Id="rId1" Type="http://schemas.openxmlformats.org/officeDocument/2006/relationships/tags" Target="../tags/tag219.xml"/><Relationship Id="rId4" Type="http://schemas.openxmlformats.org/officeDocument/2006/relationships/notesSlide" Target="../notesSlides/notesSlide69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4" Type="http://schemas.openxmlformats.org/officeDocument/2006/relationships/notesSlide" Target="../notesSlides/notesSlide70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4.xml"/><Relationship Id="rId1" Type="http://schemas.openxmlformats.org/officeDocument/2006/relationships/tags" Target="../tags/tag223.xml"/><Relationship Id="rId4" Type="http://schemas.openxmlformats.org/officeDocument/2006/relationships/notesSlide" Target="../notesSlides/notesSlide7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tags" Target="../tags/tag227.xml"/><Relationship Id="rId2" Type="http://schemas.openxmlformats.org/officeDocument/2006/relationships/tags" Target="../tags/tag226.xml"/><Relationship Id="rId1" Type="http://schemas.openxmlformats.org/officeDocument/2006/relationships/tags" Target="../tags/tag225.xml"/><Relationship Id="rId6" Type="http://schemas.openxmlformats.org/officeDocument/2006/relationships/notesSlide" Target="../notesSlides/notesSlide7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8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3.xml"/><Relationship Id="rId3" Type="http://schemas.openxmlformats.org/officeDocument/2006/relationships/tags" Target="../tags/tag23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30.xml"/><Relationship Id="rId1" Type="http://schemas.openxmlformats.org/officeDocument/2006/relationships/tags" Target="../tags/tag229.xml"/><Relationship Id="rId6" Type="http://schemas.openxmlformats.org/officeDocument/2006/relationships/tags" Target="../tags/tag234.xml"/><Relationship Id="rId5" Type="http://schemas.openxmlformats.org/officeDocument/2006/relationships/tags" Target="../tags/tag233.xml"/><Relationship Id="rId4" Type="http://schemas.openxmlformats.org/officeDocument/2006/relationships/tags" Target="../tags/tag23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tags" Target="../tags/tag237.xml"/><Relationship Id="rId2" Type="http://schemas.openxmlformats.org/officeDocument/2006/relationships/tags" Target="../tags/tag236.xml"/><Relationship Id="rId1" Type="http://schemas.openxmlformats.org/officeDocument/2006/relationships/tags" Target="../tags/tag235.xml"/><Relationship Id="rId5" Type="http://schemas.openxmlformats.org/officeDocument/2006/relationships/notesSlide" Target="../notesSlides/notesSlide74.xml"/><Relationship Id="rId4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5.xml"/><Relationship Id="rId3" Type="http://schemas.openxmlformats.org/officeDocument/2006/relationships/tags" Target="../tags/tag23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38.xml"/><Relationship Id="rId1" Type="http://schemas.openxmlformats.org/officeDocument/2006/relationships/vmlDrawing" Target="../drawings/vmlDrawing25.vml"/><Relationship Id="rId6" Type="http://schemas.openxmlformats.org/officeDocument/2006/relationships/tags" Target="../tags/tag242.xml"/><Relationship Id="rId5" Type="http://schemas.openxmlformats.org/officeDocument/2006/relationships/tags" Target="../tags/tag241.xml"/><Relationship Id="rId10" Type="http://schemas.openxmlformats.org/officeDocument/2006/relationships/image" Target="../media/image31.wmf"/><Relationship Id="rId4" Type="http://schemas.openxmlformats.org/officeDocument/2006/relationships/tags" Target="../tags/tag240.xml"/><Relationship Id="rId9" Type="http://schemas.openxmlformats.org/officeDocument/2006/relationships/oleObject" Target="../embeddings/oleObject31.bin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tags" Target="../tags/tag245.xml"/><Relationship Id="rId2" Type="http://schemas.openxmlformats.org/officeDocument/2006/relationships/tags" Target="../tags/tag244.xml"/><Relationship Id="rId1" Type="http://schemas.openxmlformats.org/officeDocument/2006/relationships/tags" Target="../tags/tag243.xml"/><Relationship Id="rId6" Type="http://schemas.openxmlformats.org/officeDocument/2006/relationships/notesSlide" Target="../notesSlides/notesSlide7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4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tags" Target="../tags/tag249.xml"/><Relationship Id="rId2" Type="http://schemas.openxmlformats.org/officeDocument/2006/relationships/tags" Target="../tags/tag248.xml"/><Relationship Id="rId1" Type="http://schemas.openxmlformats.org/officeDocument/2006/relationships/tags" Target="../tags/tag247.xml"/><Relationship Id="rId6" Type="http://schemas.openxmlformats.org/officeDocument/2006/relationships/notesSlide" Target="../notesSlides/notesSlide7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50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2.xml"/><Relationship Id="rId1" Type="http://schemas.openxmlformats.org/officeDocument/2006/relationships/tags" Target="../tags/tag251.xml"/><Relationship Id="rId4" Type="http://schemas.openxmlformats.org/officeDocument/2006/relationships/notesSlide" Target="../notesSlides/notesSlide78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4" Type="http://schemas.openxmlformats.org/officeDocument/2006/relationships/notesSlide" Target="../notesSlides/notesSlide79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6.xml"/><Relationship Id="rId1" Type="http://schemas.openxmlformats.org/officeDocument/2006/relationships/tags" Target="../tags/tag255.xml"/><Relationship Id="rId4" Type="http://schemas.openxmlformats.org/officeDocument/2006/relationships/notesSlide" Target="../notesSlides/notesSlide80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7.xml"/><Relationship Id="rId4" Type="http://schemas.openxmlformats.org/officeDocument/2006/relationships/image" Target="../media/image32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" Type="http://schemas.openxmlformats.org/officeDocument/2006/relationships/tags" Target="../tags/tag258.xml"/><Relationship Id="rId5" Type="http://schemas.openxmlformats.org/officeDocument/2006/relationships/notesSlide" Target="../notesSlides/notesSlide82.xml"/><Relationship Id="rId4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2.xml"/><Relationship Id="rId1" Type="http://schemas.openxmlformats.org/officeDocument/2006/relationships/tags" Target="../tags/tag261.xml"/><Relationship Id="rId4" Type="http://schemas.openxmlformats.org/officeDocument/2006/relationships/notesSlide" Target="../notesSlides/notesSlide8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4.xml"/><Relationship Id="rId1" Type="http://schemas.openxmlformats.org/officeDocument/2006/relationships/tags" Target="../tags/tag263.xml"/><Relationship Id="rId4" Type="http://schemas.openxmlformats.org/officeDocument/2006/relationships/notesSlide" Target="../notesSlides/notesSlide8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tags" Target="../tags/tag267.xml"/><Relationship Id="rId2" Type="http://schemas.openxmlformats.org/officeDocument/2006/relationships/tags" Target="../tags/tag266.xml"/><Relationship Id="rId1" Type="http://schemas.openxmlformats.org/officeDocument/2006/relationships/tags" Target="../tags/tag265.xml"/><Relationship Id="rId6" Type="http://schemas.openxmlformats.org/officeDocument/2006/relationships/notesSlide" Target="../notesSlides/notesSlide8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68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tags" Target="../tags/tag271.xml"/><Relationship Id="rId2" Type="http://schemas.openxmlformats.org/officeDocument/2006/relationships/tags" Target="../tags/tag270.xml"/><Relationship Id="rId1" Type="http://schemas.openxmlformats.org/officeDocument/2006/relationships/tags" Target="../tags/tag269.xml"/><Relationship Id="rId5" Type="http://schemas.openxmlformats.org/officeDocument/2006/relationships/notesSlide" Target="../notesSlides/notesSlide86.xml"/><Relationship Id="rId4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tags" Target="../tags/tag274.xml"/><Relationship Id="rId2" Type="http://schemas.openxmlformats.org/officeDocument/2006/relationships/tags" Target="../tags/tag273.xml"/><Relationship Id="rId1" Type="http://schemas.openxmlformats.org/officeDocument/2006/relationships/tags" Target="../tags/tag272.xml"/><Relationship Id="rId5" Type="http://schemas.openxmlformats.org/officeDocument/2006/relationships/notesSlide" Target="../notesSlides/notesSlide87.xml"/><Relationship Id="rId4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tags" Target="../tags/tag277.xml"/><Relationship Id="rId2" Type="http://schemas.openxmlformats.org/officeDocument/2006/relationships/tags" Target="../tags/tag276.xml"/><Relationship Id="rId1" Type="http://schemas.openxmlformats.org/officeDocument/2006/relationships/tags" Target="../tags/tag275.xml"/><Relationship Id="rId5" Type="http://schemas.openxmlformats.org/officeDocument/2006/relationships/notesSlide" Target="../notesSlides/notesSlide88.xml"/><Relationship Id="rId4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tags" Target="../tags/tag280.xml"/><Relationship Id="rId2" Type="http://schemas.openxmlformats.org/officeDocument/2006/relationships/tags" Target="../tags/tag279.xml"/><Relationship Id="rId1" Type="http://schemas.openxmlformats.org/officeDocument/2006/relationships/tags" Target="../tags/tag278.xml"/><Relationship Id="rId6" Type="http://schemas.openxmlformats.org/officeDocument/2006/relationships/notesSlide" Target="../notesSlides/notesSlide8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8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tags" Target="../tags/tag284.xml"/><Relationship Id="rId7" Type="http://schemas.openxmlformats.org/officeDocument/2006/relationships/notesSlide" Target="../notesSlides/notesSlide90.xml"/><Relationship Id="rId2" Type="http://schemas.openxmlformats.org/officeDocument/2006/relationships/tags" Target="../tags/tag283.xml"/><Relationship Id="rId1" Type="http://schemas.openxmlformats.org/officeDocument/2006/relationships/tags" Target="../tags/tag28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86.xml"/><Relationship Id="rId4" Type="http://schemas.openxmlformats.org/officeDocument/2006/relationships/tags" Target="../tags/tag285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tags" Target="../tags/tag288.xml"/><Relationship Id="rId7" Type="http://schemas.openxmlformats.org/officeDocument/2006/relationships/notesSlide" Target="../notesSlides/notesSlide91.xml"/><Relationship Id="rId2" Type="http://schemas.openxmlformats.org/officeDocument/2006/relationships/tags" Target="../tags/tag287.xml"/><Relationship Id="rId1" Type="http://schemas.openxmlformats.org/officeDocument/2006/relationships/vmlDrawing" Target="../drawings/vmlDrawing26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90.xml"/><Relationship Id="rId4" Type="http://schemas.openxmlformats.org/officeDocument/2006/relationships/tags" Target="../tags/tag289.xml"/><Relationship Id="rId9" Type="http://schemas.openxmlformats.org/officeDocument/2006/relationships/image" Target="../media/image33.emf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tags" Target="../tags/tag292.xml"/><Relationship Id="rId7" Type="http://schemas.openxmlformats.org/officeDocument/2006/relationships/notesSlide" Target="../notesSlides/notesSlide92.xml"/><Relationship Id="rId2" Type="http://schemas.openxmlformats.org/officeDocument/2006/relationships/tags" Target="../tags/tag291.xml"/><Relationship Id="rId1" Type="http://schemas.openxmlformats.org/officeDocument/2006/relationships/vmlDrawing" Target="../drawings/vmlDrawing27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94.xml"/><Relationship Id="rId4" Type="http://schemas.openxmlformats.org/officeDocument/2006/relationships/tags" Target="../tags/tag293.xml"/><Relationship Id="rId9" Type="http://schemas.openxmlformats.org/officeDocument/2006/relationships/image" Target="../media/image34.wmf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tags" Target="../tags/tag297.xml"/><Relationship Id="rId7" Type="http://schemas.openxmlformats.org/officeDocument/2006/relationships/notesSlide" Target="../notesSlides/notesSlide93.xml"/><Relationship Id="rId2" Type="http://schemas.openxmlformats.org/officeDocument/2006/relationships/tags" Target="../tags/tag296.xml"/><Relationship Id="rId1" Type="http://schemas.openxmlformats.org/officeDocument/2006/relationships/tags" Target="../tags/tag29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99.xml"/><Relationship Id="rId4" Type="http://schemas.openxmlformats.org/officeDocument/2006/relationships/tags" Target="../tags/tag298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tags" Target="../tags/tag302.xml"/><Relationship Id="rId2" Type="http://schemas.openxmlformats.org/officeDocument/2006/relationships/tags" Target="../tags/tag301.xml"/><Relationship Id="rId1" Type="http://schemas.openxmlformats.org/officeDocument/2006/relationships/tags" Target="../tags/tag300.xml"/><Relationship Id="rId6" Type="http://schemas.openxmlformats.org/officeDocument/2006/relationships/notesSlide" Target="../notesSlides/notesSlide9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03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tags" Target="../tags/tag305.xml"/><Relationship Id="rId7" Type="http://schemas.openxmlformats.org/officeDocument/2006/relationships/notesSlide" Target="../notesSlides/notesSlide95.xml"/><Relationship Id="rId2" Type="http://schemas.openxmlformats.org/officeDocument/2006/relationships/tags" Target="../tags/tag304.xml"/><Relationship Id="rId1" Type="http://schemas.openxmlformats.org/officeDocument/2006/relationships/vmlDrawing" Target="../drawings/vmlDrawing28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07.xml"/><Relationship Id="rId4" Type="http://schemas.openxmlformats.org/officeDocument/2006/relationships/tags" Target="../tags/tag306.xml"/><Relationship Id="rId9" Type="http://schemas.openxmlformats.org/officeDocument/2006/relationships/image" Target="../media/image35.wmf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9.xml"/><Relationship Id="rId1" Type="http://schemas.openxmlformats.org/officeDocument/2006/relationships/tags" Target="../tags/tag308.xml"/><Relationship Id="rId4" Type="http://schemas.openxmlformats.org/officeDocument/2006/relationships/notesSlide" Target="../notesSlides/notesSlide96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tags" Target="../tags/tag312.xml"/><Relationship Id="rId2" Type="http://schemas.openxmlformats.org/officeDocument/2006/relationships/tags" Target="../tags/tag311.xml"/><Relationship Id="rId1" Type="http://schemas.openxmlformats.org/officeDocument/2006/relationships/tags" Target="../tags/tag310.xml"/><Relationship Id="rId6" Type="http://schemas.openxmlformats.org/officeDocument/2006/relationships/notesSlide" Target="../notesSlides/notesSlide9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13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tags" Target="../tags/tag314.xml"/><Relationship Id="rId6" Type="http://schemas.openxmlformats.org/officeDocument/2006/relationships/notesSlide" Target="../notesSlides/notesSlide9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17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9.xml"/><Relationship Id="rId1" Type="http://schemas.openxmlformats.org/officeDocument/2006/relationships/tags" Target="../tags/tag318.xml"/><Relationship Id="rId4" Type="http://schemas.openxmlformats.org/officeDocument/2006/relationships/notesSlide" Target="../notesSlides/notesSlide99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tags" Target="../tags/tag322.xml"/><Relationship Id="rId2" Type="http://schemas.openxmlformats.org/officeDocument/2006/relationships/tags" Target="../tags/tag321.xml"/><Relationship Id="rId1" Type="http://schemas.openxmlformats.org/officeDocument/2006/relationships/tags" Target="../tags/tag320.xml"/><Relationship Id="rId6" Type="http://schemas.openxmlformats.org/officeDocument/2006/relationships/notesSlide" Target="../notesSlides/notesSlide10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23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tags" Target="../tags/tag326.xml"/><Relationship Id="rId2" Type="http://schemas.openxmlformats.org/officeDocument/2006/relationships/tags" Target="../tags/tag325.xml"/><Relationship Id="rId1" Type="http://schemas.openxmlformats.org/officeDocument/2006/relationships/tags" Target="../tags/tag324.xml"/><Relationship Id="rId6" Type="http://schemas.openxmlformats.org/officeDocument/2006/relationships/notesSlide" Target="../notesSlides/notesSlide10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27.xml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tags" Target="../tags/tag329.xml"/><Relationship Id="rId7" Type="http://schemas.openxmlformats.org/officeDocument/2006/relationships/notesSlide" Target="../notesSlides/notesSlide102.xml"/><Relationship Id="rId2" Type="http://schemas.openxmlformats.org/officeDocument/2006/relationships/tags" Target="../tags/tag328.xml"/><Relationship Id="rId1" Type="http://schemas.openxmlformats.org/officeDocument/2006/relationships/vmlDrawing" Target="../drawings/vmlDrawing29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31.xml"/><Relationship Id="rId4" Type="http://schemas.openxmlformats.org/officeDocument/2006/relationships/tags" Target="../tags/tag330.xml"/><Relationship Id="rId9" Type="http://schemas.openxmlformats.org/officeDocument/2006/relationships/image" Target="../media/image36.wmf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tags" Target="../tags/tag335.xml"/><Relationship Id="rId2" Type="http://schemas.openxmlformats.org/officeDocument/2006/relationships/tags" Target="../tags/tag334.xml"/><Relationship Id="rId1" Type="http://schemas.openxmlformats.org/officeDocument/2006/relationships/tags" Target="../tags/tag333.xml"/><Relationship Id="rId5" Type="http://schemas.openxmlformats.org/officeDocument/2006/relationships/notesSlide" Target="../notesSlides/notesSlide104.xml"/><Relationship Id="rId4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tags" Target="../tags/tag338.xml"/><Relationship Id="rId2" Type="http://schemas.openxmlformats.org/officeDocument/2006/relationships/tags" Target="../tags/tag337.xml"/><Relationship Id="rId1" Type="http://schemas.openxmlformats.org/officeDocument/2006/relationships/tags" Target="../tags/tag336.xml"/><Relationship Id="rId5" Type="http://schemas.openxmlformats.org/officeDocument/2006/relationships/notesSlide" Target="../notesSlides/notesSlide105.xml"/><Relationship Id="rId4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tags" Target="../tags/tag341.xml"/><Relationship Id="rId2" Type="http://schemas.openxmlformats.org/officeDocument/2006/relationships/tags" Target="../tags/tag340.xml"/><Relationship Id="rId1" Type="http://schemas.openxmlformats.org/officeDocument/2006/relationships/tags" Target="../tags/tag339.xml"/><Relationship Id="rId5" Type="http://schemas.openxmlformats.org/officeDocument/2006/relationships/notesSlide" Target="../notesSlides/notesSlide106.xml"/><Relationship Id="rId4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tags" Target="../tags/tag343.xml"/><Relationship Id="rId7" Type="http://schemas.openxmlformats.org/officeDocument/2006/relationships/notesSlide" Target="../notesSlides/notesSlide107.xml"/><Relationship Id="rId2" Type="http://schemas.openxmlformats.org/officeDocument/2006/relationships/tags" Target="../tags/tag342.xml"/><Relationship Id="rId1" Type="http://schemas.openxmlformats.org/officeDocument/2006/relationships/vmlDrawing" Target="../drawings/vmlDrawing30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45.xml"/><Relationship Id="rId4" Type="http://schemas.openxmlformats.org/officeDocument/2006/relationships/tags" Target="../tags/tag344.xml"/><Relationship Id="rId9" Type="http://schemas.openxmlformats.org/officeDocument/2006/relationships/image" Target="../media/image37.wmf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8.xml"/><Relationship Id="rId3" Type="http://schemas.openxmlformats.org/officeDocument/2006/relationships/tags" Target="../tags/tag347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9.wmf"/><Relationship Id="rId2" Type="http://schemas.openxmlformats.org/officeDocument/2006/relationships/tags" Target="../tags/tag346.xml"/><Relationship Id="rId1" Type="http://schemas.openxmlformats.org/officeDocument/2006/relationships/vmlDrawing" Target="../drawings/vmlDrawing31.vml"/><Relationship Id="rId6" Type="http://schemas.openxmlformats.org/officeDocument/2006/relationships/tags" Target="../tags/tag350.xml"/><Relationship Id="rId11" Type="http://schemas.openxmlformats.org/officeDocument/2006/relationships/oleObject" Target="../embeddings/oleObject38.bin"/><Relationship Id="rId5" Type="http://schemas.openxmlformats.org/officeDocument/2006/relationships/tags" Target="../tags/tag349.xml"/><Relationship Id="rId10" Type="http://schemas.openxmlformats.org/officeDocument/2006/relationships/image" Target="../media/image38.wmf"/><Relationship Id="rId4" Type="http://schemas.openxmlformats.org/officeDocument/2006/relationships/tags" Target="../tags/tag348.xml"/><Relationship Id="rId9" Type="http://schemas.openxmlformats.org/officeDocument/2006/relationships/oleObject" Target="../embeddings/oleObject37.bin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tags" Target="../tags/tag352.xml"/><Relationship Id="rId7" Type="http://schemas.openxmlformats.org/officeDocument/2006/relationships/oleObject" Target="../embeddings/oleObject39.bin"/><Relationship Id="rId2" Type="http://schemas.openxmlformats.org/officeDocument/2006/relationships/tags" Target="../tags/tag351.xml"/><Relationship Id="rId1" Type="http://schemas.openxmlformats.org/officeDocument/2006/relationships/vmlDrawing" Target="../drawings/vmlDrawing32.vml"/><Relationship Id="rId6" Type="http://schemas.openxmlformats.org/officeDocument/2006/relationships/notesSlide" Target="../notesSlides/notesSlide10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53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tags" Target="../tags/tag356.xml"/><Relationship Id="rId7" Type="http://schemas.openxmlformats.org/officeDocument/2006/relationships/image" Target="../media/image41.png"/><Relationship Id="rId2" Type="http://schemas.openxmlformats.org/officeDocument/2006/relationships/tags" Target="../tags/tag355.xml"/><Relationship Id="rId1" Type="http://schemas.openxmlformats.org/officeDocument/2006/relationships/tags" Target="../tags/tag354.xml"/><Relationship Id="rId6" Type="http://schemas.openxmlformats.org/officeDocument/2006/relationships/notesSlide" Target="../notesSlides/notesSlide1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57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tags" Target="../tags/tag360.xml"/><Relationship Id="rId2" Type="http://schemas.openxmlformats.org/officeDocument/2006/relationships/tags" Target="../tags/tag359.xml"/><Relationship Id="rId1" Type="http://schemas.openxmlformats.org/officeDocument/2006/relationships/tags" Target="../tags/tag358.xml"/><Relationship Id="rId5" Type="http://schemas.openxmlformats.org/officeDocument/2006/relationships/notesSlide" Target="../notesSlides/notesSlide111.xml"/><Relationship Id="rId4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tags" Target="../tags/tag362.xml"/><Relationship Id="rId7" Type="http://schemas.openxmlformats.org/officeDocument/2006/relationships/oleObject" Target="../embeddings/oleObject40.bin"/><Relationship Id="rId2" Type="http://schemas.openxmlformats.org/officeDocument/2006/relationships/tags" Target="../tags/tag361.xml"/><Relationship Id="rId1" Type="http://schemas.openxmlformats.org/officeDocument/2006/relationships/vmlDrawing" Target="../drawings/vmlDrawing33.vml"/><Relationship Id="rId6" Type="http://schemas.openxmlformats.org/officeDocument/2006/relationships/notesSlide" Target="../notesSlides/notesSlide11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63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tags" Target="../tags/tag366.xml"/><Relationship Id="rId2" Type="http://schemas.openxmlformats.org/officeDocument/2006/relationships/tags" Target="../tags/tag365.xml"/><Relationship Id="rId1" Type="http://schemas.openxmlformats.org/officeDocument/2006/relationships/tags" Target="../tags/tag364.xml"/><Relationship Id="rId5" Type="http://schemas.openxmlformats.org/officeDocument/2006/relationships/notesSlide" Target="../notesSlides/notesSlide113.xml"/><Relationship Id="rId4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tags" Target="../tags/tag369.xml"/><Relationship Id="rId2" Type="http://schemas.openxmlformats.org/officeDocument/2006/relationships/tags" Target="../tags/tag368.xml"/><Relationship Id="rId1" Type="http://schemas.openxmlformats.org/officeDocument/2006/relationships/tags" Target="../tags/tag367.xml"/><Relationship Id="rId6" Type="http://schemas.openxmlformats.org/officeDocument/2006/relationships/notesSlide" Target="../notesSlides/notesSlide11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70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tags" Target="../tags/tag373.xml"/><Relationship Id="rId2" Type="http://schemas.openxmlformats.org/officeDocument/2006/relationships/tags" Target="../tags/tag372.xml"/><Relationship Id="rId1" Type="http://schemas.openxmlformats.org/officeDocument/2006/relationships/tags" Target="../tags/tag371.xml"/><Relationship Id="rId5" Type="http://schemas.openxmlformats.org/officeDocument/2006/relationships/notesSlide" Target="../notesSlides/notesSlide115.xml"/><Relationship Id="rId4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tags" Target="../tags/tag376.xml"/><Relationship Id="rId2" Type="http://schemas.openxmlformats.org/officeDocument/2006/relationships/tags" Target="../tags/tag375.xml"/><Relationship Id="rId1" Type="http://schemas.openxmlformats.org/officeDocument/2006/relationships/tags" Target="../tags/tag374.xml"/><Relationship Id="rId5" Type="http://schemas.openxmlformats.org/officeDocument/2006/relationships/notesSlide" Target="../notesSlides/notesSlide116.xml"/><Relationship Id="rId4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tags" Target="../tags/tag378.xml"/><Relationship Id="rId7" Type="http://schemas.openxmlformats.org/officeDocument/2006/relationships/oleObject" Target="../embeddings/oleObject41.bin"/><Relationship Id="rId2" Type="http://schemas.openxmlformats.org/officeDocument/2006/relationships/tags" Target="../tags/tag377.xml"/><Relationship Id="rId1" Type="http://schemas.openxmlformats.org/officeDocument/2006/relationships/vmlDrawing" Target="../drawings/vmlDrawing34.vml"/><Relationship Id="rId6" Type="http://schemas.openxmlformats.org/officeDocument/2006/relationships/notesSlide" Target="../notesSlides/notesSlide11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79.xml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tags" Target="../tags/tag381.xml"/><Relationship Id="rId7" Type="http://schemas.openxmlformats.org/officeDocument/2006/relationships/oleObject" Target="../embeddings/oleObject42.bin"/><Relationship Id="rId2" Type="http://schemas.openxmlformats.org/officeDocument/2006/relationships/tags" Target="../tags/tag380.xml"/><Relationship Id="rId1" Type="http://schemas.openxmlformats.org/officeDocument/2006/relationships/vmlDrawing" Target="../drawings/vmlDrawing35.vml"/><Relationship Id="rId6" Type="http://schemas.openxmlformats.org/officeDocument/2006/relationships/notesSlide" Target="../notesSlides/notesSlide11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8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tags" Target="../tags/tag385.xml"/><Relationship Id="rId2" Type="http://schemas.openxmlformats.org/officeDocument/2006/relationships/tags" Target="../tags/tag384.xml"/><Relationship Id="rId1" Type="http://schemas.openxmlformats.org/officeDocument/2006/relationships/tags" Target="../tags/tag383.xml"/><Relationship Id="rId5" Type="http://schemas.openxmlformats.org/officeDocument/2006/relationships/notesSlide" Target="../notesSlides/notesSlide119.xml"/><Relationship Id="rId4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tags" Target="../tags/tag388.xml"/><Relationship Id="rId2" Type="http://schemas.openxmlformats.org/officeDocument/2006/relationships/tags" Target="../tags/tag387.xml"/><Relationship Id="rId1" Type="http://schemas.openxmlformats.org/officeDocument/2006/relationships/tags" Target="../tags/tag386.xml"/><Relationship Id="rId5" Type="http://schemas.openxmlformats.org/officeDocument/2006/relationships/notesSlide" Target="../notesSlides/notesSlide120.xml"/><Relationship Id="rId4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tags" Target="../tags/tag391.xml"/><Relationship Id="rId2" Type="http://schemas.openxmlformats.org/officeDocument/2006/relationships/tags" Target="../tags/tag390.xml"/><Relationship Id="rId1" Type="http://schemas.openxmlformats.org/officeDocument/2006/relationships/tags" Target="../tags/tag389.xml"/><Relationship Id="rId5" Type="http://schemas.openxmlformats.org/officeDocument/2006/relationships/notesSlide" Target="../notesSlides/notesSlide121.xml"/><Relationship Id="rId4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tags" Target="../tags/tag394.xml"/><Relationship Id="rId2" Type="http://schemas.openxmlformats.org/officeDocument/2006/relationships/tags" Target="../tags/tag393.xml"/><Relationship Id="rId1" Type="http://schemas.openxmlformats.org/officeDocument/2006/relationships/tags" Target="../tags/tag392.xml"/><Relationship Id="rId5" Type="http://schemas.openxmlformats.org/officeDocument/2006/relationships/notesSlide" Target="../notesSlides/notesSlide122.xml"/><Relationship Id="rId4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tags" Target="../tags/tag397.xml"/><Relationship Id="rId2" Type="http://schemas.openxmlformats.org/officeDocument/2006/relationships/tags" Target="../tags/tag396.xml"/><Relationship Id="rId1" Type="http://schemas.openxmlformats.org/officeDocument/2006/relationships/tags" Target="../tags/tag395.xml"/><Relationship Id="rId5" Type="http://schemas.openxmlformats.org/officeDocument/2006/relationships/notesSlide" Target="../notesSlides/notesSlide123.xml"/><Relationship Id="rId4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tags" Target="../tags/tag400.xml"/><Relationship Id="rId2" Type="http://schemas.openxmlformats.org/officeDocument/2006/relationships/tags" Target="../tags/tag399.xml"/><Relationship Id="rId1" Type="http://schemas.openxmlformats.org/officeDocument/2006/relationships/tags" Target="../tags/tag398.xml"/><Relationship Id="rId5" Type="http://schemas.openxmlformats.org/officeDocument/2006/relationships/notesSlide" Target="../notesSlides/notesSlide124.xml"/><Relationship Id="rId4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tags" Target="../tags/tag403.xml"/><Relationship Id="rId2" Type="http://schemas.openxmlformats.org/officeDocument/2006/relationships/tags" Target="../tags/tag402.xml"/><Relationship Id="rId1" Type="http://schemas.openxmlformats.org/officeDocument/2006/relationships/tags" Target="../tags/tag401.xml"/><Relationship Id="rId5" Type="http://schemas.openxmlformats.org/officeDocument/2006/relationships/notesSlide" Target="../notesSlides/notesSlide125.xml"/><Relationship Id="rId4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tags" Target="../tags/tag406.xml"/><Relationship Id="rId2" Type="http://schemas.openxmlformats.org/officeDocument/2006/relationships/tags" Target="../tags/tag405.xml"/><Relationship Id="rId1" Type="http://schemas.openxmlformats.org/officeDocument/2006/relationships/tags" Target="../tags/tag404.xml"/><Relationship Id="rId5" Type="http://schemas.openxmlformats.org/officeDocument/2006/relationships/notesSlide" Target="../notesSlides/notesSlide126.xml"/><Relationship Id="rId4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tags" Target="../tags/tag409.xml"/><Relationship Id="rId2" Type="http://schemas.openxmlformats.org/officeDocument/2006/relationships/tags" Target="../tags/tag408.xml"/><Relationship Id="rId1" Type="http://schemas.openxmlformats.org/officeDocument/2006/relationships/tags" Target="../tags/tag407.xml"/><Relationship Id="rId5" Type="http://schemas.openxmlformats.org/officeDocument/2006/relationships/notesSlide" Target="../notesSlides/notesSlide127.xml"/><Relationship Id="rId4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tags" Target="../tags/tag412.xml"/><Relationship Id="rId2" Type="http://schemas.openxmlformats.org/officeDocument/2006/relationships/tags" Target="../tags/tag411.xml"/><Relationship Id="rId1" Type="http://schemas.openxmlformats.org/officeDocument/2006/relationships/tags" Target="../tags/tag410.xml"/><Relationship Id="rId5" Type="http://schemas.openxmlformats.org/officeDocument/2006/relationships/notesSlide" Target="../notesSlides/notesSlide128.xml"/><Relationship Id="rId4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4.xml"/><Relationship Id="rId1" Type="http://schemas.openxmlformats.org/officeDocument/2006/relationships/tags" Target="../tags/tag413.xml"/><Relationship Id="rId4" Type="http://schemas.openxmlformats.org/officeDocument/2006/relationships/notesSlide" Target="../notesSlides/notesSlide129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6.xml"/><Relationship Id="rId1" Type="http://schemas.openxmlformats.org/officeDocument/2006/relationships/tags" Target="../tags/tag415.xml"/><Relationship Id="rId4" Type="http://schemas.openxmlformats.org/officeDocument/2006/relationships/notesSlide" Target="../notesSlides/notesSlide130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8.xml"/><Relationship Id="rId1" Type="http://schemas.openxmlformats.org/officeDocument/2006/relationships/tags" Target="../tags/tag417.xml"/><Relationship Id="rId4" Type="http://schemas.openxmlformats.org/officeDocument/2006/relationships/notesSlide" Target="../notesSlides/notesSlide131.xml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tags" Target="../tags/tag420.xml"/><Relationship Id="rId7" Type="http://schemas.openxmlformats.org/officeDocument/2006/relationships/oleObject" Target="../embeddings/oleObject43.bin"/><Relationship Id="rId2" Type="http://schemas.openxmlformats.org/officeDocument/2006/relationships/tags" Target="../tags/tag419.xml"/><Relationship Id="rId1" Type="http://schemas.openxmlformats.org/officeDocument/2006/relationships/vmlDrawing" Target="../drawings/vmlDrawing36.vml"/><Relationship Id="rId6" Type="http://schemas.openxmlformats.org/officeDocument/2006/relationships/notesSlide" Target="../notesSlides/notesSlide13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21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3.xml"/><Relationship Id="rId1" Type="http://schemas.openxmlformats.org/officeDocument/2006/relationships/tags" Target="../tags/tag422.xml"/><Relationship Id="rId4" Type="http://schemas.openxmlformats.org/officeDocument/2006/relationships/notesSlide" Target="../notesSlides/notesSlide133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5.xml"/><Relationship Id="rId1" Type="http://schemas.openxmlformats.org/officeDocument/2006/relationships/tags" Target="../tags/tag424.xml"/><Relationship Id="rId4" Type="http://schemas.openxmlformats.org/officeDocument/2006/relationships/notesSlide" Target="../notesSlides/notesSlide1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2286000"/>
            <a:ext cx="7543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i="1" dirty="0"/>
              <a:t>Digital Design and Computer Architecture</a:t>
            </a:r>
            <a:r>
              <a:rPr lang="en-US" sz="2600" b="1" dirty="0"/>
              <a:t>, 2</a:t>
            </a:r>
            <a:r>
              <a:rPr lang="en-US" sz="2600" b="1" baseline="30000" dirty="0"/>
              <a:t>nd</a:t>
            </a:r>
            <a:r>
              <a:rPr lang="en-US" sz="2600" b="1" dirty="0"/>
              <a:t>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Chapter 6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990600" y="2778443"/>
            <a:ext cx="7696200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91000" y="2769513"/>
            <a:ext cx="4724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David Money Harris and Sarah L. Harris</a:t>
            </a:r>
          </a:p>
        </p:txBody>
      </p:sp>
    </p:spTree>
    <p:extLst>
      <p:ext uri="{BB962C8B-B14F-4D97-AF65-F5344CB8AC3E}">
        <p14:creationId xmlns:p14="http://schemas.microsoft.com/office/powerpoint/2010/main" val="534681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Chapter 6 :: Topics</a:t>
            </a:r>
          </a:p>
        </p:txBody>
      </p:sp>
      <p:sp>
        <p:nvSpPr>
          <p:cNvPr id="5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914400" y="1341437"/>
            <a:ext cx="5943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Introduction</a:t>
            </a:r>
            <a:endParaRPr lang="en-US" dirty="0"/>
          </a:p>
          <a:p>
            <a:r>
              <a:rPr lang="en-US" b="1" dirty="0"/>
              <a:t>Assembly Language</a:t>
            </a:r>
          </a:p>
          <a:p>
            <a:r>
              <a:rPr lang="en-US" b="1" dirty="0"/>
              <a:t>Machine Language</a:t>
            </a:r>
          </a:p>
          <a:p>
            <a:r>
              <a:rPr lang="en-US" b="1" dirty="0"/>
              <a:t>Programming</a:t>
            </a:r>
          </a:p>
          <a:p>
            <a:r>
              <a:rPr lang="en-US" b="1" dirty="0"/>
              <a:t>Addressing Modes</a:t>
            </a:r>
          </a:p>
          <a:p>
            <a:r>
              <a:rPr lang="en-US" b="1" dirty="0"/>
              <a:t>Lights, Camera, Action: Compiling, Assembling, &amp; Loading</a:t>
            </a:r>
          </a:p>
          <a:p>
            <a:r>
              <a:rPr lang="en-US" b="1" dirty="0"/>
              <a:t>Odds and Ends</a:t>
            </a:r>
            <a:endParaRPr lang="en-US" dirty="0"/>
          </a:p>
          <a:p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066800"/>
            <a:ext cx="1743168" cy="475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524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63" name="Rectangle 3"/>
          <p:cNvSpPr>
            <a:spLocks noGrp="1" noChangeArrowheads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914400" y="1295400"/>
            <a:ext cx="4800600" cy="49530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Jumping up a few levels of abstraction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accent1"/>
                </a:solidFill>
              </a:rPr>
              <a:t>Architecture: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programmer’s view of computer</a:t>
            </a:r>
          </a:p>
          <a:p>
            <a:pPr lvl="1">
              <a:lnSpc>
                <a:spcPct val="90000"/>
              </a:lnSpc>
            </a:pPr>
            <a:r>
              <a:rPr lang="en-US" sz="2600" dirty="0"/>
              <a:t>Defined by instructions &amp; operand locations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accent1"/>
                </a:solidFill>
              </a:rPr>
              <a:t>Microarchitecture:</a:t>
            </a:r>
            <a:r>
              <a:rPr lang="en-US" dirty="0"/>
              <a:t> how to implement an architecture in hardware (covered in Chapter 7)</a:t>
            </a:r>
          </a:p>
        </p:txBody>
      </p:sp>
      <p:graphicFrame>
        <p:nvGraphicFramePr>
          <p:cNvPr id="757766" name="Object 6"/>
          <p:cNvGraphicFramePr>
            <a:graphicFrameLocks noGrp="1" noChangeAspect="1"/>
          </p:cNvGraphicFramePr>
          <p:nvPr>
            <p:ph sz="half" idx="4294967295"/>
            <p:custDataLst>
              <p:tags r:id="rId3"/>
            </p:custDataLst>
          </p:nvPr>
        </p:nvGraphicFramePr>
        <p:xfrm>
          <a:off x="6921500" y="1219200"/>
          <a:ext cx="222250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99" name="VISIO" r:id="rId6" imgW="1866600" imgH="4161600" progId="Visio.Drawing.6">
                  <p:embed/>
                </p:oleObj>
              </mc:Choice>
              <mc:Fallback>
                <p:oleObj name="VISIO" r:id="rId6" imgW="1866600" imgH="41616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0" y="1219200"/>
                        <a:ext cx="2222500" cy="495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058745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955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914400" y="1143000"/>
            <a:ext cx="7696200" cy="49530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b="1" dirty="0"/>
              <a:t>Instructions:</a:t>
            </a:r>
            <a:r>
              <a:rPr lang="en-US" dirty="0"/>
              <a:t> commands in a computer’s language</a:t>
            </a:r>
          </a:p>
          <a:p>
            <a:pPr lvl="1">
              <a:lnSpc>
                <a:spcPct val="90000"/>
              </a:lnSpc>
            </a:pPr>
            <a:r>
              <a:rPr lang="en-US" sz="2600" b="1" dirty="0">
                <a:solidFill>
                  <a:schemeClr val="accent1"/>
                </a:solidFill>
              </a:rPr>
              <a:t>Assembly language:</a:t>
            </a:r>
            <a:r>
              <a:rPr lang="en-US" sz="2600" dirty="0">
                <a:solidFill>
                  <a:schemeClr val="accent1"/>
                </a:solidFill>
              </a:rPr>
              <a:t> </a:t>
            </a:r>
            <a:r>
              <a:rPr lang="en-US" sz="2600" dirty="0"/>
              <a:t>human-readable format of instructions</a:t>
            </a:r>
          </a:p>
          <a:p>
            <a:pPr lvl="1">
              <a:lnSpc>
                <a:spcPct val="90000"/>
              </a:lnSpc>
            </a:pPr>
            <a:r>
              <a:rPr lang="en-US" sz="2600" b="1" dirty="0">
                <a:solidFill>
                  <a:schemeClr val="accent1"/>
                </a:solidFill>
              </a:rPr>
              <a:t>Machine language:</a:t>
            </a:r>
            <a:r>
              <a:rPr lang="en-US" sz="2600" dirty="0">
                <a:solidFill>
                  <a:schemeClr val="accent1"/>
                </a:solidFill>
              </a:rPr>
              <a:t> </a:t>
            </a:r>
            <a:r>
              <a:rPr lang="en-US" sz="2600" dirty="0"/>
              <a:t>computer-readable format (1’s and 0’s)</a:t>
            </a:r>
          </a:p>
          <a:p>
            <a:pPr>
              <a:lnSpc>
                <a:spcPct val="90000"/>
              </a:lnSpc>
            </a:pPr>
            <a:r>
              <a:rPr lang="en-US" b="1" dirty="0"/>
              <a:t>MIPS</a:t>
            </a:r>
            <a:r>
              <a:rPr lang="en-US" dirty="0"/>
              <a:t> architecture:</a:t>
            </a:r>
          </a:p>
          <a:p>
            <a:pPr lvl="1">
              <a:lnSpc>
                <a:spcPct val="90000"/>
              </a:lnSpc>
            </a:pPr>
            <a:r>
              <a:rPr lang="en-US" sz="2600" dirty="0"/>
              <a:t>Developed by John Hennessy and his colleagues at Stanford and in the 1980’s.</a:t>
            </a:r>
          </a:p>
          <a:p>
            <a:pPr lvl="1">
              <a:lnSpc>
                <a:spcPct val="90000"/>
              </a:lnSpc>
            </a:pPr>
            <a:r>
              <a:rPr lang="en-US" sz="2600" dirty="0"/>
              <a:t>Used in many commercial systems, including Silicon Graphics, Nintendo, and Cisco</a:t>
            </a:r>
          </a:p>
          <a:p>
            <a:pPr marL="0" indent="0">
              <a:lnSpc>
                <a:spcPct val="90000"/>
              </a:lnSpc>
              <a:buNone/>
            </a:pPr>
            <a:endParaRPr lang="en-US" sz="2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200" dirty="0"/>
              <a:t>  Once you’ve learned one architecture, it’s easy to learn others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Assembly Language</a:t>
            </a:r>
          </a:p>
        </p:txBody>
      </p:sp>
    </p:spTree>
    <p:extLst>
      <p:ext uri="{BB962C8B-B14F-4D97-AF65-F5344CB8AC3E}">
        <p14:creationId xmlns:p14="http://schemas.microsoft.com/office/powerpoint/2010/main" val="1009437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555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914400" y="1295400"/>
            <a:ext cx="4953000" cy="4953000"/>
          </a:xfrm>
        </p:spPr>
        <p:txBody>
          <a:bodyPr/>
          <a:lstStyle/>
          <a:p>
            <a:r>
              <a:rPr lang="en-US" sz="2400" dirty="0"/>
              <a:t>President of Stanford University</a:t>
            </a:r>
          </a:p>
          <a:p>
            <a:r>
              <a:rPr lang="en-US" sz="2400" dirty="0"/>
              <a:t>Professor of Electrical Engineering and Computer Science at Stanford since 1977</a:t>
            </a:r>
          </a:p>
          <a:p>
            <a:r>
              <a:rPr lang="en-US" sz="2400" dirty="0" err="1"/>
              <a:t>Coinvented</a:t>
            </a:r>
            <a:r>
              <a:rPr lang="en-US" sz="2400" dirty="0"/>
              <a:t> the Reduced Instruction Set Computer (RISC) with David Patterson</a:t>
            </a:r>
          </a:p>
          <a:p>
            <a:r>
              <a:rPr lang="en-US" sz="2400" dirty="0"/>
              <a:t>Developed the MIPS architecture at Stanford in 1984 and cofounded MIPS Computer Systems </a:t>
            </a:r>
          </a:p>
          <a:p>
            <a:r>
              <a:rPr lang="en-US" sz="2400" dirty="0"/>
              <a:t>As of 2004, over 300 million MIPS microprocessors have been sold</a:t>
            </a:r>
          </a:p>
        </p:txBody>
      </p:sp>
      <p:pic>
        <p:nvPicPr>
          <p:cNvPr id="1175556" name="Picture 4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3775" y="1466850"/>
            <a:ext cx="2689225" cy="417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John Hennessy</a:t>
            </a:r>
          </a:p>
        </p:txBody>
      </p:sp>
    </p:spTree>
    <p:extLst>
      <p:ext uri="{BB962C8B-B14F-4D97-AF65-F5344CB8AC3E}">
        <p14:creationId xmlns:p14="http://schemas.microsoft.com/office/powerpoint/2010/main" val="2714532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979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914400" y="1219200"/>
            <a:ext cx="7848600" cy="4953000"/>
          </a:xfrm>
        </p:spPr>
        <p:txBody>
          <a:bodyPr/>
          <a:lstStyle/>
          <a:p>
            <a:pPr marL="0" indent="0">
              <a:lnSpc>
                <a:spcPct val="90000"/>
              </a:lnSpc>
              <a:buFontTx/>
              <a:buNone/>
            </a:pPr>
            <a:r>
              <a:rPr lang="en-US" dirty="0"/>
              <a:t>Underlying design principles, as articulated by Hennessy and Patterson:</a:t>
            </a:r>
          </a:p>
          <a:p>
            <a:pPr marL="1219200" lvl="2" indent="-304800">
              <a:lnSpc>
                <a:spcPct val="90000"/>
              </a:lnSpc>
              <a:buFontTx/>
              <a:buAutoNum type="arabicPeriod"/>
            </a:pPr>
            <a:r>
              <a:rPr lang="en-US" sz="2800" b="1" dirty="0">
                <a:solidFill>
                  <a:schemeClr val="accent1"/>
                </a:solidFill>
              </a:rPr>
              <a:t>Simplicity favors regularity</a:t>
            </a:r>
          </a:p>
          <a:p>
            <a:pPr marL="1219200" lvl="2" indent="-304800">
              <a:lnSpc>
                <a:spcPct val="90000"/>
              </a:lnSpc>
              <a:buFontTx/>
              <a:buAutoNum type="arabicPeriod"/>
            </a:pPr>
            <a:r>
              <a:rPr lang="en-US" sz="2800" b="1" dirty="0">
                <a:solidFill>
                  <a:schemeClr val="accent1"/>
                </a:solidFill>
              </a:rPr>
              <a:t>Make the common case fast</a:t>
            </a:r>
          </a:p>
          <a:p>
            <a:pPr marL="1219200" lvl="2" indent="-304800">
              <a:lnSpc>
                <a:spcPct val="90000"/>
              </a:lnSpc>
              <a:buFontTx/>
              <a:buAutoNum type="arabicPeriod"/>
            </a:pPr>
            <a:r>
              <a:rPr lang="en-US" sz="2800" b="1" dirty="0">
                <a:solidFill>
                  <a:schemeClr val="accent1"/>
                </a:solidFill>
              </a:rPr>
              <a:t>Smaller is faster</a:t>
            </a:r>
          </a:p>
          <a:p>
            <a:pPr marL="1219200" lvl="2" indent="-304800">
              <a:lnSpc>
                <a:spcPct val="90000"/>
              </a:lnSpc>
              <a:buFontTx/>
              <a:buAutoNum type="arabicPeriod"/>
            </a:pPr>
            <a:r>
              <a:rPr lang="en-US" sz="2800" b="1" dirty="0">
                <a:solidFill>
                  <a:schemeClr val="accent1"/>
                </a:solidFill>
              </a:rPr>
              <a:t>Good design demands good compromises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Architecture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684149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04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24007" name="Rectangle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add:</a:t>
            </a:r>
            <a:r>
              <a:rPr lang="en-US" sz="2400" dirty="0">
                <a:latin typeface="Times New Roman" pitchFamily="18" charset="0"/>
                <a:cs typeface="Arial" charset="0"/>
              </a:rPr>
              <a:t> mnemonic indicates operation to perform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b, c: </a:t>
            </a:r>
            <a:r>
              <a:rPr lang="en-US" sz="2400" dirty="0">
                <a:latin typeface="Times New Roman" pitchFamily="18" charset="0"/>
                <a:cs typeface="Arial" charset="0"/>
              </a:rPr>
              <a:t>source operands (on which the operation is performed)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a: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cs typeface="Arial" charset="0"/>
              </a:rPr>
              <a:t>	</a:t>
            </a:r>
            <a:r>
              <a:rPr lang="en-US" sz="2400" dirty="0">
                <a:latin typeface="Times New Roman" pitchFamily="18" charset="0"/>
                <a:cs typeface="Arial" charset="0"/>
              </a:rPr>
              <a:t>destination operand (to which the result is written)</a:t>
            </a:r>
          </a:p>
        </p:txBody>
      </p:sp>
      <p:sp>
        <p:nvSpPr>
          <p:cNvPr id="1024008" name="Rectangle 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90600" y="2286000"/>
            <a:ext cx="36576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a = b + c;</a:t>
            </a:r>
          </a:p>
        </p:txBody>
      </p:sp>
      <p:sp>
        <p:nvSpPr>
          <p:cNvPr id="1024010" name="Rectangle 10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648200" y="2286000"/>
            <a:ext cx="36576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add a, b,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Instructions: Addition</a:t>
            </a:r>
          </a:p>
        </p:txBody>
      </p:sp>
    </p:spTree>
    <p:extLst>
      <p:ext uri="{BB962C8B-B14F-4D97-AF65-F5344CB8AC3E}">
        <p14:creationId xmlns:p14="http://schemas.microsoft.com/office/powerpoint/2010/main" val="99561156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755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98756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8077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Similar to addition - only mnemonic changes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sub:</a:t>
            </a:r>
            <a:r>
              <a:rPr lang="en-US" sz="2400" dirty="0">
                <a:latin typeface="Times New Roman" pitchFamily="18" charset="0"/>
                <a:cs typeface="Arial" charset="0"/>
              </a:rPr>
              <a:t> mnemonic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b, c: </a:t>
            </a:r>
            <a:r>
              <a:rPr lang="en-US" sz="2400" dirty="0">
                <a:latin typeface="Times New Roman" pitchFamily="18" charset="0"/>
                <a:cs typeface="Arial" charset="0"/>
              </a:rPr>
              <a:t>source operands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a: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cs typeface="Arial" charset="0"/>
              </a:rPr>
              <a:t>	  </a:t>
            </a:r>
            <a:r>
              <a:rPr lang="en-US" sz="2400" dirty="0">
                <a:latin typeface="Times New Roman" pitchFamily="18" charset="0"/>
                <a:cs typeface="Arial" charset="0"/>
              </a:rPr>
              <a:t>destination operand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1098757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90600" y="2286000"/>
            <a:ext cx="36576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a = b - c;</a:t>
            </a:r>
          </a:p>
        </p:txBody>
      </p:sp>
      <p:sp>
        <p:nvSpPr>
          <p:cNvPr id="1098758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648200" y="2286000"/>
            <a:ext cx="36576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sub a, b,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Instructions: Subtraction</a:t>
            </a:r>
          </a:p>
        </p:txBody>
      </p:sp>
    </p:spTree>
    <p:extLst>
      <p:ext uri="{BB962C8B-B14F-4D97-AF65-F5344CB8AC3E}">
        <p14:creationId xmlns:p14="http://schemas.microsoft.com/office/powerpoint/2010/main" val="209680769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029" name="Rectangle 5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1066800" y="1143000"/>
            <a:ext cx="8077200" cy="5181600"/>
          </a:xfrm>
        </p:spPr>
        <p:txBody>
          <a:bodyPr/>
          <a:lstStyle/>
          <a:p>
            <a:pPr>
              <a:buFontTx/>
              <a:buNone/>
            </a:pPr>
            <a:r>
              <a:rPr lang="en-US" sz="3600" b="1" dirty="0">
                <a:solidFill>
                  <a:schemeClr val="accent1"/>
                </a:solidFill>
              </a:rPr>
              <a:t>Simplicity favors regularity</a:t>
            </a:r>
          </a:p>
          <a:p>
            <a:r>
              <a:rPr lang="en-US" dirty="0"/>
              <a:t>Consistent instruction format</a:t>
            </a:r>
          </a:p>
          <a:p>
            <a:r>
              <a:rPr lang="en-US" dirty="0"/>
              <a:t>Same number of operands (two sources and one destination)</a:t>
            </a:r>
          </a:p>
          <a:p>
            <a:r>
              <a:rPr lang="en-US" dirty="0"/>
              <a:t>easier to encode and handle in hardware</a:t>
            </a:r>
          </a:p>
        </p:txBody>
      </p:sp>
      <p:sp>
        <p:nvSpPr>
          <p:cNvPr id="1025026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25028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Design Principle 1</a:t>
            </a:r>
          </a:p>
        </p:txBody>
      </p:sp>
    </p:spTree>
    <p:extLst>
      <p:ext uri="{BB962C8B-B14F-4D97-AF65-F5344CB8AC3E}">
        <p14:creationId xmlns:p14="http://schemas.microsoft.com/office/powerpoint/2010/main" val="132788990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779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9978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More complex code is handled by multiple MIPS instructions.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</a:pPr>
            <a:endParaRPr lang="en-US" sz="32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109978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90600" y="2438400"/>
            <a:ext cx="36576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a = b + c - d;</a:t>
            </a:r>
          </a:p>
        </p:txBody>
      </p:sp>
      <p:sp>
        <p:nvSpPr>
          <p:cNvPr id="1099782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648200" y="2438400"/>
            <a:ext cx="36576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add t, b, c  # t = b + c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sub a, t, d  # a = t -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Multiple Instructions</a:t>
            </a:r>
          </a:p>
        </p:txBody>
      </p:sp>
    </p:spTree>
    <p:extLst>
      <p:ext uri="{BB962C8B-B14F-4D97-AF65-F5344CB8AC3E}">
        <p14:creationId xmlns:p14="http://schemas.microsoft.com/office/powerpoint/2010/main" val="395215679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053" name="Rectangle 5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1066800" y="1143000"/>
            <a:ext cx="8077200" cy="51816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3600" b="1" dirty="0">
                <a:solidFill>
                  <a:schemeClr val="accent1"/>
                </a:solidFill>
              </a:rPr>
              <a:t>Make the common case fast</a:t>
            </a:r>
          </a:p>
          <a:p>
            <a:r>
              <a:rPr lang="en-US" sz="2600" dirty="0"/>
              <a:t>MIPS includes only simple, commonly used instructions</a:t>
            </a:r>
          </a:p>
          <a:p>
            <a:r>
              <a:rPr lang="en-US" sz="2600" dirty="0"/>
              <a:t>Hardware to decode and execute instructions can be simple, small, and fast</a:t>
            </a:r>
          </a:p>
          <a:p>
            <a:r>
              <a:rPr lang="en-US" sz="2600" dirty="0"/>
              <a:t>More complex instructions (that are less common) performed using multiple simple instructions</a:t>
            </a:r>
          </a:p>
          <a:p>
            <a:r>
              <a:rPr lang="en-US" sz="2600" dirty="0"/>
              <a:t>MIPS is a </a:t>
            </a:r>
            <a:r>
              <a:rPr lang="en-US" sz="2600" b="1" i="1" dirty="0">
                <a:solidFill>
                  <a:schemeClr val="accent1"/>
                </a:solidFill>
              </a:rPr>
              <a:t>reduced instruction set computer </a:t>
            </a:r>
            <a:r>
              <a:rPr lang="en-US" sz="2600" b="1" dirty="0">
                <a:solidFill>
                  <a:schemeClr val="accent1"/>
                </a:solidFill>
              </a:rPr>
              <a:t>(RISC)</a:t>
            </a:r>
            <a:r>
              <a:rPr lang="en-US" sz="2600" dirty="0"/>
              <a:t>, with a small number of simple instructions</a:t>
            </a:r>
          </a:p>
          <a:p>
            <a:r>
              <a:rPr lang="en-US" sz="2600" dirty="0"/>
              <a:t>Other architectures, such as Intel’s x86, are </a:t>
            </a:r>
            <a:r>
              <a:rPr lang="en-US" sz="2600" b="1" i="1" dirty="0">
                <a:solidFill>
                  <a:schemeClr val="accent1"/>
                </a:solidFill>
              </a:rPr>
              <a:t>complex instruction set computers</a:t>
            </a:r>
            <a:r>
              <a:rPr lang="en-US" sz="2600" b="1" dirty="0">
                <a:solidFill>
                  <a:schemeClr val="accent1"/>
                </a:solidFill>
              </a:rPr>
              <a:t> (CISC)</a:t>
            </a:r>
            <a:endParaRPr lang="en-US" sz="2600" dirty="0"/>
          </a:p>
        </p:txBody>
      </p:sp>
      <p:sp>
        <p:nvSpPr>
          <p:cNvPr id="1026050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26052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Design Principle 2</a:t>
            </a:r>
          </a:p>
        </p:txBody>
      </p:sp>
    </p:spTree>
    <p:extLst>
      <p:ext uri="{BB962C8B-B14F-4D97-AF65-F5344CB8AC3E}">
        <p14:creationId xmlns:p14="http://schemas.microsoft.com/office/powerpoint/2010/main" val="330840630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074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27076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27079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Operand location: physical location in computer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3200" dirty="0">
                <a:latin typeface="Times New Roman" pitchFamily="18" charset="0"/>
                <a:cs typeface="Arial" charset="0"/>
              </a:rPr>
              <a:t>Registers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3200" dirty="0">
                <a:latin typeface="Times New Roman" pitchFamily="18" charset="0"/>
                <a:cs typeface="Arial" charset="0"/>
              </a:rPr>
              <a:t>Memory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3200" dirty="0">
                <a:latin typeface="Times New Roman" pitchFamily="18" charset="0"/>
                <a:cs typeface="Arial" charset="0"/>
              </a:rPr>
              <a:t>Constants (also called </a:t>
            </a:r>
            <a:r>
              <a:rPr lang="en-US" sz="3200" i="1" dirty="0" err="1">
                <a:latin typeface="Times New Roman" pitchFamily="18" charset="0"/>
                <a:cs typeface="Arial" charset="0"/>
              </a:rPr>
              <a:t>immediates</a:t>
            </a:r>
            <a:r>
              <a:rPr lang="en-US" sz="3200" dirty="0">
                <a:latin typeface="Times New Roman" pitchFamily="18" charset="0"/>
                <a:cs typeface="Arial" charset="0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Operands</a:t>
            </a:r>
          </a:p>
        </p:txBody>
      </p:sp>
    </p:spTree>
    <p:extLst>
      <p:ext uri="{BB962C8B-B14F-4D97-AF65-F5344CB8AC3E}">
        <p14:creationId xmlns:p14="http://schemas.microsoft.com/office/powerpoint/2010/main" val="261018612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09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2810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2810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MIPS has 32 32-bit registers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Registers are faster than memory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MIPS called “32-bit architecture” because it operates on 32-bit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Operands: Registers</a:t>
            </a:r>
          </a:p>
        </p:txBody>
      </p:sp>
    </p:spTree>
    <p:extLst>
      <p:ext uri="{BB962C8B-B14F-4D97-AF65-F5344CB8AC3E}">
        <p14:creationId xmlns:p14="http://schemas.microsoft.com/office/powerpoint/2010/main" val="216761832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124" name="Rectangle 4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1066800" y="1143000"/>
            <a:ext cx="8077200" cy="51816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sz="3600" b="1" dirty="0">
                <a:solidFill>
                  <a:schemeClr val="accent1"/>
                </a:solidFill>
              </a:rPr>
              <a:t>Smaller is Faster</a:t>
            </a:r>
          </a:p>
          <a:p>
            <a:r>
              <a:rPr lang="en-US" dirty="0"/>
              <a:t>MIPS includes only a small number of registers</a:t>
            </a:r>
          </a:p>
          <a:p>
            <a:pPr>
              <a:buFontTx/>
              <a:buNone/>
            </a:pPr>
            <a:endParaRPr lang="en-US" sz="1800" dirty="0"/>
          </a:p>
        </p:txBody>
      </p:sp>
      <p:sp>
        <p:nvSpPr>
          <p:cNvPr id="1029123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Design Principle 3</a:t>
            </a:r>
          </a:p>
        </p:txBody>
      </p:sp>
    </p:spTree>
    <p:extLst>
      <p:ext uri="{BB962C8B-B14F-4D97-AF65-F5344CB8AC3E}">
        <p14:creationId xmlns:p14="http://schemas.microsoft.com/office/powerpoint/2010/main" val="180313421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0222" name="Group 78"/>
          <p:cNvGraphicFramePr>
            <a:graphicFrameLocks noGrp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40494307"/>
              </p:ext>
            </p:extLst>
          </p:nvPr>
        </p:nvGraphicFramePr>
        <p:xfrm>
          <a:off x="1371600" y="1066800"/>
          <a:ext cx="6705600" cy="51511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819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Name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Register Number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Usage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the constant value 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Arial" charset="0"/>
                        </a:rPr>
                        <a:t>$at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assembler temporary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$v0-$v1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2-3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Function return values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$a0-$a3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4-7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Function arguments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$t0-$t7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8-15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temporaries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$s0-$s7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16-23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saved variables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$t8-$t9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24-25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more temporaries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Arial" charset="0"/>
                        </a:rPr>
                        <a:t>$k0-$k1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26-27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OS temporaries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gp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global pointer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sp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29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stack pointer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fp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frame pointer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ra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Function return address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30147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MIPS Register Set</a:t>
            </a:r>
          </a:p>
        </p:txBody>
      </p:sp>
    </p:spTree>
    <p:extLst>
      <p:ext uri="{BB962C8B-B14F-4D97-AF65-F5344CB8AC3E}">
        <p14:creationId xmlns:p14="http://schemas.microsoft.com/office/powerpoint/2010/main" val="313034055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850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2853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Registers: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Courier New" pitchFamily="49" charset="0"/>
                <a:cs typeface="Arial" charset="0"/>
              </a:rPr>
              <a:t>$</a:t>
            </a:r>
            <a:r>
              <a:rPr lang="en-US" sz="2600" dirty="0">
                <a:latin typeface="Times New Roman" pitchFamily="18" charset="0"/>
                <a:cs typeface="Arial" charset="0"/>
              </a:rPr>
              <a:t> before name 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Example: </a:t>
            </a:r>
            <a:r>
              <a:rPr lang="en-US" sz="2600" dirty="0">
                <a:latin typeface="Courier New" pitchFamily="49" charset="0"/>
                <a:cs typeface="Arial" charset="0"/>
              </a:rPr>
              <a:t>$0</a:t>
            </a:r>
            <a:r>
              <a:rPr lang="en-US" sz="2600" dirty="0">
                <a:latin typeface="Times New Roman" pitchFamily="18" charset="0"/>
                <a:cs typeface="Arial" charset="0"/>
              </a:rPr>
              <a:t>, “register zero”, “dollar zero”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Registers used for specific purposes: 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Courier New" pitchFamily="49" charset="0"/>
                <a:cs typeface="Arial" charset="0"/>
              </a:rPr>
              <a:t>$0</a:t>
            </a:r>
            <a:r>
              <a:rPr lang="en-US" sz="2600" dirty="0">
                <a:latin typeface="Times New Roman" pitchFamily="18" charset="0"/>
                <a:cs typeface="Arial" charset="0"/>
              </a:rPr>
              <a:t> always holds the constant value 0.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Times New Roman" pitchFamily="18" charset="0"/>
                <a:cs typeface="Arial" charset="0"/>
              </a:rPr>
              <a:t>the </a:t>
            </a:r>
            <a:r>
              <a:rPr lang="en-US" sz="2600" i="1" dirty="0">
                <a:latin typeface="Times New Roman" pitchFamily="18" charset="0"/>
                <a:cs typeface="Arial" charset="0"/>
              </a:rPr>
              <a:t>saved registers</a:t>
            </a:r>
            <a:r>
              <a:rPr lang="en-US" sz="2600" dirty="0">
                <a:latin typeface="Times New Roman" pitchFamily="18" charset="0"/>
                <a:cs typeface="Arial" charset="0"/>
              </a:rPr>
              <a:t>, </a:t>
            </a:r>
            <a:r>
              <a:rPr lang="en-US" sz="2600" dirty="0">
                <a:latin typeface="Courier10 BT" pitchFamily="49" charset="0"/>
                <a:cs typeface="Arial" charset="0"/>
              </a:rPr>
              <a:t>$s0-$s7</a:t>
            </a:r>
            <a:r>
              <a:rPr lang="en-US" sz="2600" dirty="0">
                <a:latin typeface="Times New Roman" pitchFamily="18" charset="0"/>
                <a:cs typeface="Arial" charset="0"/>
              </a:rPr>
              <a:t>, used to hold variables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Times New Roman" pitchFamily="18" charset="0"/>
                <a:cs typeface="Arial" charset="0"/>
              </a:rPr>
              <a:t>the </a:t>
            </a:r>
            <a:r>
              <a:rPr lang="en-US" sz="2600" i="1" dirty="0">
                <a:latin typeface="Times New Roman" pitchFamily="18" charset="0"/>
                <a:cs typeface="Arial" charset="0"/>
              </a:rPr>
              <a:t>temporary registers</a:t>
            </a:r>
            <a:r>
              <a:rPr lang="en-US" sz="2600" dirty="0">
                <a:latin typeface="Times New Roman" pitchFamily="18" charset="0"/>
                <a:cs typeface="Arial" charset="0"/>
              </a:rPr>
              <a:t>, </a:t>
            </a:r>
            <a:r>
              <a:rPr lang="en-US" sz="2600" dirty="0">
                <a:latin typeface="Courier New" pitchFamily="49" charset="0"/>
                <a:cs typeface="Arial" charset="0"/>
              </a:rPr>
              <a:t>$t0</a:t>
            </a:r>
            <a:r>
              <a:rPr lang="en-US" sz="2600" dirty="0">
                <a:latin typeface="Times New Roman" pitchFamily="18" charset="0"/>
                <a:cs typeface="Arial" charset="0"/>
              </a:rPr>
              <a:t> - </a:t>
            </a:r>
            <a:r>
              <a:rPr lang="en-US" sz="2600" dirty="0">
                <a:latin typeface="Courier New" pitchFamily="49" charset="0"/>
                <a:cs typeface="Arial" charset="0"/>
              </a:rPr>
              <a:t>$t9,</a:t>
            </a:r>
            <a:r>
              <a:rPr lang="en-US" sz="2600" dirty="0">
                <a:latin typeface="Times New Roman" pitchFamily="18" charset="0"/>
                <a:cs typeface="Arial" charset="0"/>
              </a:rPr>
              <a:t> used to hold intermediate values during a larger computation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Times New Roman" pitchFamily="18" charset="0"/>
                <a:cs typeface="Arial" charset="0"/>
              </a:rPr>
              <a:t>Discuss others later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Operands: Registers</a:t>
            </a:r>
          </a:p>
        </p:txBody>
      </p:sp>
    </p:spTree>
    <p:extLst>
      <p:ext uri="{BB962C8B-B14F-4D97-AF65-F5344CB8AC3E}">
        <p14:creationId xmlns:p14="http://schemas.microsoft.com/office/powerpoint/2010/main" val="188598269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827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182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382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Revisit add instruction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</a:pPr>
            <a:endParaRPr lang="en-US" sz="32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1101829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90600" y="2286000"/>
            <a:ext cx="36576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a = b + c</a:t>
            </a:r>
          </a:p>
        </p:txBody>
      </p:sp>
      <p:sp>
        <p:nvSpPr>
          <p:cNvPr id="1101830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648200" y="2286000"/>
            <a:ext cx="39624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# $s0 = a, $s1 = b, $s2 = c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add $s0, $s1, $s2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Instructions with Registers</a:t>
            </a:r>
          </a:p>
        </p:txBody>
      </p:sp>
    </p:spTree>
    <p:extLst>
      <p:ext uri="{BB962C8B-B14F-4D97-AF65-F5344CB8AC3E}">
        <p14:creationId xmlns:p14="http://schemas.microsoft.com/office/powerpoint/2010/main" val="374212251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173" name="Rectangle 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Too much data to fit in only 32 registers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Store more data in memory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Memory is large, but slow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Commonly used variables kept in registers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Operands: Memory</a:t>
            </a:r>
          </a:p>
        </p:txBody>
      </p:sp>
    </p:spTree>
    <p:extLst>
      <p:ext uri="{BB962C8B-B14F-4D97-AF65-F5344CB8AC3E}">
        <p14:creationId xmlns:p14="http://schemas.microsoft.com/office/powerpoint/2010/main" val="410840422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3880" name="Object 8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68924050"/>
              </p:ext>
            </p:extLst>
          </p:nvPr>
        </p:nvGraphicFramePr>
        <p:xfrm>
          <a:off x="1761593" y="2652712"/>
          <a:ext cx="5782207" cy="306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24" name="VISIO" r:id="rId8" imgW="2164680" imgH="1145880" progId="Visio.Drawing.6">
                  <p:embed/>
                </p:oleObj>
              </mc:Choice>
              <mc:Fallback>
                <p:oleObj name="VISIO" r:id="rId8" imgW="2164680" imgH="11458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1593" y="2652712"/>
                        <a:ext cx="5782207" cy="3062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3874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3876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3877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382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Each 32-bit data word has a unique address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Word-Addressable Memory</a:t>
            </a:r>
          </a:p>
        </p:txBody>
      </p:sp>
    </p:spTree>
    <p:extLst>
      <p:ext uri="{BB962C8B-B14F-4D97-AF65-F5344CB8AC3E}">
        <p14:creationId xmlns:p14="http://schemas.microsoft.com/office/powerpoint/2010/main" val="363383342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2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592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592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Memory read called </a:t>
            </a:r>
            <a:r>
              <a:rPr lang="en-US" sz="3200" b="1" i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load</a:t>
            </a:r>
            <a:endParaRPr lang="en-US" sz="3200" b="1" dirty="0">
              <a:solidFill>
                <a:schemeClr val="accent1"/>
              </a:solidFill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Times New Roman" pitchFamily="18" charset="0"/>
                <a:cs typeface="Arial" charset="0"/>
              </a:rPr>
              <a:t>Mnemonic:</a:t>
            </a:r>
            <a:r>
              <a:rPr lang="en-US" sz="3200" dirty="0">
                <a:latin typeface="Times New Roman" pitchFamily="18" charset="0"/>
                <a:cs typeface="Arial" charset="0"/>
              </a:rPr>
              <a:t> </a:t>
            </a:r>
            <a:r>
              <a:rPr lang="en-US" sz="3200" i="1" dirty="0">
                <a:latin typeface="Times New Roman" pitchFamily="18" charset="0"/>
                <a:cs typeface="Arial" charset="0"/>
              </a:rPr>
              <a:t>load word </a:t>
            </a:r>
            <a:r>
              <a:rPr lang="en-US" sz="3200" dirty="0">
                <a:latin typeface="Times New Roman" pitchFamily="18" charset="0"/>
                <a:cs typeface="Arial" charset="0"/>
              </a:rPr>
              <a:t>(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lw</a:t>
            </a:r>
            <a:r>
              <a:rPr lang="en-US" sz="3200" dirty="0">
                <a:latin typeface="Times New Roman" pitchFamily="18" charset="0"/>
                <a:cs typeface="Arial" charset="0"/>
              </a:rPr>
              <a:t>)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Times New Roman" pitchFamily="18" charset="0"/>
                <a:cs typeface="Arial" charset="0"/>
              </a:rPr>
              <a:t>Format: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3200" dirty="0">
                <a:latin typeface="Times New Roman" pitchFamily="18" charset="0"/>
                <a:cs typeface="Arial" charset="0"/>
              </a:rPr>
              <a:t>	</a:t>
            </a:r>
            <a:r>
              <a:rPr lang="en-US" sz="26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lw</a:t>
            </a:r>
            <a:r>
              <a:rPr lang="en-US" sz="26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$s0, 5($t1)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Times New Roman" pitchFamily="18" charset="0"/>
                <a:cs typeface="Arial" charset="0"/>
              </a:rPr>
              <a:t>Address calculation: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add </a:t>
            </a:r>
            <a:r>
              <a:rPr lang="en-US" sz="2600" i="1" dirty="0">
                <a:latin typeface="Times New Roman" pitchFamily="18" charset="0"/>
                <a:cs typeface="Arial" charset="0"/>
              </a:rPr>
              <a:t>base address</a:t>
            </a:r>
            <a:r>
              <a:rPr lang="en-US" sz="2600" dirty="0">
                <a:latin typeface="Times New Roman" pitchFamily="18" charset="0"/>
                <a:cs typeface="Arial" charset="0"/>
              </a:rPr>
              <a:t> (</a:t>
            </a:r>
            <a:r>
              <a:rPr lang="en-US" sz="2600" dirty="0">
                <a:latin typeface="Courier New" pitchFamily="49" charset="0"/>
                <a:cs typeface="Arial" charset="0"/>
              </a:rPr>
              <a:t>$t1</a:t>
            </a:r>
            <a:r>
              <a:rPr lang="en-US" sz="2600" dirty="0">
                <a:latin typeface="Times New Roman" pitchFamily="18" charset="0"/>
                <a:cs typeface="Arial" charset="0"/>
              </a:rPr>
              <a:t>) to the </a:t>
            </a:r>
            <a:r>
              <a:rPr lang="en-US" sz="2600" i="1" dirty="0">
                <a:latin typeface="Times New Roman" pitchFamily="18" charset="0"/>
                <a:cs typeface="Arial" charset="0"/>
              </a:rPr>
              <a:t>offset </a:t>
            </a:r>
            <a:r>
              <a:rPr lang="en-US" sz="2600" dirty="0">
                <a:latin typeface="Times New Roman" pitchFamily="18" charset="0"/>
                <a:cs typeface="Arial" charset="0"/>
              </a:rPr>
              <a:t>(5)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address = 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($t1 </a:t>
            </a:r>
            <a:r>
              <a:rPr lang="en-US" sz="2600" dirty="0">
                <a:latin typeface="Times New Roman" pitchFamily="18" charset="0"/>
                <a:cs typeface="Arial" charset="0"/>
              </a:rPr>
              <a:t>+ 5)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Times New Roman" pitchFamily="18" charset="0"/>
                <a:cs typeface="Arial" charset="0"/>
              </a:rPr>
              <a:t>Result: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Courier New" pitchFamily="49" charset="0"/>
                <a:cs typeface="Courier New" pitchFamily="49" charset="0"/>
              </a:rPr>
              <a:t>$s0 </a:t>
            </a:r>
            <a:r>
              <a:rPr lang="en-US" sz="2600" dirty="0">
                <a:latin typeface="Times New Roman" pitchFamily="18" charset="0"/>
                <a:cs typeface="Arial" charset="0"/>
              </a:rPr>
              <a:t>holds the value at address (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$t1 </a:t>
            </a:r>
            <a:r>
              <a:rPr lang="en-US" sz="2600" dirty="0">
                <a:latin typeface="Times New Roman" pitchFamily="18" charset="0"/>
                <a:cs typeface="Arial" charset="0"/>
              </a:rPr>
              <a:t>+ 5)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1500" b="1" dirty="0">
              <a:latin typeface="Times New Roman" pitchFamily="18" charset="0"/>
              <a:cs typeface="Arial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600" b="1" dirty="0">
                <a:latin typeface="Times New Roman" pitchFamily="18" charset="0"/>
                <a:cs typeface="Arial" charset="0"/>
              </a:rPr>
              <a:t>     Any register </a:t>
            </a:r>
            <a:r>
              <a:rPr lang="en-US" sz="2600" dirty="0">
                <a:latin typeface="Times New Roman" pitchFamily="18" charset="0"/>
                <a:cs typeface="Arial" charset="0"/>
              </a:rPr>
              <a:t>may be used as base address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00" dirty="0">
                <a:solidFill>
                  <a:schemeClr val="bg1"/>
                </a:solidFill>
                <a:latin typeface="+mj-lt"/>
              </a:rPr>
              <a:t>Reading Word-Addressable Memory</a:t>
            </a:r>
          </a:p>
        </p:txBody>
      </p:sp>
    </p:spTree>
    <p:extLst>
      <p:ext uri="{BB962C8B-B14F-4D97-AF65-F5344CB8AC3E}">
        <p14:creationId xmlns:p14="http://schemas.microsoft.com/office/powerpoint/2010/main" val="114505047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5926" name="Object 6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5143964"/>
              </p:ext>
            </p:extLst>
          </p:nvPr>
        </p:nvGraphicFramePr>
        <p:xfrm>
          <a:off x="2286000" y="4303648"/>
          <a:ext cx="4114800" cy="2178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60" name="VISIO" r:id="rId9" imgW="2164680" imgH="1145880" progId="Visio.Drawing.6">
                  <p:embed/>
                </p:oleObj>
              </mc:Choice>
              <mc:Fallback>
                <p:oleObj name="VISIO" r:id="rId9" imgW="2164680" imgH="11458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303648"/>
                        <a:ext cx="4114800" cy="2178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5922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5924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5925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Times New Roman" pitchFamily="18" charset="0"/>
                <a:cs typeface="Arial" charset="0"/>
              </a:rPr>
              <a:t>Example:</a:t>
            </a:r>
            <a:r>
              <a:rPr lang="en-US" sz="3200" dirty="0">
                <a:latin typeface="Times New Roman" pitchFamily="18" charset="0"/>
                <a:cs typeface="Arial" charset="0"/>
              </a:rPr>
              <a:t> read a word of data at memory address 1 into </a:t>
            </a:r>
            <a:r>
              <a:rPr lang="en-US" sz="3200" dirty="0">
                <a:latin typeface="Courier New" pitchFamily="49" charset="0"/>
                <a:cs typeface="Arial" charset="0"/>
              </a:rPr>
              <a:t>$s3</a:t>
            </a: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address = (</a:t>
            </a:r>
            <a:r>
              <a:rPr lang="en-US" sz="2600" dirty="0">
                <a:latin typeface="Courier New" pitchFamily="49" charset="0"/>
                <a:cs typeface="Courier New" pitchFamily="49" charset="0"/>
              </a:rPr>
              <a:t>$0 </a:t>
            </a:r>
            <a:r>
              <a:rPr lang="en-US" sz="2600" dirty="0">
                <a:latin typeface="Times New Roman" pitchFamily="18" charset="0"/>
                <a:cs typeface="Arial" charset="0"/>
              </a:rPr>
              <a:t>+ 1) = 1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3200" dirty="0">
                <a:latin typeface="Courier New" pitchFamily="49" charset="0"/>
                <a:cs typeface="Arial" charset="0"/>
              </a:rPr>
              <a:t>$s3</a:t>
            </a:r>
            <a:r>
              <a:rPr lang="en-US" sz="3200" dirty="0">
                <a:latin typeface="Times New Roman" pitchFamily="18" charset="0"/>
                <a:cs typeface="Arial" charset="0"/>
              </a:rPr>
              <a:t> = 0xF2F1AC07 after load</a:t>
            </a:r>
          </a:p>
        </p:txBody>
      </p:sp>
      <p:sp>
        <p:nvSpPr>
          <p:cNvPr id="1105928" name="Rectangle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676400" y="3429000"/>
            <a:ext cx="76200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Assembly code</a:t>
            </a:r>
            <a:endParaRPr lang="en-US" sz="1800" b="1" dirty="0">
              <a:solidFill>
                <a:schemeClr val="accent1"/>
              </a:solidFill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lw</a:t>
            </a:r>
            <a:r>
              <a:rPr lang="en-US" sz="1800" dirty="0">
                <a:latin typeface="Courier New" pitchFamily="49" charset="0"/>
                <a:cs typeface="Arial" charset="0"/>
              </a:rPr>
              <a:t> $s3, 1($0)  # read memory word 1 into $s3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00" dirty="0">
                <a:solidFill>
                  <a:schemeClr val="bg1"/>
                </a:solidFill>
                <a:latin typeface="+mj-lt"/>
              </a:rPr>
              <a:t>Reading Word-Addressable Memory</a:t>
            </a:r>
          </a:p>
        </p:txBody>
      </p:sp>
    </p:spTree>
    <p:extLst>
      <p:ext uri="{BB962C8B-B14F-4D97-AF65-F5344CB8AC3E}">
        <p14:creationId xmlns:p14="http://schemas.microsoft.com/office/powerpoint/2010/main" val="418003434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970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7972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7973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Memory write are called </a:t>
            </a:r>
            <a:r>
              <a:rPr lang="en-US" sz="3200" b="1" i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store</a:t>
            </a:r>
            <a:endParaRPr lang="en-US" sz="3200" b="1" dirty="0">
              <a:solidFill>
                <a:schemeClr val="accent1"/>
              </a:solidFill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Times New Roman" pitchFamily="18" charset="0"/>
                <a:cs typeface="Arial" charset="0"/>
              </a:rPr>
              <a:t>Mnemonic:</a:t>
            </a:r>
            <a:r>
              <a:rPr lang="en-US" sz="3200" dirty="0">
                <a:latin typeface="Times New Roman" pitchFamily="18" charset="0"/>
                <a:cs typeface="Arial" charset="0"/>
              </a:rPr>
              <a:t> </a:t>
            </a:r>
            <a:r>
              <a:rPr lang="en-US" sz="3200" i="1" dirty="0">
                <a:latin typeface="Times New Roman" pitchFamily="18" charset="0"/>
                <a:cs typeface="Arial" charset="0"/>
              </a:rPr>
              <a:t>store word</a:t>
            </a:r>
            <a:r>
              <a:rPr lang="en-US" sz="3200" dirty="0">
                <a:latin typeface="Times New Roman" pitchFamily="18" charset="0"/>
                <a:cs typeface="Arial" charset="0"/>
              </a:rPr>
              <a:t> (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sw</a:t>
            </a:r>
            <a:r>
              <a:rPr lang="en-US" sz="3200" dirty="0">
                <a:latin typeface="Times New Roman" pitchFamily="18" charset="0"/>
                <a:cs typeface="Arial" charset="0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00" dirty="0">
                <a:solidFill>
                  <a:schemeClr val="bg1"/>
                </a:solidFill>
                <a:latin typeface="+mj-lt"/>
              </a:rPr>
              <a:t>Writing Word-Addressable Memory</a:t>
            </a:r>
          </a:p>
        </p:txBody>
      </p:sp>
    </p:spTree>
    <p:extLst>
      <p:ext uri="{BB962C8B-B14F-4D97-AF65-F5344CB8AC3E}">
        <p14:creationId xmlns:p14="http://schemas.microsoft.com/office/powerpoint/2010/main" val="124238926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7974" name="Object 6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21831792"/>
              </p:ext>
            </p:extLst>
          </p:nvPr>
        </p:nvGraphicFramePr>
        <p:xfrm>
          <a:off x="2133600" y="4572000"/>
          <a:ext cx="3733800" cy="197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583" name="VISIO" r:id="rId9" imgW="2164680" imgH="1145880" progId="Visio.Drawing.6">
                  <p:embed/>
                </p:oleObj>
              </mc:Choice>
              <mc:Fallback>
                <p:oleObj name="VISIO" r:id="rId9" imgW="2164680" imgH="11458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572000"/>
                        <a:ext cx="3733800" cy="1976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7970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7972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7973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096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Times New Roman" pitchFamily="18" charset="0"/>
                <a:cs typeface="Arial" charset="0"/>
              </a:rPr>
              <a:t>Example: </a:t>
            </a:r>
            <a:r>
              <a:rPr lang="en-US" sz="3200" dirty="0">
                <a:latin typeface="Times New Roman" pitchFamily="18" charset="0"/>
                <a:cs typeface="Arial" charset="0"/>
              </a:rPr>
              <a:t>Write (store) the value in </a:t>
            </a:r>
            <a:r>
              <a:rPr lang="en-US" sz="3200" dirty="0">
                <a:latin typeface="Courier New" pitchFamily="49" charset="0"/>
                <a:cs typeface="Arial" charset="0"/>
              </a:rPr>
              <a:t>$t4</a:t>
            </a:r>
            <a:r>
              <a:rPr lang="en-US" sz="3200" dirty="0">
                <a:latin typeface="Times New Roman" pitchFamily="18" charset="0"/>
                <a:cs typeface="Arial" charset="0"/>
              </a:rPr>
              <a:t> into memory address 7 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add the base address (</a:t>
            </a:r>
            <a:r>
              <a:rPr lang="en-US" sz="2600" dirty="0">
                <a:latin typeface="Courier New" pitchFamily="49" charset="0"/>
                <a:cs typeface="Arial" charset="0"/>
              </a:rPr>
              <a:t>$0</a:t>
            </a:r>
            <a:r>
              <a:rPr lang="en-US" sz="2600" dirty="0">
                <a:latin typeface="Times New Roman" pitchFamily="18" charset="0"/>
                <a:cs typeface="Arial" charset="0"/>
              </a:rPr>
              <a:t>) to the offset (0x7) 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address: ($0 + 0x7) = 7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endParaRPr lang="en-US" sz="1000" dirty="0">
              <a:latin typeface="Times New Roman" pitchFamily="18" charset="0"/>
              <a:cs typeface="Arial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 sz="2400" dirty="0">
                <a:latin typeface="Times New Roman" pitchFamily="18" charset="0"/>
                <a:cs typeface="Arial" charset="0"/>
              </a:rPr>
              <a:t>Offset can be written in decimal (default) or hexadecimal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sz="26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1107975" name="Rectangle 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209800" y="3733800"/>
            <a:ext cx="76200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Assembly code</a:t>
            </a:r>
            <a:endParaRPr lang="en-US" sz="1800" dirty="0">
              <a:solidFill>
                <a:schemeClr val="accent1"/>
              </a:solidFill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sw</a:t>
            </a:r>
            <a:r>
              <a:rPr lang="en-US" sz="1800" dirty="0">
                <a:latin typeface="Courier New" pitchFamily="49" charset="0"/>
                <a:cs typeface="Arial" charset="0"/>
              </a:rPr>
              <a:t> $t4, 0x7($0)  # write the value in $t4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           # to memory word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00" dirty="0">
                <a:solidFill>
                  <a:schemeClr val="bg1"/>
                </a:solidFill>
                <a:latin typeface="+mj-lt"/>
              </a:rPr>
              <a:t>Writing Word-Addressable Memory</a:t>
            </a:r>
          </a:p>
        </p:txBody>
      </p:sp>
    </p:spTree>
    <p:extLst>
      <p:ext uri="{BB962C8B-B14F-4D97-AF65-F5344CB8AC3E}">
        <p14:creationId xmlns:p14="http://schemas.microsoft.com/office/powerpoint/2010/main" val="227501369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8999" name="Object 7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16540661"/>
              </p:ext>
            </p:extLst>
          </p:nvPr>
        </p:nvGraphicFramePr>
        <p:xfrm>
          <a:off x="2133600" y="3200400"/>
          <a:ext cx="4955254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96" name="VISIO" r:id="rId8" imgW="2178720" imgH="1373760" progId="Visio.Drawing.6">
                  <p:embed/>
                </p:oleObj>
              </mc:Choice>
              <mc:Fallback>
                <p:oleObj name="VISIO" r:id="rId8" imgW="2178720" imgH="13737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200400"/>
                        <a:ext cx="4955254" cy="312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8994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8996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08997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096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Each data byte has unique address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Load/store words or single bytes: load byte (</a:t>
            </a:r>
            <a:r>
              <a:rPr lang="en-US" sz="2400" dirty="0" err="1">
                <a:latin typeface="Courier New" pitchFamily="49" charset="0"/>
                <a:cs typeface="Arial" charset="0"/>
              </a:rPr>
              <a:t>lb</a:t>
            </a:r>
            <a:r>
              <a:rPr lang="en-US" sz="2400" dirty="0">
                <a:latin typeface="Times New Roman" pitchFamily="18" charset="0"/>
                <a:cs typeface="Arial" charset="0"/>
              </a:rPr>
              <a:t>) and store byte (</a:t>
            </a:r>
            <a:r>
              <a:rPr lang="en-US" sz="2400" dirty="0" err="1">
                <a:latin typeface="Courier New" pitchFamily="49" charset="0"/>
                <a:cs typeface="Arial" charset="0"/>
              </a:rPr>
              <a:t>sb</a:t>
            </a:r>
            <a:r>
              <a:rPr lang="en-US" sz="2400" dirty="0">
                <a:latin typeface="Times New Roman" pitchFamily="18" charset="0"/>
                <a:cs typeface="Arial" charset="0"/>
              </a:rPr>
              <a:t>) 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32-bit word = 4 bytes, so word address increments by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Byte-Addressable Memory</a:t>
            </a:r>
          </a:p>
        </p:txBody>
      </p:sp>
    </p:spTree>
    <p:extLst>
      <p:ext uri="{BB962C8B-B14F-4D97-AF65-F5344CB8AC3E}">
        <p14:creationId xmlns:p14="http://schemas.microsoft.com/office/powerpoint/2010/main" val="1419799239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01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1002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1002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The address of a memory word must now be multiplied by 4.  For example,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the address of memory word 2 is 2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× </a:t>
            </a:r>
            <a:r>
              <a:rPr lang="en-US" sz="2600" dirty="0">
                <a:latin typeface="Times New Roman" pitchFamily="18" charset="0"/>
                <a:cs typeface="Arial" charset="0"/>
              </a:rPr>
              <a:t>4 = 8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the address of memory word 10 is 10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× 4 = 40  (0x28)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is byte-addressed, not word-addressed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chemeClr val="bg1"/>
                </a:solidFill>
                <a:latin typeface="+mj-lt"/>
              </a:rPr>
              <a:t>Reading Byte-Addressable Memory</a:t>
            </a:r>
          </a:p>
        </p:txBody>
      </p:sp>
    </p:spTree>
    <p:extLst>
      <p:ext uri="{BB962C8B-B14F-4D97-AF65-F5344CB8AC3E}">
        <p14:creationId xmlns:p14="http://schemas.microsoft.com/office/powerpoint/2010/main" val="2299910462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0025" name="Object 9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93324073"/>
              </p:ext>
            </p:extLst>
          </p:nvPr>
        </p:nvGraphicFramePr>
        <p:xfrm>
          <a:off x="2590800" y="4114800"/>
          <a:ext cx="3832225" cy="241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608" name="VISIO" r:id="rId9" imgW="2178720" imgH="1373760" progId="Visio.Drawing.6">
                  <p:embed/>
                </p:oleObj>
              </mc:Choice>
              <mc:Fallback>
                <p:oleObj name="VISIO" r:id="rId9" imgW="2178720" imgH="13737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114800"/>
                        <a:ext cx="3832225" cy="241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0018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10020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10021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096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Times New Roman" pitchFamily="18" charset="0"/>
                <a:cs typeface="Arial" charset="0"/>
              </a:rPr>
              <a:t>Example: </a:t>
            </a:r>
            <a:r>
              <a:rPr lang="en-US" sz="3200" dirty="0">
                <a:latin typeface="Times New Roman" pitchFamily="18" charset="0"/>
                <a:cs typeface="Arial" charset="0"/>
              </a:rPr>
              <a:t>Load a word of data at memory address 4 into </a:t>
            </a:r>
            <a:r>
              <a:rPr lang="en-US" sz="3200" dirty="0">
                <a:latin typeface="Courier New" pitchFamily="49" charset="0"/>
                <a:cs typeface="Arial" charset="0"/>
              </a:rPr>
              <a:t>$s3</a:t>
            </a:r>
            <a:r>
              <a:rPr lang="en-US" sz="3200" dirty="0">
                <a:latin typeface="Times New Roman" pitchFamily="18" charset="0"/>
                <a:cs typeface="Arial" charset="0"/>
              </a:rPr>
              <a:t>.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Courier New" pitchFamily="49" charset="0"/>
                <a:cs typeface="Arial" charset="0"/>
              </a:rPr>
              <a:t>$s3</a:t>
            </a:r>
            <a:r>
              <a:rPr lang="en-US" sz="3200" dirty="0">
                <a:latin typeface="Times New Roman" pitchFamily="18" charset="0"/>
                <a:cs typeface="Arial" charset="0"/>
              </a:rPr>
              <a:t> holds the value 0xF2F1AC07 after load</a:t>
            </a:r>
          </a:p>
        </p:txBody>
      </p:sp>
      <p:sp>
        <p:nvSpPr>
          <p:cNvPr id="1110023" name="Rectangle 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133600" y="3276600"/>
            <a:ext cx="76200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  <a:endParaRPr lang="en-US" sz="1800" dirty="0">
              <a:solidFill>
                <a:schemeClr val="accent1"/>
              </a:solidFill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lw</a:t>
            </a:r>
            <a:r>
              <a:rPr lang="en-US" sz="1800" dirty="0">
                <a:latin typeface="Courier New" pitchFamily="49" charset="0"/>
                <a:cs typeface="Arial" charset="0"/>
              </a:rPr>
              <a:t> $s3, 4($0)  # read word at address 4 into $s3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chemeClr val="bg1"/>
                </a:solidFill>
                <a:latin typeface="+mj-lt"/>
              </a:rPr>
              <a:t>Reading Byte-Addressable Memory</a:t>
            </a:r>
          </a:p>
        </p:txBody>
      </p:sp>
    </p:spTree>
    <p:extLst>
      <p:ext uri="{BB962C8B-B14F-4D97-AF65-F5344CB8AC3E}">
        <p14:creationId xmlns:p14="http://schemas.microsoft.com/office/powerpoint/2010/main" val="3577482717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2071" name="Object 7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5430973"/>
              </p:ext>
            </p:extLst>
          </p:nvPr>
        </p:nvGraphicFramePr>
        <p:xfrm>
          <a:off x="2644775" y="3886200"/>
          <a:ext cx="3832225" cy="241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44" name="VISIO" r:id="rId9" imgW="2178720" imgH="1373760" progId="Visio.Drawing.6">
                  <p:embed/>
                </p:oleObj>
              </mc:Choice>
              <mc:Fallback>
                <p:oleObj name="VISIO" r:id="rId9" imgW="2178720" imgH="13737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4775" y="3886200"/>
                        <a:ext cx="3832225" cy="241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2066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12068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12069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Times New Roman" pitchFamily="18" charset="0"/>
                <a:cs typeface="Arial" charset="0"/>
              </a:rPr>
              <a:t>Example:</a:t>
            </a:r>
            <a:r>
              <a:rPr lang="en-US" sz="3200" dirty="0">
                <a:latin typeface="Times New Roman" pitchFamily="18" charset="0"/>
                <a:cs typeface="Arial" charset="0"/>
              </a:rPr>
              <a:t> stores the value held in </a:t>
            </a:r>
            <a:r>
              <a:rPr lang="en-US" sz="3200" dirty="0">
                <a:latin typeface="Courier New" pitchFamily="49" charset="0"/>
                <a:cs typeface="Arial" charset="0"/>
              </a:rPr>
              <a:t>$t7</a:t>
            </a:r>
            <a:r>
              <a:rPr lang="en-US" sz="3200" dirty="0">
                <a:latin typeface="Times New Roman" pitchFamily="18" charset="0"/>
                <a:cs typeface="Arial" charset="0"/>
              </a:rPr>
              <a:t> into memory address 0x2C (44)</a:t>
            </a:r>
          </a:p>
        </p:txBody>
      </p:sp>
      <p:sp>
        <p:nvSpPr>
          <p:cNvPr id="1112070" name="Rectangle 6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057400" y="2971800"/>
            <a:ext cx="76200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  <a:endParaRPr lang="en-US" sz="1800" dirty="0">
              <a:solidFill>
                <a:schemeClr val="accent1"/>
              </a:solidFill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sw</a:t>
            </a:r>
            <a:r>
              <a:rPr lang="en-US" sz="1800" dirty="0">
                <a:latin typeface="Courier New" pitchFamily="49" charset="0"/>
                <a:cs typeface="Arial" charset="0"/>
              </a:rPr>
              <a:t> $t7, 44($0)  # write $t7 into address 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chemeClr val="bg1"/>
                </a:solidFill>
                <a:latin typeface="+mj-lt"/>
              </a:rPr>
              <a:t>Writing Byte-Addressable Memory</a:t>
            </a:r>
          </a:p>
        </p:txBody>
      </p:sp>
    </p:spTree>
    <p:extLst>
      <p:ext uri="{BB962C8B-B14F-4D97-AF65-F5344CB8AC3E}">
        <p14:creationId xmlns:p14="http://schemas.microsoft.com/office/powerpoint/2010/main" val="1973433175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4119" name="Object 7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48349517"/>
              </p:ext>
            </p:extLst>
          </p:nvPr>
        </p:nvGraphicFramePr>
        <p:xfrm>
          <a:off x="2065337" y="3509963"/>
          <a:ext cx="4487863" cy="304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68" name="VISIO" r:id="rId7" imgW="1628640" imgH="1104840" progId="Visio.Drawing.6">
                  <p:embed/>
                </p:oleObj>
              </mc:Choice>
              <mc:Fallback>
                <p:oleObj name="VISIO" r:id="rId7" imgW="1628640" imgH="11048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337" y="3509963"/>
                        <a:ext cx="4487863" cy="3043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4114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14117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906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How to number bytes within a word?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Little-endian:</a:t>
            </a:r>
            <a:r>
              <a:rPr lang="en-US" sz="2400" dirty="0">
                <a:latin typeface="Times New Roman" pitchFamily="18" charset="0"/>
                <a:cs typeface="Arial" charset="0"/>
              </a:rPr>
              <a:t> byte numbers start at the little (least significant) end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Big-endian:</a:t>
            </a:r>
            <a:r>
              <a:rPr lang="en-US" sz="2400" dirty="0">
                <a:latin typeface="Times New Roman" pitchFamily="18" charset="0"/>
                <a:cs typeface="Arial" charset="0"/>
              </a:rPr>
              <a:t> byte numbers start at the big (most significant) end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>
                <a:latin typeface="Times New Roman" pitchFamily="18" charset="0"/>
                <a:cs typeface="Arial" charset="0"/>
              </a:rPr>
              <a:t>Word address</a:t>
            </a:r>
            <a:r>
              <a:rPr lang="en-US" sz="2400" dirty="0">
                <a:latin typeface="Times New Roman" pitchFamily="18" charset="0"/>
                <a:cs typeface="Arial" charset="0"/>
              </a:rPr>
              <a:t> is the 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same</a:t>
            </a:r>
            <a:r>
              <a:rPr lang="en-US" sz="2400" dirty="0">
                <a:latin typeface="Times New Roman" pitchFamily="18" charset="0"/>
                <a:cs typeface="Arial" charset="0"/>
              </a:rPr>
              <a:t> for big- or little-endian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24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chemeClr val="bg1"/>
                </a:solidFill>
                <a:latin typeface="+mj-lt"/>
              </a:rPr>
              <a:t>Big-Endian &amp; Little-Endian </a:t>
            </a:r>
            <a:r>
              <a:rPr lang="en-US" sz="4200" dirty="0" smtClean="0">
                <a:solidFill>
                  <a:schemeClr val="bg1"/>
                </a:solidFill>
                <a:latin typeface="+mj-lt"/>
              </a:rPr>
              <a:t>Memory</a:t>
            </a:r>
          </a:p>
          <a:p>
            <a:r>
              <a:rPr lang="en-US" sz="4200" dirty="0" smtClean="0">
                <a:latin typeface="+mj-lt"/>
              </a:rPr>
              <a:t>(</a:t>
            </a:r>
            <a:r>
              <a:rPr lang="zh-CN" altLang="en-US" sz="4200" dirty="0" smtClean="0">
                <a:latin typeface="+mj-lt"/>
              </a:rPr>
              <a:t>大端和小端模式的存储器</a:t>
            </a:r>
            <a:r>
              <a:rPr lang="en-US" sz="4200" dirty="0" smtClean="0">
                <a:solidFill>
                  <a:schemeClr val="bg1"/>
                </a:solidFill>
                <a:latin typeface="+mj-lt"/>
              </a:rPr>
              <a:t>)</a:t>
            </a:r>
            <a:endParaRPr lang="en-US" sz="4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1614585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5142" name="Object 6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92843731"/>
              </p:ext>
            </p:extLst>
          </p:nvPr>
        </p:nvGraphicFramePr>
        <p:xfrm>
          <a:off x="2133600" y="3429000"/>
          <a:ext cx="4487863" cy="304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92" name="VISIO" r:id="rId6" imgW="1628640" imgH="1104840" progId="Visio.Drawing.6">
                  <p:embed/>
                </p:oleObj>
              </mc:Choice>
              <mc:Fallback>
                <p:oleObj name="VISIO" r:id="rId6" imgW="1628640" imgH="11048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429000"/>
                        <a:ext cx="4487863" cy="3043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514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Jonathan Swift’s </a:t>
            </a:r>
            <a:r>
              <a:rPr lang="en-US" sz="2400" i="1" dirty="0">
                <a:latin typeface="Times New Roman" pitchFamily="18" charset="0"/>
                <a:cs typeface="Arial" charset="0"/>
              </a:rPr>
              <a:t>Gulliver’s Travels</a:t>
            </a:r>
            <a:r>
              <a:rPr lang="en-US" sz="2400" dirty="0">
                <a:latin typeface="Times New Roman" pitchFamily="18" charset="0"/>
                <a:cs typeface="Arial" charset="0"/>
              </a:rPr>
              <a:t>: the Little-</a:t>
            </a:r>
            <a:r>
              <a:rPr lang="en-US" sz="2400" dirty="0" err="1">
                <a:latin typeface="Times New Roman" pitchFamily="18" charset="0"/>
                <a:cs typeface="Arial" charset="0"/>
              </a:rPr>
              <a:t>Endians</a:t>
            </a:r>
            <a:r>
              <a:rPr lang="en-US" sz="2400" dirty="0">
                <a:latin typeface="Times New Roman" pitchFamily="18" charset="0"/>
                <a:cs typeface="Arial" charset="0"/>
              </a:rPr>
              <a:t> broke their eggs on the little end of the egg and the Big-</a:t>
            </a:r>
            <a:r>
              <a:rPr lang="en-US" sz="2400" dirty="0" err="1">
                <a:latin typeface="Times New Roman" pitchFamily="18" charset="0"/>
                <a:cs typeface="Arial" charset="0"/>
              </a:rPr>
              <a:t>Endians</a:t>
            </a:r>
            <a:r>
              <a:rPr lang="en-US" sz="2400" dirty="0">
                <a:latin typeface="Times New Roman" pitchFamily="18" charset="0"/>
                <a:cs typeface="Arial" charset="0"/>
              </a:rPr>
              <a:t> broke their eggs on the big end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It doesn’t really matter which addressing type used – except when the two systems need to share data!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chemeClr val="bg1"/>
                </a:solidFill>
                <a:latin typeface="+mj-lt"/>
              </a:rPr>
              <a:t>Big-Endian &amp; Little-Endian Memory</a:t>
            </a:r>
          </a:p>
        </p:txBody>
      </p:sp>
    </p:spTree>
    <p:extLst>
      <p:ext uri="{BB962C8B-B14F-4D97-AF65-F5344CB8AC3E}">
        <p14:creationId xmlns:p14="http://schemas.microsoft.com/office/powerpoint/2010/main" val="1647190102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6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1616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1616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Suppose </a:t>
            </a:r>
            <a:r>
              <a:rPr lang="en-US" sz="2400" dirty="0">
                <a:latin typeface="Courier New" pitchFamily="49" charset="0"/>
                <a:cs typeface="Arial" charset="0"/>
              </a:rPr>
              <a:t>$t0</a:t>
            </a:r>
            <a:r>
              <a:rPr lang="en-US" sz="2400" dirty="0">
                <a:latin typeface="Times New Roman" pitchFamily="18" charset="0"/>
                <a:cs typeface="Arial" charset="0"/>
              </a:rPr>
              <a:t> initially contains 0x23456789</a:t>
            </a:r>
          </a:p>
          <a:p>
            <a:pPr marL="457200" indent="-4572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After following code runs on big-endian system, what value is </a:t>
            </a:r>
            <a:r>
              <a:rPr lang="en-US" sz="2400" dirty="0">
                <a:latin typeface="Courier New" pitchFamily="49" charset="0"/>
                <a:cs typeface="Arial" charset="0"/>
              </a:rPr>
              <a:t>$s0</a:t>
            </a:r>
            <a:r>
              <a:rPr lang="en-US" sz="2400" dirty="0">
                <a:latin typeface="Times New Roman" pitchFamily="18" charset="0"/>
                <a:cs typeface="Arial" charset="0"/>
              </a:rPr>
              <a:t>? </a:t>
            </a:r>
          </a:p>
          <a:p>
            <a:pPr marL="457200" indent="-4572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In a little-endian system?</a:t>
            </a:r>
          </a:p>
          <a:p>
            <a:pPr marL="457200" indent="-457200">
              <a:spcBef>
                <a:spcPct val="20000"/>
              </a:spcBef>
            </a:pPr>
            <a:r>
              <a:rPr lang="en-US" sz="2400" dirty="0">
                <a:latin typeface="Courier New" pitchFamily="49" charset="0"/>
                <a:cs typeface="Arial" charset="0"/>
              </a:rPr>
              <a:t>		</a:t>
            </a:r>
            <a:r>
              <a:rPr lang="en-US" sz="2400" dirty="0" err="1">
                <a:latin typeface="Courier New" pitchFamily="49" charset="0"/>
                <a:cs typeface="Arial" charset="0"/>
              </a:rPr>
              <a:t>sw</a:t>
            </a:r>
            <a:r>
              <a:rPr lang="en-US" sz="2400" dirty="0">
                <a:latin typeface="Courier New" pitchFamily="49" charset="0"/>
                <a:cs typeface="Arial" charset="0"/>
              </a:rPr>
              <a:t> $t0, 0($0)</a:t>
            </a:r>
          </a:p>
          <a:p>
            <a:pPr marL="457200" indent="-457200">
              <a:spcBef>
                <a:spcPct val="20000"/>
              </a:spcBef>
            </a:pPr>
            <a:r>
              <a:rPr lang="en-US" sz="2400" dirty="0">
                <a:latin typeface="Courier New" pitchFamily="49" charset="0"/>
                <a:cs typeface="Arial" charset="0"/>
              </a:rPr>
              <a:t>		</a:t>
            </a:r>
            <a:r>
              <a:rPr lang="en-US" sz="2400" dirty="0" err="1">
                <a:latin typeface="Courier New" pitchFamily="49" charset="0"/>
                <a:cs typeface="Arial" charset="0"/>
              </a:rPr>
              <a:t>lb</a:t>
            </a:r>
            <a:r>
              <a:rPr lang="en-US" sz="2400" dirty="0">
                <a:latin typeface="Courier New" pitchFamily="49" charset="0"/>
                <a:cs typeface="Arial" charset="0"/>
              </a:rPr>
              <a:t> $s0, 1($0)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chemeClr val="bg1"/>
                </a:solidFill>
                <a:latin typeface="+mj-lt"/>
              </a:rPr>
              <a:t>Big-Endian &amp; Little-Endian Example</a:t>
            </a:r>
          </a:p>
        </p:txBody>
      </p:sp>
    </p:spTree>
    <p:extLst>
      <p:ext uri="{BB962C8B-B14F-4D97-AF65-F5344CB8AC3E}">
        <p14:creationId xmlns:p14="http://schemas.microsoft.com/office/powerpoint/2010/main" val="719427879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62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16164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16165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Suppose </a:t>
            </a:r>
            <a:r>
              <a:rPr lang="en-US" sz="2400" dirty="0">
                <a:latin typeface="Courier New" pitchFamily="49" charset="0"/>
                <a:cs typeface="Arial" charset="0"/>
              </a:rPr>
              <a:t>$t0</a:t>
            </a:r>
            <a:r>
              <a:rPr lang="en-US" sz="2400" dirty="0">
                <a:latin typeface="Times New Roman" pitchFamily="18" charset="0"/>
                <a:cs typeface="Arial" charset="0"/>
              </a:rPr>
              <a:t> initially contains 0x23456789</a:t>
            </a:r>
          </a:p>
          <a:p>
            <a:pPr marL="457200" indent="-4572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After following code runs on big-endian system, what value is </a:t>
            </a:r>
            <a:r>
              <a:rPr lang="en-US" sz="2400" dirty="0">
                <a:latin typeface="Courier New" pitchFamily="49" charset="0"/>
                <a:cs typeface="Arial" charset="0"/>
              </a:rPr>
              <a:t>$s0</a:t>
            </a:r>
            <a:r>
              <a:rPr lang="en-US" sz="2400" dirty="0">
                <a:latin typeface="Times New Roman" pitchFamily="18" charset="0"/>
                <a:cs typeface="Arial" charset="0"/>
              </a:rPr>
              <a:t>? </a:t>
            </a:r>
          </a:p>
          <a:p>
            <a:pPr marL="457200" indent="-4572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In a little-endian system?</a:t>
            </a:r>
          </a:p>
          <a:p>
            <a:pPr marL="457200" indent="-457200">
              <a:spcBef>
                <a:spcPct val="20000"/>
              </a:spcBef>
            </a:pPr>
            <a:r>
              <a:rPr lang="en-US" sz="2400" dirty="0">
                <a:latin typeface="Courier New" pitchFamily="49" charset="0"/>
                <a:cs typeface="Arial" charset="0"/>
              </a:rPr>
              <a:t>		</a:t>
            </a:r>
            <a:r>
              <a:rPr lang="en-US" sz="2400" dirty="0" err="1">
                <a:latin typeface="Courier New" pitchFamily="49" charset="0"/>
                <a:cs typeface="Arial" charset="0"/>
              </a:rPr>
              <a:t>sw</a:t>
            </a:r>
            <a:r>
              <a:rPr lang="en-US" sz="2400" dirty="0">
                <a:latin typeface="Courier New" pitchFamily="49" charset="0"/>
                <a:cs typeface="Arial" charset="0"/>
              </a:rPr>
              <a:t> $t0, 0($0)</a:t>
            </a:r>
          </a:p>
          <a:p>
            <a:pPr marL="457200" indent="-457200">
              <a:spcBef>
                <a:spcPct val="20000"/>
              </a:spcBef>
            </a:pPr>
            <a:r>
              <a:rPr lang="en-US" sz="2400" dirty="0">
                <a:latin typeface="Courier New" pitchFamily="49" charset="0"/>
                <a:cs typeface="Arial" charset="0"/>
              </a:rPr>
              <a:t>		</a:t>
            </a:r>
            <a:r>
              <a:rPr lang="en-US" sz="2400" dirty="0" err="1">
                <a:latin typeface="Courier New" pitchFamily="49" charset="0"/>
                <a:cs typeface="Arial" charset="0"/>
              </a:rPr>
              <a:t>lb</a:t>
            </a:r>
            <a:r>
              <a:rPr lang="en-US" sz="2400" dirty="0">
                <a:latin typeface="Courier New" pitchFamily="49" charset="0"/>
                <a:cs typeface="Arial" charset="0"/>
              </a:rPr>
              <a:t> $s0, 1($0)</a:t>
            </a:r>
          </a:p>
          <a:p>
            <a:pPr marL="457200" indent="-457200">
              <a:spcBef>
                <a:spcPct val="20000"/>
              </a:spcBef>
            </a:pPr>
            <a:endParaRPr lang="en-US" sz="1000" dirty="0">
              <a:latin typeface="Courier New" pitchFamily="49" charset="0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Tx/>
              <a:buChar char="•"/>
            </a:pPr>
            <a:r>
              <a:rPr lang="en-US" sz="2400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Big-endian:  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cs typeface="Arial" charset="0"/>
              </a:rPr>
              <a:t>  </a:t>
            </a:r>
            <a:r>
              <a:rPr lang="en-US" sz="2400" dirty="0">
                <a:latin typeface="Times New Roman" pitchFamily="18" charset="0"/>
                <a:cs typeface="Arial" charset="0"/>
              </a:rPr>
              <a:t>0x00000045</a:t>
            </a:r>
          </a:p>
          <a:p>
            <a:pPr marL="457200" indent="-457200">
              <a:spcBef>
                <a:spcPct val="20000"/>
              </a:spcBef>
              <a:buFontTx/>
              <a:buChar char="•"/>
            </a:pPr>
            <a:r>
              <a:rPr lang="en-US" sz="2400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Little-endian: </a:t>
            </a:r>
            <a:r>
              <a:rPr lang="en-US" sz="2400" dirty="0">
                <a:latin typeface="Times New Roman" pitchFamily="18" charset="0"/>
                <a:cs typeface="Arial" charset="0"/>
              </a:rPr>
              <a:t>0x00000067</a:t>
            </a:r>
          </a:p>
          <a:p>
            <a:pPr marL="457200" indent="-457200">
              <a:spcBef>
                <a:spcPct val="20000"/>
              </a:spcBef>
            </a:pPr>
            <a:endParaRPr lang="en-US" sz="2400" dirty="0">
              <a:latin typeface="Courier New" pitchFamily="49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chemeClr val="bg1"/>
                </a:solidFill>
                <a:latin typeface="+mj-lt"/>
              </a:rPr>
              <a:t>Big-Endian &amp; Little-Endian Example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551276447"/>
              </p:ext>
            </p:extLst>
          </p:nvPr>
        </p:nvGraphicFramePr>
        <p:xfrm>
          <a:off x="838200" y="4889500"/>
          <a:ext cx="7162800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2" name="VISIO" r:id="rId8" imgW="2543223" imgH="590773" progId="Visio.Drawing.6">
                  <p:embed/>
                </p:oleObj>
              </mc:Choice>
              <mc:Fallback>
                <p:oleObj name="VISIO" r:id="rId8" imgW="2543223" imgH="590773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889500"/>
                        <a:ext cx="7162800" cy="166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8416787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221" name="Rectangle 5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1066800" y="1143000"/>
            <a:ext cx="8077200" cy="51816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>
                <a:solidFill>
                  <a:schemeClr val="accent1"/>
                </a:solidFill>
              </a:rPr>
              <a:t>Good design demands good compromises</a:t>
            </a:r>
          </a:p>
          <a:p>
            <a:r>
              <a:rPr lang="en-US" dirty="0"/>
              <a:t>Multiple instruction formats allow flexibility</a:t>
            </a:r>
          </a:p>
          <a:p>
            <a:pPr lvl="1">
              <a:buFontTx/>
              <a:buChar char="-"/>
            </a:pPr>
            <a:r>
              <a:rPr lang="en-US" sz="2600" dirty="0">
                <a:latin typeface="Courier New" pitchFamily="49" charset="0"/>
              </a:rPr>
              <a:t>add</a:t>
            </a:r>
            <a:r>
              <a:rPr lang="en-US" sz="2600" dirty="0"/>
              <a:t>, </a:t>
            </a:r>
            <a:r>
              <a:rPr lang="en-US" sz="2600" dirty="0">
                <a:latin typeface="Courier New" pitchFamily="49" charset="0"/>
              </a:rPr>
              <a:t>sub</a:t>
            </a:r>
            <a:r>
              <a:rPr lang="en-US" sz="2600" dirty="0"/>
              <a:t>:  use 3 register operands</a:t>
            </a:r>
          </a:p>
          <a:p>
            <a:pPr lvl="1">
              <a:buFontTx/>
              <a:buChar char="-"/>
            </a:pPr>
            <a:r>
              <a:rPr lang="en-US" sz="2600" dirty="0" err="1">
                <a:latin typeface="Courier New" pitchFamily="49" charset="0"/>
              </a:rPr>
              <a:t>lw</a:t>
            </a:r>
            <a:r>
              <a:rPr lang="en-US" sz="2600" dirty="0"/>
              <a:t>, </a:t>
            </a:r>
            <a:r>
              <a:rPr lang="en-US" sz="2600" dirty="0" err="1">
                <a:latin typeface="Courier New" pitchFamily="49" charset="0"/>
              </a:rPr>
              <a:t>sw</a:t>
            </a:r>
            <a:r>
              <a:rPr lang="en-US" sz="2600" dirty="0"/>
              <a:t>:       use 2 and a constant</a:t>
            </a:r>
          </a:p>
          <a:p>
            <a:r>
              <a:rPr lang="en-US" dirty="0"/>
              <a:t>Number of instruction formats kept small</a:t>
            </a:r>
          </a:p>
          <a:p>
            <a:pPr lvl="1">
              <a:buFontTx/>
              <a:buChar char="-"/>
            </a:pPr>
            <a:r>
              <a:rPr lang="en-US" sz="3200" dirty="0"/>
              <a:t>to adhere to design principles 1 and 3 (simplicity favors regularity and smaller is faster).</a:t>
            </a:r>
          </a:p>
          <a:p>
            <a:pPr>
              <a:buFontTx/>
              <a:buNone/>
            </a:pPr>
            <a:endParaRPr lang="en-US" sz="2400" dirty="0"/>
          </a:p>
          <a:p>
            <a:pPr>
              <a:buFontTx/>
              <a:buNone/>
            </a:pPr>
            <a:endParaRPr lang="en-US" sz="1800" dirty="0"/>
          </a:p>
          <a:p>
            <a:endParaRPr lang="en-US" sz="2400" dirty="0"/>
          </a:p>
          <a:p>
            <a:pPr>
              <a:buFontTx/>
              <a:buNone/>
            </a:pPr>
            <a:endParaRPr lang="en-US" sz="1800" dirty="0"/>
          </a:p>
        </p:txBody>
      </p:sp>
      <p:sp>
        <p:nvSpPr>
          <p:cNvPr id="103321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33220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Design Principle 4</a:t>
            </a:r>
          </a:p>
        </p:txBody>
      </p:sp>
    </p:spTree>
    <p:extLst>
      <p:ext uri="{BB962C8B-B14F-4D97-AF65-F5344CB8AC3E}">
        <p14:creationId xmlns:p14="http://schemas.microsoft.com/office/powerpoint/2010/main" val="2748341554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4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3424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3424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096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 err="1">
                <a:latin typeface="Courier New" pitchFamily="49" charset="0"/>
                <a:cs typeface="Arial" charset="0"/>
              </a:rPr>
              <a:t>lw</a:t>
            </a:r>
            <a:r>
              <a:rPr lang="en-US" sz="2400" dirty="0">
                <a:latin typeface="Times New Roman" pitchFamily="18" charset="0"/>
                <a:cs typeface="Arial" charset="0"/>
              </a:rPr>
              <a:t> and </a:t>
            </a:r>
            <a:r>
              <a:rPr lang="en-US" sz="2400" dirty="0" err="1">
                <a:latin typeface="Courier New" pitchFamily="49" charset="0"/>
                <a:cs typeface="Arial" charset="0"/>
              </a:rPr>
              <a:t>sw</a:t>
            </a:r>
            <a:r>
              <a:rPr lang="en-US" sz="2400" dirty="0">
                <a:latin typeface="Times New Roman" pitchFamily="18" charset="0"/>
                <a:cs typeface="Arial" charset="0"/>
              </a:rPr>
              <a:t> use constants or </a:t>
            </a:r>
            <a:r>
              <a:rPr lang="en-US" sz="2400" i="1" dirty="0" err="1">
                <a:latin typeface="Times New Roman" pitchFamily="18" charset="0"/>
                <a:cs typeface="Arial" charset="0"/>
              </a:rPr>
              <a:t>immediates</a:t>
            </a: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i="1" dirty="0">
                <a:latin typeface="Times New Roman" pitchFamily="18" charset="0"/>
                <a:cs typeface="Arial" charset="0"/>
              </a:rPr>
              <a:t>immediate</a:t>
            </a:r>
            <a:r>
              <a:rPr lang="en-US" sz="2400" dirty="0">
                <a:latin typeface="Times New Roman" pitchFamily="18" charset="0"/>
                <a:cs typeface="Arial" charset="0"/>
              </a:rPr>
              <a:t>ly available from instruction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16-bit two’s complement number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2400" dirty="0">
                <a:latin typeface="Times New Roman" pitchFamily="18" charset="0"/>
                <a:cs typeface="Arial" charset="0"/>
              </a:rPr>
              <a:t>: add immediate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Subtract immediate (</a:t>
            </a:r>
            <a:r>
              <a:rPr lang="en-US" sz="2400" dirty="0" err="1">
                <a:latin typeface="Courier New" pitchFamily="49" charset="0"/>
                <a:cs typeface="Arial" charset="0"/>
              </a:rPr>
              <a:t>subi</a:t>
            </a:r>
            <a:r>
              <a:rPr lang="en-US" sz="2400" dirty="0">
                <a:latin typeface="Times New Roman" pitchFamily="18" charset="0"/>
                <a:cs typeface="Arial" charset="0"/>
              </a:rPr>
              <a:t>) necessary?</a:t>
            </a:r>
          </a:p>
        </p:txBody>
      </p:sp>
      <p:sp>
        <p:nvSpPr>
          <p:cNvPr id="1034246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143000" y="3581400"/>
            <a:ext cx="36576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a = a + 4;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b = a – 12;</a:t>
            </a:r>
          </a:p>
        </p:txBody>
      </p:sp>
      <p:sp>
        <p:nvSpPr>
          <p:cNvPr id="1034247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800600" y="3581400"/>
            <a:ext cx="39624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# $s0 = a, $s1 = b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800" dirty="0">
                <a:latin typeface="Courier New" pitchFamily="49" charset="0"/>
                <a:cs typeface="Arial" charset="0"/>
              </a:rPr>
              <a:t> $s0, $s0, 4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800" dirty="0">
                <a:latin typeface="Courier New" pitchFamily="49" charset="0"/>
                <a:cs typeface="Arial" charset="0"/>
              </a:rPr>
              <a:t> $s1, $s0, 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Operands: Constants/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Immediates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785D4F93-9B29-4122-A21D-4FD4EF112A9D}"/>
              </a:ext>
            </a:extLst>
          </p:cNvPr>
          <p:cNvSpPr txBox="1"/>
          <p:nvPr/>
        </p:nvSpPr>
        <p:spPr>
          <a:xfrm>
            <a:off x="6006353" y="1293894"/>
            <a:ext cx="281940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 err="1"/>
              <a:t>lw</a:t>
            </a:r>
            <a:r>
              <a:rPr lang="zh-CN" altLang="en-US" sz="1400" b="1" dirty="0"/>
              <a:t>和</a:t>
            </a:r>
            <a:r>
              <a:rPr lang="en-US" altLang="zh-CN" sz="1400" b="1" dirty="0" err="1"/>
              <a:t>sw</a:t>
            </a:r>
            <a:r>
              <a:rPr lang="zh-CN" altLang="en-US" sz="1400" b="1" dirty="0"/>
              <a:t>使用常量或者立即数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B0BD984A-D088-4D18-9101-B5E0860977A7}"/>
              </a:ext>
            </a:extLst>
          </p:cNvPr>
          <p:cNvSpPr txBox="1"/>
          <p:nvPr/>
        </p:nvSpPr>
        <p:spPr>
          <a:xfrm>
            <a:off x="5372100" y="2091770"/>
            <a:ext cx="281940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16</a:t>
            </a:r>
            <a:r>
              <a:rPr lang="zh-CN" altLang="en-US" sz="1400" b="1" dirty="0"/>
              <a:t>位的二进制补码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499B732C-3548-4E6A-99F8-D9661DDE76D3}"/>
              </a:ext>
            </a:extLst>
          </p:cNvPr>
          <p:cNvSpPr txBox="1"/>
          <p:nvPr/>
        </p:nvSpPr>
        <p:spPr>
          <a:xfrm>
            <a:off x="4229100" y="2466327"/>
            <a:ext cx="281940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 err="1"/>
              <a:t>addi</a:t>
            </a:r>
            <a:r>
              <a:rPr lang="zh-CN" altLang="en-US" sz="1400" b="1" dirty="0" smtClean="0"/>
              <a:t>：立即</a:t>
            </a:r>
            <a:r>
              <a:rPr lang="zh-CN" altLang="en-US" sz="1400" b="1" dirty="0"/>
              <a:t>数</a:t>
            </a:r>
            <a:r>
              <a:rPr lang="zh-CN" altLang="en-US" sz="1400" b="1" dirty="0" smtClean="0"/>
              <a:t>加法</a:t>
            </a:r>
            <a:endParaRPr lang="zh-CN" altLang="en-US" sz="14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="" xmlns:a16="http://schemas.microsoft.com/office/drawing/2014/main" id="{150B2809-87FA-4F59-BF68-8466E731D6E0}"/>
              </a:ext>
            </a:extLst>
          </p:cNvPr>
          <p:cNvSpPr txBox="1"/>
          <p:nvPr/>
        </p:nvSpPr>
        <p:spPr>
          <a:xfrm>
            <a:off x="5963771" y="1679394"/>
            <a:ext cx="281940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（立即数）从指令中直接可用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B5D9A1C5-F10C-4481-A761-6894AC698C54}"/>
              </a:ext>
            </a:extLst>
          </p:cNvPr>
          <p:cNvSpPr txBox="1"/>
          <p:nvPr/>
        </p:nvSpPr>
        <p:spPr>
          <a:xfrm>
            <a:off x="4426324" y="3272117"/>
            <a:ext cx="3061447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有必要添加立即数减指令（</a:t>
            </a:r>
            <a:r>
              <a:rPr lang="en-US" altLang="zh-CN" sz="1400" b="1" dirty="0" err="1"/>
              <a:t>subi</a:t>
            </a:r>
            <a:r>
              <a:rPr lang="zh-CN" altLang="en-US" sz="1400" b="1" dirty="0"/>
              <a:t>）吗？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="" xmlns:a16="http://schemas.microsoft.com/office/drawing/2014/main" id="{F36ACDA2-7C99-4FDF-8A57-BF45BBE905B5}"/>
              </a:ext>
            </a:extLst>
          </p:cNvPr>
          <p:cNvSpPr txBox="1"/>
          <p:nvPr/>
        </p:nvSpPr>
        <p:spPr>
          <a:xfrm>
            <a:off x="1689847" y="774719"/>
            <a:ext cx="281940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 smtClean="0"/>
              <a:t>操作</a:t>
            </a:r>
            <a:r>
              <a:rPr lang="zh-CN" altLang="en-US" sz="1400" b="1" dirty="0"/>
              <a:t>数</a:t>
            </a:r>
            <a:r>
              <a:rPr lang="zh-CN" altLang="en-US" sz="1400" b="1" dirty="0" smtClean="0"/>
              <a:t>：</a:t>
            </a:r>
            <a:r>
              <a:rPr lang="zh-CN" altLang="en-US" sz="1400" b="1" dirty="0"/>
              <a:t>常量</a:t>
            </a:r>
            <a:r>
              <a:rPr lang="en-US" altLang="zh-CN" sz="1400" b="1" dirty="0"/>
              <a:t>/</a:t>
            </a:r>
            <a:r>
              <a:rPr lang="zh-CN" altLang="en-US" sz="1400" b="1" dirty="0"/>
              <a:t>立即数</a:t>
            </a:r>
          </a:p>
        </p:txBody>
      </p:sp>
    </p:spTree>
    <p:extLst>
      <p:ext uri="{BB962C8B-B14F-4D97-AF65-F5344CB8AC3E}">
        <p14:creationId xmlns:p14="http://schemas.microsoft.com/office/powerpoint/2010/main" val="3332832087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269" name="Rectangle 5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914400" y="1143000"/>
            <a:ext cx="7620000" cy="5181600"/>
          </a:xfrm>
        </p:spPr>
        <p:txBody>
          <a:bodyPr>
            <a:noAutofit/>
          </a:bodyPr>
          <a:lstStyle/>
          <a:p>
            <a:r>
              <a:rPr lang="en-US" dirty="0"/>
              <a:t>Binary representation of instructions</a:t>
            </a:r>
          </a:p>
          <a:p>
            <a:r>
              <a:rPr lang="en-US" dirty="0"/>
              <a:t>Computers only understand 1’s and 0’s</a:t>
            </a:r>
          </a:p>
          <a:p>
            <a:r>
              <a:rPr lang="en-US" dirty="0"/>
              <a:t>32-bit instructions </a:t>
            </a:r>
          </a:p>
          <a:p>
            <a:pPr lvl="1"/>
            <a:r>
              <a:rPr lang="en-US" sz="2600" dirty="0"/>
              <a:t>Simplicity favors regularity: 32-bit data &amp; instructions</a:t>
            </a:r>
          </a:p>
          <a:p>
            <a:r>
              <a:rPr lang="en-US" dirty="0"/>
              <a:t>3 instruction formats:</a:t>
            </a:r>
          </a:p>
          <a:p>
            <a:pPr lvl="1"/>
            <a:r>
              <a:rPr lang="en-US" sz="2600" b="1" dirty="0">
                <a:solidFill>
                  <a:schemeClr val="accent1"/>
                </a:solidFill>
              </a:rPr>
              <a:t>R-Type:</a:t>
            </a:r>
            <a:r>
              <a:rPr lang="en-US" sz="2600" dirty="0"/>
              <a:t>	register operands</a:t>
            </a:r>
            <a:endParaRPr lang="en-US" sz="2600" dirty="0">
              <a:solidFill>
                <a:schemeClr val="accent2"/>
              </a:solidFill>
            </a:endParaRPr>
          </a:p>
          <a:p>
            <a:pPr lvl="1"/>
            <a:r>
              <a:rPr lang="en-US" sz="2600" b="1" dirty="0">
                <a:solidFill>
                  <a:schemeClr val="accent1"/>
                </a:solidFill>
              </a:rPr>
              <a:t>I-Type:</a:t>
            </a:r>
            <a:r>
              <a:rPr lang="en-US" sz="2600" dirty="0"/>
              <a:t>	immediate operand</a:t>
            </a:r>
            <a:endParaRPr lang="en-US" sz="2600" dirty="0">
              <a:solidFill>
                <a:schemeClr val="accent2"/>
              </a:solidFill>
            </a:endParaRPr>
          </a:p>
          <a:p>
            <a:pPr lvl="1"/>
            <a:r>
              <a:rPr lang="en-US" sz="2600" b="1" dirty="0">
                <a:solidFill>
                  <a:schemeClr val="accent1"/>
                </a:solidFill>
              </a:rPr>
              <a:t>J-Type:</a:t>
            </a:r>
            <a:r>
              <a:rPr lang="en-US" sz="2600" dirty="0"/>
              <a:t>	for jumping (discuss later)</a:t>
            </a:r>
            <a:endParaRPr lang="en-US" sz="2600" dirty="0">
              <a:solidFill>
                <a:schemeClr val="accent2"/>
              </a:solidFill>
            </a:endParaRPr>
          </a:p>
        </p:txBody>
      </p:sp>
      <p:sp>
        <p:nvSpPr>
          <p:cNvPr id="103526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Machine Language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2DB7E6ED-CB3D-475A-A075-191CF2220029}"/>
              </a:ext>
            </a:extLst>
          </p:cNvPr>
          <p:cNvSpPr txBox="1"/>
          <p:nvPr/>
        </p:nvSpPr>
        <p:spPr>
          <a:xfrm>
            <a:off x="3695700" y="1600200"/>
            <a:ext cx="28194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指令的二进制表示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52D4F7C5-FFF3-401A-A2F9-39D38BB867AA}"/>
              </a:ext>
            </a:extLst>
          </p:cNvPr>
          <p:cNvSpPr txBox="1"/>
          <p:nvPr/>
        </p:nvSpPr>
        <p:spPr>
          <a:xfrm>
            <a:off x="3886200" y="2208295"/>
            <a:ext cx="28194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计算机只能理解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0</a:t>
            </a:r>
            <a:endParaRPr lang="zh-CN" altLang="en-US" sz="1400" b="1" dirty="0"/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23ACE237-A2ED-4802-8018-40955DC757B3}"/>
              </a:ext>
            </a:extLst>
          </p:cNvPr>
          <p:cNvSpPr txBox="1"/>
          <p:nvPr/>
        </p:nvSpPr>
        <p:spPr>
          <a:xfrm>
            <a:off x="3962400" y="2738734"/>
            <a:ext cx="28194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32</a:t>
            </a:r>
            <a:r>
              <a:rPr lang="zh-CN" altLang="en-US" sz="1400" b="1" dirty="0"/>
              <a:t>位指令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EFC83046-D6F1-42D2-B5E3-8DD2CBA7E0D6}"/>
              </a:ext>
            </a:extLst>
          </p:cNvPr>
          <p:cNvSpPr txBox="1"/>
          <p:nvPr/>
        </p:nvSpPr>
        <p:spPr>
          <a:xfrm>
            <a:off x="3877234" y="3350575"/>
            <a:ext cx="351416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简单有助于规整化：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位数据</a:t>
            </a:r>
            <a:r>
              <a:rPr lang="en-US" altLang="zh-CN" sz="1400" b="1" dirty="0"/>
              <a:t>&amp;</a:t>
            </a:r>
            <a:r>
              <a:rPr lang="zh-CN" altLang="en-US" sz="1400" b="1" dirty="0"/>
              <a:t>指令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27E0AFE3-7BD9-4D6E-B1DA-7E93760D50A2}"/>
              </a:ext>
            </a:extLst>
          </p:cNvPr>
          <p:cNvSpPr txBox="1"/>
          <p:nvPr/>
        </p:nvSpPr>
        <p:spPr>
          <a:xfrm>
            <a:off x="4930589" y="3958670"/>
            <a:ext cx="192741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3</a:t>
            </a:r>
            <a:r>
              <a:rPr lang="zh-CN" altLang="en-US" sz="1400" b="1" dirty="0"/>
              <a:t>种指令格式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A6C7C304-1C1F-49A2-A2EC-7363828124E9}"/>
              </a:ext>
            </a:extLst>
          </p:cNvPr>
          <p:cNvSpPr txBox="1"/>
          <p:nvPr/>
        </p:nvSpPr>
        <p:spPr>
          <a:xfrm>
            <a:off x="5331758" y="4470427"/>
            <a:ext cx="289784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R</a:t>
            </a:r>
            <a:r>
              <a:rPr lang="zh-CN" altLang="en-US" sz="1400" b="1" dirty="0"/>
              <a:t>型指令：寄存器</a:t>
            </a:r>
            <a:r>
              <a:rPr lang="zh-CN" altLang="en-US" sz="1400" b="1" dirty="0" smtClean="0"/>
              <a:t>操作</a:t>
            </a:r>
            <a:endParaRPr lang="zh-CN" altLang="en-US" sz="14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B2EEA1A2-710E-41CE-A3A5-B8FFEFE81498}"/>
              </a:ext>
            </a:extLst>
          </p:cNvPr>
          <p:cNvSpPr txBox="1"/>
          <p:nvPr/>
        </p:nvSpPr>
        <p:spPr>
          <a:xfrm>
            <a:off x="5560359" y="4947061"/>
            <a:ext cx="289784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I</a:t>
            </a:r>
            <a:r>
              <a:rPr lang="zh-CN" altLang="en-US" sz="1400" b="1" dirty="0"/>
              <a:t>型指令：立即数</a:t>
            </a:r>
            <a:r>
              <a:rPr lang="zh-CN" altLang="en-US" sz="1400" b="1" dirty="0" smtClean="0"/>
              <a:t>操作</a:t>
            </a:r>
            <a:endParaRPr lang="zh-CN" altLang="en-US" sz="14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="" xmlns:a16="http://schemas.microsoft.com/office/drawing/2014/main" id="{965BDEEC-65C1-43CF-B2D1-813E75F888B8}"/>
              </a:ext>
            </a:extLst>
          </p:cNvPr>
          <p:cNvSpPr txBox="1"/>
          <p:nvPr/>
        </p:nvSpPr>
        <p:spPr>
          <a:xfrm>
            <a:off x="5372100" y="5767299"/>
            <a:ext cx="289784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J</a:t>
            </a:r>
            <a:r>
              <a:rPr lang="zh-CN" altLang="en-US" sz="1400" b="1" dirty="0"/>
              <a:t>型指令：用于跳转（稍后讨论）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D0A2BED5-4BDB-438D-A44B-6B7F11015293}"/>
              </a:ext>
            </a:extLst>
          </p:cNvPr>
          <p:cNvSpPr txBox="1"/>
          <p:nvPr/>
        </p:nvSpPr>
        <p:spPr>
          <a:xfrm>
            <a:off x="1689847" y="774719"/>
            <a:ext cx="166295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机器语言</a:t>
            </a:r>
          </a:p>
        </p:txBody>
      </p:sp>
    </p:spTree>
    <p:extLst>
      <p:ext uri="{BB962C8B-B14F-4D97-AF65-F5344CB8AC3E}">
        <p14:creationId xmlns:p14="http://schemas.microsoft.com/office/powerpoint/2010/main" val="2309874978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6293" name="Object 5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09777246"/>
              </p:ext>
            </p:extLst>
          </p:nvPr>
        </p:nvGraphicFramePr>
        <p:xfrm>
          <a:off x="1828800" y="4724400"/>
          <a:ext cx="5921375" cy="146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46" name="VISIO" r:id="rId7" imgW="2089800" imgH="539640" progId="Visio.Drawing.6">
                  <p:embed/>
                </p:oleObj>
              </mc:Choice>
              <mc:Fallback>
                <p:oleObj name="VISIO" r:id="rId7" imgW="2089800" imgH="5396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724400"/>
                        <a:ext cx="5921375" cy="1462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6294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i="1" dirty="0">
                <a:latin typeface="Times New Roman" pitchFamily="18" charset="0"/>
                <a:cs typeface="Arial" charset="0"/>
              </a:rPr>
              <a:t>Register-type</a:t>
            </a: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3 register operands: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 err="1">
                <a:latin typeface="Courier New" pitchFamily="49" charset="0"/>
                <a:cs typeface="Arial" charset="0"/>
              </a:rPr>
              <a:t>rs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rt</a:t>
            </a:r>
            <a:r>
              <a:rPr lang="en-US" sz="2000" dirty="0">
                <a:latin typeface="Times New Roman" pitchFamily="18" charset="0"/>
                <a:cs typeface="Arial" charset="0"/>
              </a:rPr>
              <a:t>: 	source registers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 err="1">
                <a:latin typeface="Courier New" pitchFamily="49" charset="0"/>
                <a:cs typeface="Arial" charset="0"/>
              </a:rPr>
              <a:t>rd</a:t>
            </a:r>
            <a:r>
              <a:rPr lang="en-US" sz="2000" dirty="0">
                <a:latin typeface="Times New Roman" pitchFamily="18" charset="0"/>
                <a:cs typeface="Arial" charset="0"/>
              </a:rPr>
              <a:t>:	destination register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Other fields: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itchFamily="49" charset="0"/>
                <a:cs typeface="Arial" charset="0"/>
              </a:rPr>
              <a:t>op</a:t>
            </a:r>
            <a:r>
              <a:rPr lang="en-US" sz="2000" dirty="0">
                <a:latin typeface="Times New Roman" pitchFamily="18" charset="0"/>
                <a:cs typeface="Arial" charset="0"/>
              </a:rPr>
              <a:t>: 	the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operation code</a:t>
            </a:r>
            <a:r>
              <a:rPr lang="en-US" sz="2000" dirty="0">
                <a:latin typeface="Times New Roman" pitchFamily="18" charset="0"/>
                <a:cs typeface="Arial" charset="0"/>
              </a:rPr>
              <a:t> or </a:t>
            </a:r>
            <a:r>
              <a:rPr lang="en-US" sz="2000" i="1" dirty="0" err="1">
                <a:latin typeface="Times New Roman" pitchFamily="18" charset="0"/>
                <a:cs typeface="Arial" charset="0"/>
              </a:rPr>
              <a:t>opcode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dirty="0">
                <a:latin typeface="Times New Roman" pitchFamily="18" charset="0"/>
                <a:cs typeface="Arial" charset="0"/>
              </a:rPr>
              <a:t>(0 for R-type instructions)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 err="1">
                <a:latin typeface="Courier New" pitchFamily="49" charset="0"/>
                <a:cs typeface="Arial" charset="0"/>
              </a:rPr>
              <a:t>funct</a:t>
            </a:r>
            <a:r>
              <a:rPr lang="en-US" sz="2000" dirty="0">
                <a:latin typeface="Times New Roman" pitchFamily="18" charset="0"/>
                <a:cs typeface="Arial" charset="0"/>
              </a:rPr>
              <a:t>: 	the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function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latin typeface="Times New Roman" pitchFamily="18" charset="0"/>
                <a:cs typeface="Arial" charset="0"/>
              </a:rPr>
              <a:t>			with </a:t>
            </a:r>
            <a:r>
              <a:rPr lang="en-US" sz="2000" dirty="0" err="1">
                <a:latin typeface="Times New Roman" pitchFamily="18" charset="0"/>
                <a:cs typeface="Arial" charset="0"/>
              </a:rPr>
              <a:t>opcode</a:t>
            </a:r>
            <a:r>
              <a:rPr lang="en-US" sz="2000" dirty="0">
                <a:latin typeface="Times New Roman" pitchFamily="18" charset="0"/>
                <a:cs typeface="Arial" charset="0"/>
              </a:rPr>
              <a:t>, tells computer what operation to perform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 err="1">
                <a:latin typeface="Courier New" pitchFamily="49" charset="0"/>
                <a:cs typeface="Arial" charset="0"/>
              </a:rPr>
              <a:t>shamt</a:t>
            </a:r>
            <a:r>
              <a:rPr lang="en-US" sz="2000" dirty="0">
                <a:latin typeface="Times New Roman" pitchFamily="18" charset="0"/>
                <a:cs typeface="Arial" charset="0"/>
              </a:rPr>
              <a:t>: 	the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shift amount</a:t>
            </a:r>
            <a:r>
              <a:rPr lang="en-US" sz="2000" dirty="0">
                <a:latin typeface="Times New Roman" pitchFamily="18" charset="0"/>
                <a:cs typeface="Arial" charset="0"/>
              </a:rPr>
              <a:t> for shift instructions, otherwise it’s 0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</a:pPr>
            <a:endParaRPr lang="en-US" sz="24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1036292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R-Type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D5ACE345-51B3-41D1-A4B9-607B26E27A30}"/>
              </a:ext>
            </a:extLst>
          </p:cNvPr>
          <p:cNvSpPr txBox="1"/>
          <p:nvPr/>
        </p:nvSpPr>
        <p:spPr>
          <a:xfrm>
            <a:off x="3505201" y="1295400"/>
            <a:ext cx="134022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寄存器类型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4179EAED-936B-409F-B75D-01E4D33C27DB}"/>
              </a:ext>
            </a:extLst>
          </p:cNvPr>
          <p:cNvSpPr txBox="1"/>
          <p:nvPr/>
        </p:nvSpPr>
        <p:spPr>
          <a:xfrm>
            <a:off x="4061012" y="1694345"/>
            <a:ext cx="208877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3</a:t>
            </a:r>
            <a:r>
              <a:rPr lang="zh-CN" altLang="en-US" sz="1400" b="1" dirty="0"/>
              <a:t>种寄存器</a:t>
            </a:r>
            <a:r>
              <a:rPr lang="zh-CN" altLang="en-US" sz="1400" b="1" dirty="0" smtClean="0"/>
              <a:t>操作数</a:t>
            </a:r>
            <a:endParaRPr lang="zh-CN" altLang="en-US" sz="1400" b="1" dirty="0"/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A33AAE3F-8388-4129-A20A-A294D41E2CAD}"/>
              </a:ext>
            </a:extLst>
          </p:cNvPr>
          <p:cNvSpPr txBox="1"/>
          <p:nvPr/>
        </p:nvSpPr>
        <p:spPr>
          <a:xfrm>
            <a:off x="4682378" y="2052933"/>
            <a:ext cx="190388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 err="1"/>
              <a:t>rs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rt</a:t>
            </a:r>
            <a:r>
              <a:rPr lang="zh-CN" altLang="en-US" sz="1400" b="1" dirty="0"/>
              <a:t>：源寄存器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BFEEF88F-E9ED-49B4-BD24-2F0C3A891A49}"/>
              </a:ext>
            </a:extLst>
          </p:cNvPr>
          <p:cNvSpPr txBox="1"/>
          <p:nvPr/>
        </p:nvSpPr>
        <p:spPr>
          <a:xfrm>
            <a:off x="4876800" y="2449605"/>
            <a:ext cx="181703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 err="1"/>
              <a:t>rd</a:t>
            </a:r>
            <a:r>
              <a:rPr lang="zh-CN" altLang="en-US" sz="1400" b="1" dirty="0"/>
              <a:t>：目标寄存器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="" xmlns:a16="http://schemas.microsoft.com/office/drawing/2014/main" id="{2BBC2D42-8530-4A26-957B-3F27F528E0C8}"/>
              </a:ext>
            </a:extLst>
          </p:cNvPr>
          <p:cNvSpPr txBox="1"/>
          <p:nvPr/>
        </p:nvSpPr>
        <p:spPr>
          <a:xfrm>
            <a:off x="3505201" y="2728263"/>
            <a:ext cx="536089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op</a:t>
            </a:r>
            <a:r>
              <a:rPr lang="zh-CN" altLang="en-US" sz="1400" b="1" dirty="0"/>
              <a:t>：操作码（</a:t>
            </a:r>
            <a:r>
              <a:rPr lang="en-US" altLang="zh-CN" sz="1400" b="1" dirty="0"/>
              <a:t> operation code </a:t>
            </a:r>
            <a:r>
              <a:rPr lang="zh-CN" altLang="en-US" sz="1400" b="1" dirty="0"/>
              <a:t>或者</a:t>
            </a:r>
            <a:r>
              <a:rPr lang="en-US" altLang="zh-CN" sz="1400" b="1" dirty="0"/>
              <a:t> opcode </a:t>
            </a:r>
            <a:r>
              <a:rPr lang="zh-CN" altLang="en-US" sz="1400" b="1" dirty="0"/>
              <a:t>）（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或者</a:t>
            </a:r>
            <a:r>
              <a:rPr lang="en-US" altLang="zh-CN" sz="1400" b="1" dirty="0"/>
              <a:t>R</a:t>
            </a:r>
            <a:r>
              <a:rPr lang="zh-CN" altLang="en-US" sz="1400" b="1" dirty="0"/>
              <a:t>型指令）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1D7245E4-8C7B-49FA-AA55-5E6F70D65911}"/>
              </a:ext>
            </a:extLst>
          </p:cNvPr>
          <p:cNvSpPr txBox="1"/>
          <p:nvPr/>
        </p:nvSpPr>
        <p:spPr>
          <a:xfrm>
            <a:off x="4108078" y="3447990"/>
            <a:ext cx="465492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 err="1"/>
              <a:t>funct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function</a:t>
            </a:r>
            <a:r>
              <a:rPr lang="zh-CN" altLang="en-US" sz="1400" b="1" dirty="0"/>
              <a:t>位使用操作码告诉计算机执行什么操作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="" xmlns:a16="http://schemas.microsoft.com/office/drawing/2014/main" id="{2BAE148B-5090-4803-90AD-D1E8580B5887}"/>
              </a:ext>
            </a:extLst>
          </p:cNvPr>
          <p:cNvSpPr txBox="1"/>
          <p:nvPr/>
        </p:nvSpPr>
        <p:spPr>
          <a:xfrm>
            <a:off x="2743200" y="4389574"/>
            <a:ext cx="435908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 err="1"/>
              <a:t>shamt</a:t>
            </a:r>
            <a:r>
              <a:rPr lang="zh-CN" altLang="en-US" sz="1400" b="1" dirty="0"/>
              <a:t>：位移指令的位移量，不是位移指令就为</a:t>
            </a:r>
            <a:r>
              <a:rPr lang="en-US" altLang="zh-CN" sz="1400" b="1" dirty="0"/>
              <a:t>0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422069483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7316" name="Object 4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18660532"/>
              </p:ext>
            </p:extLst>
          </p:nvPr>
        </p:nvGraphicFramePr>
        <p:xfrm>
          <a:off x="904875" y="1292225"/>
          <a:ext cx="3209925" cy="146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41" name="Visio" r:id="rId9" imgW="1235880" imgH="590760" progId="Visio.Drawing.11">
                  <p:embed/>
                </p:oleObj>
              </mc:Choice>
              <mc:Fallback>
                <p:oleObj name="Visio" r:id="rId9" imgW="1235880" imgH="59076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75" y="1292225"/>
                        <a:ext cx="3209925" cy="146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7317" name="Object 5"/>
          <p:cNvGraphicFramePr>
            <a:graphicFrameLocks noGrp="1" noChangeAspect="1"/>
          </p:cNvGraphicFramePr>
          <p:nvPr>
            <p:ph sz="quarter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127743349"/>
              </p:ext>
            </p:extLst>
          </p:nvPr>
        </p:nvGraphicFramePr>
        <p:xfrm>
          <a:off x="3733800" y="1292225"/>
          <a:ext cx="4419600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42" name="VISIO" r:id="rId11" imgW="1617480" imgH="705240" progId="Visio.Drawing.6">
                  <p:embed/>
                </p:oleObj>
              </mc:Choice>
              <mc:Fallback>
                <p:oleObj name="VISIO" r:id="rId11" imgW="1617480" imgH="7052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292225"/>
                        <a:ext cx="4419600" cy="184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7322" name="Object 10"/>
          <p:cNvGraphicFramePr>
            <a:graphicFrameLocks noGrp="1" noChangeAspect="1"/>
          </p:cNvGraphicFramePr>
          <p:nvPr>
            <p:ph sz="quarter" idx="4294967295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252645120"/>
              </p:ext>
            </p:extLst>
          </p:nvPr>
        </p:nvGraphicFramePr>
        <p:xfrm>
          <a:off x="1676400" y="3244483"/>
          <a:ext cx="6096000" cy="201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43" name="VISIO" r:id="rId13" imgW="2221560" imgH="733320" progId="Visio.Drawing.6">
                  <p:embed/>
                </p:oleObj>
              </mc:Choice>
              <mc:Fallback>
                <p:oleObj name="VISIO" r:id="rId13" imgW="2221560" imgH="7333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244483"/>
                        <a:ext cx="6096000" cy="2012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7314" name="Rectangle 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37321" name="Text Box 9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66900" y="5565775"/>
            <a:ext cx="54102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</a:rPr>
              <a:t>Note </a:t>
            </a:r>
            <a:r>
              <a:rPr lang="en-US" sz="2000" dirty="0">
                <a:latin typeface="Times New Roman" pitchFamily="18" charset="0"/>
              </a:rPr>
              <a:t>the order of registers in the assembly code:   </a:t>
            </a:r>
          </a:p>
          <a:p>
            <a:pPr>
              <a:spcBef>
                <a:spcPct val="50000"/>
              </a:spcBef>
            </a:pPr>
            <a:r>
              <a:rPr lang="en-US" sz="2000" dirty="0">
                <a:latin typeface="Times New Roman" pitchFamily="18" charset="0"/>
              </a:rPr>
              <a:t>                    </a:t>
            </a:r>
            <a:r>
              <a:rPr lang="en-US" sz="2000" dirty="0">
                <a:latin typeface="Courier New" pitchFamily="49" charset="0"/>
              </a:rPr>
              <a:t>add </a:t>
            </a:r>
            <a:r>
              <a:rPr lang="en-US" sz="2000" dirty="0" err="1">
                <a:latin typeface="Courier New" pitchFamily="49" charset="0"/>
              </a:rPr>
              <a:t>rd</a:t>
            </a:r>
            <a:r>
              <a:rPr lang="en-US" sz="2000" dirty="0">
                <a:latin typeface="Courier New" pitchFamily="49" charset="0"/>
              </a:rPr>
              <a:t>, </a:t>
            </a:r>
            <a:r>
              <a:rPr lang="en-US" sz="2000" dirty="0" err="1">
                <a:latin typeface="Courier New" pitchFamily="49" charset="0"/>
              </a:rPr>
              <a:t>rs</a:t>
            </a:r>
            <a:r>
              <a:rPr lang="en-US" sz="2000" dirty="0">
                <a:latin typeface="Courier New" pitchFamily="49" charset="0"/>
              </a:rPr>
              <a:t>, </a:t>
            </a:r>
            <a:r>
              <a:rPr lang="en-US" sz="2000" dirty="0" err="1">
                <a:latin typeface="Courier New" pitchFamily="49" charset="0"/>
              </a:rPr>
              <a:t>rt</a:t>
            </a:r>
            <a:endParaRPr lang="en-US" sz="2000" dirty="0">
              <a:latin typeface="Courier New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R-Type Examples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14E647FC-10D5-4F22-998B-8A8D7F17EBFC}"/>
              </a:ext>
            </a:extLst>
          </p:cNvPr>
          <p:cNvSpPr txBox="1"/>
          <p:nvPr/>
        </p:nvSpPr>
        <p:spPr>
          <a:xfrm>
            <a:off x="1539688" y="1709422"/>
            <a:ext cx="118782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汇编码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8B2D6AC2-4879-4AF6-BB8C-E3FFB1168721}"/>
              </a:ext>
            </a:extLst>
          </p:cNvPr>
          <p:cNvSpPr txBox="1"/>
          <p:nvPr/>
        </p:nvSpPr>
        <p:spPr>
          <a:xfrm>
            <a:off x="6943725" y="1342143"/>
            <a:ext cx="118782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字段值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D54EDB29-DD5C-4F0C-8DE7-2E5731D86026}"/>
              </a:ext>
            </a:extLst>
          </p:cNvPr>
          <p:cNvSpPr txBox="1"/>
          <p:nvPr/>
        </p:nvSpPr>
        <p:spPr>
          <a:xfrm>
            <a:off x="5154425" y="3349823"/>
            <a:ext cx="118782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机器码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2B6152E7-6758-4B43-BC46-03B467CDCEAE}"/>
              </a:ext>
            </a:extLst>
          </p:cNvPr>
          <p:cNvSpPr txBox="1"/>
          <p:nvPr/>
        </p:nvSpPr>
        <p:spPr>
          <a:xfrm>
            <a:off x="2971800" y="5362773"/>
            <a:ext cx="304015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</a:rPr>
              <a:t>注意</a:t>
            </a:r>
            <a:r>
              <a:rPr lang="zh-CN" altLang="en-US" sz="1400" b="1" dirty="0"/>
              <a:t>汇编代码中寄存器的顺序</a:t>
            </a:r>
          </a:p>
        </p:txBody>
      </p:sp>
    </p:spTree>
    <p:extLst>
      <p:ext uri="{BB962C8B-B14F-4D97-AF65-F5344CB8AC3E}">
        <p14:creationId xmlns:p14="http://schemas.microsoft.com/office/powerpoint/2010/main" val="2965736610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8341" name="Object 5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66173248"/>
              </p:ext>
            </p:extLst>
          </p:nvPr>
        </p:nvGraphicFramePr>
        <p:xfrm>
          <a:off x="1143000" y="4419600"/>
          <a:ext cx="7239000" cy="168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90" name="VISIO" r:id="rId7" imgW="2089800" imgH="510120" progId="Visio.Drawing.6">
                  <p:embed/>
                </p:oleObj>
              </mc:Choice>
              <mc:Fallback>
                <p:oleObj name="VISIO" r:id="rId7" imgW="2089800" imgH="5101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419600"/>
                        <a:ext cx="7239000" cy="1687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8338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38342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i="1" dirty="0">
                <a:latin typeface="Times New Roman" pitchFamily="18" charset="0"/>
                <a:cs typeface="Arial" charset="0"/>
              </a:rPr>
              <a:t>Immediate-type</a:t>
            </a: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3 operands: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 err="1">
                <a:latin typeface="Courier New" pitchFamily="49" charset="0"/>
                <a:cs typeface="Arial" charset="0"/>
              </a:rPr>
              <a:t>rs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rt</a:t>
            </a:r>
            <a:r>
              <a:rPr lang="en-US" sz="2000" dirty="0">
                <a:latin typeface="Times New Roman" pitchFamily="18" charset="0"/>
                <a:cs typeface="Arial" charset="0"/>
              </a:rPr>
              <a:t>: 	register operands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 err="1">
                <a:latin typeface="Courier New" pitchFamily="49" charset="0"/>
                <a:cs typeface="Arial" charset="0"/>
              </a:rPr>
              <a:t>imm</a:t>
            </a:r>
            <a:r>
              <a:rPr lang="en-US" sz="2000" dirty="0">
                <a:latin typeface="Times New Roman" pitchFamily="18" charset="0"/>
                <a:cs typeface="Arial" charset="0"/>
              </a:rPr>
              <a:t>:	16-bit two’s complement immediate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Other fields: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itchFamily="49" charset="0"/>
                <a:cs typeface="Arial" charset="0"/>
              </a:rPr>
              <a:t>op</a:t>
            </a:r>
            <a:r>
              <a:rPr lang="en-US" sz="2000" dirty="0">
                <a:latin typeface="Times New Roman" pitchFamily="18" charset="0"/>
                <a:cs typeface="Arial" charset="0"/>
              </a:rPr>
              <a:t>: 	the </a:t>
            </a:r>
            <a:r>
              <a:rPr lang="en-US" sz="2000" dirty="0" err="1">
                <a:latin typeface="Times New Roman" pitchFamily="18" charset="0"/>
                <a:cs typeface="Arial" charset="0"/>
              </a:rPr>
              <a:t>opcode</a:t>
            </a:r>
            <a:endParaRPr lang="en-US" sz="2000" dirty="0">
              <a:latin typeface="Times New Roman" pitchFamily="18" charset="0"/>
              <a:cs typeface="Arial" charset="0"/>
            </a:endParaRP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Times New Roman" pitchFamily="18" charset="0"/>
                <a:cs typeface="Arial" charset="0"/>
              </a:rPr>
              <a:t>Simplicity favors regularity: all instructions have </a:t>
            </a:r>
            <a:r>
              <a:rPr lang="en-US" sz="2000" dirty="0" err="1">
                <a:latin typeface="Times New Roman" pitchFamily="18" charset="0"/>
                <a:cs typeface="Arial" charset="0"/>
              </a:rPr>
              <a:t>opcode</a:t>
            </a:r>
            <a:endParaRPr lang="en-US" sz="2000" dirty="0">
              <a:latin typeface="Times New Roman" pitchFamily="18" charset="0"/>
              <a:cs typeface="Arial" charset="0"/>
            </a:endParaRP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Times New Roman" pitchFamily="18" charset="0"/>
                <a:cs typeface="Arial" charset="0"/>
              </a:rPr>
              <a:t>Operation is completely determined by </a:t>
            </a:r>
            <a:r>
              <a:rPr lang="en-US" sz="2000" dirty="0" err="1">
                <a:latin typeface="Times New Roman" pitchFamily="18" charset="0"/>
                <a:cs typeface="Arial" charset="0"/>
              </a:rPr>
              <a:t>opcode</a:t>
            </a:r>
            <a:endParaRPr lang="en-US" sz="20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</a:pPr>
            <a:endParaRPr lang="en-US" sz="24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I-Type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E8AB2C8D-5D23-4F43-888B-BDD085DCBF6B}"/>
              </a:ext>
            </a:extLst>
          </p:cNvPr>
          <p:cNvSpPr txBox="1"/>
          <p:nvPr/>
        </p:nvSpPr>
        <p:spPr>
          <a:xfrm>
            <a:off x="3588122" y="1250576"/>
            <a:ext cx="118782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立即数类型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8E02C5EC-587A-4259-BBA7-3560844C154B}"/>
              </a:ext>
            </a:extLst>
          </p:cNvPr>
          <p:cNvSpPr txBox="1"/>
          <p:nvPr/>
        </p:nvSpPr>
        <p:spPr>
          <a:xfrm>
            <a:off x="2994209" y="1710753"/>
            <a:ext cx="178173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三种操作对象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E4AF6F8D-2E2D-461F-96E9-D49DA58CF01B}"/>
              </a:ext>
            </a:extLst>
          </p:cNvPr>
          <p:cNvSpPr txBox="1"/>
          <p:nvPr/>
        </p:nvSpPr>
        <p:spPr>
          <a:xfrm>
            <a:off x="4724400" y="2049906"/>
            <a:ext cx="2590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 err="1"/>
              <a:t>rs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rt:</a:t>
            </a:r>
            <a:r>
              <a:rPr lang="zh-CN" altLang="en-US" sz="1400" b="1" dirty="0"/>
              <a:t>寄存器操作对象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C0EF2E5F-00FA-46A5-84A1-499F4B5390CC}"/>
              </a:ext>
            </a:extLst>
          </p:cNvPr>
          <p:cNvSpPr txBox="1"/>
          <p:nvPr/>
        </p:nvSpPr>
        <p:spPr>
          <a:xfrm>
            <a:off x="4775947" y="2665512"/>
            <a:ext cx="2590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imm:16</a:t>
            </a:r>
            <a:r>
              <a:rPr lang="zh-CN" altLang="en-US" sz="1400" b="1" dirty="0"/>
              <a:t>位二进制补码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136A450E-C5B4-45F8-BBCA-02BC26A0EDE5}"/>
              </a:ext>
            </a:extLst>
          </p:cNvPr>
          <p:cNvSpPr txBox="1"/>
          <p:nvPr/>
        </p:nvSpPr>
        <p:spPr>
          <a:xfrm>
            <a:off x="4173069" y="3065176"/>
            <a:ext cx="2590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op:</a:t>
            </a:r>
            <a:r>
              <a:rPr lang="zh-CN" altLang="en-US" sz="1400" b="1" dirty="0"/>
              <a:t>操作码</a:t>
            </a:r>
          </a:p>
        </p:txBody>
      </p:sp>
      <p:sp>
        <p:nvSpPr>
          <p:cNvPr id="14" name="文本框 8">
            <a:extLst>
              <a:ext uri="{FF2B5EF4-FFF2-40B4-BE49-F238E27FC236}">
                <a16:creationId xmlns="" xmlns:a16="http://schemas.microsoft.com/office/drawing/2014/main" id="{EFC83046-D6F1-42D2-B5E3-8DD2CBA7E0D6}"/>
              </a:ext>
            </a:extLst>
          </p:cNvPr>
          <p:cNvSpPr txBox="1"/>
          <p:nvPr/>
        </p:nvSpPr>
        <p:spPr>
          <a:xfrm>
            <a:off x="6763869" y="3759222"/>
            <a:ext cx="241599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/>
              <a:t>简单有助于规整化：所有指令都有操作码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="" xmlns:a16="http://schemas.microsoft.com/office/drawing/2014/main" id="{31B71FD0-56D3-4EF9-9527-E4CCDE9D9C0A}"/>
              </a:ext>
            </a:extLst>
          </p:cNvPr>
          <p:cNvSpPr txBox="1"/>
          <p:nvPr/>
        </p:nvSpPr>
        <p:spPr>
          <a:xfrm>
            <a:off x="2129118" y="4080446"/>
            <a:ext cx="2590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操作完全由操作码决定</a:t>
            </a:r>
          </a:p>
        </p:txBody>
      </p:sp>
    </p:spTree>
    <p:extLst>
      <p:ext uri="{BB962C8B-B14F-4D97-AF65-F5344CB8AC3E}">
        <p14:creationId xmlns:p14="http://schemas.microsoft.com/office/powerpoint/2010/main" val="2063868835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9364" name="Object 4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19768373"/>
              </p:ext>
            </p:extLst>
          </p:nvPr>
        </p:nvGraphicFramePr>
        <p:xfrm>
          <a:off x="1806388" y="1041400"/>
          <a:ext cx="5943600" cy="2544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48" name="VISIO" r:id="rId7" imgW="2481840" imgH="1062360" progId="Visio.Drawing.6">
                  <p:embed/>
                </p:oleObj>
              </mc:Choice>
              <mc:Fallback>
                <p:oleObj name="VISIO" r:id="rId7" imgW="2481840" imgH="10623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388" y="1041400"/>
                        <a:ext cx="5943600" cy="2544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9366" name="Object 6"/>
          <p:cNvGraphicFramePr>
            <a:graphicFrameLocks noGrp="1" noChangeAspect="1"/>
          </p:cNvGraphicFramePr>
          <p:nvPr>
            <p:ph sz="half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248288417"/>
              </p:ext>
            </p:extLst>
          </p:nvPr>
        </p:nvGraphicFramePr>
        <p:xfrm>
          <a:off x="3657600" y="3598863"/>
          <a:ext cx="5257800" cy="2497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49" name="VISIO" r:id="rId9" imgW="2296800" imgH="1090440" progId="Visio.Drawing.6">
                  <p:embed/>
                </p:oleObj>
              </mc:Choice>
              <mc:Fallback>
                <p:oleObj name="VISIO" r:id="rId9" imgW="2296800" imgH="10904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598863"/>
                        <a:ext cx="5257800" cy="2497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9367" name="Text Box 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4400" y="3789363"/>
            <a:ext cx="3200400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b="1" dirty="0">
                <a:solidFill>
                  <a:schemeClr val="accent1"/>
                </a:solidFill>
                <a:latin typeface="Times New Roman" pitchFamily="18" charset="0"/>
              </a:rPr>
              <a:t>Note</a:t>
            </a:r>
            <a:r>
              <a:rPr lang="en-US" sz="1800" dirty="0">
                <a:solidFill>
                  <a:schemeClr val="accent1"/>
                </a:solidFill>
                <a:latin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</a:rPr>
              <a:t>the differing order of registers in assembly and machine codes:</a:t>
            </a:r>
          </a:p>
          <a:p>
            <a:pPr>
              <a:spcBef>
                <a:spcPct val="50000"/>
              </a:spcBef>
            </a:pPr>
            <a:r>
              <a:rPr lang="en-US" sz="1800" dirty="0" err="1">
                <a:latin typeface="Courier New" pitchFamily="49" charset="0"/>
              </a:rPr>
              <a:t>addi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rt</a:t>
            </a:r>
            <a:r>
              <a:rPr lang="en-US" sz="1800" dirty="0">
                <a:latin typeface="Courier New" pitchFamily="49" charset="0"/>
              </a:rPr>
              <a:t>, </a:t>
            </a:r>
            <a:r>
              <a:rPr lang="en-US" sz="1800" dirty="0" err="1">
                <a:latin typeface="Courier New" pitchFamily="49" charset="0"/>
              </a:rPr>
              <a:t>rs</a:t>
            </a:r>
            <a:r>
              <a:rPr lang="en-US" sz="1800" dirty="0">
                <a:latin typeface="Courier New" pitchFamily="49" charset="0"/>
              </a:rPr>
              <a:t>, </a:t>
            </a:r>
            <a:r>
              <a:rPr lang="en-US" sz="1800" dirty="0" err="1">
                <a:latin typeface="Courier New" pitchFamily="49" charset="0"/>
              </a:rPr>
              <a:t>imm</a:t>
            </a:r>
            <a:endParaRPr lang="en-US" sz="1800" dirty="0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en-US" sz="1800" dirty="0" err="1">
                <a:latin typeface="Courier New" pitchFamily="49" charset="0"/>
              </a:rPr>
              <a:t>lw</a:t>
            </a:r>
            <a:r>
              <a:rPr lang="en-US" sz="1800" dirty="0">
                <a:latin typeface="Courier New" pitchFamily="49" charset="0"/>
              </a:rPr>
              <a:t>   </a:t>
            </a:r>
            <a:r>
              <a:rPr lang="en-US" sz="1800" dirty="0" err="1">
                <a:latin typeface="Courier New" pitchFamily="49" charset="0"/>
              </a:rPr>
              <a:t>rt</a:t>
            </a:r>
            <a:r>
              <a:rPr lang="en-US" sz="1800" dirty="0">
                <a:latin typeface="Courier New" pitchFamily="49" charset="0"/>
              </a:rPr>
              <a:t>, </a:t>
            </a:r>
            <a:r>
              <a:rPr lang="en-US" sz="1800" dirty="0" err="1">
                <a:latin typeface="Courier New" pitchFamily="49" charset="0"/>
              </a:rPr>
              <a:t>imm</a:t>
            </a:r>
            <a:r>
              <a:rPr lang="en-US" sz="1800" dirty="0">
                <a:latin typeface="Courier New" pitchFamily="49" charset="0"/>
              </a:rPr>
              <a:t>(</a:t>
            </a:r>
            <a:r>
              <a:rPr lang="en-US" sz="1800" dirty="0" err="1">
                <a:latin typeface="Courier New" pitchFamily="49" charset="0"/>
              </a:rPr>
              <a:t>rs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>
              <a:spcBef>
                <a:spcPct val="50000"/>
              </a:spcBef>
            </a:pPr>
            <a:r>
              <a:rPr lang="en-US" sz="1800" dirty="0" err="1">
                <a:latin typeface="Courier New" pitchFamily="49" charset="0"/>
              </a:rPr>
              <a:t>sw</a:t>
            </a:r>
            <a:r>
              <a:rPr lang="en-US" sz="1800" dirty="0">
                <a:latin typeface="Courier New" pitchFamily="49" charset="0"/>
              </a:rPr>
              <a:t>   </a:t>
            </a:r>
            <a:r>
              <a:rPr lang="en-US" sz="1800" dirty="0" err="1">
                <a:latin typeface="Courier New" pitchFamily="49" charset="0"/>
              </a:rPr>
              <a:t>rt</a:t>
            </a:r>
            <a:r>
              <a:rPr lang="en-US" sz="1800" dirty="0">
                <a:latin typeface="Courier New" pitchFamily="49" charset="0"/>
              </a:rPr>
              <a:t>, </a:t>
            </a:r>
            <a:r>
              <a:rPr lang="en-US" sz="1800" dirty="0" err="1">
                <a:latin typeface="Courier New" pitchFamily="49" charset="0"/>
              </a:rPr>
              <a:t>imm</a:t>
            </a:r>
            <a:r>
              <a:rPr lang="en-US" sz="1800" dirty="0">
                <a:latin typeface="Courier New" pitchFamily="49" charset="0"/>
              </a:rPr>
              <a:t>(</a:t>
            </a:r>
            <a:r>
              <a:rPr lang="en-US" sz="1800" dirty="0" err="1">
                <a:latin typeface="Courier New" pitchFamily="49" charset="0"/>
              </a:rPr>
              <a:t>rs</a:t>
            </a:r>
            <a:r>
              <a:rPr lang="en-US" sz="1800" dirty="0">
                <a:latin typeface="Courier New" pitchFamily="49" charset="0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I-Type Examples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7FFF8898-B80C-4D84-AA2C-F59773C97388}"/>
              </a:ext>
            </a:extLst>
          </p:cNvPr>
          <p:cNvSpPr txBox="1"/>
          <p:nvPr/>
        </p:nvSpPr>
        <p:spPr>
          <a:xfrm>
            <a:off x="1524000" y="1447800"/>
            <a:ext cx="118782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汇编码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6205E6DE-2788-43D9-920B-09F0398D70B0}"/>
              </a:ext>
            </a:extLst>
          </p:cNvPr>
          <p:cNvSpPr txBox="1"/>
          <p:nvPr/>
        </p:nvSpPr>
        <p:spPr>
          <a:xfrm>
            <a:off x="6562163" y="1092014"/>
            <a:ext cx="118782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字段值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36064289-6D8B-436F-AF01-387D65F9A8CD}"/>
              </a:ext>
            </a:extLst>
          </p:cNvPr>
          <p:cNvSpPr txBox="1"/>
          <p:nvPr/>
        </p:nvSpPr>
        <p:spPr>
          <a:xfrm>
            <a:off x="6400800" y="3636777"/>
            <a:ext cx="118782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机器码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4BE4A30A-BD0D-45FB-8999-B2536E14FD10}"/>
              </a:ext>
            </a:extLst>
          </p:cNvPr>
          <p:cNvSpPr txBox="1"/>
          <p:nvPr/>
        </p:nvSpPr>
        <p:spPr>
          <a:xfrm>
            <a:off x="941294" y="3278191"/>
            <a:ext cx="227703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</a:rPr>
              <a:t>注意</a:t>
            </a:r>
            <a:r>
              <a:rPr lang="zh-CN" altLang="en-US" sz="1400" b="1" dirty="0"/>
              <a:t>在汇编码和机器码中寄存器位置是不一样的</a:t>
            </a:r>
          </a:p>
        </p:txBody>
      </p:sp>
    </p:spTree>
    <p:extLst>
      <p:ext uri="{BB962C8B-B14F-4D97-AF65-F5344CB8AC3E}">
        <p14:creationId xmlns:p14="http://schemas.microsoft.com/office/powerpoint/2010/main" val="2431469448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0389" name="Object 5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53678252"/>
              </p:ext>
            </p:extLst>
          </p:nvPr>
        </p:nvGraphicFramePr>
        <p:xfrm>
          <a:off x="1066800" y="2971800"/>
          <a:ext cx="7620000" cy="188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38" name="VISIO" r:id="rId6" imgW="2089800" imgH="517680" progId="Visio.Drawing.6">
                  <p:embed/>
                </p:oleObj>
              </mc:Choice>
              <mc:Fallback>
                <p:oleObj name="VISIO" r:id="rId6" imgW="2089800" imgH="5176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971800"/>
                        <a:ext cx="7620000" cy="1889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0390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i="1" dirty="0">
                <a:latin typeface="Times New Roman" pitchFamily="18" charset="0"/>
                <a:cs typeface="Arial" charset="0"/>
              </a:rPr>
              <a:t>Jump-type</a:t>
            </a: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26-bit address operand (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addr</a:t>
            </a:r>
            <a:r>
              <a:rPr lang="en-US" sz="3200" dirty="0">
                <a:latin typeface="Times New Roman" pitchFamily="18" charset="0"/>
                <a:cs typeface="Arial" charset="0"/>
              </a:rPr>
              <a:t>)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Used for jump instructions (</a:t>
            </a:r>
            <a:r>
              <a:rPr lang="en-US" sz="3200" dirty="0">
                <a:latin typeface="Courier New" pitchFamily="49" charset="0"/>
                <a:cs typeface="Arial" charset="0"/>
              </a:rPr>
              <a:t>j</a:t>
            </a:r>
            <a:r>
              <a:rPr lang="en-US" sz="3200" dirty="0">
                <a:latin typeface="Times New Roman" pitchFamily="18" charset="0"/>
                <a:cs typeface="Arial" charset="0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Machine Language: J-Type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8A3BD5E4-1F6D-4BFB-9A7C-6CD68C783111}"/>
              </a:ext>
            </a:extLst>
          </p:cNvPr>
          <p:cNvSpPr txBox="1"/>
          <p:nvPr/>
        </p:nvSpPr>
        <p:spPr>
          <a:xfrm>
            <a:off x="3276600" y="1387475"/>
            <a:ext cx="118782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跳转类型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502E99CD-2A9B-4BB4-8CD1-2F50D4665B4A}"/>
              </a:ext>
            </a:extLst>
          </p:cNvPr>
          <p:cNvSpPr txBox="1"/>
          <p:nvPr/>
        </p:nvSpPr>
        <p:spPr>
          <a:xfrm>
            <a:off x="6629400" y="1695252"/>
            <a:ext cx="175260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26</a:t>
            </a:r>
            <a:r>
              <a:rPr lang="zh-CN" altLang="en-US" sz="1400" b="1" dirty="0"/>
              <a:t>位地址操作对象（</a:t>
            </a:r>
            <a:r>
              <a:rPr lang="en-US" altLang="zh-CN" sz="1400" b="1" dirty="0" err="1"/>
              <a:t>addr</a:t>
            </a:r>
            <a:r>
              <a:rPr lang="zh-CN" altLang="en-US" sz="1400" b="1" dirty="0"/>
              <a:t>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13657141-6D87-43D4-90E2-F11B5436C3CC}"/>
              </a:ext>
            </a:extLst>
          </p:cNvPr>
          <p:cNvSpPr txBox="1"/>
          <p:nvPr/>
        </p:nvSpPr>
        <p:spPr>
          <a:xfrm>
            <a:off x="6598024" y="2448580"/>
            <a:ext cx="17526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用于跳转指令</a:t>
            </a:r>
          </a:p>
        </p:txBody>
      </p:sp>
    </p:spTree>
    <p:extLst>
      <p:ext uri="{BB962C8B-B14F-4D97-AF65-F5344CB8AC3E}">
        <p14:creationId xmlns:p14="http://schemas.microsoft.com/office/powerpoint/2010/main" val="3893363042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9235" name="Object 3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26619438"/>
              </p:ext>
            </p:extLst>
          </p:nvPr>
        </p:nvGraphicFramePr>
        <p:xfrm>
          <a:off x="1600200" y="1219200"/>
          <a:ext cx="6096000" cy="150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28" name="VISIO" r:id="rId8" imgW="2089800" imgH="539640" progId="Visio.Drawing.6">
                  <p:embed/>
                </p:oleObj>
              </mc:Choice>
              <mc:Fallback>
                <p:oleObj name="VISIO" r:id="rId8" imgW="2089800" imgH="5396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219200"/>
                        <a:ext cx="6096000" cy="150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9236" name="Object 4"/>
          <p:cNvGraphicFramePr>
            <a:graphicFrameLocks noGrp="1" noChangeAspect="1"/>
          </p:cNvGraphicFramePr>
          <p:nvPr>
            <p:ph sz="quarter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866669976"/>
              </p:ext>
            </p:extLst>
          </p:nvPr>
        </p:nvGraphicFramePr>
        <p:xfrm>
          <a:off x="1600200" y="2819400"/>
          <a:ext cx="6172200" cy="143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29" name="VISIO" r:id="rId10" imgW="2089800" imgH="510120" progId="Visio.Drawing.6">
                  <p:embed/>
                </p:oleObj>
              </mc:Choice>
              <mc:Fallback>
                <p:oleObj name="VISIO" r:id="rId10" imgW="2089800" imgH="5101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819400"/>
                        <a:ext cx="6172200" cy="143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9239" name="Object 7"/>
          <p:cNvGraphicFramePr>
            <a:graphicFrameLocks noGrp="1" noChangeAspect="1"/>
          </p:cNvGraphicFramePr>
          <p:nvPr>
            <p:ph sz="quarter" idx="4294967295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397376515"/>
              </p:ext>
            </p:extLst>
          </p:nvPr>
        </p:nvGraphicFramePr>
        <p:xfrm>
          <a:off x="1600200" y="4408488"/>
          <a:ext cx="6172200" cy="152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30" name="VISIO" r:id="rId12" imgW="2089800" imgH="517680" progId="Visio.Drawing.6">
                  <p:embed/>
                </p:oleObj>
              </mc:Choice>
              <mc:Fallback>
                <p:oleObj name="VISIO" r:id="rId12" imgW="2089800" imgH="5176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408488"/>
                        <a:ext cx="6172200" cy="152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9238" name="Rectangle 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479925" y="3170238"/>
            <a:ext cx="184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Review: Instruction Formats</a:t>
            </a:r>
          </a:p>
        </p:txBody>
      </p:sp>
    </p:spTree>
    <p:extLst>
      <p:ext uri="{BB962C8B-B14F-4D97-AF65-F5344CB8AC3E}">
        <p14:creationId xmlns:p14="http://schemas.microsoft.com/office/powerpoint/2010/main" val="1427290328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414" name="Rectangle 6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1219200"/>
            <a:ext cx="8153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32-bit instructions &amp; data stored in memory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Sequence of instructions: only difference between two applications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To run a new program: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No rewiring required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Simply store new program in memory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Program Execution: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Processor </a:t>
            </a:r>
            <a:r>
              <a:rPr lang="en-US" sz="2600" i="1" dirty="0">
                <a:latin typeface="Times New Roman" pitchFamily="18" charset="0"/>
                <a:cs typeface="Arial" charset="0"/>
              </a:rPr>
              <a:t>fetches</a:t>
            </a:r>
            <a:r>
              <a:rPr lang="en-US" sz="2600" dirty="0">
                <a:latin typeface="Times New Roman" pitchFamily="18" charset="0"/>
                <a:cs typeface="Arial" charset="0"/>
              </a:rPr>
              <a:t> (reads) instructions from memory in sequence 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Processor performs the specified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Power of the Stored Program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1535FE38-33BE-404D-A158-C22356EBEF88}"/>
              </a:ext>
            </a:extLst>
          </p:cNvPr>
          <p:cNvSpPr txBox="1"/>
          <p:nvPr/>
        </p:nvSpPr>
        <p:spPr>
          <a:xfrm>
            <a:off x="1689847" y="774719"/>
            <a:ext cx="196775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程序存储能力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E1BB636F-7DE9-4ABF-ACF0-956F9D83C4F6}"/>
              </a:ext>
            </a:extLst>
          </p:cNvPr>
          <p:cNvSpPr txBox="1"/>
          <p:nvPr/>
        </p:nvSpPr>
        <p:spPr>
          <a:xfrm>
            <a:off x="2247900" y="1600200"/>
            <a:ext cx="46482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32</a:t>
            </a:r>
            <a:r>
              <a:rPr lang="zh-CN" altLang="en-US" sz="1400" b="1" dirty="0"/>
              <a:t>位指令</a:t>
            </a:r>
            <a:r>
              <a:rPr lang="en-US" altLang="zh-CN" sz="1400" b="1" dirty="0"/>
              <a:t>&amp;</a:t>
            </a:r>
            <a:r>
              <a:rPr lang="zh-CN" altLang="en-US" sz="1400" b="1" dirty="0"/>
              <a:t>数据存入内存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E073CDA9-3D8A-437F-BD63-1EAB89D42022}"/>
              </a:ext>
            </a:extLst>
          </p:cNvPr>
          <p:cNvSpPr txBox="1"/>
          <p:nvPr/>
        </p:nvSpPr>
        <p:spPr>
          <a:xfrm>
            <a:off x="5715000" y="2288977"/>
            <a:ext cx="32004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指令序列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AA976644-F6A6-40B6-B980-3BC45423DB51}"/>
              </a:ext>
            </a:extLst>
          </p:cNvPr>
          <p:cNvSpPr txBox="1"/>
          <p:nvPr/>
        </p:nvSpPr>
        <p:spPr>
          <a:xfrm>
            <a:off x="5257800" y="2853787"/>
            <a:ext cx="16383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运行一个新程序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95066211-FAEC-4E4E-9137-46DE1236E1FE}"/>
              </a:ext>
            </a:extLst>
          </p:cNvPr>
          <p:cNvSpPr txBox="1"/>
          <p:nvPr/>
        </p:nvSpPr>
        <p:spPr>
          <a:xfrm>
            <a:off x="4800600" y="3298268"/>
            <a:ext cx="32004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不需要重新布线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D420E5B2-F7A6-44BD-9787-7DCAD60D23D3}"/>
              </a:ext>
            </a:extLst>
          </p:cNvPr>
          <p:cNvSpPr txBox="1"/>
          <p:nvPr/>
        </p:nvSpPr>
        <p:spPr>
          <a:xfrm>
            <a:off x="6896099" y="3777170"/>
            <a:ext cx="203274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简单地在内存中存储新程序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EE260A5D-D8AF-40D1-9B92-0B7C8C2AA6C6}"/>
              </a:ext>
            </a:extLst>
          </p:cNvPr>
          <p:cNvSpPr txBox="1"/>
          <p:nvPr/>
        </p:nvSpPr>
        <p:spPr>
          <a:xfrm>
            <a:off x="4800600" y="4267996"/>
            <a:ext cx="16383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程序执行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143F8937-42C4-4FE9-B918-342F97C7A354}"/>
              </a:ext>
            </a:extLst>
          </p:cNvPr>
          <p:cNvSpPr txBox="1"/>
          <p:nvPr/>
        </p:nvSpPr>
        <p:spPr>
          <a:xfrm>
            <a:off x="3657600" y="5083835"/>
            <a:ext cx="3733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处理器按顺序从内存中获取（读取）指令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="" xmlns:a16="http://schemas.microsoft.com/office/drawing/2014/main" id="{E4E9C1D1-BEDA-4C28-913E-FABCF8E68CCC}"/>
              </a:ext>
            </a:extLst>
          </p:cNvPr>
          <p:cNvSpPr txBox="1"/>
          <p:nvPr/>
        </p:nvSpPr>
        <p:spPr>
          <a:xfrm>
            <a:off x="3048000" y="5877211"/>
            <a:ext cx="3733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处理器执行指定的操作</a:t>
            </a:r>
          </a:p>
        </p:txBody>
      </p:sp>
    </p:spTree>
    <p:extLst>
      <p:ext uri="{BB962C8B-B14F-4D97-AF65-F5344CB8AC3E}">
        <p14:creationId xmlns:p14="http://schemas.microsoft.com/office/powerpoint/2010/main" val="607255760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2245" name="Object 5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21969362"/>
              </p:ext>
            </p:extLst>
          </p:nvPr>
        </p:nvGraphicFramePr>
        <p:xfrm>
          <a:off x="1600200" y="1066800"/>
          <a:ext cx="4516437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86" name="VISIO" r:id="rId8" imgW="2286000" imgH="2776680" progId="Visio.Drawing.6">
                  <p:embed/>
                </p:oleObj>
              </mc:Choice>
              <mc:Fallback>
                <p:oleObj name="VISIO" r:id="rId8" imgW="2286000" imgH="27766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066800"/>
                        <a:ext cx="4516437" cy="548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2242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62244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The Stored Program</a:t>
            </a:r>
          </a:p>
        </p:txBody>
      </p:sp>
      <p:sp>
        <p:nvSpPr>
          <p:cNvPr id="9" name="Rectangle 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172200" y="3352800"/>
            <a:ext cx="28956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600" b="1" dirty="0">
                <a:latin typeface="Times New Roman" pitchFamily="18" charset="0"/>
                <a:cs typeface="Arial" charset="0"/>
              </a:rPr>
              <a:t>Program Counter (PC):</a:t>
            </a:r>
            <a:r>
              <a:rPr lang="en-US" sz="2600" dirty="0">
                <a:latin typeface="Times New Roman" pitchFamily="18" charset="0"/>
                <a:cs typeface="Arial" charset="0"/>
              </a:rPr>
              <a:t> keeps track of current instruction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FBF84803-5941-402A-9D15-9688EB993187}"/>
              </a:ext>
            </a:extLst>
          </p:cNvPr>
          <p:cNvSpPr txBox="1"/>
          <p:nvPr/>
        </p:nvSpPr>
        <p:spPr>
          <a:xfrm>
            <a:off x="4343400" y="2971800"/>
            <a:ext cx="16383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存储程序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455937B4-4A7F-41C1-A0B3-B5AC8ACE7473}"/>
              </a:ext>
            </a:extLst>
          </p:cNvPr>
          <p:cNvSpPr txBox="1"/>
          <p:nvPr/>
        </p:nvSpPr>
        <p:spPr>
          <a:xfrm>
            <a:off x="6215902" y="4572000"/>
            <a:ext cx="269949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计数器（</a:t>
            </a:r>
            <a:r>
              <a:rPr lang="en-US" altLang="zh-CN" sz="1400" b="1" dirty="0"/>
              <a:t>PC</a:t>
            </a:r>
            <a:r>
              <a:rPr lang="zh-CN" altLang="en-US" sz="1400" b="1" dirty="0"/>
              <a:t>）：跟踪当前的指令</a:t>
            </a:r>
          </a:p>
        </p:txBody>
      </p:sp>
    </p:spTree>
    <p:extLst>
      <p:ext uri="{BB962C8B-B14F-4D97-AF65-F5344CB8AC3E}">
        <p14:creationId xmlns:p14="http://schemas.microsoft.com/office/powerpoint/2010/main" val="1713472170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404" name="Object 4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05971324"/>
              </p:ext>
            </p:extLst>
          </p:nvPr>
        </p:nvGraphicFramePr>
        <p:xfrm>
          <a:off x="762000" y="4082455"/>
          <a:ext cx="8305800" cy="1708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10" name="VISIO" r:id="rId6" imgW="4672080" imgH="962280" progId="Visio.Drawing.6">
                  <p:embed/>
                </p:oleObj>
              </mc:Choice>
              <mc:Fallback>
                <p:oleObj name="VISIO" r:id="rId6" imgW="4672080" imgH="9622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082455"/>
                        <a:ext cx="8305800" cy="17087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403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1430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Start with </a:t>
            </a:r>
            <a:r>
              <a:rPr lang="en-US" sz="3200" dirty="0" err="1">
                <a:latin typeface="Times New Roman" pitchFamily="18" charset="0"/>
                <a:cs typeface="Arial" charset="0"/>
              </a:rPr>
              <a:t>opcode</a:t>
            </a:r>
            <a:r>
              <a:rPr lang="en-US" sz="3200" dirty="0">
                <a:latin typeface="Times New Roman" pitchFamily="18" charset="0"/>
                <a:cs typeface="Arial" charset="0"/>
              </a:rPr>
              <a:t>: tells how to parse rest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If </a:t>
            </a:r>
            <a:r>
              <a:rPr lang="en-US" sz="3200" dirty="0" err="1">
                <a:latin typeface="Times New Roman" pitchFamily="18" charset="0"/>
                <a:cs typeface="Arial" charset="0"/>
              </a:rPr>
              <a:t>opcode</a:t>
            </a:r>
            <a:r>
              <a:rPr lang="en-US" sz="3200" dirty="0">
                <a:latin typeface="Times New Roman" pitchFamily="18" charset="0"/>
                <a:cs typeface="Arial" charset="0"/>
              </a:rPr>
              <a:t> all 0’s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R-type instruction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Function bits tell operation 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Otherwise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 err="1">
                <a:latin typeface="Times New Roman" pitchFamily="18" charset="0"/>
                <a:cs typeface="Arial" charset="0"/>
              </a:rPr>
              <a:t>opcode</a:t>
            </a:r>
            <a:r>
              <a:rPr lang="en-US" sz="2600" dirty="0">
                <a:latin typeface="Times New Roman" pitchFamily="18" charset="0"/>
                <a:cs typeface="Arial" charset="0"/>
              </a:rPr>
              <a:t> tells operation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Interpreting Machine Code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60909F81-68F0-43B3-BE10-B99F80C085FA}"/>
              </a:ext>
            </a:extLst>
          </p:cNvPr>
          <p:cNvSpPr txBox="1"/>
          <p:nvPr/>
        </p:nvSpPr>
        <p:spPr>
          <a:xfrm>
            <a:off x="4648200" y="1676400"/>
            <a:ext cx="4114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从操作码开始：告知如何解释剩余部分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08814E38-D4C7-4910-8521-3EAEEB7D9B2B}"/>
              </a:ext>
            </a:extLst>
          </p:cNvPr>
          <p:cNvSpPr txBox="1"/>
          <p:nvPr/>
        </p:nvSpPr>
        <p:spPr>
          <a:xfrm>
            <a:off x="1689847" y="774719"/>
            <a:ext cx="196775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 smtClean="0"/>
              <a:t>解释机器码</a:t>
            </a:r>
            <a:endParaRPr lang="zh-CN" altLang="en-US" sz="1400" b="1" dirty="0"/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E7706B07-6A79-4D7C-B9D1-B70C6DE7F9D0}"/>
              </a:ext>
            </a:extLst>
          </p:cNvPr>
          <p:cNvSpPr txBox="1"/>
          <p:nvPr/>
        </p:nvSpPr>
        <p:spPr>
          <a:xfrm>
            <a:off x="4621306" y="2044681"/>
            <a:ext cx="411480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如果操作码全是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：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——</a:t>
            </a:r>
            <a:r>
              <a:rPr lang="zh-CN" altLang="en-US" sz="1400" b="1" dirty="0"/>
              <a:t>这是</a:t>
            </a:r>
            <a:r>
              <a:rPr lang="en-US" altLang="zh-CN" sz="1400" b="1" dirty="0"/>
              <a:t>R</a:t>
            </a:r>
            <a:r>
              <a:rPr lang="zh-CN" altLang="en-US" sz="1400" b="1" dirty="0"/>
              <a:t>型指令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——Function</a:t>
            </a:r>
            <a:r>
              <a:rPr lang="zh-CN" altLang="en-US" sz="1400" b="1" dirty="0" smtClean="0"/>
              <a:t>位表明操作</a:t>
            </a:r>
            <a:r>
              <a:rPr lang="zh-CN" altLang="en-US" sz="1400" b="1" dirty="0"/>
              <a:t>方式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FA7C3EBD-F4BE-4DD8-A3C3-B99CA24FC6ED}"/>
              </a:ext>
            </a:extLst>
          </p:cNvPr>
          <p:cNvSpPr txBox="1"/>
          <p:nvPr/>
        </p:nvSpPr>
        <p:spPr>
          <a:xfrm>
            <a:off x="3213847" y="3194221"/>
            <a:ext cx="88750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否则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3229F10D-6BB3-4E5B-850B-D2D37C83F259}"/>
              </a:ext>
            </a:extLst>
          </p:cNvPr>
          <p:cNvSpPr txBox="1"/>
          <p:nvPr/>
        </p:nvSpPr>
        <p:spPr>
          <a:xfrm>
            <a:off x="4914900" y="3685026"/>
            <a:ext cx="22479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操作码告知操作方式</a:t>
            </a:r>
          </a:p>
        </p:txBody>
      </p:sp>
    </p:spTree>
    <p:extLst>
      <p:ext uri="{BB962C8B-B14F-4D97-AF65-F5344CB8AC3E}">
        <p14:creationId xmlns:p14="http://schemas.microsoft.com/office/powerpoint/2010/main" val="4196091317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283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11430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High-level languages: 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e.g., C, Java, Python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Written at higher level of abstraction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Common high-level software constructs: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if/else statements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for loops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while loops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arrays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function calls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Programming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25F37E6F-4A25-4223-BA2B-1B5E27673B26}"/>
              </a:ext>
            </a:extLst>
          </p:cNvPr>
          <p:cNvSpPr txBox="1"/>
          <p:nvPr/>
        </p:nvSpPr>
        <p:spPr>
          <a:xfrm>
            <a:off x="1689847" y="774719"/>
            <a:ext cx="151055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程序设计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CAB0C38E-6F00-4B0B-BD37-010DDA6ED653}"/>
              </a:ext>
            </a:extLst>
          </p:cNvPr>
          <p:cNvSpPr txBox="1"/>
          <p:nvPr/>
        </p:nvSpPr>
        <p:spPr>
          <a:xfrm>
            <a:off x="5181601" y="1295400"/>
            <a:ext cx="17526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高级语言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091284E6-4C56-4163-9C53-8AB1EE58A024}"/>
              </a:ext>
            </a:extLst>
          </p:cNvPr>
          <p:cNvSpPr txBox="1"/>
          <p:nvPr/>
        </p:nvSpPr>
        <p:spPr>
          <a:xfrm>
            <a:off x="6925236" y="2133600"/>
            <a:ext cx="175260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在更加高层次抽象编写的语言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7B73A28D-89A1-41E1-B3E7-C202933144D1}"/>
              </a:ext>
            </a:extLst>
          </p:cNvPr>
          <p:cNvSpPr txBox="1"/>
          <p:nvPr/>
        </p:nvSpPr>
        <p:spPr>
          <a:xfrm>
            <a:off x="5791200" y="3034545"/>
            <a:ext cx="2209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通用高级语言软件结构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134C0FB2-33C8-422A-B56A-8805BD27E99C}"/>
              </a:ext>
            </a:extLst>
          </p:cNvPr>
          <p:cNvSpPr txBox="1"/>
          <p:nvPr/>
        </p:nvSpPr>
        <p:spPr>
          <a:xfrm>
            <a:off x="3962400" y="3637429"/>
            <a:ext cx="1371600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if/else </a:t>
            </a:r>
            <a:r>
              <a:rPr lang="zh-CN" altLang="en-US" sz="1400" b="1" dirty="0"/>
              <a:t>语句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for </a:t>
            </a:r>
            <a:r>
              <a:rPr lang="zh-CN" altLang="en-US" sz="1400" b="1" dirty="0"/>
              <a:t>循环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while </a:t>
            </a:r>
            <a:r>
              <a:rPr lang="zh-CN" altLang="en-US" sz="1400" b="1" dirty="0"/>
              <a:t>循环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数组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函数调用</a:t>
            </a:r>
            <a:endParaRPr lang="en-US" altLang="zh-CN" sz="1400" b="1" dirty="0"/>
          </a:p>
          <a:p>
            <a:pPr algn="ctr"/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686355064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03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1600200"/>
            <a:ext cx="44958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Times New Roman" pitchFamily="18" charset="0"/>
                <a:cs typeface="Arial" charset="0"/>
              </a:rPr>
              <a:t>Wrote the first computer program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Times New Roman" pitchFamily="18" charset="0"/>
                <a:cs typeface="Arial" charset="0"/>
              </a:rPr>
              <a:t>Her program calculated the Bernoulli numbers on Charles Babbage’s Analytical Engine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Times New Roman" pitchFamily="18" charset="0"/>
                <a:cs typeface="Arial" charset="0"/>
              </a:rPr>
              <a:t>She was the only legitimate child of the poet Lord Byron</a:t>
            </a:r>
          </a:p>
        </p:txBody>
      </p:sp>
      <p:pic>
        <p:nvPicPr>
          <p:cNvPr id="1177604" name="Picture 4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600200"/>
            <a:ext cx="2808288" cy="3929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Ada Lovelace, 1815-1852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0D1B7601-86D6-4AF7-A619-A4E3B7DEF39A}"/>
              </a:ext>
            </a:extLst>
          </p:cNvPr>
          <p:cNvSpPr txBox="1"/>
          <p:nvPr/>
        </p:nvSpPr>
        <p:spPr>
          <a:xfrm>
            <a:off x="1689847" y="774719"/>
            <a:ext cx="135815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阿达</a:t>
            </a:r>
            <a:r>
              <a:rPr lang="en-US" altLang="zh-CN" sz="1400" b="1" dirty="0"/>
              <a:t>·</a:t>
            </a:r>
            <a:r>
              <a:rPr lang="zh-CN" altLang="en-US" sz="1400" b="1" dirty="0"/>
              <a:t>洛芙莱斯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A0D324D9-54A0-4932-9C10-AD50B98EBE6B}"/>
              </a:ext>
            </a:extLst>
          </p:cNvPr>
          <p:cNvSpPr txBox="1"/>
          <p:nvPr/>
        </p:nvSpPr>
        <p:spPr>
          <a:xfrm>
            <a:off x="2743200" y="2057400"/>
            <a:ext cx="2209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编写了第一个计算机程序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1DAA10B4-D0E9-479A-91FB-D446EB592518}"/>
              </a:ext>
            </a:extLst>
          </p:cNvPr>
          <p:cNvSpPr txBox="1"/>
          <p:nvPr/>
        </p:nvSpPr>
        <p:spPr>
          <a:xfrm>
            <a:off x="4085665" y="3564731"/>
            <a:ext cx="220980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她的程序计算查尔斯</a:t>
            </a:r>
            <a:r>
              <a:rPr lang="en-US" altLang="zh-CN" sz="1400" b="1" dirty="0"/>
              <a:t>·</a:t>
            </a:r>
            <a:r>
              <a:rPr lang="zh-CN" altLang="en-US" sz="1400" b="1" dirty="0"/>
              <a:t>巴贝奇分析机上的伯努利数。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BC05B5AD-3549-4B54-B23D-E433306D6FCE}"/>
              </a:ext>
            </a:extLst>
          </p:cNvPr>
          <p:cNvSpPr txBox="1"/>
          <p:nvPr/>
        </p:nvSpPr>
        <p:spPr>
          <a:xfrm>
            <a:off x="2743200" y="5287505"/>
            <a:ext cx="220980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她是诗人拜伦勋爵唯一合法的后代。</a:t>
            </a:r>
          </a:p>
        </p:txBody>
      </p:sp>
    </p:spTree>
    <p:extLst>
      <p:ext uri="{BB962C8B-B14F-4D97-AF65-F5344CB8AC3E}">
        <p14:creationId xmlns:p14="http://schemas.microsoft.com/office/powerpoint/2010/main" val="2089259061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308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479925" y="3170238"/>
            <a:ext cx="184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122311" name="Rectangle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1430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000" b="1" dirty="0">
                <a:latin typeface="Courier New" pitchFamily="49" charset="0"/>
                <a:cs typeface="Arial" charset="0"/>
              </a:rPr>
              <a:t>and</a:t>
            </a:r>
            <a:r>
              <a:rPr lang="en-US" sz="3000" b="1" dirty="0">
                <a:latin typeface="Times New Roman" pitchFamily="18" charset="0"/>
                <a:cs typeface="Arial" charset="0"/>
              </a:rPr>
              <a:t>, </a:t>
            </a:r>
            <a:r>
              <a:rPr lang="en-US" sz="3000" b="1" dirty="0">
                <a:latin typeface="Courier New" pitchFamily="49" charset="0"/>
                <a:cs typeface="Arial" charset="0"/>
              </a:rPr>
              <a:t>or</a:t>
            </a:r>
            <a:r>
              <a:rPr lang="en-US" sz="3000" b="1" dirty="0">
                <a:latin typeface="Times New Roman" pitchFamily="18" charset="0"/>
                <a:cs typeface="Arial" charset="0"/>
              </a:rPr>
              <a:t>, </a:t>
            </a:r>
            <a:r>
              <a:rPr lang="en-US" sz="3000" b="1" dirty="0" err="1">
                <a:latin typeface="Courier New" pitchFamily="49" charset="0"/>
                <a:cs typeface="Arial" charset="0"/>
              </a:rPr>
              <a:t>xor</a:t>
            </a:r>
            <a:r>
              <a:rPr lang="en-US" sz="3000" b="1" dirty="0">
                <a:latin typeface="Times New Roman" pitchFamily="18" charset="0"/>
                <a:cs typeface="Arial" charset="0"/>
              </a:rPr>
              <a:t>, </a:t>
            </a:r>
            <a:r>
              <a:rPr lang="en-US" sz="3000" b="1" dirty="0">
                <a:latin typeface="Courier New" pitchFamily="49" charset="0"/>
                <a:cs typeface="Arial" charset="0"/>
              </a:rPr>
              <a:t>nor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200" dirty="0">
                <a:latin typeface="Courier New" pitchFamily="49" charset="0"/>
                <a:cs typeface="Arial" charset="0"/>
              </a:rPr>
              <a:t>and</a:t>
            </a:r>
            <a:r>
              <a:rPr lang="en-US" sz="2200" dirty="0">
                <a:latin typeface="Times New Roman" pitchFamily="18" charset="0"/>
                <a:cs typeface="Arial" charset="0"/>
              </a:rPr>
              <a:t>: useful for </a:t>
            </a:r>
            <a:r>
              <a:rPr lang="en-US" sz="2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masking</a:t>
            </a:r>
            <a:r>
              <a:rPr lang="en-US" sz="2200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 </a:t>
            </a:r>
            <a:r>
              <a:rPr lang="en-US" sz="2200" dirty="0">
                <a:latin typeface="Times New Roman" pitchFamily="18" charset="0"/>
                <a:cs typeface="Arial" charset="0"/>
              </a:rPr>
              <a:t>bits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200" dirty="0">
                <a:latin typeface="Times New Roman" pitchFamily="18" charset="0"/>
                <a:cs typeface="Arial" charset="0"/>
              </a:rPr>
              <a:t>Masking  all but the least significant byte of a value: 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</a:pPr>
            <a:r>
              <a:rPr lang="en-US" sz="2200" dirty="0">
                <a:latin typeface="Times New Roman" pitchFamily="18" charset="0"/>
                <a:cs typeface="Arial" charset="0"/>
              </a:rPr>
              <a:t>		0xF234012F AND 0x000000FF = 0x0000002F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200" dirty="0">
                <a:latin typeface="Courier New" pitchFamily="49" charset="0"/>
                <a:cs typeface="Arial" charset="0"/>
              </a:rPr>
              <a:t>or:</a:t>
            </a:r>
            <a:r>
              <a:rPr lang="en-US" sz="2200" dirty="0">
                <a:latin typeface="Times New Roman" pitchFamily="18" charset="0"/>
                <a:cs typeface="Arial" charset="0"/>
              </a:rPr>
              <a:t> useful for </a:t>
            </a:r>
            <a:r>
              <a:rPr lang="en-US" sz="2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combining</a:t>
            </a:r>
            <a:r>
              <a:rPr lang="en-US" sz="2200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 </a:t>
            </a:r>
            <a:r>
              <a:rPr lang="en-US" sz="2200" dirty="0">
                <a:latin typeface="Times New Roman" pitchFamily="18" charset="0"/>
                <a:cs typeface="Arial" charset="0"/>
              </a:rPr>
              <a:t>bit fields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200" dirty="0">
                <a:latin typeface="Times New Roman" pitchFamily="18" charset="0"/>
                <a:cs typeface="Arial" charset="0"/>
              </a:rPr>
              <a:t>Combine 0xF2340000 with 0x000012BC: 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</a:pPr>
            <a:r>
              <a:rPr lang="en-US" sz="2200" dirty="0">
                <a:latin typeface="Times New Roman" pitchFamily="18" charset="0"/>
                <a:cs typeface="Arial" charset="0"/>
              </a:rPr>
              <a:t>		0xF2340000 OR 0x000012BC = 0xF23412BC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200" dirty="0">
                <a:latin typeface="Times New Roman" pitchFamily="18" charset="0"/>
                <a:cs typeface="Arial" charset="0"/>
              </a:rPr>
              <a:t> </a:t>
            </a:r>
            <a:r>
              <a:rPr lang="en-US" sz="2200" dirty="0">
                <a:latin typeface="Courier New" pitchFamily="49" charset="0"/>
                <a:cs typeface="Arial" charset="0"/>
              </a:rPr>
              <a:t>nor:</a:t>
            </a:r>
            <a:r>
              <a:rPr lang="en-US" sz="2200" dirty="0">
                <a:latin typeface="Times New Roman" pitchFamily="18" charset="0"/>
                <a:cs typeface="Arial" charset="0"/>
              </a:rPr>
              <a:t> useful for </a:t>
            </a:r>
            <a:r>
              <a:rPr lang="en-US" sz="2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inverting</a:t>
            </a:r>
            <a:r>
              <a:rPr lang="en-US" sz="2200" dirty="0">
                <a:latin typeface="Times New Roman" pitchFamily="18" charset="0"/>
                <a:cs typeface="Arial" charset="0"/>
              </a:rPr>
              <a:t> bits: 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200" dirty="0">
                <a:latin typeface="Times New Roman" pitchFamily="18" charset="0"/>
                <a:cs typeface="Arial" charset="0"/>
              </a:rPr>
              <a:t>A NOR $0 = NOT A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000" b="1" dirty="0" err="1">
                <a:latin typeface="Courier New" pitchFamily="49" charset="0"/>
                <a:cs typeface="Arial" charset="0"/>
              </a:rPr>
              <a:t>andi</a:t>
            </a:r>
            <a:r>
              <a:rPr lang="en-US" sz="3000" b="1" dirty="0">
                <a:latin typeface="Times New Roman" pitchFamily="18" charset="0"/>
                <a:cs typeface="Arial" charset="0"/>
              </a:rPr>
              <a:t>, </a:t>
            </a:r>
            <a:r>
              <a:rPr lang="en-US" sz="3000" b="1" dirty="0" err="1">
                <a:latin typeface="Courier New" pitchFamily="49" charset="0"/>
                <a:cs typeface="Arial" charset="0"/>
              </a:rPr>
              <a:t>ori</a:t>
            </a:r>
            <a:r>
              <a:rPr lang="en-US" sz="3000" b="1" dirty="0">
                <a:latin typeface="Times New Roman" pitchFamily="18" charset="0"/>
                <a:cs typeface="Arial" charset="0"/>
              </a:rPr>
              <a:t>, </a:t>
            </a:r>
            <a:r>
              <a:rPr lang="en-US" sz="3000" b="1" dirty="0" err="1">
                <a:latin typeface="Courier New" pitchFamily="49" charset="0"/>
                <a:cs typeface="Arial" charset="0"/>
              </a:rPr>
              <a:t>xori</a:t>
            </a:r>
            <a:endParaRPr lang="en-US" sz="3000" b="1" dirty="0">
              <a:latin typeface="Times New Roman" pitchFamily="18" charset="0"/>
              <a:cs typeface="Arial" charset="0"/>
            </a:endParaRP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200" dirty="0">
                <a:latin typeface="Times New Roman" pitchFamily="18" charset="0"/>
                <a:cs typeface="Arial" charset="0"/>
              </a:rPr>
              <a:t>16-bit immediate is zero-extended (</a:t>
            </a:r>
            <a:r>
              <a:rPr lang="en-US" sz="2200" i="1" dirty="0">
                <a:latin typeface="Times New Roman" pitchFamily="18" charset="0"/>
                <a:cs typeface="Arial" charset="0"/>
              </a:rPr>
              <a:t>not</a:t>
            </a:r>
            <a:r>
              <a:rPr lang="en-US" sz="2200" dirty="0">
                <a:latin typeface="Times New Roman" pitchFamily="18" charset="0"/>
                <a:cs typeface="Arial" charset="0"/>
              </a:rPr>
              <a:t> sign-extended)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200" dirty="0" err="1">
                <a:latin typeface="Courier New" pitchFamily="49" charset="0"/>
                <a:cs typeface="Arial" charset="0"/>
              </a:rPr>
              <a:t>nori</a:t>
            </a:r>
            <a:r>
              <a:rPr lang="en-US" sz="2200" dirty="0">
                <a:latin typeface="Times New Roman" pitchFamily="18" charset="0"/>
                <a:cs typeface="Arial" charset="0"/>
              </a:rPr>
              <a:t> not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Logical Instructions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CB27898D-ADCF-4FE5-979F-5299C43D5F6A}"/>
              </a:ext>
            </a:extLst>
          </p:cNvPr>
          <p:cNvSpPr txBox="1"/>
          <p:nvPr/>
        </p:nvSpPr>
        <p:spPr>
          <a:xfrm>
            <a:off x="1689847" y="774719"/>
            <a:ext cx="97715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逻辑指令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B7412776-8F87-4F3F-B764-9B4F61A9A399}"/>
              </a:ext>
            </a:extLst>
          </p:cNvPr>
          <p:cNvSpPr txBox="1"/>
          <p:nvPr/>
        </p:nvSpPr>
        <p:spPr>
          <a:xfrm>
            <a:off x="4762500" y="1360394"/>
            <a:ext cx="2209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and</a:t>
            </a:r>
            <a:r>
              <a:rPr lang="zh-CN" altLang="en-US" sz="1400" b="1" dirty="0"/>
              <a:t>：可用于屏蔽位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515D7163-F6C8-41B7-AD4B-253B54B47A40}"/>
              </a:ext>
            </a:extLst>
          </p:cNvPr>
          <p:cNvSpPr txBox="1"/>
          <p:nvPr/>
        </p:nvSpPr>
        <p:spPr>
          <a:xfrm>
            <a:off x="5029200" y="1731676"/>
            <a:ext cx="40386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and</a:t>
            </a:r>
            <a:r>
              <a:rPr lang="zh-CN" altLang="en-US" sz="1400" b="1" dirty="0"/>
              <a:t>：屏蔽除值的最低有效字节位以外的所有字节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AFA55DC9-8697-41A1-991D-9C65089DD794}"/>
              </a:ext>
            </a:extLst>
          </p:cNvPr>
          <p:cNvSpPr txBox="1"/>
          <p:nvPr/>
        </p:nvSpPr>
        <p:spPr>
          <a:xfrm>
            <a:off x="5905500" y="2779040"/>
            <a:ext cx="2209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or</a:t>
            </a:r>
            <a:r>
              <a:rPr lang="zh-CN" altLang="en-US" sz="1400" b="1" dirty="0"/>
              <a:t>：用于结合字段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EE02909A-5C45-4C2B-9382-E701084063FD}"/>
              </a:ext>
            </a:extLst>
          </p:cNvPr>
          <p:cNvSpPr txBox="1"/>
          <p:nvPr/>
        </p:nvSpPr>
        <p:spPr>
          <a:xfrm>
            <a:off x="685800" y="3191161"/>
            <a:ext cx="137160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将</a:t>
            </a:r>
            <a:r>
              <a:rPr lang="en-US" altLang="zh-CN" sz="1400" b="1" dirty="0"/>
              <a:t>0Xf2340000</a:t>
            </a:r>
            <a:r>
              <a:rPr lang="zh-CN" altLang="en-US" sz="1400" b="1" dirty="0"/>
              <a:t>与</a:t>
            </a:r>
            <a:r>
              <a:rPr lang="en-US" altLang="zh-CN" sz="1400" b="1" dirty="0"/>
              <a:t>0x000012bc</a:t>
            </a:r>
            <a:r>
              <a:rPr lang="zh-CN" altLang="en-US" sz="1400" b="1" dirty="0"/>
              <a:t>结合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59CF5605-3B19-4D43-A1A6-6F22605140A5}"/>
              </a:ext>
            </a:extLst>
          </p:cNvPr>
          <p:cNvSpPr txBox="1"/>
          <p:nvPr/>
        </p:nvSpPr>
        <p:spPr>
          <a:xfrm>
            <a:off x="5638800" y="3870356"/>
            <a:ext cx="1828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nor</a:t>
            </a:r>
            <a:r>
              <a:rPr lang="zh-CN" altLang="en-US" sz="1400" b="1" dirty="0"/>
              <a:t>：用于将位翻转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="" xmlns:a16="http://schemas.microsoft.com/office/drawing/2014/main" id="{EDBC1CFC-6496-4186-86CA-AF3F04EDD9C1}"/>
              </a:ext>
            </a:extLst>
          </p:cNvPr>
          <p:cNvSpPr txBox="1"/>
          <p:nvPr/>
        </p:nvSpPr>
        <p:spPr>
          <a:xfrm>
            <a:off x="4762500" y="4675401"/>
            <a:ext cx="31623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16</a:t>
            </a:r>
            <a:r>
              <a:rPr lang="zh-CN" altLang="en-US" sz="1400" b="1" dirty="0"/>
              <a:t>位立即数是零扩展（</a:t>
            </a:r>
            <a:r>
              <a:rPr lang="zh-CN" altLang="en-US" sz="1400" b="1" dirty="0">
                <a:solidFill>
                  <a:srgbClr val="FF0000"/>
                </a:solidFill>
              </a:rPr>
              <a:t>不是</a:t>
            </a:r>
            <a:r>
              <a:rPr lang="zh-CN" altLang="en-US" sz="1400" b="1" dirty="0"/>
              <a:t>符号扩展）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6F622470-F1F0-4051-BCDE-A6938E1081AC}"/>
              </a:ext>
            </a:extLst>
          </p:cNvPr>
          <p:cNvSpPr txBox="1"/>
          <p:nvPr/>
        </p:nvSpPr>
        <p:spPr>
          <a:xfrm>
            <a:off x="4095750" y="5568876"/>
            <a:ext cx="116205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nori</a:t>
            </a:r>
            <a:r>
              <a:rPr lang="zh-CN" altLang="en-US" sz="1400" b="1" dirty="0"/>
              <a:t>不需要</a:t>
            </a:r>
          </a:p>
        </p:txBody>
      </p:sp>
    </p:spTree>
    <p:extLst>
      <p:ext uri="{BB962C8B-B14F-4D97-AF65-F5344CB8AC3E}">
        <p14:creationId xmlns:p14="http://schemas.microsoft.com/office/powerpoint/2010/main" val="1519900879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3337" name="Object 9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84405092"/>
              </p:ext>
            </p:extLst>
          </p:nvPr>
        </p:nvGraphicFramePr>
        <p:xfrm>
          <a:off x="762000" y="1600200"/>
          <a:ext cx="8382000" cy="356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33" name="VISIO" r:id="rId7" imgW="3618360" imgH="1536480" progId="Visio.Drawing.6">
                  <p:embed/>
                </p:oleObj>
              </mc:Choice>
              <mc:Fallback>
                <p:oleObj name="VISIO" r:id="rId7" imgW="3618360" imgH="15364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600200"/>
                        <a:ext cx="8382000" cy="356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3332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23333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479925" y="3170238"/>
            <a:ext cx="184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Logical Instructions Example 1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43000" y="281940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汇编代码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019800" y="1272659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源寄存器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6781800" y="3166591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目的寄存器</a:t>
            </a:r>
            <a:r>
              <a:rPr lang="en-US" altLang="zh-CN" dirty="0" smtClean="0"/>
              <a:t>/</a:t>
            </a:r>
            <a:r>
              <a:rPr lang="zh-CN" altLang="en-US" dirty="0" smtClean="0"/>
              <a:t>结果寄存器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9452143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1509" name="Object 5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43760754"/>
              </p:ext>
            </p:extLst>
          </p:nvPr>
        </p:nvGraphicFramePr>
        <p:xfrm>
          <a:off x="762000" y="1600200"/>
          <a:ext cx="8382000" cy="356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6" name="VISIO" r:id="rId7" imgW="3618360" imgH="1536480" progId="Visio.Drawing.6">
                  <p:embed/>
                </p:oleObj>
              </mc:Choice>
              <mc:Fallback>
                <p:oleObj name="VISIO" r:id="rId7" imgW="3618360" imgH="15364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600200"/>
                        <a:ext cx="8382000" cy="356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1507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1508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479925" y="3170238"/>
            <a:ext cx="184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Logical Instructions Example 1</a:t>
            </a:r>
          </a:p>
        </p:txBody>
      </p:sp>
    </p:spTree>
    <p:extLst>
      <p:ext uri="{BB962C8B-B14F-4D97-AF65-F5344CB8AC3E}">
        <p14:creationId xmlns:p14="http://schemas.microsoft.com/office/powerpoint/2010/main" val="3927102369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0502" name="Object 6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73647595"/>
              </p:ext>
            </p:extLst>
          </p:nvPr>
        </p:nvGraphicFramePr>
        <p:xfrm>
          <a:off x="914400" y="2057400"/>
          <a:ext cx="8153400" cy="296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80" name="VISIO" r:id="rId7" imgW="3757680" imgH="1365120" progId="Visio.Drawing.6">
                  <p:embed/>
                </p:oleObj>
              </mc:Choice>
              <mc:Fallback>
                <p:oleObj name="VISIO" r:id="rId7" imgW="3757680" imgH="13651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057400"/>
                        <a:ext cx="8153400" cy="296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0499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30500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479925" y="3170238"/>
            <a:ext cx="184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Logical Instructions Example 2</a:t>
            </a:r>
          </a:p>
        </p:txBody>
      </p:sp>
    </p:spTree>
    <p:extLst>
      <p:ext uri="{BB962C8B-B14F-4D97-AF65-F5344CB8AC3E}">
        <p14:creationId xmlns:p14="http://schemas.microsoft.com/office/powerpoint/2010/main" val="640737685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3557" name="Object 5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58203386"/>
              </p:ext>
            </p:extLst>
          </p:nvPr>
        </p:nvGraphicFramePr>
        <p:xfrm>
          <a:off x="914400" y="2057400"/>
          <a:ext cx="8153400" cy="296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04" name="VISIO" r:id="rId7" imgW="3757680" imgH="1365120" progId="Visio.Drawing.6">
                  <p:embed/>
                </p:oleObj>
              </mc:Choice>
              <mc:Fallback>
                <p:oleObj name="VISIO" r:id="rId7" imgW="3757680" imgH="13651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057400"/>
                        <a:ext cx="8153400" cy="296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3555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3556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479925" y="3170238"/>
            <a:ext cx="184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Logical Instructions Example 2</a:t>
            </a:r>
          </a:p>
        </p:txBody>
      </p:sp>
    </p:spTree>
    <p:extLst>
      <p:ext uri="{BB962C8B-B14F-4D97-AF65-F5344CB8AC3E}">
        <p14:creationId xmlns:p14="http://schemas.microsoft.com/office/powerpoint/2010/main" val="3370738067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03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4960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479925" y="3170238"/>
            <a:ext cx="184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049608" name="Rectangle 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143000"/>
            <a:ext cx="8534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 err="1">
                <a:latin typeface="Courier New" pitchFamily="49" charset="0"/>
                <a:cs typeface="Arial" charset="0"/>
              </a:rPr>
              <a:t>sll</a:t>
            </a:r>
            <a:r>
              <a:rPr lang="en-US" sz="3200" dirty="0">
                <a:latin typeface="Courier New" pitchFamily="49" charset="0"/>
                <a:cs typeface="Arial" charset="0"/>
              </a:rPr>
              <a:t>: </a:t>
            </a:r>
            <a:r>
              <a:rPr lang="en-US" sz="3200" dirty="0">
                <a:latin typeface="Times New Roman" pitchFamily="18" charset="0"/>
                <a:cs typeface="Arial" charset="0"/>
              </a:rPr>
              <a:t>shift left logical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200" b="1" dirty="0">
                <a:latin typeface="Times New Roman" pitchFamily="18" charset="0"/>
                <a:cs typeface="Arial" charset="0"/>
              </a:rPr>
              <a:t>Example:</a:t>
            </a:r>
            <a:r>
              <a:rPr lang="en-US" sz="2200" dirty="0">
                <a:latin typeface="Times New Roman" pitchFamily="18" charset="0"/>
                <a:cs typeface="Arial" charset="0"/>
              </a:rPr>
              <a:t>  </a:t>
            </a:r>
            <a:r>
              <a:rPr lang="en-US" sz="2200" dirty="0" err="1">
                <a:latin typeface="Courier New" pitchFamily="49" charset="0"/>
                <a:cs typeface="Arial" charset="0"/>
              </a:rPr>
              <a:t>sll</a:t>
            </a:r>
            <a:r>
              <a:rPr lang="en-US" sz="2200" dirty="0">
                <a:latin typeface="Courier New" pitchFamily="49" charset="0"/>
                <a:cs typeface="Arial" charset="0"/>
              </a:rPr>
              <a:t> $t0, $t1, 5  # $t0 &lt;= $t1 &lt;&lt; 5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 err="1">
                <a:latin typeface="Courier New" pitchFamily="49" charset="0"/>
                <a:cs typeface="Arial" charset="0"/>
              </a:rPr>
              <a:t>srl</a:t>
            </a:r>
            <a:r>
              <a:rPr lang="en-US" sz="3200" dirty="0">
                <a:latin typeface="Courier New" pitchFamily="49" charset="0"/>
                <a:cs typeface="Arial" charset="0"/>
              </a:rPr>
              <a:t>: </a:t>
            </a:r>
            <a:r>
              <a:rPr lang="en-US" sz="3200" dirty="0">
                <a:latin typeface="Times New Roman" pitchFamily="18" charset="0"/>
                <a:cs typeface="Arial" charset="0"/>
              </a:rPr>
              <a:t>shift right logical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200" b="1" dirty="0">
                <a:latin typeface="Times New Roman" pitchFamily="18" charset="0"/>
                <a:cs typeface="Arial" charset="0"/>
              </a:rPr>
              <a:t>Example:</a:t>
            </a:r>
            <a:r>
              <a:rPr lang="en-US" sz="2200" dirty="0">
                <a:latin typeface="Times New Roman" pitchFamily="18" charset="0"/>
                <a:cs typeface="Arial" charset="0"/>
              </a:rPr>
              <a:t>  </a:t>
            </a:r>
            <a:r>
              <a:rPr lang="en-US" sz="2200" dirty="0" err="1">
                <a:latin typeface="Courier New" pitchFamily="49" charset="0"/>
                <a:cs typeface="Arial" charset="0"/>
              </a:rPr>
              <a:t>srl</a:t>
            </a:r>
            <a:r>
              <a:rPr lang="en-US" sz="2200" dirty="0">
                <a:latin typeface="Courier New" pitchFamily="49" charset="0"/>
                <a:cs typeface="Arial" charset="0"/>
              </a:rPr>
              <a:t> $t0, $t1, 5  # $t0 &lt;= $t1 &gt;&gt; 5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 err="1">
                <a:latin typeface="Courier New" pitchFamily="49" charset="0"/>
                <a:cs typeface="Arial" charset="0"/>
              </a:rPr>
              <a:t>sra</a:t>
            </a:r>
            <a:r>
              <a:rPr lang="en-US" sz="3200" dirty="0">
                <a:latin typeface="Courier New" pitchFamily="49" charset="0"/>
                <a:cs typeface="Arial" charset="0"/>
              </a:rPr>
              <a:t>: </a:t>
            </a:r>
            <a:r>
              <a:rPr lang="en-US" sz="3200" dirty="0">
                <a:latin typeface="Times New Roman" pitchFamily="18" charset="0"/>
                <a:cs typeface="Arial" charset="0"/>
              </a:rPr>
              <a:t>shift right arithmetic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200" b="1" dirty="0">
                <a:latin typeface="Times New Roman" pitchFamily="18" charset="0"/>
                <a:cs typeface="Arial" charset="0"/>
              </a:rPr>
              <a:t>Example:</a:t>
            </a:r>
            <a:r>
              <a:rPr lang="en-US" sz="2200" dirty="0">
                <a:latin typeface="Times New Roman" pitchFamily="18" charset="0"/>
                <a:cs typeface="Arial" charset="0"/>
              </a:rPr>
              <a:t>  </a:t>
            </a:r>
            <a:r>
              <a:rPr lang="en-US" sz="2200" dirty="0" err="1">
                <a:latin typeface="Courier New" pitchFamily="49" charset="0"/>
                <a:cs typeface="Arial" charset="0"/>
              </a:rPr>
              <a:t>sra</a:t>
            </a:r>
            <a:r>
              <a:rPr lang="en-US" sz="2200" dirty="0">
                <a:latin typeface="Courier New" pitchFamily="49" charset="0"/>
                <a:cs typeface="Arial" charset="0"/>
              </a:rPr>
              <a:t> $t0, $t1, 5  # $t0 &lt;= $t1 &gt;&gt;&gt; 5</a:t>
            </a:r>
            <a:endParaRPr lang="en-US" sz="22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Shift Instructions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730C214A-5119-4BB2-A648-15F213DA516E}"/>
              </a:ext>
            </a:extLst>
          </p:cNvPr>
          <p:cNvSpPr txBox="1"/>
          <p:nvPr/>
        </p:nvSpPr>
        <p:spPr>
          <a:xfrm>
            <a:off x="1689847" y="774719"/>
            <a:ext cx="97715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位移指令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3058B3B3-CA0B-4868-8484-C0B55F7E6475}"/>
              </a:ext>
            </a:extLst>
          </p:cNvPr>
          <p:cNvSpPr txBox="1"/>
          <p:nvPr/>
        </p:nvSpPr>
        <p:spPr>
          <a:xfrm>
            <a:off x="5486400" y="1219200"/>
            <a:ext cx="13716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逻辑左移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8EE9709B-AB00-4322-A652-7A51F2114169}"/>
              </a:ext>
            </a:extLst>
          </p:cNvPr>
          <p:cNvSpPr txBox="1"/>
          <p:nvPr/>
        </p:nvSpPr>
        <p:spPr>
          <a:xfrm>
            <a:off x="5562600" y="2133600"/>
            <a:ext cx="13716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逻辑右移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662DD451-6AE2-4B91-8258-7E78FCF694F7}"/>
              </a:ext>
            </a:extLst>
          </p:cNvPr>
          <p:cNvSpPr txBox="1"/>
          <p:nvPr/>
        </p:nvSpPr>
        <p:spPr>
          <a:xfrm>
            <a:off x="6054631" y="3048000"/>
            <a:ext cx="13716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算术右移</a:t>
            </a:r>
          </a:p>
        </p:txBody>
      </p:sp>
    </p:spTree>
    <p:extLst>
      <p:ext uri="{BB962C8B-B14F-4D97-AF65-F5344CB8AC3E}">
        <p14:creationId xmlns:p14="http://schemas.microsoft.com/office/powerpoint/2010/main" val="3548393273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03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4960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479925" y="3170238"/>
            <a:ext cx="184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049608" name="Rectangle 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1143000"/>
            <a:ext cx="8534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 err="1">
                <a:latin typeface="Courier New" pitchFamily="49" charset="0"/>
                <a:cs typeface="Arial" charset="0"/>
              </a:rPr>
              <a:t>sllv</a:t>
            </a:r>
            <a:r>
              <a:rPr lang="en-US" sz="3200" dirty="0">
                <a:latin typeface="Courier New" pitchFamily="49" charset="0"/>
                <a:cs typeface="Arial" charset="0"/>
              </a:rPr>
              <a:t>: </a:t>
            </a:r>
            <a:r>
              <a:rPr lang="en-US" sz="3200" dirty="0">
                <a:latin typeface="Times New Roman" pitchFamily="18" charset="0"/>
                <a:cs typeface="Arial" charset="0"/>
              </a:rPr>
              <a:t>shift left logical variable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b="1" dirty="0">
                <a:latin typeface="Times New Roman" pitchFamily="18" charset="0"/>
                <a:cs typeface="Arial" charset="0"/>
              </a:rPr>
              <a:t>Example:</a:t>
            </a:r>
            <a:r>
              <a:rPr lang="en-US" sz="2000" dirty="0">
                <a:latin typeface="Times New Roman" pitchFamily="18" charset="0"/>
                <a:cs typeface="Arial" charset="0"/>
              </a:rPr>
              <a:t> 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sllv</a:t>
            </a:r>
            <a:r>
              <a:rPr lang="en-US" sz="2000" dirty="0">
                <a:latin typeface="Courier New" pitchFamily="49" charset="0"/>
                <a:cs typeface="Arial" charset="0"/>
              </a:rPr>
              <a:t> $t0, $t1, $t2 # $t0 &lt;= $t1 &lt;&lt; $t2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 err="1">
                <a:latin typeface="Courier New" pitchFamily="49" charset="0"/>
                <a:cs typeface="Arial" charset="0"/>
              </a:rPr>
              <a:t>srlv</a:t>
            </a:r>
            <a:r>
              <a:rPr lang="en-US" sz="3200" dirty="0">
                <a:latin typeface="Courier New" pitchFamily="49" charset="0"/>
                <a:cs typeface="Arial" charset="0"/>
              </a:rPr>
              <a:t>: </a:t>
            </a:r>
            <a:r>
              <a:rPr lang="en-US" sz="3200" dirty="0">
                <a:latin typeface="Times New Roman" pitchFamily="18" charset="0"/>
                <a:cs typeface="Arial" charset="0"/>
              </a:rPr>
              <a:t>shift right logical variable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b="1" dirty="0">
                <a:latin typeface="Times New Roman" pitchFamily="18" charset="0"/>
                <a:cs typeface="Arial" charset="0"/>
              </a:rPr>
              <a:t>Example:</a:t>
            </a:r>
            <a:r>
              <a:rPr lang="en-US" sz="2000" dirty="0">
                <a:latin typeface="Times New Roman" pitchFamily="18" charset="0"/>
                <a:cs typeface="Arial" charset="0"/>
              </a:rPr>
              <a:t> 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srlv</a:t>
            </a:r>
            <a:r>
              <a:rPr lang="en-US" sz="2000" dirty="0">
                <a:latin typeface="Courier New" pitchFamily="49" charset="0"/>
                <a:cs typeface="Arial" charset="0"/>
              </a:rPr>
              <a:t> $t0, $t1, $t2 # $t0 &lt;= $t1 &gt;&gt; $t2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 err="1">
                <a:latin typeface="Courier New" pitchFamily="49" charset="0"/>
                <a:cs typeface="Arial" charset="0"/>
              </a:rPr>
              <a:t>srav</a:t>
            </a:r>
            <a:r>
              <a:rPr lang="en-US" sz="3200" dirty="0">
                <a:latin typeface="Courier New" pitchFamily="49" charset="0"/>
                <a:cs typeface="Arial" charset="0"/>
              </a:rPr>
              <a:t>: </a:t>
            </a:r>
            <a:r>
              <a:rPr lang="en-US" sz="3200" dirty="0">
                <a:latin typeface="Times New Roman" pitchFamily="18" charset="0"/>
                <a:cs typeface="Arial" charset="0"/>
              </a:rPr>
              <a:t>shift right arithmetic variable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000" b="1" dirty="0">
                <a:latin typeface="Times New Roman" pitchFamily="18" charset="0"/>
                <a:cs typeface="Arial" charset="0"/>
              </a:rPr>
              <a:t>Example</a:t>
            </a:r>
            <a:r>
              <a:rPr lang="en-US" sz="2000" dirty="0">
                <a:latin typeface="Times New Roman" pitchFamily="18" charset="0"/>
                <a:cs typeface="Arial" charset="0"/>
              </a:rPr>
              <a:t>: 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srav</a:t>
            </a:r>
            <a:r>
              <a:rPr lang="en-US" sz="2000" dirty="0">
                <a:latin typeface="Courier New" pitchFamily="49" charset="0"/>
                <a:cs typeface="Arial" charset="0"/>
              </a:rPr>
              <a:t> $t0, $t1, $t2 # $t0 &lt;= $t1 &gt;&gt;&gt; $t2</a:t>
            </a:r>
            <a:endParaRPr lang="en-US" sz="20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Variable Shift Instructions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370A4112-195A-41F5-B5AC-F7FBA3B61D2A}"/>
              </a:ext>
            </a:extLst>
          </p:cNvPr>
          <p:cNvSpPr txBox="1"/>
          <p:nvPr/>
        </p:nvSpPr>
        <p:spPr>
          <a:xfrm>
            <a:off x="1689847" y="774719"/>
            <a:ext cx="1281953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/>
              <a:t>不同的转移指令</a:t>
            </a:r>
            <a:endParaRPr lang="zh-CN" altLang="en-US" sz="1400" b="1" dirty="0"/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6EDDB641-4763-4A9A-BE2D-428AE103CC09}"/>
              </a:ext>
            </a:extLst>
          </p:cNvPr>
          <p:cNvSpPr txBox="1"/>
          <p:nvPr/>
        </p:nvSpPr>
        <p:spPr>
          <a:xfrm>
            <a:off x="6898340" y="1248712"/>
            <a:ext cx="155986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左移逻辑变量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01DAFD2A-6BE0-46EB-A5CE-EB73AFCD57CD}"/>
              </a:ext>
            </a:extLst>
          </p:cNvPr>
          <p:cNvSpPr txBox="1"/>
          <p:nvPr/>
        </p:nvSpPr>
        <p:spPr>
          <a:xfrm>
            <a:off x="7239000" y="2094889"/>
            <a:ext cx="1447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右移逻辑变量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5955CC43-53B5-4DD5-9802-29A540E18E0B}"/>
              </a:ext>
            </a:extLst>
          </p:cNvPr>
          <p:cNvSpPr txBox="1"/>
          <p:nvPr/>
        </p:nvSpPr>
        <p:spPr>
          <a:xfrm>
            <a:off x="7606553" y="2967067"/>
            <a:ext cx="1447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右移算术变量</a:t>
            </a:r>
          </a:p>
        </p:txBody>
      </p:sp>
    </p:spTree>
    <p:extLst>
      <p:ext uri="{BB962C8B-B14F-4D97-AF65-F5344CB8AC3E}">
        <p14:creationId xmlns:p14="http://schemas.microsoft.com/office/powerpoint/2010/main" val="750304161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0627" name="Object 3"/>
          <p:cNvGraphicFramePr>
            <a:graphicFrameLocks noGrp="1" noChangeAspect="1"/>
          </p:cNvGraphicFramePr>
          <p:nvPr>
            <p:ph sz="quarter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21684623"/>
              </p:ext>
            </p:extLst>
          </p:nvPr>
        </p:nvGraphicFramePr>
        <p:xfrm>
          <a:off x="1524000" y="1219200"/>
          <a:ext cx="6553200" cy="243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62" name="VISIO" r:id="rId8" imgW="2400480" imgH="892080" progId="Visio.Drawing.6">
                  <p:embed/>
                </p:oleObj>
              </mc:Choice>
              <mc:Fallback>
                <p:oleObj name="VISIO" r:id="rId8" imgW="2400480" imgH="8920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219200"/>
                        <a:ext cx="6553200" cy="243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0630" name="Object 6"/>
          <p:cNvGraphicFramePr>
            <a:graphicFrameLocks noGrp="1" noChangeAspect="1"/>
          </p:cNvGraphicFramePr>
          <p:nvPr>
            <p:ph sz="quarter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33836229"/>
              </p:ext>
            </p:extLst>
          </p:nvPr>
        </p:nvGraphicFramePr>
        <p:xfrm>
          <a:off x="2133600" y="3786188"/>
          <a:ext cx="6248400" cy="259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63" name="VISIO" r:id="rId10" imgW="2214720" imgH="919800" progId="Visio.Drawing.6">
                  <p:embed/>
                </p:oleObj>
              </mc:Choice>
              <mc:Fallback>
                <p:oleObj name="VISIO" r:id="rId10" imgW="2214720" imgH="9198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786188"/>
                        <a:ext cx="6248400" cy="2592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0628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50629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479925" y="3170238"/>
            <a:ext cx="184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Shift </a:t>
            </a:r>
            <a:r>
              <a:rPr lang="en-US" sz="4400" dirty="0" smtClean="0">
                <a:solidFill>
                  <a:schemeClr val="bg1"/>
                </a:solidFill>
                <a:latin typeface="+mj-lt"/>
              </a:rPr>
              <a:t>Instructions</a:t>
            </a:r>
            <a:r>
              <a:rPr lang="zh-CN" altLang="en-US" sz="4400" dirty="0" smtClean="0">
                <a:solidFill>
                  <a:schemeClr val="bg1"/>
                </a:solidFill>
                <a:latin typeface="+mj-lt"/>
              </a:rPr>
              <a:t>（移位指令）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06288909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314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65316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65317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1219200"/>
            <a:ext cx="8305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16-bit constants using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3200" dirty="0">
                <a:latin typeface="Times New Roman" pitchFamily="18" charset="0"/>
                <a:cs typeface="Arial" charset="0"/>
              </a:rPr>
              <a:t>: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32-bit constants using load upper immediate (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lui</a:t>
            </a:r>
            <a:r>
              <a:rPr lang="en-US" sz="3200" dirty="0">
                <a:latin typeface="Times New Roman" pitchFamily="18" charset="0"/>
                <a:cs typeface="Arial" charset="0"/>
              </a:rPr>
              <a:t>) and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ori</a:t>
            </a:r>
            <a:r>
              <a:rPr lang="en-US" sz="3200" dirty="0">
                <a:latin typeface="Times New Roman" pitchFamily="18" charset="0"/>
                <a:cs typeface="Arial" charset="0"/>
              </a:rPr>
              <a:t>:</a:t>
            </a:r>
          </a:p>
          <a:p>
            <a:pPr marL="457200" indent="-457200">
              <a:lnSpc>
                <a:spcPct val="90000"/>
              </a:lnSpc>
              <a:spcBef>
                <a:spcPct val="20000"/>
              </a:spcBef>
            </a:pPr>
            <a:r>
              <a:rPr lang="en-US" sz="3200" dirty="0">
                <a:latin typeface="Courier New" pitchFamily="49" charset="0"/>
                <a:cs typeface="Arial" charset="0"/>
              </a:rPr>
              <a:t>	</a:t>
            </a:r>
            <a:endParaRPr lang="en-US" sz="32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1165318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066800" y="4572000"/>
            <a:ext cx="36576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a = 0xFEDC8765;</a:t>
            </a:r>
          </a:p>
        </p:txBody>
      </p:sp>
      <p:sp>
        <p:nvSpPr>
          <p:cNvPr id="1165319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638800" y="4572000"/>
            <a:ext cx="39624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# $s0 = a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lui</a:t>
            </a:r>
            <a:r>
              <a:rPr lang="en-US" sz="1800" dirty="0">
                <a:latin typeface="Courier New" pitchFamily="49" charset="0"/>
                <a:cs typeface="Arial" charset="0"/>
              </a:rPr>
              <a:t> $s0, 0xFEDC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ori</a:t>
            </a:r>
            <a:r>
              <a:rPr lang="en-US" sz="1800" dirty="0">
                <a:latin typeface="Courier New" pitchFamily="49" charset="0"/>
                <a:cs typeface="Arial" charset="0"/>
              </a:rPr>
              <a:t> $s0, $s0, 0x8765</a:t>
            </a:r>
          </a:p>
        </p:txBody>
      </p:sp>
      <p:sp>
        <p:nvSpPr>
          <p:cNvPr id="1165320" name="Rectangle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90600" y="1828800"/>
            <a:ext cx="44196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//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is a 32-bit signed word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a = 0x4f3c;</a:t>
            </a:r>
          </a:p>
        </p:txBody>
      </p:sp>
      <p:sp>
        <p:nvSpPr>
          <p:cNvPr id="1165321" name="Rectangle 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562600" y="1828800"/>
            <a:ext cx="39624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# $s0 = a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800" dirty="0">
                <a:latin typeface="Courier New" pitchFamily="49" charset="0"/>
                <a:cs typeface="Arial" charset="0"/>
              </a:rPr>
              <a:t> $s0, $0, 0x4f3c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Generating Constants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B6458533-2630-4007-ADF6-1AF526C31822}"/>
              </a:ext>
            </a:extLst>
          </p:cNvPr>
          <p:cNvSpPr txBox="1"/>
          <p:nvPr/>
        </p:nvSpPr>
        <p:spPr>
          <a:xfrm>
            <a:off x="1689847" y="774719"/>
            <a:ext cx="90095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生成常量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005B7AC0-3E29-47A2-B21C-69D404C8441D}"/>
              </a:ext>
            </a:extLst>
          </p:cNvPr>
          <p:cNvSpPr txBox="1"/>
          <p:nvPr/>
        </p:nvSpPr>
        <p:spPr>
          <a:xfrm>
            <a:off x="6172200" y="1298783"/>
            <a:ext cx="20574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16</a:t>
            </a:r>
            <a:r>
              <a:rPr lang="zh-CN" altLang="en-US" sz="1400" b="1" dirty="0"/>
              <a:t>位常量使用</a:t>
            </a:r>
            <a:r>
              <a:rPr lang="en-US" altLang="zh-CN" sz="1400" b="1" dirty="0" err="1"/>
              <a:t>addi</a:t>
            </a:r>
            <a:endParaRPr lang="zh-CN" altLang="en-US" sz="14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="" xmlns:a16="http://schemas.microsoft.com/office/drawing/2014/main" id="{FE83220F-FD30-406D-9BB0-640E5EBD4769}"/>
              </a:ext>
            </a:extLst>
          </p:cNvPr>
          <p:cNvSpPr txBox="1"/>
          <p:nvPr/>
        </p:nvSpPr>
        <p:spPr>
          <a:xfrm>
            <a:off x="3810000" y="3114136"/>
            <a:ext cx="4495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32</a:t>
            </a:r>
            <a:r>
              <a:rPr lang="zh-CN" altLang="en-US" sz="1400" b="1" dirty="0"/>
              <a:t>位常量使用装入高位立即数（</a:t>
            </a:r>
            <a:r>
              <a:rPr lang="en-US" altLang="zh-CN" sz="1400" b="1" dirty="0" err="1"/>
              <a:t>lui</a:t>
            </a:r>
            <a:r>
              <a:rPr lang="zh-CN" altLang="en-US" sz="1400" b="1" dirty="0"/>
              <a:t>）和</a:t>
            </a:r>
            <a:r>
              <a:rPr lang="en-US" altLang="zh-CN" sz="1400" b="1" dirty="0" err="1"/>
              <a:t>ori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646293880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474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29476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29477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Special registers: </a:t>
            </a:r>
            <a:r>
              <a:rPr lang="en-US" sz="3200" dirty="0">
                <a:latin typeface="Courier New" pitchFamily="49" charset="0"/>
                <a:cs typeface="Arial" charset="0"/>
              </a:rPr>
              <a:t>lo</a:t>
            </a:r>
            <a:r>
              <a:rPr lang="en-US" sz="3200" dirty="0">
                <a:latin typeface="Times New Roman" pitchFamily="18" charset="0"/>
                <a:cs typeface="Arial" charset="0"/>
              </a:rPr>
              <a:t>, </a:t>
            </a:r>
            <a:r>
              <a:rPr lang="en-US" sz="3200" dirty="0">
                <a:latin typeface="Courier New" pitchFamily="49" charset="0"/>
                <a:cs typeface="Arial" charset="0"/>
              </a:rPr>
              <a:t>hi</a:t>
            </a: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32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× 32 multiplication, 64 bit result</a:t>
            </a:r>
          </a:p>
          <a:p>
            <a:pPr marL="838200" lvl="1" indent="-381000" algn="just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 err="1">
                <a:latin typeface="Courier New" pitchFamily="49" charset="0"/>
                <a:cs typeface="Arial" charset="0"/>
              </a:rPr>
              <a:t>mult</a:t>
            </a:r>
            <a:r>
              <a:rPr lang="en-US" sz="2600" dirty="0">
                <a:latin typeface="Courier New" pitchFamily="49" charset="0"/>
                <a:cs typeface="Arial" charset="0"/>
              </a:rPr>
              <a:t> $s0, $s1 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Result in {</a:t>
            </a:r>
            <a:r>
              <a:rPr lang="en-US" sz="2600" dirty="0">
                <a:latin typeface="Courier New" pitchFamily="49" charset="0"/>
                <a:cs typeface="Times New Roman" pitchFamily="18" charset="0"/>
              </a:rPr>
              <a:t>hi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600" dirty="0">
                <a:latin typeface="Courier New" pitchFamily="49" charset="0"/>
                <a:cs typeface="Times New Roman" pitchFamily="18" charset="0"/>
              </a:rPr>
              <a:t>lo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600" dirty="0">
              <a:latin typeface="Courier New" pitchFamily="49" charset="0"/>
              <a:cs typeface="Times New Roman" pitchFamily="18" charset="0"/>
            </a:endParaRPr>
          </a:p>
          <a:p>
            <a:pPr marL="457200" indent="-457200" algn="just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32-bit division, 32-bit quotient, remainder</a:t>
            </a:r>
            <a:endParaRPr lang="en-US" sz="3200" dirty="0">
              <a:latin typeface="Courier New" pitchFamily="49" charset="0"/>
              <a:cs typeface="Arial" charset="0"/>
            </a:endParaRPr>
          </a:p>
          <a:p>
            <a:pPr marL="838200" lvl="1" indent="-381000" algn="just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Courier New" pitchFamily="49" charset="0"/>
                <a:cs typeface="Arial" charset="0"/>
              </a:rPr>
              <a:t>div $s0, $s1 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Quotient in </a:t>
            </a:r>
            <a:r>
              <a:rPr lang="en-US" sz="2600" dirty="0">
                <a:latin typeface="Courier New" pitchFamily="49" charset="0"/>
                <a:cs typeface="Times New Roman" pitchFamily="18" charset="0"/>
              </a:rPr>
              <a:t>lo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Remainder in </a:t>
            </a:r>
            <a:r>
              <a:rPr lang="en-US" sz="2600" dirty="0">
                <a:latin typeface="Courier New" pitchFamily="49" charset="0"/>
                <a:cs typeface="Times New Roman" pitchFamily="18" charset="0"/>
              </a:rPr>
              <a:t>hi</a:t>
            </a:r>
          </a:p>
          <a:p>
            <a:pPr marL="457200" indent="-457200" algn="just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Moves from 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lo</a:t>
            </a:r>
            <a:r>
              <a:rPr lang="en-US" sz="3200" dirty="0">
                <a:latin typeface="Times New Roman" pitchFamily="18" charset="0"/>
                <a:cs typeface="Arial" charset="0"/>
              </a:rPr>
              <a:t>/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hi</a:t>
            </a:r>
            <a:r>
              <a:rPr lang="en-US" sz="3200" dirty="0">
                <a:latin typeface="Times New Roman" pitchFamily="18" charset="0"/>
                <a:cs typeface="Arial" charset="0"/>
              </a:rPr>
              <a:t> special registers</a:t>
            </a:r>
          </a:p>
          <a:p>
            <a:pPr marL="838200" lvl="1" indent="-381000" algn="just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 err="1">
                <a:latin typeface="Courier New" pitchFamily="49" charset="0"/>
                <a:cs typeface="Arial" charset="0"/>
              </a:rPr>
              <a:t>mflo</a:t>
            </a:r>
            <a:r>
              <a:rPr lang="en-US" sz="2600" dirty="0">
                <a:latin typeface="Courier New" pitchFamily="49" charset="0"/>
                <a:cs typeface="Arial" charset="0"/>
              </a:rPr>
              <a:t> $s2</a:t>
            </a:r>
          </a:p>
          <a:p>
            <a:pPr marL="838200" lvl="1" indent="-381000" algn="just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2600" dirty="0" err="1">
                <a:latin typeface="Courier New" pitchFamily="49" charset="0"/>
                <a:cs typeface="Arial" charset="0"/>
              </a:rPr>
              <a:t>mfhi</a:t>
            </a:r>
            <a:r>
              <a:rPr lang="en-US" sz="2600" dirty="0">
                <a:latin typeface="Courier New" pitchFamily="49" charset="0"/>
                <a:cs typeface="Arial" charset="0"/>
              </a:rPr>
              <a:t> $s3</a:t>
            </a:r>
          </a:p>
          <a:p>
            <a:pPr marL="838200" lvl="1" indent="-3810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sz="3200" dirty="0">
              <a:latin typeface="Courier New" pitchFamily="49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Multiplication, Division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AE6CF264-3E19-453F-920A-0E9BB5B709D4}"/>
              </a:ext>
            </a:extLst>
          </p:cNvPr>
          <p:cNvSpPr txBox="1"/>
          <p:nvPr/>
        </p:nvSpPr>
        <p:spPr>
          <a:xfrm>
            <a:off x="1689847" y="774719"/>
            <a:ext cx="120575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乘法，除法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158674D5-8214-4E55-92B1-5E2192BDFD96}"/>
              </a:ext>
            </a:extLst>
          </p:cNvPr>
          <p:cNvSpPr txBox="1"/>
          <p:nvPr/>
        </p:nvSpPr>
        <p:spPr>
          <a:xfrm>
            <a:off x="5600700" y="1295400"/>
            <a:ext cx="20574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特殊寄存器：</a:t>
            </a:r>
            <a:r>
              <a:rPr lang="en-US" altLang="zh-CN" sz="1400" b="1" dirty="0"/>
              <a:t>lo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hi</a:t>
            </a:r>
            <a:endParaRPr lang="zh-CN" altLang="en-US" sz="1400" b="1" dirty="0"/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C5AF9DC1-1B75-4F5C-A44D-40B06373E9F9}"/>
              </a:ext>
            </a:extLst>
          </p:cNvPr>
          <p:cNvSpPr txBox="1"/>
          <p:nvPr/>
        </p:nvSpPr>
        <p:spPr>
          <a:xfrm>
            <a:off x="4576482" y="2362200"/>
            <a:ext cx="258631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32 X 32 </a:t>
            </a:r>
            <a:r>
              <a:rPr lang="zh-CN" altLang="en-US" sz="1400" b="1" dirty="0"/>
              <a:t>乘法运算，</a:t>
            </a:r>
            <a:r>
              <a:rPr lang="en-US" altLang="zh-CN" sz="1400" b="1" dirty="0"/>
              <a:t>64</a:t>
            </a:r>
            <a:r>
              <a:rPr lang="zh-CN" altLang="en-US" sz="1400" b="1" dirty="0"/>
              <a:t>位结果</a:t>
            </a:r>
            <a:endParaRPr lang="en-US" altLang="zh-CN" sz="1400" b="1" dirty="0"/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1B7B4EB6-5AE7-4BC8-9184-363824036012}"/>
              </a:ext>
            </a:extLst>
          </p:cNvPr>
          <p:cNvSpPr txBox="1"/>
          <p:nvPr/>
        </p:nvSpPr>
        <p:spPr>
          <a:xfrm>
            <a:off x="4572000" y="2806681"/>
            <a:ext cx="21336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结果放在</a:t>
            </a:r>
            <a:r>
              <a:rPr lang="en-US" altLang="zh-CN" sz="1400" b="1" dirty="0"/>
              <a:t>{hi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lo}</a:t>
            </a:r>
            <a:r>
              <a:rPr lang="zh-CN" altLang="en-US" sz="1400" b="1" dirty="0"/>
              <a:t>中</a:t>
            </a:r>
            <a:endParaRPr lang="en-US" altLang="zh-CN" sz="14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74AD85AC-C2CE-4AC1-AA47-A65C662ECEF3}"/>
              </a:ext>
            </a:extLst>
          </p:cNvPr>
          <p:cNvSpPr txBox="1"/>
          <p:nvPr/>
        </p:nvSpPr>
        <p:spPr>
          <a:xfrm>
            <a:off x="4307541" y="3657600"/>
            <a:ext cx="335055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32</a:t>
            </a:r>
            <a:r>
              <a:rPr lang="zh-CN" altLang="en-US" sz="1400" b="1" dirty="0"/>
              <a:t>位除法，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位商，余数</a:t>
            </a:r>
            <a:endParaRPr lang="en-US" altLang="zh-CN" sz="14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E0CACABF-E529-4680-AB98-46015FF70F95}"/>
              </a:ext>
            </a:extLst>
          </p:cNvPr>
          <p:cNvSpPr txBox="1"/>
          <p:nvPr/>
        </p:nvSpPr>
        <p:spPr>
          <a:xfrm>
            <a:off x="3849220" y="4197731"/>
            <a:ext cx="194198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商在</a:t>
            </a:r>
            <a:r>
              <a:rPr lang="en-US" altLang="zh-CN" sz="1400" b="1" dirty="0"/>
              <a:t>lo</a:t>
            </a:r>
            <a:r>
              <a:rPr lang="zh-CN" altLang="en-US" sz="1400" b="1" dirty="0"/>
              <a:t>中</a:t>
            </a:r>
            <a:endParaRPr lang="en-US" altLang="zh-CN" sz="14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="" xmlns:a16="http://schemas.microsoft.com/office/drawing/2014/main" id="{4E422DAF-60BC-4B2A-8053-2390E7957272}"/>
              </a:ext>
            </a:extLst>
          </p:cNvPr>
          <p:cNvSpPr txBox="1"/>
          <p:nvPr/>
        </p:nvSpPr>
        <p:spPr>
          <a:xfrm>
            <a:off x="4191000" y="4607123"/>
            <a:ext cx="194198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余数在</a:t>
            </a:r>
            <a:r>
              <a:rPr lang="en-US" altLang="zh-CN" sz="1400" b="1" dirty="0"/>
              <a:t>hi</a:t>
            </a:r>
            <a:r>
              <a:rPr lang="zh-CN" altLang="en-US" sz="1400" b="1" dirty="0"/>
              <a:t>中</a:t>
            </a:r>
            <a:endParaRPr lang="en-US" altLang="zh-CN" sz="14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58C85EE9-B7D5-463F-BF9D-D85ACBC8CBCF}"/>
              </a:ext>
            </a:extLst>
          </p:cNvPr>
          <p:cNvSpPr txBox="1"/>
          <p:nvPr/>
        </p:nvSpPr>
        <p:spPr>
          <a:xfrm>
            <a:off x="3963520" y="5552858"/>
            <a:ext cx="335055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从</a:t>
            </a:r>
            <a:r>
              <a:rPr lang="en-US" altLang="zh-CN" sz="1400" b="1" dirty="0"/>
              <a:t>lo/hi</a:t>
            </a:r>
            <a:r>
              <a:rPr lang="zh-CN" altLang="en-US" sz="1400" b="1" dirty="0"/>
              <a:t>专用寄存器转移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3836366965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677" name="Rectangle 5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914400" y="1143000"/>
            <a:ext cx="8077200" cy="5181600"/>
          </a:xfrm>
        </p:spPr>
        <p:txBody>
          <a:bodyPr/>
          <a:lstStyle/>
          <a:p>
            <a:r>
              <a:rPr lang="en-US" dirty="0"/>
              <a:t>Execute instructions out of sequence</a:t>
            </a:r>
          </a:p>
          <a:p>
            <a:r>
              <a:rPr lang="en-US" dirty="0"/>
              <a:t>Types of branches: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Conditional</a:t>
            </a:r>
          </a:p>
          <a:p>
            <a:pPr lvl="2"/>
            <a:r>
              <a:rPr lang="en-US" dirty="0"/>
              <a:t>branch if equal (</a:t>
            </a:r>
            <a:r>
              <a:rPr lang="en-US" dirty="0" err="1">
                <a:latin typeface="Courier New" pitchFamily="49" charset="0"/>
              </a:rPr>
              <a:t>beq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branch if not equal (</a:t>
            </a:r>
            <a:r>
              <a:rPr lang="en-US" dirty="0" err="1">
                <a:latin typeface="Courier New" pitchFamily="49" charset="0"/>
              </a:rPr>
              <a:t>bne</a:t>
            </a:r>
            <a:r>
              <a:rPr lang="en-US" dirty="0"/>
              <a:t>)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Unconditional</a:t>
            </a:r>
          </a:p>
          <a:p>
            <a:pPr lvl="2"/>
            <a:r>
              <a:rPr lang="en-US" dirty="0"/>
              <a:t>jump (</a:t>
            </a:r>
            <a:r>
              <a:rPr lang="en-US" dirty="0">
                <a:latin typeface="Courier New" pitchFamily="49" charset="0"/>
              </a:rPr>
              <a:t>j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jump register (</a:t>
            </a:r>
            <a:r>
              <a:rPr lang="en-US" dirty="0" err="1">
                <a:latin typeface="Courier New" pitchFamily="49" charset="0"/>
              </a:rPr>
              <a:t>jr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jump and link (</a:t>
            </a:r>
            <a:r>
              <a:rPr lang="en-US" dirty="0" err="1">
                <a:latin typeface="Courier New" pitchFamily="49" charset="0"/>
              </a:rPr>
              <a:t>jal</a:t>
            </a:r>
            <a:r>
              <a:rPr lang="en-US" dirty="0"/>
              <a:t>)</a:t>
            </a:r>
          </a:p>
        </p:txBody>
      </p:sp>
      <p:sp>
        <p:nvSpPr>
          <p:cNvPr id="1052674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52676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Branching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="" xmlns:a16="http://schemas.microsoft.com/office/drawing/2014/main" id="{27C90FFD-AC1F-43F8-97BB-3580FD404BB6}"/>
              </a:ext>
            </a:extLst>
          </p:cNvPr>
          <p:cNvSpPr txBox="1"/>
          <p:nvPr/>
        </p:nvSpPr>
        <p:spPr>
          <a:xfrm>
            <a:off x="1689847" y="774719"/>
            <a:ext cx="128195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/>
              <a:t>分支语句</a:t>
            </a:r>
            <a:endParaRPr lang="zh-CN" altLang="en-US" sz="1400" b="1" dirty="0"/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74116A9F-8BC2-4E70-8D0F-AD46C02D9BAB}"/>
              </a:ext>
            </a:extLst>
          </p:cNvPr>
          <p:cNvSpPr txBox="1"/>
          <p:nvPr/>
        </p:nvSpPr>
        <p:spPr>
          <a:xfrm>
            <a:off x="5894294" y="1600200"/>
            <a:ext cx="20574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 smtClean="0"/>
              <a:t>不按顺序</a:t>
            </a:r>
            <a:r>
              <a:rPr lang="zh-CN" altLang="en-US" sz="1400" b="1" dirty="0"/>
              <a:t>执行指令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754D4A18-C82A-4DF7-B100-629C29BD00E8}"/>
              </a:ext>
            </a:extLst>
          </p:cNvPr>
          <p:cNvSpPr txBox="1"/>
          <p:nvPr/>
        </p:nvSpPr>
        <p:spPr>
          <a:xfrm>
            <a:off x="4549588" y="1968481"/>
            <a:ext cx="134470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分支的类型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16A57227-5A74-4BE8-9CF1-76C05BD0D82F}"/>
              </a:ext>
            </a:extLst>
          </p:cNvPr>
          <p:cNvSpPr txBox="1"/>
          <p:nvPr/>
        </p:nvSpPr>
        <p:spPr>
          <a:xfrm>
            <a:off x="3608294" y="2428658"/>
            <a:ext cx="134470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条件语句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5AA56535-16B5-45C7-86EF-3F9B85D50BAF}"/>
              </a:ext>
            </a:extLst>
          </p:cNvPr>
          <p:cNvSpPr txBox="1"/>
          <p:nvPr/>
        </p:nvSpPr>
        <p:spPr>
          <a:xfrm>
            <a:off x="3962400" y="3813789"/>
            <a:ext cx="134470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非条件语句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475D18EC-9CE1-4CBC-9053-0B252A550193}"/>
              </a:ext>
            </a:extLst>
          </p:cNvPr>
          <p:cNvSpPr txBox="1"/>
          <p:nvPr/>
        </p:nvSpPr>
        <p:spPr>
          <a:xfrm>
            <a:off x="5105400" y="2890322"/>
            <a:ext cx="134470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相等（</a:t>
            </a:r>
            <a:r>
              <a:rPr lang="en-US" altLang="zh-CN" sz="1400" b="1" dirty="0"/>
              <a:t>beg</a:t>
            </a:r>
            <a:r>
              <a:rPr lang="zh-CN" altLang="en-US" sz="1400" b="1" dirty="0"/>
              <a:t>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="" xmlns:a16="http://schemas.microsoft.com/office/drawing/2014/main" id="{3EF4985B-8722-40E0-9BA0-C6A5DD3021AC}"/>
              </a:ext>
            </a:extLst>
          </p:cNvPr>
          <p:cNvSpPr txBox="1"/>
          <p:nvPr/>
        </p:nvSpPr>
        <p:spPr>
          <a:xfrm>
            <a:off x="5410200" y="3274299"/>
            <a:ext cx="134470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不相等（</a:t>
            </a:r>
            <a:r>
              <a:rPr lang="en-US" altLang="zh-CN" sz="1400" b="1" dirty="0" err="1"/>
              <a:t>bne</a:t>
            </a:r>
            <a:r>
              <a:rPr lang="zh-CN" altLang="en-US" sz="1400" b="1" dirty="0"/>
              <a:t>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E8C167DD-8A55-40CA-AA64-444104999DD0}"/>
              </a:ext>
            </a:extLst>
          </p:cNvPr>
          <p:cNvSpPr txBox="1"/>
          <p:nvPr/>
        </p:nvSpPr>
        <p:spPr>
          <a:xfrm>
            <a:off x="3429000" y="4273966"/>
            <a:ext cx="134470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跳转（</a:t>
            </a:r>
            <a:r>
              <a:rPr lang="en-US" altLang="zh-CN" sz="1400" b="1" dirty="0"/>
              <a:t>j</a:t>
            </a:r>
            <a:r>
              <a:rPr lang="zh-CN" altLang="en-US" sz="1400" b="1" dirty="0"/>
              <a:t>）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="" xmlns:a16="http://schemas.microsoft.com/office/drawing/2014/main" id="{3F466724-81F0-4785-8C74-C6D25EB5869D}"/>
              </a:ext>
            </a:extLst>
          </p:cNvPr>
          <p:cNvSpPr txBox="1"/>
          <p:nvPr/>
        </p:nvSpPr>
        <p:spPr>
          <a:xfrm>
            <a:off x="4724400" y="4723317"/>
            <a:ext cx="1447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寄存器跳转（</a:t>
            </a:r>
            <a:r>
              <a:rPr lang="en-US" altLang="zh-CN" sz="1400" b="1" dirty="0" err="1"/>
              <a:t>jr</a:t>
            </a:r>
            <a:r>
              <a:rPr lang="zh-CN" altLang="en-US" sz="1400" b="1" dirty="0"/>
              <a:t>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="" xmlns:a16="http://schemas.microsoft.com/office/drawing/2014/main" id="{1EA8B449-9A92-4BF7-973E-EE4ABB2660B7}"/>
              </a:ext>
            </a:extLst>
          </p:cNvPr>
          <p:cNvSpPr txBox="1"/>
          <p:nvPr/>
        </p:nvSpPr>
        <p:spPr>
          <a:xfrm>
            <a:off x="4778188" y="5172059"/>
            <a:ext cx="167191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跳转链接指令（</a:t>
            </a:r>
            <a:r>
              <a:rPr lang="en-US" altLang="zh-CN" sz="1400" b="1" dirty="0" err="1"/>
              <a:t>jal</a:t>
            </a:r>
            <a:r>
              <a:rPr lang="zh-CN" altLang="en-US" sz="1400" b="1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709141998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1653" name="Object 5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61729059"/>
              </p:ext>
            </p:extLst>
          </p:nvPr>
        </p:nvGraphicFramePr>
        <p:xfrm>
          <a:off x="1981200" y="1143000"/>
          <a:ext cx="4516437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51" name="VISIO" r:id="rId7" imgW="2286000" imgH="2776680" progId="Visio.Drawing.6">
                  <p:embed/>
                </p:oleObj>
              </mc:Choice>
              <mc:Fallback>
                <p:oleObj name="VISIO" r:id="rId7" imgW="2286000" imgH="27766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143000"/>
                        <a:ext cx="4516437" cy="548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1650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51652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Review: The Stored Program</a:t>
            </a:r>
          </a:p>
        </p:txBody>
      </p:sp>
    </p:spTree>
    <p:extLst>
      <p:ext uri="{BB962C8B-B14F-4D97-AF65-F5344CB8AC3E}">
        <p14:creationId xmlns:p14="http://schemas.microsoft.com/office/powerpoint/2010/main" val="3983075960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701" name="Rectangle 5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914400" y="1143000"/>
            <a:ext cx="8077200" cy="5181600"/>
          </a:xfrm>
        </p:spPr>
        <p:txBody>
          <a:bodyPr/>
          <a:lstStyle/>
          <a:p>
            <a:pPr>
              <a:buFontTx/>
              <a:buNone/>
            </a:pPr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# MIPS assembly</a:t>
            </a:r>
            <a:endParaRPr lang="en-US" sz="2000" dirty="0">
              <a:solidFill>
                <a:schemeClr val="accent1"/>
              </a:solidFill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000" dirty="0"/>
              <a:t>  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	$s0, $0, 4    	# $s0 = 0 + 4 = 4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$s1, $0, 1    	# $s1 = 0 + 1 = 1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</a:rPr>
              <a:t>sll</a:t>
            </a:r>
            <a:r>
              <a:rPr lang="en-US" sz="2000" dirty="0">
                <a:latin typeface="Courier New" pitchFamily="49" charset="0"/>
              </a:rPr>
              <a:t>  $s1, $s1, 2   	# $s1 = 1 &lt;&lt; 2 = 4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</a:rPr>
              <a:t>beq</a:t>
            </a:r>
            <a:r>
              <a:rPr lang="en-US" sz="2000" dirty="0">
                <a:latin typeface="Courier New" pitchFamily="49" charset="0"/>
              </a:rPr>
              <a:t>  $s0, $s1, target	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# branch is taken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$s1, $s1, 1       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# not executed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sub  $s1, $s1, $s0   	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# not executed</a:t>
            </a:r>
          </a:p>
          <a:p>
            <a:pPr>
              <a:buFontTx/>
              <a:buNone/>
            </a:pPr>
            <a:endParaRPr lang="en-US" sz="20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target:			# label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add  $s1, $s1, $s0  	# $s1 = 4 + 4 = 8</a:t>
            </a:r>
          </a:p>
          <a:p>
            <a:pPr>
              <a:buFontTx/>
              <a:buNone/>
            </a:pPr>
            <a:endParaRPr lang="en-US" sz="2000" dirty="0">
              <a:latin typeface="Courier New" pitchFamily="49" charset="0"/>
            </a:endParaRPr>
          </a:p>
        </p:txBody>
      </p:sp>
      <p:sp>
        <p:nvSpPr>
          <p:cNvPr id="105369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53700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53702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90600" y="5241925"/>
            <a:ext cx="7543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</a:rPr>
              <a:t>Labels</a:t>
            </a:r>
            <a:r>
              <a:rPr lang="en-US" sz="2000" dirty="0">
                <a:solidFill>
                  <a:schemeClr val="accent1"/>
                </a:solidFill>
                <a:latin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</a:rPr>
              <a:t>indicate instruction location. They can’t be reserved words and must be followed by colon (:)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Conditional Branching (</a:t>
            </a:r>
            <a:r>
              <a:rPr lang="en-US" sz="4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beq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29E361D5-7234-4D5B-BE5B-3018788BE375}"/>
              </a:ext>
            </a:extLst>
          </p:cNvPr>
          <p:cNvSpPr txBox="1"/>
          <p:nvPr/>
        </p:nvSpPr>
        <p:spPr>
          <a:xfrm>
            <a:off x="1981200" y="6015335"/>
            <a:ext cx="335055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标签表示指令位置，他们不能是保留字，后面必须跟着冒号（</a:t>
            </a:r>
            <a:r>
              <a:rPr lang="en-US" altLang="zh-CN" sz="1400" b="1" dirty="0"/>
              <a:t>:</a:t>
            </a:r>
            <a:r>
              <a:rPr lang="zh-CN" altLang="en-US" sz="1400" b="1" dirty="0"/>
              <a:t>）</a:t>
            </a:r>
            <a:endParaRPr lang="en-US" altLang="zh-CN" sz="14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4648200" y="986589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条件分支语句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6802600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25" name="Rectangle 5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1066800" y="1143000"/>
            <a:ext cx="8077200" cy="5181600"/>
          </a:xfrm>
        </p:spPr>
        <p:txBody>
          <a:bodyPr/>
          <a:lstStyle/>
          <a:p>
            <a:pPr>
              <a:buFontTx/>
              <a:buNone/>
            </a:pPr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# MIPS assembly</a:t>
            </a:r>
            <a:r>
              <a:rPr lang="en-US" sz="2000" dirty="0">
                <a:solidFill>
                  <a:schemeClr val="accent1"/>
                </a:solidFill>
              </a:rPr>
              <a:t>  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	$s0, $0, 4          # $s0 = 0 + 4 = 4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	$s1, $0, 1          # $s1 = 0 + 1 = 1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</a:t>
            </a:r>
            <a:r>
              <a:rPr lang="en-US" sz="2000" dirty="0" err="1">
                <a:latin typeface="Courier New" pitchFamily="49" charset="0"/>
              </a:rPr>
              <a:t>sll</a:t>
            </a:r>
            <a:r>
              <a:rPr lang="en-US" sz="2000" dirty="0">
                <a:latin typeface="Courier New" pitchFamily="49" charset="0"/>
              </a:rPr>
              <a:t>  	$s1, $s1, 2         # $s1 = 1 &lt;&lt; 2 = 4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</a:t>
            </a:r>
            <a:r>
              <a:rPr lang="en-US" sz="2000" dirty="0" err="1">
                <a:latin typeface="Courier New" pitchFamily="49" charset="0"/>
              </a:rPr>
              <a:t>bne</a:t>
            </a:r>
            <a:r>
              <a:rPr lang="en-US" sz="2000" dirty="0">
                <a:latin typeface="Courier New" pitchFamily="49" charset="0"/>
              </a:rPr>
              <a:t>  	$s0, $s1, target	  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# branch not taken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	$s1, $s1, 1      	  # $s1 = 4 + 1 = 5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sub  	$s1, $s1, $s0  	  # $s1 = 5 – 4 = 1</a:t>
            </a:r>
          </a:p>
          <a:p>
            <a:pPr>
              <a:buFontTx/>
              <a:buNone/>
            </a:pPr>
            <a:endParaRPr lang="en-US" sz="20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target: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add  	$s1, $s1, $s0  	  # $s1 = 1 + 4 = 5</a:t>
            </a:r>
          </a:p>
        </p:txBody>
      </p:sp>
      <p:sp>
        <p:nvSpPr>
          <p:cNvPr id="1054722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54724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The Branch Not Taken (</a:t>
            </a:r>
            <a:r>
              <a:rPr lang="en-US" sz="4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bne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410200" y="958334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不相等条件下转移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5041244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749" name="Rectangle 5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1066800" y="1143000"/>
            <a:ext cx="8077200" cy="5181600"/>
          </a:xfrm>
        </p:spPr>
        <p:txBody>
          <a:bodyPr/>
          <a:lstStyle/>
          <a:p>
            <a:pPr>
              <a:buFontTx/>
              <a:buNone/>
            </a:pPr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# MIPS assembly</a:t>
            </a:r>
            <a:endParaRPr lang="en-US" sz="2000" dirty="0">
              <a:solidFill>
                <a:schemeClr val="accent1"/>
              </a:solidFill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$s0, $0, 4     		# $s0 = 4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	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$s1, $0, 1     		# $s1 = 1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	j    	target      	# jump to target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	</a:t>
            </a:r>
            <a:r>
              <a:rPr lang="en-US" sz="2000" dirty="0" err="1">
                <a:latin typeface="Courier New" pitchFamily="49" charset="0"/>
              </a:rPr>
              <a:t>sra</a:t>
            </a:r>
            <a:r>
              <a:rPr lang="en-US" sz="2000" dirty="0">
                <a:latin typeface="Courier New" pitchFamily="49" charset="0"/>
              </a:rPr>
              <a:t>  	$s1, $s1, 2 	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# not executed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	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	$s1, $s1, 1 	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# not executed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	sub  	$s1, $s1, $s0  	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# not executed</a:t>
            </a:r>
          </a:p>
          <a:p>
            <a:pPr>
              <a:buFontTx/>
              <a:buNone/>
            </a:pPr>
            <a:endParaRPr lang="en-US" sz="2000" b="1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target: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	add  	$s1, $s1, $s0  	# $s1 = 1 + 4 = 5</a:t>
            </a:r>
          </a:p>
          <a:p>
            <a:pPr algn="just">
              <a:buFontTx/>
              <a:buNone/>
            </a:pPr>
            <a:endParaRPr lang="en-US" sz="2000" dirty="0">
              <a:latin typeface="Courier New" pitchFamily="49" charset="0"/>
            </a:endParaRPr>
          </a:p>
        </p:txBody>
      </p:sp>
      <p:sp>
        <p:nvSpPr>
          <p:cNvPr id="1055746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55748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Unconditional Branching (</a:t>
            </a:r>
            <a:r>
              <a:rPr lang="en-US" sz="4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410200" y="958334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无条件转移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2556558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773" name="Rectangle 5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1066800" y="1143000"/>
            <a:ext cx="8077200" cy="5181600"/>
          </a:xfrm>
        </p:spPr>
        <p:txBody>
          <a:bodyPr/>
          <a:lstStyle/>
          <a:p>
            <a:pPr>
              <a:buFontTx/>
              <a:buNone/>
            </a:pPr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# MIPS assembly</a:t>
            </a:r>
            <a:endParaRPr lang="en-US" sz="2400" b="1" dirty="0">
              <a:solidFill>
                <a:schemeClr val="accent1"/>
              </a:solidFill>
            </a:endParaRPr>
          </a:p>
          <a:p>
            <a:pPr>
              <a:buFontTx/>
              <a:buNone/>
            </a:pPr>
            <a:r>
              <a:rPr lang="en-US" sz="2400" b="1" dirty="0">
                <a:latin typeface="Courier New" pitchFamily="49" charset="0"/>
              </a:rPr>
              <a:t>0x00002000</a:t>
            </a:r>
            <a:r>
              <a:rPr lang="en-US" sz="2400" dirty="0">
                <a:latin typeface="Courier New" pitchFamily="49" charset="0"/>
              </a:rPr>
              <a:t>       </a:t>
            </a:r>
            <a:r>
              <a:rPr lang="en-US" sz="2400" dirty="0" err="1">
                <a:latin typeface="Courier New" pitchFamily="49" charset="0"/>
              </a:rPr>
              <a:t>addi</a:t>
            </a:r>
            <a:r>
              <a:rPr lang="en-US" sz="2400" dirty="0">
                <a:latin typeface="Courier New" pitchFamily="49" charset="0"/>
              </a:rPr>
              <a:t> $s0, $0, 0x2010</a:t>
            </a:r>
          </a:p>
          <a:p>
            <a:pPr>
              <a:buFontTx/>
              <a:buNone/>
            </a:pPr>
            <a:r>
              <a:rPr lang="en-US" sz="2400" b="1" dirty="0">
                <a:latin typeface="Courier New" pitchFamily="49" charset="0"/>
              </a:rPr>
              <a:t>0x00002004</a:t>
            </a:r>
            <a:r>
              <a:rPr lang="en-US" sz="2400" dirty="0">
                <a:latin typeface="Courier New" pitchFamily="49" charset="0"/>
              </a:rPr>
              <a:t>       </a:t>
            </a:r>
            <a:r>
              <a:rPr lang="en-US" sz="2400" dirty="0" err="1">
                <a:latin typeface="Courier New" pitchFamily="49" charset="0"/>
              </a:rPr>
              <a:t>jr</a:t>
            </a:r>
            <a:r>
              <a:rPr lang="en-US" sz="2400" dirty="0">
                <a:latin typeface="Courier New" pitchFamily="49" charset="0"/>
              </a:rPr>
              <a:t>   $s0               </a:t>
            </a:r>
          </a:p>
          <a:p>
            <a:pPr>
              <a:buFontTx/>
              <a:buNone/>
            </a:pPr>
            <a:r>
              <a:rPr lang="en-US" sz="2400" b="1" dirty="0">
                <a:latin typeface="Courier New" pitchFamily="49" charset="0"/>
              </a:rPr>
              <a:t>0x00002008</a:t>
            </a:r>
            <a:r>
              <a:rPr lang="en-US" sz="2400" dirty="0">
                <a:latin typeface="Courier New" pitchFamily="49" charset="0"/>
              </a:rPr>
              <a:t>       </a:t>
            </a:r>
            <a:r>
              <a:rPr lang="en-US" sz="2400" dirty="0" err="1">
                <a:latin typeface="Courier New" pitchFamily="49" charset="0"/>
              </a:rPr>
              <a:t>addi</a:t>
            </a:r>
            <a:r>
              <a:rPr lang="en-US" sz="2400" dirty="0">
                <a:latin typeface="Courier New" pitchFamily="49" charset="0"/>
              </a:rPr>
              <a:t> $s1, $0, 1</a:t>
            </a:r>
          </a:p>
          <a:p>
            <a:pPr>
              <a:buFontTx/>
              <a:buNone/>
            </a:pPr>
            <a:r>
              <a:rPr lang="en-US" sz="2400" b="1" dirty="0">
                <a:latin typeface="Courier New" pitchFamily="49" charset="0"/>
              </a:rPr>
              <a:t>0x0000200C</a:t>
            </a:r>
            <a:r>
              <a:rPr lang="en-US" sz="2400" dirty="0">
                <a:latin typeface="Courier New" pitchFamily="49" charset="0"/>
              </a:rPr>
              <a:t>       </a:t>
            </a:r>
            <a:r>
              <a:rPr lang="en-US" sz="2400" dirty="0" err="1">
                <a:latin typeface="Courier New" pitchFamily="49" charset="0"/>
              </a:rPr>
              <a:t>sra</a:t>
            </a:r>
            <a:r>
              <a:rPr lang="en-US" sz="2400" dirty="0">
                <a:latin typeface="Courier New" pitchFamily="49" charset="0"/>
              </a:rPr>
              <a:t>  $s1, $s1, 2</a:t>
            </a:r>
          </a:p>
          <a:p>
            <a:pPr>
              <a:buFontTx/>
              <a:buNone/>
            </a:pPr>
            <a:r>
              <a:rPr lang="en-US" sz="2400" b="1" dirty="0">
                <a:latin typeface="Courier New" pitchFamily="49" charset="0"/>
              </a:rPr>
              <a:t>0x00002010</a:t>
            </a:r>
            <a:r>
              <a:rPr lang="en-US" sz="2400" dirty="0">
                <a:latin typeface="Courier New" pitchFamily="49" charset="0"/>
              </a:rPr>
              <a:t>       </a:t>
            </a:r>
            <a:r>
              <a:rPr lang="en-US" sz="2400" dirty="0" err="1">
                <a:latin typeface="Courier New" pitchFamily="49" charset="0"/>
              </a:rPr>
              <a:t>lw</a:t>
            </a:r>
            <a:r>
              <a:rPr lang="en-US" sz="2400" dirty="0">
                <a:latin typeface="Courier New" pitchFamily="49" charset="0"/>
              </a:rPr>
              <a:t>   $s3, 44($s1)</a:t>
            </a:r>
          </a:p>
        </p:txBody>
      </p:sp>
      <p:sp>
        <p:nvSpPr>
          <p:cNvPr id="1056770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56772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56774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133600" y="4800600"/>
            <a:ext cx="57150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000" dirty="0" err="1">
                <a:latin typeface="Courier New" pitchFamily="49" charset="0"/>
                <a:cs typeface="Courier New" pitchFamily="49" charset="0"/>
              </a:rPr>
              <a:t>jr</a:t>
            </a:r>
            <a:r>
              <a:rPr lang="en-US" sz="3000" dirty="0">
                <a:latin typeface="Times New Roman" pitchFamily="18" charset="0"/>
              </a:rPr>
              <a:t> is an </a:t>
            </a:r>
            <a:r>
              <a:rPr lang="en-US" sz="3000" b="1" dirty="0">
                <a:solidFill>
                  <a:schemeClr val="accent1"/>
                </a:solidFill>
                <a:latin typeface="Times New Roman" pitchFamily="18" charset="0"/>
              </a:rPr>
              <a:t>R-type</a:t>
            </a:r>
            <a:r>
              <a:rPr lang="en-US" sz="3000" dirty="0">
                <a:latin typeface="Times New Roman" pitchFamily="18" charset="0"/>
              </a:rPr>
              <a:t> instruction.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Unconditional Branching (</a:t>
            </a:r>
            <a:r>
              <a:rPr lang="en-US" sz="4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jr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EAAFFD9E-7281-4EAB-A47E-FEF0AC0B841A}"/>
              </a:ext>
            </a:extLst>
          </p:cNvPr>
          <p:cNvSpPr txBox="1"/>
          <p:nvPr/>
        </p:nvSpPr>
        <p:spPr>
          <a:xfrm>
            <a:off x="2667000" y="5430798"/>
            <a:ext cx="335055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 err="1"/>
              <a:t>jr</a:t>
            </a:r>
            <a:r>
              <a:rPr lang="zh-CN" altLang="en-US" sz="1400" b="1" dirty="0"/>
              <a:t>是</a:t>
            </a:r>
            <a:r>
              <a:rPr lang="en-US" altLang="zh-CN" sz="1400" b="1" dirty="0"/>
              <a:t>R</a:t>
            </a:r>
            <a:r>
              <a:rPr lang="zh-CN" altLang="en-US" sz="1400" b="1" dirty="0"/>
              <a:t>类型指令</a:t>
            </a:r>
            <a:endParaRPr lang="en-US" altLang="zh-CN" sz="14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257800" y="1034534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无条件 分支语句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3348034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797" name="Rectangle 5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914400" y="1219200"/>
            <a:ext cx="8077200" cy="5181600"/>
          </a:xfrm>
        </p:spPr>
        <p:txBody>
          <a:bodyPr/>
          <a:lstStyle/>
          <a:p>
            <a:r>
              <a:rPr lang="en-US" dirty="0">
                <a:latin typeface="Courier10 BT" pitchFamily="49" charset="0"/>
              </a:rPr>
              <a:t>if</a:t>
            </a:r>
            <a:r>
              <a:rPr lang="en-US" dirty="0"/>
              <a:t> statements</a:t>
            </a:r>
          </a:p>
          <a:p>
            <a:r>
              <a:rPr lang="en-US" dirty="0">
                <a:latin typeface="Courier10 BT" pitchFamily="49" charset="0"/>
              </a:rPr>
              <a:t>if/else</a:t>
            </a:r>
            <a:r>
              <a:rPr lang="en-US" dirty="0"/>
              <a:t> statements</a:t>
            </a:r>
          </a:p>
          <a:p>
            <a:r>
              <a:rPr lang="en-US" dirty="0">
                <a:latin typeface="Courier10 BT" pitchFamily="49" charset="0"/>
              </a:rPr>
              <a:t>while</a:t>
            </a:r>
            <a:r>
              <a:rPr lang="en-US" dirty="0"/>
              <a:t> loops</a:t>
            </a:r>
          </a:p>
          <a:p>
            <a:r>
              <a:rPr lang="en-US" dirty="0">
                <a:latin typeface="Courier10 BT" pitchFamily="49" charset="0"/>
              </a:rPr>
              <a:t>for</a:t>
            </a:r>
            <a:r>
              <a:rPr lang="en-US" dirty="0"/>
              <a:t> loops</a:t>
            </a:r>
          </a:p>
        </p:txBody>
      </p:sp>
      <p:sp>
        <p:nvSpPr>
          <p:cNvPr id="1057794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57796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High-Level Code Constructs</a:t>
            </a:r>
          </a:p>
        </p:txBody>
      </p:sp>
    </p:spTree>
    <p:extLst>
      <p:ext uri="{BB962C8B-B14F-4D97-AF65-F5344CB8AC3E}">
        <p14:creationId xmlns:p14="http://schemas.microsoft.com/office/powerpoint/2010/main" val="1279703198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81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5882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58822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524000"/>
            <a:ext cx="33528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if (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 == j)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f = g + h;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f = f –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;</a:t>
            </a:r>
          </a:p>
        </p:txBody>
      </p:sp>
      <p:sp>
        <p:nvSpPr>
          <p:cNvPr id="1058823" name="Rectangle 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419600" y="1524000"/>
            <a:ext cx="396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# $s0 = f, $s1 = g, $s2 = h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# $s3 =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, $s4 = j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If Statement</a:t>
            </a:r>
          </a:p>
        </p:txBody>
      </p:sp>
    </p:spTree>
    <p:extLst>
      <p:ext uri="{BB962C8B-B14F-4D97-AF65-F5344CB8AC3E}">
        <p14:creationId xmlns:p14="http://schemas.microsoft.com/office/powerpoint/2010/main" val="4010626986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650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7652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7653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524000"/>
            <a:ext cx="33528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if (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 == j)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f = g + h;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f = f –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;</a:t>
            </a:r>
          </a:p>
        </p:txBody>
      </p:sp>
      <p:sp>
        <p:nvSpPr>
          <p:cNvPr id="1307654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419600" y="1524000"/>
            <a:ext cx="396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# $s0 = f, $s1 = g, $s2 = h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# $s3 =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, $s4 = j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bne</a:t>
            </a:r>
            <a:r>
              <a:rPr lang="en-US" sz="1800" dirty="0">
                <a:latin typeface="Courier New" pitchFamily="49" charset="0"/>
                <a:cs typeface="Arial" charset="0"/>
              </a:rPr>
              <a:t> $s3, $s4, L1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add $s0, $s1, $s2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L1: sub $s0, $s0, $s3</a:t>
            </a:r>
          </a:p>
        </p:txBody>
      </p:sp>
      <p:sp>
        <p:nvSpPr>
          <p:cNvPr id="1307655" name="Text Box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90600" y="4781490"/>
            <a:ext cx="7620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chemeClr val="accent1"/>
                </a:solidFill>
              </a:rPr>
              <a:t>Assembly tests opposite case (</a:t>
            </a:r>
            <a:r>
              <a:rPr lang="en-US" sz="2000" dirty="0" err="1">
                <a:solidFill>
                  <a:schemeClr val="accent1"/>
                </a:solidFill>
                <a:latin typeface="Courier New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itchFamily="49" charset="0"/>
              </a:rPr>
              <a:t> != j</a:t>
            </a:r>
            <a:r>
              <a:rPr lang="en-US" sz="2000" dirty="0">
                <a:solidFill>
                  <a:schemeClr val="accent1"/>
                </a:solidFill>
              </a:rPr>
              <a:t>) of high-level code (</a:t>
            </a:r>
            <a:r>
              <a:rPr lang="en-US" sz="2000" dirty="0" err="1">
                <a:solidFill>
                  <a:schemeClr val="accent1"/>
                </a:solidFill>
                <a:latin typeface="Courier New" pitchFamily="49" charset="0"/>
              </a:rPr>
              <a:t>i</a:t>
            </a:r>
            <a:r>
              <a:rPr lang="en-US" sz="2000" dirty="0">
                <a:solidFill>
                  <a:schemeClr val="accent1"/>
                </a:solidFill>
                <a:latin typeface="Courier New" pitchFamily="49" charset="0"/>
              </a:rPr>
              <a:t> == j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307656" name="Rectangle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90600" y="4648200"/>
            <a:ext cx="7315200" cy="76200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If Statement</a:t>
            </a:r>
          </a:p>
        </p:txBody>
      </p:sp>
    </p:spTree>
    <p:extLst>
      <p:ext uri="{BB962C8B-B14F-4D97-AF65-F5344CB8AC3E}">
        <p14:creationId xmlns:p14="http://schemas.microsoft.com/office/powerpoint/2010/main" val="2655866586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69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970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970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524000"/>
            <a:ext cx="33528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if (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 == j)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f = g + h;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else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f = f –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;</a:t>
            </a:r>
          </a:p>
        </p:txBody>
      </p:sp>
      <p:sp>
        <p:nvSpPr>
          <p:cNvPr id="1309702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419600" y="1524000"/>
            <a:ext cx="396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If/Else Statement</a:t>
            </a:r>
          </a:p>
        </p:txBody>
      </p:sp>
    </p:spTree>
    <p:extLst>
      <p:ext uri="{BB962C8B-B14F-4D97-AF65-F5344CB8AC3E}">
        <p14:creationId xmlns:p14="http://schemas.microsoft.com/office/powerpoint/2010/main" val="3363245488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69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970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0970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524000"/>
            <a:ext cx="33528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if (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 == j)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f = g + h;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else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f = f –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;</a:t>
            </a:r>
          </a:p>
        </p:txBody>
      </p:sp>
      <p:sp>
        <p:nvSpPr>
          <p:cNvPr id="1309702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419600" y="1524000"/>
            <a:ext cx="396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# $s0 = f, $s1 = g, $s2 = h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# $s3 =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, $s4 = j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bne</a:t>
            </a:r>
            <a:r>
              <a:rPr lang="en-US" sz="1800" dirty="0">
                <a:latin typeface="Courier New" pitchFamily="49" charset="0"/>
                <a:cs typeface="Arial" charset="0"/>
              </a:rPr>
              <a:t> $s3, $s4, L1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add $s0, $s1, $s2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  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  <a:cs typeface="Arial" charset="0"/>
              </a:rPr>
              <a:t>j   done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L1:   sub $s0, $s0, $s3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done: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If/Else Statement</a:t>
            </a:r>
          </a:p>
        </p:txBody>
      </p:sp>
    </p:spTree>
    <p:extLst>
      <p:ext uri="{BB962C8B-B14F-4D97-AF65-F5344CB8AC3E}">
        <p14:creationId xmlns:p14="http://schemas.microsoft.com/office/powerpoint/2010/main" val="1260027083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746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1174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90600" y="1524000"/>
            <a:ext cx="3962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determines the power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of x such that 2</a:t>
            </a:r>
            <a:r>
              <a:rPr lang="en-US" sz="1600" baseline="30000" dirty="0">
                <a:latin typeface="Courier New" pitchFamily="49" charset="0"/>
                <a:cs typeface="Arial" charset="0"/>
              </a:rPr>
              <a:t>x</a:t>
            </a:r>
            <a:r>
              <a:rPr lang="en-US" sz="1600" dirty="0">
                <a:latin typeface="Courier New" pitchFamily="49" charset="0"/>
                <a:cs typeface="Arial" charset="0"/>
              </a:rPr>
              <a:t> = 128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pow</a:t>
            </a:r>
            <a:r>
              <a:rPr lang="en-US" sz="1600" dirty="0">
                <a:latin typeface="Courier New" pitchFamily="49" charset="0"/>
                <a:cs typeface="Arial" charset="0"/>
              </a:rPr>
              <a:t> = 1;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x   =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while (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pow</a:t>
            </a:r>
            <a:r>
              <a:rPr lang="en-US" sz="1600" dirty="0">
                <a:latin typeface="Courier New" pitchFamily="49" charset="0"/>
                <a:cs typeface="Arial" charset="0"/>
              </a:rPr>
              <a:t> != 128)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pow</a:t>
            </a:r>
            <a:r>
              <a:rPr lang="en-US" sz="1600" dirty="0">
                <a:latin typeface="Courier New" pitchFamily="49" charset="0"/>
                <a:cs typeface="Arial" charset="0"/>
              </a:rPr>
              <a:t> =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pow</a:t>
            </a:r>
            <a:r>
              <a:rPr lang="en-US" sz="1600" dirty="0">
                <a:latin typeface="Courier New" pitchFamily="49" charset="0"/>
                <a:cs typeface="Arial" charset="0"/>
              </a:rPr>
              <a:t> * 2;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x = x + 1;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}</a:t>
            </a:r>
          </a:p>
        </p:txBody>
      </p:sp>
      <p:sp>
        <p:nvSpPr>
          <p:cNvPr id="1311749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648200" y="1524000"/>
            <a:ext cx="4953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</p:txBody>
      </p:sp>
      <p:sp>
        <p:nvSpPr>
          <p:cNvPr id="1311750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0" y="4876800"/>
            <a:ext cx="7086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accent1"/>
                </a:solidFill>
              </a:rPr>
              <a:t>Assembly tests for the opposite case (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pow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== 128</a:t>
            </a:r>
            <a:r>
              <a:rPr lang="en-US" sz="2000" b="1" dirty="0">
                <a:solidFill>
                  <a:schemeClr val="accent1"/>
                </a:solidFill>
              </a:rPr>
              <a:t>) of the C code (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pow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!= 128</a:t>
            </a:r>
            <a:r>
              <a:rPr lang="en-US" sz="2000" b="1" dirty="0">
                <a:solidFill>
                  <a:schemeClr val="accent1"/>
                </a:solidFill>
              </a:rPr>
              <a:t>).</a:t>
            </a:r>
          </a:p>
        </p:txBody>
      </p:sp>
      <p:sp>
        <p:nvSpPr>
          <p:cNvPr id="1311751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43000" y="4800600"/>
            <a:ext cx="7315200" cy="76200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While Loops</a:t>
            </a:r>
          </a:p>
        </p:txBody>
      </p:sp>
    </p:spTree>
    <p:extLst>
      <p:ext uri="{BB962C8B-B14F-4D97-AF65-F5344CB8AC3E}">
        <p14:creationId xmlns:p14="http://schemas.microsoft.com/office/powerpoint/2010/main" val="1725032729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746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1174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90600" y="1524000"/>
            <a:ext cx="3962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determines the power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of x such that 2</a:t>
            </a:r>
            <a:r>
              <a:rPr lang="en-US" sz="1600" baseline="30000" dirty="0">
                <a:latin typeface="Courier New" pitchFamily="49" charset="0"/>
                <a:cs typeface="Arial" charset="0"/>
              </a:rPr>
              <a:t>x</a:t>
            </a:r>
            <a:r>
              <a:rPr lang="en-US" sz="1600" dirty="0">
                <a:latin typeface="Courier New" pitchFamily="49" charset="0"/>
                <a:cs typeface="Arial" charset="0"/>
              </a:rPr>
              <a:t> = 128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pow</a:t>
            </a:r>
            <a:r>
              <a:rPr lang="en-US" sz="1600" dirty="0">
                <a:latin typeface="Courier New" pitchFamily="49" charset="0"/>
                <a:cs typeface="Arial" charset="0"/>
              </a:rPr>
              <a:t> = 1;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x   =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while (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pow</a:t>
            </a:r>
            <a:r>
              <a:rPr lang="en-US" sz="1600" dirty="0">
                <a:latin typeface="Courier New" pitchFamily="49" charset="0"/>
                <a:cs typeface="Arial" charset="0"/>
              </a:rPr>
              <a:t> != 128)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pow</a:t>
            </a:r>
            <a:r>
              <a:rPr lang="en-US" sz="1600" dirty="0">
                <a:latin typeface="Courier New" pitchFamily="49" charset="0"/>
                <a:cs typeface="Arial" charset="0"/>
              </a:rPr>
              <a:t> =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pow</a:t>
            </a:r>
            <a:r>
              <a:rPr lang="en-US" sz="1600" dirty="0">
                <a:latin typeface="Courier New" pitchFamily="49" charset="0"/>
                <a:cs typeface="Arial" charset="0"/>
              </a:rPr>
              <a:t> * 2;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x = x + 1;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}</a:t>
            </a:r>
          </a:p>
        </p:txBody>
      </p:sp>
      <p:sp>
        <p:nvSpPr>
          <p:cNvPr id="1311749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648200" y="1524000"/>
            <a:ext cx="4953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# $s0 =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pow</a:t>
            </a:r>
            <a:r>
              <a:rPr lang="en-US" sz="1600" dirty="0">
                <a:latin typeface="Courier New" pitchFamily="49" charset="0"/>
                <a:cs typeface="Arial" charset="0"/>
              </a:rPr>
              <a:t>, $s1 = x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$s0, $0, 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add  $s1, $0, $0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$t0, $0, 128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while: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beq</a:t>
            </a:r>
            <a:r>
              <a:rPr lang="en-US" sz="1600" dirty="0">
                <a:latin typeface="Courier New" pitchFamily="49" charset="0"/>
                <a:cs typeface="Arial" charset="0"/>
              </a:rPr>
              <a:t>  $s0, $t0, done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sll</a:t>
            </a:r>
            <a:r>
              <a:rPr lang="en-US" sz="1600" dirty="0">
                <a:latin typeface="Courier New" pitchFamily="49" charset="0"/>
                <a:cs typeface="Arial" charset="0"/>
              </a:rPr>
              <a:t>  $s0, $s0, 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$s1, $s1, 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j    while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done:</a:t>
            </a:r>
          </a:p>
        </p:txBody>
      </p:sp>
      <p:sp>
        <p:nvSpPr>
          <p:cNvPr id="1311750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0" y="4876800"/>
            <a:ext cx="7086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accent1"/>
                </a:solidFill>
              </a:rPr>
              <a:t>Assembly tests for the opposite case (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pow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== 128</a:t>
            </a:r>
            <a:r>
              <a:rPr lang="en-US" sz="2000" b="1" dirty="0">
                <a:solidFill>
                  <a:schemeClr val="accent1"/>
                </a:solidFill>
              </a:rPr>
              <a:t>) of the C code (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pow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!= 128</a:t>
            </a:r>
            <a:r>
              <a:rPr lang="en-US" sz="2000" b="1" dirty="0">
                <a:solidFill>
                  <a:schemeClr val="accent1"/>
                </a:solidFill>
              </a:rPr>
              <a:t>).</a:t>
            </a:r>
          </a:p>
        </p:txBody>
      </p:sp>
      <p:sp>
        <p:nvSpPr>
          <p:cNvPr id="1311751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43000" y="4800600"/>
            <a:ext cx="7315200" cy="76200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While Loops</a:t>
            </a:r>
          </a:p>
        </p:txBody>
      </p:sp>
    </p:spTree>
    <p:extLst>
      <p:ext uri="{BB962C8B-B14F-4D97-AF65-F5344CB8AC3E}">
        <p14:creationId xmlns:p14="http://schemas.microsoft.com/office/powerpoint/2010/main" val="1241209450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893" name="Rectangle 5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914400" y="1143000"/>
            <a:ext cx="8077200" cy="5181600"/>
          </a:xfrm>
        </p:spPr>
        <p:txBody>
          <a:bodyPr/>
          <a:lstStyle/>
          <a:p>
            <a:pPr>
              <a:buFontTx/>
              <a:buNone/>
            </a:pPr>
            <a:r>
              <a:rPr lang="en-US" sz="2400" dirty="0"/>
              <a:t>	</a:t>
            </a:r>
            <a:r>
              <a:rPr lang="en-US" sz="2000" b="1" dirty="0">
                <a:latin typeface="Courier New" pitchFamily="49" charset="0"/>
              </a:rPr>
              <a:t>for (initialization; condition; loop operation)</a:t>
            </a:r>
          </a:p>
          <a:p>
            <a:pPr>
              <a:buFontTx/>
              <a:buNone/>
            </a:pPr>
            <a:r>
              <a:rPr lang="en-US" sz="2000" b="1" dirty="0">
                <a:latin typeface="Courier New" pitchFamily="49" charset="0"/>
              </a:rPr>
              <a:t>    statement</a:t>
            </a:r>
          </a:p>
          <a:p>
            <a:pPr>
              <a:buFontTx/>
              <a:buNone/>
            </a:pPr>
            <a:endParaRPr lang="en-US" sz="2000" dirty="0">
              <a:latin typeface="Courier New" pitchFamily="49" charset="0"/>
            </a:endParaRPr>
          </a:p>
          <a:p>
            <a:r>
              <a:rPr lang="en-US" sz="2400" b="1" dirty="0">
                <a:solidFill>
                  <a:schemeClr val="accent1"/>
                </a:solidFill>
                <a:latin typeface="Courier New" pitchFamily="49" charset="0"/>
              </a:rPr>
              <a:t>initialization:</a:t>
            </a:r>
            <a:r>
              <a:rPr lang="en-US" sz="2400" dirty="0"/>
              <a:t> executes before the loop begins</a:t>
            </a:r>
          </a:p>
          <a:p>
            <a:r>
              <a:rPr lang="en-US" sz="2400" b="1" dirty="0">
                <a:solidFill>
                  <a:schemeClr val="accent1"/>
                </a:solidFill>
                <a:latin typeface="Courier New" pitchFamily="49" charset="0"/>
              </a:rPr>
              <a:t>condition:</a:t>
            </a:r>
            <a:r>
              <a:rPr lang="en-US" sz="2400" dirty="0"/>
              <a:t> is tested at the beginning of each iteration</a:t>
            </a:r>
          </a:p>
          <a:p>
            <a:r>
              <a:rPr lang="en-US" sz="2400" b="1" dirty="0">
                <a:solidFill>
                  <a:schemeClr val="accent1"/>
                </a:solidFill>
                <a:latin typeface="Courier New" pitchFamily="49" charset="0"/>
              </a:rPr>
              <a:t>loop operation:</a:t>
            </a:r>
            <a:r>
              <a:rPr lang="en-US" sz="2400" dirty="0"/>
              <a:t> executes at the end of each iteration</a:t>
            </a:r>
          </a:p>
          <a:p>
            <a:r>
              <a:rPr lang="en-US" sz="2400" b="1" dirty="0">
                <a:solidFill>
                  <a:schemeClr val="accent1"/>
                </a:solidFill>
                <a:latin typeface="Courier New" pitchFamily="49" charset="0"/>
              </a:rPr>
              <a:t>statement:</a:t>
            </a:r>
            <a:r>
              <a:rPr lang="en-US" sz="2400" dirty="0"/>
              <a:t> executes each time the condition is met</a:t>
            </a:r>
          </a:p>
          <a:p>
            <a:pPr>
              <a:buFontTx/>
              <a:buNone/>
            </a:pPr>
            <a:endParaRPr lang="en-US" sz="2400" dirty="0"/>
          </a:p>
        </p:txBody>
      </p:sp>
      <p:sp>
        <p:nvSpPr>
          <p:cNvPr id="1061892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For Loops</a:t>
            </a:r>
          </a:p>
        </p:txBody>
      </p:sp>
    </p:spTree>
    <p:extLst>
      <p:ext uri="{BB962C8B-B14F-4D97-AF65-F5344CB8AC3E}">
        <p14:creationId xmlns:p14="http://schemas.microsoft.com/office/powerpoint/2010/main" val="3147946953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524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4800" y="1524000"/>
            <a:ext cx="3962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2"/>
                </a:solidFill>
                <a:latin typeface="Times New Roman" pitchFamily="18" charset="0"/>
                <a:cs typeface="Arial" charset="0"/>
              </a:rPr>
              <a:t>High-level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add the numbers from 0 to 9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sum =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for (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=0;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!=10;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 = i+1)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sum = sum +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}</a:t>
            </a:r>
          </a:p>
        </p:txBody>
      </p:sp>
      <p:sp>
        <p:nvSpPr>
          <p:cNvPr id="1131525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724400" y="1524000"/>
            <a:ext cx="4191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>
                <a:solidFill>
                  <a:schemeClr val="accent2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>
                <a:latin typeface="Courier New" pitchFamily="49" charset="0"/>
                <a:cs typeface="Arial" charset="0"/>
              </a:rPr>
              <a:t># $s0 = i, $s1 = sum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>
                <a:latin typeface="Courier New" pitchFamily="49" charset="0"/>
                <a:cs typeface="Arial" charset="0"/>
              </a:rPr>
              <a:t>   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For Loops</a:t>
            </a:r>
          </a:p>
        </p:txBody>
      </p:sp>
    </p:spTree>
    <p:extLst>
      <p:ext uri="{BB962C8B-B14F-4D97-AF65-F5344CB8AC3E}">
        <p14:creationId xmlns:p14="http://schemas.microsoft.com/office/powerpoint/2010/main" val="3022303268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795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90600" y="1524000"/>
            <a:ext cx="3962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add the numbers from 0 to 9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sum =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for (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=0;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!=10;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 = i+1)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sum = sum +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}</a:t>
            </a:r>
          </a:p>
        </p:txBody>
      </p:sp>
      <p:sp>
        <p:nvSpPr>
          <p:cNvPr id="1313796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181600" y="1524000"/>
            <a:ext cx="4191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For Loops</a:t>
            </a:r>
          </a:p>
        </p:txBody>
      </p:sp>
    </p:spTree>
    <p:extLst>
      <p:ext uri="{BB962C8B-B14F-4D97-AF65-F5344CB8AC3E}">
        <p14:creationId xmlns:p14="http://schemas.microsoft.com/office/powerpoint/2010/main" val="2876661615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795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90600" y="1524000"/>
            <a:ext cx="3962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add the numbers from 0 to 9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sum =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for (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=0;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!=10;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 = i+1)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sum = sum +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}</a:t>
            </a:r>
          </a:p>
        </p:txBody>
      </p:sp>
      <p:sp>
        <p:nvSpPr>
          <p:cNvPr id="1313796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181600" y="1524000"/>
            <a:ext cx="4191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# $s0 =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, $s1 = sum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$s1, $0, 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add  $s0, $0, $0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$t0, $0, 10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for: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beq</a:t>
            </a:r>
            <a:r>
              <a:rPr lang="en-US" sz="1600" dirty="0">
                <a:latin typeface="Courier New" pitchFamily="49" charset="0"/>
                <a:cs typeface="Arial" charset="0"/>
              </a:rPr>
              <a:t>  $s0, $t0, done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add  $s1, $s1, $s0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$s0, $s0, 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j    for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done: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For Loops</a:t>
            </a:r>
          </a:p>
        </p:txBody>
      </p:sp>
    </p:spTree>
    <p:extLst>
      <p:ext uri="{BB962C8B-B14F-4D97-AF65-F5344CB8AC3E}">
        <p14:creationId xmlns:p14="http://schemas.microsoft.com/office/powerpoint/2010/main" val="3915086896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84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1584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1584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90600" y="1524000"/>
            <a:ext cx="3962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add the powers of 2 from 1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to 100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sum =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for (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=1;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 &lt; 101;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 =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*2)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sum = sum +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}</a:t>
            </a:r>
          </a:p>
        </p:txBody>
      </p:sp>
      <p:sp>
        <p:nvSpPr>
          <p:cNvPr id="1315846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181600" y="1524000"/>
            <a:ext cx="396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Less Than Comparison</a:t>
            </a:r>
          </a:p>
        </p:txBody>
      </p:sp>
    </p:spTree>
    <p:extLst>
      <p:ext uri="{BB962C8B-B14F-4D97-AF65-F5344CB8AC3E}">
        <p14:creationId xmlns:p14="http://schemas.microsoft.com/office/powerpoint/2010/main" val="838557818"/>
      </p:ext>
    </p:extLst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84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1584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1584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90600" y="1524000"/>
            <a:ext cx="3962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add the powers of 2 from 1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// to 100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sum =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for (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=1;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 &lt; 101;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 =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*2)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sum = sum +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}</a:t>
            </a:r>
          </a:p>
        </p:txBody>
      </p:sp>
      <p:sp>
        <p:nvSpPr>
          <p:cNvPr id="1315846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181600" y="1524000"/>
            <a:ext cx="396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# $s0 =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600" dirty="0">
                <a:latin typeface="Courier New" pitchFamily="49" charset="0"/>
                <a:cs typeface="Arial" charset="0"/>
              </a:rPr>
              <a:t>, $s1 = sum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$s1, $0, 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$s0, $0, 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600" dirty="0">
                <a:latin typeface="Courier New" pitchFamily="49" charset="0"/>
                <a:cs typeface="Arial" charset="0"/>
              </a:rPr>
              <a:t> $t0, $0, 101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loop: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slt</a:t>
            </a:r>
            <a:r>
              <a:rPr lang="en-US" sz="1600" dirty="0">
                <a:latin typeface="Courier New" pitchFamily="49" charset="0"/>
                <a:cs typeface="Arial" charset="0"/>
              </a:rPr>
              <a:t>  $t1, $s0, $t0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beq</a:t>
            </a:r>
            <a:r>
              <a:rPr lang="en-US" sz="1600" dirty="0">
                <a:latin typeface="Courier New" pitchFamily="49" charset="0"/>
                <a:cs typeface="Arial" charset="0"/>
              </a:rPr>
              <a:t>  $t1, $0, done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add  $s1, $s1, $s0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sll</a:t>
            </a:r>
            <a:r>
              <a:rPr lang="en-US" sz="1600" dirty="0">
                <a:latin typeface="Courier New" pitchFamily="49" charset="0"/>
                <a:cs typeface="Arial" charset="0"/>
              </a:rPr>
              <a:t>  $s0, $s0, 1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     j    loop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done:</a:t>
            </a:r>
          </a:p>
        </p:txBody>
      </p:sp>
      <p:sp>
        <p:nvSpPr>
          <p:cNvPr id="1315847" name="Text Box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257800" y="4937125"/>
            <a:ext cx="2514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accent1"/>
                </a:solidFill>
              </a:rPr>
              <a:t>$t1 = 1   if   </a:t>
            </a:r>
            <a:r>
              <a:rPr lang="en-US" sz="2000" b="1" dirty="0" err="1">
                <a:solidFill>
                  <a:schemeClr val="accent1"/>
                </a:solidFill>
              </a:rPr>
              <a:t>i</a:t>
            </a:r>
            <a:r>
              <a:rPr lang="en-US" sz="2000" b="1" dirty="0">
                <a:solidFill>
                  <a:schemeClr val="accent1"/>
                </a:solidFill>
              </a:rPr>
              <a:t> &lt; 101</a:t>
            </a:r>
          </a:p>
        </p:txBody>
      </p:sp>
      <p:sp>
        <p:nvSpPr>
          <p:cNvPr id="1315848" name="Rectangle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181600" y="4876800"/>
            <a:ext cx="2209800" cy="53340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Less Than Comparison</a:t>
            </a:r>
          </a:p>
        </p:txBody>
      </p:sp>
    </p:spTree>
    <p:extLst>
      <p:ext uri="{BB962C8B-B14F-4D97-AF65-F5344CB8AC3E}">
        <p14:creationId xmlns:p14="http://schemas.microsoft.com/office/powerpoint/2010/main" val="991020269"/>
      </p:ext>
    </p:extLst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572" name="Rectangle 4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1066800" y="1143000"/>
            <a:ext cx="8077200" cy="5181600"/>
          </a:xfrm>
        </p:spPr>
        <p:txBody>
          <a:bodyPr/>
          <a:lstStyle/>
          <a:p>
            <a:pPr>
              <a:buFontTx/>
              <a:buNone/>
            </a:pPr>
            <a:endParaRPr lang="en-US" sz="2400"/>
          </a:p>
          <a:p>
            <a:pPr>
              <a:buFontTx/>
              <a:buNone/>
            </a:pPr>
            <a:endParaRPr lang="en-US" sz="1800"/>
          </a:p>
          <a:p>
            <a:pPr>
              <a:buFontTx/>
              <a:buNone/>
            </a:pPr>
            <a:endParaRPr lang="en-US" sz="1800"/>
          </a:p>
        </p:txBody>
      </p:sp>
      <p:sp>
        <p:nvSpPr>
          <p:cNvPr id="1133570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33575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Access large amounts of similar data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Index</a:t>
            </a:r>
            <a:r>
              <a:rPr lang="en-US" sz="2400" dirty="0">
                <a:latin typeface="Times New Roman" pitchFamily="18" charset="0"/>
                <a:cs typeface="Arial" charset="0"/>
              </a:rPr>
              <a:t>: access each element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Size</a:t>
            </a:r>
            <a:r>
              <a:rPr lang="en-US" sz="2400" i="1" dirty="0">
                <a:latin typeface="Times New Roman" pitchFamily="18" charset="0"/>
                <a:cs typeface="Arial" charset="0"/>
              </a:rPr>
              <a:t>:</a:t>
            </a:r>
            <a:r>
              <a:rPr lang="en-US" sz="2400" dirty="0">
                <a:latin typeface="Times New Roman" pitchFamily="18" charset="0"/>
                <a:cs typeface="Arial" charset="0"/>
              </a:rPr>
              <a:t> number of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Arrays</a:t>
            </a:r>
          </a:p>
        </p:txBody>
      </p:sp>
    </p:spTree>
    <p:extLst>
      <p:ext uri="{BB962C8B-B14F-4D97-AF65-F5344CB8AC3E}">
        <p14:creationId xmlns:p14="http://schemas.microsoft.com/office/powerpoint/2010/main" val="1836918516"/>
      </p:ext>
    </p:extLst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668" name="Rectangle 4"/>
          <p:cNvSpPr>
            <a:spLocks noGrp="1" noChangeArrowheads="1"/>
          </p:cNvSpPr>
          <p:nvPr>
            <p:ph sz="half" idx="4294967295"/>
            <p:custDataLst>
              <p:tags r:id="rId2"/>
            </p:custDataLst>
          </p:nvPr>
        </p:nvSpPr>
        <p:spPr>
          <a:xfrm>
            <a:off x="1066800" y="1143000"/>
            <a:ext cx="8077200" cy="5181600"/>
          </a:xfrm>
        </p:spPr>
        <p:txBody>
          <a:bodyPr/>
          <a:lstStyle/>
          <a:p>
            <a:pPr>
              <a:buFontTx/>
              <a:buNone/>
            </a:pPr>
            <a:endParaRPr lang="en-US" sz="2400"/>
          </a:p>
          <a:p>
            <a:pPr>
              <a:buFontTx/>
              <a:buNone/>
            </a:pPr>
            <a:endParaRPr lang="en-US" sz="1800"/>
          </a:p>
          <a:p>
            <a:pPr>
              <a:buFontTx/>
              <a:buNone/>
            </a:pPr>
            <a:endParaRPr lang="en-US" sz="1800"/>
          </a:p>
        </p:txBody>
      </p:sp>
      <p:graphicFrame>
        <p:nvGraphicFramePr>
          <p:cNvPr id="1137670" name="Object 6"/>
          <p:cNvGraphicFramePr>
            <a:graphicFrameLocks noGrp="1" noChangeAspect="1"/>
          </p:cNvGraphicFramePr>
          <p:nvPr>
            <p:ph sz="half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622194093"/>
              </p:ext>
            </p:extLst>
          </p:nvPr>
        </p:nvGraphicFramePr>
        <p:xfrm>
          <a:off x="2643187" y="3429000"/>
          <a:ext cx="3529013" cy="267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75" name="VISIO" r:id="rId9" imgW="1877760" imgH="1491840" progId="Visio.Drawing.6">
                  <p:embed/>
                </p:oleObj>
              </mc:Choice>
              <mc:Fallback>
                <p:oleObj name="VISIO" r:id="rId9" imgW="1877760" imgH="14918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7" y="3429000"/>
                        <a:ext cx="3529013" cy="267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7666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37669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37671" name="Rectangle 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5-element array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Base address</a:t>
            </a:r>
            <a:r>
              <a:rPr lang="en-US" sz="2400" dirty="0">
                <a:latin typeface="Times New Roman" pitchFamily="18" charset="0"/>
                <a:cs typeface="Arial" charset="0"/>
              </a:rPr>
              <a:t> = 0x12348000 (address of first element, </a:t>
            </a:r>
            <a:r>
              <a:rPr lang="en-US" sz="2400" dirty="0">
                <a:latin typeface="Courier New" pitchFamily="49" charset="0"/>
                <a:cs typeface="Arial" charset="0"/>
              </a:rPr>
              <a:t>array[0]</a:t>
            </a:r>
            <a:r>
              <a:rPr lang="en-US" sz="2400" dirty="0">
                <a:latin typeface="Times New Roman" pitchFamily="18" charset="0"/>
                <a:cs typeface="Arial" charset="0"/>
              </a:rPr>
              <a:t>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Times New Roman" pitchFamily="18" charset="0"/>
                <a:cs typeface="Arial" charset="0"/>
              </a:rPr>
              <a:t>First step in accessing an array: load base address into a 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Arrays</a:t>
            </a:r>
          </a:p>
        </p:txBody>
      </p:sp>
    </p:spTree>
    <p:extLst>
      <p:ext uri="{BB962C8B-B14F-4D97-AF65-F5344CB8AC3E}">
        <p14:creationId xmlns:p14="http://schemas.microsoft.com/office/powerpoint/2010/main" val="2786140944"/>
      </p:ext>
    </p:extLst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892" name="Rectangle 4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1066800" y="1143000"/>
            <a:ext cx="8077200" cy="5181600"/>
          </a:xfrm>
        </p:spPr>
        <p:txBody>
          <a:bodyPr/>
          <a:lstStyle/>
          <a:p>
            <a:pPr>
              <a:buFontTx/>
              <a:buNone/>
            </a:pPr>
            <a:endParaRPr lang="en-US" sz="2400"/>
          </a:p>
          <a:p>
            <a:pPr>
              <a:buFontTx/>
              <a:buNone/>
            </a:pPr>
            <a:endParaRPr lang="en-US" sz="1800"/>
          </a:p>
          <a:p>
            <a:pPr>
              <a:buFontTx/>
              <a:buNone/>
            </a:pPr>
            <a:endParaRPr lang="en-US" sz="1800"/>
          </a:p>
        </p:txBody>
      </p:sp>
      <p:sp>
        <p:nvSpPr>
          <p:cNvPr id="1317894" name="Rectangle 6"/>
          <p:cNvSpPr>
            <a:spLocks noGrp="1" noChangeArrowheads="1"/>
          </p:cNvSpPr>
          <p:nvPr>
            <p:ph sz="half" idx="4294967295"/>
            <p:custDataLst>
              <p:tags r:id="rId2"/>
            </p:custDataLst>
          </p:nvPr>
        </p:nvSpPr>
        <p:spPr>
          <a:xfrm>
            <a:off x="914400" y="1143000"/>
            <a:ext cx="8915400" cy="5181600"/>
          </a:xfrm>
        </p:spPr>
        <p:txBody>
          <a:bodyPr/>
          <a:lstStyle/>
          <a:p>
            <a:pPr>
              <a:buFontTx/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49" charset="0"/>
              </a:rPr>
              <a:t>// C Code</a:t>
            </a:r>
          </a:p>
          <a:p>
            <a:pPr>
              <a:buFontTx/>
              <a:buNone/>
            </a:pPr>
            <a:r>
              <a:rPr lang="en-US" sz="1600" dirty="0">
                <a:latin typeface="Courier10 BT" pitchFamily="49" charset="0"/>
              </a:rPr>
              <a:t>	</a:t>
            </a:r>
            <a:r>
              <a:rPr lang="en-US" sz="1600" dirty="0" err="1">
                <a:latin typeface="Courier10 BT" pitchFamily="49" charset="0"/>
              </a:rPr>
              <a:t>int</a:t>
            </a:r>
            <a:r>
              <a:rPr lang="en-US" sz="1600" dirty="0">
                <a:latin typeface="Courier10 BT" pitchFamily="49" charset="0"/>
              </a:rPr>
              <a:t> array[5];</a:t>
            </a:r>
          </a:p>
          <a:p>
            <a:pPr>
              <a:buFontTx/>
              <a:buNone/>
            </a:pPr>
            <a:r>
              <a:rPr lang="en-US" sz="1600" dirty="0">
                <a:latin typeface="Courier10 BT" pitchFamily="49" charset="0"/>
              </a:rPr>
              <a:t>	array[0] = array[0] * 2;</a:t>
            </a:r>
          </a:p>
          <a:p>
            <a:pPr>
              <a:buFontTx/>
              <a:buNone/>
            </a:pPr>
            <a:r>
              <a:rPr lang="en-US" sz="1600" dirty="0">
                <a:latin typeface="Courier10 BT" pitchFamily="49" charset="0"/>
              </a:rPr>
              <a:t>	array[1] = array[1] * 2;</a:t>
            </a:r>
          </a:p>
          <a:p>
            <a:pPr>
              <a:buFontTx/>
              <a:buNone/>
            </a:pPr>
            <a:endParaRPr lang="en-US" sz="1600" dirty="0">
              <a:latin typeface="Courier10 BT" pitchFamily="49" charset="0"/>
            </a:endParaRPr>
          </a:p>
        </p:txBody>
      </p:sp>
      <p:sp>
        <p:nvSpPr>
          <p:cNvPr id="1317890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17893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Accessing Arrays</a:t>
            </a:r>
          </a:p>
        </p:txBody>
      </p:sp>
    </p:spTree>
    <p:extLst>
      <p:ext uri="{BB962C8B-B14F-4D97-AF65-F5344CB8AC3E}">
        <p14:creationId xmlns:p14="http://schemas.microsoft.com/office/powerpoint/2010/main" val="1846579149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892" name="Rectangle 4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1066800" y="1143000"/>
            <a:ext cx="8077200" cy="5181600"/>
          </a:xfrm>
        </p:spPr>
        <p:txBody>
          <a:bodyPr/>
          <a:lstStyle/>
          <a:p>
            <a:pPr>
              <a:buFontTx/>
              <a:buNone/>
            </a:pPr>
            <a:endParaRPr lang="en-US" sz="2400"/>
          </a:p>
          <a:p>
            <a:pPr>
              <a:buFontTx/>
              <a:buNone/>
            </a:pPr>
            <a:endParaRPr lang="en-US" sz="1800"/>
          </a:p>
          <a:p>
            <a:pPr>
              <a:buFontTx/>
              <a:buNone/>
            </a:pPr>
            <a:endParaRPr lang="en-US" sz="1800"/>
          </a:p>
        </p:txBody>
      </p:sp>
      <p:sp>
        <p:nvSpPr>
          <p:cNvPr id="1317894" name="Rectangle 6"/>
          <p:cNvSpPr>
            <a:spLocks noGrp="1" noChangeArrowheads="1"/>
          </p:cNvSpPr>
          <p:nvPr>
            <p:ph sz="half" idx="4294967295"/>
            <p:custDataLst>
              <p:tags r:id="rId2"/>
            </p:custDataLst>
          </p:nvPr>
        </p:nvSpPr>
        <p:spPr>
          <a:xfrm>
            <a:off x="914400" y="1143000"/>
            <a:ext cx="8915400" cy="5181600"/>
          </a:xfrm>
        </p:spPr>
        <p:txBody>
          <a:bodyPr/>
          <a:lstStyle/>
          <a:p>
            <a:pPr>
              <a:buFontTx/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49" charset="0"/>
              </a:rPr>
              <a:t>// C Code</a:t>
            </a:r>
          </a:p>
          <a:p>
            <a:pPr>
              <a:buFontTx/>
              <a:buNone/>
            </a:pPr>
            <a:r>
              <a:rPr lang="en-US" sz="1600" dirty="0">
                <a:latin typeface="Courier10 BT" pitchFamily="49" charset="0"/>
              </a:rPr>
              <a:t>	</a:t>
            </a:r>
            <a:r>
              <a:rPr lang="en-US" sz="1600" dirty="0" err="1">
                <a:latin typeface="Courier10 BT" pitchFamily="49" charset="0"/>
              </a:rPr>
              <a:t>int</a:t>
            </a:r>
            <a:r>
              <a:rPr lang="en-US" sz="1600" dirty="0">
                <a:latin typeface="Courier10 BT" pitchFamily="49" charset="0"/>
              </a:rPr>
              <a:t> array[5];</a:t>
            </a:r>
          </a:p>
          <a:p>
            <a:pPr>
              <a:buFontTx/>
              <a:buNone/>
            </a:pPr>
            <a:r>
              <a:rPr lang="en-US" sz="1600" dirty="0">
                <a:latin typeface="Courier10 BT" pitchFamily="49" charset="0"/>
              </a:rPr>
              <a:t>	array[0] = array[0] * 2;</a:t>
            </a:r>
          </a:p>
          <a:p>
            <a:pPr>
              <a:buFontTx/>
              <a:buNone/>
            </a:pPr>
            <a:r>
              <a:rPr lang="en-US" sz="1600" dirty="0">
                <a:latin typeface="Courier10 BT" pitchFamily="49" charset="0"/>
              </a:rPr>
              <a:t>	array[1] = array[1] * 2;</a:t>
            </a:r>
          </a:p>
          <a:p>
            <a:pPr>
              <a:buFontTx/>
              <a:buNone/>
            </a:pPr>
            <a:endParaRPr lang="en-US" sz="1600" dirty="0">
              <a:latin typeface="Courier10 BT" pitchFamily="49" charset="0"/>
            </a:endParaRPr>
          </a:p>
          <a:p>
            <a:pPr>
              <a:buFontTx/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49" charset="0"/>
              </a:rPr>
              <a:t># MIPS assembly code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# array base address = $s0</a:t>
            </a:r>
          </a:p>
          <a:p>
            <a:pPr>
              <a:buFontTx/>
              <a:buNone/>
            </a:pPr>
            <a:r>
              <a:rPr lang="en-US" sz="1600" dirty="0"/>
              <a:t>     </a:t>
            </a:r>
            <a:r>
              <a:rPr lang="en-US" sz="1600" dirty="0" err="1">
                <a:latin typeface="Courier10 BT" pitchFamily="49" charset="0"/>
              </a:rPr>
              <a:t>lui</a:t>
            </a:r>
            <a:r>
              <a:rPr lang="en-US" sz="1600" dirty="0">
                <a:latin typeface="Courier10 BT" pitchFamily="49" charset="0"/>
              </a:rPr>
              <a:t>  $s0, 0x1234        	# 0x1234 in upper half of $S0</a:t>
            </a:r>
          </a:p>
          <a:p>
            <a:pPr>
              <a:buFontTx/>
              <a:buNone/>
            </a:pPr>
            <a:r>
              <a:rPr lang="en-US" sz="1600" dirty="0">
                <a:latin typeface="Courier10 BT" pitchFamily="49" charset="0"/>
              </a:rPr>
              <a:t>  </a:t>
            </a:r>
            <a:r>
              <a:rPr lang="en-US" sz="1600" dirty="0" err="1">
                <a:latin typeface="Courier10 BT" pitchFamily="49" charset="0"/>
              </a:rPr>
              <a:t>ori</a:t>
            </a:r>
            <a:r>
              <a:rPr lang="en-US" sz="1600" dirty="0">
                <a:latin typeface="Courier10 BT" pitchFamily="49" charset="0"/>
              </a:rPr>
              <a:t>  $s0, $s0, 0x8000   	# 0x8000 in lower half of $s0</a:t>
            </a:r>
          </a:p>
          <a:p>
            <a:pPr>
              <a:buFontTx/>
              <a:buNone/>
            </a:pPr>
            <a:endParaRPr lang="en-US" sz="1600" dirty="0">
              <a:latin typeface="Courier10 BT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10 BT" pitchFamily="49" charset="0"/>
              </a:rPr>
              <a:t>  </a:t>
            </a:r>
            <a:r>
              <a:rPr lang="en-US" sz="1600" dirty="0" err="1">
                <a:latin typeface="Courier10 BT" pitchFamily="49" charset="0"/>
              </a:rPr>
              <a:t>lw</a:t>
            </a:r>
            <a:r>
              <a:rPr lang="en-US" sz="1600" dirty="0">
                <a:latin typeface="Courier10 BT" pitchFamily="49" charset="0"/>
              </a:rPr>
              <a:t>   $t1, 0($s0)        	# $t1 = array[0]</a:t>
            </a:r>
          </a:p>
          <a:p>
            <a:pPr>
              <a:buFontTx/>
              <a:buNone/>
            </a:pPr>
            <a:r>
              <a:rPr lang="en-US" sz="1600" dirty="0">
                <a:latin typeface="Courier10 BT" pitchFamily="49" charset="0"/>
              </a:rPr>
              <a:t>  </a:t>
            </a:r>
            <a:r>
              <a:rPr lang="en-US" sz="1600" dirty="0" err="1">
                <a:latin typeface="Courier10 BT" pitchFamily="49" charset="0"/>
              </a:rPr>
              <a:t>sll</a:t>
            </a:r>
            <a:r>
              <a:rPr lang="en-US" sz="1600" dirty="0">
                <a:latin typeface="Courier10 BT" pitchFamily="49" charset="0"/>
              </a:rPr>
              <a:t>  $t1, $t1, 1        	# $t1 = $t1 * 2</a:t>
            </a:r>
          </a:p>
          <a:p>
            <a:pPr>
              <a:buFontTx/>
              <a:buNone/>
            </a:pPr>
            <a:r>
              <a:rPr lang="en-US" sz="1600" dirty="0">
                <a:latin typeface="Courier10 BT" pitchFamily="49" charset="0"/>
              </a:rPr>
              <a:t>  </a:t>
            </a:r>
            <a:r>
              <a:rPr lang="en-US" sz="1600" dirty="0" err="1">
                <a:latin typeface="Courier10 BT" pitchFamily="49" charset="0"/>
              </a:rPr>
              <a:t>sw</a:t>
            </a:r>
            <a:r>
              <a:rPr lang="en-US" sz="1600" dirty="0">
                <a:latin typeface="Courier10 BT" pitchFamily="49" charset="0"/>
              </a:rPr>
              <a:t>   $t1, 0($s0)        	# array[0] = $t1</a:t>
            </a:r>
          </a:p>
          <a:p>
            <a:pPr>
              <a:buFontTx/>
              <a:buNone/>
            </a:pPr>
            <a:endParaRPr lang="en-US" sz="1600" dirty="0">
              <a:latin typeface="Courier10 BT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10 BT" pitchFamily="49" charset="0"/>
              </a:rPr>
              <a:t>  </a:t>
            </a:r>
            <a:r>
              <a:rPr lang="en-US" sz="1600" dirty="0" err="1">
                <a:latin typeface="Courier10 BT" pitchFamily="49" charset="0"/>
              </a:rPr>
              <a:t>lw</a:t>
            </a:r>
            <a:r>
              <a:rPr lang="en-US" sz="1600" dirty="0">
                <a:latin typeface="Courier10 BT" pitchFamily="49" charset="0"/>
              </a:rPr>
              <a:t>   $t1, 4($s0)        	# $t1 = array[1]</a:t>
            </a:r>
          </a:p>
          <a:p>
            <a:pPr>
              <a:buFontTx/>
              <a:buNone/>
            </a:pPr>
            <a:r>
              <a:rPr lang="en-US" sz="1600" dirty="0">
                <a:latin typeface="Courier10 BT" pitchFamily="49" charset="0"/>
              </a:rPr>
              <a:t>  </a:t>
            </a:r>
            <a:r>
              <a:rPr lang="en-US" sz="1600" dirty="0" err="1">
                <a:latin typeface="Courier10 BT" pitchFamily="49" charset="0"/>
              </a:rPr>
              <a:t>sll</a:t>
            </a:r>
            <a:r>
              <a:rPr lang="en-US" sz="1600" dirty="0">
                <a:latin typeface="Courier10 BT" pitchFamily="49" charset="0"/>
              </a:rPr>
              <a:t>  $t1, $t1, 1        	# $t1 = $t1 * 2</a:t>
            </a:r>
          </a:p>
          <a:p>
            <a:pPr>
              <a:buFontTx/>
              <a:buNone/>
            </a:pPr>
            <a:r>
              <a:rPr lang="en-US" sz="1600" dirty="0">
                <a:latin typeface="Courier10 BT" pitchFamily="49" charset="0"/>
              </a:rPr>
              <a:t>  </a:t>
            </a:r>
            <a:r>
              <a:rPr lang="en-US" sz="1600" dirty="0" err="1">
                <a:latin typeface="Courier10 BT" pitchFamily="49" charset="0"/>
              </a:rPr>
              <a:t>sw</a:t>
            </a:r>
            <a:r>
              <a:rPr lang="en-US" sz="1600" dirty="0">
                <a:latin typeface="Courier10 BT" pitchFamily="49" charset="0"/>
              </a:rPr>
              <a:t>   $t1, 4($s0)        	# array[1] = $t1</a:t>
            </a:r>
          </a:p>
        </p:txBody>
      </p:sp>
      <p:sp>
        <p:nvSpPr>
          <p:cNvPr id="1317890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17893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Accessing Arrays</a:t>
            </a:r>
          </a:p>
        </p:txBody>
      </p:sp>
    </p:spTree>
    <p:extLst>
      <p:ext uri="{BB962C8B-B14F-4D97-AF65-F5344CB8AC3E}">
        <p14:creationId xmlns:p14="http://schemas.microsoft.com/office/powerpoint/2010/main" val="1305986334"/>
      </p:ext>
    </p:extLst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620" name="Rectangle 4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914400" y="1143000"/>
            <a:ext cx="7848600" cy="51816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// C Code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	</a:t>
            </a:r>
            <a:r>
              <a:rPr lang="en-US" sz="1800" dirty="0" err="1">
                <a:latin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</a:rPr>
              <a:t> array[1000];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	</a:t>
            </a:r>
            <a:r>
              <a:rPr lang="en-US" sz="1800" dirty="0" err="1">
                <a:latin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	for (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=0;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&lt; 1000;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=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+ 1)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		array[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 = array[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] * 8;</a:t>
            </a:r>
          </a:p>
          <a:p>
            <a:pPr>
              <a:buFontTx/>
              <a:buNone/>
            </a:pPr>
            <a:endParaRPr lang="en-US" sz="1800" dirty="0">
              <a:solidFill>
                <a:schemeClr val="accent1"/>
              </a:solidFill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49" charset="0"/>
              </a:rPr>
              <a:t># MIPS assembly code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# $s0 = array base address, $s1 = </a:t>
            </a:r>
            <a:r>
              <a:rPr lang="en-US" sz="1600" dirty="0" err="1">
                <a:latin typeface="Courier New" pitchFamily="49" charset="0"/>
              </a:rPr>
              <a:t>i</a:t>
            </a: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113561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Arrays using For Loops</a:t>
            </a:r>
          </a:p>
        </p:txBody>
      </p:sp>
    </p:spTree>
    <p:extLst>
      <p:ext uri="{BB962C8B-B14F-4D97-AF65-F5344CB8AC3E}">
        <p14:creationId xmlns:p14="http://schemas.microsoft.com/office/powerpoint/2010/main" val="2148749373"/>
      </p:ext>
    </p:extLst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692" name="Rectangle 4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2057400" y="1143000"/>
            <a:ext cx="7086600" cy="5181600"/>
          </a:xfrm>
          <a:noFill/>
          <a:ln/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49" charset="0"/>
              </a:rPr>
              <a:t># MIPS assembly code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# $s0 = array base address, $s1 = </a:t>
            </a:r>
            <a:r>
              <a:rPr lang="en-US" sz="1600" dirty="0" err="1">
                <a:latin typeface="Courier New" pitchFamily="49" charset="0"/>
              </a:rPr>
              <a:t>i</a:t>
            </a: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# initialization code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lui</a:t>
            </a:r>
            <a:r>
              <a:rPr lang="en-US" sz="1600" dirty="0">
                <a:latin typeface="Courier New" pitchFamily="49" charset="0"/>
              </a:rPr>
              <a:t>  $s0, 0x23B8        # $s0 = 0x23B80000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ori</a:t>
            </a:r>
            <a:r>
              <a:rPr lang="en-US" sz="1600" dirty="0">
                <a:latin typeface="Courier New" pitchFamily="49" charset="0"/>
              </a:rPr>
              <a:t>  $s0, $s0, 0xF000   # $s0 = 0x23B8F000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addi</a:t>
            </a:r>
            <a:r>
              <a:rPr lang="en-US" sz="1600" dirty="0">
                <a:latin typeface="Courier New" pitchFamily="49" charset="0"/>
              </a:rPr>
              <a:t> $s1, $0, 0         #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 = 0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addi</a:t>
            </a:r>
            <a:r>
              <a:rPr lang="en-US" sz="1600" dirty="0">
                <a:latin typeface="Courier New" pitchFamily="49" charset="0"/>
              </a:rPr>
              <a:t> $t2, $0, 1000      # $t2 = 1000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loop: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slt</a:t>
            </a:r>
            <a:r>
              <a:rPr lang="en-US" sz="1600" dirty="0">
                <a:latin typeface="Courier New" pitchFamily="49" charset="0"/>
              </a:rPr>
              <a:t>  $t0, $s1, $t2      #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 &lt; 1000?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beq</a:t>
            </a:r>
            <a:r>
              <a:rPr lang="en-US" sz="1600" dirty="0">
                <a:latin typeface="Courier New" pitchFamily="49" charset="0"/>
              </a:rPr>
              <a:t>  $t0, $0, done      # if not then done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sll</a:t>
            </a:r>
            <a:r>
              <a:rPr lang="en-US" sz="1600" dirty="0">
                <a:latin typeface="Courier New" pitchFamily="49" charset="0"/>
              </a:rPr>
              <a:t>  $t0, $s1, 2        # $t0 =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 * 4 (byte offset)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add  $t0, $t0, $s0      # address of array[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]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lw</a:t>
            </a:r>
            <a:r>
              <a:rPr lang="en-US" sz="1600" dirty="0">
                <a:latin typeface="Courier New" pitchFamily="49" charset="0"/>
              </a:rPr>
              <a:t>   $t1, 0($t0)        # $t1 = array[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]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sll</a:t>
            </a:r>
            <a:r>
              <a:rPr lang="en-US" sz="1600" dirty="0">
                <a:latin typeface="Courier New" pitchFamily="49" charset="0"/>
              </a:rPr>
              <a:t>  $t1, $t1, 3        # $t1 = array[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] * 8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sw</a:t>
            </a:r>
            <a:r>
              <a:rPr lang="en-US" sz="1600" dirty="0">
                <a:latin typeface="Courier New" pitchFamily="49" charset="0"/>
              </a:rPr>
              <a:t>   $t1, 0($t0)        # array[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] = array[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] * 8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</a:rPr>
              <a:t>addi</a:t>
            </a:r>
            <a:r>
              <a:rPr lang="en-US" sz="1600" dirty="0">
                <a:latin typeface="Courier New" pitchFamily="49" charset="0"/>
              </a:rPr>
              <a:t> $s1, $s1, 1        #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 = </a:t>
            </a:r>
            <a:r>
              <a:rPr lang="en-US" sz="1600" dirty="0" err="1">
                <a:latin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</a:rPr>
              <a:t> + 1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j    loop               # repeat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done: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</p:txBody>
      </p:sp>
      <p:sp>
        <p:nvSpPr>
          <p:cNvPr id="1138690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Arrays Using For Loops</a:t>
            </a:r>
          </a:p>
        </p:txBody>
      </p:sp>
    </p:spTree>
    <p:extLst>
      <p:ext uri="{BB962C8B-B14F-4D97-AF65-F5344CB8AC3E}">
        <p14:creationId xmlns:p14="http://schemas.microsoft.com/office/powerpoint/2010/main" val="1070705358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580" name="Rectangle 4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914400" y="1143000"/>
            <a:ext cx="7620000" cy="5181600"/>
          </a:xfrm>
          <a:noFill/>
          <a:ln/>
        </p:spPr>
        <p:txBody>
          <a:bodyPr>
            <a:normAutofit/>
          </a:bodyPr>
          <a:lstStyle/>
          <a:p>
            <a:r>
              <a:rPr lang="en-US" i="1" dirty="0"/>
              <a:t>American Standard Code for Information Interchange</a:t>
            </a:r>
            <a:endParaRPr lang="en-US" dirty="0"/>
          </a:p>
          <a:p>
            <a:r>
              <a:rPr lang="en-US" sz="3600" dirty="0"/>
              <a:t>Each text character has unique byte value</a:t>
            </a:r>
          </a:p>
          <a:p>
            <a:pPr lvl="1"/>
            <a:r>
              <a:rPr lang="en-US" dirty="0"/>
              <a:t>For example, S = 0x53, a = 0x61, A = 0x41</a:t>
            </a:r>
          </a:p>
          <a:p>
            <a:pPr lvl="1"/>
            <a:r>
              <a:rPr lang="en-US" dirty="0"/>
              <a:t>Lower-case and upper-case differ by 0x20 (32)</a:t>
            </a:r>
          </a:p>
        </p:txBody>
      </p:sp>
      <p:sp>
        <p:nvSpPr>
          <p:cNvPr id="117657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ASCII Code</a:t>
            </a:r>
          </a:p>
        </p:txBody>
      </p:sp>
    </p:spTree>
    <p:extLst>
      <p:ext uri="{BB962C8B-B14F-4D97-AF65-F5344CB8AC3E}">
        <p14:creationId xmlns:p14="http://schemas.microsoft.com/office/powerpoint/2010/main" val="1739276351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9940" name="Picture 4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95400"/>
            <a:ext cx="5410200" cy="5221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Cast of Characters</a:t>
            </a:r>
          </a:p>
        </p:txBody>
      </p:sp>
    </p:spTree>
    <p:extLst>
      <p:ext uri="{BB962C8B-B14F-4D97-AF65-F5344CB8AC3E}">
        <p14:creationId xmlns:p14="http://schemas.microsoft.com/office/powerpoint/2010/main" val="267443316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64" name="Rectangle 4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1066800" y="1143000"/>
            <a:ext cx="8077200" cy="5181600"/>
          </a:xfrm>
          <a:noFill/>
          <a:ln/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Caller:</a:t>
            </a:r>
            <a:r>
              <a:rPr lang="en-US" dirty="0"/>
              <a:t> calling function (in this case, </a:t>
            </a:r>
            <a:r>
              <a:rPr lang="en-US" dirty="0">
                <a:latin typeface="Courier New" pitchFamily="49" charset="0"/>
              </a:rPr>
              <a:t>main</a:t>
            </a:r>
            <a:r>
              <a:rPr lang="en-US" dirty="0"/>
              <a:t>)</a:t>
            </a:r>
          </a:p>
          <a:p>
            <a:r>
              <a:rPr lang="en-US" b="1" dirty="0" err="1">
                <a:solidFill>
                  <a:schemeClr val="accent1"/>
                </a:solidFill>
              </a:rPr>
              <a:t>Callee</a:t>
            </a:r>
            <a:r>
              <a:rPr lang="en-US" b="1" dirty="0">
                <a:solidFill>
                  <a:schemeClr val="accent1"/>
                </a:solidFill>
              </a:rPr>
              <a:t>:</a:t>
            </a:r>
            <a:r>
              <a:rPr lang="en-US" dirty="0"/>
              <a:t> called function (in this case, </a:t>
            </a:r>
            <a:r>
              <a:rPr lang="en-US" dirty="0">
                <a:latin typeface="Courier New" pitchFamily="49" charset="0"/>
              </a:rPr>
              <a:t>sum</a:t>
            </a:r>
            <a:r>
              <a:rPr lang="en-US" dirty="0"/>
              <a:t>)</a:t>
            </a:r>
          </a:p>
        </p:txBody>
      </p:sp>
      <p:sp>
        <p:nvSpPr>
          <p:cNvPr id="1064963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6496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895600" y="2743200"/>
            <a:ext cx="4953000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void main()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y;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y = sum(42, 7);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...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}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6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sum(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a, </a:t>
            </a:r>
            <a:r>
              <a:rPr lang="en-US" sz="16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600" dirty="0">
                <a:latin typeface="Courier New" pitchFamily="49" charset="0"/>
                <a:cs typeface="Arial" charset="0"/>
              </a:rPr>
              <a:t> b)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  return (a + b);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  <a:cs typeface="Arial" charset="0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Function Calls</a:t>
            </a:r>
          </a:p>
        </p:txBody>
      </p:sp>
    </p:spTree>
    <p:extLst>
      <p:ext uri="{BB962C8B-B14F-4D97-AF65-F5344CB8AC3E}">
        <p14:creationId xmlns:p14="http://schemas.microsoft.com/office/powerpoint/2010/main" val="2197894341"/>
      </p:ext>
    </p:extLst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548" name="Rectangle 4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1066800" y="1143000"/>
            <a:ext cx="8077200" cy="5181600"/>
          </a:xfrm>
          <a:noFill/>
          <a:ln/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Caller:</a:t>
            </a:r>
          </a:p>
          <a:p>
            <a:pPr lvl="1"/>
            <a:r>
              <a:rPr lang="en-US" sz="2600" dirty="0"/>
              <a:t>passes </a:t>
            </a:r>
            <a:r>
              <a:rPr lang="en-US" sz="2600" b="1" dirty="0"/>
              <a:t>arguments</a:t>
            </a:r>
            <a:r>
              <a:rPr lang="en-US" sz="2600" dirty="0"/>
              <a:t> to </a:t>
            </a:r>
            <a:r>
              <a:rPr lang="en-US" sz="2600" dirty="0" err="1"/>
              <a:t>callee</a:t>
            </a:r>
            <a:endParaRPr lang="en-US" sz="2600" dirty="0"/>
          </a:p>
          <a:p>
            <a:pPr lvl="1"/>
            <a:r>
              <a:rPr lang="en-US" sz="2600" dirty="0"/>
              <a:t>jumps to </a:t>
            </a:r>
            <a:r>
              <a:rPr lang="en-US" sz="2600" dirty="0" err="1"/>
              <a:t>callee</a:t>
            </a:r>
            <a:endParaRPr lang="en-US" sz="2600" dirty="0"/>
          </a:p>
          <a:p>
            <a:r>
              <a:rPr lang="en-US" b="1" dirty="0" err="1">
                <a:solidFill>
                  <a:schemeClr val="accent1"/>
                </a:solidFill>
              </a:rPr>
              <a:t>Callee</a:t>
            </a:r>
            <a:r>
              <a:rPr lang="en-US" b="1" dirty="0">
                <a:solidFill>
                  <a:schemeClr val="accent1"/>
                </a:solidFill>
              </a:rPr>
              <a:t>: </a:t>
            </a:r>
          </a:p>
          <a:p>
            <a:pPr lvl="1"/>
            <a:r>
              <a:rPr lang="en-US" sz="2600" b="1" dirty="0"/>
              <a:t>performs </a:t>
            </a:r>
            <a:r>
              <a:rPr lang="en-US" sz="2600" dirty="0"/>
              <a:t>the function</a:t>
            </a:r>
          </a:p>
          <a:p>
            <a:pPr lvl="1"/>
            <a:r>
              <a:rPr lang="en-US" sz="2600" b="1" dirty="0"/>
              <a:t>returns </a:t>
            </a:r>
            <a:r>
              <a:rPr lang="en-US" sz="2600" dirty="0"/>
              <a:t>result to caller</a:t>
            </a:r>
          </a:p>
          <a:p>
            <a:pPr lvl="1"/>
            <a:r>
              <a:rPr lang="en-US" sz="2600" b="1" dirty="0"/>
              <a:t>returns </a:t>
            </a:r>
            <a:r>
              <a:rPr lang="en-US" sz="2600" dirty="0"/>
              <a:t>to point of call</a:t>
            </a:r>
          </a:p>
          <a:p>
            <a:pPr lvl="1"/>
            <a:r>
              <a:rPr lang="en-US" sz="2600" b="1" dirty="0"/>
              <a:t>must  not overwrite</a:t>
            </a:r>
            <a:r>
              <a:rPr lang="en-US" sz="2600" dirty="0"/>
              <a:t> registers or memory needed by caller</a:t>
            </a:r>
            <a:endParaRPr lang="en-US" dirty="0"/>
          </a:p>
        </p:txBody>
      </p:sp>
      <p:sp>
        <p:nvSpPr>
          <p:cNvPr id="1132547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Function Conventions</a:t>
            </a:r>
          </a:p>
        </p:txBody>
      </p:sp>
    </p:spTree>
    <p:extLst>
      <p:ext uri="{BB962C8B-B14F-4D97-AF65-F5344CB8AC3E}">
        <p14:creationId xmlns:p14="http://schemas.microsoft.com/office/powerpoint/2010/main" val="3197665584"/>
      </p:ext>
    </p:extLst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548" name="Rectangle 4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1066800" y="1143000"/>
            <a:ext cx="8077200" cy="5181600"/>
          </a:xfrm>
          <a:noFill/>
          <a:ln/>
        </p:spPr>
        <p:txBody>
          <a:bodyPr>
            <a:noAutofit/>
          </a:bodyPr>
          <a:lstStyle/>
          <a:p>
            <a:r>
              <a:rPr lang="en-US" b="1" dirty="0"/>
              <a:t>Call Function:</a:t>
            </a:r>
            <a:r>
              <a:rPr lang="en-US" dirty="0"/>
              <a:t> jump and link (</a:t>
            </a:r>
            <a:r>
              <a:rPr lang="en-US" dirty="0" err="1">
                <a:latin typeface="Courier New" pitchFamily="49" charset="0"/>
              </a:rPr>
              <a:t>jal</a:t>
            </a:r>
            <a:r>
              <a:rPr lang="en-US" dirty="0"/>
              <a:t>) </a:t>
            </a:r>
          </a:p>
          <a:p>
            <a:r>
              <a:rPr lang="en-US" b="1" dirty="0"/>
              <a:t>Return</a:t>
            </a:r>
            <a:r>
              <a:rPr lang="en-US" dirty="0"/>
              <a:t> from function: jump register (</a:t>
            </a:r>
            <a:r>
              <a:rPr lang="en-US" dirty="0" err="1">
                <a:latin typeface="Courier New" pitchFamily="49" charset="0"/>
              </a:rPr>
              <a:t>jr</a:t>
            </a:r>
            <a:r>
              <a:rPr lang="en-US" dirty="0"/>
              <a:t>)</a:t>
            </a:r>
            <a:endParaRPr lang="en-US" dirty="0">
              <a:latin typeface="Courier New" pitchFamily="49" charset="0"/>
            </a:endParaRPr>
          </a:p>
          <a:p>
            <a:r>
              <a:rPr lang="en-US" b="1" dirty="0"/>
              <a:t>Arguments</a:t>
            </a:r>
            <a:r>
              <a:rPr lang="en-US" dirty="0"/>
              <a:t>: </a:t>
            </a:r>
            <a:r>
              <a:rPr lang="en-US" dirty="0">
                <a:latin typeface="Courier10 BT" pitchFamily="49" charset="0"/>
              </a:rPr>
              <a:t>$a0 - $a3</a:t>
            </a:r>
          </a:p>
          <a:p>
            <a:r>
              <a:rPr lang="en-US" b="1" dirty="0"/>
              <a:t>Return value</a:t>
            </a:r>
            <a:r>
              <a:rPr lang="en-US" dirty="0"/>
              <a:t>: </a:t>
            </a:r>
            <a:r>
              <a:rPr lang="en-US" dirty="0">
                <a:latin typeface="Courier10 BT" pitchFamily="49" charset="0"/>
              </a:rPr>
              <a:t>$v0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1132547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MIPS Function Conventions</a:t>
            </a:r>
          </a:p>
        </p:txBody>
      </p:sp>
    </p:spTree>
    <p:extLst>
      <p:ext uri="{BB962C8B-B14F-4D97-AF65-F5344CB8AC3E}">
        <p14:creationId xmlns:p14="http://schemas.microsoft.com/office/powerpoint/2010/main" val="4225065230"/>
      </p:ext>
    </p:extLst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990" name="Rectangle 6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66800" y="1524000"/>
            <a:ext cx="3962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700" dirty="0">
                <a:latin typeface="Courier New" pitchFamily="49" charset="0"/>
                <a:cs typeface="Arial" charset="0"/>
              </a:rPr>
              <a:t> main()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  simple();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  a = b + c;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}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7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void simple()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  return;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}</a:t>
            </a:r>
          </a:p>
        </p:txBody>
      </p:sp>
      <p:sp>
        <p:nvSpPr>
          <p:cNvPr id="1065991" name="Rectangle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962400" y="1524000"/>
            <a:ext cx="4953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  <a:endParaRPr lang="en-US" sz="1700" b="1" dirty="0">
              <a:solidFill>
                <a:schemeClr val="accent1"/>
              </a:solidFill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1700" b="1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700" b="1" dirty="0">
                <a:latin typeface="Courier New" pitchFamily="49" charset="0"/>
                <a:cs typeface="Arial" charset="0"/>
              </a:rPr>
              <a:t>0x00400200</a:t>
            </a:r>
            <a:r>
              <a:rPr lang="en-US" sz="1700" dirty="0">
                <a:latin typeface="Courier New" pitchFamily="49" charset="0"/>
                <a:cs typeface="Arial" charset="0"/>
              </a:rPr>
              <a:t> main: </a:t>
            </a:r>
            <a:r>
              <a:rPr lang="en-US" sz="1700" dirty="0" err="1">
                <a:latin typeface="Courier New" pitchFamily="49" charset="0"/>
                <a:cs typeface="Arial" charset="0"/>
              </a:rPr>
              <a:t>jal</a:t>
            </a:r>
            <a:r>
              <a:rPr lang="en-US" sz="1700" dirty="0">
                <a:latin typeface="Courier New" pitchFamily="49" charset="0"/>
                <a:cs typeface="Arial" charset="0"/>
              </a:rPr>
              <a:t>  simple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700" b="1" dirty="0">
                <a:latin typeface="Courier New" pitchFamily="49" charset="0"/>
                <a:cs typeface="Arial" charset="0"/>
              </a:rPr>
              <a:t>0x00400204</a:t>
            </a:r>
            <a:r>
              <a:rPr lang="en-US" sz="1700" dirty="0">
                <a:latin typeface="Courier New" pitchFamily="49" charset="0"/>
                <a:cs typeface="Arial" charset="0"/>
              </a:rPr>
              <a:t>       add  $s0, $s1, $s2</a:t>
            </a:r>
          </a:p>
          <a:p>
            <a:pPr marL="342900" indent="-342900"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...</a:t>
            </a:r>
          </a:p>
          <a:p>
            <a:pPr marL="342900" indent="-342900">
              <a:spcBef>
                <a:spcPct val="20000"/>
              </a:spcBef>
            </a:pPr>
            <a:endParaRPr lang="en-US" sz="1700" b="1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700" b="1" dirty="0">
                <a:latin typeface="Courier New" pitchFamily="49" charset="0"/>
                <a:cs typeface="Arial" charset="0"/>
              </a:rPr>
              <a:t>0x00401020</a:t>
            </a:r>
            <a:r>
              <a:rPr lang="en-US" sz="1700" dirty="0">
                <a:latin typeface="Courier New" pitchFamily="49" charset="0"/>
                <a:cs typeface="Arial" charset="0"/>
              </a:rPr>
              <a:t> simple: </a:t>
            </a:r>
            <a:r>
              <a:rPr lang="en-US" sz="1700" dirty="0" err="1">
                <a:latin typeface="Courier New" pitchFamily="49" charset="0"/>
                <a:cs typeface="Arial" charset="0"/>
              </a:rPr>
              <a:t>jr</a:t>
            </a:r>
            <a:r>
              <a:rPr lang="en-US" sz="1700" dirty="0">
                <a:latin typeface="Courier New" pitchFamily="49" charset="0"/>
                <a:cs typeface="Arial" charset="0"/>
              </a:rPr>
              <a:t> $</a:t>
            </a:r>
            <a:r>
              <a:rPr lang="en-US" sz="1700" dirty="0" err="1">
                <a:latin typeface="Courier New" pitchFamily="49" charset="0"/>
                <a:cs typeface="Arial" charset="0"/>
              </a:rPr>
              <a:t>ra</a:t>
            </a:r>
            <a:endParaRPr lang="en-US" sz="1700" dirty="0">
              <a:latin typeface="Courier New" pitchFamily="49" charset="0"/>
              <a:cs typeface="Arial" charset="0"/>
            </a:endParaRPr>
          </a:p>
        </p:txBody>
      </p:sp>
      <p:sp>
        <p:nvSpPr>
          <p:cNvPr id="1065992" name="Text Box 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676400" y="4632325"/>
            <a:ext cx="5715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void</a:t>
            </a:r>
            <a:r>
              <a:rPr lang="en-US" sz="2000" b="1" dirty="0">
                <a:solidFill>
                  <a:schemeClr val="accent1"/>
                </a:solidFill>
              </a:rPr>
              <a:t> means that 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simple</a:t>
            </a:r>
            <a:r>
              <a:rPr lang="en-US" sz="2000" b="1" dirty="0">
                <a:solidFill>
                  <a:schemeClr val="accent1"/>
                </a:solidFill>
              </a:rPr>
              <a:t> doesn’t return a value</a:t>
            </a:r>
          </a:p>
        </p:txBody>
      </p:sp>
      <p:sp>
        <p:nvSpPr>
          <p:cNvPr id="1065993" name="Rectangle 9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600200" y="4572000"/>
            <a:ext cx="5715000" cy="53340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Function Calls</a:t>
            </a:r>
          </a:p>
        </p:txBody>
      </p:sp>
    </p:spTree>
    <p:extLst>
      <p:ext uri="{BB962C8B-B14F-4D97-AF65-F5344CB8AC3E}">
        <p14:creationId xmlns:p14="http://schemas.microsoft.com/office/powerpoint/2010/main" val="2183335297"/>
      </p:ext>
    </p:extLst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787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66800" y="1524000"/>
            <a:ext cx="3962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700" dirty="0">
                <a:latin typeface="Courier New" pitchFamily="49" charset="0"/>
                <a:cs typeface="Arial" charset="0"/>
              </a:rPr>
              <a:t> main()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  simple();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  a = b + c;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}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700" dirty="0">
              <a:latin typeface="Courier New" pitchFamily="49" charset="0"/>
              <a:cs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void simple() 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  return;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}</a:t>
            </a:r>
          </a:p>
        </p:txBody>
      </p:sp>
      <p:sp>
        <p:nvSpPr>
          <p:cNvPr id="114278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962400" y="1524000"/>
            <a:ext cx="4953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assembly code</a:t>
            </a:r>
            <a:endParaRPr lang="en-US" sz="1700" b="1" dirty="0">
              <a:solidFill>
                <a:schemeClr val="accent1"/>
              </a:solidFill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1700" b="1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700" b="1" dirty="0">
                <a:latin typeface="Courier New" pitchFamily="49" charset="0"/>
                <a:cs typeface="Arial" charset="0"/>
              </a:rPr>
              <a:t>0x00400200</a:t>
            </a:r>
            <a:r>
              <a:rPr lang="en-US" sz="1700" dirty="0">
                <a:latin typeface="Courier New" pitchFamily="49" charset="0"/>
                <a:cs typeface="Arial" charset="0"/>
              </a:rPr>
              <a:t> main: </a:t>
            </a:r>
            <a:r>
              <a:rPr lang="en-US" sz="1700" b="1" dirty="0" err="1">
                <a:solidFill>
                  <a:schemeClr val="accent1"/>
                </a:solidFill>
                <a:latin typeface="Courier New" pitchFamily="49" charset="0"/>
                <a:cs typeface="Arial" charset="0"/>
              </a:rPr>
              <a:t>jal</a:t>
            </a:r>
            <a:r>
              <a:rPr lang="en-US" sz="1700" b="1" dirty="0">
                <a:solidFill>
                  <a:schemeClr val="accent1"/>
                </a:solidFill>
                <a:latin typeface="Courier New" pitchFamily="49" charset="0"/>
                <a:cs typeface="Arial" charset="0"/>
              </a:rPr>
              <a:t>  simple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700" b="1" dirty="0">
                <a:latin typeface="Courier New" pitchFamily="49" charset="0"/>
                <a:cs typeface="Arial" charset="0"/>
              </a:rPr>
              <a:t>0x00400204</a:t>
            </a:r>
            <a:r>
              <a:rPr lang="en-US" sz="1700" dirty="0">
                <a:latin typeface="Courier New" pitchFamily="49" charset="0"/>
                <a:cs typeface="Arial" charset="0"/>
              </a:rPr>
              <a:t>       add  $s0, $s1, $s2</a:t>
            </a:r>
          </a:p>
          <a:p>
            <a:pPr marL="342900" indent="-342900">
              <a:spcBef>
                <a:spcPct val="20000"/>
              </a:spcBef>
            </a:pPr>
            <a:r>
              <a:rPr lang="en-US" sz="1700" dirty="0">
                <a:latin typeface="Courier New" pitchFamily="49" charset="0"/>
                <a:cs typeface="Arial" charset="0"/>
              </a:rPr>
              <a:t>...</a:t>
            </a:r>
          </a:p>
          <a:p>
            <a:pPr marL="342900" indent="-342900">
              <a:spcBef>
                <a:spcPct val="20000"/>
              </a:spcBef>
            </a:pPr>
            <a:endParaRPr lang="en-US" sz="1700" b="1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700" b="1" dirty="0">
                <a:latin typeface="Courier New" pitchFamily="49" charset="0"/>
                <a:cs typeface="Arial" charset="0"/>
              </a:rPr>
              <a:t>0x00401020</a:t>
            </a:r>
            <a:r>
              <a:rPr lang="en-US" sz="1700" dirty="0">
                <a:latin typeface="Courier New" pitchFamily="49" charset="0"/>
                <a:cs typeface="Arial" charset="0"/>
              </a:rPr>
              <a:t> simple: </a:t>
            </a:r>
            <a:r>
              <a:rPr lang="en-US" sz="1700" b="1" dirty="0" err="1">
                <a:solidFill>
                  <a:schemeClr val="accent1"/>
                </a:solidFill>
                <a:latin typeface="Courier New" pitchFamily="49" charset="0"/>
                <a:cs typeface="Arial" charset="0"/>
              </a:rPr>
              <a:t>jr</a:t>
            </a:r>
            <a:r>
              <a:rPr lang="en-US" sz="1700" b="1" dirty="0">
                <a:solidFill>
                  <a:schemeClr val="accent1"/>
                </a:solidFill>
                <a:latin typeface="Courier New" pitchFamily="49" charset="0"/>
                <a:cs typeface="Arial" charset="0"/>
              </a:rPr>
              <a:t> $</a:t>
            </a:r>
            <a:r>
              <a:rPr lang="en-US" sz="1700" b="1" dirty="0" err="1">
                <a:solidFill>
                  <a:schemeClr val="accent1"/>
                </a:solidFill>
                <a:latin typeface="Courier New" pitchFamily="49" charset="0"/>
                <a:cs typeface="Arial" charset="0"/>
              </a:rPr>
              <a:t>ra</a:t>
            </a:r>
            <a:endParaRPr lang="en-US" sz="1700" b="1" dirty="0">
              <a:solidFill>
                <a:schemeClr val="accent1"/>
              </a:solidFill>
              <a:latin typeface="Courier New" pitchFamily="49" charset="0"/>
              <a:cs typeface="Arial" charset="0"/>
            </a:endParaRPr>
          </a:p>
        </p:txBody>
      </p:sp>
      <p:sp>
        <p:nvSpPr>
          <p:cNvPr id="1142791" name="Text Box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4556125"/>
            <a:ext cx="8153400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jal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:</a:t>
            </a:r>
            <a:r>
              <a:rPr lang="en-US" sz="2000" dirty="0">
                <a:latin typeface="Times New Roman" pitchFamily="18" charset="0"/>
              </a:rPr>
              <a:t> jumps to </a:t>
            </a:r>
            <a:r>
              <a:rPr lang="en-US" sz="2000" dirty="0">
                <a:latin typeface="Courier New" pitchFamily="49" charset="0"/>
              </a:rPr>
              <a:t>simple</a:t>
            </a:r>
            <a:endParaRPr lang="en-US" sz="2000" dirty="0">
              <a:latin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</a:rPr>
              <a:t>          </a:t>
            </a:r>
            <a:r>
              <a:rPr lang="en-US" sz="2000" dirty="0">
                <a:latin typeface="Courier New" pitchFamily="49" charset="0"/>
              </a:rPr>
              <a:t>$</a:t>
            </a:r>
            <a:r>
              <a:rPr lang="en-US" sz="2000" dirty="0" err="1">
                <a:latin typeface="Courier New" pitchFamily="49" charset="0"/>
              </a:rPr>
              <a:t>ra</a:t>
            </a:r>
            <a:r>
              <a:rPr lang="en-US" sz="2000" dirty="0">
                <a:latin typeface="Times New Roman" pitchFamily="18" charset="0"/>
              </a:rPr>
              <a:t> = PC + 4 = 0x00400204</a:t>
            </a:r>
          </a:p>
          <a:p>
            <a:pPr>
              <a:spcBef>
                <a:spcPct val="50000"/>
              </a:spcBef>
            </a:pP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jr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ra</a:t>
            </a: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</a:rPr>
              <a:t>: </a:t>
            </a:r>
            <a:r>
              <a:rPr lang="en-US" sz="2000" dirty="0">
                <a:latin typeface="Times New Roman" pitchFamily="18" charset="0"/>
              </a:rPr>
              <a:t>jumps to address in </a:t>
            </a:r>
            <a:r>
              <a:rPr lang="en-US" sz="2000" dirty="0">
                <a:latin typeface="Courier New" pitchFamily="49" charset="0"/>
              </a:rPr>
              <a:t>$</a:t>
            </a:r>
            <a:r>
              <a:rPr lang="en-US" sz="2000" dirty="0" err="1">
                <a:latin typeface="Courier New" pitchFamily="49" charset="0"/>
              </a:rPr>
              <a:t>ra</a:t>
            </a:r>
            <a:r>
              <a:rPr lang="en-US" sz="2000" dirty="0">
                <a:latin typeface="Times New Roman" pitchFamily="18" charset="0"/>
              </a:rPr>
              <a:t> (0x00400204)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Function Calls</a:t>
            </a:r>
          </a:p>
        </p:txBody>
      </p:sp>
    </p:spTree>
    <p:extLst>
      <p:ext uri="{BB962C8B-B14F-4D97-AF65-F5344CB8AC3E}">
        <p14:creationId xmlns:p14="http://schemas.microsoft.com/office/powerpoint/2010/main" val="84131042"/>
      </p:ext>
    </p:extLst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035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68036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068039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906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MIPS conventions: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Times New Roman" pitchFamily="18" charset="0"/>
                <a:cs typeface="Arial" charset="0"/>
              </a:rPr>
              <a:t>Argument values: </a:t>
            </a:r>
            <a:r>
              <a:rPr lang="en-US" sz="2600" dirty="0">
                <a:latin typeface="Courier New" pitchFamily="49" charset="0"/>
                <a:cs typeface="Arial" charset="0"/>
              </a:rPr>
              <a:t>$a0</a:t>
            </a:r>
            <a:r>
              <a:rPr lang="en-US" sz="2600" dirty="0">
                <a:latin typeface="Times New Roman" pitchFamily="18" charset="0"/>
                <a:cs typeface="Arial" charset="0"/>
              </a:rPr>
              <a:t> - </a:t>
            </a:r>
            <a:r>
              <a:rPr lang="en-US" sz="2600" dirty="0">
                <a:latin typeface="Courier New" pitchFamily="49" charset="0"/>
                <a:cs typeface="Arial" charset="0"/>
              </a:rPr>
              <a:t>$a3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600" dirty="0">
                <a:latin typeface="Times New Roman" pitchFamily="18" charset="0"/>
                <a:cs typeface="Arial" charset="0"/>
              </a:rPr>
              <a:t>Return value: </a:t>
            </a:r>
            <a:r>
              <a:rPr lang="en-US" sz="2600" dirty="0">
                <a:latin typeface="Courier New" pitchFamily="49" charset="0"/>
                <a:cs typeface="Arial" charset="0"/>
              </a:rPr>
              <a:t>$v0</a:t>
            </a:r>
          </a:p>
          <a:p>
            <a:pPr marL="342900" indent="-342900">
              <a:spcBef>
                <a:spcPct val="20000"/>
              </a:spcBef>
            </a:pPr>
            <a:endParaRPr lang="en-US" sz="32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Input Arguments &amp; Return Value</a:t>
            </a:r>
          </a:p>
        </p:txBody>
      </p:sp>
    </p:spTree>
    <p:extLst>
      <p:ext uri="{BB962C8B-B14F-4D97-AF65-F5344CB8AC3E}">
        <p14:creationId xmlns:p14="http://schemas.microsoft.com/office/powerpoint/2010/main" val="3515050223"/>
      </p:ext>
    </p:extLst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811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43812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143813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906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C Code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main()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{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y;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...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y =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diffofsums</a:t>
            </a:r>
            <a:r>
              <a:rPr lang="en-US" sz="1800" dirty="0">
                <a:latin typeface="Courier New" pitchFamily="49" charset="0"/>
                <a:cs typeface="Arial" charset="0"/>
              </a:rPr>
              <a:t>(2, 3, 4, 5);  // 4 arguments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...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}</a:t>
            </a:r>
          </a:p>
          <a:p>
            <a:pPr marL="342900" indent="-342900">
              <a:spcBef>
                <a:spcPct val="20000"/>
              </a:spcBef>
            </a:pPr>
            <a:endParaRPr lang="en-US" sz="8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diffofsums</a:t>
            </a:r>
            <a:r>
              <a:rPr lang="en-US" sz="1800" dirty="0">
                <a:latin typeface="Courier New" pitchFamily="49" charset="0"/>
                <a:cs typeface="Arial" charset="0"/>
              </a:rPr>
              <a:t>(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f,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g,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h,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)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{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result;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result = (f + g) - (h + 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dirty="0">
                <a:latin typeface="Courier New" pitchFamily="49" charset="0"/>
                <a:cs typeface="Arial" charset="0"/>
              </a:rPr>
              <a:t>);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return result;               // return value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}</a:t>
            </a:r>
          </a:p>
          <a:p>
            <a:pPr marL="342900" indent="-342900"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Input Arguments &amp; Return Value</a:t>
            </a:r>
          </a:p>
        </p:txBody>
      </p:sp>
    </p:spTree>
    <p:extLst>
      <p:ext uri="{BB962C8B-B14F-4D97-AF65-F5344CB8AC3E}">
        <p14:creationId xmlns:p14="http://schemas.microsoft.com/office/powerpoint/2010/main" val="1072857688"/>
      </p:ext>
    </p:extLst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059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6906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06906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1600">
              <a:latin typeface="Times New Roman" pitchFamily="18" charset="0"/>
              <a:cs typeface="Arial" charset="0"/>
            </a:endParaRPr>
          </a:p>
        </p:txBody>
      </p:sp>
      <p:sp>
        <p:nvSpPr>
          <p:cNvPr id="1069062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447800" y="990600"/>
            <a:ext cx="7162800" cy="5432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</a:rPr>
              <a:t>MIPS assembly code</a:t>
            </a:r>
          </a:p>
          <a:p>
            <a:r>
              <a:rPr lang="en-US" sz="1700" dirty="0">
                <a:latin typeface="Courier New" pitchFamily="49" charset="0"/>
              </a:rPr>
              <a:t># $s0 = y</a:t>
            </a:r>
          </a:p>
          <a:p>
            <a:endParaRPr lang="en-US" sz="1700" dirty="0">
              <a:latin typeface="Courier New" pitchFamily="49" charset="0"/>
            </a:endParaRPr>
          </a:p>
          <a:p>
            <a:r>
              <a:rPr lang="en-US" sz="1700" dirty="0">
                <a:latin typeface="Courier New" pitchFamily="49" charset="0"/>
              </a:rPr>
              <a:t>main:  </a:t>
            </a:r>
          </a:p>
          <a:p>
            <a:r>
              <a:rPr lang="en-US" sz="1700" dirty="0">
                <a:latin typeface="Courier New" pitchFamily="49" charset="0"/>
              </a:rPr>
              <a:t>  ...</a:t>
            </a:r>
          </a:p>
          <a:p>
            <a:r>
              <a:rPr lang="en-US" sz="1700" dirty="0">
                <a:latin typeface="Courier New" pitchFamily="49" charset="0"/>
              </a:rPr>
              <a:t>  </a:t>
            </a:r>
            <a:r>
              <a:rPr lang="en-US" sz="1700" dirty="0" err="1">
                <a:latin typeface="Courier New" pitchFamily="49" charset="0"/>
              </a:rPr>
              <a:t>addi</a:t>
            </a:r>
            <a:r>
              <a:rPr lang="en-US" sz="1700" dirty="0">
                <a:latin typeface="Courier New" pitchFamily="49" charset="0"/>
              </a:rPr>
              <a:t> $a0, $0, 2    # argument 0 = 2</a:t>
            </a:r>
          </a:p>
          <a:p>
            <a:r>
              <a:rPr lang="en-US" sz="1700" dirty="0">
                <a:latin typeface="Courier New" pitchFamily="49" charset="0"/>
              </a:rPr>
              <a:t>  </a:t>
            </a:r>
            <a:r>
              <a:rPr lang="en-US" sz="1700" dirty="0" err="1">
                <a:latin typeface="Courier New" pitchFamily="49" charset="0"/>
              </a:rPr>
              <a:t>addi</a:t>
            </a:r>
            <a:r>
              <a:rPr lang="en-US" sz="1700" dirty="0">
                <a:latin typeface="Courier New" pitchFamily="49" charset="0"/>
              </a:rPr>
              <a:t> $a1, $0, 3    # argument 1 = 3</a:t>
            </a:r>
          </a:p>
          <a:p>
            <a:r>
              <a:rPr lang="en-US" sz="1700" dirty="0">
                <a:latin typeface="Courier New" pitchFamily="49" charset="0"/>
              </a:rPr>
              <a:t>  </a:t>
            </a:r>
            <a:r>
              <a:rPr lang="en-US" sz="1700" dirty="0" err="1">
                <a:latin typeface="Courier New" pitchFamily="49" charset="0"/>
              </a:rPr>
              <a:t>addi</a:t>
            </a:r>
            <a:r>
              <a:rPr lang="en-US" sz="1700" dirty="0">
                <a:latin typeface="Courier New" pitchFamily="49" charset="0"/>
              </a:rPr>
              <a:t> $a2, $0, 4    # argument 2 = 4</a:t>
            </a:r>
          </a:p>
          <a:p>
            <a:r>
              <a:rPr lang="en-US" sz="1700" dirty="0">
                <a:latin typeface="Courier New" pitchFamily="49" charset="0"/>
              </a:rPr>
              <a:t>  </a:t>
            </a:r>
            <a:r>
              <a:rPr lang="en-US" sz="1700" dirty="0" err="1">
                <a:latin typeface="Courier New" pitchFamily="49" charset="0"/>
              </a:rPr>
              <a:t>addi</a:t>
            </a:r>
            <a:r>
              <a:rPr lang="en-US" sz="1700" dirty="0">
                <a:latin typeface="Courier New" pitchFamily="49" charset="0"/>
              </a:rPr>
              <a:t> $a3, $0, 5    # argument 3 = 5</a:t>
            </a:r>
          </a:p>
          <a:p>
            <a:r>
              <a:rPr lang="en-US" sz="1700" dirty="0">
                <a:latin typeface="Courier New" pitchFamily="49" charset="0"/>
              </a:rPr>
              <a:t>  </a:t>
            </a:r>
            <a:r>
              <a:rPr lang="en-US" sz="1700" dirty="0" err="1">
                <a:latin typeface="Courier New" pitchFamily="49" charset="0"/>
              </a:rPr>
              <a:t>jal</a:t>
            </a:r>
            <a:r>
              <a:rPr lang="en-US" sz="1700" dirty="0">
                <a:latin typeface="Courier New" pitchFamily="49" charset="0"/>
              </a:rPr>
              <a:t>  </a:t>
            </a:r>
            <a:r>
              <a:rPr lang="en-US" sz="1700" dirty="0" err="1">
                <a:latin typeface="Courier New" pitchFamily="49" charset="0"/>
              </a:rPr>
              <a:t>diffofsums</a:t>
            </a:r>
            <a:r>
              <a:rPr lang="en-US" sz="1700" dirty="0">
                <a:latin typeface="Courier New" pitchFamily="49" charset="0"/>
              </a:rPr>
              <a:t>    # call Function</a:t>
            </a:r>
          </a:p>
          <a:p>
            <a:r>
              <a:rPr lang="en-US" sz="1700" dirty="0">
                <a:latin typeface="Courier New" pitchFamily="49" charset="0"/>
              </a:rPr>
              <a:t>  add  $s0, $v0, $0  # y = returned value</a:t>
            </a:r>
          </a:p>
          <a:p>
            <a:r>
              <a:rPr lang="en-US" sz="1700" dirty="0">
                <a:latin typeface="Courier New" pitchFamily="49" charset="0"/>
              </a:rPr>
              <a:t>  ...</a:t>
            </a:r>
          </a:p>
          <a:p>
            <a:endParaRPr lang="en-US" sz="1700" dirty="0">
              <a:latin typeface="Courier New" pitchFamily="49" charset="0"/>
            </a:endParaRPr>
          </a:p>
          <a:p>
            <a:r>
              <a:rPr lang="en-US" sz="1700" dirty="0">
                <a:latin typeface="Courier New" pitchFamily="49" charset="0"/>
              </a:rPr>
              <a:t># $s0 = result</a:t>
            </a:r>
          </a:p>
          <a:p>
            <a:r>
              <a:rPr lang="en-US" sz="1700" dirty="0" err="1">
                <a:latin typeface="Courier New" pitchFamily="49" charset="0"/>
              </a:rPr>
              <a:t>diffofsums</a:t>
            </a:r>
            <a:r>
              <a:rPr lang="en-US" sz="1700" dirty="0">
                <a:latin typeface="Courier New" pitchFamily="49" charset="0"/>
              </a:rPr>
              <a:t>:</a:t>
            </a:r>
          </a:p>
          <a:p>
            <a:r>
              <a:rPr lang="en-US" sz="1700" dirty="0">
                <a:latin typeface="Courier New" pitchFamily="49" charset="0"/>
              </a:rPr>
              <a:t>  add $t0, $a0, $a1  # $t0 = f + g</a:t>
            </a:r>
          </a:p>
          <a:p>
            <a:r>
              <a:rPr lang="en-US" sz="1700" dirty="0">
                <a:latin typeface="Courier New" pitchFamily="49" charset="0"/>
              </a:rPr>
              <a:t>  add $t1, $a2, $a3  # $t1 = h + </a:t>
            </a:r>
            <a:r>
              <a:rPr lang="en-US" sz="1700" dirty="0" err="1">
                <a:latin typeface="Courier New" pitchFamily="49" charset="0"/>
              </a:rPr>
              <a:t>i</a:t>
            </a:r>
            <a:endParaRPr lang="en-US" sz="1700" dirty="0">
              <a:latin typeface="Courier New" pitchFamily="49" charset="0"/>
            </a:endParaRPr>
          </a:p>
          <a:p>
            <a:r>
              <a:rPr lang="en-US" sz="1700" dirty="0">
                <a:latin typeface="Courier New" pitchFamily="49" charset="0"/>
              </a:rPr>
              <a:t>  sub $s0, $t0, $t1  # result = (f + g) - (h + </a:t>
            </a:r>
            <a:r>
              <a:rPr lang="en-US" sz="1700" dirty="0" err="1">
                <a:latin typeface="Courier New" pitchFamily="49" charset="0"/>
              </a:rPr>
              <a:t>i</a:t>
            </a:r>
            <a:r>
              <a:rPr lang="en-US" sz="1700" dirty="0">
                <a:latin typeface="Courier New" pitchFamily="49" charset="0"/>
              </a:rPr>
              <a:t>)</a:t>
            </a:r>
          </a:p>
          <a:p>
            <a:r>
              <a:rPr lang="en-US" sz="1700" dirty="0">
                <a:latin typeface="Courier New" pitchFamily="49" charset="0"/>
              </a:rPr>
              <a:t>  add $v0, $s0, $0   # put return value in $v0</a:t>
            </a:r>
          </a:p>
          <a:p>
            <a:r>
              <a:rPr lang="en-US" sz="1700" dirty="0">
                <a:latin typeface="Courier New" pitchFamily="49" charset="0"/>
              </a:rPr>
              <a:t>  </a:t>
            </a:r>
            <a:r>
              <a:rPr lang="en-US" sz="1700" dirty="0" err="1">
                <a:latin typeface="Courier New" pitchFamily="49" charset="0"/>
              </a:rPr>
              <a:t>jr</a:t>
            </a:r>
            <a:r>
              <a:rPr lang="en-US" sz="1700" dirty="0">
                <a:latin typeface="Courier New" pitchFamily="49" charset="0"/>
              </a:rPr>
              <a:t>  $</a:t>
            </a:r>
            <a:r>
              <a:rPr lang="en-US" sz="1700" dirty="0" err="1">
                <a:latin typeface="Courier New" pitchFamily="49" charset="0"/>
              </a:rPr>
              <a:t>ra</a:t>
            </a:r>
            <a:r>
              <a:rPr lang="en-US" sz="1700" dirty="0">
                <a:latin typeface="Courier New" pitchFamily="49" charset="0"/>
              </a:rPr>
              <a:t>            # return to caller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Input Arguments &amp; Return Value</a:t>
            </a:r>
          </a:p>
        </p:txBody>
      </p:sp>
    </p:spTree>
    <p:extLst>
      <p:ext uri="{BB962C8B-B14F-4D97-AF65-F5344CB8AC3E}">
        <p14:creationId xmlns:p14="http://schemas.microsoft.com/office/powerpoint/2010/main" val="1803834948"/>
      </p:ext>
    </p:extLst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739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4074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14074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1600">
              <a:latin typeface="Times New Roman" pitchFamily="18" charset="0"/>
              <a:cs typeface="Arial" charset="0"/>
            </a:endParaRPr>
          </a:p>
        </p:txBody>
      </p:sp>
      <p:sp>
        <p:nvSpPr>
          <p:cNvPr id="1140742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447800" y="990600"/>
            <a:ext cx="7162800" cy="229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</a:rPr>
              <a:t>MIPS assembly code</a:t>
            </a:r>
          </a:p>
          <a:p>
            <a:r>
              <a:rPr lang="en-US" sz="1700" dirty="0">
                <a:latin typeface="Courier New" pitchFamily="49" charset="0"/>
              </a:rPr>
              <a:t># $s0 = result</a:t>
            </a:r>
          </a:p>
          <a:p>
            <a:r>
              <a:rPr lang="en-US" sz="1700" dirty="0" err="1">
                <a:latin typeface="Courier New" pitchFamily="49" charset="0"/>
              </a:rPr>
              <a:t>diffofsums</a:t>
            </a:r>
            <a:r>
              <a:rPr lang="en-US" sz="1700" dirty="0">
                <a:latin typeface="Courier New" pitchFamily="49" charset="0"/>
              </a:rPr>
              <a:t>:</a:t>
            </a:r>
          </a:p>
          <a:p>
            <a:r>
              <a:rPr lang="en-US" sz="1700" dirty="0">
                <a:latin typeface="Courier New" pitchFamily="49" charset="0"/>
              </a:rPr>
              <a:t>  add </a:t>
            </a:r>
            <a:r>
              <a:rPr lang="en-US" sz="1700" b="1" dirty="0">
                <a:solidFill>
                  <a:srgbClr val="FF3300"/>
                </a:solidFill>
                <a:latin typeface="Courier New" pitchFamily="49" charset="0"/>
              </a:rPr>
              <a:t>$t0</a:t>
            </a:r>
            <a:r>
              <a:rPr lang="en-US" sz="1700" dirty="0">
                <a:latin typeface="Courier New" pitchFamily="49" charset="0"/>
              </a:rPr>
              <a:t>, $a0, $a1  # $t0 = f + g</a:t>
            </a:r>
          </a:p>
          <a:p>
            <a:r>
              <a:rPr lang="en-US" sz="1700" dirty="0">
                <a:latin typeface="Courier New" pitchFamily="49" charset="0"/>
              </a:rPr>
              <a:t>  add </a:t>
            </a:r>
            <a:r>
              <a:rPr lang="en-US" sz="1700" b="1" dirty="0">
                <a:solidFill>
                  <a:srgbClr val="FF3300"/>
                </a:solidFill>
                <a:latin typeface="Courier New" pitchFamily="49" charset="0"/>
              </a:rPr>
              <a:t>$t1</a:t>
            </a:r>
            <a:r>
              <a:rPr lang="en-US" sz="1700" dirty="0">
                <a:latin typeface="Courier New" pitchFamily="49" charset="0"/>
              </a:rPr>
              <a:t>, $a2, $a3  # $t1 = h + </a:t>
            </a:r>
            <a:r>
              <a:rPr lang="en-US" sz="1700" dirty="0" err="1">
                <a:latin typeface="Courier New" pitchFamily="49" charset="0"/>
              </a:rPr>
              <a:t>i</a:t>
            </a:r>
            <a:endParaRPr lang="en-US" sz="1700" dirty="0">
              <a:latin typeface="Courier New" pitchFamily="49" charset="0"/>
            </a:endParaRPr>
          </a:p>
          <a:p>
            <a:r>
              <a:rPr lang="en-US" sz="1700" dirty="0">
                <a:latin typeface="Courier New" pitchFamily="49" charset="0"/>
              </a:rPr>
              <a:t>  sub </a:t>
            </a:r>
            <a:r>
              <a:rPr lang="en-US" sz="1700" b="1" dirty="0">
                <a:solidFill>
                  <a:srgbClr val="FF3300"/>
                </a:solidFill>
                <a:latin typeface="Courier New" pitchFamily="49" charset="0"/>
              </a:rPr>
              <a:t>$s0</a:t>
            </a:r>
            <a:r>
              <a:rPr lang="en-US" sz="1700" dirty="0">
                <a:latin typeface="Courier New" pitchFamily="49" charset="0"/>
              </a:rPr>
              <a:t>, $t0, $t1  # result = (f + g) - (h + </a:t>
            </a:r>
            <a:r>
              <a:rPr lang="en-US" sz="1700" dirty="0" err="1">
                <a:latin typeface="Courier New" pitchFamily="49" charset="0"/>
              </a:rPr>
              <a:t>i</a:t>
            </a:r>
            <a:r>
              <a:rPr lang="en-US" sz="1700" dirty="0">
                <a:latin typeface="Courier New" pitchFamily="49" charset="0"/>
              </a:rPr>
              <a:t>)</a:t>
            </a:r>
          </a:p>
          <a:p>
            <a:r>
              <a:rPr lang="en-US" sz="1700" dirty="0">
                <a:latin typeface="Courier New" pitchFamily="49" charset="0"/>
              </a:rPr>
              <a:t>  add $v0, $s0, $0   # put return value in $v0</a:t>
            </a:r>
          </a:p>
          <a:p>
            <a:r>
              <a:rPr lang="en-US" sz="1700" dirty="0">
                <a:latin typeface="Courier New" pitchFamily="49" charset="0"/>
              </a:rPr>
              <a:t>  </a:t>
            </a:r>
            <a:r>
              <a:rPr lang="en-US" sz="1700" dirty="0" err="1">
                <a:latin typeface="Courier New" pitchFamily="49" charset="0"/>
              </a:rPr>
              <a:t>jr</a:t>
            </a:r>
            <a:r>
              <a:rPr lang="en-US" sz="1700" dirty="0">
                <a:latin typeface="Courier New" pitchFamily="49" charset="0"/>
              </a:rPr>
              <a:t>  $</a:t>
            </a:r>
            <a:r>
              <a:rPr lang="en-US" sz="1700" dirty="0" err="1">
                <a:latin typeface="Courier New" pitchFamily="49" charset="0"/>
              </a:rPr>
              <a:t>ra</a:t>
            </a:r>
            <a:r>
              <a:rPr lang="en-US" sz="1700" dirty="0">
                <a:latin typeface="Courier New" pitchFamily="49" charset="0"/>
              </a:rPr>
              <a:t>            # return to caller</a:t>
            </a:r>
          </a:p>
        </p:txBody>
      </p:sp>
      <p:sp>
        <p:nvSpPr>
          <p:cNvPr id="1140743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38200" y="3733800"/>
            <a:ext cx="8229600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sz="2600" dirty="0">
                <a:latin typeface="Times New Roman" pitchFamily="18" charset="0"/>
              </a:rPr>
              <a:t> </a:t>
            </a:r>
            <a:r>
              <a:rPr lang="en-US" sz="2600" dirty="0" err="1">
                <a:latin typeface="Courier New" pitchFamily="49" charset="0"/>
              </a:rPr>
              <a:t>diffofsums</a:t>
            </a:r>
            <a:r>
              <a:rPr lang="en-US" sz="2600" dirty="0">
                <a:latin typeface="Times New Roman" pitchFamily="18" charset="0"/>
              </a:rPr>
              <a:t> overwrote 3 registers:</a:t>
            </a:r>
            <a:r>
              <a:rPr lang="en-US" sz="2600" dirty="0"/>
              <a:t> </a:t>
            </a:r>
            <a:r>
              <a:rPr lang="en-US" sz="2600" dirty="0">
                <a:latin typeface="Courier New" pitchFamily="49" charset="0"/>
              </a:rPr>
              <a:t>$t0</a:t>
            </a:r>
            <a:r>
              <a:rPr lang="en-US" sz="2600" dirty="0"/>
              <a:t>, </a:t>
            </a:r>
            <a:r>
              <a:rPr lang="en-US" sz="2600" dirty="0">
                <a:latin typeface="Courier New" pitchFamily="49" charset="0"/>
              </a:rPr>
              <a:t>$t1</a:t>
            </a:r>
            <a:r>
              <a:rPr lang="en-US" sz="2600" dirty="0"/>
              <a:t>, </a:t>
            </a:r>
            <a:r>
              <a:rPr lang="en-US" sz="2600" dirty="0">
                <a:latin typeface="Courier New" pitchFamily="49" charset="0"/>
              </a:rPr>
              <a:t>$s0</a:t>
            </a:r>
            <a:endParaRPr lang="en-US" sz="2600" dirty="0">
              <a:latin typeface="Times New Roman" pitchFamily="18" charset="0"/>
            </a:endParaRPr>
          </a:p>
          <a:p>
            <a:pPr>
              <a:buFontTx/>
              <a:buChar char="•"/>
            </a:pPr>
            <a:r>
              <a:rPr lang="en-US" sz="2600" dirty="0" err="1">
                <a:latin typeface="Courier New" pitchFamily="49" charset="0"/>
              </a:rPr>
              <a:t>diffofsums</a:t>
            </a:r>
            <a:r>
              <a:rPr lang="en-US" sz="2600" dirty="0">
                <a:latin typeface="Times New Roman" pitchFamily="18" charset="0"/>
              </a:rPr>
              <a:t> can use </a:t>
            </a:r>
            <a:r>
              <a:rPr lang="en-US" sz="2600" i="1" dirty="0">
                <a:latin typeface="Times New Roman" pitchFamily="18" charset="0"/>
              </a:rPr>
              <a:t>stack </a:t>
            </a:r>
            <a:r>
              <a:rPr lang="en-US" sz="2600" dirty="0">
                <a:latin typeface="Times New Roman" pitchFamily="18" charset="0"/>
              </a:rPr>
              <a:t>to temporarily store registers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Input Arguments &amp; Return Value</a:t>
            </a:r>
          </a:p>
        </p:txBody>
      </p:sp>
    </p:spTree>
    <p:extLst>
      <p:ext uri="{BB962C8B-B14F-4D97-AF65-F5344CB8AC3E}">
        <p14:creationId xmlns:p14="http://schemas.microsoft.com/office/powerpoint/2010/main" val="3971830800"/>
      </p:ext>
    </p:extLst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8281" name="Object 9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33946018"/>
              </p:ext>
            </p:extLst>
          </p:nvPr>
        </p:nvGraphicFramePr>
        <p:xfrm>
          <a:off x="6172200" y="1447800"/>
          <a:ext cx="2465387" cy="441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99" r:id="rId8" imgW="1104900" imgH="1981200" progId="">
                  <p:embed/>
                </p:oleObj>
              </mc:Choice>
              <mc:Fallback>
                <p:oleObj r:id="rId8" imgW="1104900" imgH="19812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1447800"/>
                        <a:ext cx="2465387" cy="441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8275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78277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382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1600">
              <a:latin typeface="Times New Roman" pitchFamily="18" charset="0"/>
              <a:cs typeface="Arial" charset="0"/>
            </a:endParaRPr>
          </a:p>
        </p:txBody>
      </p:sp>
      <p:sp>
        <p:nvSpPr>
          <p:cNvPr id="1078280" name="Rectangle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14400" y="1143000"/>
            <a:ext cx="53340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Memory used to temporarily save variables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Like stack of dishes, last-in-first-out (LIFO) queue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i="1" dirty="0">
                <a:latin typeface="Times New Roman" pitchFamily="18" charset="0"/>
                <a:cs typeface="Arial" charset="0"/>
              </a:rPr>
              <a:t>Expands</a:t>
            </a:r>
            <a:r>
              <a:rPr lang="en-US" sz="3200" b="1" dirty="0">
                <a:latin typeface="Times New Roman" pitchFamily="18" charset="0"/>
                <a:cs typeface="Arial" charset="0"/>
              </a:rPr>
              <a:t>:</a:t>
            </a:r>
            <a:r>
              <a:rPr lang="en-US" sz="3200" dirty="0">
                <a:latin typeface="Times New Roman" pitchFamily="18" charset="0"/>
                <a:cs typeface="Arial" charset="0"/>
              </a:rPr>
              <a:t> uses more memory when more space needed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i="1" dirty="0">
                <a:latin typeface="Times New Roman" pitchFamily="18" charset="0"/>
                <a:cs typeface="Arial" charset="0"/>
              </a:rPr>
              <a:t>Contracts</a:t>
            </a:r>
            <a:r>
              <a:rPr lang="en-US" sz="3200" b="1" dirty="0">
                <a:latin typeface="Times New Roman" pitchFamily="18" charset="0"/>
                <a:cs typeface="Arial" charset="0"/>
              </a:rPr>
              <a:t>: </a:t>
            </a:r>
            <a:r>
              <a:rPr lang="en-US" sz="3200" dirty="0">
                <a:latin typeface="Times New Roman" pitchFamily="18" charset="0"/>
                <a:cs typeface="Arial" charset="0"/>
              </a:rPr>
              <a:t>uses less memory when the space is no longer needed</a:t>
            </a:r>
          </a:p>
          <a:p>
            <a:pPr marL="342900" indent="-342900">
              <a:spcBef>
                <a:spcPct val="20000"/>
              </a:spcBef>
            </a:pPr>
            <a:endParaRPr lang="en-US" sz="32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The Stack</a:t>
            </a:r>
          </a:p>
        </p:txBody>
      </p:sp>
    </p:spTree>
    <p:extLst>
      <p:ext uri="{BB962C8B-B14F-4D97-AF65-F5344CB8AC3E}">
        <p14:creationId xmlns:p14="http://schemas.microsoft.com/office/powerpoint/2010/main" val="3024495591"/>
      </p:ext>
    </p:extLst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4838" name="Object 6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90600685"/>
              </p:ext>
            </p:extLst>
          </p:nvPr>
        </p:nvGraphicFramePr>
        <p:xfrm>
          <a:off x="839788" y="3055937"/>
          <a:ext cx="8304212" cy="304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23" name="VISIO" r:id="rId8" imgW="3656520" imgH="1400040" progId="Visio.Drawing.6">
                  <p:embed/>
                </p:oleObj>
              </mc:Choice>
              <mc:Fallback>
                <p:oleObj name="VISIO" r:id="rId8" imgW="3656520" imgH="14000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788" y="3055937"/>
                        <a:ext cx="8304212" cy="304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4835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44836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144839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144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Grows down (from higher to lower memory addresses)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Stack pointer: </a:t>
            </a:r>
            <a:r>
              <a:rPr lang="en-US" sz="3200" dirty="0">
                <a:latin typeface="Courier New" pitchFamily="49" charset="0"/>
                <a:cs typeface="Arial" charset="0"/>
              </a:rPr>
              <a:t>$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sp</a:t>
            </a:r>
            <a:r>
              <a:rPr lang="en-US" sz="3200" dirty="0">
                <a:latin typeface="Times New Roman" pitchFamily="18" charset="0"/>
                <a:cs typeface="Arial" charset="0"/>
              </a:rPr>
              <a:t> points to top of the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The Stack</a:t>
            </a:r>
          </a:p>
        </p:txBody>
      </p:sp>
    </p:spTree>
    <p:extLst>
      <p:ext uri="{BB962C8B-B14F-4D97-AF65-F5344CB8AC3E}">
        <p14:creationId xmlns:p14="http://schemas.microsoft.com/office/powerpoint/2010/main" val="1465613501"/>
      </p:ext>
    </p:extLst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303" name="Rectangle 7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1447800" y="3335338"/>
            <a:ext cx="7772400" cy="2913062"/>
          </a:xfrm>
          <a:noFill/>
          <a:ln/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# MIPS assembly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# $s0 = result</a:t>
            </a:r>
          </a:p>
          <a:p>
            <a:pPr>
              <a:buFontTx/>
              <a:buNone/>
            </a:pPr>
            <a:r>
              <a:rPr lang="en-US" sz="2000" dirty="0" err="1">
                <a:latin typeface="Courier New" pitchFamily="49" charset="0"/>
              </a:rPr>
              <a:t>diffofsums</a:t>
            </a:r>
            <a:r>
              <a:rPr lang="en-US" sz="2000" dirty="0">
                <a:latin typeface="Courier New" pitchFamily="49" charset="0"/>
              </a:rPr>
              <a:t>: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add </a:t>
            </a:r>
            <a:r>
              <a:rPr lang="en-US" sz="2000" b="1" dirty="0">
                <a:solidFill>
                  <a:srgbClr val="FF3300"/>
                </a:solidFill>
                <a:latin typeface="Courier New" pitchFamily="49" charset="0"/>
              </a:rPr>
              <a:t>$t0</a:t>
            </a:r>
            <a:r>
              <a:rPr lang="en-US" sz="2000" dirty="0">
                <a:latin typeface="Courier New" pitchFamily="49" charset="0"/>
              </a:rPr>
              <a:t>, $a0, $a1  # $t0 = f + g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add </a:t>
            </a:r>
            <a:r>
              <a:rPr lang="en-US" sz="2000" b="1" dirty="0">
                <a:solidFill>
                  <a:srgbClr val="FF3300"/>
                </a:solidFill>
                <a:latin typeface="Courier New" pitchFamily="49" charset="0"/>
              </a:rPr>
              <a:t>$t1</a:t>
            </a:r>
            <a:r>
              <a:rPr lang="en-US" sz="2000" dirty="0">
                <a:latin typeface="Courier New" pitchFamily="49" charset="0"/>
              </a:rPr>
              <a:t>, $a2, $a3  # $t1 = h + </a:t>
            </a:r>
            <a:r>
              <a:rPr lang="en-US" sz="2000" dirty="0" err="1">
                <a:latin typeface="Courier New" pitchFamily="49" charset="0"/>
              </a:rPr>
              <a:t>i</a:t>
            </a:r>
            <a:endParaRPr lang="en-US" sz="20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sub </a:t>
            </a:r>
            <a:r>
              <a:rPr lang="en-US" sz="2000" b="1" dirty="0">
                <a:solidFill>
                  <a:srgbClr val="FF3300"/>
                </a:solidFill>
                <a:latin typeface="Courier New" pitchFamily="49" charset="0"/>
              </a:rPr>
              <a:t>$s0</a:t>
            </a:r>
            <a:r>
              <a:rPr lang="en-US" sz="2000" dirty="0">
                <a:latin typeface="Courier New" pitchFamily="49" charset="0"/>
              </a:rPr>
              <a:t>, $t0, $t1  # result = (f + g) - (h + </a:t>
            </a:r>
            <a:r>
              <a:rPr lang="en-US" sz="2000" dirty="0" err="1">
                <a:latin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add $v0, $s0, $0   # put return value in $v0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</a:t>
            </a:r>
            <a:r>
              <a:rPr lang="en-US" sz="2000" dirty="0" err="1">
                <a:latin typeface="Courier New" pitchFamily="49" charset="0"/>
              </a:rPr>
              <a:t>jr</a:t>
            </a:r>
            <a:r>
              <a:rPr lang="en-US" sz="2000" dirty="0">
                <a:latin typeface="Courier New" pitchFamily="49" charset="0"/>
              </a:rPr>
              <a:t>  $</a:t>
            </a:r>
            <a:r>
              <a:rPr lang="en-US" sz="2000" dirty="0" err="1">
                <a:latin typeface="Courier New" pitchFamily="49" charset="0"/>
              </a:rPr>
              <a:t>ra</a:t>
            </a:r>
            <a:r>
              <a:rPr lang="en-US" sz="2000" dirty="0">
                <a:latin typeface="Courier New" pitchFamily="49" charset="0"/>
              </a:rPr>
              <a:t>            # return to caller</a:t>
            </a:r>
          </a:p>
        </p:txBody>
      </p:sp>
      <p:sp>
        <p:nvSpPr>
          <p:cNvPr id="1079299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79300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079301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382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1600">
              <a:latin typeface="Times New Roman" pitchFamily="18" charset="0"/>
              <a:cs typeface="Arial" charset="0"/>
            </a:endParaRPr>
          </a:p>
        </p:txBody>
      </p:sp>
      <p:sp>
        <p:nvSpPr>
          <p:cNvPr id="1079304" name="Rectangle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000" dirty="0">
                <a:latin typeface="Times New Roman" pitchFamily="18" charset="0"/>
                <a:cs typeface="Arial" charset="0"/>
              </a:rPr>
              <a:t>Called functions must have no unintended side effects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000" dirty="0">
                <a:latin typeface="Times New Roman" pitchFamily="18" charset="0"/>
                <a:cs typeface="Arial" charset="0"/>
              </a:rPr>
              <a:t>But </a:t>
            </a:r>
            <a:r>
              <a:rPr lang="en-US" sz="3000" dirty="0" err="1">
                <a:latin typeface="Courier New" pitchFamily="49" charset="0"/>
                <a:cs typeface="Arial" charset="0"/>
              </a:rPr>
              <a:t>diffofsums</a:t>
            </a:r>
            <a:r>
              <a:rPr lang="en-US" sz="3000" dirty="0">
                <a:latin typeface="Times New Roman" pitchFamily="18" charset="0"/>
                <a:cs typeface="Arial" charset="0"/>
              </a:rPr>
              <a:t> overwrites 3 registers: </a:t>
            </a:r>
            <a:r>
              <a:rPr lang="en-US" sz="3000" dirty="0">
                <a:latin typeface="Courier New" pitchFamily="49" charset="0"/>
                <a:cs typeface="Arial" charset="0"/>
              </a:rPr>
              <a:t>$t0</a:t>
            </a:r>
            <a:r>
              <a:rPr lang="en-US" sz="3000" dirty="0">
                <a:latin typeface="Times New Roman" pitchFamily="18" charset="0"/>
                <a:cs typeface="Arial" charset="0"/>
              </a:rPr>
              <a:t>, </a:t>
            </a:r>
            <a:r>
              <a:rPr lang="en-US" sz="3000" dirty="0">
                <a:latin typeface="Courier New" pitchFamily="49" charset="0"/>
                <a:cs typeface="Arial" charset="0"/>
              </a:rPr>
              <a:t>$t1</a:t>
            </a:r>
            <a:r>
              <a:rPr lang="en-US" sz="3000" dirty="0">
                <a:latin typeface="Times New Roman" pitchFamily="18" charset="0"/>
                <a:cs typeface="Arial" charset="0"/>
              </a:rPr>
              <a:t>, </a:t>
            </a:r>
            <a:r>
              <a:rPr lang="en-US" sz="3000" dirty="0">
                <a:latin typeface="Courier New" pitchFamily="49" charset="0"/>
                <a:cs typeface="Arial" charset="0"/>
              </a:rPr>
              <a:t>$s0</a:t>
            </a:r>
            <a:endParaRPr lang="en-US" sz="30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How Functions use the Stack</a:t>
            </a:r>
          </a:p>
        </p:txBody>
      </p:sp>
    </p:spTree>
    <p:extLst>
      <p:ext uri="{BB962C8B-B14F-4D97-AF65-F5344CB8AC3E}">
        <p14:creationId xmlns:p14="http://schemas.microsoft.com/office/powerpoint/2010/main" val="3911494235"/>
      </p:ext>
    </p:extLst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326" name="Rectangle 6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1371600" y="1143000"/>
            <a:ext cx="7772400" cy="49530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# $s0 = result</a:t>
            </a:r>
          </a:p>
          <a:p>
            <a:pPr>
              <a:buFontTx/>
              <a:buNone/>
            </a:pPr>
            <a:r>
              <a:rPr lang="en-US" sz="1800" dirty="0" err="1">
                <a:latin typeface="Courier New" pitchFamily="49" charset="0"/>
              </a:rPr>
              <a:t>diffofsums</a:t>
            </a:r>
            <a:r>
              <a:rPr lang="en-US" sz="1800" dirty="0">
                <a:latin typeface="Courier New" pitchFamily="49" charset="0"/>
              </a:rPr>
              <a:t>:</a:t>
            </a:r>
          </a:p>
          <a:p>
            <a:pPr>
              <a:buFontTx/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addi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$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, $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, -12  # make space on stack</a:t>
            </a:r>
          </a:p>
          <a:p>
            <a:pPr>
              <a:buFontTx/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                     # to store 3 registers</a:t>
            </a:r>
          </a:p>
          <a:p>
            <a:pPr>
              <a:buFontTx/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sw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  $s0, 8($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)    # save $s0 on stack</a:t>
            </a:r>
          </a:p>
          <a:p>
            <a:pPr>
              <a:buFontTx/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sw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  $t0, 4($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)    # save $t0 on stack</a:t>
            </a:r>
          </a:p>
          <a:p>
            <a:pPr>
              <a:buFontTx/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sw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  $t1, 0($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)    # save $t1 on stack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add  $t0, $a0, $a1  # $t0 = f + g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add  $t1, $a2, $a3  # $t1 = h + </a:t>
            </a:r>
            <a:r>
              <a:rPr lang="en-US" sz="1800" dirty="0" err="1">
                <a:latin typeface="Courier New" pitchFamily="49" charset="0"/>
              </a:rPr>
              <a:t>i</a:t>
            </a:r>
            <a:endParaRPr lang="en-US" sz="18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sub  $s0, $t0, $t1  # result = (f + g) - (h +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add  $v0, $s0, $0   # put return value in $v0</a:t>
            </a:r>
          </a:p>
          <a:p>
            <a:pPr>
              <a:buFontTx/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lw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  $t1, 0($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)    # restore $t1 from stack</a:t>
            </a:r>
          </a:p>
          <a:p>
            <a:pPr>
              <a:buFontTx/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lw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  $t0, 4($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)    # restore $t0 from stack</a:t>
            </a:r>
          </a:p>
          <a:p>
            <a:pPr>
              <a:buFontTx/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lw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  $s0, 8($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)    # restore $s0 from stack</a:t>
            </a:r>
          </a:p>
          <a:p>
            <a:pPr>
              <a:buFontTx/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 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addi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$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, $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, 12   # </a:t>
            </a:r>
            <a:r>
              <a:rPr lang="en-US" sz="1800" b="1" dirty="0" err="1">
                <a:solidFill>
                  <a:schemeClr val="accent1"/>
                </a:solidFill>
                <a:latin typeface="Courier New" pitchFamily="49" charset="0"/>
              </a:rPr>
              <a:t>deallocate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</a:rPr>
              <a:t> stack space</a:t>
            </a:r>
          </a:p>
          <a:p>
            <a:pPr>
              <a:buFontTx/>
              <a:buNone/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en-US" sz="1800" dirty="0" err="1">
                <a:latin typeface="Courier New" pitchFamily="49" charset="0"/>
              </a:rPr>
              <a:t>jr</a:t>
            </a:r>
            <a:r>
              <a:rPr lang="en-US" sz="1800" dirty="0">
                <a:latin typeface="Courier New" pitchFamily="49" charset="0"/>
              </a:rPr>
              <a:t>   $</a:t>
            </a:r>
            <a:r>
              <a:rPr lang="en-US" sz="1800" dirty="0" err="1">
                <a:latin typeface="Courier New" pitchFamily="49" charset="0"/>
              </a:rPr>
              <a:t>ra</a:t>
            </a:r>
            <a:r>
              <a:rPr lang="en-US" sz="1800" dirty="0">
                <a:latin typeface="Courier New" pitchFamily="49" charset="0"/>
              </a:rPr>
              <a:t>            # return to caller</a:t>
            </a:r>
          </a:p>
          <a:p>
            <a:pPr>
              <a:buFontTx/>
              <a:buNone/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1080323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80324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080325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382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1600">
              <a:latin typeface="Times New Roman" pitchFamily="18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00" dirty="0">
                <a:solidFill>
                  <a:schemeClr val="bg1"/>
                </a:solidFill>
                <a:latin typeface="+mj-lt"/>
              </a:rPr>
              <a:t>Storing Register Values on the Stack</a:t>
            </a:r>
          </a:p>
        </p:txBody>
      </p:sp>
    </p:spTree>
    <p:extLst>
      <p:ext uri="{BB962C8B-B14F-4D97-AF65-F5344CB8AC3E}">
        <p14:creationId xmlns:p14="http://schemas.microsoft.com/office/powerpoint/2010/main" val="2176203815"/>
      </p:ext>
    </p:extLst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1350" name="Object 6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78207531"/>
              </p:ext>
            </p:extLst>
          </p:nvPr>
        </p:nvGraphicFramePr>
        <p:xfrm>
          <a:off x="990600" y="1752600"/>
          <a:ext cx="7772400" cy="294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47" name="VISIO" r:id="rId8" imgW="3504240" imgH="1388520" progId="Visio.Drawing.6">
                  <p:embed/>
                </p:oleObj>
              </mc:Choice>
              <mc:Fallback>
                <p:oleObj name="VISIO" r:id="rId8" imgW="3504240" imgH="13885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752600"/>
                        <a:ext cx="7772400" cy="2944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1347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81348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081349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382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1600">
              <a:latin typeface="Times New Roman" pitchFamily="18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00" dirty="0">
                <a:solidFill>
                  <a:schemeClr val="bg1"/>
                </a:solidFill>
                <a:latin typeface="+mj-lt"/>
              </a:rPr>
              <a:t>The stack during </a:t>
            </a:r>
            <a:r>
              <a:rPr lang="en-US" sz="41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diffofsums</a:t>
            </a:r>
            <a:r>
              <a:rPr lang="en-US" sz="4100" dirty="0">
                <a:solidFill>
                  <a:schemeClr val="bg1"/>
                </a:solidFill>
                <a:latin typeface="+mj-lt"/>
              </a:rPr>
              <a:t> Call</a:t>
            </a:r>
          </a:p>
        </p:txBody>
      </p:sp>
    </p:spTree>
    <p:extLst>
      <p:ext uri="{BB962C8B-B14F-4D97-AF65-F5344CB8AC3E}">
        <p14:creationId xmlns:p14="http://schemas.microsoft.com/office/powerpoint/2010/main" val="3236640493"/>
      </p:ext>
    </p:extLst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2399" name="Group 31"/>
          <p:cNvGraphicFramePr>
            <a:graphicFrameLocks noGrp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4057240"/>
              </p:ext>
            </p:extLst>
          </p:nvPr>
        </p:nvGraphicFramePr>
        <p:xfrm>
          <a:off x="1295400" y="1447800"/>
          <a:ext cx="7162800" cy="4126992"/>
        </p:xfrm>
        <a:graphic>
          <a:graphicData uri="http://schemas.openxmlformats.org/drawingml/2006/table">
            <a:tbl>
              <a:tblPr/>
              <a:tblGrid>
                <a:gridCol w="35814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581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Preserved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Callee</a:t>
                      </a:r>
                      <a:r>
                        <a:rPr kumimoji="0" 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-Saved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Nonpreserved</a:t>
                      </a:r>
                      <a:endParaRPr kumimoji="0" lang="en-US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Caller-Saved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$s0-$s7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$t0-$t9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$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ra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$a0-$a3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$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sp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$v0-$v1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stack above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$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sp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stack below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$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sp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82372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382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1600">
              <a:latin typeface="Times New Roman" pitchFamily="18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Registers</a:t>
            </a:r>
          </a:p>
        </p:txBody>
      </p:sp>
    </p:spTree>
    <p:extLst>
      <p:ext uri="{BB962C8B-B14F-4D97-AF65-F5344CB8AC3E}">
        <p14:creationId xmlns:p14="http://schemas.microsoft.com/office/powerpoint/2010/main" val="2285890930"/>
      </p:ext>
    </p:extLst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398" name="Rectangle 6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914400" y="1600200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proc1:</a:t>
            </a:r>
          </a:p>
          <a:p>
            <a:pPr>
              <a:buFontTx/>
              <a:buNone/>
            </a:pPr>
            <a:r>
              <a:rPr lang="en-US" sz="2000" b="1" dirty="0">
                <a:solidFill>
                  <a:srgbClr val="000099"/>
                </a:solidFill>
                <a:latin typeface="Courier New" pitchFamily="49" charset="0"/>
              </a:rPr>
              <a:t>  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addi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, 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, -4   # make space on stack</a:t>
            </a:r>
          </a:p>
          <a:p>
            <a:pPr>
              <a:buFontTx/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 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sw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  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ra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, 0($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)    # save 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ra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on stack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</a:t>
            </a:r>
            <a:r>
              <a:rPr lang="en-US" sz="2000" dirty="0" err="1">
                <a:latin typeface="Courier New" pitchFamily="49" charset="0"/>
              </a:rPr>
              <a:t>jal</a:t>
            </a:r>
            <a:r>
              <a:rPr lang="en-US" sz="2000" dirty="0">
                <a:latin typeface="Courier New" pitchFamily="49" charset="0"/>
              </a:rPr>
              <a:t>  proc2	    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...</a:t>
            </a:r>
          </a:p>
          <a:p>
            <a:pPr>
              <a:buFontTx/>
              <a:buNone/>
            </a:pPr>
            <a:r>
              <a:rPr lang="en-US" sz="2000" b="1" dirty="0">
                <a:solidFill>
                  <a:srgbClr val="000099"/>
                </a:solidFill>
                <a:latin typeface="Courier New" pitchFamily="49" charset="0"/>
              </a:rPr>
              <a:t>  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lw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  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ra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, 0($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)    # restore $s0 from stack</a:t>
            </a:r>
          </a:p>
          <a:p>
            <a:pPr>
              <a:buFontTx/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 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addi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, 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, 4    # 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deallocate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stack space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</a:t>
            </a:r>
            <a:r>
              <a:rPr lang="en-US" sz="2000" dirty="0" err="1">
                <a:latin typeface="Courier New" pitchFamily="49" charset="0"/>
              </a:rPr>
              <a:t>jr</a:t>
            </a:r>
            <a:r>
              <a:rPr lang="en-US" sz="2000" dirty="0">
                <a:latin typeface="Courier New" pitchFamily="49" charset="0"/>
              </a:rPr>
              <a:t>  $</a:t>
            </a:r>
            <a:r>
              <a:rPr lang="en-US" sz="2000" dirty="0" err="1">
                <a:latin typeface="Courier New" pitchFamily="49" charset="0"/>
              </a:rPr>
              <a:t>ra</a:t>
            </a:r>
            <a:r>
              <a:rPr lang="en-US" sz="2000" dirty="0">
                <a:latin typeface="Courier New" pitchFamily="49" charset="0"/>
              </a:rPr>
              <a:t>             # return to caller</a:t>
            </a:r>
          </a:p>
          <a:p>
            <a:pPr>
              <a:buFontTx/>
              <a:buNone/>
            </a:pPr>
            <a:endParaRPr lang="en-US" sz="2000" dirty="0">
              <a:latin typeface="Courier New" pitchFamily="49" charset="0"/>
            </a:endParaRPr>
          </a:p>
        </p:txBody>
      </p:sp>
      <p:sp>
        <p:nvSpPr>
          <p:cNvPr id="1083394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83395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083396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382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1600">
              <a:latin typeface="Times New Roman" pitchFamily="18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Multiple Function Calls</a:t>
            </a:r>
          </a:p>
        </p:txBody>
      </p:sp>
    </p:spTree>
    <p:extLst>
      <p:ext uri="{BB962C8B-B14F-4D97-AF65-F5344CB8AC3E}">
        <p14:creationId xmlns:p14="http://schemas.microsoft.com/office/powerpoint/2010/main" val="1096101711"/>
      </p:ext>
    </p:extLst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030" name="Rectangle 6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914400" y="1295400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# $s0 = result</a:t>
            </a:r>
          </a:p>
          <a:p>
            <a:pPr>
              <a:buFontTx/>
              <a:buNone/>
            </a:pPr>
            <a:r>
              <a:rPr lang="en-US" sz="2000" dirty="0" err="1">
                <a:latin typeface="Courier New" pitchFamily="49" charset="0"/>
              </a:rPr>
              <a:t>diffofsums</a:t>
            </a:r>
            <a:r>
              <a:rPr lang="en-US" sz="2000" dirty="0">
                <a:latin typeface="Courier New" pitchFamily="49" charset="0"/>
              </a:rPr>
              <a:t>:</a:t>
            </a:r>
          </a:p>
          <a:p>
            <a:pPr>
              <a:buFontTx/>
              <a:buNone/>
            </a:pPr>
            <a:r>
              <a:rPr lang="en-US" sz="2000" b="1" dirty="0">
                <a:solidFill>
                  <a:srgbClr val="000099"/>
                </a:solidFill>
                <a:latin typeface="Courier New" pitchFamily="49" charset="0"/>
              </a:rPr>
              <a:t>  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addi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, 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, -4  # make space on stack to </a:t>
            </a:r>
          </a:p>
          <a:p>
            <a:pPr>
              <a:buFontTx/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				   # store one register</a:t>
            </a:r>
          </a:p>
          <a:p>
            <a:pPr>
              <a:buFontTx/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 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sw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 $s0, 0($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)    # save $s0 on stack</a:t>
            </a:r>
          </a:p>
          <a:p>
            <a:pPr>
              <a:buFontTx/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                    # no need to save $t0 or $t1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add $t0, $a0, $a1  # $t0 = f + g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add $t1, $a2, $a3  # $t1 = h + </a:t>
            </a:r>
            <a:r>
              <a:rPr lang="en-US" sz="2000" dirty="0" err="1">
                <a:latin typeface="Courier New" pitchFamily="49" charset="0"/>
              </a:rPr>
              <a:t>i</a:t>
            </a:r>
            <a:endParaRPr lang="en-US" sz="20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sub $s0, $t0, $t1  # result = (f + g) - (h + </a:t>
            </a:r>
            <a:r>
              <a:rPr lang="en-US" sz="2000" dirty="0" err="1">
                <a:latin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add $v0, $s0, $0   # put return value in $v0</a:t>
            </a:r>
          </a:p>
          <a:p>
            <a:pPr>
              <a:buFontTx/>
              <a:buNone/>
            </a:pPr>
            <a:r>
              <a:rPr lang="en-US" sz="2000" b="1" dirty="0">
                <a:solidFill>
                  <a:srgbClr val="000099"/>
                </a:solidFill>
                <a:latin typeface="Courier New" pitchFamily="49" charset="0"/>
              </a:rPr>
              <a:t>  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lw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 $s0, 0($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)    # restore $s0 from stack</a:t>
            </a:r>
          </a:p>
          <a:p>
            <a:pPr>
              <a:buFontTx/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 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addi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, $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sp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, 4   # 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</a:rPr>
              <a:t>deallocate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</a:rPr>
              <a:t> stack space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  </a:t>
            </a:r>
            <a:r>
              <a:rPr lang="en-US" sz="2000" dirty="0" err="1">
                <a:latin typeface="Courier New" pitchFamily="49" charset="0"/>
              </a:rPr>
              <a:t>jr</a:t>
            </a:r>
            <a:r>
              <a:rPr lang="en-US" sz="2000" dirty="0">
                <a:latin typeface="Courier New" pitchFamily="49" charset="0"/>
              </a:rPr>
              <a:t>  $</a:t>
            </a:r>
            <a:r>
              <a:rPr lang="en-US" sz="2000" dirty="0" err="1">
                <a:latin typeface="Courier New" pitchFamily="49" charset="0"/>
              </a:rPr>
              <a:t>ra</a:t>
            </a:r>
            <a:r>
              <a:rPr lang="en-US" sz="2000" dirty="0">
                <a:latin typeface="Courier New" pitchFamily="49" charset="0"/>
              </a:rPr>
              <a:t>            # return to caller</a:t>
            </a:r>
          </a:p>
          <a:p>
            <a:pPr>
              <a:buFontTx/>
              <a:buNone/>
            </a:pPr>
            <a:endParaRPr lang="en-US" sz="2000" dirty="0">
              <a:latin typeface="Courier New" pitchFamily="49" charset="0"/>
            </a:endParaRPr>
          </a:p>
        </p:txBody>
      </p:sp>
      <p:sp>
        <p:nvSpPr>
          <p:cNvPr id="1153026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53027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153028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382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1600">
              <a:latin typeface="Times New Roman" pitchFamily="18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00" dirty="0">
                <a:solidFill>
                  <a:schemeClr val="bg1"/>
                </a:solidFill>
                <a:latin typeface="+mj-lt"/>
              </a:rPr>
              <a:t>Storing Saved Registers on the Stack</a:t>
            </a:r>
          </a:p>
        </p:txBody>
      </p:sp>
    </p:spTree>
    <p:extLst>
      <p:ext uri="{BB962C8B-B14F-4D97-AF65-F5344CB8AC3E}">
        <p14:creationId xmlns:p14="http://schemas.microsoft.com/office/powerpoint/2010/main" val="754348089"/>
      </p:ext>
    </p:extLst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980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150981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906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High-level code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factorial(</a:t>
            </a:r>
            <a:r>
              <a:rPr lang="en-US" sz="1800" dirty="0" err="1">
                <a:latin typeface="Courier New" pitchFamily="49" charset="0"/>
                <a:cs typeface="Arial" charset="0"/>
              </a:rPr>
              <a:t>int</a:t>
            </a:r>
            <a:r>
              <a:rPr lang="en-US" sz="1800" dirty="0">
                <a:latin typeface="Courier New" pitchFamily="49" charset="0"/>
                <a:cs typeface="Arial" charset="0"/>
              </a:rPr>
              <a:t> n) {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if (n &lt;= 1)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return 1;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else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    return (n * factorial(n-1));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 dirty="0">
                <a:latin typeface="Courier New" pitchFamily="49" charset="0"/>
                <a:cs typeface="Arial" charset="0"/>
              </a:rPr>
              <a:t>}</a:t>
            </a:r>
          </a:p>
          <a:p>
            <a:pPr marL="342900" indent="-342900" algn="just">
              <a:spcBef>
                <a:spcPct val="20000"/>
              </a:spcBef>
            </a:pPr>
            <a:endParaRPr lang="en-US" sz="1800" dirty="0">
              <a:latin typeface="Courier New" pitchFamily="49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Recursive Function Call</a:t>
            </a:r>
          </a:p>
        </p:txBody>
      </p:sp>
    </p:spTree>
    <p:extLst>
      <p:ext uri="{BB962C8B-B14F-4D97-AF65-F5344CB8AC3E}">
        <p14:creationId xmlns:p14="http://schemas.microsoft.com/office/powerpoint/2010/main" val="605523195"/>
      </p:ext>
    </p:extLst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987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2198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321989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1600">
              <a:latin typeface="Times New Roman" pitchFamily="18" charset="0"/>
              <a:cs typeface="Arial" charset="0"/>
            </a:endParaRPr>
          </a:p>
        </p:txBody>
      </p:sp>
      <p:sp>
        <p:nvSpPr>
          <p:cNvPr id="1321990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4400" y="1143000"/>
            <a:ext cx="7162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</a:rPr>
              <a:t>MIPS assembly code</a:t>
            </a:r>
          </a:p>
          <a:p>
            <a:endParaRPr lang="en-US" sz="1600" b="1" dirty="0">
              <a:solidFill>
                <a:schemeClr val="accent1"/>
              </a:solidFill>
              <a:latin typeface="Courier New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Recursive Function Call</a:t>
            </a:r>
          </a:p>
        </p:txBody>
      </p:sp>
    </p:spTree>
    <p:extLst>
      <p:ext uri="{BB962C8B-B14F-4D97-AF65-F5344CB8AC3E}">
        <p14:creationId xmlns:p14="http://schemas.microsoft.com/office/powerpoint/2010/main" val="484481962"/>
      </p:ext>
    </p:extLst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003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5200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15200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1600">
              <a:latin typeface="Times New Roman" pitchFamily="18" charset="0"/>
              <a:cs typeface="Arial" charset="0"/>
            </a:endParaRPr>
          </a:p>
        </p:txBody>
      </p:sp>
      <p:sp>
        <p:nvSpPr>
          <p:cNvPr id="1152006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4400" y="1143000"/>
            <a:ext cx="7162800" cy="461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</a:rPr>
              <a:t>MIPS assembly code</a:t>
            </a:r>
          </a:p>
          <a:p>
            <a:endParaRPr lang="en-US" sz="1600" b="1" dirty="0">
              <a:latin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</a:rPr>
              <a:t>0x90</a:t>
            </a:r>
            <a:r>
              <a:rPr lang="en-US" sz="1600" dirty="0">
                <a:latin typeface="Courier New" pitchFamily="49" charset="0"/>
              </a:rPr>
              <a:t> factorial: </a:t>
            </a:r>
            <a:r>
              <a:rPr lang="en-US" sz="1600" dirty="0" err="1">
                <a:latin typeface="Courier New" pitchFamily="49" charset="0"/>
              </a:rPr>
              <a:t>addi</a:t>
            </a:r>
            <a:r>
              <a:rPr lang="en-US" sz="1600" dirty="0">
                <a:latin typeface="Courier New" pitchFamily="49" charset="0"/>
              </a:rPr>
              <a:t> $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, $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, -8  # make room</a:t>
            </a:r>
          </a:p>
          <a:p>
            <a:r>
              <a:rPr lang="en-US" sz="1600" b="1" dirty="0">
                <a:latin typeface="Courier New" pitchFamily="49" charset="0"/>
              </a:rPr>
              <a:t>0x94      </a:t>
            </a:r>
            <a:r>
              <a:rPr lang="en-US" sz="1600" dirty="0">
                <a:latin typeface="Courier New" pitchFamily="49" charset="0"/>
              </a:rPr>
              <a:t>      </a:t>
            </a:r>
            <a:r>
              <a:rPr lang="en-US" sz="1600" dirty="0" err="1">
                <a:latin typeface="Courier New" pitchFamily="49" charset="0"/>
              </a:rPr>
              <a:t>sw</a:t>
            </a:r>
            <a:r>
              <a:rPr lang="en-US" sz="1600" dirty="0">
                <a:latin typeface="Courier New" pitchFamily="49" charset="0"/>
              </a:rPr>
              <a:t>   $a0, 4($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)   # store $a0</a:t>
            </a:r>
          </a:p>
          <a:p>
            <a:r>
              <a:rPr lang="en-US" sz="1600" b="1" dirty="0">
                <a:latin typeface="Courier New" pitchFamily="49" charset="0"/>
              </a:rPr>
              <a:t>0x98 </a:t>
            </a:r>
            <a:r>
              <a:rPr lang="en-US" sz="1600" dirty="0">
                <a:latin typeface="Courier New" pitchFamily="49" charset="0"/>
              </a:rPr>
              <a:t>           </a:t>
            </a:r>
            <a:r>
              <a:rPr lang="en-US" sz="1600" dirty="0" err="1">
                <a:latin typeface="Courier New" pitchFamily="49" charset="0"/>
              </a:rPr>
              <a:t>sw</a:t>
            </a:r>
            <a:r>
              <a:rPr lang="en-US" sz="1600" dirty="0">
                <a:latin typeface="Courier New" pitchFamily="49" charset="0"/>
              </a:rPr>
              <a:t>   $</a:t>
            </a:r>
            <a:r>
              <a:rPr lang="en-US" sz="1600" dirty="0" err="1">
                <a:latin typeface="Courier New" pitchFamily="49" charset="0"/>
              </a:rPr>
              <a:t>ra</a:t>
            </a:r>
            <a:r>
              <a:rPr lang="en-US" sz="1600" dirty="0">
                <a:latin typeface="Courier New" pitchFamily="49" charset="0"/>
              </a:rPr>
              <a:t>, 0($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)   # store $</a:t>
            </a:r>
            <a:r>
              <a:rPr lang="en-US" sz="1600" dirty="0" err="1">
                <a:latin typeface="Courier New" pitchFamily="49" charset="0"/>
              </a:rPr>
              <a:t>ra</a:t>
            </a:r>
            <a:endParaRPr lang="en-US" sz="1600" dirty="0">
              <a:latin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</a:rPr>
              <a:t>0x9C </a:t>
            </a:r>
            <a:r>
              <a:rPr lang="en-US" sz="1600" dirty="0">
                <a:latin typeface="Courier New" pitchFamily="49" charset="0"/>
              </a:rPr>
              <a:t>           </a:t>
            </a:r>
            <a:r>
              <a:rPr lang="en-US" sz="1600" dirty="0" err="1">
                <a:latin typeface="Courier New" pitchFamily="49" charset="0"/>
              </a:rPr>
              <a:t>addi</a:t>
            </a:r>
            <a:r>
              <a:rPr lang="en-US" sz="1600" dirty="0">
                <a:latin typeface="Courier New" pitchFamily="49" charset="0"/>
              </a:rPr>
              <a:t> $t0, $0, 2    </a:t>
            </a:r>
          </a:p>
          <a:p>
            <a:r>
              <a:rPr lang="en-US" sz="1600" b="1" dirty="0">
                <a:latin typeface="Courier New" pitchFamily="49" charset="0"/>
              </a:rPr>
              <a:t>0xA0 </a:t>
            </a:r>
            <a:r>
              <a:rPr lang="en-US" sz="1600" dirty="0">
                <a:latin typeface="Courier New" pitchFamily="49" charset="0"/>
              </a:rPr>
              <a:t>           </a:t>
            </a:r>
            <a:r>
              <a:rPr lang="en-US" sz="1600" dirty="0" err="1">
                <a:latin typeface="Courier New" pitchFamily="49" charset="0"/>
              </a:rPr>
              <a:t>slt</a:t>
            </a:r>
            <a:r>
              <a:rPr lang="en-US" sz="1600" dirty="0">
                <a:latin typeface="Courier New" pitchFamily="49" charset="0"/>
              </a:rPr>
              <a:t>  $t0, $a0, $t0 # a &lt;= 1 ?</a:t>
            </a:r>
          </a:p>
          <a:p>
            <a:r>
              <a:rPr lang="en-US" sz="1600" b="1" dirty="0">
                <a:latin typeface="Courier New" pitchFamily="49" charset="0"/>
              </a:rPr>
              <a:t>0xA4 </a:t>
            </a:r>
            <a:r>
              <a:rPr lang="en-US" sz="1600" dirty="0">
                <a:latin typeface="Courier New" pitchFamily="49" charset="0"/>
              </a:rPr>
              <a:t>           </a:t>
            </a:r>
            <a:r>
              <a:rPr lang="en-US" sz="1600" dirty="0" err="1">
                <a:latin typeface="Courier New" pitchFamily="49" charset="0"/>
              </a:rPr>
              <a:t>beq</a:t>
            </a:r>
            <a:r>
              <a:rPr lang="en-US" sz="1600" dirty="0">
                <a:latin typeface="Courier New" pitchFamily="49" charset="0"/>
              </a:rPr>
              <a:t>  $t0, $0, else # no: go to else  </a:t>
            </a:r>
          </a:p>
          <a:p>
            <a:r>
              <a:rPr lang="en-US" sz="1600" b="1" dirty="0">
                <a:latin typeface="Courier New" pitchFamily="49" charset="0"/>
              </a:rPr>
              <a:t>0xA8 </a:t>
            </a:r>
            <a:r>
              <a:rPr lang="en-US" sz="1600" dirty="0">
                <a:latin typeface="Courier New" pitchFamily="49" charset="0"/>
              </a:rPr>
              <a:t>           </a:t>
            </a:r>
            <a:r>
              <a:rPr lang="en-US" sz="1600" dirty="0" err="1">
                <a:latin typeface="Courier New" pitchFamily="49" charset="0"/>
              </a:rPr>
              <a:t>addi</a:t>
            </a:r>
            <a:r>
              <a:rPr lang="en-US" sz="1600" dirty="0">
                <a:latin typeface="Courier New" pitchFamily="49" charset="0"/>
              </a:rPr>
              <a:t> $v0, $0, 1    # yes: return 1</a:t>
            </a:r>
          </a:p>
          <a:p>
            <a:r>
              <a:rPr lang="en-US" sz="1600" b="1" dirty="0">
                <a:latin typeface="Courier New" pitchFamily="49" charset="0"/>
              </a:rPr>
              <a:t>0xAC </a:t>
            </a:r>
            <a:r>
              <a:rPr lang="en-US" sz="1600" dirty="0">
                <a:latin typeface="Courier New" pitchFamily="49" charset="0"/>
              </a:rPr>
              <a:t>           </a:t>
            </a:r>
            <a:r>
              <a:rPr lang="en-US" sz="1600" dirty="0" err="1">
                <a:latin typeface="Courier New" pitchFamily="49" charset="0"/>
              </a:rPr>
              <a:t>addi</a:t>
            </a:r>
            <a:r>
              <a:rPr lang="en-US" sz="1600" dirty="0">
                <a:latin typeface="Courier New" pitchFamily="49" charset="0"/>
              </a:rPr>
              <a:t> $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, $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, 8   # restore $</a:t>
            </a:r>
            <a:r>
              <a:rPr lang="en-US" sz="1600" dirty="0" err="1">
                <a:latin typeface="Courier New" pitchFamily="49" charset="0"/>
              </a:rPr>
              <a:t>sp</a:t>
            </a:r>
            <a:endParaRPr lang="en-US" sz="1600" dirty="0">
              <a:latin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</a:rPr>
              <a:t>0xB0 </a:t>
            </a:r>
            <a:r>
              <a:rPr lang="en-US" sz="1600" dirty="0">
                <a:latin typeface="Courier New" pitchFamily="49" charset="0"/>
              </a:rPr>
              <a:t>           </a:t>
            </a:r>
            <a:r>
              <a:rPr lang="en-US" sz="1600" dirty="0" err="1">
                <a:latin typeface="Courier New" pitchFamily="49" charset="0"/>
              </a:rPr>
              <a:t>jr</a:t>
            </a:r>
            <a:r>
              <a:rPr lang="en-US" sz="1600" dirty="0">
                <a:latin typeface="Courier New" pitchFamily="49" charset="0"/>
              </a:rPr>
              <a:t>   $</a:t>
            </a:r>
            <a:r>
              <a:rPr lang="en-US" sz="1600" dirty="0" err="1">
                <a:latin typeface="Courier New" pitchFamily="49" charset="0"/>
              </a:rPr>
              <a:t>ra</a:t>
            </a:r>
            <a:r>
              <a:rPr lang="en-US" sz="1600" dirty="0">
                <a:latin typeface="Courier New" pitchFamily="49" charset="0"/>
              </a:rPr>
              <a:t>           # return</a:t>
            </a:r>
          </a:p>
          <a:p>
            <a:r>
              <a:rPr lang="en-US" sz="1600" b="1" dirty="0">
                <a:latin typeface="Courier New" pitchFamily="49" charset="0"/>
              </a:rPr>
              <a:t>0xB4 </a:t>
            </a:r>
            <a:r>
              <a:rPr lang="en-US" sz="1600" dirty="0">
                <a:latin typeface="Courier New" pitchFamily="49" charset="0"/>
              </a:rPr>
              <a:t>     else:</a:t>
            </a:r>
            <a:r>
              <a:rPr lang="en-US" sz="1600" b="1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addi</a:t>
            </a:r>
            <a:r>
              <a:rPr lang="en-US" sz="1600" dirty="0">
                <a:latin typeface="Courier New" pitchFamily="49" charset="0"/>
              </a:rPr>
              <a:t> $a0, $a0, -1  # n = n - 1</a:t>
            </a:r>
          </a:p>
          <a:p>
            <a:r>
              <a:rPr lang="en-US" sz="1600" b="1" dirty="0">
                <a:latin typeface="Courier New" pitchFamily="49" charset="0"/>
              </a:rPr>
              <a:t>0xB8 </a:t>
            </a:r>
            <a:r>
              <a:rPr lang="en-US" sz="1600" dirty="0">
                <a:latin typeface="Courier New" pitchFamily="49" charset="0"/>
              </a:rPr>
              <a:t>           </a:t>
            </a:r>
            <a:r>
              <a:rPr lang="en-US" sz="1600" dirty="0" err="1">
                <a:latin typeface="Courier New" pitchFamily="49" charset="0"/>
              </a:rPr>
              <a:t>jal</a:t>
            </a:r>
            <a:r>
              <a:rPr lang="en-US" sz="1600" dirty="0">
                <a:latin typeface="Courier New" pitchFamily="49" charset="0"/>
              </a:rPr>
              <a:t>  factorial     # recursive call</a:t>
            </a:r>
          </a:p>
          <a:p>
            <a:r>
              <a:rPr lang="en-US" sz="1600" b="1" dirty="0">
                <a:latin typeface="Courier New" pitchFamily="49" charset="0"/>
              </a:rPr>
              <a:t>0xBC </a:t>
            </a:r>
            <a:r>
              <a:rPr lang="en-US" sz="1600" dirty="0">
                <a:latin typeface="Courier New" pitchFamily="49" charset="0"/>
              </a:rPr>
              <a:t>           </a:t>
            </a:r>
            <a:r>
              <a:rPr lang="en-US" sz="1600" dirty="0" err="1">
                <a:latin typeface="Courier New" pitchFamily="49" charset="0"/>
              </a:rPr>
              <a:t>lw</a:t>
            </a:r>
            <a:r>
              <a:rPr lang="en-US" sz="1600" dirty="0">
                <a:latin typeface="Courier New" pitchFamily="49" charset="0"/>
              </a:rPr>
              <a:t>   $</a:t>
            </a:r>
            <a:r>
              <a:rPr lang="en-US" sz="1600" dirty="0" err="1">
                <a:latin typeface="Courier New" pitchFamily="49" charset="0"/>
              </a:rPr>
              <a:t>ra</a:t>
            </a:r>
            <a:r>
              <a:rPr lang="en-US" sz="1600" dirty="0">
                <a:latin typeface="Courier New" pitchFamily="49" charset="0"/>
              </a:rPr>
              <a:t>, 0($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)   # restore $</a:t>
            </a:r>
            <a:r>
              <a:rPr lang="en-US" sz="1600" dirty="0" err="1">
                <a:latin typeface="Courier New" pitchFamily="49" charset="0"/>
              </a:rPr>
              <a:t>ra</a:t>
            </a:r>
            <a:endParaRPr lang="en-US" sz="1600" dirty="0">
              <a:latin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</a:rPr>
              <a:t>0xC0 </a:t>
            </a:r>
            <a:r>
              <a:rPr lang="en-US" sz="1600" dirty="0">
                <a:latin typeface="Courier New" pitchFamily="49" charset="0"/>
              </a:rPr>
              <a:t>           </a:t>
            </a:r>
            <a:r>
              <a:rPr lang="en-US" sz="1600" dirty="0" err="1">
                <a:latin typeface="Courier New" pitchFamily="49" charset="0"/>
              </a:rPr>
              <a:t>lw</a:t>
            </a:r>
            <a:r>
              <a:rPr lang="en-US" sz="1600" dirty="0">
                <a:latin typeface="Courier New" pitchFamily="49" charset="0"/>
              </a:rPr>
              <a:t>   $a0, 4($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)   # restore $a0</a:t>
            </a:r>
          </a:p>
          <a:p>
            <a:r>
              <a:rPr lang="en-US" sz="1600" b="1" dirty="0">
                <a:latin typeface="Courier New" pitchFamily="49" charset="0"/>
              </a:rPr>
              <a:t>0xC4</a:t>
            </a:r>
            <a:r>
              <a:rPr lang="en-US" sz="1600" dirty="0">
                <a:latin typeface="Courier New" pitchFamily="49" charset="0"/>
              </a:rPr>
              <a:t>            </a:t>
            </a:r>
            <a:r>
              <a:rPr lang="en-US" sz="1600" dirty="0" err="1">
                <a:latin typeface="Courier New" pitchFamily="49" charset="0"/>
              </a:rPr>
              <a:t>addi</a:t>
            </a:r>
            <a:r>
              <a:rPr lang="en-US" sz="1600" dirty="0">
                <a:latin typeface="Courier New" pitchFamily="49" charset="0"/>
              </a:rPr>
              <a:t> $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, $</a:t>
            </a:r>
            <a:r>
              <a:rPr lang="en-US" sz="1600" dirty="0" err="1">
                <a:latin typeface="Courier New" pitchFamily="49" charset="0"/>
              </a:rPr>
              <a:t>sp</a:t>
            </a:r>
            <a:r>
              <a:rPr lang="en-US" sz="1600" dirty="0">
                <a:latin typeface="Courier New" pitchFamily="49" charset="0"/>
              </a:rPr>
              <a:t>, 8   # restore $</a:t>
            </a:r>
            <a:r>
              <a:rPr lang="en-US" sz="1600" dirty="0" err="1">
                <a:latin typeface="Courier New" pitchFamily="49" charset="0"/>
              </a:rPr>
              <a:t>sp</a:t>
            </a:r>
            <a:endParaRPr lang="en-US" sz="1600" dirty="0">
              <a:latin typeface="Courier New" pitchFamily="49" charset="0"/>
            </a:endParaRPr>
          </a:p>
          <a:p>
            <a:r>
              <a:rPr lang="en-US" sz="1600" b="1" dirty="0">
                <a:latin typeface="Courier New" pitchFamily="49" charset="0"/>
              </a:rPr>
              <a:t>0xC8 </a:t>
            </a:r>
            <a:r>
              <a:rPr lang="en-US" sz="1600" dirty="0">
                <a:latin typeface="Courier New" pitchFamily="49" charset="0"/>
              </a:rPr>
              <a:t>           </a:t>
            </a:r>
            <a:r>
              <a:rPr lang="en-US" sz="1600" dirty="0" err="1">
                <a:latin typeface="Courier New" pitchFamily="49" charset="0"/>
              </a:rPr>
              <a:t>mul</a:t>
            </a:r>
            <a:r>
              <a:rPr lang="en-US" sz="1600" dirty="0">
                <a:latin typeface="Courier New" pitchFamily="49" charset="0"/>
              </a:rPr>
              <a:t>  $v0, $a0, $v0 # n * factorial(n-1)</a:t>
            </a:r>
          </a:p>
          <a:p>
            <a:r>
              <a:rPr lang="en-US" sz="1600" b="1" dirty="0">
                <a:latin typeface="Courier New" pitchFamily="49" charset="0"/>
              </a:rPr>
              <a:t>0xCC </a:t>
            </a:r>
            <a:r>
              <a:rPr lang="en-US" sz="1600" dirty="0">
                <a:latin typeface="Courier New" pitchFamily="49" charset="0"/>
              </a:rPr>
              <a:t>           </a:t>
            </a:r>
            <a:r>
              <a:rPr lang="en-US" sz="1600" dirty="0" err="1">
                <a:latin typeface="Courier New" pitchFamily="49" charset="0"/>
              </a:rPr>
              <a:t>jr</a:t>
            </a:r>
            <a:r>
              <a:rPr lang="en-US" sz="1600" dirty="0">
                <a:latin typeface="Courier New" pitchFamily="49" charset="0"/>
              </a:rPr>
              <a:t>   $</a:t>
            </a:r>
            <a:r>
              <a:rPr lang="en-US" sz="1600" dirty="0" err="1">
                <a:latin typeface="Courier New" pitchFamily="49" charset="0"/>
              </a:rPr>
              <a:t>ra</a:t>
            </a:r>
            <a:r>
              <a:rPr lang="en-US" sz="1600" dirty="0">
                <a:latin typeface="Courier New" pitchFamily="49" charset="0"/>
              </a:rPr>
              <a:t>           # 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Recursive Function Call</a:t>
            </a:r>
          </a:p>
        </p:txBody>
      </p:sp>
    </p:spTree>
    <p:extLst>
      <p:ext uri="{BB962C8B-B14F-4D97-AF65-F5344CB8AC3E}">
        <p14:creationId xmlns:p14="http://schemas.microsoft.com/office/powerpoint/2010/main" val="634490780"/>
      </p:ext>
    </p:extLst>
  </p:cSld>
  <p:clrMapOvr>
    <a:masterClrMapping/>
  </p:clrMapOvr>
  <p:transition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3271" name="Object 7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35218137"/>
              </p:ext>
            </p:extLst>
          </p:nvPr>
        </p:nvGraphicFramePr>
        <p:xfrm>
          <a:off x="762000" y="1358900"/>
          <a:ext cx="8229600" cy="450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72" name="VISIO" r:id="rId8" imgW="3946320" imgH="2162880" progId="Visio.Drawing.6">
                  <p:embed/>
                </p:oleObj>
              </mc:Choice>
              <mc:Fallback>
                <p:oleObj name="VISIO" r:id="rId8" imgW="3946320" imgH="21628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358900"/>
                        <a:ext cx="8229600" cy="450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3267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63268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1430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000">
              <a:latin typeface="Times New Roman" pitchFamily="18" charset="0"/>
              <a:cs typeface="Arial" charset="0"/>
            </a:endParaRPr>
          </a:p>
        </p:txBody>
      </p:sp>
      <p:sp>
        <p:nvSpPr>
          <p:cNvPr id="1163269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38200" y="12954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1600">
              <a:latin typeface="Times New Roman" pitchFamily="18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Stack During Recursive Call</a:t>
            </a:r>
          </a:p>
        </p:txBody>
      </p:sp>
    </p:spTree>
    <p:extLst>
      <p:ext uri="{BB962C8B-B14F-4D97-AF65-F5344CB8AC3E}">
        <p14:creationId xmlns:p14="http://schemas.microsoft.com/office/powerpoint/2010/main" val="793521953"/>
      </p:ext>
    </p:extLst>
  </p:cSld>
  <p:clrMapOvr>
    <a:masterClrMapping/>
  </p:clrMapOvr>
  <p:transition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035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914400" y="990600"/>
            <a:ext cx="8229600" cy="4525963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1"/>
                </a:solidFill>
              </a:rPr>
              <a:t>Caller</a:t>
            </a:r>
          </a:p>
          <a:p>
            <a:pPr lvl="1"/>
            <a:r>
              <a:rPr lang="en-US" sz="2400" dirty="0"/>
              <a:t>Put arguments in </a:t>
            </a:r>
            <a:r>
              <a:rPr lang="en-US" sz="2400" dirty="0">
                <a:latin typeface="Courier10 BT" pitchFamily="49" charset="0"/>
              </a:rPr>
              <a:t>$a0-$a3</a:t>
            </a:r>
          </a:p>
          <a:p>
            <a:pPr lvl="1"/>
            <a:r>
              <a:rPr lang="en-US" sz="2400" dirty="0"/>
              <a:t>Save any needed registers (</a:t>
            </a:r>
            <a:r>
              <a:rPr lang="en-US" sz="2400" dirty="0">
                <a:latin typeface="Courier10 BT" pitchFamily="49" charset="0"/>
              </a:rPr>
              <a:t>$</a:t>
            </a:r>
            <a:r>
              <a:rPr lang="en-US" sz="2400" dirty="0" err="1">
                <a:latin typeface="Courier10 BT" pitchFamily="49" charset="0"/>
              </a:rPr>
              <a:t>ra</a:t>
            </a:r>
            <a:r>
              <a:rPr lang="en-US" sz="2400" dirty="0"/>
              <a:t>, maybe </a:t>
            </a:r>
            <a:r>
              <a:rPr lang="en-US" sz="2400" dirty="0">
                <a:latin typeface="Courier10 BT" pitchFamily="49" charset="0"/>
              </a:rPr>
              <a:t>$t0-t9</a:t>
            </a:r>
            <a:r>
              <a:rPr lang="en-US" sz="2400" dirty="0"/>
              <a:t>)</a:t>
            </a:r>
          </a:p>
          <a:p>
            <a:pPr lvl="1"/>
            <a:r>
              <a:rPr lang="en-US" sz="2400" dirty="0" err="1">
                <a:latin typeface="Courier10 BT" pitchFamily="49" charset="0"/>
              </a:rPr>
              <a:t>jal</a:t>
            </a:r>
            <a:r>
              <a:rPr lang="en-US" sz="2400" dirty="0">
                <a:latin typeface="Courier10 BT" pitchFamily="49" charset="0"/>
              </a:rPr>
              <a:t> </a:t>
            </a:r>
            <a:r>
              <a:rPr lang="en-US" sz="2400" dirty="0" err="1">
                <a:latin typeface="Courier10 BT" pitchFamily="49" charset="0"/>
              </a:rPr>
              <a:t>callee</a:t>
            </a:r>
            <a:endParaRPr lang="en-US" sz="2400" dirty="0">
              <a:latin typeface="Courier10 BT" pitchFamily="49" charset="0"/>
            </a:endParaRPr>
          </a:p>
          <a:p>
            <a:pPr lvl="1"/>
            <a:r>
              <a:rPr lang="en-US" sz="2400" dirty="0"/>
              <a:t>Restore registers</a:t>
            </a:r>
          </a:p>
          <a:p>
            <a:pPr lvl="1"/>
            <a:r>
              <a:rPr lang="en-US" sz="2400" dirty="0"/>
              <a:t>Look for result in </a:t>
            </a:r>
            <a:r>
              <a:rPr lang="en-US" sz="2400" dirty="0">
                <a:latin typeface="Courier10 BT" pitchFamily="49" charset="0"/>
              </a:rPr>
              <a:t>$v0</a:t>
            </a:r>
          </a:p>
          <a:p>
            <a:r>
              <a:rPr lang="en-US" sz="3000" b="1" dirty="0" err="1">
                <a:solidFill>
                  <a:schemeClr val="accent1"/>
                </a:solidFill>
              </a:rPr>
              <a:t>Callee</a:t>
            </a:r>
            <a:endParaRPr lang="en-US" sz="3000" b="1" dirty="0">
              <a:solidFill>
                <a:schemeClr val="accent1"/>
              </a:solidFill>
            </a:endParaRPr>
          </a:p>
          <a:p>
            <a:pPr lvl="1"/>
            <a:r>
              <a:rPr lang="en-US" sz="2400" dirty="0"/>
              <a:t>Save registers that might be disturbed </a:t>
            </a:r>
            <a:r>
              <a:rPr lang="en-US" sz="2400" dirty="0">
                <a:latin typeface="Courier10 BT" pitchFamily="49" charset="0"/>
              </a:rPr>
              <a:t>($s0-$s7</a:t>
            </a:r>
            <a:r>
              <a:rPr lang="en-US" sz="2400" dirty="0"/>
              <a:t>)</a:t>
            </a:r>
          </a:p>
          <a:p>
            <a:pPr lvl="1"/>
            <a:r>
              <a:rPr lang="en-US" sz="2400" dirty="0"/>
              <a:t>Perform function</a:t>
            </a:r>
          </a:p>
          <a:p>
            <a:pPr lvl="1"/>
            <a:r>
              <a:rPr lang="en-US" sz="2400" dirty="0"/>
              <a:t>Put result in </a:t>
            </a:r>
            <a:r>
              <a:rPr lang="en-US" sz="2400" dirty="0">
                <a:latin typeface="Courier10 BT" pitchFamily="49" charset="0"/>
              </a:rPr>
              <a:t>$v0</a:t>
            </a:r>
          </a:p>
          <a:p>
            <a:pPr lvl="1"/>
            <a:r>
              <a:rPr lang="en-US" sz="2400" dirty="0"/>
              <a:t>Restore registers</a:t>
            </a:r>
          </a:p>
          <a:p>
            <a:pPr lvl="1"/>
            <a:r>
              <a:rPr lang="en-US" sz="2400" dirty="0" err="1">
                <a:latin typeface="Courier10 BT" pitchFamily="49" charset="0"/>
              </a:rPr>
              <a:t>jr</a:t>
            </a:r>
            <a:r>
              <a:rPr lang="en-US" sz="2400" dirty="0">
                <a:latin typeface="Courier10 BT" pitchFamily="49" charset="0"/>
              </a:rPr>
              <a:t> $</a:t>
            </a:r>
            <a:r>
              <a:rPr lang="en-US" sz="2400" dirty="0" err="1">
                <a:latin typeface="Courier10 BT" pitchFamily="49" charset="0"/>
              </a:rPr>
              <a:t>ra</a:t>
            </a:r>
            <a:endParaRPr lang="en-US" sz="2400" dirty="0">
              <a:latin typeface="Courier10 BT" pitchFamily="49" charset="0"/>
            </a:endParaRPr>
          </a:p>
          <a:p>
            <a:pPr lvl="1"/>
            <a:endParaRPr lang="en-US" sz="3200" dirty="0">
              <a:latin typeface="Courier10 BT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Function Call Summary</a:t>
            </a:r>
          </a:p>
        </p:txBody>
      </p:sp>
    </p:spTree>
    <p:extLst>
      <p:ext uri="{BB962C8B-B14F-4D97-AF65-F5344CB8AC3E}">
        <p14:creationId xmlns:p14="http://schemas.microsoft.com/office/powerpoint/2010/main" val="211464778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421" name="Rectangle 5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914400" y="1265237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sz="3200" b="1" dirty="0">
                <a:solidFill>
                  <a:schemeClr val="accent1"/>
                </a:solidFill>
              </a:rPr>
              <a:t>How do we address the operands?</a:t>
            </a:r>
          </a:p>
          <a:p>
            <a:r>
              <a:rPr lang="en-US" sz="2600" dirty="0"/>
              <a:t>Register Only</a:t>
            </a:r>
          </a:p>
          <a:p>
            <a:r>
              <a:rPr lang="en-US" sz="2600" dirty="0"/>
              <a:t>Immediate</a:t>
            </a:r>
          </a:p>
          <a:p>
            <a:r>
              <a:rPr lang="en-US" sz="2600" dirty="0"/>
              <a:t>Base Addressing</a:t>
            </a:r>
          </a:p>
          <a:p>
            <a:r>
              <a:rPr lang="en-US" sz="2600" dirty="0"/>
              <a:t>PC-Relative</a:t>
            </a:r>
          </a:p>
          <a:p>
            <a:r>
              <a:rPr lang="en-US" sz="2600" dirty="0"/>
              <a:t>Pseudo Direct</a:t>
            </a:r>
          </a:p>
        </p:txBody>
      </p:sp>
      <p:sp>
        <p:nvSpPr>
          <p:cNvPr id="108441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84420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Addressing Modes</a:t>
            </a:r>
          </a:p>
        </p:txBody>
      </p:sp>
    </p:spTree>
    <p:extLst>
      <p:ext uri="{BB962C8B-B14F-4D97-AF65-F5344CB8AC3E}">
        <p14:creationId xmlns:p14="http://schemas.microsoft.com/office/powerpoint/2010/main" val="2908806151"/>
      </p:ext>
    </p:extLst>
  </p:cSld>
  <p:clrMapOvr>
    <a:masterClrMapping/>
  </p:clrMapOvr>
  <p:transition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45" name="Rectangle 5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914400" y="1295400"/>
            <a:ext cx="8229600" cy="4525963"/>
          </a:xfrm>
        </p:spPr>
        <p:txBody>
          <a:bodyPr>
            <a:noAutofit/>
          </a:bodyPr>
          <a:lstStyle/>
          <a:p>
            <a:pPr>
              <a:buFontTx/>
              <a:buNone/>
            </a:pPr>
            <a:r>
              <a:rPr lang="en-US" b="1" dirty="0">
                <a:solidFill>
                  <a:schemeClr val="accent1"/>
                </a:solidFill>
              </a:rPr>
              <a:t>Register Only</a:t>
            </a:r>
          </a:p>
          <a:p>
            <a:r>
              <a:rPr lang="en-US" sz="2600" dirty="0"/>
              <a:t>Operands found in registers</a:t>
            </a:r>
          </a:p>
          <a:p>
            <a:pPr lvl="1"/>
            <a:r>
              <a:rPr lang="en-US" sz="2600" b="1" dirty="0">
                <a:solidFill>
                  <a:schemeClr val="accent1"/>
                </a:solidFill>
              </a:rPr>
              <a:t>Example:</a:t>
            </a:r>
            <a:r>
              <a:rPr lang="en-US" sz="2600" dirty="0">
                <a:solidFill>
                  <a:schemeClr val="accent1"/>
                </a:solidFill>
              </a:rPr>
              <a:t> </a:t>
            </a:r>
            <a:r>
              <a:rPr lang="en-US" sz="2600" dirty="0">
                <a:latin typeface="Courier New" pitchFamily="49" charset="0"/>
              </a:rPr>
              <a:t>add $s0, $t2, $t3</a:t>
            </a:r>
          </a:p>
          <a:p>
            <a:pPr lvl="1"/>
            <a:r>
              <a:rPr lang="en-US" sz="2600" b="1" dirty="0">
                <a:solidFill>
                  <a:schemeClr val="accent1"/>
                </a:solidFill>
              </a:rPr>
              <a:t>Example:</a:t>
            </a:r>
            <a:r>
              <a:rPr lang="en-US" sz="2600" dirty="0"/>
              <a:t> </a:t>
            </a:r>
            <a:r>
              <a:rPr lang="en-US" sz="2600" dirty="0">
                <a:latin typeface="Courier New" pitchFamily="49" charset="0"/>
              </a:rPr>
              <a:t>sub $t8, $s1, $0</a:t>
            </a:r>
            <a:endParaRPr lang="en-US" sz="2600" dirty="0"/>
          </a:p>
          <a:p>
            <a:pPr>
              <a:buFontTx/>
              <a:buNone/>
            </a:pPr>
            <a:r>
              <a:rPr lang="en-US" b="1" dirty="0">
                <a:solidFill>
                  <a:schemeClr val="accent1"/>
                </a:solidFill>
              </a:rPr>
              <a:t>Immediate</a:t>
            </a:r>
          </a:p>
          <a:p>
            <a:r>
              <a:rPr lang="en-US" sz="2600" dirty="0"/>
              <a:t>16-bit immediate used as an operand</a:t>
            </a:r>
          </a:p>
          <a:p>
            <a:pPr lvl="1"/>
            <a:r>
              <a:rPr lang="en-US" sz="2600" b="1" dirty="0">
                <a:solidFill>
                  <a:schemeClr val="accent1"/>
                </a:solidFill>
              </a:rPr>
              <a:t>Example:</a:t>
            </a:r>
            <a:r>
              <a:rPr lang="en-US" sz="2600" dirty="0"/>
              <a:t> </a:t>
            </a:r>
            <a:r>
              <a:rPr lang="en-US" sz="2600" dirty="0" err="1">
                <a:latin typeface="Courier New" pitchFamily="49" charset="0"/>
              </a:rPr>
              <a:t>addi</a:t>
            </a:r>
            <a:r>
              <a:rPr lang="en-US" sz="2600" dirty="0">
                <a:latin typeface="Courier New" pitchFamily="49" charset="0"/>
              </a:rPr>
              <a:t> $s4, $t5, -73</a:t>
            </a:r>
          </a:p>
          <a:p>
            <a:pPr lvl="1"/>
            <a:r>
              <a:rPr lang="en-US" sz="2600" b="1" dirty="0">
                <a:solidFill>
                  <a:schemeClr val="accent1"/>
                </a:solidFill>
              </a:rPr>
              <a:t>Example:</a:t>
            </a:r>
            <a:r>
              <a:rPr lang="en-US" sz="2600" dirty="0"/>
              <a:t> </a:t>
            </a:r>
            <a:r>
              <a:rPr lang="en-US" sz="2600" dirty="0" err="1">
                <a:latin typeface="Courier New" pitchFamily="49" charset="0"/>
              </a:rPr>
              <a:t>ori</a:t>
            </a:r>
            <a:r>
              <a:rPr lang="en-US" sz="2600" dirty="0">
                <a:latin typeface="Courier New" pitchFamily="49" charset="0"/>
              </a:rPr>
              <a:t>  $t3, $t7, 0xFF</a:t>
            </a:r>
            <a:endParaRPr lang="en-US" sz="2600" dirty="0"/>
          </a:p>
        </p:txBody>
      </p:sp>
      <p:sp>
        <p:nvSpPr>
          <p:cNvPr id="1085442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85444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Addressing Modes</a:t>
            </a:r>
          </a:p>
        </p:txBody>
      </p:sp>
    </p:spTree>
    <p:extLst>
      <p:ext uri="{BB962C8B-B14F-4D97-AF65-F5344CB8AC3E}">
        <p14:creationId xmlns:p14="http://schemas.microsoft.com/office/powerpoint/2010/main" val="4250844855"/>
      </p:ext>
    </p:extLst>
  </p:cSld>
  <p:clrMapOvr>
    <a:masterClrMapping/>
  </p:clrMapOvr>
  <p:transition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469" name="Rectangle 5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914400" y="1265237"/>
            <a:ext cx="8229600" cy="4525963"/>
          </a:xfrm>
        </p:spPr>
        <p:txBody>
          <a:bodyPr>
            <a:normAutofit fontScale="92500"/>
          </a:bodyPr>
          <a:lstStyle/>
          <a:p>
            <a:pPr>
              <a:buFontTx/>
              <a:buNone/>
            </a:pPr>
            <a:r>
              <a:rPr lang="en-US" sz="3200" b="1" dirty="0">
                <a:solidFill>
                  <a:schemeClr val="accent1"/>
                </a:solidFill>
              </a:rPr>
              <a:t>Base Addressing</a:t>
            </a:r>
          </a:p>
          <a:p>
            <a:r>
              <a:rPr lang="en-US" dirty="0"/>
              <a:t>Address of operand is:</a:t>
            </a:r>
          </a:p>
          <a:p>
            <a:pPr lvl="1">
              <a:buFontTx/>
              <a:buNone/>
            </a:pPr>
            <a:r>
              <a:rPr lang="en-US" dirty="0">
                <a:latin typeface="Courier New" pitchFamily="49" charset="0"/>
              </a:rPr>
              <a:t>base address + sign-extended immediate</a:t>
            </a:r>
          </a:p>
          <a:p>
            <a:pPr lvl="1">
              <a:buFontTx/>
              <a:buNone/>
            </a:pPr>
            <a:endParaRPr lang="en-US" dirty="0"/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Example:</a:t>
            </a:r>
            <a:r>
              <a:rPr lang="en-US" dirty="0"/>
              <a:t> </a:t>
            </a:r>
            <a:r>
              <a:rPr lang="en-US" dirty="0" err="1">
                <a:latin typeface="Courier New" pitchFamily="49" charset="0"/>
              </a:rPr>
              <a:t>lw</a:t>
            </a:r>
            <a:r>
              <a:rPr lang="en-US" dirty="0">
                <a:latin typeface="Courier New" pitchFamily="49" charset="0"/>
              </a:rPr>
              <a:t>  $s4, 72($0)</a:t>
            </a:r>
          </a:p>
          <a:p>
            <a:pPr lvl="2"/>
            <a:r>
              <a:rPr lang="en-US" dirty="0"/>
              <a:t>address = </a:t>
            </a:r>
            <a:r>
              <a:rPr lang="en-US" dirty="0">
                <a:latin typeface="Courier New" pitchFamily="49" charset="0"/>
              </a:rPr>
              <a:t>$0 + 72</a:t>
            </a:r>
          </a:p>
          <a:p>
            <a:pPr lvl="2"/>
            <a:endParaRPr lang="en-US" dirty="0">
              <a:latin typeface="Courier New" pitchFamily="49" charset="0"/>
            </a:endParaRP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Example: </a:t>
            </a:r>
            <a:r>
              <a:rPr lang="en-US" dirty="0" err="1">
                <a:latin typeface="Courier New" pitchFamily="49" charset="0"/>
              </a:rPr>
              <a:t>sw</a:t>
            </a:r>
            <a:r>
              <a:rPr lang="en-US" dirty="0">
                <a:latin typeface="Courier New" pitchFamily="49" charset="0"/>
              </a:rPr>
              <a:t>  $t2, -25($t1)</a:t>
            </a:r>
            <a:endParaRPr lang="en-US" dirty="0"/>
          </a:p>
          <a:p>
            <a:pPr lvl="2"/>
            <a:r>
              <a:rPr lang="en-US" dirty="0"/>
              <a:t>address = </a:t>
            </a:r>
            <a:r>
              <a:rPr lang="en-US" dirty="0">
                <a:latin typeface="Courier New" pitchFamily="49" charset="0"/>
              </a:rPr>
              <a:t>$t1 - 25</a:t>
            </a:r>
          </a:p>
          <a:p>
            <a:pPr lvl="1">
              <a:buFontTx/>
              <a:buNone/>
            </a:pPr>
            <a:endParaRPr lang="en-US" dirty="0"/>
          </a:p>
        </p:txBody>
      </p:sp>
      <p:sp>
        <p:nvSpPr>
          <p:cNvPr id="1086466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86468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Addressing Modes</a:t>
            </a:r>
          </a:p>
        </p:txBody>
      </p:sp>
    </p:spTree>
    <p:extLst>
      <p:ext uri="{BB962C8B-B14F-4D97-AF65-F5344CB8AC3E}">
        <p14:creationId xmlns:p14="http://schemas.microsoft.com/office/powerpoint/2010/main" val="4284667714"/>
      </p:ext>
    </p:extLst>
  </p:cSld>
  <p:clrMapOvr>
    <a:masterClrMapping/>
  </p:clrMapOvr>
  <p:transition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492" name="Rectangle 4"/>
          <p:cNvSpPr>
            <a:spLocks noGrp="1" noChangeArrowheads="1"/>
          </p:cNvSpPr>
          <p:nvPr>
            <p:ph sz="half" idx="4294967295"/>
            <p:custDataLst>
              <p:tags r:id="rId2"/>
            </p:custDataLst>
          </p:nvPr>
        </p:nvSpPr>
        <p:spPr>
          <a:xfrm>
            <a:off x="914400" y="1219200"/>
            <a:ext cx="6705600" cy="3278188"/>
          </a:xfrm>
        </p:spPr>
        <p:txBody>
          <a:bodyPr/>
          <a:lstStyle/>
          <a:p>
            <a:pPr>
              <a:buFontTx/>
              <a:buNone/>
            </a:pPr>
            <a:r>
              <a:rPr lang="en-US" sz="3200" b="1" dirty="0">
                <a:solidFill>
                  <a:schemeClr val="accent1"/>
                </a:solidFill>
              </a:rPr>
              <a:t>PC-Relative Addressing</a:t>
            </a:r>
          </a:p>
          <a:p>
            <a:pPr>
              <a:buFontTx/>
              <a:buNone/>
            </a:pPr>
            <a:endParaRPr lang="en-US" sz="1600" dirty="0"/>
          </a:p>
          <a:p>
            <a:pPr>
              <a:buFontTx/>
              <a:buNone/>
            </a:pPr>
            <a:r>
              <a:rPr lang="en-US" sz="2000" b="1" dirty="0">
                <a:latin typeface="Courier New" pitchFamily="49" charset="0"/>
              </a:rPr>
              <a:t>0x10      </a:t>
            </a:r>
            <a:r>
              <a:rPr lang="en-US" sz="2000" dirty="0">
                <a:latin typeface="Courier New" pitchFamily="49" charset="0"/>
              </a:rPr>
              <a:t>  	</a:t>
            </a:r>
            <a:r>
              <a:rPr lang="en-US" sz="2000" dirty="0" err="1">
                <a:latin typeface="Courier New" pitchFamily="49" charset="0"/>
              </a:rPr>
              <a:t>beq</a:t>
            </a:r>
            <a:r>
              <a:rPr lang="en-US" sz="2000" dirty="0">
                <a:latin typeface="Courier New" pitchFamily="49" charset="0"/>
              </a:rPr>
              <a:t>  	$t0, $0, else</a:t>
            </a:r>
          </a:p>
          <a:p>
            <a:pPr>
              <a:buFontTx/>
              <a:buNone/>
            </a:pPr>
            <a:r>
              <a:rPr lang="en-US" sz="2000" b="1" dirty="0">
                <a:latin typeface="Courier New" pitchFamily="49" charset="0"/>
              </a:rPr>
              <a:t>0x14 </a:t>
            </a:r>
            <a:r>
              <a:rPr lang="en-US" sz="2000" dirty="0">
                <a:latin typeface="Courier New" pitchFamily="49" charset="0"/>
              </a:rPr>
              <a:t>       	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	$v0, $0, 1 </a:t>
            </a:r>
          </a:p>
          <a:p>
            <a:pPr>
              <a:buFontTx/>
              <a:buNone/>
            </a:pPr>
            <a:r>
              <a:rPr lang="en-US" sz="2000" b="1" dirty="0">
                <a:latin typeface="Courier New" pitchFamily="49" charset="0"/>
              </a:rPr>
              <a:t>0x18 </a:t>
            </a:r>
            <a:r>
              <a:rPr lang="en-US" sz="2000" dirty="0">
                <a:latin typeface="Courier New" pitchFamily="49" charset="0"/>
              </a:rPr>
              <a:t>       	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	$</a:t>
            </a:r>
            <a:r>
              <a:rPr lang="en-US" sz="2000" dirty="0" err="1">
                <a:latin typeface="Courier New" pitchFamily="49" charset="0"/>
              </a:rPr>
              <a:t>sp</a:t>
            </a:r>
            <a:r>
              <a:rPr lang="en-US" sz="2000" dirty="0">
                <a:latin typeface="Courier New" pitchFamily="49" charset="0"/>
              </a:rPr>
              <a:t>, $</a:t>
            </a:r>
            <a:r>
              <a:rPr lang="en-US" sz="2000" dirty="0" err="1">
                <a:latin typeface="Courier New" pitchFamily="49" charset="0"/>
              </a:rPr>
              <a:t>sp</a:t>
            </a:r>
            <a:r>
              <a:rPr lang="en-US" sz="2000" dirty="0">
                <a:latin typeface="Courier New" pitchFamily="49" charset="0"/>
              </a:rPr>
              <a:t>, </a:t>
            </a:r>
            <a:r>
              <a:rPr lang="en-US" sz="2000" dirty="0" err="1">
                <a:latin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</a:rPr>
              <a:t> </a:t>
            </a:r>
          </a:p>
          <a:p>
            <a:pPr>
              <a:buFontTx/>
              <a:buNone/>
            </a:pPr>
            <a:r>
              <a:rPr lang="en-US" sz="2000" b="1" dirty="0">
                <a:latin typeface="Courier New" pitchFamily="49" charset="0"/>
              </a:rPr>
              <a:t>0x1C </a:t>
            </a:r>
            <a:r>
              <a:rPr lang="en-US" sz="2000" dirty="0">
                <a:latin typeface="Courier New" pitchFamily="49" charset="0"/>
              </a:rPr>
              <a:t>       	</a:t>
            </a:r>
            <a:r>
              <a:rPr lang="en-US" sz="2000" dirty="0" err="1">
                <a:latin typeface="Courier New" pitchFamily="49" charset="0"/>
              </a:rPr>
              <a:t>jr</a:t>
            </a:r>
            <a:r>
              <a:rPr lang="en-US" sz="2000" dirty="0">
                <a:latin typeface="Courier New" pitchFamily="49" charset="0"/>
              </a:rPr>
              <a:t>    	$</a:t>
            </a:r>
            <a:r>
              <a:rPr lang="en-US" sz="2000" dirty="0" err="1">
                <a:latin typeface="Courier New" pitchFamily="49" charset="0"/>
              </a:rPr>
              <a:t>ra</a:t>
            </a:r>
            <a:endParaRPr lang="en-US" sz="20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2000" b="1" dirty="0">
                <a:latin typeface="Courier New" pitchFamily="49" charset="0"/>
              </a:rPr>
              <a:t>0x20      </a:t>
            </a:r>
            <a:r>
              <a:rPr lang="en-US" sz="2000" dirty="0">
                <a:latin typeface="Courier New" pitchFamily="49" charset="0"/>
              </a:rPr>
              <a:t>else:  	</a:t>
            </a:r>
            <a:r>
              <a:rPr lang="en-US" sz="2000" dirty="0" err="1">
                <a:latin typeface="Courier New" pitchFamily="49" charset="0"/>
              </a:rPr>
              <a:t>addi</a:t>
            </a:r>
            <a:r>
              <a:rPr lang="en-US" sz="2000" dirty="0">
                <a:latin typeface="Courier New" pitchFamily="49" charset="0"/>
              </a:rPr>
              <a:t> 	$a0, $a0, -1</a:t>
            </a:r>
          </a:p>
          <a:p>
            <a:pPr>
              <a:buFontTx/>
              <a:buNone/>
            </a:pPr>
            <a:r>
              <a:rPr lang="en-US" sz="2000" b="1" dirty="0">
                <a:latin typeface="Courier New" pitchFamily="49" charset="0"/>
              </a:rPr>
              <a:t>0x24 </a:t>
            </a:r>
            <a:r>
              <a:rPr lang="en-US" sz="2000" dirty="0">
                <a:latin typeface="Courier New" pitchFamily="49" charset="0"/>
              </a:rPr>
              <a:t>       	</a:t>
            </a:r>
            <a:r>
              <a:rPr lang="en-US" sz="2000" dirty="0" err="1">
                <a:latin typeface="Courier New" pitchFamily="49" charset="0"/>
              </a:rPr>
              <a:t>jal</a:t>
            </a:r>
            <a:r>
              <a:rPr lang="en-US" sz="2000" dirty="0">
                <a:latin typeface="Courier New" pitchFamily="49" charset="0"/>
              </a:rPr>
              <a:t>  	factorial</a:t>
            </a:r>
          </a:p>
          <a:p>
            <a:endParaRPr lang="en-US" sz="2000" dirty="0">
              <a:latin typeface="Courier New" pitchFamily="49" charset="0"/>
            </a:endParaRPr>
          </a:p>
        </p:txBody>
      </p:sp>
      <p:graphicFrame>
        <p:nvGraphicFramePr>
          <p:cNvPr id="1087494" name="Object 6"/>
          <p:cNvGraphicFramePr>
            <a:graphicFrameLocks noGrp="1" noChangeAspect="1"/>
          </p:cNvGraphicFramePr>
          <p:nvPr>
            <p:ph sz="half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807556492"/>
              </p:ext>
            </p:extLst>
          </p:nvPr>
        </p:nvGraphicFramePr>
        <p:xfrm>
          <a:off x="1143000" y="4570413"/>
          <a:ext cx="7010400" cy="145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6" name="VISIO" r:id="rId8" imgW="2524680" imgH="547920" progId="Visio.Drawing.6">
                  <p:embed/>
                </p:oleObj>
              </mc:Choice>
              <mc:Fallback>
                <p:oleObj name="VISIO" r:id="rId8" imgW="2524680" imgH="5479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570413"/>
                        <a:ext cx="7010400" cy="1452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7490" name="Rectangle 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87493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Addressing Modes</a:t>
            </a:r>
          </a:p>
        </p:txBody>
      </p:sp>
    </p:spTree>
    <p:extLst>
      <p:ext uri="{BB962C8B-B14F-4D97-AF65-F5344CB8AC3E}">
        <p14:creationId xmlns:p14="http://schemas.microsoft.com/office/powerpoint/2010/main" val="1652154588"/>
      </p:ext>
    </p:extLst>
  </p:cSld>
  <p:clrMapOvr>
    <a:masterClrMapping/>
  </p:clrMapOvr>
  <p:transition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516" name="Rectangle 4"/>
          <p:cNvSpPr>
            <a:spLocks noGrp="1" noChangeArrowheads="1"/>
          </p:cNvSpPr>
          <p:nvPr>
            <p:ph sz="half" idx="4294967295"/>
            <p:custDataLst>
              <p:tags r:id="rId2"/>
            </p:custDataLst>
          </p:nvPr>
        </p:nvSpPr>
        <p:spPr>
          <a:xfrm>
            <a:off x="914400" y="1219200"/>
            <a:ext cx="7467600" cy="4953000"/>
          </a:xfrm>
        </p:spPr>
        <p:txBody>
          <a:bodyPr/>
          <a:lstStyle/>
          <a:p>
            <a:pPr>
              <a:buFontTx/>
              <a:buNone/>
            </a:pPr>
            <a:r>
              <a:rPr lang="en-US" sz="3200" b="1" dirty="0">
                <a:solidFill>
                  <a:schemeClr val="accent1"/>
                </a:solidFill>
              </a:rPr>
              <a:t>Pseudo-direct Addressing</a:t>
            </a:r>
          </a:p>
          <a:p>
            <a:pPr>
              <a:buFontTx/>
              <a:buNone/>
            </a:pPr>
            <a:endParaRPr lang="en-US" sz="1600" dirty="0">
              <a:solidFill>
                <a:schemeClr val="accent2"/>
              </a:solidFill>
            </a:endParaRPr>
          </a:p>
          <a:p>
            <a:pPr>
              <a:buFontTx/>
              <a:buNone/>
            </a:pPr>
            <a:r>
              <a:rPr lang="en-US" sz="2000" b="1" dirty="0">
                <a:latin typeface="Courier New" pitchFamily="49" charset="0"/>
              </a:rPr>
              <a:t>0x0040005C   </a:t>
            </a:r>
            <a:r>
              <a:rPr lang="en-US" sz="2000" dirty="0">
                <a:latin typeface="Courier New" pitchFamily="49" charset="0"/>
              </a:rPr>
              <a:t>     </a:t>
            </a:r>
            <a:r>
              <a:rPr lang="en-US" sz="2000" dirty="0" err="1">
                <a:latin typeface="Courier New" pitchFamily="49" charset="0"/>
              </a:rPr>
              <a:t>jal</a:t>
            </a:r>
            <a:r>
              <a:rPr lang="en-US" sz="2000" dirty="0">
                <a:latin typeface="Courier New" pitchFamily="49" charset="0"/>
              </a:rPr>
              <a:t>  	sum</a:t>
            </a:r>
          </a:p>
          <a:p>
            <a:pPr>
              <a:buFontTx/>
              <a:buNone/>
            </a:pPr>
            <a:r>
              <a:rPr lang="en-US" sz="2000" dirty="0">
                <a:latin typeface="Courier New" pitchFamily="49" charset="0"/>
              </a:rPr>
              <a:t>...</a:t>
            </a:r>
          </a:p>
          <a:p>
            <a:pPr>
              <a:buFontTx/>
              <a:buNone/>
            </a:pPr>
            <a:r>
              <a:rPr lang="en-US" sz="2000" b="1" dirty="0">
                <a:latin typeface="Courier New" pitchFamily="49" charset="0"/>
              </a:rPr>
              <a:t>0x004000A0  </a:t>
            </a:r>
            <a:r>
              <a:rPr lang="en-US" sz="2000" dirty="0">
                <a:latin typeface="Courier New" pitchFamily="49" charset="0"/>
              </a:rPr>
              <a:t>sum: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dirty="0">
                <a:latin typeface="Courier New" pitchFamily="49" charset="0"/>
              </a:rPr>
              <a:t>add  	$v0, $a0, $a1</a:t>
            </a:r>
          </a:p>
        </p:txBody>
      </p:sp>
      <p:graphicFrame>
        <p:nvGraphicFramePr>
          <p:cNvPr id="1088523" name="Object 11"/>
          <p:cNvGraphicFramePr>
            <a:graphicFrameLocks noGrp="1" noChangeAspect="1"/>
          </p:cNvGraphicFramePr>
          <p:nvPr>
            <p:ph sz="quarter" idx="4294967295"/>
            <p:custDataLst>
              <p:tags r:id="rId3"/>
            </p:custDataLst>
          </p:nvPr>
        </p:nvGraphicFramePr>
        <p:xfrm>
          <a:off x="1600200" y="3536950"/>
          <a:ext cx="7543800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54" name="VISIO" r:id="rId9" imgW="2642760" imgH="443520" progId="Visio.Drawing.6">
                  <p:embed/>
                </p:oleObj>
              </mc:Choice>
              <mc:Fallback>
                <p:oleObj name="VISIO" r:id="rId9" imgW="2642760" imgH="4435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536950"/>
                        <a:ext cx="7543800" cy="1263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8524" name="Object 12"/>
          <p:cNvGraphicFramePr>
            <a:graphicFrameLocks noGrp="1" noChangeAspect="1"/>
          </p:cNvGraphicFramePr>
          <p:nvPr>
            <p:ph sz="quarter" idx="4294967295"/>
            <p:custDataLst>
              <p:tags r:id="rId4"/>
            </p:custDataLst>
          </p:nvPr>
        </p:nvGraphicFramePr>
        <p:xfrm>
          <a:off x="914400" y="4724400"/>
          <a:ext cx="82296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55" name="VISIO" r:id="rId11" imgW="3929040" imgH="569520" progId="Visio.Drawing.6">
                  <p:embed/>
                </p:oleObj>
              </mc:Choice>
              <mc:Fallback>
                <p:oleObj name="VISIO" r:id="rId11" imgW="3929040" imgH="5695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724400"/>
                        <a:ext cx="8229600" cy="1193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8514" name="Rectangle 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88517" name="Rectangle 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Addressing Modes</a:t>
            </a:r>
          </a:p>
        </p:txBody>
      </p:sp>
    </p:spTree>
    <p:extLst>
      <p:ext uri="{BB962C8B-B14F-4D97-AF65-F5344CB8AC3E}">
        <p14:creationId xmlns:p14="http://schemas.microsoft.com/office/powerpoint/2010/main" val="2236599320"/>
      </p:ext>
    </p:extLst>
  </p:cSld>
  <p:clrMapOvr>
    <a:masterClrMapping/>
  </p:clrMapOvr>
  <p:transition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9541" name="Object 5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61157529"/>
              </p:ext>
            </p:extLst>
          </p:nvPr>
        </p:nvGraphicFramePr>
        <p:xfrm>
          <a:off x="3352800" y="990600"/>
          <a:ext cx="3421062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44" name="VISIO" r:id="rId7" imgW="1695240" imgH="2719440" progId="Visio.Drawing.6">
                  <p:embed/>
                </p:oleObj>
              </mc:Choice>
              <mc:Fallback>
                <p:oleObj name="VISIO" r:id="rId7" imgW="1695240" imgH="27194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990600"/>
                        <a:ext cx="3421062" cy="548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9538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89540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How to Compile &amp; Run a Program</a:t>
            </a:r>
          </a:p>
        </p:txBody>
      </p:sp>
    </p:spTree>
    <p:extLst>
      <p:ext uri="{BB962C8B-B14F-4D97-AF65-F5344CB8AC3E}">
        <p14:creationId xmlns:p14="http://schemas.microsoft.com/office/powerpoint/2010/main" val="717957790"/>
      </p:ext>
    </p:extLst>
  </p:cSld>
  <p:clrMapOvr>
    <a:masterClrMapping/>
  </p:clrMapOvr>
  <p:transition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630" name="Rectangle 6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838200" y="1143000"/>
            <a:ext cx="4800600" cy="4419600"/>
          </a:xfrm>
        </p:spPr>
        <p:txBody>
          <a:bodyPr>
            <a:noAutofit/>
          </a:bodyPr>
          <a:lstStyle/>
          <a:p>
            <a:r>
              <a:rPr lang="en-US" sz="2800" dirty="0"/>
              <a:t>Graduated from Yale University with a Ph.D. in mathematics</a:t>
            </a:r>
          </a:p>
          <a:p>
            <a:r>
              <a:rPr lang="en-US" sz="2800" dirty="0"/>
              <a:t>Developed first compiler</a:t>
            </a:r>
          </a:p>
          <a:p>
            <a:r>
              <a:rPr lang="en-US" sz="2800" dirty="0"/>
              <a:t>Helped develop the COBOL programming language</a:t>
            </a:r>
          </a:p>
          <a:p>
            <a:r>
              <a:rPr lang="en-US" sz="2800" dirty="0"/>
              <a:t>Highly awarded naval officer</a:t>
            </a:r>
          </a:p>
          <a:p>
            <a:r>
              <a:rPr lang="en-US" sz="2800" dirty="0"/>
              <a:t>Received World War II Victory Medal and National Defense Service Medal, among others</a:t>
            </a:r>
          </a:p>
        </p:txBody>
      </p:sp>
      <p:sp>
        <p:nvSpPr>
          <p:cNvPr id="1178626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78628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1178632" name="Picture 8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219199"/>
            <a:ext cx="3048000" cy="4588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Grace Hopper, 1906-1992</a:t>
            </a:r>
          </a:p>
        </p:txBody>
      </p:sp>
    </p:spTree>
    <p:extLst>
      <p:ext uri="{BB962C8B-B14F-4D97-AF65-F5344CB8AC3E}">
        <p14:creationId xmlns:p14="http://schemas.microsoft.com/office/powerpoint/2010/main" val="3716392897"/>
      </p:ext>
    </p:extLst>
  </p:cSld>
  <p:clrMapOvr>
    <a:masterClrMapping/>
  </p:clrMapOvr>
  <p:transition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9056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9056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Instructions (also called </a:t>
            </a:r>
            <a:r>
              <a:rPr lang="en-US" sz="3200" i="1" dirty="0">
                <a:latin typeface="Times New Roman" pitchFamily="18" charset="0"/>
                <a:cs typeface="Arial" charset="0"/>
              </a:rPr>
              <a:t>text</a:t>
            </a:r>
            <a:r>
              <a:rPr lang="en-US" sz="3200" dirty="0">
                <a:latin typeface="Times New Roman" pitchFamily="18" charset="0"/>
                <a:cs typeface="Arial" charset="0"/>
              </a:rPr>
              <a:t>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Data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Global/static: allocated before program begins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Dynamic: allocated within program</a:t>
            </a:r>
          </a:p>
          <a:p>
            <a:pPr marL="742950" lvl="1" indent="-285750">
              <a:spcBef>
                <a:spcPct val="20000"/>
              </a:spcBef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How big is memory?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At most 2</a:t>
            </a:r>
            <a:r>
              <a:rPr lang="en-US" sz="2600" baseline="30000" dirty="0">
                <a:latin typeface="Times New Roman" pitchFamily="18" charset="0"/>
                <a:cs typeface="Arial" charset="0"/>
              </a:rPr>
              <a:t>32</a:t>
            </a:r>
            <a:r>
              <a:rPr lang="en-US" sz="2600" dirty="0">
                <a:latin typeface="Times New Roman" pitchFamily="18" charset="0"/>
                <a:cs typeface="Arial" charset="0"/>
              </a:rPr>
              <a:t> = 4 gigabytes (4 GB)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From address 0x00000000 to 0xFFFFFFFF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What is Stored in Memory?</a:t>
            </a:r>
          </a:p>
        </p:txBody>
      </p:sp>
    </p:spTree>
    <p:extLst>
      <p:ext uri="{BB962C8B-B14F-4D97-AF65-F5344CB8AC3E}">
        <p14:creationId xmlns:p14="http://schemas.microsoft.com/office/powerpoint/2010/main" val="1629627550"/>
      </p:ext>
    </p:extLst>
  </p:cSld>
  <p:clrMapOvr>
    <a:masterClrMapping/>
  </p:clrMapOvr>
  <p:transition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1589" name="Object 5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68165948"/>
              </p:ext>
            </p:extLst>
          </p:nvPr>
        </p:nvGraphicFramePr>
        <p:xfrm>
          <a:off x="3094209" y="1066800"/>
          <a:ext cx="2392191" cy="533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68" name="VISIO" r:id="rId7" imgW="1518120" imgH="3386160" progId="Visio.Drawing.6">
                  <p:embed/>
                </p:oleObj>
              </mc:Choice>
              <mc:Fallback>
                <p:oleObj name="VISIO" r:id="rId7" imgW="1518120" imgH="33861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4209" y="1066800"/>
                        <a:ext cx="2392191" cy="533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1586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91588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MIPS Memory Map</a:t>
            </a:r>
          </a:p>
        </p:txBody>
      </p:sp>
    </p:spTree>
    <p:extLst>
      <p:ext uri="{BB962C8B-B14F-4D97-AF65-F5344CB8AC3E}">
        <p14:creationId xmlns:p14="http://schemas.microsoft.com/office/powerpoint/2010/main" val="1275789542"/>
      </p:ext>
    </p:extLst>
  </p:cSld>
  <p:clrMapOvr>
    <a:masterClrMapping/>
  </p:clrMapOvr>
  <p:transition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637" name="Rectangle 5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990600" y="1219200"/>
            <a:ext cx="4800600" cy="4953000"/>
          </a:xfrm>
        </p:spPr>
        <p:txBody>
          <a:bodyPr/>
          <a:lstStyle/>
          <a:p>
            <a:pPr>
              <a:buFontTx/>
              <a:buNone/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f, g, y;  // global variables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main(void) 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f = 2;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g = 3;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y = sum(f, g);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return y;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}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sum(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a, 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b) {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return (a + b);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1093634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93636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 Program: C Code</a:t>
            </a:r>
          </a:p>
        </p:txBody>
      </p:sp>
    </p:spTree>
    <p:extLst>
      <p:ext uri="{BB962C8B-B14F-4D97-AF65-F5344CB8AC3E}">
        <p14:creationId xmlns:p14="http://schemas.microsoft.com/office/powerpoint/2010/main" val="3230587241"/>
      </p:ext>
    </p:extLst>
  </p:cSld>
  <p:clrMapOvr>
    <a:masterClrMapping/>
  </p:clrMapOvr>
  <p:transition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661" name="Rectangle 5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838200" y="1143000"/>
            <a:ext cx="3886200" cy="49530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f, g, y;  // global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main(void) 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{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f = 2;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g = 3;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y = sum(f, g);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return y;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}</a:t>
            </a:r>
          </a:p>
          <a:p>
            <a:pPr>
              <a:buFontTx/>
              <a:buNone/>
            </a:pPr>
            <a:endParaRPr lang="en-US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sum(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a, 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b) {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  return (a + b);</a:t>
            </a:r>
          </a:p>
          <a:p>
            <a:pPr>
              <a:buFontTx/>
              <a:buNone/>
            </a:pPr>
            <a:r>
              <a:rPr lang="en-US" sz="1600" dirty="0">
                <a:latin typeface="Courier New" pitchFamily="49" charset="0"/>
              </a:rPr>
              <a:t>}</a:t>
            </a:r>
          </a:p>
        </p:txBody>
      </p:sp>
      <p:sp>
        <p:nvSpPr>
          <p:cNvPr id="109465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94660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94662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038600" y="990600"/>
            <a:ext cx="4648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.data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f: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g: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y: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.text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main: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500" dirty="0">
                <a:latin typeface="Courier New" pitchFamily="49" charset="0"/>
                <a:cs typeface="Arial" charset="0"/>
              </a:rPr>
              <a:t> $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sp</a:t>
            </a:r>
            <a:r>
              <a:rPr lang="en-US" sz="1500" dirty="0">
                <a:latin typeface="Courier New" pitchFamily="49" charset="0"/>
                <a:cs typeface="Arial" charset="0"/>
              </a:rPr>
              <a:t>, $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sp</a:t>
            </a:r>
            <a:r>
              <a:rPr lang="en-US" sz="1500" dirty="0">
                <a:latin typeface="Courier New" pitchFamily="49" charset="0"/>
                <a:cs typeface="Arial" charset="0"/>
              </a:rPr>
              <a:t>, -4   # stack frame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sw</a:t>
            </a:r>
            <a:r>
              <a:rPr lang="en-US" sz="1500" dirty="0">
                <a:latin typeface="Courier New" pitchFamily="49" charset="0"/>
                <a:cs typeface="Arial" charset="0"/>
              </a:rPr>
              <a:t>   $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ra</a:t>
            </a:r>
            <a:r>
              <a:rPr lang="en-US" sz="1500" dirty="0">
                <a:latin typeface="Courier New" pitchFamily="49" charset="0"/>
                <a:cs typeface="Arial" charset="0"/>
              </a:rPr>
              <a:t>, 0($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sp</a:t>
            </a:r>
            <a:r>
              <a:rPr lang="en-US" sz="1500" dirty="0">
                <a:latin typeface="Courier New" pitchFamily="49" charset="0"/>
                <a:cs typeface="Arial" charset="0"/>
              </a:rPr>
              <a:t>)    # store $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ra</a:t>
            </a:r>
            <a:endParaRPr lang="en-US" sz="15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500" dirty="0">
                <a:latin typeface="Courier New" pitchFamily="49" charset="0"/>
                <a:cs typeface="Arial" charset="0"/>
              </a:rPr>
              <a:t> $a0, $0, 2     # $a0 = 2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sw</a:t>
            </a:r>
            <a:r>
              <a:rPr lang="en-US" sz="1500" dirty="0">
                <a:latin typeface="Courier New" pitchFamily="49" charset="0"/>
                <a:cs typeface="Arial" charset="0"/>
              </a:rPr>
              <a:t>   $a0, f         # f = 2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500" dirty="0">
                <a:latin typeface="Courier New" pitchFamily="49" charset="0"/>
                <a:cs typeface="Arial" charset="0"/>
              </a:rPr>
              <a:t> $a1, $0, 3     # $a1 = 3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sw</a:t>
            </a:r>
            <a:r>
              <a:rPr lang="en-US" sz="1500" dirty="0">
                <a:latin typeface="Courier New" pitchFamily="49" charset="0"/>
                <a:cs typeface="Arial" charset="0"/>
              </a:rPr>
              <a:t>   $a1, g         # g = 3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jal</a:t>
            </a:r>
            <a:r>
              <a:rPr lang="en-US" sz="1500" dirty="0">
                <a:latin typeface="Courier New" pitchFamily="49" charset="0"/>
                <a:cs typeface="Arial" charset="0"/>
              </a:rPr>
              <a:t>  sum            # call sum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sw</a:t>
            </a:r>
            <a:r>
              <a:rPr lang="en-US" sz="1500" dirty="0">
                <a:latin typeface="Courier New" pitchFamily="49" charset="0"/>
                <a:cs typeface="Arial" charset="0"/>
              </a:rPr>
              <a:t>   $v0, y         # y = sum()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lw</a:t>
            </a:r>
            <a:r>
              <a:rPr lang="en-US" sz="1500" dirty="0">
                <a:latin typeface="Courier New" pitchFamily="49" charset="0"/>
                <a:cs typeface="Arial" charset="0"/>
              </a:rPr>
              <a:t>   $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ra</a:t>
            </a:r>
            <a:r>
              <a:rPr lang="en-US" sz="1500" dirty="0">
                <a:latin typeface="Courier New" pitchFamily="49" charset="0"/>
                <a:cs typeface="Arial" charset="0"/>
              </a:rPr>
              <a:t>, 0($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sp</a:t>
            </a:r>
            <a:r>
              <a:rPr lang="en-US" sz="1500" dirty="0">
                <a:latin typeface="Courier New" pitchFamily="49" charset="0"/>
                <a:cs typeface="Arial" charset="0"/>
              </a:rPr>
              <a:t>)    # restore $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ra</a:t>
            </a:r>
            <a:endParaRPr lang="en-US" sz="15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1500" dirty="0">
                <a:latin typeface="Courier New" pitchFamily="49" charset="0"/>
                <a:cs typeface="Arial" charset="0"/>
              </a:rPr>
              <a:t> $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sp</a:t>
            </a:r>
            <a:r>
              <a:rPr lang="en-US" sz="1500" dirty="0">
                <a:latin typeface="Courier New" pitchFamily="49" charset="0"/>
                <a:cs typeface="Arial" charset="0"/>
              </a:rPr>
              <a:t>, $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sp</a:t>
            </a:r>
            <a:r>
              <a:rPr lang="en-US" sz="1500" dirty="0">
                <a:latin typeface="Courier New" pitchFamily="49" charset="0"/>
                <a:cs typeface="Arial" charset="0"/>
              </a:rPr>
              <a:t>, 4    # restore $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sp</a:t>
            </a:r>
            <a:endParaRPr lang="en-US" sz="1500" dirty="0">
              <a:latin typeface="Courier New" pitchFamily="49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jr</a:t>
            </a:r>
            <a:r>
              <a:rPr lang="en-US" sz="1500" dirty="0">
                <a:latin typeface="Courier New" pitchFamily="49" charset="0"/>
                <a:cs typeface="Arial" charset="0"/>
              </a:rPr>
              <a:t>   $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ra</a:t>
            </a:r>
            <a:r>
              <a:rPr lang="en-US" sz="1500" dirty="0">
                <a:latin typeface="Courier New" pitchFamily="49" charset="0"/>
                <a:cs typeface="Arial" charset="0"/>
              </a:rPr>
              <a:t>            # return to OS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sum: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add  $v0, $a0, $a1  # $v0 = a + b</a:t>
            </a:r>
          </a:p>
          <a:p>
            <a:pPr marL="342900" indent="-342900">
              <a:spcBef>
                <a:spcPct val="20000"/>
              </a:spcBef>
            </a:pPr>
            <a:r>
              <a:rPr lang="en-US" sz="1500" dirty="0">
                <a:latin typeface="Courier New" pitchFamily="49" charset="0"/>
                <a:cs typeface="Arial" charset="0"/>
              </a:rPr>
              <a:t>  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jr</a:t>
            </a:r>
            <a:r>
              <a:rPr lang="en-US" sz="1500" dirty="0">
                <a:latin typeface="Courier New" pitchFamily="49" charset="0"/>
                <a:cs typeface="Arial" charset="0"/>
              </a:rPr>
              <a:t>   $</a:t>
            </a:r>
            <a:r>
              <a:rPr lang="en-US" sz="1500" dirty="0" err="1">
                <a:latin typeface="Courier New" pitchFamily="49" charset="0"/>
                <a:cs typeface="Arial" charset="0"/>
              </a:rPr>
              <a:t>ra</a:t>
            </a:r>
            <a:r>
              <a:rPr lang="en-US" sz="1500" dirty="0">
                <a:latin typeface="Courier New" pitchFamily="49" charset="0"/>
                <a:cs typeface="Arial" charset="0"/>
              </a:rPr>
              <a:t>            # 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 Program: MIPS Assembly</a:t>
            </a:r>
          </a:p>
        </p:txBody>
      </p:sp>
    </p:spTree>
    <p:extLst>
      <p:ext uri="{BB962C8B-B14F-4D97-AF65-F5344CB8AC3E}">
        <p14:creationId xmlns:p14="http://schemas.microsoft.com/office/powerpoint/2010/main" val="1210984851"/>
      </p:ext>
    </p:extLst>
  </p:cSld>
  <p:clrMapOvr>
    <a:masterClrMapping/>
  </p:clrMapOvr>
  <p:transition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0181" name="Group 5"/>
          <p:cNvGraphicFramePr>
            <a:graphicFrameLocks noGrp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232610"/>
              </p:ext>
            </p:extLst>
          </p:nvPr>
        </p:nvGraphicFramePr>
        <p:xfrm>
          <a:off x="2209800" y="1414463"/>
          <a:ext cx="5029200" cy="3919536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532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Symbol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Address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532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532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532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532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532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3017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30180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 Program: Symbol Table</a:t>
            </a:r>
          </a:p>
        </p:txBody>
      </p:sp>
    </p:spTree>
    <p:extLst>
      <p:ext uri="{BB962C8B-B14F-4D97-AF65-F5344CB8AC3E}">
        <p14:creationId xmlns:p14="http://schemas.microsoft.com/office/powerpoint/2010/main" val="4229338933"/>
      </p:ext>
    </p:extLst>
  </p:cSld>
  <p:clrMapOvr>
    <a:masterClrMapping/>
  </p:clrMapOvr>
  <p:transition/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0181" name="Group 5"/>
          <p:cNvGraphicFramePr>
            <a:graphicFrameLocks noGrp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8310223"/>
              </p:ext>
            </p:extLst>
          </p:nvPr>
        </p:nvGraphicFramePr>
        <p:xfrm>
          <a:off x="2209800" y="1414463"/>
          <a:ext cx="5029200" cy="3919536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532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Symbol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Address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532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0x10000000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532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0x10000004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532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0x10000008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532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main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0x00400000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532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sum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0x0040002C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3017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330180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 Program: Symbol Table</a:t>
            </a:r>
          </a:p>
        </p:txBody>
      </p:sp>
    </p:spTree>
    <p:extLst>
      <p:ext uri="{BB962C8B-B14F-4D97-AF65-F5344CB8AC3E}">
        <p14:creationId xmlns:p14="http://schemas.microsoft.com/office/powerpoint/2010/main" val="3014653705"/>
      </p:ext>
    </p:extLst>
  </p:cSld>
  <p:clrMapOvr>
    <a:masterClrMapping/>
  </p:clrMapOvr>
  <p:transition/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6709" name="Object 5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62122553"/>
              </p:ext>
            </p:extLst>
          </p:nvPr>
        </p:nvGraphicFramePr>
        <p:xfrm>
          <a:off x="1079500" y="1219200"/>
          <a:ext cx="730250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493" name="VISIO" r:id="rId7" imgW="3996360" imgH="2835000" progId="Visio.Drawing.6">
                  <p:embed/>
                </p:oleObj>
              </mc:Choice>
              <mc:Fallback>
                <p:oleObj name="VISIO" r:id="rId7" imgW="3996360" imgH="28350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1219200"/>
                        <a:ext cx="7302500" cy="495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6706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96708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 Program: Executable</a:t>
            </a:r>
          </a:p>
        </p:txBody>
      </p:sp>
    </p:spTree>
    <p:extLst>
      <p:ext uri="{BB962C8B-B14F-4D97-AF65-F5344CB8AC3E}">
        <p14:creationId xmlns:p14="http://schemas.microsoft.com/office/powerpoint/2010/main" val="383682999"/>
      </p:ext>
    </p:extLst>
  </p:cSld>
  <p:clrMapOvr>
    <a:masterClrMapping/>
  </p:clrMapOvr>
  <p:transition/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7733" name="Object 5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75731769"/>
              </p:ext>
            </p:extLst>
          </p:nvPr>
        </p:nvGraphicFramePr>
        <p:xfrm>
          <a:off x="2822575" y="1066800"/>
          <a:ext cx="3654425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16" name="VISIO" r:id="rId7" imgW="2768040" imgH="4157640" progId="Visio.Drawing.6">
                  <p:embed/>
                </p:oleObj>
              </mc:Choice>
              <mc:Fallback>
                <p:oleObj name="VISIO" r:id="rId7" imgW="2768040" imgH="41576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5" y="1066800"/>
                        <a:ext cx="3654425" cy="548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7730" name="Rectangle 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97732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 Program: In Memory</a:t>
            </a:r>
          </a:p>
        </p:txBody>
      </p:sp>
    </p:spTree>
    <p:extLst>
      <p:ext uri="{BB962C8B-B14F-4D97-AF65-F5344CB8AC3E}">
        <p14:creationId xmlns:p14="http://schemas.microsoft.com/office/powerpoint/2010/main" val="1527279797"/>
      </p:ext>
    </p:extLst>
  </p:cSld>
  <p:clrMapOvr>
    <a:masterClrMapping/>
  </p:clrMapOvr>
  <p:transition/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074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55076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5077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 err="1">
                <a:latin typeface="Times New Roman" pitchFamily="18" charset="0"/>
                <a:cs typeface="Arial" charset="0"/>
              </a:rPr>
              <a:t>Pseudoinstructions</a:t>
            </a: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Exceptions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Signed and unsigned instructions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Floating-point instructions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Odds &amp; Ends</a:t>
            </a:r>
          </a:p>
        </p:txBody>
      </p:sp>
    </p:spTree>
    <p:extLst>
      <p:ext uri="{BB962C8B-B14F-4D97-AF65-F5344CB8AC3E}">
        <p14:creationId xmlns:p14="http://schemas.microsoft.com/office/powerpoint/2010/main" val="678469316"/>
      </p:ext>
    </p:extLst>
  </p:cSld>
  <p:clrMapOvr>
    <a:masterClrMapping/>
  </p:clrMapOvr>
  <p:transition/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4090" name="Group 42"/>
          <p:cNvGraphicFramePr>
            <a:graphicFrameLocks noGrp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7744645"/>
              </p:ext>
            </p:extLst>
          </p:nvPr>
        </p:nvGraphicFramePr>
        <p:xfrm>
          <a:off x="1219200" y="1371600"/>
          <a:ext cx="7162800" cy="3277892"/>
        </p:xfrm>
        <a:graphic>
          <a:graphicData uri="http://schemas.openxmlformats.org/drawingml/2006/table">
            <a:tbl>
              <a:tblPr/>
              <a:tblGrid>
                <a:gridCol w="333153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83126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102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Pseudoinstruction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MIPS Instructions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369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li $s0, 0x1234AA77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lui $s0, 0x1234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ori $s0, 0xAA77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102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clear $t0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add $t0, $0, $0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102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move $s1, $s2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add $s2, $s1, $0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102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nop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sll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 $0, $0,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54050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54052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+mj-lt"/>
              </a:rPr>
              <a:t>Pseudoinstructions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24384284"/>
      </p:ext>
    </p:extLst>
  </p:cSld>
  <p:clrMapOvr>
    <a:masterClrMapping/>
  </p:clrMapOvr>
  <p:transition/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09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5610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610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Unscheduled function call to </a:t>
            </a:r>
            <a:r>
              <a:rPr lang="en-US" sz="3200" i="1" dirty="0">
                <a:latin typeface="Times New Roman" pitchFamily="18" charset="0"/>
                <a:cs typeface="Arial" charset="0"/>
              </a:rPr>
              <a:t>exception handler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Caused by: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Hardware, also called an </a:t>
            </a:r>
            <a:r>
              <a:rPr lang="en-US" sz="2600" i="1" dirty="0">
                <a:latin typeface="Times New Roman" pitchFamily="18" charset="0"/>
                <a:cs typeface="Arial" charset="0"/>
              </a:rPr>
              <a:t>interrupt</a:t>
            </a:r>
            <a:r>
              <a:rPr lang="en-US" sz="2600" dirty="0">
                <a:latin typeface="Times New Roman" pitchFamily="18" charset="0"/>
                <a:cs typeface="Arial" charset="0"/>
              </a:rPr>
              <a:t>, e.g., keyboard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Software, also called </a:t>
            </a:r>
            <a:r>
              <a:rPr lang="en-US" sz="2600" i="1" dirty="0">
                <a:latin typeface="Times New Roman" pitchFamily="18" charset="0"/>
                <a:cs typeface="Arial" charset="0"/>
              </a:rPr>
              <a:t>traps</a:t>
            </a:r>
            <a:r>
              <a:rPr lang="en-US" sz="2600" dirty="0">
                <a:latin typeface="Times New Roman" pitchFamily="18" charset="0"/>
                <a:cs typeface="Arial" charset="0"/>
              </a:rPr>
              <a:t>, e.g., undefined instruction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When exception occurs, the processor: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Records the cause of the exception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Jumps to exception handler (at instruction address 0x80000180)</a:t>
            </a:r>
            <a:endParaRPr lang="en-US" sz="2600" i="1" dirty="0">
              <a:latin typeface="Times New Roman" pitchFamily="18" charset="0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Returns to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Exceptions</a:t>
            </a:r>
          </a:p>
        </p:txBody>
      </p:sp>
    </p:spTree>
    <p:extLst>
      <p:ext uri="{BB962C8B-B14F-4D97-AF65-F5344CB8AC3E}">
        <p14:creationId xmlns:p14="http://schemas.microsoft.com/office/powerpoint/2010/main" val="4278232546"/>
      </p:ext>
    </p:extLst>
  </p:cSld>
  <p:clrMapOvr>
    <a:masterClrMapping/>
  </p:clrMapOvr>
  <p:transition/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206" name="Rectangle 38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914400" y="12954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Not part of register file</a:t>
            </a:r>
          </a:p>
          <a:p>
            <a:pPr lvl="1"/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Cause</a:t>
            </a:r>
            <a:r>
              <a:rPr lang="en-US" dirty="0"/>
              <a:t>:</a:t>
            </a:r>
            <a:r>
              <a:rPr lang="en-US" sz="2800" dirty="0"/>
              <a:t> Records cause of exception</a:t>
            </a:r>
          </a:p>
          <a:p>
            <a:pPr lvl="1"/>
            <a:r>
              <a:rPr lang="en-US" b="1" dirty="0">
                <a:solidFill>
                  <a:schemeClr val="accent1"/>
                </a:solidFill>
                <a:latin typeface="Courier New" pitchFamily="49" charset="0"/>
              </a:rPr>
              <a:t>EPC</a:t>
            </a:r>
            <a:r>
              <a:rPr lang="en-US" dirty="0"/>
              <a:t> (Exception PC): </a:t>
            </a:r>
            <a:r>
              <a:rPr lang="en-US" sz="2800" dirty="0"/>
              <a:t>Records PC where exception occurred</a:t>
            </a:r>
          </a:p>
          <a:p>
            <a:r>
              <a:rPr lang="en-US" dirty="0">
                <a:latin typeface="Courier New" pitchFamily="49" charset="0"/>
              </a:rPr>
              <a:t>EPC</a:t>
            </a:r>
            <a:r>
              <a:rPr lang="en-US" dirty="0"/>
              <a:t> and </a:t>
            </a:r>
            <a:r>
              <a:rPr lang="en-US" dirty="0">
                <a:latin typeface="Courier New" pitchFamily="49" charset="0"/>
              </a:rPr>
              <a:t>Cause</a:t>
            </a:r>
            <a:r>
              <a:rPr lang="en-US" dirty="0"/>
              <a:t>: part of Coprocessor 0</a:t>
            </a:r>
          </a:p>
          <a:p>
            <a:r>
              <a:rPr lang="en-US" dirty="0"/>
              <a:t>Move from Coprocessor 0</a:t>
            </a:r>
          </a:p>
          <a:p>
            <a:pPr lvl="1"/>
            <a:r>
              <a:rPr lang="en-US" dirty="0">
                <a:latin typeface="Courier New" pitchFamily="49" charset="0"/>
              </a:rPr>
              <a:t>mfc0 $t0, EPC</a:t>
            </a:r>
          </a:p>
          <a:p>
            <a:pPr lvl="1"/>
            <a:r>
              <a:rPr lang="en-US" dirty="0"/>
              <a:t>Moves contents of </a:t>
            </a:r>
            <a:r>
              <a:rPr lang="en-US" dirty="0">
                <a:latin typeface="Courier New" pitchFamily="49" charset="0"/>
              </a:rPr>
              <a:t>EPC</a:t>
            </a:r>
            <a:r>
              <a:rPr lang="en-US" dirty="0"/>
              <a:t> into </a:t>
            </a:r>
            <a:r>
              <a:rPr lang="en-US" dirty="0">
                <a:latin typeface="Courier New" pitchFamily="49" charset="0"/>
              </a:rPr>
              <a:t>$t0</a:t>
            </a:r>
          </a:p>
          <a:p>
            <a:pPr>
              <a:buFontTx/>
              <a:buNone/>
            </a:pPr>
            <a:endParaRPr lang="en-US" dirty="0">
              <a:latin typeface="Courier New" pitchFamily="49" charset="0"/>
            </a:endParaRPr>
          </a:p>
        </p:txBody>
      </p:sp>
      <p:sp>
        <p:nvSpPr>
          <p:cNvPr id="1159170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59172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Exception Registers</a:t>
            </a:r>
          </a:p>
        </p:txBody>
      </p:sp>
    </p:spTree>
    <p:extLst>
      <p:ext uri="{BB962C8B-B14F-4D97-AF65-F5344CB8AC3E}">
        <p14:creationId xmlns:p14="http://schemas.microsoft.com/office/powerpoint/2010/main" val="501083831"/>
      </p:ext>
    </p:extLst>
  </p:cSld>
  <p:clrMapOvr>
    <a:masterClrMapping/>
  </p:clrMapOvr>
  <p:transition/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0197" name="Group 5"/>
          <p:cNvGraphicFramePr>
            <a:graphicFrameLocks noGrp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98978467"/>
              </p:ext>
            </p:extLst>
          </p:nvPr>
        </p:nvGraphicFramePr>
        <p:xfrm>
          <a:off x="1219200" y="1600200"/>
          <a:ext cx="7086600" cy="3962400"/>
        </p:xfrm>
        <a:graphic>
          <a:graphicData uri="http://schemas.openxmlformats.org/drawingml/2006/table">
            <a:tbl>
              <a:tblPr/>
              <a:tblGrid>
                <a:gridCol w="441870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6789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Exception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Cause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Hardware Interrupt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0x00000000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System Call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0x00000020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Breakpoint / Divide by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0x00000024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Undefined Instruction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0x00000028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Arithmetic Overflow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0x00000030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60194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60196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Exception Causes</a:t>
            </a:r>
          </a:p>
        </p:txBody>
      </p:sp>
    </p:spTree>
    <p:extLst>
      <p:ext uri="{BB962C8B-B14F-4D97-AF65-F5344CB8AC3E}">
        <p14:creationId xmlns:p14="http://schemas.microsoft.com/office/powerpoint/2010/main" val="762884810"/>
      </p:ext>
    </p:extLst>
  </p:cSld>
  <p:clrMapOvr>
    <a:masterClrMapping/>
  </p:clrMapOvr>
  <p:transition/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21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6122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6122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Times New Roman" pitchFamily="18" charset="0"/>
                <a:cs typeface="Arial" charset="0"/>
              </a:rPr>
              <a:t>Processor saves cause and exception PC in </a:t>
            </a:r>
            <a:r>
              <a:rPr lang="en-US" sz="2800" dirty="0">
                <a:latin typeface="Courier New" pitchFamily="49" charset="0"/>
                <a:cs typeface="Arial" charset="0"/>
              </a:rPr>
              <a:t>Cause</a:t>
            </a:r>
            <a:r>
              <a:rPr lang="en-US" sz="2800" dirty="0">
                <a:latin typeface="Times New Roman" pitchFamily="18" charset="0"/>
                <a:cs typeface="Arial" charset="0"/>
              </a:rPr>
              <a:t> and </a:t>
            </a:r>
            <a:r>
              <a:rPr lang="en-US" sz="2800" dirty="0">
                <a:latin typeface="Courier New" pitchFamily="49" charset="0"/>
                <a:cs typeface="Arial" charset="0"/>
              </a:rPr>
              <a:t>EPC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Times New Roman" pitchFamily="18" charset="0"/>
                <a:cs typeface="Arial" charset="0"/>
              </a:rPr>
              <a:t>Processor jumps to exception handler (0x80000180)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Times New Roman" pitchFamily="18" charset="0"/>
                <a:cs typeface="Arial" charset="0"/>
              </a:rPr>
              <a:t>Exception handler: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200" dirty="0">
                <a:latin typeface="Times New Roman" pitchFamily="18" charset="0"/>
                <a:cs typeface="Arial" charset="0"/>
              </a:rPr>
              <a:t>Saves registers on stack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200" dirty="0">
                <a:latin typeface="Times New Roman" pitchFamily="18" charset="0"/>
                <a:cs typeface="Arial" charset="0"/>
              </a:rPr>
              <a:t>Reads </a:t>
            </a:r>
            <a:r>
              <a:rPr lang="en-US" sz="2200" dirty="0">
                <a:latin typeface="Courier New" pitchFamily="49" charset="0"/>
                <a:cs typeface="Arial" charset="0"/>
              </a:rPr>
              <a:t>Cause</a:t>
            </a:r>
            <a:r>
              <a:rPr lang="en-US" sz="2200" dirty="0">
                <a:latin typeface="Times New Roman" pitchFamily="18" charset="0"/>
                <a:cs typeface="Arial" charset="0"/>
              </a:rPr>
              <a:t> register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sz="2200" dirty="0">
                <a:latin typeface="Courier New" pitchFamily="49" charset="0"/>
                <a:cs typeface="Arial" charset="0"/>
              </a:rPr>
              <a:t>		mfc0 $t0, Cause</a:t>
            </a:r>
            <a:endParaRPr lang="en-US" sz="2200" dirty="0">
              <a:latin typeface="Times New Roman" pitchFamily="18" charset="0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200" dirty="0">
                <a:latin typeface="Times New Roman" pitchFamily="18" charset="0"/>
                <a:cs typeface="Arial" charset="0"/>
              </a:rPr>
              <a:t>Handles exception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200" dirty="0">
                <a:latin typeface="Times New Roman" pitchFamily="18" charset="0"/>
                <a:cs typeface="Arial" charset="0"/>
              </a:rPr>
              <a:t>Restores registers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200" dirty="0">
                <a:latin typeface="Times New Roman" pitchFamily="18" charset="0"/>
                <a:cs typeface="Arial" charset="0"/>
              </a:rPr>
              <a:t>Returns to program</a:t>
            </a:r>
          </a:p>
          <a:p>
            <a:pPr marL="1143000" lvl="2" indent="-228600">
              <a:spcBef>
                <a:spcPct val="20000"/>
              </a:spcBef>
            </a:pPr>
            <a:r>
              <a:rPr lang="en-US" sz="2200" dirty="0">
                <a:latin typeface="Courier New" pitchFamily="49" charset="0"/>
                <a:cs typeface="Arial" charset="0"/>
              </a:rPr>
              <a:t>mfc0 $k0, EPC</a:t>
            </a:r>
          </a:p>
          <a:p>
            <a:pPr marL="1143000" lvl="2" indent="-228600">
              <a:spcBef>
                <a:spcPct val="20000"/>
              </a:spcBef>
            </a:pPr>
            <a:r>
              <a:rPr lang="en-US" sz="2200" dirty="0" err="1">
                <a:latin typeface="Courier New" pitchFamily="49" charset="0"/>
                <a:cs typeface="Arial" charset="0"/>
              </a:rPr>
              <a:t>jr</a:t>
            </a:r>
            <a:r>
              <a:rPr lang="en-US" sz="2200" dirty="0">
                <a:latin typeface="Courier New" pitchFamily="49" charset="0"/>
                <a:cs typeface="Arial" charset="0"/>
              </a:rPr>
              <a:t> $k0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Exception Flow</a:t>
            </a:r>
          </a:p>
        </p:txBody>
      </p:sp>
    </p:spTree>
    <p:extLst>
      <p:ext uri="{BB962C8B-B14F-4D97-AF65-F5344CB8AC3E}">
        <p14:creationId xmlns:p14="http://schemas.microsoft.com/office/powerpoint/2010/main" val="109143582"/>
      </p:ext>
    </p:extLst>
  </p:cSld>
  <p:clrMapOvr>
    <a:masterClrMapping/>
  </p:clrMapOvr>
  <p:transition/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22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5712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712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Addition and subtraction</a:t>
            </a: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Multiplication and division</a:t>
            </a: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Set less than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Signed &amp; Unsigned Instructions</a:t>
            </a:r>
          </a:p>
        </p:txBody>
      </p:sp>
    </p:spTree>
    <p:extLst>
      <p:ext uri="{BB962C8B-B14F-4D97-AF65-F5344CB8AC3E}">
        <p14:creationId xmlns:p14="http://schemas.microsoft.com/office/powerpoint/2010/main" val="1780486625"/>
      </p:ext>
    </p:extLst>
  </p:cSld>
  <p:clrMapOvr>
    <a:masterClrMapping/>
  </p:clrMapOvr>
  <p:transition/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33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6634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6634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Signed: </a:t>
            </a:r>
            <a:r>
              <a:rPr lang="en-US" sz="3200" dirty="0">
                <a:latin typeface="Courier New" pitchFamily="49" charset="0"/>
                <a:cs typeface="Arial" charset="0"/>
              </a:rPr>
              <a:t>add</a:t>
            </a:r>
            <a:r>
              <a:rPr lang="en-US" sz="3200" dirty="0">
                <a:latin typeface="Times New Roman" pitchFamily="18" charset="0"/>
                <a:cs typeface="Arial" charset="0"/>
              </a:rPr>
              <a:t>,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addi</a:t>
            </a:r>
            <a:r>
              <a:rPr lang="en-US" sz="3200" dirty="0">
                <a:latin typeface="Times New Roman" pitchFamily="18" charset="0"/>
                <a:cs typeface="Arial" charset="0"/>
              </a:rPr>
              <a:t>, </a:t>
            </a:r>
            <a:r>
              <a:rPr lang="en-US" sz="3200" dirty="0">
                <a:latin typeface="Courier New" pitchFamily="49" charset="0"/>
                <a:cs typeface="Arial" charset="0"/>
              </a:rPr>
              <a:t>sub</a:t>
            </a: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Same operation as unsigned versions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But processor takes exception on overflow</a:t>
            </a: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Unsigned:</a:t>
            </a:r>
            <a:r>
              <a:rPr lang="en-US" sz="3200" dirty="0">
                <a:latin typeface="Times New Roman" pitchFamily="18" charset="0"/>
                <a:cs typeface="Arial" charset="0"/>
              </a:rPr>
              <a:t>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addu</a:t>
            </a:r>
            <a:r>
              <a:rPr lang="en-US" sz="3200" dirty="0">
                <a:latin typeface="Times New Roman" pitchFamily="18" charset="0"/>
                <a:cs typeface="Arial" charset="0"/>
              </a:rPr>
              <a:t>,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addiu</a:t>
            </a:r>
            <a:r>
              <a:rPr lang="en-US" sz="3200" dirty="0">
                <a:latin typeface="Times New Roman" pitchFamily="18" charset="0"/>
                <a:cs typeface="Arial" charset="0"/>
              </a:rPr>
              <a:t>,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subu</a:t>
            </a: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Doesn’t take exception on overflow</a:t>
            </a:r>
          </a:p>
          <a:p>
            <a:pPr lvl="1" algn="just">
              <a:spcBef>
                <a:spcPct val="20000"/>
              </a:spcBef>
            </a:pPr>
            <a:endParaRPr lang="en-US" sz="2600" b="1" dirty="0">
              <a:solidFill>
                <a:schemeClr val="accent1"/>
              </a:solidFill>
              <a:latin typeface="Times New Roman" pitchFamily="18" charset="0"/>
              <a:cs typeface="Arial" charset="0"/>
            </a:endParaRPr>
          </a:p>
          <a:p>
            <a:pPr lvl="1" algn="just">
              <a:spcBef>
                <a:spcPct val="20000"/>
              </a:spcBef>
            </a:pPr>
            <a:endParaRPr lang="en-US" sz="2600" b="1" dirty="0">
              <a:solidFill>
                <a:schemeClr val="accent1"/>
              </a:solidFill>
              <a:latin typeface="Times New Roman" pitchFamily="18" charset="0"/>
              <a:cs typeface="Arial" charset="0"/>
            </a:endParaRPr>
          </a:p>
          <a:p>
            <a:pPr lvl="1" algn="just">
              <a:spcBef>
                <a:spcPct val="20000"/>
              </a:spcBef>
            </a:pPr>
            <a:r>
              <a:rPr lang="en-US" sz="26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Note:</a:t>
            </a:r>
            <a:r>
              <a:rPr lang="en-US" sz="2600" dirty="0">
                <a:latin typeface="Times New Roman" pitchFamily="18" charset="0"/>
                <a:cs typeface="Arial" charset="0"/>
              </a:rPr>
              <a:t>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addiu</a:t>
            </a:r>
            <a:r>
              <a:rPr lang="en-US" sz="2600" dirty="0">
                <a:latin typeface="Times New Roman" pitchFamily="18" charset="0"/>
                <a:cs typeface="Arial" charset="0"/>
              </a:rPr>
              <a:t> sign-extends the immediate</a:t>
            </a:r>
            <a:endParaRPr lang="en-US" sz="2600" dirty="0">
              <a:latin typeface="Courier New" pitchFamily="49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Addition &amp; Subtraction</a:t>
            </a:r>
          </a:p>
        </p:txBody>
      </p:sp>
    </p:spTree>
    <p:extLst>
      <p:ext uri="{BB962C8B-B14F-4D97-AF65-F5344CB8AC3E}">
        <p14:creationId xmlns:p14="http://schemas.microsoft.com/office/powerpoint/2010/main" val="1588307743"/>
      </p:ext>
    </p:extLst>
  </p:cSld>
  <p:clrMapOvr>
    <a:masterClrMapping/>
  </p:clrMapOvr>
  <p:transition/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386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6838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68389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Signed: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mult</a:t>
            </a:r>
            <a:r>
              <a:rPr lang="en-US" sz="3200" dirty="0">
                <a:latin typeface="Times New Roman" pitchFamily="18" charset="0"/>
                <a:cs typeface="Arial" charset="0"/>
              </a:rPr>
              <a:t>, </a:t>
            </a:r>
            <a:r>
              <a:rPr lang="en-US" sz="3200" dirty="0">
                <a:latin typeface="Courier New" pitchFamily="49" charset="0"/>
                <a:cs typeface="Arial" charset="0"/>
              </a:rPr>
              <a:t>div</a:t>
            </a: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Unsigned: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multu</a:t>
            </a:r>
            <a:r>
              <a:rPr lang="en-US" sz="3200" dirty="0">
                <a:latin typeface="Times New Roman" pitchFamily="18" charset="0"/>
                <a:cs typeface="Arial" charset="0"/>
              </a:rPr>
              <a:t>,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divu</a:t>
            </a:r>
            <a:endParaRPr lang="en-US" sz="3200" dirty="0">
              <a:latin typeface="Courier New" pitchFamily="49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Multiplication &amp; Division</a:t>
            </a:r>
          </a:p>
        </p:txBody>
      </p:sp>
    </p:spTree>
    <p:extLst>
      <p:ext uri="{BB962C8B-B14F-4D97-AF65-F5344CB8AC3E}">
        <p14:creationId xmlns:p14="http://schemas.microsoft.com/office/powerpoint/2010/main" val="1914600029"/>
      </p:ext>
    </p:extLst>
  </p:cSld>
  <p:clrMapOvr>
    <a:masterClrMapping/>
  </p:clrMapOvr>
  <p:transition/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410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169412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69413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Signed: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slt</a:t>
            </a:r>
            <a:r>
              <a:rPr lang="en-US" sz="3200" dirty="0">
                <a:latin typeface="Times New Roman" pitchFamily="18" charset="0"/>
                <a:cs typeface="Arial" charset="0"/>
              </a:rPr>
              <a:t>,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slti</a:t>
            </a: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Unsigned:</a:t>
            </a:r>
            <a:r>
              <a:rPr lang="en-US" sz="3200" dirty="0">
                <a:latin typeface="Times New Roman" pitchFamily="18" charset="0"/>
                <a:cs typeface="Arial" charset="0"/>
              </a:rPr>
              <a:t>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sltu</a:t>
            </a:r>
            <a:r>
              <a:rPr lang="en-US" sz="3200" dirty="0">
                <a:latin typeface="Times New Roman" pitchFamily="18" charset="0"/>
                <a:cs typeface="Arial" charset="0"/>
              </a:rPr>
              <a:t>,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sltiu</a:t>
            </a:r>
            <a:endParaRPr lang="en-US" sz="3200" dirty="0">
              <a:latin typeface="Courier New" pitchFamily="49" charset="0"/>
              <a:cs typeface="Arial" charset="0"/>
            </a:endParaRPr>
          </a:p>
          <a:p>
            <a:pPr algn="just">
              <a:spcBef>
                <a:spcPct val="20000"/>
              </a:spcBef>
            </a:pPr>
            <a:endParaRPr lang="en-US" sz="3200" b="1" dirty="0">
              <a:solidFill>
                <a:schemeClr val="accent1"/>
              </a:solidFill>
              <a:latin typeface="Courier New" pitchFamily="49" charset="0"/>
              <a:cs typeface="Arial" charset="0"/>
            </a:endParaRPr>
          </a:p>
          <a:p>
            <a:pPr algn="just">
              <a:spcBef>
                <a:spcPct val="20000"/>
              </a:spcBef>
            </a:pPr>
            <a:endParaRPr lang="en-US" sz="3200" b="1" dirty="0">
              <a:solidFill>
                <a:schemeClr val="accent1"/>
              </a:solidFill>
              <a:latin typeface="Courier New" pitchFamily="49" charset="0"/>
              <a:cs typeface="Arial" charset="0"/>
            </a:endParaRPr>
          </a:p>
          <a:p>
            <a:pPr algn="just">
              <a:spcBef>
                <a:spcPct val="20000"/>
              </a:spcBef>
            </a:pPr>
            <a:r>
              <a:rPr lang="en-US" sz="26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Note: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sltiu</a:t>
            </a:r>
            <a:r>
              <a:rPr lang="en-US" sz="2600" dirty="0">
                <a:latin typeface="Times New Roman" pitchFamily="18" charset="0"/>
                <a:cs typeface="Arial" charset="0"/>
              </a:rPr>
              <a:t> sign-extends the immediate before comparing it to the register</a:t>
            </a:r>
            <a:endParaRPr lang="en-US" sz="2600" dirty="0">
              <a:latin typeface="Courier New" pitchFamily="49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Set Less Than</a:t>
            </a:r>
          </a:p>
        </p:txBody>
      </p:sp>
    </p:spTree>
    <p:extLst>
      <p:ext uri="{BB962C8B-B14F-4D97-AF65-F5344CB8AC3E}">
        <p14:creationId xmlns:p14="http://schemas.microsoft.com/office/powerpoint/2010/main" val="39462661"/>
      </p:ext>
    </p:extLst>
  </p:cSld>
  <p:clrMapOvr>
    <a:masterClrMapping/>
  </p:clrMapOvr>
  <p:transition/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64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67365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Signed: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Sign-extends to create 32-bit value to load into register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Load </a:t>
            </a:r>
            <a:r>
              <a:rPr lang="en-US" sz="2600" dirty="0" err="1">
                <a:latin typeface="Times New Roman" pitchFamily="18" charset="0"/>
                <a:cs typeface="Arial" charset="0"/>
              </a:rPr>
              <a:t>halfword</a:t>
            </a:r>
            <a:r>
              <a:rPr lang="en-US" sz="2600" dirty="0">
                <a:latin typeface="Times New Roman" pitchFamily="18" charset="0"/>
                <a:cs typeface="Arial" charset="0"/>
              </a:rPr>
              <a:t>: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lh</a:t>
            </a:r>
            <a:endParaRPr lang="en-US" sz="2600" dirty="0">
              <a:latin typeface="Times New Roman" pitchFamily="18" charset="0"/>
              <a:cs typeface="Arial" charset="0"/>
            </a:endParaRP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Load byte: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lb</a:t>
            </a:r>
            <a:endParaRPr lang="en-US" sz="2600" dirty="0">
              <a:latin typeface="Times New Roman" pitchFamily="18" charset="0"/>
              <a:cs typeface="Arial" charset="0"/>
            </a:endParaRP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Unsigned:</a:t>
            </a: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Zero-extends to create 32-bit value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Load </a:t>
            </a:r>
            <a:r>
              <a:rPr lang="en-US" sz="2600" dirty="0" err="1">
                <a:latin typeface="Times New Roman" pitchFamily="18" charset="0"/>
                <a:cs typeface="Arial" charset="0"/>
              </a:rPr>
              <a:t>halfword</a:t>
            </a:r>
            <a:r>
              <a:rPr lang="en-US" sz="2600" dirty="0">
                <a:latin typeface="Times New Roman" pitchFamily="18" charset="0"/>
                <a:cs typeface="Arial" charset="0"/>
              </a:rPr>
              <a:t> unsigned: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lhu</a:t>
            </a:r>
            <a:endParaRPr lang="en-US" sz="2600" dirty="0">
              <a:latin typeface="Times New Roman" pitchFamily="18" charset="0"/>
              <a:cs typeface="Arial" charset="0"/>
            </a:endParaRP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Load byte: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lbu</a:t>
            </a:r>
            <a:endParaRPr lang="en-US" sz="2600" dirty="0">
              <a:latin typeface="Courier New" pitchFamily="49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Loads</a:t>
            </a:r>
          </a:p>
        </p:txBody>
      </p:sp>
    </p:spTree>
    <p:extLst>
      <p:ext uri="{BB962C8B-B14F-4D97-AF65-F5344CB8AC3E}">
        <p14:creationId xmlns:p14="http://schemas.microsoft.com/office/powerpoint/2010/main" val="2446835426"/>
      </p:ext>
    </p:extLst>
  </p:cSld>
  <p:clrMapOvr>
    <a:masterClrMapping/>
  </p:clrMapOvr>
  <p:transition/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148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8149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Floating-point coprocessor (Coprocessor 1)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32 32-bit floating-point registers (</a:t>
            </a:r>
            <a:r>
              <a:rPr lang="en-US" sz="3200" dirty="0">
                <a:latin typeface="Courier New" pitchFamily="49" charset="0"/>
                <a:cs typeface="Arial" charset="0"/>
              </a:rPr>
              <a:t>$f0</a:t>
            </a:r>
            <a:r>
              <a:rPr lang="en-US" sz="3200" dirty="0">
                <a:latin typeface="Times New Roman" pitchFamily="18" charset="0"/>
                <a:cs typeface="Arial" charset="0"/>
              </a:rPr>
              <a:t>-</a:t>
            </a:r>
            <a:r>
              <a:rPr lang="en-US" sz="3200" dirty="0">
                <a:latin typeface="Courier New" pitchFamily="49" charset="0"/>
                <a:cs typeface="Arial" charset="0"/>
              </a:rPr>
              <a:t>$f31</a:t>
            </a:r>
            <a:r>
              <a:rPr lang="en-US" sz="3200" dirty="0">
                <a:latin typeface="Times New Roman" pitchFamily="18" charset="0"/>
                <a:cs typeface="Arial" charset="0"/>
              </a:rPr>
              <a:t>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Double-precision values held in two floating point registers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e.g., </a:t>
            </a:r>
            <a:r>
              <a:rPr lang="en-US" sz="2600" dirty="0">
                <a:latin typeface="Courier New" pitchFamily="49" charset="0"/>
                <a:cs typeface="Arial" charset="0"/>
              </a:rPr>
              <a:t>$f0</a:t>
            </a:r>
            <a:r>
              <a:rPr lang="en-US" sz="2600" dirty="0">
                <a:latin typeface="Times New Roman" pitchFamily="18" charset="0"/>
                <a:cs typeface="Arial" charset="0"/>
              </a:rPr>
              <a:t> and </a:t>
            </a:r>
            <a:r>
              <a:rPr lang="en-US" sz="2600" dirty="0">
                <a:latin typeface="Courier New" pitchFamily="49" charset="0"/>
                <a:cs typeface="Arial" charset="0"/>
              </a:rPr>
              <a:t>$f1</a:t>
            </a:r>
            <a:r>
              <a:rPr lang="en-US" sz="2600" dirty="0">
                <a:latin typeface="Times New Roman" pitchFamily="18" charset="0"/>
                <a:cs typeface="Arial" charset="0"/>
              </a:rPr>
              <a:t>, </a:t>
            </a:r>
            <a:r>
              <a:rPr lang="en-US" sz="2600" dirty="0">
                <a:latin typeface="Courier New" pitchFamily="49" charset="0"/>
                <a:cs typeface="Arial" charset="0"/>
              </a:rPr>
              <a:t>$f2</a:t>
            </a:r>
            <a:r>
              <a:rPr lang="en-US" sz="2600" dirty="0">
                <a:latin typeface="Times New Roman" pitchFamily="18" charset="0"/>
                <a:cs typeface="Arial" charset="0"/>
              </a:rPr>
              <a:t> and </a:t>
            </a:r>
            <a:r>
              <a:rPr lang="en-US" sz="2600" dirty="0">
                <a:latin typeface="Courier New" pitchFamily="49" charset="0"/>
                <a:cs typeface="Arial" charset="0"/>
              </a:rPr>
              <a:t>$f3</a:t>
            </a:r>
            <a:r>
              <a:rPr lang="en-US" sz="2600" dirty="0">
                <a:latin typeface="Times New Roman" pitchFamily="18" charset="0"/>
                <a:cs typeface="Arial" charset="0"/>
              </a:rPr>
              <a:t>, etc.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Double-precision floating point registers: </a:t>
            </a:r>
            <a:r>
              <a:rPr lang="en-US" sz="2600" dirty="0">
                <a:latin typeface="Courier New" pitchFamily="49" charset="0"/>
                <a:cs typeface="Arial" charset="0"/>
              </a:rPr>
              <a:t>$f0</a:t>
            </a:r>
            <a:r>
              <a:rPr lang="en-US" sz="2600" dirty="0">
                <a:latin typeface="Times New Roman" pitchFamily="18" charset="0"/>
                <a:cs typeface="Arial" charset="0"/>
              </a:rPr>
              <a:t>, </a:t>
            </a:r>
            <a:r>
              <a:rPr lang="en-US" sz="2600" dirty="0">
                <a:latin typeface="Courier New" pitchFamily="49" charset="0"/>
                <a:cs typeface="Arial" charset="0"/>
              </a:rPr>
              <a:t>$f2</a:t>
            </a:r>
            <a:r>
              <a:rPr lang="en-US" sz="2600" dirty="0">
                <a:latin typeface="Times New Roman" pitchFamily="18" charset="0"/>
                <a:cs typeface="Arial" charset="0"/>
              </a:rPr>
              <a:t>, </a:t>
            </a:r>
            <a:r>
              <a:rPr lang="en-US" sz="2600" dirty="0">
                <a:latin typeface="Courier New" pitchFamily="49" charset="0"/>
                <a:cs typeface="Arial" charset="0"/>
              </a:rPr>
              <a:t>$f4</a:t>
            </a:r>
            <a:r>
              <a:rPr lang="en-US" sz="2600" dirty="0">
                <a:latin typeface="Times New Roman" pitchFamily="18" charset="0"/>
                <a:cs typeface="Arial" charset="0"/>
              </a:rPr>
              <a:t>, etc.</a:t>
            </a:r>
            <a:endParaRPr lang="en-US" sz="2600" dirty="0">
              <a:latin typeface="Courier New" pitchFamily="49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Floating-Point Instructions</a:t>
            </a:r>
          </a:p>
        </p:txBody>
      </p:sp>
    </p:spTree>
    <p:extLst>
      <p:ext uri="{BB962C8B-B14F-4D97-AF65-F5344CB8AC3E}">
        <p14:creationId xmlns:p14="http://schemas.microsoft.com/office/powerpoint/2010/main" val="85356527"/>
      </p:ext>
    </p:extLst>
  </p:cSld>
  <p:clrMapOvr>
    <a:masterClrMapping/>
  </p:clrMapOvr>
  <p:transition/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0503" name="Group 71"/>
          <p:cNvGraphicFramePr>
            <a:graphicFrameLocks noGrp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8812453"/>
              </p:ext>
            </p:extLst>
          </p:nvPr>
        </p:nvGraphicFramePr>
        <p:xfrm>
          <a:off x="1143000" y="1905000"/>
          <a:ext cx="7315200" cy="3124200"/>
        </p:xfrm>
        <a:graphic>
          <a:graphicData uri="http://schemas.openxmlformats.org/drawingml/2006/table">
            <a:tbl>
              <a:tblPr/>
              <a:tblGrid>
                <a:gridCol w="207818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6007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57694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Name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Register Number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Usage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$fv0 - $fv1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0, 2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return values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Arial" charset="0"/>
                        </a:rPr>
                        <a:t>$ft0 - $ft3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4, 6, 8, 10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temporary variables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$fa0 - $fa1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12, 14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Function arguments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$ft4 - $ft8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16, 18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temporary variables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10 BT" pitchFamily="49" charset="0"/>
                          <a:cs typeface="Times New Roman" pitchFamily="18" charset="0"/>
                        </a:rPr>
                        <a:t>$fs0 - $fs5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10 BT" pitchFamily="49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20, 22, 24, 26, 28, 30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saved variables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70435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Floating-Point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775918030"/>
      </p:ext>
    </p:extLst>
  </p:cSld>
  <p:clrMapOvr>
    <a:masterClrMapping/>
  </p:clrMapOvr>
  <p:transition/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1461" name="Object 5"/>
          <p:cNvGraphicFramePr>
            <a:graphicFrameLocks noGrp="1" noChangeAspect="1"/>
          </p:cNvGraphicFramePr>
          <p:nvPr>
            <p:ph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95726232"/>
              </p:ext>
            </p:extLst>
          </p:nvPr>
        </p:nvGraphicFramePr>
        <p:xfrm>
          <a:off x="2152650" y="4733925"/>
          <a:ext cx="6229350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39" name="VISIO" r:id="rId7" imgW="2095560" imgH="534960" progId="Visio.Drawing.6">
                  <p:embed/>
                </p:oleObj>
              </mc:Choice>
              <mc:Fallback>
                <p:oleObj name="VISIO" r:id="rId7" imgW="2095560" imgH="5349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650" y="4733925"/>
                        <a:ext cx="6229350" cy="159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1459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71460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4400" y="1066800"/>
            <a:ext cx="82296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2800" dirty="0" err="1">
                <a:latin typeface="Courier New" pitchFamily="49" charset="0"/>
                <a:cs typeface="Arial" charset="0"/>
              </a:rPr>
              <a:t>Opcode</a:t>
            </a:r>
            <a:r>
              <a:rPr lang="en-US" sz="2800" dirty="0">
                <a:latin typeface="Times New Roman" pitchFamily="18" charset="0"/>
                <a:cs typeface="Arial" charset="0"/>
              </a:rPr>
              <a:t> = 17 (010001</a:t>
            </a:r>
            <a:r>
              <a:rPr lang="en-US" sz="2800" baseline="-25000" dirty="0">
                <a:latin typeface="Times New Roman" pitchFamily="18" charset="0"/>
                <a:cs typeface="Arial" charset="0"/>
              </a:rPr>
              <a:t>2</a:t>
            </a:r>
            <a:r>
              <a:rPr lang="en-US" sz="2800" dirty="0">
                <a:latin typeface="Times New Roman" pitchFamily="18" charset="0"/>
                <a:cs typeface="Arial" charset="0"/>
              </a:rPr>
              <a:t>)</a:t>
            </a: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Times New Roman" pitchFamily="18" charset="0"/>
                <a:cs typeface="Arial" charset="0"/>
              </a:rPr>
              <a:t>Single-precision: 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itchFamily="49" charset="0"/>
                <a:cs typeface="Arial" charset="0"/>
              </a:rPr>
              <a:t>cop</a:t>
            </a:r>
            <a:r>
              <a:rPr lang="en-US" sz="2000" dirty="0">
                <a:latin typeface="Times New Roman" pitchFamily="18" charset="0"/>
                <a:cs typeface="Arial" charset="0"/>
              </a:rPr>
              <a:t> = 16 (010000</a:t>
            </a:r>
            <a:r>
              <a:rPr lang="en-US" sz="2000" baseline="-25000" dirty="0">
                <a:latin typeface="Times New Roman" pitchFamily="18" charset="0"/>
                <a:cs typeface="Arial" charset="0"/>
              </a:rPr>
              <a:t>2</a:t>
            </a:r>
            <a:r>
              <a:rPr lang="en-US" sz="2000" dirty="0">
                <a:latin typeface="Times New Roman" pitchFamily="18" charset="0"/>
                <a:cs typeface="Arial" charset="0"/>
              </a:rPr>
              <a:t>)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000" dirty="0" err="1">
                <a:latin typeface="Courier New" pitchFamily="49" charset="0"/>
                <a:cs typeface="Arial" charset="0"/>
              </a:rPr>
              <a:t>add.s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sub.s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div.s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neg.s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abs.s</a:t>
            </a:r>
            <a:r>
              <a:rPr lang="en-US" sz="2000" dirty="0">
                <a:latin typeface="Times New Roman" pitchFamily="18" charset="0"/>
                <a:cs typeface="Arial" charset="0"/>
              </a:rPr>
              <a:t>, etc.</a:t>
            </a:r>
            <a:endParaRPr lang="en-US" sz="2000" dirty="0">
              <a:latin typeface="Courier New" pitchFamily="49" charset="0"/>
              <a:cs typeface="Arial" charset="0"/>
            </a:endParaRP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Times New Roman" pitchFamily="18" charset="0"/>
                <a:cs typeface="Arial" charset="0"/>
              </a:rPr>
              <a:t>Double-precision: 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Courier New" pitchFamily="49" charset="0"/>
                <a:cs typeface="Arial" charset="0"/>
              </a:rPr>
              <a:t>cop</a:t>
            </a:r>
            <a:r>
              <a:rPr lang="en-US" sz="2000" dirty="0">
                <a:latin typeface="Times New Roman" pitchFamily="18" charset="0"/>
                <a:cs typeface="Arial" charset="0"/>
              </a:rPr>
              <a:t> = 17 (010001</a:t>
            </a:r>
            <a:r>
              <a:rPr lang="en-US" sz="2000" baseline="-25000" dirty="0">
                <a:latin typeface="Times New Roman" pitchFamily="18" charset="0"/>
                <a:cs typeface="Arial" charset="0"/>
              </a:rPr>
              <a:t>2</a:t>
            </a:r>
            <a:r>
              <a:rPr lang="en-US" sz="2000" dirty="0">
                <a:latin typeface="Times New Roman" pitchFamily="18" charset="0"/>
                <a:cs typeface="Arial" charset="0"/>
              </a:rPr>
              <a:t>)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000" dirty="0" err="1">
                <a:latin typeface="Courier New" pitchFamily="49" charset="0"/>
                <a:cs typeface="Arial" charset="0"/>
              </a:rPr>
              <a:t>add.d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sub.d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div.d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neg.d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abs.d</a:t>
            </a:r>
            <a:r>
              <a:rPr lang="en-US" sz="2000" dirty="0">
                <a:latin typeface="Times New Roman" pitchFamily="18" charset="0"/>
                <a:cs typeface="Arial" charset="0"/>
              </a:rPr>
              <a:t>, etc.</a:t>
            </a: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Times New Roman" pitchFamily="18" charset="0"/>
                <a:cs typeface="Arial" charset="0"/>
              </a:rPr>
              <a:t>3 register operands: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000" dirty="0" err="1">
                <a:latin typeface="Courier New" pitchFamily="49" charset="0"/>
                <a:cs typeface="Arial" charset="0"/>
              </a:rPr>
              <a:t>fs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dirty="0" err="1">
                <a:latin typeface="Courier New" pitchFamily="49" charset="0"/>
                <a:cs typeface="Arial" charset="0"/>
              </a:rPr>
              <a:t>ft</a:t>
            </a:r>
            <a:r>
              <a:rPr lang="en-US" sz="2000" dirty="0">
                <a:latin typeface="Times New Roman" pitchFamily="18" charset="0"/>
                <a:cs typeface="Arial" charset="0"/>
              </a:rPr>
              <a:t>: source operands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000" dirty="0" err="1">
                <a:latin typeface="Courier New" pitchFamily="49" charset="0"/>
                <a:cs typeface="Arial" charset="0"/>
              </a:rPr>
              <a:t>fd</a:t>
            </a:r>
            <a:r>
              <a:rPr lang="en-US" sz="2000" dirty="0">
                <a:latin typeface="Times New Roman" pitchFamily="18" charset="0"/>
                <a:cs typeface="Arial" charset="0"/>
              </a:rPr>
              <a:t>: destination operands</a:t>
            </a:r>
          </a:p>
          <a:p>
            <a:pPr marL="342900" indent="-342900" algn="just">
              <a:spcBef>
                <a:spcPct val="20000"/>
              </a:spcBef>
            </a:pPr>
            <a:endParaRPr lang="en-US" sz="28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F-Type Instruction Format</a:t>
            </a:r>
          </a:p>
        </p:txBody>
      </p:sp>
    </p:spTree>
    <p:extLst>
      <p:ext uri="{BB962C8B-B14F-4D97-AF65-F5344CB8AC3E}">
        <p14:creationId xmlns:p14="http://schemas.microsoft.com/office/powerpoint/2010/main" val="1882160456"/>
      </p:ext>
    </p:extLst>
  </p:cSld>
  <p:clrMapOvr>
    <a:masterClrMapping/>
  </p:clrMapOvr>
  <p:transition/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483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7248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82296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Set/clear condition flag: </a:t>
            </a:r>
            <a:r>
              <a:rPr lang="en-US" sz="3200" dirty="0" err="1">
                <a:latin typeface="Courier New" pitchFamily="49" charset="0"/>
                <a:cs typeface="Arial" charset="0"/>
              </a:rPr>
              <a:t>fpcond</a:t>
            </a: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Equality: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c.seq.s</a:t>
            </a:r>
            <a:r>
              <a:rPr lang="en-US" sz="2600" dirty="0">
                <a:latin typeface="Times New Roman" pitchFamily="18" charset="0"/>
                <a:cs typeface="Arial" charset="0"/>
              </a:rPr>
              <a:t>,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c.seq.d</a:t>
            </a:r>
            <a:endParaRPr lang="en-US" sz="2600" dirty="0">
              <a:latin typeface="Courier New" pitchFamily="49" charset="0"/>
              <a:cs typeface="Arial" charset="0"/>
            </a:endParaRP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Less than: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c.lt.s</a:t>
            </a:r>
            <a:r>
              <a:rPr lang="en-US" sz="2600" dirty="0">
                <a:latin typeface="Times New Roman" pitchFamily="18" charset="0"/>
                <a:cs typeface="Arial" charset="0"/>
              </a:rPr>
              <a:t>,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c.lt.d</a:t>
            </a:r>
            <a:endParaRPr lang="en-US" sz="2600" dirty="0">
              <a:latin typeface="Courier New" pitchFamily="49" charset="0"/>
              <a:cs typeface="Arial" charset="0"/>
            </a:endParaRP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Times New Roman" pitchFamily="18" charset="0"/>
                <a:cs typeface="Arial" charset="0"/>
              </a:rPr>
              <a:t>Less than or equal: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c.le.s</a:t>
            </a:r>
            <a:r>
              <a:rPr lang="en-US" sz="2600" dirty="0">
                <a:latin typeface="Times New Roman" pitchFamily="18" charset="0"/>
                <a:cs typeface="Arial" charset="0"/>
              </a:rPr>
              <a:t>,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c.le.d</a:t>
            </a:r>
            <a:endParaRPr lang="en-US" sz="2600" dirty="0">
              <a:latin typeface="Courier New" pitchFamily="49" charset="0"/>
              <a:cs typeface="Arial" charset="0"/>
            </a:endParaRP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Conditional branch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 err="1">
                <a:latin typeface="Courier New" pitchFamily="49" charset="0"/>
                <a:cs typeface="Arial" charset="0"/>
              </a:rPr>
              <a:t>bclf</a:t>
            </a:r>
            <a:r>
              <a:rPr lang="en-US" sz="2600" dirty="0">
                <a:latin typeface="Courier New" pitchFamily="49" charset="0"/>
                <a:cs typeface="Arial" charset="0"/>
              </a:rPr>
              <a:t>:</a:t>
            </a:r>
            <a:r>
              <a:rPr lang="en-US" sz="2600" dirty="0">
                <a:latin typeface="Times New Roman" pitchFamily="18" charset="0"/>
                <a:cs typeface="Arial" charset="0"/>
              </a:rPr>
              <a:t> branches if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fpcond</a:t>
            </a:r>
            <a:r>
              <a:rPr lang="en-US" sz="2600" dirty="0">
                <a:latin typeface="Times New Roman" pitchFamily="18" charset="0"/>
                <a:cs typeface="Arial" charset="0"/>
              </a:rPr>
              <a:t> is FALSE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 err="1">
                <a:latin typeface="Courier New" pitchFamily="49" charset="0"/>
                <a:cs typeface="Arial" charset="0"/>
              </a:rPr>
              <a:t>bclt</a:t>
            </a:r>
            <a:r>
              <a:rPr lang="en-US" sz="2600" dirty="0">
                <a:latin typeface="Courier New" pitchFamily="49" charset="0"/>
                <a:cs typeface="Arial" charset="0"/>
              </a:rPr>
              <a:t>:</a:t>
            </a:r>
            <a:r>
              <a:rPr lang="en-US" sz="2600" dirty="0">
                <a:latin typeface="Times New Roman" pitchFamily="18" charset="0"/>
                <a:cs typeface="Arial" charset="0"/>
              </a:rPr>
              <a:t> branches if 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fpcond</a:t>
            </a:r>
            <a:r>
              <a:rPr lang="en-US" sz="2600" dirty="0">
                <a:latin typeface="Times New Roman" pitchFamily="18" charset="0"/>
                <a:cs typeface="Arial" charset="0"/>
              </a:rPr>
              <a:t> is TRUE</a:t>
            </a:r>
          </a:p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Loads and stores 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Courier New" pitchFamily="49" charset="0"/>
                <a:cs typeface="Arial" charset="0"/>
              </a:rPr>
              <a:t>lwc1</a:t>
            </a:r>
            <a:r>
              <a:rPr lang="en-US" sz="2600" dirty="0">
                <a:latin typeface="Times New Roman" pitchFamily="18" charset="0"/>
                <a:cs typeface="Arial" charset="0"/>
              </a:rPr>
              <a:t>: </a:t>
            </a:r>
            <a:r>
              <a:rPr lang="en-US" sz="2600" dirty="0">
                <a:latin typeface="Courier New" pitchFamily="49" charset="0"/>
                <a:cs typeface="Arial" charset="0"/>
              </a:rPr>
              <a:t>lwc1 $ft1, 42($s1)</a:t>
            </a:r>
          </a:p>
          <a:p>
            <a:pPr marL="742950" lvl="1" indent="-285750" algn="just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Courier New" pitchFamily="49" charset="0"/>
                <a:cs typeface="Arial" charset="0"/>
              </a:rPr>
              <a:t>swc1</a:t>
            </a:r>
            <a:r>
              <a:rPr lang="en-US" sz="2600" dirty="0">
                <a:latin typeface="Times New Roman" pitchFamily="18" charset="0"/>
                <a:cs typeface="Arial" charset="0"/>
              </a:rPr>
              <a:t>: </a:t>
            </a:r>
            <a:r>
              <a:rPr lang="en-US" sz="2600" dirty="0">
                <a:latin typeface="Courier New" pitchFamily="49" charset="0"/>
                <a:cs typeface="Arial" charset="0"/>
              </a:rPr>
              <a:t>swc1 $fs2, 17($</a:t>
            </a:r>
            <a:r>
              <a:rPr lang="en-US" sz="2600" dirty="0" err="1">
                <a:latin typeface="Courier New" pitchFamily="49" charset="0"/>
                <a:cs typeface="Arial" charset="0"/>
              </a:rPr>
              <a:t>sp</a:t>
            </a:r>
            <a:r>
              <a:rPr lang="en-US" sz="2600" dirty="0">
                <a:latin typeface="Courier New" pitchFamily="49" charset="0"/>
                <a:cs typeface="Arial" charset="0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Floating-Point Branches</a:t>
            </a:r>
          </a:p>
        </p:txBody>
      </p:sp>
    </p:spTree>
    <p:extLst>
      <p:ext uri="{BB962C8B-B14F-4D97-AF65-F5344CB8AC3E}">
        <p14:creationId xmlns:p14="http://schemas.microsoft.com/office/powerpoint/2010/main" val="1186615084"/>
      </p:ext>
    </p:extLst>
  </p:cSld>
  <p:clrMapOvr>
    <a:masterClrMapping/>
  </p:clrMapOvr>
  <p:transition/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227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414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32228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7696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b="1" dirty="0">
                <a:latin typeface="Times New Roman" pitchFamily="18" charset="0"/>
                <a:cs typeface="Arial" charset="0"/>
              </a:rPr>
              <a:t>Microarchitecture</a:t>
            </a:r>
            <a:r>
              <a:rPr lang="en-US" sz="3200" dirty="0">
                <a:latin typeface="Times New Roman" pitchFamily="18" charset="0"/>
                <a:cs typeface="Arial" charset="0"/>
              </a:rPr>
              <a:t> – building MIPS processor in hardware</a:t>
            </a:r>
          </a:p>
          <a:p>
            <a:pPr marL="342900" indent="-342900" algn="just">
              <a:spcBef>
                <a:spcPct val="20000"/>
              </a:spcBef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342900" indent="-342900" algn="just">
              <a:spcBef>
                <a:spcPct val="20000"/>
              </a:spcBef>
            </a:pPr>
            <a:r>
              <a:rPr lang="en-US" sz="3200" dirty="0">
                <a:latin typeface="Times New Roman" pitchFamily="18" charset="0"/>
                <a:cs typeface="Arial" charset="0"/>
              </a:rPr>
              <a:t>                  </a:t>
            </a:r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Arial" charset="0"/>
              </a:rPr>
              <a:t>Bring colored pencils</a:t>
            </a:r>
            <a:endParaRPr lang="en-US" sz="3200" b="1" dirty="0">
              <a:solidFill>
                <a:schemeClr val="accent1"/>
              </a:solidFill>
              <a:latin typeface="Courier New" pitchFamily="49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Looking Ahead</a:t>
            </a:r>
          </a:p>
        </p:txBody>
      </p:sp>
    </p:spTree>
    <p:extLst>
      <p:ext uri="{BB962C8B-B14F-4D97-AF65-F5344CB8AC3E}">
        <p14:creationId xmlns:p14="http://schemas.microsoft.com/office/powerpoint/2010/main" val="2060175626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7074</TotalTime>
  <Words>6702</Words>
  <Application>Microsoft Office PowerPoint</Application>
  <PresentationFormat>全屏显示(4:3)</PresentationFormat>
  <Paragraphs>1537</Paragraphs>
  <Slides>135</Slides>
  <Notes>134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135</vt:i4>
      </vt:variant>
    </vt:vector>
  </HeadingPairs>
  <TitlesOfParts>
    <vt:vector size="144" baseType="lpstr">
      <vt:lpstr>Courier10 BT</vt:lpstr>
      <vt:lpstr>宋体</vt:lpstr>
      <vt:lpstr>Arial</vt:lpstr>
      <vt:lpstr>Calibri</vt:lpstr>
      <vt:lpstr>Courier New</vt:lpstr>
      <vt:lpstr>Times New Roman</vt:lpstr>
      <vt:lpstr>Office Theme</vt:lpstr>
      <vt:lpstr>VISIO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Harvey Mudd College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sharris</dc:creator>
  <cp:lastModifiedBy>fndai</cp:lastModifiedBy>
  <cp:revision>106</cp:revision>
  <dcterms:created xsi:type="dcterms:W3CDTF">2012-08-07T04:56:47Z</dcterms:created>
  <dcterms:modified xsi:type="dcterms:W3CDTF">2019-10-16T01:46:51Z</dcterms:modified>
</cp:coreProperties>
</file>