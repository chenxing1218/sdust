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notesMasterIdLst>
    <p:notesMasterId r:id="rId64"/>
  </p:notesMasterIdLst>
  <p:sldIdLst>
    <p:sldId id="256" r:id="rId2"/>
    <p:sldId id="257" r:id="rId3"/>
    <p:sldId id="258" r:id="rId4"/>
    <p:sldId id="259" r:id="rId5"/>
    <p:sldId id="260" r:id="rId6"/>
    <p:sldId id="264" r:id="rId7"/>
    <p:sldId id="323" r:id="rId8"/>
    <p:sldId id="261" r:id="rId9"/>
    <p:sldId id="324" r:id="rId10"/>
    <p:sldId id="262" r:id="rId11"/>
    <p:sldId id="410" r:id="rId12"/>
    <p:sldId id="263" r:id="rId13"/>
    <p:sldId id="329" r:id="rId14"/>
    <p:sldId id="325" r:id="rId15"/>
    <p:sldId id="327" r:id="rId16"/>
    <p:sldId id="328" r:id="rId17"/>
    <p:sldId id="331" r:id="rId18"/>
    <p:sldId id="332" r:id="rId19"/>
    <p:sldId id="330" r:id="rId20"/>
    <p:sldId id="268" r:id="rId21"/>
    <p:sldId id="270" r:id="rId22"/>
    <p:sldId id="333" r:id="rId23"/>
    <p:sldId id="334" r:id="rId24"/>
    <p:sldId id="335" r:id="rId25"/>
    <p:sldId id="348" r:id="rId26"/>
    <p:sldId id="336" r:id="rId27"/>
    <p:sldId id="413" r:id="rId28"/>
    <p:sldId id="338" r:id="rId29"/>
    <p:sldId id="339" r:id="rId30"/>
    <p:sldId id="340" r:id="rId31"/>
    <p:sldId id="341" r:id="rId32"/>
    <p:sldId id="342" r:id="rId33"/>
    <p:sldId id="343" r:id="rId34"/>
    <p:sldId id="344" r:id="rId35"/>
    <p:sldId id="345" r:id="rId36"/>
    <p:sldId id="346" r:id="rId37"/>
    <p:sldId id="362" r:id="rId38"/>
    <p:sldId id="363" r:id="rId39"/>
    <p:sldId id="364" r:id="rId40"/>
    <p:sldId id="349" r:id="rId41"/>
    <p:sldId id="350" r:id="rId42"/>
    <p:sldId id="351" r:id="rId43"/>
    <p:sldId id="352" r:id="rId44"/>
    <p:sldId id="353" r:id="rId45"/>
    <p:sldId id="354" r:id="rId46"/>
    <p:sldId id="355" r:id="rId47"/>
    <p:sldId id="356" r:id="rId48"/>
    <p:sldId id="357" r:id="rId49"/>
    <p:sldId id="358" r:id="rId50"/>
    <p:sldId id="361" r:id="rId51"/>
    <p:sldId id="414" r:id="rId52"/>
    <p:sldId id="365" r:id="rId53"/>
    <p:sldId id="367" r:id="rId54"/>
    <p:sldId id="368" r:id="rId55"/>
    <p:sldId id="402" r:id="rId56"/>
    <p:sldId id="403" r:id="rId57"/>
    <p:sldId id="404" r:id="rId58"/>
    <p:sldId id="405" r:id="rId59"/>
    <p:sldId id="408" r:id="rId60"/>
    <p:sldId id="409" r:id="rId61"/>
    <p:sldId id="411" r:id="rId62"/>
    <p:sldId id="412" r:id="rId6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0" autoAdjust="0"/>
    <p:restoredTop sz="96585" autoAdjust="0"/>
  </p:normalViewPr>
  <p:slideViewPr>
    <p:cSldViewPr>
      <p:cViewPr varScale="1">
        <p:scale>
          <a:sx n="111" d="100"/>
          <a:sy n="111" d="100"/>
        </p:scale>
        <p:origin x="40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5" Type="http://schemas.openxmlformats.org/officeDocument/2006/relationships/image" Target="../media/image40.wmf"/><Relationship Id="rId4" Type="http://schemas.openxmlformats.org/officeDocument/2006/relationships/image" Target="../media/image39.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5" Type="http://schemas.openxmlformats.org/officeDocument/2006/relationships/image" Target="../media/image51.wmf"/><Relationship Id="rId4" Type="http://schemas.openxmlformats.org/officeDocument/2006/relationships/image" Target="../media/image5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4" Type="http://schemas.openxmlformats.org/officeDocument/2006/relationships/image" Target="../media/image5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 Id="rId5" Type="http://schemas.openxmlformats.org/officeDocument/2006/relationships/image" Target="../media/image63.wmf"/><Relationship Id="rId4" Type="http://schemas.openxmlformats.org/officeDocument/2006/relationships/image" Target="../media/image6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E63739-3D86-4513-8029-DFADD5F854E5}" type="datetimeFigureOut">
              <a:rPr lang="zh-CN" altLang="en-US" smtClean="0"/>
              <a:t>2021/8/29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4321DA-648C-4DFF-A57E-CF6DE5D0CE3A}" type="slidenum">
              <a:rPr lang="zh-CN" altLang="en-US" smtClean="0"/>
              <a:t>‹#›</a:t>
            </a:fld>
            <a:endParaRPr lang="zh-CN" altLang="en-US"/>
          </a:p>
        </p:txBody>
      </p:sp>
    </p:spTree>
    <p:extLst>
      <p:ext uri="{BB962C8B-B14F-4D97-AF65-F5344CB8AC3E}">
        <p14:creationId xmlns:p14="http://schemas.microsoft.com/office/powerpoint/2010/main" val="2535322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6DD9F4F2-A99C-4455-959C-98A40F7A1A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备注占位符 2">
            <a:extLst>
              <a:ext uri="{FF2B5EF4-FFF2-40B4-BE49-F238E27FC236}">
                <a16:creationId xmlns:a16="http://schemas.microsoft.com/office/drawing/2014/main" id="{9E534B4F-0BFC-4D97-83AC-DC860ABB4B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32772" name="灯片编号占位符 3">
            <a:extLst>
              <a:ext uri="{FF2B5EF4-FFF2-40B4-BE49-F238E27FC236}">
                <a16:creationId xmlns:a16="http://schemas.microsoft.com/office/drawing/2014/main" id="{823AB6BF-971B-412D-B2B3-C07A3B3AB3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fld id="{2ADAC219-6475-419E-8AE8-B33E95CA55E5}" type="slidenum">
              <a:rPr lang="zh-CN" altLang="en-US" sz="1200" smtClean="0"/>
              <a:pPr/>
              <a:t>17</a:t>
            </a:fld>
            <a:endParaRPr lang="zh-CN" altLang="en-US" sz="1200"/>
          </a:p>
        </p:txBody>
      </p:sp>
    </p:spTree>
    <p:extLst>
      <p:ext uri="{BB962C8B-B14F-4D97-AF65-F5344CB8AC3E}">
        <p14:creationId xmlns:p14="http://schemas.microsoft.com/office/powerpoint/2010/main" val="2906648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a:extLst>
              <a:ext uri="{FF2B5EF4-FFF2-40B4-BE49-F238E27FC236}">
                <a16:creationId xmlns:a16="http://schemas.microsoft.com/office/drawing/2014/main" id="{9EBEC8E2-1AFA-49B6-B91A-0E4A2EC46F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备注占位符 2">
            <a:extLst>
              <a:ext uri="{FF2B5EF4-FFF2-40B4-BE49-F238E27FC236}">
                <a16:creationId xmlns:a16="http://schemas.microsoft.com/office/drawing/2014/main" id="{D0BE9338-5AF1-459F-B371-CFCADBB5596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57348" name="灯片编号占位符 3">
            <a:extLst>
              <a:ext uri="{FF2B5EF4-FFF2-40B4-BE49-F238E27FC236}">
                <a16:creationId xmlns:a16="http://schemas.microsoft.com/office/drawing/2014/main" id="{DFBF5C40-5D7A-425F-B159-E5BCBB151EA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fld id="{825D7C4F-CEDD-4AB7-A955-4838C5D2410E}" type="slidenum">
              <a:rPr lang="en-US" altLang="zh-CN" sz="1200" smtClean="0"/>
              <a:pPr/>
              <a:t>41</a:t>
            </a:fld>
            <a:endParaRPr lang="en-US" altLang="zh-CN" sz="1200"/>
          </a:p>
        </p:txBody>
      </p:sp>
    </p:spTree>
    <p:extLst>
      <p:ext uri="{BB962C8B-B14F-4D97-AF65-F5344CB8AC3E}">
        <p14:creationId xmlns:p14="http://schemas.microsoft.com/office/powerpoint/2010/main" val="1757750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33744CAC-6B5F-42F4-8920-B74DD0D8C47A}" type="slidenum">
              <a:rPr lang="en-US" altLang="zh-CN" smtClean="0"/>
              <a:pPr/>
              <a:t>‹#›</a:t>
            </a:fld>
            <a:endParaRPr lang="en-US" altLang="zh-CN"/>
          </a:p>
        </p:txBody>
      </p:sp>
    </p:spTree>
    <p:extLst>
      <p:ext uri="{BB962C8B-B14F-4D97-AF65-F5344CB8AC3E}">
        <p14:creationId xmlns:p14="http://schemas.microsoft.com/office/powerpoint/2010/main" val="3777248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9383B381-AB46-490D-9365-8B7C5FF88C38}" type="slidenum">
              <a:rPr lang="en-US" altLang="zh-CN" smtClean="0"/>
              <a:pPr/>
              <a:t>‹#›</a:t>
            </a:fld>
            <a:endParaRPr lang="en-US" altLang="zh-CN"/>
          </a:p>
        </p:txBody>
      </p:sp>
    </p:spTree>
    <p:extLst>
      <p:ext uri="{BB962C8B-B14F-4D97-AF65-F5344CB8AC3E}">
        <p14:creationId xmlns:p14="http://schemas.microsoft.com/office/powerpoint/2010/main" val="1423640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0D381C26-54A4-440A-8FB1-B3536997D28A}" type="slidenum">
              <a:rPr lang="en-US" altLang="zh-CN" smtClean="0"/>
              <a:pPr/>
              <a:t>‹#›</a:t>
            </a:fld>
            <a:endParaRPr lang="en-US" altLang="zh-CN"/>
          </a:p>
        </p:txBody>
      </p:sp>
    </p:spTree>
    <p:extLst>
      <p:ext uri="{BB962C8B-B14F-4D97-AF65-F5344CB8AC3E}">
        <p14:creationId xmlns:p14="http://schemas.microsoft.com/office/powerpoint/2010/main" val="4201231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CAE75680-4D89-4083-A1BE-FB1B0BC2E04A}" type="slidenum">
              <a:rPr lang="en-US" altLang="zh-CN" smtClean="0"/>
              <a:pPr/>
              <a:t>‹#›</a:t>
            </a:fld>
            <a:endParaRPr lang="en-US" altLang="zh-CN"/>
          </a:p>
        </p:txBody>
      </p:sp>
    </p:spTree>
    <p:extLst>
      <p:ext uri="{BB962C8B-B14F-4D97-AF65-F5344CB8AC3E}">
        <p14:creationId xmlns:p14="http://schemas.microsoft.com/office/powerpoint/2010/main" val="3489110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endParaRPr lang="en-US" altLang="zh-CN"/>
          </a:p>
        </p:txBody>
      </p:sp>
      <p:sp>
        <p:nvSpPr>
          <p:cNvPr id="8" name="Footer Placeholder 7"/>
          <p:cNvSpPr>
            <a:spLocks noGrp="1"/>
          </p:cNvSpPr>
          <p:nvPr>
            <p:ph type="ftr" sz="quarter" idx="11"/>
          </p:nvPr>
        </p:nvSpPr>
        <p:spPr/>
        <p:txBody>
          <a:bodyPr/>
          <a:lstStyle/>
          <a:p>
            <a:endParaRPr lang="en-US" altLang="zh-CN"/>
          </a:p>
        </p:txBody>
      </p:sp>
      <p:sp>
        <p:nvSpPr>
          <p:cNvPr id="9" name="Slide Number Placeholder 8"/>
          <p:cNvSpPr>
            <a:spLocks noGrp="1"/>
          </p:cNvSpPr>
          <p:nvPr>
            <p:ph type="sldNum" sz="quarter" idx="12"/>
          </p:nvPr>
        </p:nvSpPr>
        <p:spPr/>
        <p:txBody>
          <a:bodyPr/>
          <a:lstStyle/>
          <a:p>
            <a:fld id="{052A386F-F40D-4E19-95CB-5E9E57B7EB60}" type="slidenum">
              <a:rPr lang="en-US" altLang="zh-CN" smtClean="0"/>
              <a:pPr/>
              <a:t>‹#›</a:t>
            </a:fld>
            <a:endParaRPr lang="en-US" altLang="zh-CN"/>
          </a:p>
        </p:txBody>
      </p:sp>
    </p:spTree>
    <p:extLst>
      <p:ext uri="{BB962C8B-B14F-4D97-AF65-F5344CB8AC3E}">
        <p14:creationId xmlns:p14="http://schemas.microsoft.com/office/powerpoint/2010/main" val="2745040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en-US" altLang="zh-CN"/>
          </a:p>
        </p:txBody>
      </p:sp>
      <p:sp>
        <p:nvSpPr>
          <p:cNvPr id="4" name="Footer Placeholder 3"/>
          <p:cNvSpPr>
            <a:spLocks noGrp="1"/>
          </p:cNvSpPr>
          <p:nvPr>
            <p:ph type="ftr" sz="quarter" idx="11"/>
          </p:nvPr>
        </p:nvSpPr>
        <p:spPr/>
        <p:txBody>
          <a:bodyPr/>
          <a:lstStyle/>
          <a:p>
            <a:endParaRPr lang="en-US" altLang="zh-CN"/>
          </a:p>
        </p:txBody>
      </p:sp>
      <p:sp>
        <p:nvSpPr>
          <p:cNvPr id="5" name="Slide Number Placeholder 4"/>
          <p:cNvSpPr>
            <a:spLocks noGrp="1"/>
          </p:cNvSpPr>
          <p:nvPr>
            <p:ph type="sldNum" sz="quarter" idx="12"/>
          </p:nvPr>
        </p:nvSpPr>
        <p:spPr/>
        <p:txBody>
          <a:bodyPr/>
          <a:lstStyle/>
          <a:p>
            <a:fld id="{E2DEB462-DD45-4057-ACBE-C7307C9DB50A}" type="slidenum">
              <a:rPr lang="en-US" altLang="zh-CN" smtClean="0"/>
              <a:pPr/>
              <a:t>‹#›</a:t>
            </a:fld>
            <a:endParaRPr lang="en-US" altLang="zh-CN"/>
          </a:p>
        </p:txBody>
      </p:sp>
    </p:spTree>
    <p:extLst>
      <p:ext uri="{BB962C8B-B14F-4D97-AF65-F5344CB8AC3E}">
        <p14:creationId xmlns:p14="http://schemas.microsoft.com/office/powerpoint/2010/main" val="403978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zh-CN"/>
          </a:p>
        </p:txBody>
      </p:sp>
      <p:sp>
        <p:nvSpPr>
          <p:cNvPr id="3" name="Footer Placeholder 2"/>
          <p:cNvSpPr>
            <a:spLocks noGrp="1"/>
          </p:cNvSpPr>
          <p:nvPr>
            <p:ph type="ftr" sz="quarter" idx="11"/>
          </p:nvPr>
        </p:nvSpPr>
        <p:spPr/>
        <p:txBody>
          <a:bodyPr/>
          <a:lstStyle/>
          <a:p>
            <a:endParaRPr lang="en-US" altLang="zh-CN"/>
          </a:p>
        </p:txBody>
      </p:sp>
      <p:sp>
        <p:nvSpPr>
          <p:cNvPr id="4" name="Slide Number Placeholder 3"/>
          <p:cNvSpPr>
            <a:spLocks noGrp="1"/>
          </p:cNvSpPr>
          <p:nvPr>
            <p:ph type="sldNum" sz="quarter" idx="12"/>
          </p:nvPr>
        </p:nvSpPr>
        <p:spPr/>
        <p:txBody>
          <a:bodyPr/>
          <a:lstStyle/>
          <a:p>
            <a:fld id="{528C05B4-3410-4BBE-A696-B633A4DF4FFB}" type="slidenum">
              <a:rPr lang="en-US" altLang="zh-CN" smtClean="0"/>
              <a:pPr/>
              <a:t>‹#›</a:t>
            </a:fld>
            <a:endParaRPr lang="en-US" altLang="zh-CN"/>
          </a:p>
        </p:txBody>
      </p:sp>
    </p:spTree>
    <p:extLst>
      <p:ext uri="{BB962C8B-B14F-4D97-AF65-F5344CB8AC3E}">
        <p14:creationId xmlns:p14="http://schemas.microsoft.com/office/powerpoint/2010/main" val="2237744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D4ACF4ED-B4A9-456B-9C36-8FEFD0F2F7B4}" type="slidenum">
              <a:rPr lang="en-US" altLang="zh-CN" smtClean="0"/>
              <a:pPr/>
              <a:t>‹#›</a:t>
            </a:fld>
            <a:endParaRPr lang="en-US" altLang="zh-CN"/>
          </a:p>
        </p:txBody>
      </p:sp>
    </p:spTree>
    <p:extLst>
      <p:ext uri="{BB962C8B-B14F-4D97-AF65-F5344CB8AC3E}">
        <p14:creationId xmlns:p14="http://schemas.microsoft.com/office/powerpoint/2010/main" val="1702602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66654694-40A7-4BAD-966D-8EB8D9DBA89A}" type="slidenum">
              <a:rPr lang="en-US" altLang="zh-CN" smtClean="0"/>
              <a:pPr/>
              <a:t>‹#›</a:t>
            </a:fld>
            <a:endParaRPr lang="en-US" altLang="zh-CN"/>
          </a:p>
        </p:txBody>
      </p:sp>
    </p:spTree>
    <p:extLst>
      <p:ext uri="{BB962C8B-B14F-4D97-AF65-F5344CB8AC3E}">
        <p14:creationId xmlns:p14="http://schemas.microsoft.com/office/powerpoint/2010/main" val="224662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60959346-B933-4398-ADA5-BCF4355AD104}" type="slidenum">
              <a:rPr lang="en-US" altLang="zh-CN" smtClean="0"/>
              <a:pPr/>
              <a:t>‹#›</a:t>
            </a:fld>
            <a:endParaRPr lang="en-US" altLang="zh-CN"/>
          </a:p>
        </p:txBody>
      </p:sp>
    </p:spTree>
    <p:extLst>
      <p:ext uri="{BB962C8B-B14F-4D97-AF65-F5344CB8AC3E}">
        <p14:creationId xmlns:p14="http://schemas.microsoft.com/office/powerpoint/2010/main" val="327450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064A3156-8BDD-4FB5-8931-2310B182737C}" type="slidenum">
              <a:rPr lang="en-US" altLang="zh-CN" smtClean="0"/>
              <a:pPr/>
              <a:t>‹#›</a:t>
            </a:fld>
            <a:endParaRPr lang="en-US" altLang="zh-CN"/>
          </a:p>
        </p:txBody>
      </p:sp>
    </p:spTree>
    <p:extLst>
      <p:ext uri="{BB962C8B-B14F-4D97-AF65-F5344CB8AC3E}">
        <p14:creationId xmlns:p14="http://schemas.microsoft.com/office/powerpoint/2010/main" val="42496723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CD068E-1AAC-48C4-B4B2-A911BE7C4CBC}"/>
              </a:ext>
            </a:extLst>
          </p:cNvPr>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B38514F-D8FE-4BCD-AE35-032528867306}"/>
              </a:ext>
            </a:extLst>
          </p:cNvPr>
          <p:cNvSpPr>
            <a:spLocks noGrp="1"/>
          </p:cNvSpPr>
          <p:nvPr>
            <p:ph type="body" sz="half" idx="1"/>
          </p:nvPr>
        </p:nvSpPr>
        <p:spPr>
          <a:xfrm>
            <a:off x="1182688" y="2017713"/>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76913B8A-E074-4569-A2F5-BE391768EC02}"/>
              </a:ext>
            </a:extLst>
          </p:cNvPr>
          <p:cNvSpPr>
            <a:spLocks noGrp="1"/>
          </p:cNvSpPr>
          <p:nvPr>
            <p:ph sz="half" idx="2"/>
          </p:nvPr>
        </p:nvSpPr>
        <p:spPr>
          <a:xfrm>
            <a:off x="5145088" y="2017713"/>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89141097-5B90-4AA2-B6B3-AE4FEF91A496}"/>
              </a:ext>
            </a:extLst>
          </p:cNvPr>
          <p:cNvSpPr>
            <a:spLocks noGrp="1"/>
          </p:cNvSpPr>
          <p:nvPr>
            <p:ph type="dt" sz="half" idx="10"/>
          </p:nvPr>
        </p:nvSpPr>
        <p:spPr>
          <a:xfrm>
            <a:off x="1162050" y="6243638"/>
            <a:ext cx="1905000" cy="457200"/>
          </a:xfrm>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F667754D-8E39-4650-9063-02801EE65DD9}"/>
              </a:ext>
            </a:extLst>
          </p:cNvPr>
          <p:cNvSpPr>
            <a:spLocks noGrp="1"/>
          </p:cNvSpPr>
          <p:nvPr>
            <p:ph type="ftr" sz="quarter" idx="11"/>
          </p:nvPr>
        </p:nvSpPr>
        <p:spPr>
          <a:xfrm>
            <a:off x="3657600" y="6243638"/>
            <a:ext cx="2895600" cy="45720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5EA17908-6871-4C70-8855-F286D837CD46}"/>
              </a:ext>
            </a:extLst>
          </p:cNvPr>
          <p:cNvSpPr>
            <a:spLocks noGrp="1"/>
          </p:cNvSpPr>
          <p:nvPr>
            <p:ph type="sldNum" sz="quarter" idx="12"/>
          </p:nvPr>
        </p:nvSpPr>
        <p:spPr>
          <a:xfrm>
            <a:off x="7042150" y="6243638"/>
            <a:ext cx="1905000" cy="457200"/>
          </a:xfrm>
        </p:spPr>
        <p:txBody>
          <a:bodyPr/>
          <a:lstStyle>
            <a:lvl1pPr>
              <a:defRPr/>
            </a:lvl1pPr>
          </a:lstStyle>
          <a:p>
            <a:fld id="{D5BF8B9C-7186-4FA9-A2C3-8F8E77993253}" type="slidenum">
              <a:rPr lang="en-US" altLang="zh-CN"/>
              <a:pPr/>
              <a:t>‹#›</a:t>
            </a:fld>
            <a:endParaRPr lang="en-US" altLang="zh-CN"/>
          </a:p>
        </p:txBody>
      </p:sp>
    </p:spTree>
    <p:extLst>
      <p:ext uri="{BB962C8B-B14F-4D97-AF65-F5344CB8AC3E}">
        <p14:creationId xmlns:p14="http://schemas.microsoft.com/office/powerpoint/2010/main" val="22293337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85800"/>
            <a:ext cx="854075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304800" y="1981200"/>
            <a:ext cx="4194175" cy="38862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51375" y="1981200"/>
            <a:ext cx="4194175" cy="18669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51375" y="4000500"/>
            <a:ext cx="4194175" cy="18669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a:extLst>
              <a:ext uri="{FF2B5EF4-FFF2-40B4-BE49-F238E27FC236}">
                <a16:creationId xmlns:a16="http://schemas.microsoft.com/office/drawing/2014/main" id="{A1718848-F7F7-4D4E-B301-B8CDE58B75C1}"/>
              </a:ext>
            </a:extLst>
          </p:cNvPr>
          <p:cNvSpPr>
            <a:spLocks noGrp="1"/>
          </p:cNvSpPr>
          <p:nvPr>
            <p:ph type="dt" sz="half" idx="10"/>
          </p:nvPr>
        </p:nvSpPr>
        <p:spPr>
          <a:xfrm>
            <a:off x="301625" y="6019800"/>
            <a:ext cx="2289175" cy="476250"/>
          </a:xfrm>
        </p:spPr>
        <p:txBody>
          <a:bodyPr/>
          <a:lstStyle>
            <a:lvl1pPr>
              <a:defRPr/>
            </a:lvl1pPr>
          </a:lstStyle>
          <a:p>
            <a:pPr>
              <a:defRPr/>
            </a:pPr>
            <a:endParaRPr lang="en-US" altLang="zh-CN"/>
          </a:p>
        </p:txBody>
      </p:sp>
      <p:sp>
        <p:nvSpPr>
          <p:cNvPr id="7" name="页脚占位符 6">
            <a:extLst>
              <a:ext uri="{FF2B5EF4-FFF2-40B4-BE49-F238E27FC236}">
                <a16:creationId xmlns:a16="http://schemas.microsoft.com/office/drawing/2014/main" id="{E32FBFF3-083F-4254-9317-BF0E796F9F3C}"/>
              </a:ext>
            </a:extLst>
          </p:cNvPr>
          <p:cNvSpPr>
            <a:spLocks noGrp="1"/>
          </p:cNvSpPr>
          <p:nvPr>
            <p:ph type="ftr" sz="quarter" idx="11"/>
          </p:nvPr>
        </p:nvSpPr>
        <p:spPr>
          <a:xfrm>
            <a:off x="3124200" y="6019800"/>
            <a:ext cx="2895600" cy="476250"/>
          </a:xfrm>
        </p:spPr>
        <p:txBody>
          <a:bodyPr/>
          <a:lstStyle>
            <a:lvl1pPr>
              <a:defRPr/>
            </a:lvl1pPr>
          </a:lstStyle>
          <a:p>
            <a:pPr>
              <a:defRPr/>
            </a:pPr>
            <a:endParaRPr lang="en-US" altLang="zh-CN"/>
          </a:p>
        </p:txBody>
      </p:sp>
      <p:sp>
        <p:nvSpPr>
          <p:cNvPr id="8" name="灯片编号占位符 7">
            <a:extLst>
              <a:ext uri="{FF2B5EF4-FFF2-40B4-BE49-F238E27FC236}">
                <a16:creationId xmlns:a16="http://schemas.microsoft.com/office/drawing/2014/main" id="{A0CFC6C1-248B-4834-B2BC-87EEF58EDB29}"/>
              </a:ext>
            </a:extLst>
          </p:cNvPr>
          <p:cNvSpPr>
            <a:spLocks noGrp="1"/>
          </p:cNvSpPr>
          <p:nvPr>
            <p:ph type="sldNum" sz="quarter" idx="12"/>
          </p:nvPr>
        </p:nvSpPr>
        <p:spPr>
          <a:xfrm>
            <a:off x="6553200" y="6019800"/>
            <a:ext cx="2289175" cy="476250"/>
          </a:xfrm>
        </p:spPr>
        <p:txBody>
          <a:bodyPr/>
          <a:lstStyle>
            <a:lvl1pPr>
              <a:defRPr/>
            </a:lvl1pPr>
          </a:lstStyle>
          <a:p>
            <a:pPr>
              <a:defRPr/>
            </a:pPr>
            <a:fld id="{6F13DBA3-AFE2-4EE3-A225-7FE349EEC216}" type="slidenum">
              <a:rPr lang="zh-CN" altLang="en-US"/>
              <a:pPr>
                <a:defRPr/>
              </a:pPr>
              <a:t>‹#›</a:t>
            </a:fld>
            <a:endParaRPr lang="en-US" altLang="zh-CN"/>
          </a:p>
        </p:txBody>
      </p:sp>
    </p:spTree>
    <p:extLst>
      <p:ext uri="{BB962C8B-B14F-4D97-AF65-F5344CB8AC3E}">
        <p14:creationId xmlns:p14="http://schemas.microsoft.com/office/powerpoint/2010/main" val="535341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0CCEBD-DA11-46A7-A807-12AB20DD023D}" type="slidenum">
              <a:rPr lang="en-US" altLang="zh-CN" smtClean="0"/>
              <a:pPr/>
              <a:t>‹#›</a:t>
            </a:fld>
            <a:endParaRPr lang="en-US" altLang="zh-CN"/>
          </a:p>
        </p:txBody>
      </p:sp>
    </p:spTree>
    <p:extLst>
      <p:ext uri="{BB962C8B-B14F-4D97-AF65-F5344CB8AC3E}">
        <p14:creationId xmlns:p14="http://schemas.microsoft.com/office/powerpoint/2010/main" val="3182734441"/>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http://luohuiqian.kepu.cn/wp-content/uploads/auto_save_image/2010/10/063149yGX.jpg" TargetMode="External"/><Relationship Id="rId2" Type="http://schemas.openxmlformats.org/officeDocument/2006/relationships/image" Target="../media/image18.jpe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http://luohuiqian.kepu.cn/wp-content/uploads/auto_save_image/2010/10/063149yGX.jpg" TargetMode="External"/><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3.png"/><Relationship Id="rId4" Type="http://schemas.openxmlformats.org/officeDocument/2006/relationships/image" Target="../media/image22.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25.wmf"/><Relationship Id="rId5" Type="http://schemas.openxmlformats.org/officeDocument/2006/relationships/oleObject" Target="../embeddings/oleObject3.bin"/><Relationship Id="rId4" Type="http://schemas.openxmlformats.org/officeDocument/2006/relationships/image" Target="../media/image24.wmf"/></Relationships>
</file>

<file path=ppt/slides/_rels/slide31.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27.wmf"/><Relationship Id="rId5" Type="http://schemas.openxmlformats.org/officeDocument/2006/relationships/oleObject" Target="../embeddings/oleObject5.bin"/><Relationship Id="rId4" Type="http://schemas.openxmlformats.org/officeDocument/2006/relationships/image" Target="../media/image26.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30.wmf"/><Relationship Id="rId5" Type="http://schemas.openxmlformats.org/officeDocument/2006/relationships/oleObject" Target="../embeddings/oleObject8.bin"/><Relationship Id="rId4" Type="http://schemas.openxmlformats.org/officeDocument/2006/relationships/image" Target="../media/image29.emf"/></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2.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31.wmf"/><Relationship Id="rId4" Type="http://schemas.openxmlformats.org/officeDocument/2006/relationships/oleObject" Target="../embeddings/oleObject9.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5.wmf"/><Relationship Id="rId5" Type="http://schemas.openxmlformats.org/officeDocument/2006/relationships/image" Target="../media/image34.png"/><Relationship Id="rId4" Type="http://schemas.openxmlformats.org/officeDocument/2006/relationships/image" Target="../media/image25.wmf"/></Relationships>
</file>

<file path=ppt/slides/_rels/slide35.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image" Target="../media/image40.w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37.wmf"/><Relationship Id="rId11" Type="http://schemas.openxmlformats.org/officeDocument/2006/relationships/image" Target="../media/image39.wmf"/><Relationship Id="rId5" Type="http://schemas.openxmlformats.org/officeDocument/2006/relationships/oleObject" Target="../embeddings/oleObject13.bin"/><Relationship Id="rId10" Type="http://schemas.openxmlformats.org/officeDocument/2006/relationships/oleObject" Target="../embeddings/oleObject15.bin"/><Relationship Id="rId4" Type="http://schemas.openxmlformats.org/officeDocument/2006/relationships/image" Target="../media/image36.wmf"/><Relationship Id="rId9" Type="http://schemas.openxmlformats.org/officeDocument/2006/relationships/image" Target="../media/image35.wmf"/></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46.wmf"/><Relationship Id="rId5" Type="http://schemas.openxmlformats.org/officeDocument/2006/relationships/oleObject" Target="../embeddings/oleObject18.bin"/><Relationship Id="rId4" Type="http://schemas.openxmlformats.org/officeDocument/2006/relationships/image" Target="../media/image45.w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51.wmf"/><Relationship Id="rId3" Type="http://schemas.openxmlformats.org/officeDocument/2006/relationships/notesSlide" Target="../notesSlides/notesSlide2.xml"/><Relationship Id="rId7" Type="http://schemas.openxmlformats.org/officeDocument/2006/relationships/image" Target="../media/image48.wmf"/><Relationship Id="rId12"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20.bin"/><Relationship Id="rId11" Type="http://schemas.openxmlformats.org/officeDocument/2006/relationships/image" Target="../media/image50.wmf"/><Relationship Id="rId5" Type="http://schemas.openxmlformats.org/officeDocument/2006/relationships/image" Target="../media/image47.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49.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3.xml"/><Relationship Id="rId1" Type="http://schemas.openxmlformats.org/officeDocument/2006/relationships/vmlDrawing" Target="../drawings/vmlDrawing10.vml"/><Relationship Id="rId4" Type="http://schemas.openxmlformats.org/officeDocument/2006/relationships/image" Target="../media/image52.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2.xml"/><Relationship Id="rId1" Type="http://schemas.openxmlformats.org/officeDocument/2006/relationships/vmlDrawing" Target="../drawings/vmlDrawing11.vml"/><Relationship Id="rId4" Type="http://schemas.openxmlformats.org/officeDocument/2006/relationships/image" Target="../media/image53.wmf"/></Relationships>
</file>

<file path=ppt/slides/_rels/slide44.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image" Target="../media/image55.wmf"/><Relationship Id="rId5" Type="http://schemas.openxmlformats.org/officeDocument/2006/relationships/oleObject" Target="../embeddings/oleObject27.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29.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58.wmf"/></Relationships>
</file>

<file path=ppt/slides/_rels/slide46.xml.rels><?xml version="1.0" encoding="UTF-8" standalone="yes"?>
<Relationships xmlns="http://schemas.openxmlformats.org/package/2006/relationships"><Relationship Id="rId8" Type="http://schemas.openxmlformats.org/officeDocument/2006/relationships/image" Target="../media/image61.wmf"/><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63.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60.wmf"/><Relationship Id="rId11" Type="http://schemas.openxmlformats.org/officeDocument/2006/relationships/oleObject" Target="../embeddings/oleObject35.bin"/><Relationship Id="rId5" Type="http://schemas.openxmlformats.org/officeDocument/2006/relationships/oleObject" Target="../embeddings/oleObject32.bin"/><Relationship Id="rId10" Type="http://schemas.openxmlformats.org/officeDocument/2006/relationships/image" Target="../media/image62.wmf"/><Relationship Id="rId4" Type="http://schemas.openxmlformats.org/officeDocument/2006/relationships/image" Target="../media/image59.wmf"/><Relationship Id="rId9" Type="http://schemas.openxmlformats.org/officeDocument/2006/relationships/oleObject" Target="../embeddings/oleObject34.bin"/></Relationships>
</file>

<file path=ppt/slides/_rels/slide47.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65.wmf"/><Relationship Id="rId5" Type="http://schemas.openxmlformats.org/officeDocument/2006/relationships/oleObject" Target="../embeddings/oleObject37.bin"/><Relationship Id="rId4" Type="http://schemas.openxmlformats.org/officeDocument/2006/relationships/image" Target="../media/image64.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50.wmf"/><Relationship Id="rId4" Type="http://schemas.openxmlformats.org/officeDocument/2006/relationships/oleObject" Target="../embeddings/oleObject39.bin"/></Relationships>
</file>

<file path=ppt/slides/_rels/slide5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3FE1EA7-7151-4234-8F5B-80FB2FF8D2B0}"/>
              </a:ext>
            </a:extLst>
          </p:cNvPr>
          <p:cNvSpPr>
            <a:spLocks noGrp="1" noChangeArrowheads="1"/>
          </p:cNvSpPr>
          <p:nvPr>
            <p:ph type="ctrTitle"/>
          </p:nvPr>
        </p:nvSpPr>
        <p:spPr>
          <a:xfrm>
            <a:off x="1115616" y="260648"/>
            <a:ext cx="7270576" cy="2387600"/>
          </a:xfrm>
        </p:spPr>
        <p:txBody>
          <a:bodyPr/>
          <a:lstStyle/>
          <a:p>
            <a:r>
              <a:rPr lang="zh-CN" altLang="en-US" dirty="0"/>
              <a:t>第</a:t>
            </a:r>
            <a:r>
              <a:rPr lang="en-US" altLang="zh-CN" dirty="0"/>
              <a:t>1</a:t>
            </a:r>
            <a:r>
              <a:rPr lang="zh-CN" altLang="en-US" dirty="0"/>
              <a:t>章 半导体材料的基本性质 </a:t>
            </a:r>
          </a:p>
        </p:txBody>
      </p:sp>
      <p:sp>
        <p:nvSpPr>
          <p:cNvPr id="2" name="矩形 1">
            <a:extLst>
              <a:ext uri="{FF2B5EF4-FFF2-40B4-BE49-F238E27FC236}">
                <a16:creationId xmlns:a16="http://schemas.microsoft.com/office/drawing/2014/main" id="{E41BFF86-07D0-409D-9E8F-7FDB5B3C7BD0}"/>
              </a:ext>
            </a:extLst>
          </p:cNvPr>
          <p:cNvSpPr/>
          <p:nvPr/>
        </p:nvSpPr>
        <p:spPr>
          <a:xfrm>
            <a:off x="1337149" y="3068960"/>
            <a:ext cx="6827510" cy="3108543"/>
          </a:xfrm>
          <a:prstGeom prst="rect">
            <a:avLst/>
          </a:prstGeom>
        </p:spPr>
        <p:txBody>
          <a:bodyPr wrap="none">
            <a:spAutoFit/>
          </a:bodyPr>
          <a:lstStyle/>
          <a:p>
            <a:r>
              <a:rPr lang="en-US" altLang="zh-CN" sz="2800" dirty="0"/>
              <a:t>1.1 </a:t>
            </a:r>
            <a:r>
              <a:rPr lang="zh-CN" altLang="en-US" sz="2800" dirty="0"/>
              <a:t>半导体与基本晶体结构</a:t>
            </a:r>
            <a:endParaRPr lang="en-US" altLang="zh-CN" sz="2800" dirty="0"/>
          </a:p>
          <a:p>
            <a:r>
              <a:rPr lang="en-US" altLang="zh-CN" sz="2800" dirty="0"/>
              <a:t>1.2</a:t>
            </a:r>
            <a:r>
              <a:rPr lang="zh-CN" altLang="en-US" sz="2800" dirty="0"/>
              <a:t>半导体的能带</a:t>
            </a:r>
            <a:endParaRPr lang="en-US" altLang="zh-CN" sz="2800" dirty="0"/>
          </a:p>
          <a:p>
            <a:r>
              <a:rPr lang="en-US" altLang="zh-CN" sz="2800" dirty="0"/>
              <a:t>1.3 </a:t>
            </a:r>
            <a:r>
              <a:rPr lang="zh-CN" altLang="en-US" sz="2800" dirty="0"/>
              <a:t>本征半导体与本征载流子浓度</a:t>
            </a:r>
            <a:endParaRPr lang="en-US" altLang="zh-CN" sz="2800" dirty="0"/>
          </a:p>
          <a:p>
            <a:r>
              <a:rPr lang="en-US" altLang="zh-CN" sz="2800" dirty="0"/>
              <a:t>1.4 </a:t>
            </a:r>
            <a:r>
              <a:rPr lang="zh-CN" altLang="en-US" sz="2800" dirty="0"/>
              <a:t>杂质半导体与杂质半导体的载流子浓度</a:t>
            </a:r>
            <a:endParaRPr lang="en-US" altLang="zh-CN" sz="2800" dirty="0"/>
          </a:p>
          <a:p>
            <a:r>
              <a:rPr lang="en-US" altLang="zh-CN" sz="2800" dirty="0"/>
              <a:t>1.5 </a:t>
            </a:r>
            <a:r>
              <a:rPr lang="zh-CN" altLang="en-US" sz="2800" dirty="0"/>
              <a:t>非平衡流子</a:t>
            </a:r>
            <a:endParaRPr lang="en-US" altLang="zh-CN" sz="2800" dirty="0"/>
          </a:p>
          <a:p>
            <a:r>
              <a:rPr lang="en-US" altLang="zh-CN" sz="2800" dirty="0"/>
              <a:t>1.6 </a:t>
            </a:r>
            <a:r>
              <a:rPr lang="zh-CN" altLang="en-US" sz="2800" dirty="0"/>
              <a:t>载流子的漂移运动</a:t>
            </a:r>
            <a:endParaRPr lang="en-US" altLang="zh-CN" sz="2800" dirty="0"/>
          </a:p>
          <a:p>
            <a:r>
              <a:rPr lang="en-US" altLang="zh-CN" sz="2800" dirty="0"/>
              <a:t>1.7 </a:t>
            </a:r>
            <a:r>
              <a:rPr lang="zh-CN" altLang="en-US" sz="2800" dirty="0"/>
              <a:t>载流子的扩散运动</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2A56BA0-09E8-4EA4-8C4E-858FA7476199}"/>
              </a:ext>
            </a:extLst>
          </p:cNvPr>
          <p:cNvSpPr>
            <a:spLocks noGrp="1" noChangeArrowheads="1"/>
          </p:cNvSpPr>
          <p:nvPr>
            <p:ph type="title"/>
          </p:nvPr>
        </p:nvSpPr>
        <p:spPr>
          <a:xfrm>
            <a:off x="395536" y="334168"/>
            <a:ext cx="7129463" cy="839788"/>
          </a:xfrm>
        </p:spPr>
        <p:txBody>
          <a:bodyPr>
            <a:normAutofit fontScale="90000"/>
          </a:bodyPr>
          <a:lstStyle/>
          <a:p>
            <a:r>
              <a:rPr lang="en-US" altLang="zh-CN" sz="4000" dirty="0"/>
              <a:t>1.1 </a:t>
            </a:r>
            <a:r>
              <a:rPr lang="zh-CN" altLang="en-US" sz="4000" dirty="0"/>
              <a:t>半导体与基本晶体结构</a:t>
            </a:r>
            <a:br>
              <a:rPr lang="zh-CN" altLang="en-US" sz="4000" dirty="0"/>
            </a:br>
            <a:r>
              <a:rPr lang="en-US" altLang="zh-CN" sz="3200" dirty="0"/>
              <a:t>1.1.1 </a:t>
            </a:r>
            <a:r>
              <a:rPr lang="zh-CN" altLang="en-US" sz="3200" dirty="0"/>
              <a:t>半导体</a:t>
            </a:r>
            <a:endParaRPr lang="zh-CN" altLang="en-US" sz="4000" dirty="0"/>
          </a:p>
        </p:txBody>
      </p:sp>
      <p:sp>
        <p:nvSpPr>
          <p:cNvPr id="44035" name="Rectangle 3">
            <a:extLst>
              <a:ext uri="{FF2B5EF4-FFF2-40B4-BE49-F238E27FC236}">
                <a16:creationId xmlns:a16="http://schemas.microsoft.com/office/drawing/2014/main" id="{CAC8249C-1695-40D3-B893-7BFEB3163866}"/>
              </a:ext>
            </a:extLst>
          </p:cNvPr>
          <p:cNvSpPr>
            <a:spLocks noGrp="1" noChangeArrowheads="1"/>
          </p:cNvSpPr>
          <p:nvPr>
            <p:ph idx="1"/>
          </p:nvPr>
        </p:nvSpPr>
        <p:spPr>
          <a:xfrm>
            <a:off x="289719" y="1371600"/>
            <a:ext cx="8642350" cy="4114800"/>
          </a:xfrm>
        </p:spPr>
        <p:txBody>
          <a:bodyPr/>
          <a:lstStyle/>
          <a:p>
            <a:pPr marL="609600" indent="-609600">
              <a:buFont typeface="Wingdings" panose="05000000000000000000" pitchFamily="2" charset="2"/>
              <a:buNone/>
            </a:pPr>
            <a:r>
              <a:rPr lang="zh-CN" altLang="en-US" dirty="0"/>
              <a:t>半导体</a:t>
            </a:r>
            <a:r>
              <a:rPr lang="en-US" altLang="zh-CN" dirty="0"/>
              <a:t>: </a:t>
            </a:r>
            <a:r>
              <a:rPr lang="zh-CN" altLang="en-US" dirty="0"/>
              <a:t>导电能力介于导体于绝缘体之间的一些单晶体</a:t>
            </a:r>
          </a:p>
          <a:p>
            <a:pPr marL="609600" indent="-609600"/>
            <a:endParaRPr lang="en-US" altLang="zh-CN" sz="2400" dirty="0"/>
          </a:p>
        </p:txBody>
      </p:sp>
      <p:pic>
        <p:nvPicPr>
          <p:cNvPr id="44036" name="Picture 4" descr="0101">
            <a:extLst>
              <a:ext uri="{FF2B5EF4-FFF2-40B4-BE49-F238E27FC236}">
                <a16:creationId xmlns:a16="http://schemas.microsoft.com/office/drawing/2014/main" id="{E63D998D-3D3B-4CCF-8008-45EA7E2B7A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2156" y="2531171"/>
            <a:ext cx="5119688" cy="29733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a:extLst>
              <a:ext uri="{FF2B5EF4-FFF2-40B4-BE49-F238E27FC236}">
                <a16:creationId xmlns:a16="http://schemas.microsoft.com/office/drawing/2014/main" id="{0F757D6E-A3AA-4711-80A2-68EDF5D7E6F8}"/>
              </a:ext>
            </a:extLst>
          </p:cNvPr>
          <p:cNvSpPr>
            <a:spLocks noGrp="1" noChangeArrowheads="1"/>
          </p:cNvSpPr>
          <p:nvPr>
            <p:ph idx="1"/>
          </p:nvPr>
        </p:nvSpPr>
        <p:spPr>
          <a:xfrm>
            <a:off x="685800" y="2348880"/>
            <a:ext cx="7772400" cy="2768600"/>
          </a:xfrm>
        </p:spPr>
        <p:txBody>
          <a:bodyPr>
            <a:normAutofit fontScale="92500" lnSpcReduction="10000"/>
          </a:bodyPr>
          <a:lstStyle/>
          <a:p>
            <a:pPr>
              <a:buFont typeface="Wingdings" panose="05000000000000000000" pitchFamily="2" charset="2"/>
              <a:buNone/>
            </a:pPr>
            <a:r>
              <a:rPr lang="zh-CN" altLang="en-US" sz="2800" b="1" dirty="0"/>
              <a:t>半导体导电性的基本特性：</a:t>
            </a:r>
            <a:endParaRPr lang="en-US" altLang="zh-CN" sz="2800" b="1" dirty="0"/>
          </a:p>
          <a:p>
            <a:pPr>
              <a:buFont typeface="Wingdings" panose="05000000000000000000" pitchFamily="2" charset="2"/>
              <a:buNone/>
            </a:pPr>
            <a:r>
              <a:rPr lang="en-US" altLang="zh-CN" sz="2800" dirty="0"/>
              <a:t>   1.</a:t>
            </a:r>
            <a:r>
              <a:rPr lang="zh-CN" altLang="en-US" sz="2800" dirty="0"/>
              <a:t>杂质敏感性</a:t>
            </a:r>
          </a:p>
          <a:p>
            <a:pPr>
              <a:buFont typeface="Wingdings" panose="05000000000000000000" pitchFamily="2" charset="2"/>
              <a:buNone/>
            </a:pPr>
            <a:r>
              <a:rPr lang="zh-CN" altLang="en-US" sz="2800" dirty="0"/>
              <a:t>	</a:t>
            </a:r>
            <a:r>
              <a:rPr lang="en-US" altLang="zh-CN" sz="2800" dirty="0"/>
              <a:t>2.</a:t>
            </a:r>
            <a:r>
              <a:rPr lang="zh-CN" altLang="en-US" sz="2800" dirty="0"/>
              <a:t>负温度系数</a:t>
            </a:r>
            <a:endParaRPr lang="en-US" altLang="zh-CN" sz="2800" dirty="0"/>
          </a:p>
          <a:p>
            <a:pPr>
              <a:buFont typeface="Wingdings" panose="05000000000000000000" pitchFamily="2" charset="2"/>
              <a:buNone/>
            </a:pPr>
            <a:r>
              <a:rPr lang="en-US" altLang="zh-CN" sz="2800" dirty="0"/>
              <a:t>       </a:t>
            </a:r>
            <a:r>
              <a:rPr lang="zh-CN" altLang="en-US" sz="2800" dirty="0"/>
              <a:t>温度升高，导电性增强（与金属相反）</a:t>
            </a:r>
          </a:p>
          <a:p>
            <a:pPr>
              <a:buFont typeface="Wingdings" panose="05000000000000000000" pitchFamily="2" charset="2"/>
              <a:buNone/>
            </a:pPr>
            <a:r>
              <a:rPr lang="zh-CN" altLang="en-US" sz="2800" dirty="0"/>
              <a:t>	</a:t>
            </a:r>
            <a:r>
              <a:rPr lang="en-US" altLang="zh-CN" sz="2800" dirty="0"/>
              <a:t>3.</a:t>
            </a:r>
            <a:r>
              <a:rPr lang="zh-CN" altLang="en-US" sz="2800" dirty="0"/>
              <a:t>光敏性</a:t>
            </a:r>
          </a:p>
          <a:p>
            <a:pPr>
              <a:buFont typeface="Wingdings" panose="05000000000000000000" pitchFamily="2" charset="2"/>
              <a:buNone/>
            </a:pPr>
            <a:r>
              <a:rPr lang="zh-CN" altLang="en-US" sz="2800" dirty="0"/>
              <a:t>	</a:t>
            </a:r>
            <a:r>
              <a:rPr lang="en-US" altLang="zh-CN" sz="2800" dirty="0"/>
              <a:t>4.</a:t>
            </a:r>
            <a:r>
              <a:rPr lang="zh-CN" altLang="en-US" sz="2800" dirty="0"/>
              <a:t>电场、磁场效应</a:t>
            </a:r>
            <a:endParaRPr lang="en-US" altLang="zh-CN" sz="2800" dirty="0"/>
          </a:p>
          <a:p>
            <a:pPr>
              <a:buFont typeface="Wingdings" panose="05000000000000000000" pitchFamily="2" charset="2"/>
              <a:buNone/>
            </a:pPr>
            <a:endParaRPr lang="zh-CN" altLang="en-US" sz="2800" dirty="0"/>
          </a:p>
          <a:p>
            <a:endParaRPr lang="en-US" altLang="zh-CN" sz="2800" dirty="0"/>
          </a:p>
        </p:txBody>
      </p:sp>
      <p:sp>
        <p:nvSpPr>
          <p:cNvPr id="45060" name="Text Box 4">
            <a:extLst>
              <a:ext uri="{FF2B5EF4-FFF2-40B4-BE49-F238E27FC236}">
                <a16:creationId xmlns:a16="http://schemas.microsoft.com/office/drawing/2014/main" id="{5688B69B-8C37-42E6-835D-09B65914A835}"/>
              </a:ext>
            </a:extLst>
          </p:cNvPr>
          <p:cNvSpPr txBox="1">
            <a:spLocks noChangeArrowheads="1"/>
          </p:cNvSpPr>
          <p:nvPr/>
        </p:nvSpPr>
        <p:spPr bwMode="auto">
          <a:xfrm>
            <a:off x="1476375" y="908050"/>
            <a:ext cx="5543550" cy="116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folHlink"/>
              </a:buClr>
              <a:buSzPct val="60000"/>
              <a:buFont typeface="Wingdings" panose="05000000000000000000" pitchFamily="2" charset="2"/>
              <a:buNone/>
            </a:pPr>
            <a:r>
              <a:rPr lang="en-US" altLang="zh-CN" sz="3200">
                <a:solidFill>
                  <a:schemeClr val="tx2"/>
                </a:solidFill>
              </a:rPr>
              <a:t>1.1.2</a:t>
            </a:r>
            <a:r>
              <a:rPr lang="zh-CN" altLang="en-US" sz="3200">
                <a:solidFill>
                  <a:schemeClr val="tx2"/>
                </a:solidFill>
              </a:rPr>
              <a:t>半导体材料的基本特性 </a:t>
            </a:r>
          </a:p>
          <a:p>
            <a:pPr>
              <a:spcBef>
                <a:spcPct val="20000"/>
              </a:spcBef>
              <a:buClr>
                <a:schemeClr val="folHlink"/>
              </a:buClr>
              <a:buSzPct val="60000"/>
              <a:buFont typeface="Wingdings" panose="05000000000000000000" pitchFamily="2" charset="2"/>
              <a:buNone/>
            </a:pPr>
            <a:endParaRPr lang="en-US" altLang="zh-CN" sz="3200">
              <a:solidFill>
                <a:schemeClr val="tx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CAF33441-DB18-44CF-BA4C-9860AA75DF0E}"/>
              </a:ext>
            </a:extLst>
          </p:cNvPr>
          <p:cNvSpPr>
            <a:spLocks noGrp="1" noChangeArrowheads="1"/>
          </p:cNvSpPr>
          <p:nvPr>
            <p:ph idx="1"/>
          </p:nvPr>
        </p:nvSpPr>
        <p:spPr>
          <a:xfrm>
            <a:off x="581000" y="2796505"/>
            <a:ext cx="7772400" cy="2952328"/>
          </a:xfrm>
        </p:spPr>
        <p:txBody>
          <a:bodyPr/>
          <a:lstStyle/>
          <a:p>
            <a:pPr>
              <a:buFont typeface="Wingdings" panose="05000000000000000000" pitchFamily="2" charset="2"/>
              <a:buNone/>
            </a:pPr>
            <a:r>
              <a:rPr lang="zh-CN" altLang="en-US" sz="2400" b="1" dirty="0">
                <a:solidFill>
                  <a:srgbClr val="FF0000"/>
                </a:solidFill>
              </a:rPr>
              <a:t>晶体结构是值原子在三维空间中周期性排列着的单晶体。</a:t>
            </a:r>
          </a:p>
          <a:p>
            <a:r>
              <a:rPr lang="zh-CN" altLang="en-US" sz="2400" dirty="0">
                <a:solidFill>
                  <a:srgbClr val="FF0000"/>
                </a:solidFill>
              </a:rPr>
              <a:t>晶胞：</a:t>
            </a:r>
            <a:r>
              <a:rPr lang="zh-CN" altLang="en-US" sz="2400" dirty="0"/>
              <a:t>单晶体结构可以用任意一个最基本的单元所代表，称这个最基本的单元叫晶胞。</a:t>
            </a:r>
          </a:p>
          <a:p>
            <a:r>
              <a:rPr lang="zh-CN" altLang="en-US" sz="2400" dirty="0">
                <a:solidFill>
                  <a:srgbClr val="FF0000"/>
                </a:solidFill>
              </a:rPr>
              <a:t>晶格：</a:t>
            </a:r>
            <a:r>
              <a:rPr lang="zh-CN" altLang="en-US" sz="2400" dirty="0"/>
              <a:t>单晶体是由晶胞在三维空间周期性重复排列而成，整个晶体就像网格一样，称为晶格。</a:t>
            </a:r>
          </a:p>
          <a:p>
            <a:r>
              <a:rPr lang="zh-CN" altLang="en-US" sz="2400" dirty="0">
                <a:solidFill>
                  <a:srgbClr val="FF0000"/>
                </a:solidFill>
              </a:rPr>
              <a:t>格点与点阵，</a:t>
            </a:r>
            <a:r>
              <a:rPr lang="zh-CN" altLang="en-US" sz="2400" dirty="0"/>
              <a:t>组成晶体的原子重心所在的位置称为格点，格点的总体称点阵。</a:t>
            </a:r>
          </a:p>
        </p:txBody>
      </p:sp>
      <p:sp>
        <p:nvSpPr>
          <p:cNvPr id="46084" name="Text Box 4">
            <a:extLst>
              <a:ext uri="{FF2B5EF4-FFF2-40B4-BE49-F238E27FC236}">
                <a16:creationId xmlns:a16="http://schemas.microsoft.com/office/drawing/2014/main" id="{A5D27EAA-9AF5-4033-A494-D7542FF35018}"/>
              </a:ext>
            </a:extLst>
          </p:cNvPr>
          <p:cNvSpPr txBox="1">
            <a:spLocks noChangeArrowheads="1"/>
          </p:cNvSpPr>
          <p:nvPr/>
        </p:nvSpPr>
        <p:spPr bwMode="auto">
          <a:xfrm>
            <a:off x="1979712" y="448977"/>
            <a:ext cx="5545138" cy="9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folHlink"/>
              </a:buClr>
              <a:buSzPct val="60000"/>
              <a:buFont typeface="Wingdings" panose="05000000000000000000" pitchFamily="2" charset="2"/>
              <a:buNone/>
            </a:pPr>
            <a:r>
              <a:rPr lang="en-US" altLang="zh-CN" sz="3200" dirty="0">
                <a:solidFill>
                  <a:schemeClr val="tx2"/>
                </a:solidFill>
              </a:rPr>
              <a:t>1.1.3 </a:t>
            </a:r>
            <a:r>
              <a:rPr lang="zh-CN" altLang="en-US" sz="3200" dirty="0">
                <a:solidFill>
                  <a:schemeClr val="tx2"/>
                </a:solidFill>
              </a:rPr>
              <a:t>半导体的晶体结构</a:t>
            </a:r>
          </a:p>
          <a:p>
            <a:pPr>
              <a:spcBef>
                <a:spcPct val="50000"/>
              </a:spcBef>
            </a:pPr>
            <a:endParaRPr lang="en-US" altLang="zh-CN" dirty="0"/>
          </a:p>
        </p:txBody>
      </p:sp>
      <p:sp>
        <p:nvSpPr>
          <p:cNvPr id="2" name="矩形 1">
            <a:extLst>
              <a:ext uri="{FF2B5EF4-FFF2-40B4-BE49-F238E27FC236}">
                <a16:creationId xmlns:a16="http://schemas.microsoft.com/office/drawing/2014/main" id="{D501C9E2-943D-4D0C-B2FD-D1A3375197EE}"/>
              </a:ext>
            </a:extLst>
          </p:cNvPr>
          <p:cNvSpPr/>
          <p:nvPr/>
        </p:nvSpPr>
        <p:spPr>
          <a:xfrm>
            <a:off x="685800" y="1268760"/>
            <a:ext cx="7772400" cy="145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42900" indent="-342900">
              <a:spcBef>
                <a:spcPct val="20000"/>
              </a:spcBef>
              <a:buClr>
                <a:schemeClr val="folHlink"/>
              </a:buClr>
              <a:buSzPct val="60000"/>
              <a:buFont typeface="Wingdings" panose="05000000000000000000" pitchFamily="2" charset="2"/>
              <a:buChar char="n"/>
            </a:pPr>
            <a:r>
              <a:rPr lang="zh-CN" altLang="en-US" sz="2400" b="1" dirty="0">
                <a:solidFill>
                  <a:srgbClr val="FF0000"/>
                </a:solidFill>
                <a:latin typeface="+mn-lt"/>
                <a:ea typeface="+mn-ea"/>
              </a:rPr>
              <a:t>晶体（</a:t>
            </a:r>
            <a:r>
              <a:rPr lang="en-US" altLang="zh-CN" sz="2400" b="1" dirty="0">
                <a:solidFill>
                  <a:srgbClr val="FF0000"/>
                </a:solidFill>
                <a:latin typeface="+mn-lt"/>
                <a:ea typeface="+mn-ea"/>
              </a:rPr>
              <a:t>crystal</a:t>
            </a:r>
            <a:r>
              <a:rPr lang="zh-CN" altLang="en-US" sz="2400" b="1" dirty="0">
                <a:solidFill>
                  <a:srgbClr val="FF0000"/>
                </a:solidFill>
                <a:latin typeface="+mn-lt"/>
                <a:ea typeface="+mn-ea"/>
              </a:rPr>
              <a:t>）：由周期排列的原子构成的物体</a:t>
            </a:r>
          </a:p>
          <a:p>
            <a:pPr marL="342900" indent="-342900">
              <a:spcBef>
                <a:spcPct val="20000"/>
              </a:spcBef>
              <a:buClr>
                <a:schemeClr val="folHlink"/>
              </a:buClr>
              <a:buSzPct val="60000"/>
              <a:buFont typeface="Wingdings" panose="05000000000000000000" pitchFamily="2" charset="2"/>
              <a:buChar char="n"/>
            </a:pPr>
            <a:r>
              <a:rPr lang="zh-CN" altLang="en-US" sz="2400" dirty="0">
                <a:latin typeface="+mn-lt"/>
                <a:ea typeface="+mn-ea"/>
              </a:rPr>
              <a:t>重要的半导体晶体。</a:t>
            </a:r>
          </a:p>
          <a:p>
            <a:pPr marL="342900" indent="-342900">
              <a:spcBef>
                <a:spcPct val="20000"/>
              </a:spcBef>
              <a:buClr>
                <a:schemeClr val="folHlink"/>
              </a:buClr>
              <a:buSzPct val="60000"/>
              <a:buFont typeface="Wingdings" panose="05000000000000000000" pitchFamily="2" charset="2"/>
              <a:buChar char="n"/>
            </a:pPr>
            <a:r>
              <a:rPr lang="zh-CN" altLang="en-US" sz="2400" dirty="0">
                <a:latin typeface="+mn-lt"/>
                <a:ea typeface="+mn-ea"/>
              </a:rPr>
              <a:t>单质：硅、锗；化合物：砷化镓、碳化硅、氮化镓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9" name="Picture 5" descr="0103">
            <a:extLst>
              <a:ext uri="{FF2B5EF4-FFF2-40B4-BE49-F238E27FC236}">
                <a16:creationId xmlns:a16="http://schemas.microsoft.com/office/drawing/2014/main" id="{1EEDD857-0911-4669-9DCD-55FAC39BB0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1124744"/>
            <a:ext cx="4614862" cy="1714500"/>
          </a:xfrm>
          <a:prstGeom prst="rect">
            <a:avLst/>
          </a:prstGeom>
          <a:noFill/>
          <a:extLst>
            <a:ext uri="{909E8E84-426E-40DD-AFC4-6F175D3DCCD1}">
              <a14:hiddenFill xmlns:a14="http://schemas.microsoft.com/office/drawing/2010/main">
                <a:solidFill>
                  <a:srgbClr val="FFFFFF"/>
                </a:solidFill>
              </a14:hiddenFill>
            </a:ext>
          </a:extLst>
        </p:spPr>
      </p:pic>
      <p:sp>
        <p:nvSpPr>
          <p:cNvPr id="47111" name="Text Box 7">
            <a:extLst>
              <a:ext uri="{FF2B5EF4-FFF2-40B4-BE49-F238E27FC236}">
                <a16:creationId xmlns:a16="http://schemas.microsoft.com/office/drawing/2014/main" id="{6AF85EFA-94DE-4C3E-8FED-4F531C725F02}"/>
              </a:ext>
            </a:extLst>
          </p:cNvPr>
          <p:cNvSpPr txBox="1">
            <a:spLocks noChangeArrowheads="1"/>
          </p:cNvSpPr>
          <p:nvPr/>
        </p:nvSpPr>
        <p:spPr bwMode="auto">
          <a:xfrm>
            <a:off x="1659012" y="2868209"/>
            <a:ext cx="5976938" cy="77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dirty="0"/>
              <a:t>3</a:t>
            </a:r>
            <a:r>
              <a:rPr lang="zh-CN" altLang="en-US" dirty="0"/>
              <a:t>种常见的立方晶体的晶胞</a:t>
            </a:r>
          </a:p>
          <a:p>
            <a:pPr algn="ctr">
              <a:spcBef>
                <a:spcPct val="50000"/>
              </a:spcBef>
            </a:pPr>
            <a:r>
              <a:rPr lang="en-US" altLang="zh-CN" dirty="0"/>
              <a:t>a</a:t>
            </a:r>
            <a:r>
              <a:rPr lang="zh-CN" altLang="en-US" dirty="0"/>
              <a:t>）简单立方 </a:t>
            </a:r>
            <a:r>
              <a:rPr lang="en-US" altLang="zh-CN" dirty="0"/>
              <a:t>b</a:t>
            </a:r>
            <a:r>
              <a:rPr lang="zh-CN" altLang="en-US" dirty="0"/>
              <a:t>）体心立方 </a:t>
            </a:r>
            <a:r>
              <a:rPr lang="en-US" altLang="zh-CN" dirty="0"/>
              <a:t>c</a:t>
            </a:r>
            <a:r>
              <a:rPr lang="zh-CN" altLang="en-US" dirty="0"/>
              <a:t>）面心立方</a:t>
            </a:r>
          </a:p>
        </p:txBody>
      </p:sp>
      <p:sp>
        <p:nvSpPr>
          <p:cNvPr id="6" name="Rectangle 3">
            <a:extLst>
              <a:ext uri="{FF2B5EF4-FFF2-40B4-BE49-F238E27FC236}">
                <a16:creationId xmlns:a16="http://schemas.microsoft.com/office/drawing/2014/main" id="{D081A722-84A1-4AB6-A64A-157EF08F0300}"/>
              </a:ext>
            </a:extLst>
          </p:cNvPr>
          <p:cNvSpPr>
            <a:spLocks noChangeArrowheads="1"/>
          </p:cNvSpPr>
          <p:nvPr/>
        </p:nvSpPr>
        <p:spPr bwMode="auto">
          <a:xfrm>
            <a:off x="1082948" y="4005064"/>
            <a:ext cx="7416824" cy="17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defRPr sz="2000" b="1">
                <a:solidFill>
                  <a:schemeClr val="tx1"/>
                </a:solidFill>
                <a:latin typeface="Times New Roman" panose="02020603050405020304" pitchFamily="18" charset="0"/>
                <a:ea typeface="宋体" panose="02010600030101010101" pitchFamily="2" charset="-122"/>
              </a:defRPr>
            </a:lvl1pPr>
            <a:lvl2pPr marL="908050" indent="-436563">
              <a:defRPr sz="2000" b="1">
                <a:solidFill>
                  <a:schemeClr val="tx1"/>
                </a:solidFill>
                <a:latin typeface="Times New Roman" panose="02020603050405020304" pitchFamily="18" charset="0"/>
                <a:ea typeface="宋体" panose="02010600030101010101" pitchFamily="2" charset="-122"/>
              </a:defRPr>
            </a:lvl2pPr>
            <a:lvl3pPr marL="1304925" indent="-395288">
              <a:defRPr sz="2000" b="1">
                <a:solidFill>
                  <a:schemeClr val="tx1"/>
                </a:solidFill>
                <a:latin typeface="Times New Roman" panose="02020603050405020304" pitchFamily="18" charset="0"/>
                <a:ea typeface="宋体" panose="02010600030101010101" pitchFamily="2" charset="-122"/>
              </a:defRPr>
            </a:lvl3pPr>
            <a:lvl4pPr marL="1693863" indent="-387350">
              <a:defRPr sz="2000" b="1">
                <a:solidFill>
                  <a:schemeClr val="tx1"/>
                </a:solidFill>
                <a:latin typeface="Times New Roman" panose="02020603050405020304" pitchFamily="18" charset="0"/>
                <a:ea typeface="宋体" panose="02010600030101010101" pitchFamily="2" charset="-122"/>
              </a:defRPr>
            </a:lvl4pPr>
            <a:lvl5pPr marL="2093913" indent="-398463">
              <a:defRPr sz="2000" b="1">
                <a:solidFill>
                  <a:schemeClr val="tx1"/>
                </a:solidFill>
                <a:latin typeface="Times New Roman" panose="02020603050405020304" pitchFamily="18" charset="0"/>
                <a:ea typeface="宋体" panose="02010600030101010101" pitchFamily="2" charset="-122"/>
              </a:defRPr>
            </a:lvl5pPr>
            <a:lvl6pPr marL="2551113" indent="-398463"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3008313" indent="-398463"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65513" indent="-398463"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922713" indent="-398463"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hlink"/>
              </a:buClr>
              <a:buSzPct val="70000"/>
              <a:buFont typeface="Wingdings" panose="05000000000000000000" pitchFamily="2" charset="2"/>
              <a:buChar char="v"/>
            </a:pPr>
            <a:r>
              <a:rPr lang="zh-CN" altLang="en-US" sz="1800" dirty="0">
                <a:sym typeface="Times New Roman" panose="02020603050405020304" pitchFamily="18" charset="0"/>
              </a:rPr>
              <a:t>简立方</a:t>
            </a:r>
            <a:r>
              <a:rPr lang="en-US" altLang="zh-CN" sz="1800" dirty="0">
                <a:sym typeface="Times New Roman" panose="02020603050405020304" pitchFamily="18" charset="0"/>
              </a:rPr>
              <a:t>:</a:t>
            </a:r>
            <a:r>
              <a:rPr lang="zh-CN" altLang="en-US" sz="1800" dirty="0">
                <a:sym typeface="Times New Roman" panose="02020603050405020304" pitchFamily="18" charset="0"/>
              </a:rPr>
              <a:t>立方体的八个顶角各有一个原子。</a:t>
            </a:r>
            <a:endParaRPr lang="en-US" altLang="zh-CN" sz="1800" dirty="0">
              <a:sym typeface="Times New Roman" panose="02020603050405020304" pitchFamily="18" charset="0"/>
            </a:endParaRPr>
          </a:p>
          <a:p>
            <a:pPr>
              <a:spcBef>
                <a:spcPct val="20000"/>
              </a:spcBef>
              <a:buClr>
                <a:schemeClr val="hlink"/>
              </a:buClr>
              <a:buSzPct val="70000"/>
              <a:buFont typeface="Wingdings" panose="05000000000000000000" pitchFamily="2" charset="2"/>
              <a:buChar char="v"/>
            </a:pPr>
            <a:r>
              <a:rPr lang="zh-CN" altLang="en-US" sz="1800" dirty="0">
                <a:sym typeface="Times New Roman" panose="02020603050405020304" pitchFamily="18" charset="0"/>
              </a:rPr>
              <a:t>体心立方： 简立方的中心加进一个原子。</a:t>
            </a:r>
          </a:p>
          <a:p>
            <a:pPr>
              <a:spcBef>
                <a:spcPct val="20000"/>
              </a:spcBef>
              <a:buClr>
                <a:schemeClr val="hlink"/>
              </a:buClr>
              <a:buSzPct val="70000"/>
              <a:buFont typeface="Wingdings" panose="05000000000000000000" pitchFamily="2" charset="2"/>
              <a:buChar char="v"/>
            </a:pPr>
            <a:r>
              <a:rPr lang="zh-CN" altLang="en-US" sz="1800" dirty="0">
                <a:sym typeface="Times New Roman" panose="02020603050405020304" pitchFamily="18" charset="0"/>
              </a:rPr>
              <a:t>面心立方：简立方的六个面的中心各有一个原子。</a:t>
            </a:r>
          </a:p>
          <a:p>
            <a:pPr>
              <a:spcBef>
                <a:spcPct val="20000"/>
              </a:spcBef>
              <a:buClr>
                <a:schemeClr val="hlink"/>
              </a:buClr>
              <a:buSzPct val="70000"/>
              <a:buFont typeface="Wingdings" panose="05000000000000000000" pitchFamily="2" charset="2"/>
              <a:buChar char="v"/>
            </a:pPr>
            <a:endParaRPr lang="zh-CN" altLang="en-US" sz="1800" dirty="0">
              <a:sym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4" name="Picture 4" descr="0104">
            <a:extLst>
              <a:ext uri="{FF2B5EF4-FFF2-40B4-BE49-F238E27FC236}">
                <a16:creationId xmlns:a16="http://schemas.microsoft.com/office/drawing/2014/main" id="{DD68DD86-7A14-4467-8A90-6FD3B79A83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078"/>
          <a:stretch/>
        </p:blipFill>
        <p:spPr bwMode="auto">
          <a:xfrm>
            <a:off x="6120347" y="1950009"/>
            <a:ext cx="2392645" cy="1875805"/>
          </a:xfrm>
          <a:prstGeom prst="rect">
            <a:avLst/>
          </a:prstGeom>
          <a:noFill/>
          <a:extLst>
            <a:ext uri="{909E8E84-426E-40DD-AFC4-6F175D3DCCD1}">
              <a14:hiddenFill xmlns:a14="http://schemas.microsoft.com/office/drawing/2010/main">
                <a:solidFill>
                  <a:srgbClr val="FFFFFF"/>
                </a:solidFill>
              </a14:hiddenFill>
            </a:ext>
          </a:extLst>
        </p:spPr>
      </p:pic>
      <p:sp>
        <p:nvSpPr>
          <p:cNvPr id="51205" name="Text Box 5">
            <a:extLst>
              <a:ext uri="{FF2B5EF4-FFF2-40B4-BE49-F238E27FC236}">
                <a16:creationId xmlns:a16="http://schemas.microsoft.com/office/drawing/2014/main" id="{2BA87D5D-0683-44EF-AD52-6F5C478F0E96}"/>
              </a:ext>
            </a:extLst>
          </p:cNvPr>
          <p:cNvSpPr txBox="1">
            <a:spLocks noChangeArrowheads="1"/>
          </p:cNvSpPr>
          <p:nvPr/>
        </p:nvSpPr>
        <p:spPr bwMode="auto">
          <a:xfrm>
            <a:off x="901733" y="4136126"/>
            <a:ext cx="7343775" cy="77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dirty="0"/>
              <a:t>金刚石结构的晶胞与平面示意图</a:t>
            </a:r>
          </a:p>
          <a:p>
            <a:pPr algn="ctr">
              <a:spcBef>
                <a:spcPct val="50000"/>
              </a:spcBef>
            </a:pPr>
            <a:r>
              <a:rPr lang="en-US" altLang="zh-CN" dirty="0"/>
              <a:t>a</a:t>
            </a:r>
            <a:r>
              <a:rPr lang="zh-CN" altLang="en-US" dirty="0"/>
              <a:t>）金刚石型结构的晶胞 </a:t>
            </a:r>
            <a:r>
              <a:rPr lang="en-US" altLang="zh-CN" dirty="0"/>
              <a:t>b</a:t>
            </a:r>
            <a:r>
              <a:rPr lang="zh-CN" altLang="en-US" dirty="0"/>
              <a:t>）硅晶体的平面结构示意图</a:t>
            </a:r>
          </a:p>
        </p:txBody>
      </p:sp>
      <p:sp>
        <p:nvSpPr>
          <p:cNvPr id="2" name="矩形 1">
            <a:extLst>
              <a:ext uri="{FF2B5EF4-FFF2-40B4-BE49-F238E27FC236}">
                <a16:creationId xmlns:a16="http://schemas.microsoft.com/office/drawing/2014/main" id="{2C196435-5F74-4472-9CFF-8E87E5EEE870}"/>
              </a:ext>
            </a:extLst>
          </p:cNvPr>
          <p:cNvSpPr/>
          <p:nvPr/>
        </p:nvSpPr>
        <p:spPr>
          <a:xfrm>
            <a:off x="988243" y="5162085"/>
            <a:ext cx="7524749" cy="369332"/>
          </a:xfrm>
          <a:prstGeom prst="rect">
            <a:avLst/>
          </a:prstGeom>
        </p:spPr>
        <p:txBody>
          <a:bodyPr wrap="square">
            <a:spAutoFit/>
          </a:bodyPr>
          <a:lstStyle/>
          <a:p>
            <a:r>
              <a:rPr lang="zh-CN" altLang="en-US" dirty="0"/>
              <a:t>金刚石结构</a:t>
            </a:r>
            <a:r>
              <a:rPr lang="en-US" altLang="zh-CN" dirty="0"/>
              <a:t>:</a:t>
            </a:r>
            <a:r>
              <a:rPr lang="zh-CN" altLang="en-US" dirty="0"/>
              <a:t>同种原子构成的两个面心立方沿体对角线相对位移套构而成。  </a:t>
            </a:r>
          </a:p>
        </p:txBody>
      </p:sp>
      <p:pic>
        <p:nvPicPr>
          <p:cNvPr id="6" name="图片 5">
            <a:extLst>
              <a:ext uri="{FF2B5EF4-FFF2-40B4-BE49-F238E27FC236}">
                <a16:creationId xmlns:a16="http://schemas.microsoft.com/office/drawing/2014/main" id="{AB86C2C1-C1D7-4A4D-A313-DBEB3AF26840}"/>
              </a:ext>
            </a:extLst>
          </p:cNvPr>
          <p:cNvPicPr>
            <a:picLocks noChangeAspect="1"/>
          </p:cNvPicPr>
          <p:nvPr/>
        </p:nvPicPr>
        <p:blipFill>
          <a:blip r:embed="rId3"/>
          <a:stretch>
            <a:fillRect/>
          </a:stretch>
        </p:blipFill>
        <p:spPr>
          <a:xfrm>
            <a:off x="539552" y="1556792"/>
            <a:ext cx="5580795" cy="22267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3F90EDC-EA12-455D-B1BB-5A26D89092E1}"/>
              </a:ext>
            </a:extLst>
          </p:cNvPr>
          <p:cNvSpPr txBox="1">
            <a:spLocks noRot="1" noChangeArrowheads="1"/>
          </p:cNvSpPr>
          <p:nvPr/>
        </p:nvSpPr>
        <p:spPr bwMode="auto">
          <a:xfrm>
            <a:off x="467544" y="1700808"/>
            <a:ext cx="4194175"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ym typeface="Times New Roman" panose="02020603050405020304" pitchFamily="18" charset="0"/>
              </a:rPr>
              <a:t>硅、锗：共价半导体（</a:t>
            </a:r>
            <a:r>
              <a:rPr lang="en-US" altLang="zh-CN" sz="2000" dirty="0">
                <a:sym typeface="Times New Roman" panose="02020603050405020304" pitchFamily="18" charset="0"/>
              </a:rPr>
              <a:t>IV</a:t>
            </a:r>
            <a:r>
              <a:rPr lang="zh-CN" altLang="en-US" sz="2000" dirty="0">
                <a:sym typeface="Times New Roman" panose="02020603050405020304" pitchFamily="18" charset="0"/>
              </a:rPr>
              <a:t>族元素）</a:t>
            </a:r>
          </a:p>
          <a:p>
            <a:r>
              <a:rPr lang="zh-CN" altLang="en-US" sz="2000" dirty="0">
                <a:sym typeface="Times New Roman" panose="02020603050405020304" pitchFamily="18" charset="0"/>
              </a:rPr>
              <a:t>硅、锗晶体结构：金刚石结构</a:t>
            </a:r>
            <a:endParaRPr lang="en-US" altLang="zh-CN" sz="2000" dirty="0">
              <a:sym typeface="Times New Roman" panose="02020603050405020304" pitchFamily="18" charset="0"/>
            </a:endParaRPr>
          </a:p>
          <a:p>
            <a:pPr>
              <a:buNone/>
            </a:pPr>
            <a:r>
              <a:rPr lang="zh-CN" altLang="en-US" sz="2000" dirty="0">
                <a:sym typeface="Times New Roman" panose="02020603050405020304" pitchFamily="18" charset="0"/>
              </a:rPr>
              <a:t>金刚石结构</a:t>
            </a:r>
          </a:p>
          <a:p>
            <a:pPr eaLnBrk="1" hangingPunct="1"/>
            <a:r>
              <a:rPr lang="zh-CN" altLang="en-US" sz="2000" dirty="0">
                <a:sym typeface="Times New Roman" panose="02020603050405020304" pitchFamily="18" charset="0"/>
              </a:rPr>
              <a:t>每个原子周围有四个最邻近的原子，这四个原子处于正四面体的顶角上，任一顶角上的原子和中心原子各贡献一个价电子为该两个原子所共有，并形成稳定的</a:t>
            </a:r>
            <a:r>
              <a:rPr lang="zh-CN" altLang="en-US" sz="2000" dirty="0">
                <a:solidFill>
                  <a:srgbClr val="FF0000"/>
                </a:solidFill>
                <a:sym typeface="Times New Roman" panose="02020603050405020304" pitchFamily="18" charset="0"/>
              </a:rPr>
              <a:t>共价键结构</a:t>
            </a:r>
            <a:r>
              <a:rPr lang="zh-CN" altLang="en-US" sz="2000" dirty="0">
                <a:sym typeface="Times New Roman" panose="02020603050405020304" pitchFamily="18" charset="0"/>
              </a:rPr>
              <a:t>。</a:t>
            </a:r>
          </a:p>
          <a:p>
            <a:pPr eaLnBrk="1" hangingPunct="1"/>
            <a:r>
              <a:rPr lang="zh-CN" altLang="en-US" sz="2000" dirty="0">
                <a:sym typeface="Times New Roman" panose="02020603050405020304" pitchFamily="18" charset="0"/>
              </a:rPr>
              <a:t>共价键夹角：</a:t>
            </a:r>
            <a:r>
              <a:rPr lang="en-US" altLang="zh-CN" sz="2000" dirty="0">
                <a:sym typeface="Times New Roman" panose="02020603050405020304" pitchFamily="18" charset="0"/>
              </a:rPr>
              <a:t>109˚28’</a:t>
            </a:r>
            <a:endParaRPr lang="zh-CN" altLang="en-US" sz="2000" dirty="0">
              <a:sym typeface="Times New Roman" panose="02020603050405020304" pitchFamily="18" charset="0"/>
            </a:endParaRPr>
          </a:p>
        </p:txBody>
      </p:sp>
      <p:pic>
        <p:nvPicPr>
          <p:cNvPr id="5" name="Picture 4">
            <a:extLst>
              <a:ext uri="{FF2B5EF4-FFF2-40B4-BE49-F238E27FC236}">
                <a16:creationId xmlns:a16="http://schemas.microsoft.com/office/drawing/2014/main" id="{DD000C9A-9561-44D5-A36C-EDBE3CDC6F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427794" y="836712"/>
            <a:ext cx="3409950" cy="2376488"/>
          </a:xfrm>
          <a:prstGeom prst="rect">
            <a:avLst/>
          </a:prstGeo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6">
            <a:extLst>
              <a:ext uri="{FF2B5EF4-FFF2-40B4-BE49-F238E27FC236}">
                <a16:creationId xmlns:a16="http://schemas.microsoft.com/office/drawing/2014/main" id="{6A77BA35-11F0-49AC-8302-A78E0EE187DE}"/>
              </a:ext>
            </a:extLst>
          </p:cNvPr>
          <p:cNvSpPr txBox="1">
            <a:spLocks noChangeArrowheads="1"/>
          </p:cNvSpPr>
          <p:nvPr/>
        </p:nvSpPr>
        <p:spPr bwMode="gray">
          <a:xfrm>
            <a:off x="5796136" y="3601093"/>
            <a:ext cx="2520280" cy="270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00"/>
              </a:buClr>
              <a:buFont typeface="Verdana" panose="020B0604030504040204" pitchFamily="34" charset="0"/>
              <a:buChar char="−"/>
              <a:defRPr sz="2000" b="1">
                <a:solidFill>
                  <a:srgbClr val="000000"/>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2" panose="05020102010507070707" pitchFamily="18" charset="2"/>
              <a:buChar char="¬"/>
              <a:defRPr sz="2200">
                <a:solidFill>
                  <a:srgbClr val="000000"/>
                </a:solidFill>
                <a:latin typeface="Arial" pitchFamily="34" charset="0"/>
                <a:ea typeface="+mn-ea"/>
              </a:defRPr>
            </a:lvl2pPr>
            <a:lvl3pPr marL="1143000" indent="-228600" algn="l" rtl="0" eaLnBrk="0" fontAlgn="base" hangingPunct="0">
              <a:spcBef>
                <a:spcPct val="20000"/>
              </a:spcBef>
              <a:spcAft>
                <a:spcPct val="0"/>
              </a:spcAft>
              <a:buClr>
                <a:schemeClr val="tx1"/>
              </a:buClr>
              <a:buChar char="•"/>
              <a:defRPr sz="20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eaLnBrk="1" fontAlgn="base" hangingPunct="1">
              <a:spcBef>
                <a:spcPct val="20000"/>
              </a:spcBef>
              <a:spcAft>
                <a:spcPct val="0"/>
              </a:spcAft>
              <a:buChar char="»"/>
              <a:defRPr sz="2000" b="1">
                <a:solidFill>
                  <a:srgbClr val="000000"/>
                </a:solidFill>
                <a:latin typeface="+mn-lt"/>
                <a:ea typeface="+mn-ea"/>
              </a:defRPr>
            </a:lvl6pPr>
            <a:lvl7pPr marL="2971800" indent="-228600" algn="l" rtl="0" eaLnBrk="1" fontAlgn="base" hangingPunct="1">
              <a:spcBef>
                <a:spcPct val="20000"/>
              </a:spcBef>
              <a:spcAft>
                <a:spcPct val="0"/>
              </a:spcAft>
              <a:buChar char="»"/>
              <a:defRPr sz="2000" b="1">
                <a:solidFill>
                  <a:srgbClr val="000000"/>
                </a:solidFill>
                <a:latin typeface="+mn-lt"/>
                <a:ea typeface="+mn-ea"/>
              </a:defRPr>
            </a:lvl7pPr>
            <a:lvl8pPr marL="3429000" indent="-228600" algn="l" rtl="0" eaLnBrk="1" fontAlgn="base" hangingPunct="1">
              <a:spcBef>
                <a:spcPct val="20000"/>
              </a:spcBef>
              <a:spcAft>
                <a:spcPct val="0"/>
              </a:spcAft>
              <a:buChar char="»"/>
              <a:defRPr sz="2000" b="1">
                <a:solidFill>
                  <a:srgbClr val="000000"/>
                </a:solidFill>
                <a:latin typeface="+mn-lt"/>
                <a:ea typeface="+mn-ea"/>
              </a:defRPr>
            </a:lvl8pPr>
            <a:lvl9pPr marL="3886200" indent="-228600" algn="l" rtl="0" eaLnBrk="1" fontAlgn="base" hangingPunct="1">
              <a:spcBef>
                <a:spcPct val="20000"/>
              </a:spcBef>
              <a:spcAft>
                <a:spcPct val="0"/>
              </a:spcAft>
              <a:buChar char="»"/>
              <a:defRPr sz="2000" b="1">
                <a:solidFill>
                  <a:srgbClr val="000000"/>
                </a:solidFill>
                <a:latin typeface="+mn-lt"/>
                <a:ea typeface="+mn-ea"/>
              </a:defRPr>
            </a:lvl9pPr>
          </a:lstStyle>
          <a:p>
            <a:pPr marL="342900" marR="0" lvl="0" indent="-342900" algn="l" defTabSz="914400" rtl="0" eaLnBrk="1" fontAlgn="base" latinLnBrk="0" hangingPunct="1">
              <a:lnSpc>
                <a:spcPct val="80000"/>
              </a:lnSpc>
              <a:spcBef>
                <a:spcPct val="20000"/>
              </a:spcBef>
              <a:spcAft>
                <a:spcPct val="0"/>
              </a:spcAft>
              <a:buClr>
                <a:srgbClr val="000000"/>
              </a:buClr>
              <a:buSzTx/>
              <a:buFont typeface="Verdana" panose="020B0604030504040204" pitchFamily="34" charset="0"/>
              <a:buChar char="−"/>
              <a:tabLst/>
              <a:defRPr/>
            </a:pPr>
            <a:r>
              <a:rPr kumimoji="0" lang="zh-CN" altLang="en-US"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晶格常数</a:t>
            </a:r>
          </a:p>
          <a:p>
            <a:pPr marL="342900" marR="0" lvl="0" indent="-342900" algn="l" defTabSz="914400" rtl="0" eaLnBrk="1" fontAlgn="base" latinLnBrk="0" hangingPunct="1">
              <a:lnSpc>
                <a:spcPct val="80000"/>
              </a:lnSpc>
              <a:spcBef>
                <a:spcPct val="20000"/>
              </a:spcBef>
              <a:spcAft>
                <a:spcPct val="0"/>
              </a:spcAft>
              <a:buClr>
                <a:srgbClr val="000000"/>
              </a:buClr>
              <a:buSzTx/>
              <a:buFont typeface="Verdana" panose="020B0604030504040204" pitchFamily="34" charset="0"/>
              <a:buNone/>
              <a:tabLst/>
              <a:defRPr/>
            </a:pPr>
            <a:r>
              <a:rPr kumimoji="0" lang="zh-CN" altLang="en-US"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    硅：</a:t>
            </a:r>
            <a:r>
              <a:rPr kumimoji="0" lang="en-US" altLang="zh-CN"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0.543089 nm</a:t>
            </a:r>
            <a:endParaRPr kumimoji="0" lang="zh-CN" altLang="en-US"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endParaRPr>
          </a:p>
          <a:p>
            <a:pPr marL="342900" marR="0" lvl="0" indent="-342900" algn="l" defTabSz="914400" rtl="0" eaLnBrk="1" fontAlgn="base" latinLnBrk="0" hangingPunct="1">
              <a:lnSpc>
                <a:spcPct val="80000"/>
              </a:lnSpc>
              <a:spcBef>
                <a:spcPct val="20000"/>
              </a:spcBef>
              <a:spcAft>
                <a:spcPct val="0"/>
              </a:spcAft>
              <a:buClr>
                <a:srgbClr val="000000"/>
              </a:buClr>
              <a:buSzTx/>
              <a:buFont typeface="Wingdings" panose="05000000000000000000" pitchFamily="2" charset="2"/>
              <a:buNone/>
              <a:tabLst/>
              <a:defRPr/>
            </a:pPr>
            <a:r>
              <a:rPr kumimoji="0" lang="zh-CN" altLang="en-US"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    锗：</a:t>
            </a:r>
            <a:r>
              <a:rPr kumimoji="0" lang="en-US" altLang="zh-CN"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0.565754 nm</a:t>
            </a:r>
          </a:p>
          <a:p>
            <a:pPr marL="342900" marR="0" lvl="0" indent="-342900" algn="l" defTabSz="914400" rtl="0" eaLnBrk="1" fontAlgn="base" latinLnBrk="0" hangingPunct="1">
              <a:lnSpc>
                <a:spcPct val="80000"/>
              </a:lnSpc>
              <a:spcBef>
                <a:spcPct val="20000"/>
              </a:spcBef>
              <a:spcAft>
                <a:spcPct val="0"/>
              </a:spcAft>
              <a:buClr>
                <a:srgbClr val="000000"/>
              </a:buClr>
              <a:buSzTx/>
              <a:buFont typeface="Verdana" panose="020B0604030504040204" pitchFamily="34" charset="0"/>
              <a:buChar char="−"/>
              <a:tabLst/>
              <a:defRPr/>
            </a:pPr>
            <a:r>
              <a:rPr kumimoji="0" lang="zh-CN" altLang="en-US"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原子密度</a:t>
            </a:r>
          </a:p>
          <a:p>
            <a:pPr marL="342900" marR="0" lvl="0" indent="-342900" algn="l" defTabSz="914400" rtl="0" eaLnBrk="1" fontAlgn="base" latinLnBrk="0" hangingPunct="1">
              <a:lnSpc>
                <a:spcPct val="80000"/>
              </a:lnSpc>
              <a:spcBef>
                <a:spcPct val="20000"/>
              </a:spcBef>
              <a:spcAft>
                <a:spcPct val="0"/>
              </a:spcAft>
              <a:buClr>
                <a:srgbClr val="000000"/>
              </a:buClr>
              <a:buSzTx/>
              <a:buFont typeface="Wingdings" panose="05000000000000000000" pitchFamily="2" charset="2"/>
              <a:buNone/>
              <a:tabLst/>
              <a:defRPr/>
            </a:pPr>
            <a:r>
              <a:rPr kumimoji="0" lang="zh-CN" altLang="en-US"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    硅：</a:t>
            </a:r>
            <a:r>
              <a:rPr kumimoji="0" lang="en-US" altLang="zh-CN"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5.00×10</a:t>
            </a:r>
            <a:r>
              <a:rPr kumimoji="0" lang="en-US" altLang="zh-CN" sz="1800" b="0" i="0" u="none" strike="noStrike" kern="0" cap="none" spc="0" normalizeH="0" baseline="30000" noProof="0" dirty="0">
                <a:ln>
                  <a:noFill/>
                </a:ln>
                <a:solidFill>
                  <a:srgbClr val="000000"/>
                </a:solidFill>
                <a:effectLst/>
                <a:uLnTx/>
                <a:uFillTx/>
                <a:latin typeface="Times New Roman"/>
                <a:ea typeface="宋体"/>
                <a:cs typeface="+mn-cs"/>
                <a:sym typeface="Times New Roman" panose="02020603050405020304" pitchFamily="18" charset="0"/>
              </a:rPr>
              <a:t>22</a:t>
            </a:r>
          </a:p>
          <a:p>
            <a:pPr marL="342900" marR="0" lvl="0" indent="-342900" algn="l" defTabSz="914400" rtl="0" eaLnBrk="1" fontAlgn="base" latinLnBrk="0" hangingPunct="1">
              <a:lnSpc>
                <a:spcPct val="80000"/>
              </a:lnSpc>
              <a:spcBef>
                <a:spcPct val="20000"/>
              </a:spcBef>
              <a:spcAft>
                <a:spcPct val="0"/>
              </a:spcAft>
              <a:buClr>
                <a:srgbClr val="000000"/>
              </a:buClr>
              <a:buSzTx/>
              <a:buFont typeface="Wingdings" panose="05000000000000000000" pitchFamily="2" charset="2"/>
              <a:buNone/>
              <a:tabLst/>
              <a:defRPr/>
            </a:pPr>
            <a:r>
              <a:rPr kumimoji="0" lang="zh-CN" altLang="en-US"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    锗：</a:t>
            </a:r>
            <a:r>
              <a:rPr kumimoji="0" lang="en-US" altLang="zh-CN"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4.42×10</a:t>
            </a:r>
            <a:r>
              <a:rPr kumimoji="0" lang="en-US" altLang="zh-CN" sz="1800" b="0" i="0" u="none" strike="noStrike" kern="0" cap="none" spc="0" normalizeH="0" baseline="30000" noProof="0" dirty="0">
                <a:ln>
                  <a:noFill/>
                </a:ln>
                <a:solidFill>
                  <a:srgbClr val="000000"/>
                </a:solidFill>
                <a:effectLst/>
                <a:uLnTx/>
                <a:uFillTx/>
                <a:latin typeface="Times New Roman"/>
                <a:ea typeface="宋体"/>
                <a:cs typeface="+mn-cs"/>
                <a:sym typeface="Times New Roman" panose="02020603050405020304" pitchFamily="18" charset="0"/>
              </a:rPr>
              <a:t>22</a:t>
            </a:r>
          </a:p>
          <a:p>
            <a:pPr marL="342900" marR="0" lvl="0" indent="-342900" algn="l" defTabSz="914400" rtl="0" eaLnBrk="1" fontAlgn="base" latinLnBrk="0" hangingPunct="1">
              <a:lnSpc>
                <a:spcPct val="80000"/>
              </a:lnSpc>
              <a:spcBef>
                <a:spcPct val="20000"/>
              </a:spcBef>
              <a:spcAft>
                <a:spcPct val="0"/>
              </a:spcAft>
              <a:buClr>
                <a:srgbClr val="000000"/>
              </a:buClr>
              <a:buSzTx/>
              <a:buFont typeface="Verdana" panose="020B0604030504040204" pitchFamily="34" charset="0"/>
              <a:buChar char="−"/>
              <a:tabLst/>
              <a:defRPr/>
            </a:pPr>
            <a:r>
              <a:rPr kumimoji="0" lang="zh-CN" altLang="en-US"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共价半径</a:t>
            </a:r>
          </a:p>
          <a:p>
            <a:pPr marL="342900" marR="0" lvl="0" indent="-342900" algn="l" defTabSz="914400" rtl="0" eaLnBrk="1" fontAlgn="base" latinLnBrk="0" hangingPunct="1">
              <a:lnSpc>
                <a:spcPct val="80000"/>
              </a:lnSpc>
              <a:spcBef>
                <a:spcPct val="20000"/>
              </a:spcBef>
              <a:spcAft>
                <a:spcPct val="0"/>
              </a:spcAft>
              <a:buClr>
                <a:srgbClr val="000000"/>
              </a:buClr>
              <a:buSzTx/>
              <a:buFont typeface="Wingdings" panose="05000000000000000000" pitchFamily="2" charset="2"/>
              <a:buNone/>
              <a:tabLst/>
              <a:defRPr/>
            </a:pPr>
            <a:r>
              <a:rPr kumimoji="0" lang="zh-CN" altLang="en-US"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    硅：</a:t>
            </a:r>
            <a:r>
              <a:rPr kumimoji="0" lang="en-US" altLang="zh-CN"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0.117nm</a:t>
            </a:r>
          </a:p>
          <a:p>
            <a:pPr marL="342900" marR="0" lvl="0" indent="-342900" algn="l" defTabSz="914400" rtl="0" eaLnBrk="1" fontAlgn="base" latinLnBrk="0" hangingPunct="1">
              <a:lnSpc>
                <a:spcPct val="80000"/>
              </a:lnSpc>
              <a:spcBef>
                <a:spcPct val="20000"/>
              </a:spcBef>
              <a:spcAft>
                <a:spcPct val="0"/>
              </a:spcAft>
              <a:buClr>
                <a:srgbClr val="000000"/>
              </a:buClr>
              <a:buSzTx/>
              <a:buFont typeface="Wingdings" panose="05000000000000000000" pitchFamily="2" charset="2"/>
              <a:buNone/>
              <a:tabLst/>
              <a:defRPr/>
            </a:pPr>
            <a:r>
              <a:rPr kumimoji="0" lang="zh-CN" altLang="en-US"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    锗：</a:t>
            </a:r>
            <a:r>
              <a:rPr kumimoji="0" lang="en-US" altLang="zh-CN" sz="18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rPr>
              <a:t>0.122nm</a:t>
            </a:r>
          </a:p>
          <a:p>
            <a:pPr marL="342900" marR="0" lvl="0" indent="-342900" algn="l" defTabSz="914400" rtl="0" eaLnBrk="1" fontAlgn="base" latinLnBrk="0" hangingPunct="1">
              <a:lnSpc>
                <a:spcPct val="80000"/>
              </a:lnSpc>
              <a:spcBef>
                <a:spcPct val="20000"/>
              </a:spcBef>
              <a:spcAft>
                <a:spcPct val="0"/>
              </a:spcAft>
              <a:buClr>
                <a:srgbClr val="000000"/>
              </a:buClr>
              <a:buSzTx/>
              <a:buFont typeface="Verdana" panose="020B0604030504040204" pitchFamily="34" charset="0"/>
              <a:buChar char="−"/>
              <a:tabLst/>
              <a:defRPr/>
            </a:pPr>
            <a:endParaRPr kumimoji="0" lang="zh-CN" altLang="en-US" sz="1600" b="0" i="0" u="none" strike="noStrike" kern="0" cap="none" spc="0" normalizeH="0" baseline="0" noProof="0" dirty="0">
              <a:ln>
                <a:noFill/>
              </a:ln>
              <a:solidFill>
                <a:srgbClr val="000000"/>
              </a:solidFill>
              <a:effectLst/>
              <a:uLnTx/>
              <a:uFillTx/>
              <a:latin typeface="Times New Roman"/>
              <a:ea typeface="宋体"/>
              <a:cs typeface="+mn-cs"/>
              <a:sym typeface="Times New Roman" panose="02020603050405020304" pitchFamily="18" charset="0"/>
            </a:endParaRPr>
          </a:p>
        </p:txBody>
      </p:sp>
    </p:spTree>
    <p:extLst>
      <p:ext uri="{BB962C8B-B14F-4D97-AF65-F5344CB8AC3E}">
        <p14:creationId xmlns:p14="http://schemas.microsoft.com/office/powerpoint/2010/main" val="350252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16E5A72-5D85-463A-B956-5A90BBE0FBC8}"/>
              </a:ext>
            </a:extLst>
          </p:cNvPr>
          <p:cNvSpPr>
            <a:spLocks noGrp="1" noChangeArrowheads="1"/>
          </p:cNvSpPr>
          <p:nvPr>
            <p:ph type="title"/>
          </p:nvPr>
        </p:nvSpPr>
        <p:spPr>
          <a:xfrm>
            <a:off x="2310135" y="116632"/>
            <a:ext cx="4663430" cy="1325563"/>
          </a:xfrm>
        </p:spPr>
        <p:txBody>
          <a:bodyPr/>
          <a:lstStyle/>
          <a:p>
            <a:r>
              <a:rPr lang="en-US" altLang="zh-CN" sz="3200" dirty="0"/>
              <a:t>1.1.4</a:t>
            </a:r>
            <a:r>
              <a:rPr lang="zh-CN" altLang="en-US" sz="3200" dirty="0"/>
              <a:t>晶面及其表示方法</a:t>
            </a:r>
          </a:p>
        </p:txBody>
      </p:sp>
      <p:sp>
        <p:nvSpPr>
          <p:cNvPr id="48131" name="Rectangle 3">
            <a:extLst>
              <a:ext uri="{FF2B5EF4-FFF2-40B4-BE49-F238E27FC236}">
                <a16:creationId xmlns:a16="http://schemas.microsoft.com/office/drawing/2014/main" id="{E222B3B7-7E33-4777-AA57-1E01675CC714}"/>
              </a:ext>
            </a:extLst>
          </p:cNvPr>
          <p:cNvSpPr>
            <a:spLocks noGrp="1" noChangeArrowheads="1"/>
          </p:cNvSpPr>
          <p:nvPr>
            <p:ph idx="1"/>
          </p:nvPr>
        </p:nvSpPr>
        <p:spPr>
          <a:xfrm>
            <a:off x="877608" y="1556792"/>
            <a:ext cx="7772400" cy="4114800"/>
          </a:xfrm>
        </p:spPr>
        <p:txBody>
          <a:bodyPr/>
          <a:lstStyle/>
          <a:p>
            <a:pPr>
              <a:buFont typeface="Wingdings" panose="05000000000000000000" pitchFamily="2" charset="2"/>
              <a:buNone/>
            </a:pPr>
            <a:r>
              <a:rPr lang="zh-CN" altLang="en-US" sz="2400" dirty="0"/>
              <a:t>密勒指数：密勒指数是界定晶体中不同平面的简单办法，它可以由以下步骤确定：</a:t>
            </a:r>
          </a:p>
          <a:p>
            <a:pPr>
              <a:buFont typeface="Wingdings" panose="05000000000000000000" pitchFamily="2" charset="2"/>
              <a:buNone/>
            </a:pPr>
            <a:r>
              <a:rPr lang="en-US" altLang="zh-CN" sz="2400" dirty="0"/>
              <a:t>1.</a:t>
            </a:r>
            <a:r>
              <a:rPr lang="zh-CN" altLang="en-US" sz="2400" dirty="0"/>
              <a:t>找出晶面在</a:t>
            </a:r>
            <a:r>
              <a:rPr lang="en-US" altLang="zh-CN" sz="2400" dirty="0"/>
              <a:t>3</a:t>
            </a:r>
            <a:r>
              <a:rPr lang="zh-CN" altLang="en-US" sz="2400" dirty="0"/>
              <a:t>个直角坐标轴的截距值（以晶格常数为计量单位）；</a:t>
            </a:r>
          </a:p>
          <a:p>
            <a:pPr>
              <a:buFont typeface="Wingdings" panose="05000000000000000000" pitchFamily="2" charset="2"/>
              <a:buNone/>
            </a:pPr>
            <a:r>
              <a:rPr lang="en-US" altLang="zh-CN" sz="2400" dirty="0"/>
              <a:t>2.</a:t>
            </a:r>
            <a:r>
              <a:rPr lang="zh-CN" altLang="en-US" sz="2400" dirty="0"/>
              <a:t>取这</a:t>
            </a:r>
            <a:r>
              <a:rPr lang="en-US" altLang="zh-CN" sz="2400" dirty="0"/>
              <a:t>3</a:t>
            </a:r>
            <a:r>
              <a:rPr lang="zh-CN" altLang="en-US" sz="2400" dirty="0"/>
              <a:t>个截距值的倒数，将其换算成最小的整数比；</a:t>
            </a:r>
          </a:p>
          <a:p>
            <a:pPr>
              <a:buFont typeface="Wingdings" panose="05000000000000000000" pitchFamily="2" charset="2"/>
              <a:buNone/>
            </a:pPr>
            <a:r>
              <a:rPr lang="en-US" altLang="zh-CN" sz="2400" dirty="0"/>
              <a:t>3.</a:t>
            </a:r>
            <a:r>
              <a:rPr lang="zh-CN" altLang="en-US" sz="2400" dirty="0"/>
              <a:t>把结果用圆括号括起来（</a:t>
            </a:r>
            <a:r>
              <a:rPr lang="en-US" altLang="zh-CN" sz="2400" dirty="0" err="1"/>
              <a:t>hkl</a:t>
            </a:r>
            <a:r>
              <a:rPr lang="zh-CN" altLang="en-US" sz="2400" dirty="0"/>
              <a:t>），</a:t>
            </a:r>
          </a:p>
          <a:p>
            <a:pPr>
              <a:buFont typeface="Wingdings" panose="05000000000000000000" pitchFamily="2" charset="2"/>
              <a:buNone/>
            </a:pPr>
            <a:r>
              <a:rPr lang="zh-CN" altLang="en-US" sz="2400" dirty="0"/>
              <a:t>即为该晶面的密勒指数。</a:t>
            </a:r>
          </a:p>
        </p:txBody>
      </p:sp>
      <p:pic>
        <p:nvPicPr>
          <p:cNvPr id="48132" name="Picture 4" descr="0107">
            <a:extLst>
              <a:ext uri="{FF2B5EF4-FFF2-40B4-BE49-F238E27FC236}">
                <a16:creationId xmlns:a16="http://schemas.microsoft.com/office/drawing/2014/main" id="{86A03409-06FB-49A7-89E9-EB6A3D5374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096" y="4365104"/>
            <a:ext cx="2303463" cy="21129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1CFBE54B-EE7F-4B77-8EAE-9FC8968ECE4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1617889"/>
            <a:ext cx="4248472" cy="2406162"/>
          </a:xfrm>
          <a:prstGeom prst="rect">
            <a:avLst/>
          </a:prstGeom>
          <a:noFill/>
          <a:ln>
            <a:noFill/>
          </a:ln>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12700">
                <a:solidFill>
                  <a:srgbClr val="F8F8F8"/>
                </a:solidFill>
                <a:miter lim="800000"/>
                <a:headEnd/>
                <a:tailEnd/>
              </a14:hiddenLine>
            </a:ext>
          </a:extLst>
        </p:spPr>
      </p:pic>
      <p:sp>
        <p:nvSpPr>
          <p:cNvPr id="5" name="Rectangle 3">
            <a:extLst>
              <a:ext uri="{FF2B5EF4-FFF2-40B4-BE49-F238E27FC236}">
                <a16:creationId xmlns:a16="http://schemas.microsoft.com/office/drawing/2014/main" id="{97282366-D76D-45C3-AD09-D927438C3D80}"/>
              </a:ext>
            </a:extLst>
          </p:cNvPr>
          <p:cNvSpPr>
            <a:spLocks noChangeArrowheads="1"/>
          </p:cNvSpPr>
          <p:nvPr/>
        </p:nvSpPr>
        <p:spPr bwMode="auto">
          <a:xfrm>
            <a:off x="3779912" y="1196752"/>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r>
              <a:rPr kumimoji="1" lang="zh-CN" altLang="en-US">
                <a:solidFill>
                  <a:schemeClr val="tx1"/>
                </a:solidFill>
                <a:ea typeface="ˎ̥"/>
                <a:cs typeface="ˎ̥"/>
                <a:sym typeface="Times New Roman" panose="02020603050405020304" pitchFamily="18" charset="0"/>
              </a:rPr>
              <a:t>纤维锌矿结构</a:t>
            </a:r>
          </a:p>
        </p:txBody>
      </p:sp>
      <p:sp>
        <p:nvSpPr>
          <p:cNvPr id="6" name="矩形 1">
            <a:extLst>
              <a:ext uri="{FF2B5EF4-FFF2-40B4-BE49-F238E27FC236}">
                <a16:creationId xmlns:a16="http://schemas.microsoft.com/office/drawing/2014/main" id="{C497B2FB-1852-43D2-9286-A41FF9D623F1}"/>
              </a:ext>
            </a:extLst>
          </p:cNvPr>
          <p:cNvSpPr>
            <a:spLocks noChangeArrowheads="1"/>
          </p:cNvSpPr>
          <p:nvPr/>
        </p:nvSpPr>
        <p:spPr bwMode="auto">
          <a:xfrm>
            <a:off x="2690229" y="4354193"/>
            <a:ext cx="49328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dirty="0">
                <a:solidFill>
                  <a:schemeClr val="tx1"/>
                </a:solidFill>
                <a:sym typeface="Times New Roman" panose="02020603050405020304" pitchFamily="18" charset="0"/>
              </a:rPr>
              <a:t>硫化锌、硒化锌、硫化镉、硒化镉等材料</a:t>
            </a:r>
          </a:p>
        </p:txBody>
      </p:sp>
    </p:spTree>
    <p:extLst>
      <p:ext uri="{BB962C8B-B14F-4D97-AF65-F5344CB8AC3E}">
        <p14:creationId xmlns:p14="http://schemas.microsoft.com/office/powerpoint/2010/main" val="3321343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79A1389-E197-400B-9082-62AA67130948}"/>
              </a:ext>
            </a:extLst>
          </p:cNvPr>
          <p:cNvSpPr>
            <a:spLocks noGrp="1" noChangeArrowheads="1"/>
          </p:cNvSpPr>
          <p:nvPr>
            <p:ph type="title"/>
          </p:nvPr>
        </p:nvSpPr>
        <p:spPr>
          <a:xfrm>
            <a:off x="2168277" y="260648"/>
            <a:ext cx="4807446" cy="1325563"/>
          </a:xfrm>
        </p:spPr>
        <p:txBody>
          <a:bodyPr/>
          <a:lstStyle/>
          <a:p>
            <a:r>
              <a:rPr lang="en-US" altLang="zh-CN" sz="3200" dirty="0"/>
              <a:t>1.1.5 </a:t>
            </a:r>
            <a:r>
              <a:rPr lang="zh-CN" altLang="en-US" sz="3200" dirty="0"/>
              <a:t>半导体材料简介</a:t>
            </a:r>
          </a:p>
        </p:txBody>
      </p:sp>
      <p:sp>
        <p:nvSpPr>
          <p:cNvPr id="49155" name="Rectangle 3">
            <a:extLst>
              <a:ext uri="{FF2B5EF4-FFF2-40B4-BE49-F238E27FC236}">
                <a16:creationId xmlns:a16="http://schemas.microsoft.com/office/drawing/2014/main" id="{1E8ED336-CAAD-429F-A25C-8E9DEFBEECC1}"/>
              </a:ext>
            </a:extLst>
          </p:cNvPr>
          <p:cNvSpPr>
            <a:spLocks noGrp="1" noChangeArrowheads="1"/>
          </p:cNvSpPr>
          <p:nvPr>
            <p:ph idx="1"/>
          </p:nvPr>
        </p:nvSpPr>
        <p:spPr>
          <a:xfrm>
            <a:off x="685800" y="1690689"/>
            <a:ext cx="7772400" cy="3096344"/>
          </a:xfrm>
        </p:spPr>
        <p:txBody>
          <a:bodyPr/>
          <a:lstStyle/>
          <a:p>
            <a:r>
              <a:rPr lang="zh-CN" altLang="en-US" sz="2400" dirty="0"/>
              <a:t>材料永远起着决定一代社会科技水平的关键作用</a:t>
            </a:r>
          </a:p>
          <a:p>
            <a:r>
              <a:rPr lang="zh-CN" altLang="en-US" sz="2400" dirty="0">
                <a:latin typeface="宋体" panose="02010600030101010101" pitchFamily="2" charset="-122"/>
              </a:rPr>
              <a:t>锗是最早实现提纯和完美晶体生长的半导体材料</a:t>
            </a:r>
            <a:r>
              <a:rPr lang="zh-CN" altLang="en-US" sz="2400" dirty="0"/>
              <a:t> </a:t>
            </a:r>
          </a:p>
          <a:p>
            <a:r>
              <a:rPr lang="zh-CN" altLang="en-US" sz="2400" dirty="0">
                <a:latin typeface="宋体" panose="02010600030101010101" pitchFamily="2" charset="-122"/>
              </a:rPr>
              <a:t>硅是最典型、用量最广泛而数量最多的半导体材料</a:t>
            </a:r>
            <a:r>
              <a:rPr lang="zh-CN" altLang="en-US" sz="2400" dirty="0"/>
              <a:t> </a:t>
            </a:r>
          </a:p>
          <a:p>
            <a:r>
              <a:rPr lang="zh-CN" altLang="en-US" sz="2400" dirty="0">
                <a:latin typeface="宋体" panose="02010600030101010101" pitchFamily="2" charset="-122"/>
              </a:rPr>
              <a:t>近年来一些化合物半导体材料已被应用于各种器件的制作中</a:t>
            </a:r>
            <a:r>
              <a:rPr lang="zh-CN" altLang="en-US" sz="2400" dirty="0"/>
              <a:t> </a:t>
            </a:r>
          </a:p>
          <a:p>
            <a:r>
              <a:rPr lang="zh-CN" altLang="en-US" sz="2400" dirty="0">
                <a:latin typeface="宋体" panose="02010600030101010101" pitchFamily="2" charset="-122"/>
              </a:rPr>
              <a:t>半导体已经发展成为种类繁多的大科门类材料</a:t>
            </a:r>
            <a:r>
              <a:rPr lang="zh-CN" altLang="en-US" sz="2400" dirty="0"/>
              <a:t> </a:t>
            </a:r>
            <a:r>
              <a:rPr lang="zh-CN" altLang="en-US"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3FE1EA7-7151-4234-8F5B-80FB2FF8D2B0}"/>
              </a:ext>
            </a:extLst>
          </p:cNvPr>
          <p:cNvSpPr>
            <a:spLocks noGrp="1" noChangeArrowheads="1"/>
          </p:cNvSpPr>
          <p:nvPr>
            <p:ph type="ctrTitle"/>
          </p:nvPr>
        </p:nvSpPr>
        <p:spPr>
          <a:xfrm>
            <a:off x="1115616" y="260648"/>
            <a:ext cx="7270576" cy="2387600"/>
          </a:xfrm>
        </p:spPr>
        <p:txBody>
          <a:bodyPr/>
          <a:lstStyle/>
          <a:p>
            <a:r>
              <a:rPr lang="zh-CN" altLang="en-US" dirty="0"/>
              <a:t>第</a:t>
            </a:r>
            <a:r>
              <a:rPr lang="en-US" altLang="zh-CN" dirty="0"/>
              <a:t>1</a:t>
            </a:r>
            <a:r>
              <a:rPr lang="zh-CN" altLang="en-US" dirty="0"/>
              <a:t>章 半导体材料的基本性质 </a:t>
            </a:r>
          </a:p>
        </p:txBody>
      </p:sp>
      <p:sp>
        <p:nvSpPr>
          <p:cNvPr id="2" name="矩形 1">
            <a:extLst>
              <a:ext uri="{FF2B5EF4-FFF2-40B4-BE49-F238E27FC236}">
                <a16:creationId xmlns:a16="http://schemas.microsoft.com/office/drawing/2014/main" id="{E41BFF86-07D0-409D-9E8F-7FDB5B3C7BD0}"/>
              </a:ext>
            </a:extLst>
          </p:cNvPr>
          <p:cNvSpPr/>
          <p:nvPr/>
        </p:nvSpPr>
        <p:spPr>
          <a:xfrm>
            <a:off x="1337149" y="3068960"/>
            <a:ext cx="6827510" cy="3108543"/>
          </a:xfrm>
          <a:prstGeom prst="rect">
            <a:avLst/>
          </a:prstGeom>
        </p:spPr>
        <p:txBody>
          <a:bodyPr wrap="none">
            <a:spAutoFit/>
          </a:bodyPr>
          <a:lstStyle/>
          <a:p>
            <a:r>
              <a:rPr lang="en-US" altLang="zh-CN" sz="2800" dirty="0"/>
              <a:t>1.1 </a:t>
            </a:r>
            <a:r>
              <a:rPr lang="zh-CN" altLang="en-US" sz="2800" dirty="0"/>
              <a:t>半导体与基本晶体结构</a:t>
            </a:r>
            <a:endParaRPr lang="en-US" altLang="zh-CN" sz="2800" dirty="0"/>
          </a:p>
          <a:p>
            <a:r>
              <a:rPr lang="en-US" altLang="zh-CN" sz="2800" dirty="0">
                <a:highlight>
                  <a:srgbClr val="FFFF00"/>
                </a:highlight>
              </a:rPr>
              <a:t>1.2</a:t>
            </a:r>
            <a:r>
              <a:rPr lang="zh-CN" altLang="en-US" sz="2800" dirty="0">
                <a:highlight>
                  <a:srgbClr val="FFFF00"/>
                </a:highlight>
              </a:rPr>
              <a:t>半导体的能带</a:t>
            </a:r>
            <a:endParaRPr lang="en-US" altLang="zh-CN" sz="2800" dirty="0">
              <a:highlight>
                <a:srgbClr val="FFFF00"/>
              </a:highlight>
            </a:endParaRPr>
          </a:p>
          <a:p>
            <a:r>
              <a:rPr lang="en-US" altLang="zh-CN" sz="2800" dirty="0"/>
              <a:t>1.3 </a:t>
            </a:r>
            <a:r>
              <a:rPr lang="zh-CN" altLang="en-US" sz="2800" dirty="0"/>
              <a:t>本征半导体与本征载流子浓度</a:t>
            </a:r>
            <a:endParaRPr lang="en-US" altLang="zh-CN" sz="2800" dirty="0"/>
          </a:p>
          <a:p>
            <a:r>
              <a:rPr lang="en-US" altLang="zh-CN" sz="2800" dirty="0"/>
              <a:t>1.4 </a:t>
            </a:r>
            <a:r>
              <a:rPr lang="zh-CN" altLang="en-US" sz="2800" dirty="0"/>
              <a:t>杂质半导体与杂质半导体的载流子浓度</a:t>
            </a:r>
            <a:endParaRPr lang="en-US" altLang="zh-CN" sz="2800" dirty="0"/>
          </a:p>
          <a:p>
            <a:r>
              <a:rPr lang="en-US" altLang="zh-CN" sz="2800" dirty="0"/>
              <a:t>1.5 </a:t>
            </a:r>
            <a:r>
              <a:rPr lang="zh-CN" altLang="en-US" sz="2800" dirty="0"/>
              <a:t>非平衡流子</a:t>
            </a:r>
            <a:endParaRPr lang="en-US" altLang="zh-CN" sz="2800" dirty="0"/>
          </a:p>
          <a:p>
            <a:r>
              <a:rPr lang="en-US" altLang="zh-CN" sz="2800" dirty="0"/>
              <a:t>1.6 </a:t>
            </a:r>
            <a:r>
              <a:rPr lang="zh-CN" altLang="en-US" sz="2800" dirty="0"/>
              <a:t>载流子的漂移运动</a:t>
            </a:r>
            <a:endParaRPr lang="en-US" altLang="zh-CN" sz="2800" dirty="0"/>
          </a:p>
          <a:p>
            <a:r>
              <a:rPr lang="en-US" altLang="zh-CN" sz="2800" dirty="0"/>
              <a:t>1.7 </a:t>
            </a:r>
            <a:r>
              <a:rPr lang="zh-CN" altLang="en-US" sz="2800" dirty="0"/>
              <a:t>载流子的扩散运动</a:t>
            </a:r>
          </a:p>
        </p:txBody>
      </p:sp>
    </p:spTree>
    <p:extLst>
      <p:ext uri="{BB962C8B-B14F-4D97-AF65-F5344CB8AC3E}">
        <p14:creationId xmlns:p14="http://schemas.microsoft.com/office/powerpoint/2010/main" val="187000490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01130FB-AE5D-470A-8D80-8ED46C1A2D47}"/>
              </a:ext>
            </a:extLst>
          </p:cNvPr>
          <p:cNvSpPr>
            <a:spLocks noGrp="1" noChangeArrowheads="1"/>
          </p:cNvSpPr>
          <p:nvPr>
            <p:ph type="title"/>
          </p:nvPr>
        </p:nvSpPr>
        <p:spPr>
          <a:xfrm>
            <a:off x="1888281" y="286429"/>
            <a:ext cx="5204897" cy="1462087"/>
          </a:xfrm>
        </p:spPr>
        <p:txBody>
          <a:bodyPr/>
          <a:lstStyle/>
          <a:p>
            <a:r>
              <a:rPr lang="en-US" altLang="zh-CN" dirty="0"/>
              <a:t>1.2</a:t>
            </a:r>
            <a:r>
              <a:rPr lang="zh-CN" altLang="en-US" dirty="0"/>
              <a:t>半导体的能带</a:t>
            </a:r>
            <a:br>
              <a:rPr lang="zh-CN" altLang="en-US" dirty="0"/>
            </a:br>
            <a:r>
              <a:rPr lang="en-US" altLang="zh-CN" sz="3200" dirty="0"/>
              <a:t>1.2.1 </a:t>
            </a:r>
            <a:r>
              <a:rPr lang="zh-CN" altLang="en-US" sz="3200" dirty="0"/>
              <a:t>孤立原子中电子能级</a:t>
            </a:r>
          </a:p>
        </p:txBody>
      </p:sp>
      <p:sp>
        <p:nvSpPr>
          <p:cNvPr id="50179" name="Rectangle 3">
            <a:extLst>
              <a:ext uri="{FF2B5EF4-FFF2-40B4-BE49-F238E27FC236}">
                <a16:creationId xmlns:a16="http://schemas.microsoft.com/office/drawing/2014/main" id="{398498F7-6373-44CC-AAE9-5667278F2DFC}"/>
              </a:ext>
            </a:extLst>
          </p:cNvPr>
          <p:cNvSpPr>
            <a:spLocks noGrp="1" noChangeArrowheads="1"/>
          </p:cNvSpPr>
          <p:nvPr>
            <p:ph type="body" sz="half" idx="1"/>
          </p:nvPr>
        </p:nvSpPr>
        <p:spPr>
          <a:xfrm>
            <a:off x="900865" y="1883394"/>
            <a:ext cx="4397375" cy="474662"/>
          </a:xfrm>
        </p:spPr>
        <p:txBody>
          <a:bodyPr/>
          <a:lstStyle/>
          <a:p>
            <a:pPr>
              <a:buFont typeface="Wingdings" panose="05000000000000000000" pitchFamily="2" charset="2"/>
              <a:buNone/>
            </a:pPr>
            <a:r>
              <a:rPr lang="zh-CN" altLang="en-US" sz="2000" dirty="0"/>
              <a:t>孤立氢原子中电子能量公式：</a:t>
            </a:r>
          </a:p>
          <a:p>
            <a:pPr>
              <a:buFont typeface="Wingdings" panose="05000000000000000000" pitchFamily="2" charset="2"/>
              <a:buNone/>
            </a:pPr>
            <a:endParaRPr lang="en-US" altLang="zh-CN" sz="2000" dirty="0"/>
          </a:p>
        </p:txBody>
      </p:sp>
      <p:pic>
        <p:nvPicPr>
          <p:cNvPr id="50184" name="Picture 8" descr="未命名">
            <a:extLst>
              <a:ext uri="{FF2B5EF4-FFF2-40B4-BE49-F238E27FC236}">
                <a16:creationId xmlns:a16="http://schemas.microsoft.com/office/drawing/2014/main" id="{7AD1E506-3BA3-46E5-93CC-ECD060C8E2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5741" y="2360891"/>
            <a:ext cx="2161271" cy="967302"/>
          </a:xfrm>
          <a:prstGeom prst="rect">
            <a:avLst/>
          </a:prstGeom>
          <a:noFill/>
          <a:extLst>
            <a:ext uri="{909E8E84-426E-40DD-AFC4-6F175D3DCCD1}">
              <a14:hiddenFill xmlns:a14="http://schemas.microsoft.com/office/drawing/2010/main">
                <a:solidFill>
                  <a:srgbClr val="FFFFFF"/>
                </a:solidFill>
              </a14:hiddenFill>
            </a:ext>
          </a:extLst>
        </p:spPr>
      </p:pic>
      <p:sp>
        <p:nvSpPr>
          <p:cNvPr id="50185" name="Text Box 9">
            <a:extLst>
              <a:ext uri="{FF2B5EF4-FFF2-40B4-BE49-F238E27FC236}">
                <a16:creationId xmlns:a16="http://schemas.microsoft.com/office/drawing/2014/main" id="{C32C443B-D86E-47A2-8E0D-30217B46CE21}"/>
              </a:ext>
            </a:extLst>
          </p:cNvPr>
          <p:cNvSpPr txBox="1">
            <a:spLocks noChangeArrowheads="1"/>
          </p:cNvSpPr>
          <p:nvPr/>
        </p:nvSpPr>
        <p:spPr bwMode="auto">
          <a:xfrm>
            <a:off x="676014" y="3314921"/>
            <a:ext cx="420648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dirty="0"/>
              <a:t>m</a:t>
            </a:r>
            <a:r>
              <a:rPr lang="en-US" altLang="zh-CN" sz="2000" baseline="-25000" dirty="0"/>
              <a:t>0 </a:t>
            </a:r>
            <a:r>
              <a:rPr lang="zh-CN" altLang="en-US" sz="2000" dirty="0"/>
              <a:t>是自由电子的惯性质量；</a:t>
            </a:r>
            <a:r>
              <a:rPr lang="en-US" altLang="zh-CN" sz="2000" dirty="0"/>
              <a:t>q</a:t>
            </a:r>
            <a:r>
              <a:rPr lang="zh-CN" altLang="en-US" sz="2000" dirty="0"/>
              <a:t>为电子电荷；</a:t>
            </a:r>
            <a:r>
              <a:rPr lang="en-US" altLang="zh-CN" sz="2000" dirty="0"/>
              <a:t>ε</a:t>
            </a:r>
            <a:r>
              <a:rPr lang="en-US" altLang="zh-CN" sz="2000" baseline="-25000" dirty="0"/>
              <a:t>0 </a:t>
            </a:r>
            <a:r>
              <a:rPr lang="zh-CN" altLang="en-US" sz="2000" dirty="0"/>
              <a:t>为真空介电常数；</a:t>
            </a:r>
            <a:r>
              <a:rPr lang="en-US" altLang="zh-CN" sz="2000" dirty="0"/>
              <a:t>h</a:t>
            </a:r>
            <a:r>
              <a:rPr lang="zh-CN" altLang="en-US" sz="2000" dirty="0"/>
              <a:t>为普朗克常数；</a:t>
            </a:r>
            <a:r>
              <a:rPr lang="en-US" altLang="zh-CN" sz="2000" dirty="0"/>
              <a:t>n</a:t>
            </a:r>
            <a:r>
              <a:rPr lang="zh-CN" altLang="en-US" sz="2000" dirty="0"/>
              <a:t>为量子数取正整数。根据上式可得氢原子能级图。</a:t>
            </a:r>
            <a:endParaRPr lang="zh-CN" altLang="en-US" sz="2000" baseline="-25000" dirty="0"/>
          </a:p>
        </p:txBody>
      </p:sp>
      <p:pic>
        <p:nvPicPr>
          <p:cNvPr id="50186" name="Picture 10" descr="0109">
            <a:extLst>
              <a:ext uri="{FF2B5EF4-FFF2-40B4-BE49-F238E27FC236}">
                <a16:creationId xmlns:a16="http://schemas.microsoft.com/office/drawing/2014/main" id="{3A0CABD6-183B-4403-8182-38248D0AB9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7443" y="2096725"/>
            <a:ext cx="1935735" cy="30513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318EDC5-92A7-413A-A384-22C7F2FF55E5}"/>
              </a:ext>
            </a:extLst>
          </p:cNvPr>
          <p:cNvSpPr/>
          <p:nvPr/>
        </p:nvSpPr>
        <p:spPr>
          <a:xfrm>
            <a:off x="395536" y="3284984"/>
            <a:ext cx="5472608" cy="275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Bef>
                <a:spcPct val="0"/>
              </a:spcBef>
              <a:buFont typeface="Wingdings" panose="05000000000000000000" pitchFamily="2" charset="2"/>
              <a:buChar char="Ø"/>
            </a:pPr>
            <a:r>
              <a:rPr lang="zh-CN" altLang="en-US" sz="2400" dirty="0">
                <a:solidFill>
                  <a:srgbClr val="000000"/>
                </a:solidFill>
                <a:latin typeface="Times New Roman" panose="02020603050405020304" pitchFamily="18" charset="0"/>
                <a:ea typeface="宋体" panose="02010600030101010101" pitchFamily="2" charset="-122"/>
              </a:rPr>
              <a:t>原子中的电子在原子核的势场和其它电子的作用下，分列在不同的能级上，形成所谓电子壳层</a:t>
            </a:r>
          </a:p>
          <a:p>
            <a:pPr>
              <a:lnSpc>
                <a:spcPct val="120000"/>
              </a:lnSpc>
              <a:spcBef>
                <a:spcPct val="0"/>
              </a:spcBef>
              <a:buFont typeface="Wingdings" panose="05000000000000000000" pitchFamily="2" charset="2"/>
              <a:buChar char="Ø"/>
            </a:pPr>
            <a:r>
              <a:rPr lang="zh-CN" altLang="en-US" sz="2400" dirty="0">
                <a:solidFill>
                  <a:srgbClr val="000000"/>
                </a:solidFill>
                <a:latin typeface="Times New Roman" panose="02020603050405020304" pitchFamily="18" charset="0"/>
                <a:ea typeface="宋体" panose="02010600030101010101" pitchFamily="2" charset="-122"/>
              </a:rPr>
              <a:t>不同支壳层的电子分别用</a:t>
            </a:r>
            <a:r>
              <a:rPr lang="en-US" altLang="zh-CN" sz="2400" dirty="0">
                <a:solidFill>
                  <a:srgbClr val="000000"/>
                </a:solidFill>
                <a:latin typeface="Times New Roman" panose="02020603050405020304" pitchFamily="18" charset="0"/>
                <a:ea typeface="宋体" panose="02010600030101010101" pitchFamily="2" charset="-122"/>
              </a:rPr>
              <a:t>1s;2s,2p;3s,3p,3d;4s…</a:t>
            </a:r>
            <a:r>
              <a:rPr lang="zh-CN" altLang="en-US" sz="2400" dirty="0">
                <a:solidFill>
                  <a:srgbClr val="000000"/>
                </a:solidFill>
                <a:latin typeface="Times New Roman" panose="02020603050405020304" pitchFamily="18" charset="0"/>
                <a:ea typeface="宋体" panose="02010600030101010101" pitchFamily="2" charset="-122"/>
              </a:rPr>
              <a:t>等符号表示，每一壳层对应于确定的能量。</a:t>
            </a:r>
          </a:p>
        </p:txBody>
      </p:sp>
      <p:pic>
        <p:nvPicPr>
          <p:cNvPr id="6" name="Picture 28" descr="图片2">
            <a:extLst>
              <a:ext uri="{FF2B5EF4-FFF2-40B4-BE49-F238E27FC236}">
                <a16:creationId xmlns:a16="http://schemas.microsoft.com/office/drawing/2014/main" id="{AF4797AD-9D4C-4029-A064-B1E7DE2C13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641" y="2636912"/>
            <a:ext cx="2844784"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5">
            <a:extLst>
              <a:ext uri="{FF2B5EF4-FFF2-40B4-BE49-F238E27FC236}">
                <a16:creationId xmlns:a16="http://schemas.microsoft.com/office/drawing/2014/main" id="{CA72FEEC-399F-41EC-99B5-5A124AFEAC08}"/>
              </a:ext>
            </a:extLst>
          </p:cNvPr>
          <p:cNvSpPr>
            <a:spLocks noChangeArrowheads="1"/>
          </p:cNvSpPr>
          <p:nvPr/>
        </p:nvSpPr>
        <p:spPr bwMode="auto">
          <a:xfrm>
            <a:off x="395536" y="1700808"/>
            <a:ext cx="6840760"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 typeface="Wingdings" panose="05000000000000000000" pitchFamily="2" charset="2"/>
              <a:buChar char="Ø"/>
            </a:pPr>
            <a:r>
              <a:rPr lang="zh-CN" altLang="en-US" sz="2400" b="0" dirty="0">
                <a:sym typeface="Times New Roman" panose="02020603050405020304" pitchFamily="18" charset="0"/>
              </a:rPr>
              <a:t>受原子核和该原子其他电子的势场作用</a:t>
            </a:r>
          </a:p>
          <a:p>
            <a:pPr eaLnBrk="1" hangingPunct="1">
              <a:lnSpc>
                <a:spcPct val="120000"/>
              </a:lnSpc>
              <a:spcBef>
                <a:spcPct val="0"/>
              </a:spcBef>
              <a:buClrTx/>
              <a:buFont typeface="Wingdings" panose="05000000000000000000" pitchFamily="2" charset="2"/>
              <a:buChar char="Ø"/>
            </a:pPr>
            <a:r>
              <a:rPr lang="zh-CN" altLang="en-US" sz="2400" b="0" dirty="0">
                <a:solidFill>
                  <a:srgbClr val="FF3300"/>
                </a:solidFill>
                <a:sym typeface="Times New Roman" panose="02020603050405020304" pitchFamily="18" charset="0"/>
              </a:rPr>
              <a:t>能量是分立能级</a:t>
            </a:r>
          </a:p>
        </p:txBody>
      </p:sp>
      <p:sp>
        <p:nvSpPr>
          <p:cNvPr id="8" name="Rectangle 27">
            <a:extLst>
              <a:ext uri="{FF2B5EF4-FFF2-40B4-BE49-F238E27FC236}">
                <a16:creationId xmlns:a16="http://schemas.microsoft.com/office/drawing/2014/main" id="{B8F80AF6-B3C8-40C1-873E-D15C55AEFF3E}"/>
              </a:ext>
            </a:extLst>
          </p:cNvPr>
          <p:cNvSpPr>
            <a:spLocks noChangeArrowheads="1"/>
          </p:cNvSpPr>
          <p:nvPr/>
        </p:nvSpPr>
        <p:spPr bwMode="auto">
          <a:xfrm>
            <a:off x="1123841" y="841016"/>
            <a:ext cx="4876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zh-CN" altLang="en-US" sz="2400" dirty="0">
                <a:solidFill>
                  <a:srgbClr val="0000FF"/>
                </a:solidFill>
                <a:sym typeface="Times New Roman" panose="02020603050405020304" pitchFamily="18" charset="0"/>
              </a:rPr>
              <a:t>孤立原子中的电子的状态</a:t>
            </a:r>
          </a:p>
        </p:txBody>
      </p:sp>
    </p:spTree>
    <p:extLst>
      <p:ext uri="{BB962C8B-B14F-4D97-AF65-F5344CB8AC3E}">
        <p14:creationId xmlns:p14="http://schemas.microsoft.com/office/powerpoint/2010/main" val="2934766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6B5569EF-65B2-47A2-8163-598A7CA9544E}"/>
              </a:ext>
            </a:extLst>
          </p:cNvPr>
          <p:cNvSpPr>
            <a:spLocks noGrp="1" noChangeArrowheads="1"/>
          </p:cNvSpPr>
          <p:nvPr>
            <p:ph type="title"/>
          </p:nvPr>
        </p:nvSpPr>
        <p:spPr/>
        <p:txBody>
          <a:bodyPr/>
          <a:lstStyle/>
          <a:p>
            <a:r>
              <a:rPr lang="en-US" altLang="zh-CN" sz="3200"/>
              <a:t>1.2.2 </a:t>
            </a:r>
            <a:r>
              <a:rPr lang="zh-CN" altLang="en-US" sz="3200"/>
              <a:t>晶体中电子的能带</a:t>
            </a:r>
          </a:p>
        </p:txBody>
      </p:sp>
      <p:sp>
        <p:nvSpPr>
          <p:cNvPr id="6" name="Rectangle 25">
            <a:extLst>
              <a:ext uri="{FF2B5EF4-FFF2-40B4-BE49-F238E27FC236}">
                <a16:creationId xmlns:a16="http://schemas.microsoft.com/office/drawing/2014/main" id="{C41A12E1-E70D-421F-B42C-A396A3DC39EC}"/>
              </a:ext>
            </a:extLst>
          </p:cNvPr>
          <p:cNvSpPr>
            <a:spLocks noChangeArrowheads="1"/>
          </p:cNvSpPr>
          <p:nvPr/>
        </p:nvSpPr>
        <p:spPr bwMode="auto">
          <a:xfrm>
            <a:off x="588962" y="1916832"/>
            <a:ext cx="8458200" cy="201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 typeface="Wingdings" panose="05000000000000000000" pitchFamily="2" charset="2"/>
              <a:buChar char="Ø"/>
            </a:pPr>
            <a:r>
              <a:rPr lang="zh-CN" altLang="en-US" sz="2400" dirty="0">
                <a:solidFill>
                  <a:srgbClr val="FF3300"/>
                </a:solidFill>
                <a:sym typeface="Times New Roman" panose="02020603050405020304" pitchFamily="18" charset="0"/>
              </a:rPr>
              <a:t>在周期性势场中运动，能量为一系列密集能级组成的能带。</a:t>
            </a:r>
          </a:p>
          <a:p>
            <a:pPr eaLnBrk="1" hangingPunct="1">
              <a:lnSpc>
                <a:spcPct val="130000"/>
              </a:lnSpc>
              <a:spcBef>
                <a:spcPct val="0"/>
              </a:spcBef>
              <a:buClrTx/>
              <a:buFont typeface="Wingdings" panose="05000000000000000000" pitchFamily="2" charset="2"/>
              <a:buChar char="Ø"/>
            </a:pPr>
            <a:r>
              <a:rPr lang="zh-CN" altLang="en-US" sz="2400" dirty="0">
                <a:solidFill>
                  <a:srgbClr val="FF3300"/>
                </a:solidFill>
                <a:sym typeface="Times New Roman" panose="02020603050405020304" pitchFamily="18" charset="0"/>
              </a:rPr>
              <a:t>能带理论：</a:t>
            </a:r>
            <a:r>
              <a:rPr lang="zh-CN" altLang="en-US" sz="2400" dirty="0">
                <a:sym typeface="Times New Roman" panose="02020603050405020304" pitchFamily="18" charset="0"/>
              </a:rPr>
              <a:t>采用</a:t>
            </a:r>
            <a:r>
              <a:rPr lang="zh-CN" altLang="en-US" sz="2400" dirty="0">
                <a:solidFill>
                  <a:srgbClr val="FF3300"/>
                </a:solidFill>
                <a:sym typeface="Times New Roman" panose="02020603050405020304" pitchFamily="18" charset="0"/>
              </a:rPr>
              <a:t>单电子近似</a:t>
            </a:r>
            <a:r>
              <a:rPr lang="zh-CN" altLang="en-US" sz="2400" dirty="0">
                <a:sym typeface="Times New Roman" panose="02020603050405020304" pitchFamily="18" charset="0"/>
              </a:rPr>
              <a:t>，来确定半导体中电子状态的理论。</a:t>
            </a:r>
          </a:p>
          <a:p>
            <a:pPr eaLnBrk="1" hangingPunct="1">
              <a:lnSpc>
                <a:spcPct val="130000"/>
              </a:lnSpc>
              <a:spcBef>
                <a:spcPct val="0"/>
              </a:spcBef>
              <a:buClrTx/>
              <a:buFont typeface="Wingdings" panose="05000000000000000000" pitchFamily="2" charset="2"/>
              <a:buChar char="Ø"/>
            </a:pPr>
            <a:r>
              <a:rPr lang="zh-CN" altLang="en-US" sz="2400" dirty="0">
                <a:sym typeface="Times New Roman" panose="02020603050405020304" pitchFamily="18" charset="0"/>
              </a:rPr>
              <a:t>电子的能量谱值组成能带。</a:t>
            </a:r>
          </a:p>
        </p:txBody>
      </p:sp>
      <p:sp>
        <p:nvSpPr>
          <p:cNvPr id="7" name="Rectangle 29">
            <a:extLst>
              <a:ext uri="{FF2B5EF4-FFF2-40B4-BE49-F238E27FC236}">
                <a16:creationId xmlns:a16="http://schemas.microsoft.com/office/drawing/2014/main" id="{AD51E3CB-D316-4B1A-A48B-6661DA2D24AE}"/>
              </a:ext>
            </a:extLst>
          </p:cNvPr>
          <p:cNvSpPr>
            <a:spLocks noChangeArrowheads="1"/>
          </p:cNvSpPr>
          <p:nvPr/>
        </p:nvSpPr>
        <p:spPr bwMode="auto">
          <a:xfrm>
            <a:off x="588962" y="1340768"/>
            <a:ext cx="4108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zh-CN" altLang="en-US" sz="2400" dirty="0">
                <a:solidFill>
                  <a:srgbClr val="0000FF"/>
                </a:solidFill>
                <a:sym typeface="Times New Roman" panose="02020603050405020304" pitchFamily="18" charset="0"/>
              </a:rPr>
              <a:t>晶体中的电子的状态</a:t>
            </a:r>
          </a:p>
        </p:txBody>
      </p:sp>
      <p:sp>
        <p:nvSpPr>
          <p:cNvPr id="10" name="Rectangle 2">
            <a:extLst>
              <a:ext uri="{FF2B5EF4-FFF2-40B4-BE49-F238E27FC236}">
                <a16:creationId xmlns:a16="http://schemas.microsoft.com/office/drawing/2014/main" id="{CF0E35BA-7B76-4B16-9B45-EB0C8BD9AD36}"/>
              </a:ext>
            </a:extLst>
          </p:cNvPr>
          <p:cNvSpPr>
            <a:spLocks noChangeArrowheads="1"/>
          </p:cNvSpPr>
          <p:nvPr/>
        </p:nvSpPr>
        <p:spPr bwMode="auto">
          <a:xfrm>
            <a:off x="454025" y="4155834"/>
            <a:ext cx="8235950" cy="201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defRPr sz="2000" b="1">
                <a:solidFill>
                  <a:schemeClr val="tx1"/>
                </a:solidFill>
                <a:latin typeface="Times New Roman" panose="02020603050405020304" pitchFamily="18" charset="0"/>
                <a:ea typeface="宋体" panose="02010600030101010101" pitchFamily="2" charset="-122"/>
              </a:defRPr>
            </a:lvl1pPr>
            <a:lvl2pPr marL="914400" indent="-457200">
              <a:defRPr sz="2000" b="1">
                <a:solidFill>
                  <a:schemeClr val="tx1"/>
                </a:solidFill>
                <a:latin typeface="Times New Roman" panose="02020603050405020304" pitchFamily="18" charset="0"/>
                <a:ea typeface="宋体" panose="02010600030101010101" pitchFamily="2" charset="-122"/>
              </a:defRPr>
            </a:lvl2pPr>
            <a:lvl3pPr marL="1295400" indent="-381000">
              <a:defRPr sz="2000" b="1">
                <a:solidFill>
                  <a:schemeClr val="tx1"/>
                </a:solidFill>
                <a:latin typeface="Times New Roman" panose="02020603050405020304" pitchFamily="18" charset="0"/>
                <a:ea typeface="宋体" panose="02010600030101010101" pitchFamily="2" charset="-122"/>
              </a:defRPr>
            </a:lvl3pPr>
            <a:lvl4pPr marL="1714500" indent="-342900">
              <a:defRPr sz="2000" b="1">
                <a:solidFill>
                  <a:schemeClr val="tx1"/>
                </a:solidFill>
                <a:latin typeface="Times New Roman" panose="02020603050405020304" pitchFamily="18" charset="0"/>
                <a:ea typeface="宋体" panose="02010600030101010101" pitchFamily="2" charset="-122"/>
              </a:defRPr>
            </a:lvl4pPr>
            <a:lvl5pPr marL="2171700" indent="-342900">
              <a:defRPr sz="20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marL="0" indent="0">
              <a:lnSpc>
                <a:spcPct val="130000"/>
              </a:lnSpc>
              <a:spcBef>
                <a:spcPct val="0"/>
              </a:spcBef>
            </a:pPr>
            <a:r>
              <a:rPr lang="en-US" altLang="zh-CN" sz="2400" dirty="0">
                <a:sym typeface="Times New Roman" panose="02020603050405020304" pitchFamily="18" charset="0"/>
              </a:rPr>
              <a:t>1</a:t>
            </a:r>
            <a:r>
              <a:rPr lang="zh-CN" altLang="en-US" sz="2400" dirty="0">
                <a:sym typeface="Times New Roman" panose="02020603050405020304" pitchFamily="18" charset="0"/>
              </a:rPr>
              <a:t>、电子共有化运动</a:t>
            </a:r>
          </a:p>
          <a:p>
            <a:pPr marL="0" indent="0">
              <a:lnSpc>
                <a:spcPct val="130000"/>
              </a:lnSpc>
              <a:spcBef>
                <a:spcPct val="0"/>
              </a:spcBef>
            </a:pPr>
            <a:r>
              <a:rPr lang="zh-CN" altLang="en-US" sz="2400" dirty="0">
                <a:sym typeface="Times New Roman" panose="02020603050405020304" pitchFamily="18" charset="0"/>
              </a:rPr>
              <a:t>     当原子相互接近形成晶体时，不同原子的内外各电子壳层之间就有了一定程度的交叠，相邻原子最外壳层交叠最多，内壳层交叠较少。</a:t>
            </a:r>
          </a:p>
        </p:txBody>
      </p:sp>
    </p:spTree>
    <p:extLst>
      <p:ext uri="{BB962C8B-B14F-4D97-AF65-F5344CB8AC3E}">
        <p14:creationId xmlns:p14="http://schemas.microsoft.com/office/powerpoint/2010/main" val="3796032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07416E78-C4B3-4038-A1F0-2E2EBA0086D3}"/>
              </a:ext>
            </a:extLst>
          </p:cNvPr>
          <p:cNvSpPr>
            <a:spLocks noChangeArrowheads="1"/>
          </p:cNvSpPr>
          <p:nvPr/>
        </p:nvSpPr>
        <p:spPr bwMode="auto">
          <a:xfrm>
            <a:off x="522287" y="476672"/>
            <a:ext cx="8099425" cy="271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defRPr sz="2000" b="1">
                <a:solidFill>
                  <a:schemeClr val="tx1"/>
                </a:solidFill>
                <a:latin typeface="Times New Roman" panose="02020603050405020304" pitchFamily="18" charset="0"/>
                <a:ea typeface="宋体" panose="02010600030101010101" pitchFamily="2" charset="-122"/>
              </a:defRPr>
            </a:lvl1pPr>
            <a:lvl2pPr marL="914400" indent="-457200">
              <a:defRPr sz="2000" b="1">
                <a:solidFill>
                  <a:schemeClr val="tx1"/>
                </a:solidFill>
                <a:latin typeface="Times New Roman" panose="02020603050405020304" pitchFamily="18" charset="0"/>
                <a:ea typeface="宋体" panose="02010600030101010101" pitchFamily="2" charset="-122"/>
              </a:defRPr>
            </a:lvl2pPr>
            <a:lvl3pPr marL="1295400" indent="-381000">
              <a:defRPr sz="2000" b="1">
                <a:solidFill>
                  <a:schemeClr val="tx1"/>
                </a:solidFill>
                <a:latin typeface="Times New Roman" panose="02020603050405020304" pitchFamily="18" charset="0"/>
                <a:ea typeface="宋体" panose="02010600030101010101" pitchFamily="2" charset="-122"/>
              </a:defRPr>
            </a:lvl3pPr>
            <a:lvl4pPr marL="1714500" indent="-342900">
              <a:defRPr sz="2000" b="1">
                <a:solidFill>
                  <a:schemeClr val="tx1"/>
                </a:solidFill>
                <a:latin typeface="Times New Roman" panose="02020603050405020304" pitchFamily="18" charset="0"/>
                <a:ea typeface="宋体" panose="02010600030101010101" pitchFamily="2" charset="-122"/>
              </a:defRPr>
            </a:lvl4pPr>
            <a:lvl5pPr marL="2171700" indent="-342900">
              <a:defRPr sz="20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hlink"/>
              </a:buClr>
              <a:buSzPct val="70000"/>
              <a:buFont typeface="Wingdings" panose="05000000000000000000" pitchFamily="2" charset="2"/>
              <a:buChar char="v"/>
            </a:pPr>
            <a:r>
              <a:rPr lang="zh-CN" altLang="en-US" sz="2400" dirty="0">
                <a:sym typeface="Times New Roman" panose="02020603050405020304" pitchFamily="18" charset="0"/>
              </a:rPr>
              <a:t>由于电子壳层的交叠，电子不再完全局限在某一个原子上，可以由一个原于转移到相邻的原子上去，因而，电子将可以在整个晶体中运动。这种运动称为电子的共有化运动</a:t>
            </a:r>
          </a:p>
          <a:p>
            <a:pPr>
              <a:spcBef>
                <a:spcPct val="20000"/>
              </a:spcBef>
              <a:buClr>
                <a:schemeClr val="hlink"/>
              </a:buClr>
              <a:buSzPct val="70000"/>
              <a:buFont typeface="Wingdings" panose="05000000000000000000" pitchFamily="2" charset="2"/>
              <a:buChar char="v"/>
            </a:pPr>
            <a:r>
              <a:rPr lang="zh-CN" altLang="en-US" sz="2400" u="sng" dirty="0">
                <a:solidFill>
                  <a:srgbClr val="FF0000"/>
                </a:solidFill>
                <a:sym typeface="Times New Roman" panose="02020603050405020304" pitchFamily="18" charset="0"/>
              </a:rPr>
              <a:t>注意：</a:t>
            </a:r>
            <a:r>
              <a:rPr lang="zh-CN" altLang="en-US" sz="2400" dirty="0">
                <a:sym typeface="Times New Roman" panose="02020603050405020304" pitchFamily="18" charset="0"/>
              </a:rPr>
              <a:t>各原子中相似壳层上的电子才有相同的能量，电子只能在相似壳层间转移。</a:t>
            </a:r>
          </a:p>
          <a:p>
            <a:pPr>
              <a:spcBef>
                <a:spcPct val="20000"/>
              </a:spcBef>
              <a:buClr>
                <a:schemeClr val="hlink"/>
              </a:buClr>
              <a:buSzPct val="70000"/>
              <a:buFont typeface="Wingdings" panose="05000000000000000000" pitchFamily="2" charset="2"/>
              <a:buChar char="v"/>
            </a:pPr>
            <a:endParaRPr lang="zh-CN" altLang="en-US" sz="2800" dirty="0">
              <a:sym typeface="Times New Roman" panose="02020603050405020304" pitchFamily="18" charset="0"/>
            </a:endParaRPr>
          </a:p>
        </p:txBody>
      </p:sp>
      <p:sp>
        <p:nvSpPr>
          <p:cNvPr id="29699" name="Rectangle 4">
            <a:extLst>
              <a:ext uri="{FF2B5EF4-FFF2-40B4-BE49-F238E27FC236}">
                <a16:creationId xmlns:a16="http://schemas.microsoft.com/office/drawing/2014/main" id="{03329809-CD6C-4EED-8D60-07FBF24C7FAB}"/>
              </a:ext>
            </a:extLst>
          </p:cNvPr>
          <p:cNvSpPr>
            <a:spLocks noChangeArrowheads="1"/>
          </p:cNvSpPr>
          <p:nvPr/>
        </p:nvSpPr>
        <p:spPr bwMode="auto">
          <a:xfrm>
            <a:off x="522287" y="2457450"/>
            <a:ext cx="8316913"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defRPr sz="2000" b="1">
                <a:solidFill>
                  <a:schemeClr val="tx1"/>
                </a:solidFill>
                <a:latin typeface="Times New Roman" panose="02020603050405020304" pitchFamily="18" charset="0"/>
                <a:ea typeface="宋体" panose="02010600030101010101" pitchFamily="2" charset="-122"/>
              </a:defRPr>
            </a:lvl1pPr>
            <a:lvl2pPr marL="914400" indent="-457200">
              <a:defRPr sz="2000" b="1">
                <a:solidFill>
                  <a:schemeClr val="tx1"/>
                </a:solidFill>
                <a:latin typeface="Times New Roman" panose="02020603050405020304" pitchFamily="18" charset="0"/>
                <a:ea typeface="宋体" panose="02010600030101010101" pitchFamily="2" charset="-122"/>
              </a:defRPr>
            </a:lvl2pPr>
            <a:lvl3pPr marL="1295400" indent="-381000">
              <a:defRPr sz="2000" b="1">
                <a:solidFill>
                  <a:schemeClr val="tx1"/>
                </a:solidFill>
                <a:latin typeface="Times New Roman" panose="02020603050405020304" pitchFamily="18" charset="0"/>
                <a:ea typeface="宋体" panose="02010600030101010101" pitchFamily="2" charset="-122"/>
              </a:defRPr>
            </a:lvl3pPr>
            <a:lvl4pPr marL="1714500" indent="-342900">
              <a:defRPr sz="2000" b="1">
                <a:solidFill>
                  <a:schemeClr val="tx1"/>
                </a:solidFill>
                <a:latin typeface="Times New Roman" panose="02020603050405020304" pitchFamily="18" charset="0"/>
                <a:ea typeface="宋体" panose="02010600030101010101" pitchFamily="2" charset="-122"/>
              </a:defRPr>
            </a:lvl4pPr>
            <a:lvl5pPr marL="2171700" indent="-342900">
              <a:defRPr sz="20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hlink"/>
              </a:buClr>
              <a:buSzPct val="70000"/>
              <a:buFont typeface="Wingdings" panose="05000000000000000000" pitchFamily="2" charset="2"/>
              <a:buNone/>
            </a:pPr>
            <a:endParaRPr lang="zh-CN" altLang="en-US" sz="2400" dirty="0">
              <a:solidFill>
                <a:srgbClr val="FF0000"/>
              </a:solidFill>
              <a:sym typeface="Times New Roman" panose="02020603050405020304" pitchFamily="18" charset="0"/>
            </a:endParaRPr>
          </a:p>
          <a:p>
            <a:pPr>
              <a:spcBef>
                <a:spcPct val="20000"/>
              </a:spcBef>
              <a:buClr>
                <a:schemeClr val="hlink"/>
              </a:buClr>
              <a:buSzPct val="70000"/>
              <a:buFont typeface="Wingdings" panose="05000000000000000000" pitchFamily="2" charset="2"/>
              <a:buChar char="v"/>
            </a:pPr>
            <a:r>
              <a:rPr lang="zh-CN" altLang="en-US" sz="2400" dirty="0">
                <a:solidFill>
                  <a:srgbClr val="FF0000"/>
                </a:solidFill>
                <a:sym typeface="Times New Roman" panose="02020603050405020304" pitchFamily="18" charset="0"/>
              </a:rPr>
              <a:t>共有化运动的产生是由于不同原子的相似壳层的交叠</a:t>
            </a:r>
          </a:p>
          <a:p>
            <a:pPr>
              <a:spcBef>
                <a:spcPct val="20000"/>
              </a:spcBef>
              <a:buClr>
                <a:schemeClr val="hlink"/>
              </a:buClr>
              <a:buSzPct val="70000"/>
              <a:buFont typeface="Wingdings" panose="05000000000000000000" pitchFamily="2" charset="2"/>
              <a:buChar char="v"/>
            </a:pPr>
            <a:endParaRPr lang="zh-CN" altLang="en-US" sz="2400" dirty="0">
              <a:solidFill>
                <a:srgbClr val="FF0000"/>
              </a:solidFill>
              <a:sym typeface="Times New Roman" panose="02020603050405020304" pitchFamily="18" charset="0"/>
            </a:endParaRPr>
          </a:p>
          <a:p>
            <a:pPr>
              <a:spcBef>
                <a:spcPct val="20000"/>
              </a:spcBef>
              <a:buClr>
                <a:schemeClr val="hlink"/>
              </a:buClr>
              <a:buSzPct val="70000"/>
              <a:buFont typeface="Wingdings" panose="05000000000000000000" pitchFamily="2" charset="2"/>
              <a:buChar char="v"/>
            </a:pPr>
            <a:endParaRPr lang="zh-CN" altLang="en-US" sz="2400" dirty="0">
              <a:solidFill>
                <a:srgbClr val="FF0000"/>
              </a:solidFill>
              <a:sym typeface="Times New Roman" panose="02020603050405020304" pitchFamily="18" charset="0"/>
            </a:endParaRPr>
          </a:p>
        </p:txBody>
      </p:sp>
      <p:pic>
        <p:nvPicPr>
          <p:cNvPr id="29700" name="Picture 30" descr="图片3">
            <a:extLst>
              <a:ext uri="{FF2B5EF4-FFF2-40B4-BE49-F238E27FC236}">
                <a16:creationId xmlns:a16="http://schemas.microsoft.com/office/drawing/2014/main" id="{082497D9-DF94-4910-BB1E-FCAF9777CB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3789040"/>
            <a:ext cx="4936096" cy="244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9785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9CE6D143-0DE0-403C-8437-1D359E58EA5E}"/>
              </a:ext>
            </a:extLst>
          </p:cNvPr>
          <p:cNvSpPr txBox="1">
            <a:spLocks noChangeArrowheads="1"/>
          </p:cNvSpPr>
          <p:nvPr/>
        </p:nvSpPr>
        <p:spPr bwMode="auto">
          <a:xfrm>
            <a:off x="323850" y="836613"/>
            <a:ext cx="8208963"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a:lnSpc>
                <a:spcPct val="150000"/>
              </a:lnSpc>
              <a:buClr>
                <a:schemeClr val="hlink"/>
              </a:buClr>
              <a:buSzPct val="70000"/>
              <a:buFont typeface="Verdana" panose="020B0604030504040204" pitchFamily="34" charset="0"/>
              <a:buNone/>
            </a:pPr>
            <a:r>
              <a:rPr lang="zh-CN" altLang="en-US" sz="2800" dirty="0">
                <a:solidFill>
                  <a:srgbClr val="FF0000"/>
                </a:solidFill>
                <a:sym typeface="Times New Roman" panose="02020603050405020304" pitchFamily="18" charset="0"/>
              </a:rPr>
              <a:t>电子共有化的特点：</a:t>
            </a:r>
          </a:p>
          <a:p>
            <a:pPr>
              <a:lnSpc>
                <a:spcPct val="150000"/>
              </a:lnSpc>
              <a:buClr>
                <a:schemeClr val="tx1"/>
              </a:buClr>
              <a:buSzPct val="70000"/>
              <a:buFontTx/>
              <a:buAutoNum type="circleNumDbPlain"/>
            </a:pPr>
            <a:r>
              <a:rPr lang="zh-CN" altLang="en-US" sz="2400" dirty="0">
                <a:solidFill>
                  <a:schemeClr val="tx1"/>
                </a:solidFill>
                <a:sym typeface="Times New Roman" panose="02020603050405020304" pitchFamily="18" charset="0"/>
              </a:rPr>
              <a:t>相邻原子最外壳层交叠最多，内壳层交叠较少，</a:t>
            </a:r>
            <a:r>
              <a:rPr lang="zh-CN" altLang="en-US" sz="2400" dirty="0">
                <a:solidFill>
                  <a:srgbClr val="FF3300"/>
                </a:solidFill>
                <a:sym typeface="Times New Roman" panose="02020603050405020304" pitchFamily="18" charset="0"/>
              </a:rPr>
              <a:t>外壳层共有化运动显著</a:t>
            </a:r>
            <a:r>
              <a:rPr lang="zh-CN" altLang="en-US" sz="2400" dirty="0">
                <a:solidFill>
                  <a:schemeClr val="tx1"/>
                </a:solidFill>
                <a:sym typeface="Times New Roman" panose="02020603050405020304" pitchFamily="18" charset="0"/>
              </a:rPr>
              <a:t>。</a:t>
            </a:r>
          </a:p>
          <a:p>
            <a:pPr>
              <a:lnSpc>
                <a:spcPct val="150000"/>
              </a:lnSpc>
              <a:buClr>
                <a:schemeClr val="tx1"/>
              </a:buClr>
              <a:buSzPct val="70000"/>
              <a:buFontTx/>
              <a:buAutoNum type="circleNumDbPlain"/>
            </a:pPr>
            <a:r>
              <a:rPr lang="zh-CN" altLang="en-US" sz="2400" dirty="0">
                <a:solidFill>
                  <a:schemeClr val="tx1"/>
                </a:solidFill>
                <a:sym typeface="Times New Roman" panose="02020603050405020304" pitchFamily="18" charset="0"/>
              </a:rPr>
              <a:t>各原子中相似壳层上的电子才有相同的能量，无外力作用时，电子只能</a:t>
            </a:r>
            <a:r>
              <a:rPr lang="zh-CN" altLang="en-US" sz="2400" dirty="0">
                <a:solidFill>
                  <a:srgbClr val="FF3300"/>
                </a:solidFill>
                <a:sym typeface="Times New Roman" panose="02020603050405020304" pitchFamily="18" charset="0"/>
              </a:rPr>
              <a:t>在相似壳层中共有化运动</a:t>
            </a:r>
            <a:r>
              <a:rPr lang="zh-CN" altLang="en-US" sz="2400" dirty="0">
                <a:solidFill>
                  <a:schemeClr val="tx1"/>
                </a:solidFill>
                <a:sym typeface="Times New Roman" panose="02020603050405020304" pitchFamily="18" charset="0"/>
              </a:rPr>
              <a:t>。</a:t>
            </a:r>
          </a:p>
          <a:p>
            <a:pPr>
              <a:lnSpc>
                <a:spcPct val="150000"/>
              </a:lnSpc>
              <a:buClr>
                <a:schemeClr val="hlink"/>
              </a:buClr>
              <a:buSzPct val="70000"/>
              <a:buFont typeface="Verdana" panose="020B0604030504040204" pitchFamily="34" charset="0"/>
              <a:buNone/>
            </a:pPr>
            <a:r>
              <a:rPr lang="zh-CN" altLang="en-US" sz="2400" dirty="0">
                <a:solidFill>
                  <a:schemeClr val="tx1"/>
                </a:solidFill>
                <a:sym typeface="Times New Roman" panose="02020603050405020304" pitchFamily="18" charset="0"/>
              </a:rPr>
              <a:t>           组合成晶体后，每一个原子能级具有引起“与之对应”的共有化运动。 例如，</a:t>
            </a:r>
            <a:r>
              <a:rPr lang="en-US" altLang="zh-CN" sz="2400" dirty="0">
                <a:solidFill>
                  <a:schemeClr val="tx1"/>
                </a:solidFill>
                <a:sym typeface="Times New Roman" panose="02020603050405020304" pitchFamily="18" charset="0"/>
              </a:rPr>
              <a:t>2s</a:t>
            </a:r>
            <a:r>
              <a:rPr lang="zh-CN" altLang="en-US" sz="2400" dirty="0">
                <a:solidFill>
                  <a:schemeClr val="tx1"/>
                </a:solidFill>
                <a:sym typeface="Times New Roman" panose="02020603050405020304" pitchFamily="18" charset="0"/>
              </a:rPr>
              <a:t>能级引起“</a:t>
            </a:r>
            <a:r>
              <a:rPr lang="en-US" altLang="zh-CN" sz="2400" dirty="0">
                <a:solidFill>
                  <a:schemeClr val="tx1"/>
                </a:solidFill>
                <a:sym typeface="Times New Roman" panose="02020603050405020304" pitchFamily="18" charset="0"/>
              </a:rPr>
              <a:t>2s”</a:t>
            </a:r>
            <a:r>
              <a:rPr lang="zh-CN" altLang="en-US" sz="2400" dirty="0">
                <a:solidFill>
                  <a:schemeClr val="tx1"/>
                </a:solidFill>
                <a:sym typeface="Times New Roman" panose="02020603050405020304" pitchFamily="18" charset="0"/>
              </a:rPr>
              <a:t>的共有化运动，</a:t>
            </a:r>
            <a:r>
              <a:rPr lang="en-US" altLang="zh-CN" sz="2400" dirty="0">
                <a:solidFill>
                  <a:schemeClr val="tx1"/>
                </a:solidFill>
                <a:sym typeface="Times New Roman" panose="02020603050405020304" pitchFamily="18" charset="0"/>
              </a:rPr>
              <a:t>2p</a:t>
            </a:r>
            <a:r>
              <a:rPr lang="zh-CN" altLang="en-US" sz="2400" dirty="0">
                <a:solidFill>
                  <a:schemeClr val="tx1"/>
                </a:solidFill>
                <a:sym typeface="Times New Roman" panose="02020603050405020304" pitchFamily="18" charset="0"/>
              </a:rPr>
              <a:t>能级引起“</a:t>
            </a:r>
            <a:r>
              <a:rPr lang="en-US" altLang="zh-CN" sz="2400" dirty="0">
                <a:solidFill>
                  <a:schemeClr val="tx1"/>
                </a:solidFill>
                <a:sym typeface="Times New Roman" panose="02020603050405020304" pitchFamily="18" charset="0"/>
              </a:rPr>
              <a:t>2p”</a:t>
            </a:r>
            <a:r>
              <a:rPr lang="zh-CN" altLang="en-US" sz="2400" dirty="0">
                <a:solidFill>
                  <a:schemeClr val="tx1"/>
                </a:solidFill>
                <a:sym typeface="Times New Roman" panose="02020603050405020304" pitchFamily="18" charset="0"/>
              </a:rPr>
              <a:t>的共有化运动</a:t>
            </a:r>
          </a:p>
        </p:txBody>
      </p:sp>
    </p:spTree>
    <p:extLst>
      <p:ext uri="{BB962C8B-B14F-4D97-AF65-F5344CB8AC3E}">
        <p14:creationId xmlns:p14="http://schemas.microsoft.com/office/powerpoint/2010/main" val="2112373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FB24150-90B5-46A6-91E0-87FBD6871928}"/>
              </a:ext>
            </a:extLst>
          </p:cNvPr>
          <p:cNvSpPr>
            <a:spLocks noGrp="1" noRot="1" noChangeArrowheads="1"/>
          </p:cNvSpPr>
          <p:nvPr>
            <p:ph idx="1"/>
          </p:nvPr>
        </p:nvSpPr>
        <p:spPr>
          <a:xfrm>
            <a:off x="370669" y="1124470"/>
            <a:ext cx="8137525" cy="711650"/>
          </a:xfrm>
        </p:spPr>
        <p:txBody>
          <a:bodyPr>
            <a:normAutofit lnSpcReduction="10000"/>
          </a:bodyPr>
          <a:lstStyle/>
          <a:p>
            <a:pPr marL="0" indent="0" algn="just" eaLnBrk="1" hangingPunct="1">
              <a:lnSpc>
                <a:spcPct val="110000"/>
              </a:lnSpc>
              <a:buNone/>
            </a:pPr>
            <a:r>
              <a:rPr lang="zh-CN" altLang="en-US" sz="2000" b="1" dirty="0">
                <a:sym typeface="Times New Roman" panose="02020603050405020304" pitchFamily="18" charset="0"/>
              </a:rPr>
              <a:t>当</a:t>
            </a:r>
            <a:r>
              <a:rPr lang="en-US" altLang="zh-CN" sz="2000" b="1" dirty="0">
                <a:sym typeface="Times New Roman" panose="02020603050405020304" pitchFamily="18" charset="0"/>
              </a:rPr>
              <a:t>N</a:t>
            </a:r>
            <a:r>
              <a:rPr lang="zh-CN" altLang="en-US" sz="2000" b="1" dirty="0">
                <a:sym typeface="Times New Roman" panose="02020603050405020304" pitchFamily="18" charset="0"/>
              </a:rPr>
              <a:t>个原子彼此靠近时，根据不相容原理，原来分属于</a:t>
            </a:r>
            <a:r>
              <a:rPr lang="en-US" altLang="zh-CN" sz="2000" b="1" dirty="0">
                <a:sym typeface="Times New Roman" panose="02020603050405020304" pitchFamily="18" charset="0"/>
              </a:rPr>
              <a:t>N</a:t>
            </a:r>
            <a:r>
              <a:rPr lang="zh-CN" altLang="en-US" sz="2000" b="1" dirty="0">
                <a:sym typeface="Times New Roman" panose="02020603050405020304" pitchFamily="18" charset="0"/>
              </a:rPr>
              <a:t>个原子的相同的价电子能级必然分裂成属于整个晶体的</a:t>
            </a:r>
            <a:r>
              <a:rPr lang="en-US" altLang="zh-CN" sz="2000" b="1" dirty="0">
                <a:sym typeface="Times New Roman" panose="02020603050405020304" pitchFamily="18" charset="0"/>
              </a:rPr>
              <a:t>N</a:t>
            </a:r>
            <a:r>
              <a:rPr lang="zh-CN" altLang="en-US" sz="2000" b="1" dirty="0">
                <a:sym typeface="Times New Roman" panose="02020603050405020304" pitchFamily="18" charset="0"/>
              </a:rPr>
              <a:t>个能量稍有差别的能带。</a:t>
            </a:r>
          </a:p>
        </p:txBody>
      </p:sp>
      <p:sp>
        <p:nvSpPr>
          <p:cNvPr id="31747" name="Text Box 17">
            <a:extLst>
              <a:ext uri="{FF2B5EF4-FFF2-40B4-BE49-F238E27FC236}">
                <a16:creationId xmlns:a16="http://schemas.microsoft.com/office/drawing/2014/main" id="{85D2E815-778F-4BA9-AABB-F59DF12B1D77}"/>
              </a:ext>
            </a:extLst>
          </p:cNvPr>
          <p:cNvSpPr txBox="1">
            <a:spLocks noChangeArrowheads="1"/>
          </p:cNvSpPr>
          <p:nvPr/>
        </p:nvSpPr>
        <p:spPr bwMode="auto">
          <a:xfrm>
            <a:off x="383966" y="1887078"/>
            <a:ext cx="7924800" cy="8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 typeface="Wingdings" panose="05000000000000000000" pitchFamily="2" charset="2"/>
              <a:buChar char="Ø"/>
            </a:pPr>
            <a:r>
              <a:rPr lang="zh-CN" altLang="en-US" dirty="0">
                <a:solidFill>
                  <a:srgbClr val="FF3300"/>
                </a:solidFill>
                <a:sym typeface="Times New Roman" panose="02020603050405020304" pitchFamily="18" charset="0"/>
              </a:rPr>
              <a:t>泡利不相容原理的要求：</a:t>
            </a:r>
            <a:r>
              <a:rPr lang="zh-CN" altLang="en-US" dirty="0">
                <a:sym typeface="Times New Roman" panose="02020603050405020304" pitchFamily="18" charset="0"/>
              </a:rPr>
              <a:t>任意两个电子不会具有相同的量子数</a:t>
            </a:r>
          </a:p>
          <a:p>
            <a:pPr eaLnBrk="1" hangingPunct="1">
              <a:lnSpc>
                <a:spcPct val="130000"/>
              </a:lnSpc>
              <a:spcBef>
                <a:spcPct val="0"/>
              </a:spcBef>
              <a:buClrTx/>
              <a:buFont typeface="Wingdings" panose="05000000000000000000" pitchFamily="2" charset="2"/>
              <a:buChar char="Ø"/>
            </a:pPr>
            <a:r>
              <a:rPr lang="zh-CN" altLang="en-US" dirty="0">
                <a:sym typeface="Times New Roman" panose="02020603050405020304" pitchFamily="18" charset="0"/>
              </a:rPr>
              <a:t>原子数目</a:t>
            </a:r>
            <a:r>
              <a:rPr lang="en-US" altLang="zh-CN" dirty="0">
                <a:sym typeface="Times New Roman" panose="02020603050405020304" pitchFamily="18" charset="0"/>
              </a:rPr>
              <a:t>N</a:t>
            </a:r>
            <a:r>
              <a:rPr lang="zh-CN" altLang="en-US" dirty="0">
                <a:sym typeface="Times New Roman" panose="02020603050405020304" pitchFamily="18" charset="0"/>
              </a:rPr>
              <a:t>极大，分裂能级间隔很小（</a:t>
            </a:r>
            <a:r>
              <a:rPr lang="en-US" altLang="zh-CN" dirty="0">
                <a:sym typeface="Times New Roman" panose="02020603050405020304" pitchFamily="18" charset="0"/>
              </a:rPr>
              <a:t>10</a:t>
            </a:r>
            <a:r>
              <a:rPr lang="en-US" altLang="zh-CN" baseline="30000" dirty="0">
                <a:sym typeface="Times New Roman" panose="02020603050405020304" pitchFamily="18" charset="0"/>
              </a:rPr>
              <a:t>-19</a:t>
            </a:r>
            <a:r>
              <a:rPr lang="en-US" altLang="zh-CN" dirty="0">
                <a:sym typeface="Times New Roman" panose="02020603050405020304" pitchFamily="18" charset="0"/>
              </a:rPr>
              <a:t>eV</a:t>
            </a:r>
            <a:r>
              <a:rPr lang="zh-CN" altLang="en-US" dirty="0">
                <a:sym typeface="Times New Roman" panose="02020603050405020304" pitchFamily="18" charset="0"/>
              </a:rPr>
              <a:t>），准连续</a:t>
            </a:r>
            <a:r>
              <a:rPr lang="en-US" altLang="zh-CN" dirty="0">
                <a:sym typeface="Times New Roman" panose="02020603050405020304" pitchFamily="18" charset="0"/>
              </a:rPr>
              <a:t>——</a:t>
            </a:r>
            <a:r>
              <a:rPr lang="zh-CN" altLang="en-US" dirty="0">
                <a:solidFill>
                  <a:srgbClr val="FF3300"/>
                </a:solidFill>
                <a:sym typeface="Times New Roman" panose="02020603050405020304" pitchFamily="18" charset="0"/>
              </a:rPr>
              <a:t>能带</a:t>
            </a:r>
          </a:p>
        </p:txBody>
      </p:sp>
      <p:sp>
        <p:nvSpPr>
          <p:cNvPr id="31748" name="Rectangle 18">
            <a:extLst>
              <a:ext uri="{FF2B5EF4-FFF2-40B4-BE49-F238E27FC236}">
                <a16:creationId xmlns:a16="http://schemas.microsoft.com/office/drawing/2014/main" id="{B96E57B2-2DCD-4BE4-A957-330717EB2730}"/>
              </a:ext>
            </a:extLst>
          </p:cNvPr>
          <p:cNvSpPr>
            <a:spLocks noChangeArrowheads="1"/>
          </p:cNvSpPr>
          <p:nvPr/>
        </p:nvSpPr>
        <p:spPr bwMode="auto">
          <a:xfrm>
            <a:off x="414077" y="2736390"/>
            <a:ext cx="5943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r>
              <a:rPr lang="en-US" altLang="zh-CN" dirty="0">
                <a:sym typeface="Times New Roman" panose="02020603050405020304" pitchFamily="18" charset="0"/>
              </a:rPr>
              <a:t>s</a:t>
            </a:r>
            <a:r>
              <a:rPr lang="zh-CN" altLang="en-US" dirty="0">
                <a:sym typeface="Times New Roman" panose="02020603050405020304" pitchFamily="18" charset="0"/>
              </a:rPr>
              <a:t>能级</a:t>
            </a:r>
            <a:r>
              <a:rPr kumimoji="1" lang="en-US" altLang="zh-CN" dirty="0">
                <a:sym typeface="Times New Roman" panose="02020603050405020304" pitchFamily="18" charset="0"/>
              </a:rPr>
              <a:t>2</a:t>
            </a:r>
            <a:r>
              <a:rPr kumimoji="1" lang="zh-CN" altLang="en-US" dirty="0">
                <a:sym typeface="Times New Roman" panose="02020603050405020304" pitchFamily="18" charset="0"/>
              </a:rPr>
              <a:t>度简并，</a:t>
            </a:r>
            <a:r>
              <a:rPr lang="zh-CN" altLang="en-US" dirty="0">
                <a:sym typeface="Times New Roman" panose="02020603050405020304" pitchFamily="18" charset="0"/>
              </a:rPr>
              <a:t>交叠后分裂为</a:t>
            </a:r>
            <a:r>
              <a:rPr lang="en-US" altLang="zh-CN" dirty="0">
                <a:sym typeface="Times New Roman" panose="02020603050405020304" pitchFamily="18" charset="0"/>
              </a:rPr>
              <a:t>2N</a:t>
            </a:r>
            <a:r>
              <a:rPr lang="zh-CN" altLang="en-US" dirty="0">
                <a:sym typeface="Times New Roman" panose="02020603050405020304" pitchFamily="18" charset="0"/>
              </a:rPr>
              <a:t>个能级；</a:t>
            </a:r>
          </a:p>
          <a:p>
            <a:pPr eaLnBrk="1" hangingPunct="1"/>
            <a:r>
              <a:rPr lang="en-US" altLang="zh-CN" dirty="0">
                <a:sym typeface="Times New Roman" panose="02020603050405020304" pitchFamily="18" charset="0"/>
              </a:rPr>
              <a:t>p </a:t>
            </a:r>
            <a:r>
              <a:rPr lang="zh-CN" altLang="en-US" dirty="0">
                <a:sym typeface="Times New Roman" panose="02020603050405020304" pitchFamily="18" charset="0"/>
              </a:rPr>
              <a:t>能级</a:t>
            </a:r>
            <a:r>
              <a:rPr lang="en-US" altLang="zh-CN" dirty="0">
                <a:sym typeface="Times New Roman" panose="02020603050405020304" pitchFamily="18" charset="0"/>
              </a:rPr>
              <a:t>6</a:t>
            </a:r>
            <a:r>
              <a:rPr lang="zh-CN" altLang="en-US" dirty="0">
                <a:sym typeface="Times New Roman" panose="02020603050405020304" pitchFamily="18" charset="0"/>
              </a:rPr>
              <a:t>度简并，交叠后分裂为</a:t>
            </a:r>
            <a:r>
              <a:rPr lang="en-US" altLang="zh-CN" dirty="0">
                <a:sym typeface="Times New Roman" panose="02020603050405020304" pitchFamily="18" charset="0"/>
              </a:rPr>
              <a:t>6N</a:t>
            </a:r>
            <a:r>
              <a:rPr lang="zh-CN" altLang="en-US" dirty="0">
                <a:sym typeface="Times New Roman" panose="02020603050405020304" pitchFamily="18" charset="0"/>
              </a:rPr>
              <a:t>个能级</a:t>
            </a:r>
          </a:p>
          <a:p>
            <a:pPr eaLnBrk="1" hangingPunct="1"/>
            <a:r>
              <a:rPr lang="en-US" altLang="zh-CN" dirty="0">
                <a:sym typeface="Times New Roman" panose="02020603050405020304" pitchFamily="18" charset="0"/>
              </a:rPr>
              <a:t>d </a:t>
            </a:r>
            <a:r>
              <a:rPr lang="zh-CN" altLang="en-US" dirty="0">
                <a:sym typeface="Times New Roman" panose="02020603050405020304" pitchFamily="18" charset="0"/>
              </a:rPr>
              <a:t>能级</a:t>
            </a:r>
            <a:r>
              <a:rPr lang="en-US" altLang="zh-CN" dirty="0">
                <a:sym typeface="Times New Roman" panose="02020603050405020304" pitchFamily="18" charset="0"/>
              </a:rPr>
              <a:t>10</a:t>
            </a:r>
            <a:r>
              <a:rPr lang="zh-CN" altLang="en-US" dirty="0">
                <a:sym typeface="Times New Roman" panose="02020603050405020304" pitchFamily="18" charset="0"/>
              </a:rPr>
              <a:t>度简并</a:t>
            </a:r>
            <a:r>
              <a:rPr lang="en-US" altLang="zh-CN" dirty="0">
                <a:sym typeface="Times New Roman" panose="02020603050405020304" pitchFamily="18" charset="0"/>
              </a:rPr>
              <a:t>,</a:t>
            </a:r>
            <a:r>
              <a:rPr lang="zh-CN" altLang="en-US" dirty="0">
                <a:sym typeface="Times New Roman" panose="02020603050405020304" pitchFamily="18" charset="0"/>
              </a:rPr>
              <a:t>交叠后分裂为</a:t>
            </a:r>
            <a:r>
              <a:rPr lang="en-US" altLang="zh-CN" dirty="0">
                <a:sym typeface="Times New Roman" panose="02020603050405020304" pitchFamily="18" charset="0"/>
              </a:rPr>
              <a:t>10N</a:t>
            </a:r>
            <a:r>
              <a:rPr lang="zh-CN" altLang="en-US" dirty="0">
                <a:sym typeface="Times New Roman" panose="02020603050405020304" pitchFamily="18" charset="0"/>
              </a:rPr>
              <a:t>个能级</a:t>
            </a:r>
          </a:p>
        </p:txBody>
      </p:sp>
      <p:pic>
        <p:nvPicPr>
          <p:cNvPr id="8" name="Picture 4" descr="图片5">
            <a:extLst>
              <a:ext uri="{FF2B5EF4-FFF2-40B4-BE49-F238E27FC236}">
                <a16:creationId xmlns:a16="http://schemas.microsoft.com/office/drawing/2014/main" id="{5E05019B-DABE-4079-BD60-509AE572D5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407" y="3996885"/>
            <a:ext cx="3971119" cy="2203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5">
            <a:extLst>
              <a:ext uri="{FF2B5EF4-FFF2-40B4-BE49-F238E27FC236}">
                <a16:creationId xmlns:a16="http://schemas.microsoft.com/office/drawing/2014/main" id="{933A9050-4AEE-4E97-AD40-6E7A3940AF79}"/>
              </a:ext>
            </a:extLst>
          </p:cNvPr>
          <p:cNvSpPr>
            <a:spLocks noChangeArrowheads="1"/>
          </p:cNvSpPr>
          <p:nvPr/>
        </p:nvSpPr>
        <p:spPr bwMode="auto">
          <a:xfrm>
            <a:off x="4788024" y="4668953"/>
            <a:ext cx="3429000" cy="1292662"/>
          </a:xfrm>
          <a:prstGeom prst="rect">
            <a:avLst/>
          </a:prstGeom>
          <a:noFill/>
          <a:ln w="9525" algn="ctr">
            <a:noFill/>
            <a:miter lim="800000"/>
            <a:headEnd/>
            <a:tailEnd/>
          </a:ln>
        </p:spPr>
        <p:txBody>
          <a:bodyPr anchor="ctr">
            <a:spAutoFit/>
          </a:bodyPr>
          <a:lstStyle/>
          <a:p>
            <a:pPr marL="809625" indent="-809625" eaLnBrk="1" hangingPunct="1">
              <a:lnSpc>
                <a:spcPct val="130000"/>
              </a:lnSpc>
              <a:defRPr/>
            </a:pPr>
            <a:r>
              <a:rPr lang="zh-CN" altLang="en-US" sz="2000" b="1" dirty="0">
                <a:solidFill>
                  <a:srgbClr val="FF3300"/>
                </a:solidFill>
                <a:cs typeface="Times New Roman" pitchFamily="18" charset="0"/>
                <a:sym typeface="Times New Roman" panose="02020603050405020304" pitchFamily="18" charset="0"/>
              </a:rPr>
              <a:t>允带：</a:t>
            </a:r>
            <a:r>
              <a:rPr lang="zh-CN" altLang="en-US" sz="2000" b="1" dirty="0">
                <a:solidFill>
                  <a:srgbClr val="000000"/>
                </a:solidFill>
                <a:cs typeface="Times New Roman" pitchFamily="18" charset="0"/>
                <a:sym typeface="Times New Roman" panose="02020603050405020304" pitchFamily="18" charset="0"/>
              </a:rPr>
              <a:t>能级分裂产生的每一个能带</a:t>
            </a:r>
          </a:p>
          <a:p>
            <a:pPr eaLnBrk="1" hangingPunct="1">
              <a:lnSpc>
                <a:spcPct val="130000"/>
              </a:lnSpc>
              <a:defRPr/>
            </a:pPr>
            <a:r>
              <a:rPr lang="zh-CN" altLang="en-US" sz="2000" b="1" dirty="0">
                <a:solidFill>
                  <a:srgbClr val="FF3300"/>
                </a:solidFill>
                <a:cs typeface="Times New Roman" pitchFamily="18" charset="0"/>
                <a:sym typeface="Times New Roman" panose="02020603050405020304" pitchFamily="18" charset="0"/>
              </a:rPr>
              <a:t>禁带：</a:t>
            </a:r>
            <a:r>
              <a:rPr lang="zh-CN" altLang="en-US" sz="2000" b="1" dirty="0">
                <a:solidFill>
                  <a:srgbClr val="000000"/>
                </a:solidFill>
                <a:cs typeface="Times New Roman" pitchFamily="18" charset="0"/>
                <a:sym typeface="Times New Roman" panose="02020603050405020304" pitchFamily="18" charset="0"/>
              </a:rPr>
              <a:t>允带之间没有能级</a:t>
            </a:r>
            <a:endParaRPr lang="zh-CN" altLang="en-US" sz="2000" b="1" dirty="0">
              <a:solidFill>
                <a:srgbClr val="000000"/>
              </a:solidFill>
              <a:sym typeface="Times New Roman" panose="02020603050405020304" pitchFamily="18" charset="0"/>
            </a:endParaRPr>
          </a:p>
        </p:txBody>
      </p:sp>
      <p:sp>
        <p:nvSpPr>
          <p:cNvPr id="2" name="矩形 1">
            <a:extLst>
              <a:ext uri="{FF2B5EF4-FFF2-40B4-BE49-F238E27FC236}">
                <a16:creationId xmlns:a16="http://schemas.microsoft.com/office/drawing/2014/main" id="{D4BEC086-B655-46D8-BED2-729C7C2B7767}"/>
              </a:ext>
            </a:extLst>
          </p:cNvPr>
          <p:cNvSpPr/>
          <p:nvPr/>
        </p:nvSpPr>
        <p:spPr>
          <a:xfrm>
            <a:off x="234970" y="657144"/>
            <a:ext cx="3110147" cy="461665"/>
          </a:xfrm>
          <a:prstGeom prst="rect">
            <a:avLst/>
          </a:prstGeom>
        </p:spPr>
        <p:txBody>
          <a:bodyPr wrap="none">
            <a:spAutoFit/>
          </a:bodyPr>
          <a:lstStyle/>
          <a:p>
            <a:pPr algn="ctr"/>
            <a:r>
              <a:rPr lang="en-US" altLang="zh-CN" sz="2400" dirty="0">
                <a:solidFill>
                  <a:srgbClr val="FF0000"/>
                </a:solidFill>
                <a:sym typeface="Times New Roman" panose="02020603050405020304" pitchFamily="18" charset="0"/>
              </a:rPr>
              <a:t>2</a:t>
            </a:r>
            <a:r>
              <a:rPr lang="zh-CN" altLang="en-US" sz="2400" dirty="0">
                <a:solidFill>
                  <a:srgbClr val="FF0000"/>
                </a:solidFill>
                <a:sym typeface="Times New Roman" panose="02020603050405020304" pitchFamily="18" charset="0"/>
              </a:rPr>
              <a:t>、固体中能带的形成</a:t>
            </a:r>
          </a:p>
        </p:txBody>
      </p:sp>
    </p:spTree>
    <p:extLst>
      <p:ext uri="{BB962C8B-B14F-4D97-AF65-F5344CB8AC3E}">
        <p14:creationId xmlns:p14="http://schemas.microsoft.com/office/powerpoint/2010/main" val="110016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4" descr="图片5">
            <a:extLst>
              <a:ext uri="{FF2B5EF4-FFF2-40B4-BE49-F238E27FC236}">
                <a16:creationId xmlns:a16="http://schemas.microsoft.com/office/drawing/2014/main" id="{39DC87A8-71B8-46C6-88B7-44FE4C04D2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2663825"/>
            <a:ext cx="466725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Rectangle 6">
            <a:extLst>
              <a:ext uri="{FF2B5EF4-FFF2-40B4-BE49-F238E27FC236}">
                <a16:creationId xmlns:a16="http://schemas.microsoft.com/office/drawing/2014/main" id="{A1D39438-5C80-49D5-877F-F9AAC69843AE}"/>
              </a:ext>
            </a:extLst>
          </p:cNvPr>
          <p:cNvSpPr>
            <a:spLocks noChangeArrowheads="1"/>
          </p:cNvSpPr>
          <p:nvPr/>
        </p:nvSpPr>
        <p:spPr bwMode="auto">
          <a:xfrm>
            <a:off x="827088" y="874713"/>
            <a:ext cx="7010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266700" indent="-2667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40000"/>
              </a:lnSpc>
              <a:spcBef>
                <a:spcPct val="0"/>
              </a:spcBef>
              <a:buClrTx/>
              <a:buFont typeface="Wingdings" panose="05000000000000000000" pitchFamily="2" charset="2"/>
              <a:buChar char="Ø"/>
            </a:pPr>
            <a:r>
              <a:rPr lang="zh-CN" altLang="en-US">
                <a:cs typeface="Times New Roman" panose="02020603050405020304" pitchFamily="18" charset="0"/>
                <a:sym typeface="Times New Roman" panose="02020603050405020304" pitchFamily="18" charset="0"/>
              </a:rPr>
              <a:t>低能级内壳层电子共有化弱，能级分裂小，能带窄</a:t>
            </a:r>
          </a:p>
          <a:p>
            <a:pPr eaLnBrk="1" hangingPunct="1">
              <a:lnSpc>
                <a:spcPct val="140000"/>
              </a:lnSpc>
              <a:spcBef>
                <a:spcPct val="0"/>
              </a:spcBef>
              <a:buClrTx/>
              <a:buFont typeface="Wingdings" panose="05000000000000000000" pitchFamily="2" charset="2"/>
              <a:buChar char="Ø"/>
            </a:pPr>
            <a:r>
              <a:rPr lang="zh-CN" altLang="en-US">
                <a:cs typeface="Times New Roman" panose="02020603050405020304" pitchFamily="18" charset="0"/>
                <a:sym typeface="Times New Roman" panose="02020603050405020304" pitchFamily="18" charset="0"/>
              </a:rPr>
              <a:t>高能级外壳层电子共有化强，能级分裂大，能带宽 </a:t>
            </a:r>
          </a:p>
          <a:p>
            <a:pPr eaLnBrk="1" hangingPunct="1">
              <a:lnSpc>
                <a:spcPct val="140000"/>
              </a:lnSpc>
              <a:spcBef>
                <a:spcPct val="0"/>
              </a:spcBef>
              <a:buClrTx/>
              <a:buFont typeface="Wingdings" panose="05000000000000000000" pitchFamily="2" charset="2"/>
              <a:buChar char="Ø"/>
            </a:pPr>
            <a:r>
              <a:rPr lang="zh-CN" altLang="en-US">
                <a:cs typeface="Times New Roman" panose="02020603050405020304" pitchFamily="18" charset="0"/>
                <a:sym typeface="Times New Roman" panose="02020603050405020304" pitchFamily="18" charset="0"/>
              </a:rPr>
              <a:t>价电子的能带最宽， “准自由电子”</a:t>
            </a:r>
          </a:p>
        </p:txBody>
      </p:sp>
      <p:sp>
        <p:nvSpPr>
          <p:cNvPr id="33796" name="Rectangle 8">
            <a:extLst>
              <a:ext uri="{FF2B5EF4-FFF2-40B4-BE49-F238E27FC236}">
                <a16:creationId xmlns:a16="http://schemas.microsoft.com/office/drawing/2014/main" id="{5C61D5C9-C322-45F8-A303-1CFAA589E680}"/>
              </a:ext>
            </a:extLst>
          </p:cNvPr>
          <p:cNvSpPr>
            <a:spLocks noChangeArrowheads="1"/>
          </p:cNvSpPr>
          <p:nvPr/>
        </p:nvSpPr>
        <p:spPr bwMode="auto">
          <a:xfrm>
            <a:off x="381000" y="5334000"/>
            <a:ext cx="77724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zh-CN" altLang="en-US">
                <a:sym typeface="Times New Roman" panose="02020603050405020304" pitchFamily="18" charset="0"/>
              </a:rPr>
              <a:t>根据能量最小化原理，晶体中电子先填满低能带才能填充高能带，填满的能带成为</a:t>
            </a:r>
            <a:r>
              <a:rPr lang="zh-CN" altLang="en-US">
                <a:solidFill>
                  <a:srgbClr val="FF3300"/>
                </a:solidFill>
                <a:sym typeface="Times New Roman" panose="02020603050405020304" pitchFamily="18" charset="0"/>
              </a:rPr>
              <a:t>满带</a:t>
            </a:r>
            <a:r>
              <a:rPr lang="zh-CN" altLang="en-US">
                <a:sym typeface="Times New Roman" panose="02020603050405020304" pitchFamily="18" charset="0"/>
              </a:rPr>
              <a:t>。没有电子的成为</a:t>
            </a:r>
            <a:r>
              <a:rPr lang="zh-CN" altLang="en-US">
                <a:solidFill>
                  <a:srgbClr val="FF3300"/>
                </a:solidFill>
                <a:sym typeface="Times New Roman" panose="02020603050405020304" pitchFamily="18" charset="0"/>
              </a:rPr>
              <a:t>空带</a:t>
            </a:r>
            <a:r>
              <a:rPr lang="zh-CN" altLang="en-US">
                <a:sym typeface="Times New Roman" panose="02020603050405020304" pitchFamily="18" charset="0"/>
              </a:rPr>
              <a:t>，中间是</a:t>
            </a:r>
            <a:r>
              <a:rPr lang="zh-CN" altLang="en-US">
                <a:solidFill>
                  <a:srgbClr val="FF3300"/>
                </a:solidFill>
                <a:sym typeface="Times New Roman" panose="02020603050405020304" pitchFamily="18" charset="0"/>
              </a:rPr>
              <a:t>禁带</a:t>
            </a:r>
          </a:p>
        </p:txBody>
      </p:sp>
      <p:sp>
        <p:nvSpPr>
          <p:cNvPr id="33797" name="矩形 1">
            <a:extLst>
              <a:ext uri="{FF2B5EF4-FFF2-40B4-BE49-F238E27FC236}">
                <a16:creationId xmlns:a16="http://schemas.microsoft.com/office/drawing/2014/main" id="{3D7A26A9-D5DB-45A3-8A8A-C8B9EAF1AB0C}"/>
              </a:ext>
            </a:extLst>
          </p:cNvPr>
          <p:cNvSpPr>
            <a:spLocks noChangeArrowheads="1"/>
          </p:cNvSpPr>
          <p:nvPr/>
        </p:nvSpPr>
        <p:spPr bwMode="auto">
          <a:xfrm>
            <a:off x="3211513" y="341313"/>
            <a:ext cx="1627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 typeface="Wingdings" panose="05000000000000000000" pitchFamily="2" charset="2"/>
              <a:buNone/>
            </a:pPr>
            <a:r>
              <a:rPr lang="zh-CN" altLang="en-US" sz="2800">
                <a:solidFill>
                  <a:srgbClr val="FF0000"/>
                </a:solidFill>
                <a:sym typeface="Times New Roman" panose="02020603050405020304" pitchFamily="18" charset="0"/>
              </a:rPr>
              <a:t>能带特点</a:t>
            </a:r>
          </a:p>
        </p:txBody>
      </p:sp>
    </p:spTree>
    <p:extLst>
      <p:ext uri="{BB962C8B-B14F-4D97-AF65-F5344CB8AC3E}">
        <p14:creationId xmlns:p14="http://schemas.microsoft.com/office/powerpoint/2010/main" val="29884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a:extLst>
              <a:ext uri="{FF2B5EF4-FFF2-40B4-BE49-F238E27FC236}">
                <a16:creationId xmlns:a16="http://schemas.microsoft.com/office/drawing/2014/main" id="{AB2656DC-EF91-4238-AC6D-EE7E0658291E}"/>
              </a:ext>
            </a:extLst>
          </p:cNvPr>
          <p:cNvSpPr>
            <a:spLocks noGrp="1" noChangeArrowheads="1"/>
          </p:cNvSpPr>
          <p:nvPr>
            <p:ph idx="1"/>
          </p:nvPr>
        </p:nvSpPr>
        <p:spPr>
          <a:xfrm>
            <a:off x="2410708" y="692696"/>
            <a:ext cx="4106863" cy="523255"/>
          </a:xfrm>
        </p:spPr>
        <p:txBody>
          <a:bodyPr/>
          <a:lstStyle/>
          <a:p>
            <a:pPr>
              <a:buFont typeface="Wingdings" panose="05000000000000000000" pitchFamily="2" charset="2"/>
              <a:buNone/>
            </a:pPr>
            <a:r>
              <a:rPr lang="en-US" altLang="zh-CN" sz="2400" dirty="0">
                <a:solidFill>
                  <a:srgbClr val="FF0000"/>
                </a:solidFill>
              </a:rPr>
              <a:t>2.</a:t>
            </a:r>
            <a:r>
              <a:rPr lang="zh-CN" altLang="en-US" sz="2400" dirty="0">
                <a:solidFill>
                  <a:srgbClr val="FF0000"/>
                </a:solidFill>
              </a:rPr>
              <a:t>晶体中电子能带的形成</a:t>
            </a:r>
          </a:p>
          <a:p>
            <a:pPr>
              <a:buFont typeface="Wingdings" panose="05000000000000000000" pitchFamily="2" charset="2"/>
              <a:buNone/>
            </a:pPr>
            <a:endParaRPr lang="en-US" altLang="zh-CN" sz="2400" dirty="0">
              <a:solidFill>
                <a:srgbClr val="FF0000"/>
              </a:solidFill>
            </a:endParaRPr>
          </a:p>
        </p:txBody>
      </p:sp>
      <p:pic>
        <p:nvPicPr>
          <p:cNvPr id="55308" name="Picture 12" descr="0111">
            <a:extLst>
              <a:ext uri="{FF2B5EF4-FFF2-40B4-BE49-F238E27FC236}">
                <a16:creationId xmlns:a16="http://schemas.microsoft.com/office/drawing/2014/main" id="{3F8F2D26-C476-4A34-B10A-9CB45A016D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2852738"/>
            <a:ext cx="5076825" cy="1592262"/>
          </a:xfrm>
          <a:prstGeom prst="rect">
            <a:avLst/>
          </a:prstGeom>
          <a:noFill/>
          <a:extLst>
            <a:ext uri="{909E8E84-426E-40DD-AFC4-6F175D3DCCD1}">
              <a14:hiddenFill xmlns:a14="http://schemas.microsoft.com/office/drawing/2010/main">
                <a:solidFill>
                  <a:srgbClr val="FFFFFF"/>
                </a:solidFill>
              </a14:hiddenFill>
            </a:ext>
          </a:extLst>
        </p:spPr>
      </p:pic>
      <p:pic>
        <p:nvPicPr>
          <p:cNvPr id="55309" name="Picture 13" descr="0112">
            <a:extLst>
              <a:ext uri="{FF2B5EF4-FFF2-40B4-BE49-F238E27FC236}">
                <a16:creationId xmlns:a16="http://schemas.microsoft.com/office/drawing/2014/main" id="{5773334F-3F4D-4334-9497-81B82C76CC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5963" y="2492375"/>
            <a:ext cx="2952750" cy="2474913"/>
          </a:xfrm>
          <a:prstGeom prst="rect">
            <a:avLst/>
          </a:prstGeom>
          <a:noFill/>
          <a:extLst>
            <a:ext uri="{909E8E84-426E-40DD-AFC4-6F175D3DCCD1}">
              <a14:hiddenFill xmlns:a14="http://schemas.microsoft.com/office/drawing/2010/main">
                <a:solidFill>
                  <a:srgbClr val="FFFFFF"/>
                </a:solidFill>
              </a14:hiddenFill>
            </a:ext>
          </a:extLst>
        </p:spPr>
      </p:pic>
      <p:sp>
        <p:nvSpPr>
          <p:cNvPr id="55312" name="Text Box 16">
            <a:extLst>
              <a:ext uri="{FF2B5EF4-FFF2-40B4-BE49-F238E27FC236}">
                <a16:creationId xmlns:a16="http://schemas.microsoft.com/office/drawing/2014/main" id="{E965E9BE-3B22-41FB-8F6C-0AC2B6BC0F24}"/>
              </a:ext>
            </a:extLst>
          </p:cNvPr>
          <p:cNvSpPr txBox="1">
            <a:spLocks noChangeArrowheads="1"/>
          </p:cNvSpPr>
          <p:nvPr/>
        </p:nvSpPr>
        <p:spPr bwMode="auto">
          <a:xfrm>
            <a:off x="250825" y="5445125"/>
            <a:ext cx="4319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N</a:t>
            </a:r>
            <a:r>
              <a:rPr lang="zh-CN" altLang="en-US"/>
              <a:t>个原子结合成晶体前后的能级状态</a:t>
            </a:r>
          </a:p>
        </p:txBody>
      </p:sp>
      <p:sp>
        <p:nvSpPr>
          <p:cNvPr id="55313" name="Text Box 17">
            <a:extLst>
              <a:ext uri="{FF2B5EF4-FFF2-40B4-BE49-F238E27FC236}">
                <a16:creationId xmlns:a16="http://schemas.microsoft.com/office/drawing/2014/main" id="{3D7FCEEF-EF2F-4D0F-AEE6-CA907695DB5D}"/>
              </a:ext>
            </a:extLst>
          </p:cNvPr>
          <p:cNvSpPr txBox="1">
            <a:spLocks noChangeArrowheads="1"/>
          </p:cNvSpPr>
          <p:nvPr/>
        </p:nvSpPr>
        <p:spPr bwMode="auto">
          <a:xfrm>
            <a:off x="5364163" y="5373688"/>
            <a:ext cx="32400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a:t>单个原子的能级与晶体能带的对应图</a:t>
            </a:r>
          </a:p>
        </p:txBody>
      </p:sp>
    </p:spTree>
    <p:extLst>
      <p:ext uri="{BB962C8B-B14F-4D97-AF65-F5344CB8AC3E}">
        <p14:creationId xmlns:p14="http://schemas.microsoft.com/office/powerpoint/2010/main" val="625131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4F18B34E-4466-4F30-B818-A5563336BA6B}"/>
              </a:ext>
            </a:extLst>
          </p:cNvPr>
          <p:cNvSpPr>
            <a:spLocks noGrp="1" noChangeArrowheads="1"/>
          </p:cNvSpPr>
          <p:nvPr>
            <p:ph type="title"/>
          </p:nvPr>
        </p:nvSpPr>
        <p:spPr/>
        <p:txBody>
          <a:bodyPr/>
          <a:lstStyle/>
          <a:p>
            <a:r>
              <a:rPr lang="en-US" altLang="zh-CN" sz="3200"/>
              <a:t>1.2.3</a:t>
            </a:r>
            <a:r>
              <a:rPr lang="en-US" altLang="zh-CN"/>
              <a:t> </a:t>
            </a:r>
            <a:r>
              <a:rPr lang="zh-CN" altLang="en-US" sz="3200"/>
              <a:t>硅晶体能带的形成过程</a:t>
            </a:r>
            <a:endParaRPr lang="zh-CN" altLang="en-US"/>
          </a:p>
        </p:txBody>
      </p:sp>
      <p:pic>
        <p:nvPicPr>
          <p:cNvPr id="62468" name="Picture 4" descr="0113">
            <a:extLst>
              <a:ext uri="{FF2B5EF4-FFF2-40B4-BE49-F238E27FC236}">
                <a16:creationId xmlns:a16="http://schemas.microsoft.com/office/drawing/2014/main" id="{0C9D1351-97AB-440C-827F-27C14D524D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3043949"/>
            <a:ext cx="4392194" cy="292779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7">
            <a:extLst>
              <a:ext uri="{FF2B5EF4-FFF2-40B4-BE49-F238E27FC236}">
                <a16:creationId xmlns:a16="http://schemas.microsoft.com/office/drawing/2014/main" id="{6887F37D-837D-4BDF-9771-3A39E8B87B1D}"/>
              </a:ext>
            </a:extLst>
          </p:cNvPr>
          <p:cNvSpPr>
            <a:spLocks noChangeArrowheads="1"/>
          </p:cNvSpPr>
          <p:nvPr/>
        </p:nvSpPr>
        <p:spPr bwMode="auto">
          <a:xfrm>
            <a:off x="628650" y="1844824"/>
            <a:ext cx="7416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dirty="0">
                <a:sym typeface="Times New Roman" panose="02020603050405020304" pitchFamily="18" charset="0"/>
              </a:rPr>
              <a:t>许多实际晶体的能带与孤立原子能级间并不是一一对应的，如硅和锗。</a:t>
            </a:r>
          </a:p>
        </p:txBody>
      </p:sp>
      <p:pic>
        <p:nvPicPr>
          <p:cNvPr id="2" name="图片 1">
            <a:extLst>
              <a:ext uri="{FF2B5EF4-FFF2-40B4-BE49-F238E27FC236}">
                <a16:creationId xmlns:a16="http://schemas.microsoft.com/office/drawing/2014/main" id="{1CC321C1-AD87-4E3F-AF51-D6A1F2811A9C}"/>
              </a:ext>
            </a:extLst>
          </p:cNvPr>
          <p:cNvPicPr>
            <a:picLocks noChangeAspect="1"/>
          </p:cNvPicPr>
          <p:nvPr/>
        </p:nvPicPr>
        <p:blipFill rotWithShape="1">
          <a:blip r:embed="rId3"/>
          <a:srcRect r="48265"/>
          <a:stretch/>
        </p:blipFill>
        <p:spPr>
          <a:xfrm>
            <a:off x="605257" y="3107527"/>
            <a:ext cx="2783584" cy="237027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6" name="Picture 4" descr="0115">
            <a:extLst>
              <a:ext uri="{FF2B5EF4-FFF2-40B4-BE49-F238E27FC236}">
                <a16:creationId xmlns:a16="http://schemas.microsoft.com/office/drawing/2014/main" id="{3580E1DF-7F71-43CD-8432-06D738A9CA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9" y="2541017"/>
            <a:ext cx="3600450" cy="2368550"/>
          </a:xfrm>
          <a:prstGeom prst="rect">
            <a:avLst/>
          </a:prstGeom>
          <a:noFill/>
          <a:extLst>
            <a:ext uri="{909E8E84-426E-40DD-AFC4-6F175D3DCCD1}">
              <a14:hiddenFill xmlns:a14="http://schemas.microsoft.com/office/drawing/2010/main">
                <a:solidFill>
                  <a:srgbClr val="FFFFFF"/>
                </a:solidFill>
              </a14:hiddenFill>
            </a:ext>
          </a:extLst>
        </p:spPr>
      </p:pic>
      <p:sp>
        <p:nvSpPr>
          <p:cNvPr id="64517" name="Text Box 5">
            <a:extLst>
              <a:ext uri="{FF2B5EF4-FFF2-40B4-BE49-F238E27FC236}">
                <a16:creationId xmlns:a16="http://schemas.microsoft.com/office/drawing/2014/main" id="{9C343F6B-6F7C-4343-A489-8C75D898499F}"/>
              </a:ext>
            </a:extLst>
          </p:cNvPr>
          <p:cNvSpPr txBox="1">
            <a:spLocks noChangeArrowheads="1"/>
          </p:cNvSpPr>
          <p:nvPr/>
        </p:nvSpPr>
        <p:spPr bwMode="auto">
          <a:xfrm>
            <a:off x="4283868" y="5661248"/>
            <a:ext cx="4319588"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dirty="0"/>
              <a:t>半导体能带简化表示</a:t>
            </a:r>
          </a:p>
          <a:p>
            <a:pPr algn="ctr">
              <a:spcBef>
                <a:spcPct val="50000"/>
              </a:spcBef>
            </a:pPr>
            <a:r>
              <a:rPr lang="en-US" altLang="zh-CN" dirty="0"/>
              <a:t>a</a:t>
            </a:r>
            <a:r>
              <a:rPr lang="zh-CN" altLang="en-US" dirty="0"/>
              <a:t>）能带简化表示 </a:t>
            </a:r>
            <a:r>
              <a:rPr lang="en-US" altLang="zh-CN" dirty="0"/>
              <a:t>b</a:t>
            </a:r>
            <a:r>
              <a:rPr lang="zh-CN" altLang="en-US" dirty="0"/>
              <a:t>） 能带最简化表示</a:t>
            </a:r>
          </a:p>
        </p:txBody>
      </p:sp>
      <p:sp>
        <p:nvSpPr>
          <p:cNvPr id="64518" name="Text Box 6">
            <a:extLst>
              <a:ext uri="{FF2B5EF4-FFF2-40B4-BE49-F238E27FC236}">
                <a16:creationId xmlns:a16="http://schemas.microsoft.com/office/drawing/2014/main" id="{A156F3EB-E775-4562-A36C-C392CB8B3D0B}"/>
              </a:ext>
            </a:extLst>
          </p:cNvPr>
          <p:cNvSpPr txBox="1">
            <a:spLocks noChangeArrowheads="1"/>
          </p:cNvSpPr>
          <p:nvPr/>
        </p:nvSpPr>
        <p:spPr bwMode="auto">
          <a:xfrm>
            <a:off x="684213" y="3356992"/>
            <a:ext cx="2951162"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t>一般用</a:t>
            </a:r>
            <a:r>
              <a:rPr lang="zh-CN" altLang="en-US" sz="2400" dirty="0">
                <a:latin typeface="Arial" panose="020B0604020202020204" pitchFamily="34" charset="0"/>
              </a:rPr>
              <a:t>“</a:t>
            </a:r>
            <a:r>
              <a:rPr lang="en-US" altLang="zh-CN" sz="2400" dirty="0" err="1"/>
              <a:t>E</a:t>
            </a:r>
            <a:r>
              <a:rPr lang="en-US" altLang="zh-CN" sz="2400" baseline="-25000" dirty="0" err="1"/>
              <a:t>c</a:t>
            </a:r>
            <a:r>
              <a:rPr lang="en-US" altLang="zh-CN" sz="2400" dirty="0">
                <a:latin typeface="Arial" panose="020B0604020202020204" pitchFamily="34" charset="0"/>
              </a:rPr>
              <a:t>”</a:t>
            </a:r>
            <a:r>
              <a:rPr lang="zh-CN" altLang="en-US" sz="2400" dirty="0"/>
              <a:t>表示导带底的能量，用</a:t>
            </a:r>
            <a:r>
              <a:rPr lang="en-US" altLang="zh-CN" sz="2400" dirty="0" err="1"/>
              <a:t>E</a:t>
            </a:r>
            <a:r>
              <a:rPr lang="en-US" altLang="zh-CN" sz="2400" baseline="-25000" dirty="0" err="1"/>
              <a:t>v</a:t>
            </a:r>
            <a:r>
              <a:rPr lang="zh-CN" altLang="en-US" sz="2400" dirty="0"/>
              <a:t>表示价带底的能量，</a:t>
            </a:r>
            <a:r>
              <a:rPr lang="en-US" altLang="zh-CN" sz="2400" dirty="0" err="1"/>
              <a:t>E</a:t>
            </a:r>
            <a:r>
              <a:rPr lang="en-US" altLang="zh-CN" sz="2400" baseline="-25000" dirty="0" err="1"/>
              <a:t>g</a:t>
            </a:r>
            <a:r>
              <a:rPr lang="zh-CN" altLang="en-US" sz="2400" dirty="0"/>
              <a:t>表示禁带宽度。</a:t>
            </a:r>
          </a:p>
        </p:txBody>
      </p:sp>
      <p:sp>
        <p:nvSpPr>
          <p:cNvPr id="7" name="Rectangle 2">
            <a:extLst>
              <a:ext uri="{FF2B5EF4-FFF2-40B4-BE49-F238E27FC236}">
                <a16:creationId xmlns:a16="http://schemas.microsoft.com/office/drawing/2014/main" id="{65036422-3C60-4CA6-A297-1D30372C47BD}"/>
              </a:ext>
            </a:extLst>
          </p:cNvPr>
          <p:cNvSpPr>
            <a:spLocks noGrp="1" noChangeArrowheads="1"/>
          </p:cNvSpPr>
          <p:nvPr>
            <p:ph type="title"/>
          </p:nvPr>
        </p:nvSpPr>
        <p:spPr>
          <a:xfrm>
            <a:off x="1710282" y="256010"/>
            <a:ext cx="5580558" cy="1325563"/>
          </a:xfrm>
        </p:spPr>
        <p:txBody>
          <a:bodyPr/>
          <a:lstStyle/>
          <a:p>
            <a:r>
              <a:rPr lang="en-US" altLang="zh-CN" sz="3200" dirty="0"/>
              <a:t>1.2.4 </a:t>
            </a:r>
            <a:r>
              <a:rPr lang="zh-CN" altLang="en-US" sz="3200" dirty="0"/>
              <a:t>能带图的意义及简化表示</a:t>
            </a:r>
          </a:p>
        </p:txBody>
      </p:sp>
      <p:sp>
        <p:nvSpPr>
          <p:cNvPr id="8" name="Text Box 4">
            <a:extLst>
              <a:ext uri="{FF2B5EF4-FFF2-40B4-BE49-F238E27FC236}">
                <a16:creationId xmlns:a16="http://schemas.microsoft.com/office/drawing/2014/main" id="{3C3721F1-2EF2-4B23-A32D-6C8C2E72448C}"/>
              </a:ext>
            </a:extLst>
          </p:cNvPr>
          <p:cNvSpPr txBox="1">
            <a:spLocks noChangeArrowheads="1"/>
          </p:cNvSpPr>
          <p:nvPr/>
        </p:nvSpPr>
        <p:spPr bwMode="auto">
          <a:xfrm>
            <a:off x="828674" y="1624389"/>
            <a:ext cx="73437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t>晶体实际的能带图比较复杂，可以把复杂的能带图进行简化</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a:extLst>
              <a:ext uri="{FF2B5EF4-FFF2-40B4-BE49-F238E27FC236}">
                <a16:creationId xmlns:a16="http://schemas.microsoft.com/office/drawing/2014/main" id="{F24C24AA-78D1-4D58-ADB4-8615E785690A}"/>
              </a:ext>
            </a:extLst>
          </p:cNvPr>
          <p:cNvSpPr>
            <a:spLocks noChangeArrowheads="1"/>
          </p:cNvSpPr>
          <p:nvPr/>
        </p:nvSpPr>
        <p:spPr bwMode="auto">
          <a:xfrm>
            <a:off x="2074490" y="946933"/>
            <a:ext cx="4995019"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zh-CN" altLang="en-US" sz="2800" dirty="0">
                <a:solidFill>
                  <a:srgbClr val="0000FF"/>
                </a:solidFill>
                <a:sym typeface="Times New Roman" panose="02020603050405020304" pitchFamily="18" charset="0"/>
              </a:rPr>
              <a:t>导体、半导体、绝缘体的能带</a:t>
            </a:r>
          </a:p>
        </p:txBody>
      </p:sp>
      <p:sp>
        <p:nvSpPr>
          <p:cNvPr id="49155" name="Rectangle 5">
            <a:extLst>
              <a:ext uri="{FF2B5EF4-FFF2-40B4-BE49-F238E27FC236}">
                <a16:creationId xmlns:a16="http://schemas.microsoft.com/office/drawing/2014/main" id="{3080D4A2-1129-4E97-9A8D-8D6A55078003}"/>
              </a:ext>
            </a:extLst>
          </p:cNvPr>
          <p:cNvSpPr>
            <a:spLocks noChangeArrowheads="1"/>
          </p:cNvSpPr>
          <p:nvPr/>
        </p:nvSpPr>
        <p:spPr bwMode="auto">
          <a:xfrm>
            <a:off x="539750" y="1900238"/>
            <a:ext cx="81534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40000"/>
              </a:lnSpc>
              <a:spcBef>
                <a:spcPct val="0"/>
              </a:spcBef>
              <a:buClrTx/>
              <a:buFontTx/>
              <a:buNone/>
            </a:pPr>
            <a:r>
              <a:rPr lang="zh-CN" altLang="en-US">
                <a:solidFill>
                  <a:srgbClr val="FF3300"/>
                </a:solidFill>
                <a:sym typeface="Times New Roman" panose="02020603050405020304" pitchFamily="18" charset="0"/>
              </a:rPr>
              <a:t>固体导电机制：</a:t>
            </a:r>
            <a:r>
              <a:rPr lang="zh-CN" altLang="en-US">
                <a:sym typeface="Times New Roman" panose="02020603050405020304" pitchFamily="18" charset="0"/>
              </a:rPr>
              <a:t>电子在外电场作用下做定向运动，电子的速度和能量发生变化。从能带论来看，就是电子从一个能级跃迁到另一个能级。</a:t>
            </a:r>
          </a:p>
        </p:txBody>
      </p:sp>
      <p:sp>
        <p:nvSpPr>
          <p:cNvPr id="53256" name="Rectangle 8">
            <a:extLst>
              <a:ext uri="{FF2B5EF4-FFF2-40B4-BE49-F238E27FC236}">
                <a16:creationId xmlns:a16="http://schemas.microsoft.com/office/drawing/2014/main" id="{F988B4A3-9B28-4001-ACB8-CF5A2338DF4E}"/>
              </a:ext>
            </a:extLst>
          </p:cNvPr>
          <p:cNvSpPr>
            <a:spLocks noChangeArrowheads="1"/>
          </p:cNvSpPr>
          <p:nvPr/>
        </p:nvSpPr>
        <p:spPr bwMode="auto">
          <a:xfrm>
            <a:off x="487363" y="3429000"/>
            <a:ext cx="76962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801688" indent="-801688">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40000"/>
              </a:lnSpc>
              <a:spcBef>
                <a:spcPct val="0"/>
              </a:spcBef>
              <a:buClrTx/>
              <a:buFontTx/>
              <a:buNone/>
            </a:pPr>
            <a:r>
              <a:rPr lang="zh-CN" altLang="en-US">
                <a:solidFill>
                  <a:srgbClr val="FF3300"/>
                </a:solidFill>
                <a:sym typeface="Times New Roman" panose="02020603050405020304" pitchFamily="18" charset="0"/>
              </a:rPr>
              <a:t>满带：</a:t>
            </a:r>
            <a:r>
              <a:rPr lang="zh-CN" altLang="en-US">
                <a:sym typeface="Times New Roman" panose="02020603050405020304" pitchFamily="18" charset="0"/>
              </a:rPr>
              <a:t>能级已为电子占满，在外电场作用下，满带中的电子不形成电流，对导电没有贡献，通常原子中的内层电子都是占据满带中的能级，因面内层电子对导电没有贡献。</a:t>
            </a:r>
          </a:p>
          <a:p>
            <a:pPr eaLnBrk="1" hangingPunct="1">
              <a:lnSpc>
                <a:spcPct val="140000"/>
              </a:lnSpc>
              <a:spcBef>
                <a:spcPct val="0"/>
              </a:spcBef>
              <a:buClrTx/>
              <a:buFontTx/>
              <a:buNone/>
            </a:pPr>
            <a:r>
              <a:rPr lang="zh-CN" altLang="en-US">
                <a:solidFill>
                  <a:srgbClr val="FF3300"/>
                </a:solidFill>
                <a:sym typeface="Times New Roman" panose="02020603050405020304" pitchFamily="18" charset="0"/>
              </a:rPr>
              <a:t>部分占满的能带（导带）</a:t>
            </a:r>
            <a:r>
              <a:rPr lang="zh-CN" altLang="en-US">
                <a:sym typeface="Times New Roman" panose="02020603050405020304" pitchFamily="18" charset="0"/>
              </a:rPr>
              <a:t>：在外电场作用下，电子可从外电场吸收能量跃迁到未被电子占据的能级去，形成电流，起导电作用。通常参与导电的是外层价电子。</a:t>
            </a:r>
          </a:p>
        </p:txBody>
      </p:sp>
    </p:spTree>
    <p:extLst>
      <p:ext uri="{BB962C8B-B14F-4D97-AF65-F5344CB8AC3E}">
        <p14:creationId xmlns:p14="http://schemas.microsoft.com/office/powerpoint/2010/main" val="29366396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http://luohuiqian.kepu.cn/wp-content/uploads/auto_save_image/2010/10/063149yGX.jpg">
            <a:extLst>
              <a:ext uri="{FF2B5EF4-FFF2-40B4-BE49-F238E27FC236}">
                <a16:creationId xmlns:a16="http://schemas.microsoft.com/office/drawing/2014/main" id="{0BBC0C07-5DB6-4E61-9625-4BB4597AA3E6}"/>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04800" y="304800"/>
            <a:ext cx="5113338" cy="366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79" name="Picture 5" descr="图片52">
            <a:extLst>
              <a:ext uri="{FF2B5EF4-FFF2-40B4-BE49-F238E27FC236}">
                <a16:creationId xmlns:a16="http://schemas.microsoft.com/office/drawing/2014/main" id="{0159EE6F-4E9F-4FCF-98A2-694E8915E3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7753"/>
          <a:stretch>
            <a:fillRect/>
          </a:stretch>
        </p:blipFill>
        <p:spPr bwMode="auto">
          <a:xfrm>
            <a:off x="6019800" y="304800"/>
            <a:ext cx="294957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Rectangle 6">
            <a:extLst>
              <a:ext uri="{FF2B5EF4-FFF2-40B4-BE49-F238E27FC236}">
                <a16:creationId xmlns:a16="http://schemas.microsoft.com/office/drawing/2014/main" id="{CEBAD42A-52D9-48D0-A3E3-3A45A081E8D2}"/>
              </a:ext>
            </a:extLst>
          </p:cNvPr>
          <p:cNvSpPr>
            <a:spLocks noChangeArrowheads="1"/>
          </p:cNvSpPr>
          <p:nvPr/>
        </p:nvSpPr>
        <p:spPr bwMode="auto">
          <a:xfrm>
            <a:off x="457200" y="4267200"/>
            <a:ext cx="78486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261938" indent="-261938">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40000"/>
              </a:lnSpc>
              <a:spcBef>
                <a:spcPct val="0"/>
              </a:spcBef>
              <a:buClrTx/>
              <a:buFont typeface="Wingdings" panose="05000000000000000000" pitchFamily="2" charset="2"/>
              <a:buChar char="Ø"/>
            </a:pPr>
            <a:r>
              <a:rPr lang="zh-CN" altLang="en-US">
                <a:solidFill>
                  <a:srgbClr val="FF3300"/>
                </a:solidFill>
                <a:sym typeface="Times New Roman" panose="02020603050405020304" pitchFamily="18" charset="0"/>
              </a:rPr>
              <a:t>金属：</a:t>
            </a:r>
            <a:r>
              <a:rPr lang="zh-CN" altLang="en-US">
                <a:sym typeface="Times New Roman" panose="02020603050405020304" pitchFamily="18" charset="0"/>
              </a:rPr>
              <a:t>价电子占据的能带</a:t>
            </a:r>
            <a:r>
              <a:rPr lang="zh-CN" altLang="en-US">
                <a:solidFill>
                  <a:srgbClr val="FF3300"/>
                </a:solidFill>
                <a:sym typeface="Times New Roman" panose="02020603050405020304" pitchFamily="18" charset="0"/>
              </a:rPr>
              <a:t>（价带）部分占满</a:t>
            </a:r>
            <a:r>
              <a:rPr lang="en-US" altLang="zh-CN">
                <a:sym typeface="Times New Roman" panose="02020603050405020304" pitchFamily="18" charset="0"/>
              </a:rPr>
              <a:t>——</a:t>
            </a:r>
            <a:r>
              <a:rPr lang="zh-CN" altLang="en-US">
                <a:sym typeface="Times New Roman" panose="02020603050405020304" pitchFamily="18" charset="0"/>
              </a:rPr>
              <a:t>导体。</a:t>
            </a:r>
          </a:p>
          <a:p>
            <a:pPr eaLnBrk="1" hangingPunct="1">
              <a:lnSpc>
                <a:spcPct val="140000"/>
              </a:lnSpc>
              <a:spcBef>
                <a:spcPct val="0"/>
              </a:spcBef>
              <a:buClrTx/>
              <a:buFont typeface="Wingdings" panose="05000000000000000000" pitchFamily="2" charset="2"/>
              <a:buChar char="Ø"/>
            </a:pPr>
            <a:r>
              <a:rPr lang="zh-CN" altLang="en-US">
                <a:solidFill>
                  <a:srgbClr val="FF3300"/>
                </a:solidFill>
                <a:sym typeface="Times New Roman" panose="02020603050405020304" pitchFamily="18" charset="0"/>
              </a:rPr>
              <a:t>绝缘体和半导体：</a:t>
            </a:r>
            <a:r>
              <a:rPr lang="zh-CN" altLang="en-US">
                <a:sym typeface="Times New Roman" panose="02020603050405020304" pitchFamily="18" charset="0"/>
              </a:rPr>
              <a:t>低温时，</a:t>
            </a:r>
            <a:r>
              <a:rPr lang="zh-CN" altLang="en-US">
                <a:solidFill>
                  <a:srgbClr val="FF3300"/>
                </a:solidFill>
                <a:sym typeface="Times New Roman" panose="02020603050405020304" pitchFamily="18" charset="0"/>
              </a:rPr>
              <a:t>价带完全占满</a:t>
            </a:r>
            <a:r>
              <a:rPr lang="zh-CN" altLang="en-US">
                <a:sym typeface="Times New Roman" panose="02020603050405020304" pitchFamily="18" charset="0"/>
              </a:rPr>
              <a:t>（其下面还有为内层电子占满的能带），在外电场作用下并不导电。 </a:t>
            </a:r>
          </a:p>
          <a:p>
            <a:pPr eaLnBrk="1" hangingPunct="1">
              <a:lnSpc>
                <a:spcPct val="140000"/>
              </a:lnSpc>
              <a:spcBef>
                <a:spcPct val="0"/>
              </a:spcBef>
              <a:buClrTx/>
              <a:buFont typeface="Wingdings" panose="05000000000000000000" pitchFamily="2" charset="2"/>
              <a:buChar char="Ø"/>
            </a:pPr>
            <a:r>
              <a:rPr lang="zh-CN" altLang="en-US">
                <a:solidFill>
                  <a:srgbClr val="FF3300"/>
                </a:solidFill>
                <a:sym typeface="Times New Roman" panose="02020603050405020304" pitchFamily="18" charset="0"/>
              </a:rPr>
              <a:t>绝缘体的禁带宽度</a:t>
            </a:r>
            <a:r>
              <a:rPr lang="en-US" altLang="zh-CN" i="1">
                <a:solidFill>
                  <a:srgbClr val="FF3300"/>
                </a:solidFill>
                <a:sym typeface="Times New Roman" panose="02020603050405020304" pitchFamily="18" charset="0"/>
              </a:rPr>
              <a:t>E</a:t>
            </a:r>
            <a:r>
              <a:rPr lang="en-US" altLang="zh-CN" i="1" baseline="-25000">
                <a:solidFill>
                  <a:srgbClr val="FF3300"/>
                </a:solidFill>
                <a:sym typeface="Times New Roman" panose="02020603050405020304" pitchFamily="18" charset="0"/>
              </a:rPr>
              <a:t>g</a:t>
            </a:r>
            <a:r>
              <a:rPr lang="zh-CN" altLang="en-US">
                <a:solidFill>
                  <a:srgbClr val="FF3300"/>
                </a:solidFill>
                <a:sym typeface="Times New Roman" panose="02020603050405020304" pitchFamily="18" charset="0"/>
              </a:rPr>
              <a:t>大</a:t>
            </a:r>
            <a:r>
              <a:rPr lang="zh-CN" altLang="en-US">
                <a:sym typeface="Times New Roman" panose="02020603050405020304" pitchFamily="18" charset="0"/>
              </a:rPr>
              <a:t>（</a:t>
            </a:r>
            <a:r>
              <a:rPr lang="en-US" altLang="zh-CN">
                <a:sym typeface="Times New Roman" panose="02020603050405020304" pitchFamily="18" charset="0"/>
              </a:rPr>
              <a:t>&gt;4eV</a:t>
            </a:r>
            <a:r>
              <a:rPr lang="zh-CN" altLang="en-US">
                <a:sym typeface="Times New Roman" panose="02020603050405020304" pitchFamily="18" charset="0"/>
              </a:rPr>
              <a:t>）</a:t>
            </a:r>
          </a:p>
          <a:p>
            <a:pPr eaLnBrk="1" hangingPunct="1">
              <a:lnSpc>
                <a:spcPct val="140000"/>
              </a:lnSpc>
              <a:spcBef>
                <a:spcPct val="0"/>
              </a:spcBef>
              <a:buClrTx/>
              <a:buFont typeface="Wingdings" panose="05000000000000000000" pitchFamily="2" charset="2"/>
              <a:buChar char="Ø"/>
            </a:pPr>
            <a:r>
              <a:rPr lang="zh-CN" altLang="en-US">
                <a:solidFill>
                  <a:srgbClr val="FF3300"/>
                </a:solidFill>
                <a:sym typeface="Times New Roman" panose="02020603050405020304" pitchFamily="18" charset="0"/>
              </a:rPr>
              <a:t>半导体禁带宽度</a:t>
            </a:r>
            <a:r>
              <a:rPr lang="en-US" altLang="zh-CN" i="1">
                <a:solidFill>
                  <a:srgbClr val="FF3300"/>
                </a:solidFill>
                <a:sym typeface="Times New Roman" panose="02020603050405020304" pitchFamily="18" charset="0"/>
              </a:rPr>
              <a:t>E</a:t>
            </a:r>
            <a:r>
              <a:rPr lang="en-US" altLang="zh-CN" i="1" baseline="-25000">
                <a:solidFill>
                  <a:srgbClr val="FF3300"/>
                </a:solidFill>
                <a:sym typeface="Times New Roman" panose="02020603050405020304" pitchFamily="18" charset="0"/>
              </a:rPr>
              <a:t>g</a:t>
            </a:r>
            <a:r>
              <a:rPr lang="zh-CN" altLang="en-US">
                <a:solidFill>
                  <a:srgbClr val="FF3300"/>
                </a:solidFill>
                <a:sym typeface="Times New Roman" panose="02020603050405020304" pitchFamily="18" charset="0"/>
              </a:rPr>
              <a:t>小</a:t>
            </a:r>
            <a:r>
              <a:rPr lang="zh-CN" altLang="en-US">
                <a:sym typeface="Times New Roman" panose="02020603050405020304" pitchFamily="18" charset="0"/>
              </a:rPr>
              <a:t>（</a:t>
            </a:r>
            <a:r>
              <a:rPr lang="en-US" altLang="zh-CN">
                <a:sym typeface="Times New Roman" panose="02020603050405020304" pitchFamily="18" charset="0"/>
              </a:rPr>
              <a:t>1-2eV</a:t>
            </a:r>
            <a:r>
              <a:rPr lang="zh-CN" altLang="en-US">
                <a:sym typeface="Times New Roman" panose="02020603050405020304" pitchFamily="18" charset="0"/>
              </a:rPr>
              <a:t>）</a:t>
            </a:r>
          </a:p>
        </p:txBody>
      </p:sp>
    </p:spTree>
    <p:extLst>
      <p:ext uri="{BB962C8B-B14F-4D97-AF65-F5344CB8AC3E}">
        <p14:creationId xmlns:p14="http://schemas.microsoft.com/office/powerpoint/2010/main" val="1125548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a:extLst>
              <a:ext uri="{FF2B5EF4-FFF2-40B4-BE49-F238E27FC236}">
                <a16:creationId xmlns:a16="http://schemas.microsoft.com/office/drawing/2014/main" id="{1BAA040A-46C2-4E13-BC74-4E97F322E549}"/>
              </a:ext>
            </a:extLst>
          </p:cNvPr>
          <p:cNvSpPr>
            <a:spLocks noChangeArrowheads="1"/>
          </p:cNvSpPr>
          <p:nvPr/>
        </p:nvSpPr>
        <p:spPr bwMode="auto">
          <a:xfrm>
            <a:off x="0" y="4070350"/>
            <a:ext cx="89154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266700" indent="-2667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 typeface="Wingdings" panose="05000000000000000000" pitchFamily="2" charset="2"/>
              <a:buChar char="Ø"/>
            </a:pPr>
            <a:r>
              <a:rPr lang="zh-CN" altLang="en-US">
                <a:sym typeface="Times New Roman" panose="02020603050405020304" pitchFamily="18" charset="0"/>
              </a:rPr>
              <a:t>绝缘体</a:t>
            </a:r>
            <a:r>
              <a:rPr lang="en-US" altLang="zh-CN" i="1">
                <a:sym typeface="Times New Roman" panose="02020603050405020304" pitchFamily="18" charset="0"/>
              </a:rPr>
              <a:t>E</a:t>
            </a:r>
            <a:r>
              <a:rPr lang="en-US" altLang="zh-CN" i="1" baseline="-25000">
                <a:sym typeface="Times New Roman" panose="02020603050405020304" pitchFamily="18" charset="0"/>
              </a:rPr>
              <a:t>g</a:t>
            </a:r>
            <a:r>
              <a:rPr lang="zh-CN" altLang="en-US">
                <a:sym typeface="Times New Roman" panose="02020603050405020304" pitchFamily="18" charset="0"/>
              </a:rPr>
              <a:t>大，激发电子到导带需要很大能量，导电性差</a:t>
            </a:r>
          </a:p>
          <a:p>
            <a:pPr eaLnBrk="1" hangingPunct="1">
              <a:lnSpc>
                <a:spcPct val="150000"/>
              </a:lnSpc>
              <a:spcBef>
                <a:spcPct val="0"/>
              </a:spcBef>
              <a:buClrTx/>
              <a:buFont typeface="Wingdings" panose="05000000000000000000" pitchFamily="2" charset="2"/>
              <a:buChar char="Ø"/>
            </a:pPr>
            <a:r>
              <a:rPr lang="zh-CN" altLang="en-US">
                <a:sym typeface="Times New Roman" panose="02020603050405020304" pitchFamily="18" charset="0"/>
              </a:rPr>
              <a:t>半导体</a:t>
            </a:r>
            <a:r>
              <a:rPr lang="en-US" altLang="zh-CN" i="1">
                <a:sym typeface="Times New Roman" panose="02020603050405020304" pitchFamily="18" charset="0"/>
              </a:rPr>
              <a:t>E</a:t>
            </a:r>
            <a:r>
              <a:rPr lang="en-US" altLang="zh-CN" i="1" baseline="-25000">
                <a:sym typeface="Times New Roman" panose="02020603050405020304" pitchFamily="18" charset="0"/>
              </a:rPr>
              <a:t>g</a:t>
            </a:r>
            <a:r>
              <a:rPr lang="zh-CN" altLang="en-US">
                <a:sym typeface="Times New Roman" panose="02020603050405020304" pitchFamily="18" charset="0"/>
              </a:rPr>
              <a:t>小，通常温度下已有不少电子被激发到导带，具有一定的导电能力。</a:t>
            </a:r>
          </a:p>
          <a:p>
            <a:pPr eaLnBrk="1" hangingPunct="1">
              <a:lnSpc>
                <a:spcPct val="150000"/>
              </a:lnSpc>
              <a:spcBef>
                <a:spcPct val="0"/>
              </a:spcBef>
              <a:buClrTx/>
              <a:buFont typeface="Wingdings" panose="05000000000000000000" pitchFamily="2" charset="2"/>
              <a:buChar char="Ø"/>
            </a:pPr>
            <a:r>
              <a:rPr lang="zh-CN" altLang="en-US">
                <a:sym typeface="Times New Roman" panose="02020603050405020304" pitchFamily="18" charset="0"/>
              </a:rPr>
              <a:t>例如，室温下金刚石</a:t>
            </a:r>
            <a:r>
              <a:rPr lang="en-US" altLang="zh-CN" i="1">
                <a:sym typeface="Times New Roman" panose="02020603050405020304" pitchFamily="18" charset="0"/>
              </a:rPr>
              <a:t>E</a:t>
            </a:r>
            <a:r>
              <a:rPr lang="en-US" altLang="zh-CN" i="1" baseline="-25000">
                <a:sym typeface="Times New Roman" panose="02020603050405020304" pitchFamily="18" charset="0"/>
              </a:rPr>
              <a:t>g</a:t>
            </a:r>
            <a:r>
              <a:rPr lang="en-US" altLang="zh-CN">
                <a:sym typeface="Times New Roman" panose="02020603050405020304" pitchFamily="18" charset="0"/>
              </a:rPr>
              <a:t>=6.7eV</a:t>
            </a:r>
            <a:r>
              <a:rPr lang="zh-CN" altLang="en-US">
                <a:sym typeface="Times New Roman" panose="02020603050405020304" pitchFamily="18" charset="0"/>
              </a:rPr>
              <a:t>，硅</a:t>
            </a:r>
            <a:r>
              <a:rPr lang="en-US" altLang="zh-CN" i="1">
                <a:sym typeface="Times New Roman" panose="02020603050405020304" pitchFamily="18" charset="0"/>
              </a:rPr>
              <a:t>Eg</a:t>
            </a:r>
            <a:r>
              <a:rPr lang="en-US" altLang="zh-CN">
                <a:sym typeface="Times New Roman" panose="02020603050405020304" pitchFamily="18" charset="0"/>
              </a:rPr>
              <a:t>=1.12 eV</a:t>
            </a:r>
            <a:r>
              <a:rPr lang="zh-CN" altLang="en-US">
                <a:sym typeface="Times New Roman" panose="02020603050405020304" pitchFamily="18" charset="0"/>
              </a:rPr>
              <a:t>，</a:t>
            </a:r>
          </a:p>
          <a:p>
            <a:pPr eaLnBrk="1" hangingPunct="1">
              <a:lnSpc>
                <a:spcPct val="150000"/>
              </a:lnSpc>
              <a:spcBef>
                <a:spcPct val="0"/>
              </a:spcBef>
              <a:buClrTx/>
              <a:buFont typeface="Wingdings" panose="05000000000000000000" pitchFamily="2" charset="2"/>
              <a:buNone/>
            </a:pPr>
            <a:r>
              <a:rPr lang="zh-CN" altLang="en-US">
                <a:sym typeface="Times New Roman" panose="02020603050405020304" pitchFamily="18" charset="0"/>
              </a:rPr>
              <a:t>                 锗</a:t>
            </a:r>
            <a:r>
              <a:rPr lang="en-US" altLang="zh-CN" i="1">
                <a:sym typeface="Times New Roman" panose="02020603050405020304" pitchFamily="18" charset="0"/>
              </a:rPr>
              <a:t>Eg</a:t>
            </a:r>
            <a:r>
              <a:rPr lang="en-US" altLang="zh-CN">
                <a:sym typeface="Times New Roman" panose="02020603050405020304" pitchFamily="18" charset="0"/>
              </a:rPr>
              <a:t>=0.67eV</a:t>
            </a:r>
            <a:r>
              <a:rPr lang="zh-CN" altLang="en-US">
                <a:sym typeface="Times New Roman" panose="02020603050405020304" pitchFamily="18" charset="0"/>
              </a:rPr>
              <a:t>，砷化稼</a:t>
            </a:r>
            <a:r>
              <a:rPr lang="en-US" altLang="zh-CN" i="1">
                <a:sym typeface="Times New Roman" panose="02020603050405020304" pitchFamily="18" charset="0"/>
              </a:rPr>
              <a:t>Eg</a:t>
            </a:r>
            <a:r>
              <a:rPr lang="en-US" altLang="zh-CN">
                <a:sym typeface="Times New Roman" panose="02020603050405020304" pitchFamily="18" charset="0"/>
              </a:rPr>
              <a:t>=1. 43 eV</a:t>
            </a:r>
            <a:r>
              <a:rPr lang="zh-CN" altLang="en-US">
                <a:sym typeface="Times New Roman" panose="02020603050405020304" pitchFamily="18" charset="0"/>
              </a:rPr>
              <a:t>。</a:t>
            </a:r>
          </a:p>
        </p:txBody>
      </p:sp>
      <p:pic>
        <p:nvPicPr>
          <p:cNvPr id="51203" name="Picture 5" descr="http://luohuiqian.kepu.cn/wp-content/uploads/auto_save_image/2010/10/063149yGX.jpg">
            <a:extLst>
              <a:ext uri="{FF2B5EF4-FFF2-40B4-BE49-F238E27FC236}">
                <a16:creationId xmlns:a16="http://schemas.microsoft.com/office/drawing/2014/main" id="{35F3E1E9-CC77-4914-9E4C-118060E994E0}"/>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5181600" y="1066800"/>
            <a:ext cx="3962400" cy="284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Rectangle 6">
            <a:extLst>
              <a:ext uri="{FF2B5EF4-FFF2-40B4-BE49-F238E27FC236}">
                <a16:creationId xmlns:a16="http://schemas.microsoft.com/office/drawing/2014/main" id="{ADAB0CBB-1F1A-43CC-A0F6-650EE7BE6CBE}"/>
              </a:ext>
            </a:extLst>
          </p:cNvPr>
          <p:cNvSpPr>
            <a:spLocks noChangeArrowheads="1"/>
          </p:cNvSpPr>
          <p:nvPr/>
        </p:nvSpPr>
        <p:spPr bwMode="auto">
          <a:xfrm>
            <a:off x="0" y="1109663"/>
            <a:ext cx="50292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182563" indent="-182563">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40000"/>
              </a:lnSpc>
              <a:spcBef>
                <a:spcPct val="0"/>
              </a:spcBef>
              <a:buClrTx/>
              <a:buFont typeface="Wingdings" panose="05000000000000000000" pitchFamily="2" charset="2"/>
              <a:buChar char="Ø"/>
            </a:pPr>
            <a:r>
              <a:rPr lang="zh-CN" altLang="en-US">
                <a:sym typeface="Times New Roman" panose="02020603050405020304" pitchFamily="18" charset="0"/>
              </a:rPr>
              <a:t>温度升高或光照时，半导体价带中少量电子激发到导电中去，参与导电</a:t>
            </a:r>
          </a:p>
          <a:p>
            <a:pPr eaLnBrk="1" hangingPunct="1">
              <a:lnSpc>
                <a:spcPct val="140000"/>
              </a:lnSpc>
              <a:spcBef>
                <a:spcPct val="0"/>
              </a:spcBef>
              <a:buClrTx/>
              <a:buFont typeface="Wingdings" panose="05000000000000000000" pitchFamily="2" charset="2"/>
              <a:buChar char="Ø"/>
            </a:pPr>
            <a:r>
              <a:rPr lang="zh-CN" altLang="en-US">
                <a:sym typeface="Times New Roman" panose="02020603050405020304" pitchFamily="18" charset="0"/>
              </a:rPr>
              <a:t>价带中由于少了一些电子，在价带顶附近出现空状态（</a:t>
            </a:r>
            <a:r>
              <a:rPr lang="zh-CN" altLang="en-US">
                <a:solidFill>
                  <a:srgbClr val="FF3300"/>
                </a:solidFill>
                <a:sym typeface="Times New Roman" panose="02020603050405020304" pitchFamily="18" charset="0"/>
              </a:rPr>
              <a:t>空穴</a:t>
            </a:r>
            <a:r>
              <a:rPr lang="zh-CN" altLang="en-US">
                <a:sym typeface="Times New Roman" panose="02020603050405020304" pitchFamily="18" charset="0"/>
              </a:rPr>
              <a:t>）。</a:t>
            </a:r>
          </a:p>
          <a:p>
            <a:pPr eaLnBrk="1" hangingPunct="1">
              <a:lnSpc>
                <a:spcPct val="140000"/>
              </a:lnSpc>
              <a:spcBef>
                <a:spcPct val="0"/>
              </a:spcBef>
              <a:buClrTx/>
              <a:buFont typeface="Wingdings" panose="05000000000000000000" pitchFamily="2" charset="2"/>
              <a:buChar char="Ø"/>
            </a:pPr>
            <a:r>
              <a:rPr lang="zh-CN" altLang="en-US">
                <a:solidFill>
                  <a:srgbClr val="FF3300"/>
                </a:solidFill>
                <a:sym typeface="Times New Roman" panose="02020603050405020304" pitchFamily="18" charset="0"/>
              </a:rPr>
              <a:t>半导体导电的特点：导带中有电子有空穴</a:t>
            </a:r>
          </a:p>
          <a:p>
            <a:pPr eaLnBrk="1" hangingPunct="1">
              <a:lnSpc>
                <a:spcPct val="140000"/>
              </a:lnSpc>
              <a:spcBef>
                <a:spcPct val="0"/>
              </a:spcBef>
              <a:buClrTx/>
              <a:buFont typeface="Wingdings" panose="05000000000000000000" pitchFamily="2" charset="2"/>
              <a:buChar char="Ø"/>
            </a:pPr>
            <a:endParaRPr lang="en-US" altLang="zh-CN">
              <a:solidFill>
                <a:srgbClr val="FF3300"/>
              </a:solidFill>
              <a:sym typeface="Times New Roman" panose="02020603050405020304" pitchFamily="18" charset="0"/>
            </a:endParaRPr>
          </a:p>
        </p:txBody>
      </p:sp>
    </p:spTree>
    <p:extLst>
      <p:ext uri="{BB962C8B-B14F-4D97-AF65-F5344CB8AC3E}">
        <p14:creationId xmlns:p14="http://schemas.microsoft.com/office/powerpoint/2010/main" val="468744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a:extLst>
              <a:ext uri="{FF2B5EF4-FFF2-40B4-BE49-F238E27FC236}">
                <a16:creationId xmlns:a16="http://schemas.microsoft.com/office/drawing/2014/main" id="{82F602C4-8281-4739-B901-E8DAF90C316E}"/>
              </a:ext>
            </a:extLst>
          </p:cNvPr>
          <p:cNvSpPr>
            <a:spLocks noChangeArrowheads="1"/>
          </p:cNvSpPr>
          <p:nvPr/>
        </p:nvSpPr>
        <p:spPr bwMode="auto">
          <a:xfrm>
            <a:off x="679450" y="6242050"/>
            <a:ext cx="1905000" cy="457200"/>
          </a:xfrm>
          <a:prstGeom prst="rect">
            <a:avLst/>
          </a:prstGeom>
          <a:noFill/>
          <a:ln>
            <a:noFill/>
          </a:ln>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12700">
                <a:solidFill>
                  <a:srgbClr val="F8F8F8"/>
                </a:solidFill>
                <a:miter lim="800000"/>
                <a:headEnd/>
                <a:tailEnd/>
              </a14:hiddenLine>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sz="2400">
              <a:solidFill>
                <a:schemeClr val="tx1"/>
              </a:solidFill>
              <a:sym typeface="Times New Roman" panose="02020603050405020304" pitchFamily="18" charset="0"/>
            </a:endParaRPr>
          </a:p>
        </p:txBody>
      </p:sp>
      <p:sp>
        <p:nvSpPr>
          <p:cNvPr id="53251" name="Rectangle 5">
            <a:extLst>
              <a:ext uri="{FF2B5EF4-FFF2-40B4-BE49-F238E27FC236}">
                <a16:creationId xmlns:a16="http://schemas.microsoft.com/office/drawing/2014/main" id="{1B2FAA92-42F4-4D79-A41B-E236342A21D3}"/>
              </a:ext>
            </a:extLst>
          </p:cNvPr>
          <p:cNvSpPr>
            <a:spLocks noChangeArrowheads="1"/>
          </p:cNvSpPr>
          <p:nvPr/>
        </p:nvSpPr>
        <p:spPr bwMode="auto">
          <a:xfrm>
            <a:off x="3117850" y="6242050"/>
            <a:ext cx="2895600" cy="457200"/>
          </a:xfrm>
          <a:prstGeom prst="rect">
            <a:avLst/>
          </a:prstGeom>
          <a:noFill/>
          <a:ln>
            <a:noFill/>
          </a:ln>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12700">
                <a:solidFill>
                  <a:srgbClr val="F8F8F8"/>
                </a:solidFill>
                <a:miter lim="800000"/>
                <a:headEnd/>
                <a:tailEnd/>
              </a14:hiddenLine>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sz="2400">
              <a:solidFill>
                <a:schemeClr val="tx1"/>
              </a:solidFill>
              <a:sym typeface="Times New Roman" panose="02020603050405020304" pitchFamily="18" charset="0"/>
            </a:endParaRPr>
          </a:p>
        </p:txBody>
      </p:sp>
      <p:sp>
        <p:nvSpPr>
          <p:cNvPr id="53252" name="Rectangle 7">
            <a:extLst>
              <a:ext uri="{FF2B5EF4-FFF2-40B4-BE49-F238E27FC236}">
                <a16:creationId xmlns:a16="http://schemas.microsoft.com/office/drawing/2014/main" id="{F5C93717-C45B-4FBD-B3F3-576A0AFBD737}"/>
              </a:ext>
            </a:extLst>
          </p:cNvPr>
          <p:cNvSpPr>
            <a:spLocks noChangeArrowheads="1"/>
          </p:cNvSpPr>
          <p:nvPr/>
        </p:nvSpPr>
        <p:spPr bwMode="auto">
          <a:xfrm>
            <a:off x="319088" y="3343544"/>
            <a:ext cx="8105775" cy="160020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8F8F8"/>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br>
              <a:rPr kumimoji="1" lang="zh-CN" altLang="en-US" sz="2400" u="sng" dirty="0">
                <a:solidFill>
                  <a:schemeClr val="tx1"/>
                </a:solidFill>
                <a:ea typeface="ˎ̥"/>
                <a:cs typeface="ˎ̥"/>
                <a:sym typeface="Times New Roman" panose="02020603050405020304" pitchFamily="18" charset="0"/>
              </a:rPr>
            </a:br>
            <a:r>
              <a:rPr kumimoji="1" lang="zh-CN" altLang="en-US" sz="2400" dirty="0">
                <a:solidFill>
                  <a:schemeClr val="tx1"/>
                </a:solidFill>
                <a:sym typeface="Times New Roman" panose="02020603050405020304" pitchFamily="18" charset="0"/>
              </a:rPr>
              <a:t>空穴：将价带电子的导电作用等效为带正</a:t>
            </a:r>
            <a:br>
              <a:rPr kumimoji="1" lang="zh-CN" altLang="en-US" sz="2400" dirty="0">
                <a:solidFill>
                  <a:schemeClr val="tx1"/>
                </a:solidFill>
                <a:sym typeface="Times New Roman" panose="02020603050405020304" pitchFamily="18" charset="0"/>
              </a:rPr>
            </a:br>
            <a:r>
              <a:rPr kumimoji="1" lang="zh-CN" altLang="en-US" sz="2400" dirty="0">
                <a:solidFill>
                  <a:schemeClr val="tx1"/>
                </a:solidFill>
                <a:sym typeface="Times New Roman" panose="02020603050405020304" pitchFamily="18" charset="0"/>
              </a:rPr>
              <a:t>电荷的准粒子的导电作用。</a:t>
            </a:r>
          </a:p>
        </p:txBody>
      </p:sp>
      <p:sp>
        <p:nvSpPr>
          <p:cNvPr id="53253" name="Rectangle 8">
            <a:extLst>
              <a:ext uri="{FF2B5EF4-FFF2-40B4-BE49-F238E27FC236}">
                <a16:creationId xmlns:a16="http://schemas.microsoft.com/office/drawing/2014/main" id="{13C50325-DFDF-4A75-8FF5-C36FDDDCC03F}"/>
              </a:ext>
            </a:extLst>
          </p:cNvPr>
          <p:cNvSpPr>
            <a:spLocks noChangeArrowheads="1"/>
          </p:cNvSpPr>
          <p:nvPr/>
        </p:nvSpPr>
        <p:spPr bwMode="auto">
          <a:xfrm>
            <a:off x="319088" y="5201649"/>
            <a:ext cx="8515350" cy="1323695"/>
          </a:xfrm>
          <a:prstGeom prst="rect">
            <a:avLst/>
          </a:prstGeom>
          <a:noFill/>
          <a:ln w="12700">
            <a:solidFill>
              <a:srgbClr val="FF6600"/>
            </a:solidFill>
            <a:miter lim="800000"/>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buClr>
                <a:schemeClr val="hlink"/>
              </a:buClr>
              <a:buSzPct val="70000"/>
              <a:buFont typeface="Wingdings" panose="05000000000000000000" pitchFamily="2" charset="2"/>
              <a:buNone/>
            </a:pPr>
            <a:r>
              <a:rPr kumimoji="1" lang="en-US" altLang="zh-CN" sz="2400" dirty="0">
                <a:solidFill>
                  <a:schemeClr val="tx1"/>
                </a:solidFill>
                <a:cs typeface="Times New Roman" panose="02020603050405020304" pitchFamily="18" charset="0"/>
                <a:sym typeface="Times New Roman" panose="02020603050405020304" pitchFamily="18" charset="0"/>
              </a:rPr>
              <a:t>A</a:t>
            </a:r>
            <a:r>
              <a:rPr kumimoji="1" lang="zh-CN" altLang="en-US" sz="2400" dirty="0">
                <a:solidFill>
                  <a:schemeClr val="tx1"/>
                </a:solidFill>
                <a:cs typeface="Times New Roman" panose="02020603050405020304" pitchFamily="18" charset="0"/>
                <a:sym typeface="Times New Roman" panose="02020603050405020304" pitchFamily="18" charset="0"/>
              </a:rPr>
              <a:t>、荷正电：</a:t>
            </a:r>
            <a:r>
              <a:rPr kumimoji="1" lang="en-US" altLang="zh-CN" sz="2400" dirty="0">
                <a:solidFill>
                  <a:schemeClr val="tx1"/>
                </a:solidFill>
                <a:cs typeface="Times New Roman" panose="02020603050405020304" pitchFamily="18" charset="0"/>
                <a:sym typeface="Times New Roman" panose="02020603050405020304" pitchFamily="18" charset="0"/>
              </a:rPr>
              <a:t>+q</a:t>
            </a:r>
            <a:r>
              <a:rPr kumimoji="1" lang="zh-CN" altLang="en-US" sz="2400" dirty="0">
                <a:solidFill>
                  <a:schemeClr val="tx1"/>
                </a:solidFill>
                <a:cs typeface="Times New Roman" panose="02020603050405020304" pitchFamily="18" charset="0"/>
                <a:sym typeface="Times New Roman" panose="02020603050405020304" pitchFamily="18" charset="0"/>
              </a:rPr>
              <a:t>； </a:t>
            </a:r>
          </a:p>
          <a:p>
            <a:pPr>
              <a:buClrTx/>
              <a:buFontTx/>
              <a:buNone/>
            </a:pPr>
            <a:r>
              <a:rPr kumimoji="1" lang="en-US" altLang="zh-CN" sz="2400" dirty="0">
                <a:solidFill>
                  <a:schemeClr val="tx1"/>
                </a:solidFill>
                <a:cs typeface="Times New Roman" panose="02020603050405020304" pitchFamily="18" charset="0"/>
                <a:sym typeface="Times New Roman" panose="02020603050405020304" pitchFamily="18" charset="0"/>
              </a:rPr>
              <a:t>B</a:t>
            </a:r>
            <a:r>
              <a:rPr kumimoji="1" lang="zh-CN" altLang="en-US" sz="2400" dirty="0">
                <a:solidFill>
                  <a:schemeClr val="tx1"/>
                </a:solidFill>
                <a:cs typeface="Times New Roman" panose="02020603050405020304" pitchFamily="18" charset="0"/>
                <a:sym typeface="Times New Roman" panose="02020603050405020304" pitchFamily="18" charset="0"/>
              </a:rPr>
              <a:t>、空穴浓度表示为</a:t>
            </a:r>
            <a:r>
              <a:rPr kumimoji="1" lang="en-US" altLang="zh-CN" sz="2400" dirty="0">
                <a:solidFill>
                  <a:schemeClr val="tx1"/>
                </a:solidFill>
                <a:cs typeface="Times New Roman" panose="02020603050405020304" pitchFamily="18" charset="0"/>
                <a:sym typeface="Times New Roman" panose="02020603050405020304" pitchFamily="18" charset="0"/>
              </a:rPr>
              <a:t>p</a:t>
            </a:r>
            <a:r>
              <a:rPr kumimoji="1" lang="zh-CN" altLang="en-US" sz="2400" dirty="0">
                <a:solidFill>
                  <a:schemeClr val="tx1"/>
                </a:solidFill>
                <a:cs typeface="Times New Roman" panose="02020603050405020304" pitchFamily="18" charset="0"/>
                <a:sym typeface="Times New Roman" panose="02020603050405020304" pitchFamily="18" charset="0"/>
              </a:rPr>
              <a:t>（电子浓度表示为</a:t>
            </a:r>
            <a:r>
              <a:rPr kumimoji="1" lang="en-US" altLang="zh-CN" sz="2400" dirty="0">
                <a:solidFill>
                  <a:schemeClr val="tx1"/>
                </a:solidFill>
                <a:cs typeface="Times New Roman" panose="02020603050405020304" pitchFamily="18" charset="0"/>
                <a:sym typeface="Times New Roman" panose="02020603050405020304" pitchFamily="18" charset="0"/>
              </a:rPr>
              <a:t>n</a:t>
            </a:r>
            <a:r>
              <a:rPr kumimoji="1" lang="zh-CN" altLang="en-US" sz="2400" dirty="0">
                <a:solidFill>
                  <a:schemeClr val="tx1"/>
                </a:solidFill>
                <a:cs typeface="Times New Roman" panose="02020603050405020304" pitchFamily="18" charset="0"/>
                <a:sym typeface="Times New Roman" panose="02020603050405020304" pitchFamily="18" charset="0"/>
              </a:rPr>
              <a:t>）； </a:t>
            </a:r>
          </a:p>
          <a:p>
            <a:pPr>
              <a:buClrTx/>
              <a:buFontTx/>
              <a:buNone/>
            </a:pPr>
            <a:r>
              <a:rPr kumimoji="1" lang="en-US" altLang="zh-CN" sz="2400" dirty="0">
                <a:solidFill>
                  <a:schemeClr val="tx1"/>
                </a:solidFill>
                <a:cs typeface="Times New Roman" panose="02020603050405020304" pitchFamily="18" charset="0"/>
                <a:sym typeface="Times New Roman" panose="02020603050405020304" pitchFamily="18" charset="0"/>
              </a:rPr>
              <a:t>C</a:t>
            </a:r>
            <a:r>
              <a:rPr kumimoji="1" lang="zh-CN" altLang="en-US" sz="2400" dirty="0">
                <a:solidFill>
                  <a:schemeClr val="tx1"/>
                </a:solidFill>
                <a:cs typeface="Times New Roman" panose="02020603050405020304" pitchFamily="18" charset="0"/>
                <a:sym typeface="Times New Roman" panose="02020603050405020304" pitchFamily="18" charset="0"/>
              </a:rPr>
              <a:t>、</a:t>
            </a:r>
            <a:r>
              <a:rPr kumimoji="1" lang="en-US" altLang="zh-CN" sz="2400" dirty="0">
                <a:solidFill>
                  <a:schemeClr val="tx1"/>
                </a:solidFill>
                <a:cs typeface="Times New Roman" panose="02020603050405020304" pitchFamily="18" charset="0"/>
                <a:sym typeface="Times New Roman" panose="02020603050405020304" pitchFamily="18" charset="0"/>
              </a:rPr>
              <a:t>E</a:t>
            </a:r>
            <a:r>
              <a:rPr kumimoji="1" lang="en-US" altLang="zh-CN" sz="2400" baseline="-25000" dirty="0">
                <a:solidFill>
                  <a:schemeClr val="tx1"/>
                </a:solidFill>
                <a:cs typeface="Times New Roman" panose="02020603050405020304" pitchFamily="18" charset="0"/>
                <a:sym typeface="Times New Roman" panose="02020603050405020304" pitchFamily="18" charset="0"/>
              </a:rPr>
              <a:t>P</a:t>
            </a:r>
            <a:r>
              <a:rPr kumimoji="1" lang="en-US" altLang="zh-CN" sz="2400" dirty="0">
                <a:solidFill>
                  <a:schemeClr val="tx1"/>
                </a:solidFill>
                <a:cs typeface="Times New Roman" panose="02020603050405020304" pitchFamily="18" charset="0"/>
                <a:sym typeface="Times New Roman" panose="02020603050405020304" pitchFamily="18" charset="0"/>
              </a:rPr>
              <a:t>=-</a:t>
            </a:r>
            <a:r>
              <a:rPr kumimoji="1" lang="en-US" altLang="zh-CN" sz="2400" dirty="0" err="1">
                <a:solidFill>
                  <a:schemeClr val="tx1"/>
                </a:solidFill>
                <a:cs typeface="Times New Roman" panose="02020603050405020304" pitchFamily="18" charset="0"/>
                <a:sym typeface="Times New Roman" panose="02020603050405020304" pitchFamily="18" charset="0"/>
              </a:rPr>
              <a:t>E</a:t>
            </a:r>
            <a:r>
              <a:rPr kumimoji="1" lang="en-US" altLang="zh-CN" sz="2400" baseline="-25000" dirty="0" err="1">
                <a:solidFill>
                  <a:schemeClr val="tx1"/>
                </a:solidFill>
                <a:cs typeface="Times New Roman" panose="02020603050405020304" pitchFamily="18" charset="0"/>
                <a:sym typeface="Times New Roman" panose="02020603050405020304" pitchFamily="18" charset="0"/>
              </a:rPr>
              <a:t>n</a:t>
            </a:r>
            <a:r>
              <a:rPr kumimoji="1" lang="en-US" altLang="zh-CN" sz="2400" baseline="-25000" dirty="0">
                <a:solidFill>
                  <a:schemeClr val="tx1"/>
                </a:solidFill>
                <a:cs typeface="Times New Roman" panose="02020603050405020304" pitchFamily="18" charset="0"/>
                <a:sym typeface="Times New Roman" panose="02020603050405020304" pitchFamily="18" charset="0"/>
              </a:rPr>
              <a:t> </a:t>
            </a:r>
            <a:endParaRPr kumimoji="1" lang="en-US" altLang="zh-CN" sz="2400" dirty="0">
              <a:solidFill>
                <a:schemeClr val="tx1"/>
              </a:solidFill>
              <a:cs typeface="Times New Roman" panose="02020603050405020304" pitchFamily="18" charset="0"/>
              <a:sym typeface="Times New Roman" panose="02020603050405020304" pitchFamily="18" charset="0"/>
            </a:endParaRPr>
          </a:p>
          <a:p>
            <a:pPr algn="ctr">
              <a:buClrTx/>
              <a:buFontTx/>
              <a:buNone/>
            </a:pPr>
            <a:endParaRPr lang="en-US" altLang="zh-CN" sz="2400" dirty="0">
              <a:solidFill>
                <a:schemeClr val="tx1"/>
              </a:solidFill>
              <a:cs typeface="Times New Roman" panose="02020603050405020304" pitchFamily="18" charset="0"/>
              <a:sym typeface="Times New Roman" panose="02020603050405020304" pitchFamily="18" charset="0"/>
            </a:endParaRPr>
          </a:p>
        </p:txBody>
      </p:sp>
      <p:sp>
        <p:nvSpPr>
          <p:cNvPr id="53255" name="矩形 1">
            <a:extLst>
              <a:ext uri="{FF2B5EF4-FFF2-40B4-BE49-F238E27FC236}">
                <a16:creationId xmlns:a16="http://schemas.microsoft.com/office/drawing/2014/main" id="{11DA2B80-3BBD-4C88-B000-72DBB1183584}"/>
              </a:ext>
            </a:extLst>
          </p:cNvPr>
          <p:cNvSpPr>
            <a:spLocks noChangeArrowheads="1"/>
          </p:cNvSpPr>
          <p:nvPr/>
        </p:nvSpPr>
        <p:spPr bwMode="auto">
          <a:xfrm>
            <a:off x="4069298" y="614350"/>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r>
              <a:rPr kumimoji="1" lang="zh-CN" altLang="en-US" sz="3200" dirty="0">
                <a:solidFill>
                  <a:srgbClr val="FF0000"/>
                </a:solidFill>
                <a:ea typeface="ˎ̥"/>
                <a:cs typeface="ˎ̥"/>
                <a:sym typeface="Times New Roman" panose="02020603050405020304" pitchFamily="18" charset="0"/>
              </a:rPr>
              <a:t>空穴</a:t>
            </a:r>
            <a:endParaRPr lang="zh-CN" altLang="en-US" sz="3200" dirty="0">
              <a:solidFill>
                <a:srgbClr val="FF0000"/>
              </a:solidFill>
              <a:sym typeface="Times New Roman" panose="02020603050405020304" pitchFamily="18" charset="0"/>
            </a:endParaRPr>
          </a:p>
        </p:txBody>
      </p:sp>
      <p:sp>
        <p:nvSpPr>
          <p:cNvPr id="10" name="Rectangle 6">
            <a:extLst>
              <a:ext uri="{FF2B5EF4-FFF2-40B4-BE49-F238E27FC236}">
                <a16:creationId xmlns:a16="http://schemas.microsoft.com/office/drawing/2014/main" id="{DA216F14-FCEE-4EAE-ADB5-0DA7DFFEB07E}"/>
              </a:ext>
            </a:extLst>
          </p:cNvPr>
          <p:cNvSpPr>
            <a:spLocks noChangeArrowheads="1"/>
          </p:cNvSpPr>
          <p:nvPr/>
        </p:nvSpPr>
        <p:spPr bwMode="auto">
          <a:xfrm>
            <a:off x="308280" y="1727469"/>
            <a:ext cx="8458200" cy="161607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8F8F8"/>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r>
              <a:rPr kumimoji="1" lang="zh-CN" altLang="en-US" sz="2400" dirty="0">
                <a:solidFill>
                  <a:schemeClr val="tx1"/>
                </a:solidFill>
                <a:sym typeface="Times New Roman" panose="02020603050405020304" pitchFamily="18" charset="0"/>
              </a:rPr>
              <a:t>在半导体中存在两种载流子：</a:t>
            </a:r>
            <a:br>
              <a:rPr kumimoji="1" lang="zh-CN" altLang="en-US" sz="2400" dirty="0">
                <a:solidFill>
                  <a:schemeClr val="tx1"/>
                </a:solidFill>
                <a:sym typeface="Times New Roman" panose="02020603050405020304" pitchFamily="18" charset="0"/>
              </a:rPr>
            </a:br>
            <a:r>
              <a:rPr kumimoji="1" lang="zh-CN" altLang="en-US" sz="2400" dirty="0">
                <a:solidFill>
                  <a:srgbClr val="FF0000"/>
                </a:solidFill>
                <a:sym typeface="Times New Roman" panose="02020603050405020304" pitchFamily="18" charset="0"/>
              </a:rPr>
              <a:t>（</a:t>
            </a:r>
            <a:r>
              <a:rPr kumimoji="1" lang="en-US" altLang="zh-CN" sz="2400" dirty="0">
                <a:solidFill>
                  <a:srgbClr val="FF0000"/>
                </a:solidFill>
                <a:ea typeface="ˎ̥"/>
                <a:cs typeface="ˎ̥"/>
                <a:sym typeface="Times New Roman" panose="02020603050405020304" pitchFamily="18" charset="0"/>
              </a:rPr>
              <a:t>1</a:t>
            </a:r>
            <a:r>
              <a:rPr kumimoji="1" lang="zh-CN" altLang="en-US" sz="2400" dirty="0">
                <a:solidFill>
                  <a:srgbClr val="FF0000"/>
                </a:solidFill>
                <a:sym typeface="Times New Roman" panose="02020603050405020304" pitchFamily="18" charset="0"/>
              </a:rPr>
              <a:t>）电子；</a:t>
            </a:r>
            <a:r>
              <a:rPr kumimoji="1" lang="zh-CN" altLang="en-US" sz="2400" dirty="0">
                <a:solidFill>
                  <a:srgbClr val="FF0000"/>
                </a:solidFill>
                <a:ea typeface="ˎ̥"/>
                <a:cs typeface="ˎ̥"/>
                <a:sym typeface="Times New Roman" panose="02020603050405020304" pitchFamily="18" charset="0"/>
              </a:rPr>
              <a:t> </a:t>
            </a:r>
            <a:endParaRPr kumimoji="1" lang="en-US" altLang="zh-CN" sz="2400" dirty="0">
              <a:solidFill>
                <a:srgbClr val="FF0000"/>
              </a:solidFill>
              <a:ea typeface="ˎ̥"/>
              <a:cs typeface="ˎ̥"/>
              <a:sym typeface="Times New Roman" panose="02020603050405020304" pitchFamily="18" charset="0"/>
            </a:endParaRPr>
          </a:p>
          <a:p>
            <a:pPr>
              <a:spcBef>
                <a:spcPct val="0"/>
              </a:spcBef>
              <a:buClrTx/>
              <a:buFontTx/>
              <a:buNone/>
            </a:pPr>
            <a:r>
              <a:rPr kumimoji="1" lang="zh-CN" altLang="en-US" sz="2400" dirty="0">
                <a:solidFill>
                  <a:srgbClr val="FF0000"/>
                </a:solidFill>
                <a:sym typeface="Times New Roman" panose="02020603050405020304" pitchFamily="18" charset="0"/>
              </a:rPr>
              <a:t>（</a:t>
            </a:r>
            <a:r>
              <a:rPr kumimoji="1" lang="en-US" altLang="zh-CN" sz="2400" dirty="0">
                <a:solidFill>
                  <a:srgbClr val="FF0000"/>
                </a:solidFill>
                <a:ea typeface="ˎ̥"/>
                <a:cs typeface="ˎ̥"/>
                <a:sym typeface="Times New Roman" panose="02020603050405020304" pitchFamily="18" charset="0"/>
              </a:rPr>
              <a:t>2</a:t>
            </a:r>
            <a:r>
              <a:rPr kumimoji="1" lang="zh-CN" altLang="en-US" sz="2400" dirty="0">
                <a:solidFill>
                  <a:srgbClr val="FF0000"/>
                </a:solidFill>
                <a:sym typeface="Times New Roman" panose="02020603050405020304" pitchFamily="18" charset="0"/>
              </a:rPr>
              <a:t>）空穴</a:t>
            </a:r>
            <a:r>
              <a:rPr kumimoji="1" lang="zh-CN" altLang="en-US" sz="2400" dirty="0">
                <a:solidFill>
                  <a:schemeClr val="tx1"/>
                </a:solidFill>
                <a:sym typeface="Times New Roman" panose="02020603050405020304" pitchFamily="18" charset="0"/>
              </a:rPr>
              <a:t>；</a:t>
            </a:r>
            <a:br>
              <a:rPr kumimoji="1" lang="zh-CN" altLang="en-US" sz="2400" dirty="0">
                <a:solidFill>
                  <a:schemeClr val="tx1"/>
                </a:solidFill>
                <a:sym typeface="Times New Roman" panose="02020603050405020304" pitchFamily="18" charset="0"/>
              </a:rPr>
            </a:br>
            <a:r>
              <a:rPr kumimoji="1" lang="zh-CN" altLang="en-US" sz="2400" dirty="0">
                <a:solidFill>
                  <a:schemeClr val="tx1"/>
                </a:solidFill>
                <a:sym typeface="Times New Roman" panose="02020603050405020304" pitchFamily="18" charset="0"/>
              </a:rPr>
              <a:t>而在本征半导体中，</a:t>
            </a:r>
            <a:r>
              <a:rPr kumimoji="1" lang="en-US" altLang="zh-CN" sz="2400" dirty="0">
                <a:solidFill>
                  <a:schemeClr val="tx1"/>
                </a:solidFill>
                <a:ea typeface="ˎ̥"/>
                <a:cs typeface="ˎ̥"/>
                <a:sym typeface="Times New Roman" panose="02020603050405020304" pitchFamily="18" charset="0"/>
              </a:rPr>
              <a:t>n=p</a:t>
            </a:r>
            <a:endParaRPr lang="zh-CN" altLang="en-US" sz="2400" dirty="0">
              <a:solidFill>
                <a:schemeClr val="tx1"/>
              </a:solidFill>
              <a:sym typeface="Times New Roman" panose="02020603050405020304" pitchFamily="18" charset="0"/>
            </a:endParaRPr>
          </a:p>
        </p:txBody>
      </p:sp>
    </p:spTree>
    <p:extLst>
      <p:ext uri="{BB962C8B-B14F-4D97-AF65-F5344CB8AC3E}">
        <p14:creationId xmlns:p14="http://schemas.microsoft.com/office/powerpoint/2010/main" val="3634999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a:extLst>
              <a:ext uri="{FF2B5EF4-FFF2-40B4-BE49-F238E27FC236}">
                <a16:creationId xmlns:a16="http://schemas.microsoft.com/office/drawing/2014/main" id="{7B9FA81C-06C8-4039-B759-1B6F032D1CFB}"/>
              </a:ext>
            </a:extLst>
          </p:cNvPr>
          <p:cNvSpPr>
            <a:spLocks noChangeArrowheads="1"/>
          </p:cNvSpPr>
          <p:nvPr/>
        </p:nvSpPr>
        <p:spPr bwMode="auto">
          <a:xfrm>
            <a:off x="609600" y="2116138"/>
            <a:ext cx="7681913"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165048" bIns="165048" anchor="ctr">
            <a:spAutoFit/>
          </a:bodyPr>
          <a:lstStyle>
            <a:lvl1pPr>
              <a:spcBef>
                <a:spcPct val="20000"/>
              </a:spcBef>
              <a:buClr>
                <a:srgbClr val="000000"/>
              </a:buClr>
              <a:buFont typeface="Verdana" panose="020B0604030504040204" pitchFamily="34" charset="0"/>
              <a:buChar char="−"/>
              <a:tabLst>
                <a:tab pos="457200" algn="l"/>
              </a:tabLst>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tabLst>
                <a:tab pos="457200" algn="l"/>
              </a:tabLst>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tabLst>
                <a:tab pos="457200" algn="l"/>
              </a:tabLst>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tabLst>
                <a:tab pos="457200" algn="l"/>
              </a:tabLst>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tabLst>
                <a:tab pos="457200" algn="l"/>
              </a:tabLst>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457200" algn="l"/>
              </a:tabLst>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457200" algn="l"/>
              </a:tabLst>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457200" algn="l"/>
              </a:tabLst>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457200" algn="l"/>
              </a:tabLst>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60000"/>
              </a:lnSpc>
              <a:spcBef>
                <a:spcPct val="0"/>
              </a:spcBef>
              <a:buClrTx/>
              <a:buFontTx/>
              <a:buNone/>
            </a:pPr>
            <a:r>
              <a:rPr lang="zh-CN" altLang="en-US" u="sng">
                <a:solidFill>
                  <a:srgbClr val="FF3300"/>
                </a:solidFill>
                <a:sym typeface="Times New Roman" panose="02020603050405020304" pitchFamily="18" charset="0"/>
              </a:rPr>
              <a:t>允带</a:t>
            </a:r>
            <a:r>
              <a:rPr lang="zh-CN" altLang="en-US">
                <a:sym typeface="Times New Roman" panose="02020603050405020304" pitchFamily="18" charset="0"/>
              </a:rPr>
              <a:t>（</a:t>
            </a:r>
            <a:r>
              <a:rPr lang="en-US" altLang="zh-CN">
                <a:sym typeface="Times New Roman" panose="02020603050405020304" pitchFamily="18" charset="0"/>
              </a:rPr>
              <a:t>allowed band</a:t>
            </a:r>
            <a:r>
              <a:rPr lang="zh-CN" altLang="en-US">
                <a:sym typeface="Times New Roman" panose="02020603050405020304" pitchFamily="18" charset="0"/>
              </a:rPr>
              <a:t>）：允许电子能量存在的能量范围</a:t>
            </a:r>
          </a:p>
          <a:p>
            <a:pPr eaLnBrk="1" hangingPunct="1">
              <a:lnSpc>
                <a:spcPct val="160000"/>
              </a:lnSpc>
              <a:spcBef>
                <a:spcPct val="0"/>
              </a:spcBef>
              <a:buClrTx/>
              <a:buFontTx/>
              <a:buNone/>
            </a:pPr>
            <a:r>
              <a:rPr lang="zh-CN" altLang="en-US" u="sng">
                <a:solidFill>
                  <a:srgbClr val="FF3300"/>
                </a:solidFill>
                <a:sym typeface="Times New Roman" panose="02020603050405020304" pitchFamily="18" charset="0"/>
              </a:rPr>
              <a:t>禁带</a:t>
            </a:r>
            <a:r>
              <a:rPr lang="zh-CN" altLang="en-US">
                <a:sym typeface="Times New Roman" panose="02020603050405020304" pitchFamily="18" charset="0"/>
              </a:rPr>
              <a:t>（</a:t>
            </a:r>
            <a:r>
              <a:rPr lang="en-US" altLang="zh-CN">
                <a:sym typeface="Times New Roman" panose="02020603050405020304" pitchFamily="18" charset="0"/>
              </a:rPr>
              <a:t>forbidden band</a:t>
            </a:r>
            <a:r>
              <a:rPr lang="zh-CN" altLang="en-US">
                <a:sym typeface="Times New Roman" panose="02020603050405020304" pitchFamily="18" charset="0"/>
              </a:rPr>
              <a:t>）：</a:t>
            </a:r>
            <a:r>
              <a:rPr lang="en-US" altLang="zh-CN" i="1">
                <a:sym typeface="Times New Roman" panose="02020603050405020304" pitchFamily="18" charset="0"/>
              </a:rPr>
              <a:t>E</a:t>
            </a:r>
            <a:r>
              <a:rPr lang="en-US" altLang="zh-CN" i="1" baseline="-25000">
                <a:sym typeface="Times New Roman" panose="02020603050405020304" pitchFamily="18" charset="0"/>
              </a:rPr>
              <a:t>g</a:t>
            </a:r>
            <a:r>
              <a:rPr lang="zh-CN" altLang="en-US">
                <a:sym typeface="Times New Roman" panose="02020603050405020304" pitchFamily="18" charset="0"/>
              </a:rPr>
              <a:t>，不允许电子能量存在的能量范围</a:t>
            </a:r>
          </a:p>
          <a:p>
            <a:pPr eaLnBrk="1" hangingPunct="1">
              <a:lnSpc>
                <a:spcPct val="160000"/>
              </a:lnSpc>
              <a:spcBef>
                <a:spcPct val="0"/>
              </a:spcBef>
              <a:buClrTx/>
              <a:buFontTx/>
              <a:buNone/>
            </a:pPr>
            <a:r>
              <a:rPr lang="zh-CN" altLang="en-US" u="sng">
                <a:solidFill>
                  <a:srgbClr val="FF3300"/>
                </a:solidFill>
                <a:sym typeface="Times New Roman" panose="02020603050405020304" pitchFamily="18" charset="0"/>
              </a:rPr>
              <a:t>空带</a:t>
            </a:r>
            <a:r>
              <a:rPr lang="zh-CN" altLang="en-US">
                <a:sym typeface="Times New Roman" panose="02020603050405020304" pitchFamily="18" charset="0"/>
              </a:rPr>
              <a:t>（</a:t>
            </a:r>
            <a:r>
              <a:rPr lang="en-US" altLang="zh-CN">
                <a:sym typeface="Times New Roman" panose="02020603050405020304" pitchFamily="18" charset="0"/>
              </a:rPr>
              <a:t>empty band</a:t>
            </a:r>
            <a:r>
              <a:rPr lang="zh-CN" altLang="en-US">
                <a:sym typeface="Times New Roman" panose="02020603050405020304" pitchFamily="18" charset="0"/>
              </a:rPr>
              <a:t>）：未被电子占据的允带。</a:t>
            </a:r>
          </a:p>
          <a:p>
            <a:pPr eaLnBrk="1" hangingPunct="1">
              <a:lnSpc>
                <a:spcPct val="160000"/>
              </a:lnSpc>
              <a:spcBef>
                <a:spcPct val="0"/>
              </a:spcBef>
              <a:buClrTx/>
              <a:buFontTx/>
              <a:buNone/>
            </a:pPr>
            <a:r>
              <a:rPr lang="zh-CN" altLang="en-US" u="sng">
                <a:solidFill>
                  <a:srgbClr val="FF3300"/>
                </a:solidFill>
                <a:sym typeface="Times New Roman" panose="02020603050405020304" pitchFamily="18" charset="0"/>
              </a:rPr>
              <a:t>满带</a:t>
            </a:r>
            <a:r>
              <a:rPr lang="zh-CN" altLang="en-US">
                <a:sym typeface="Times New Roman" panose="02020603050405020304" pitchFamily="18" charset="0"/>
              </a:rPr>
              <a:t>（</a:t>
            </a:r>
            <a:r>
              <a:rPr lang="en-US" altLang="zh-CN">
                <a:sym typeface="Times New Roman" panose="02020603050405020304" pitchFamily="18" charset="0"/>
              </a:rPr>
              <a:t>filled band</a:t>
            </a:r>
            <a:r>
              <a:rPr lang="zh-CN" altLang="en-US">
                <a:sym typeface="Times New Roman" panose="02020603050405020304" pitchFamily="18" charset="0"/>
              </a:rPr>
              <a:t>）：允带中的能量状态（能级）均被电子占据</a:t>
            </a:r>
          </a:p>
          <a:p>
            <a:pPr eaLnBrk="1" hangingPunct="1">
              <a:lnSpc>
                <a:spcPct val="160000"/>
              </a:lnSpc>
              <a:spcBef>
                <a:spcPct val="0"/>
              </a:spcBef>
              <a:buClrTx/>
              <a:buFontTx/>
              <a:buNone/>
            </a:pPr>
            <a:r>
              <a:rPr lang="zh-CN" altLang="en-US" u="sng">
                <a:solidFill>
                  <a:srgbClr val="FF3300"/>
                </a:solidFill>
                <a:sym typeface="Times New Roman" panose="02020603050405020304" pitchFamily="18" charset="0"/>
              </a:rPr>
              <a:t>价带</a:t>
            </a:r>
            <a:r>
              <a:rPr lang="zh-CN" altLang="en-US">
                <a:sym typeface="Times New Roman" panose="02020603050405020304" pitchFamily="18" charset="0"/>
              </a:rPr>
              <a:t>（</a:t>
            </a:r>
            <a:r>
              <a:rPr lang="en-US" altLang="zh-CN">
                <a:sym typeface="Times New Roman" panose="02020603050405020304" pitchFamily="18" charset="0"/>
              </a:rPr>
              <a:t>valence band</a:t>
            </a:r>
            <a:r>
              <a:rPr lang="zh-CN" altLang="en-US">
                <a:sym typeface="Times New Roman" panose="02020603050405020304" pitchFamily="18" charset="0"/>
              </a:rPr>
              <a:t>）：</a:t>
            </a:r>
            <a:r>
              <a:rPr lang="en-US" altLang="zh-CN" i="1">
                <a:sym typeface="Times New Roman" panose="02020603050405020304" pitchFamily="18" charset="0"/>
              </a:rPr>
              <a:t>E</a:t>
            </a:r>
            <a:r>
              <a:rPr lang="en-US" altLang="zh-CN" i="1" baseline="-25000">
                <a:sym typeface="Times New Roman" panose="02020603050405020304" pitchFamily="18" charset="0"/>
              </a:rPr>
              <a:t>v</a:t>
            </a:r>
            <a:r>
              <a:rPr lang="zh-CN" altLang="en-US">
                <a:sym typeface="Times New Roman" panose="02020603050405020304" pitchFamily="18" charset="0"/>
              </a:rPr>
              <a:t>，被价电子占据的允带</a:t>
            </a:r>
          </a:p>
          <a:p>
            <a:pPr eaLnBrk="1" hangingPunct="1">
              <a:lnSpc>
                <a:spcPct val="160000"/>
              </a:lnSpc>
              <a:spcBef>
                <a:spcPct val="0"/>
              </a:spcBef>
              <a:buClrTx/>
              <a:buFontTx/>
              <a:buNone/>
            </a:pPr>
            <a:r>
              <a:rPr lang="zh-CN" altLang="en-US" u="sng">
                <a:solidFill>
                  <a:srgbClr val="FF3300"/>
                </a:solidFill>
                <a:sym typeface="Times New Roman" panose="02020603050405020304" pitchFamily="18" charset="0"/>
              </a:rPr>
              <a:t>导带</a:t>
            </a:r>
            <a:r>
              <a:rPr lang="zh-CN" altLang="en-US">
                <a:sym typeface="Times New Roman" panose="02020603050405020304" pitchFamily="18" charset="0"/>
              </a:rPr>
              <a:t>（</a:t>
            </a:r>
            <a:r>
              <a:rPr lang="en-US" altLang="zh-CN">
                <a:sym typeface="Times New Roman" panose="02020603050405020304" pitchFamily="18" charset="0"/>
              </a:rPr>
              <a:t>conduction band</a:t>
            </a:r>
            <a:r>
              <a:rPr lang="zh-CN" altLang="en-US">
                <a:sym typeface="Times New Roman" panose="02020603050405020304" pitchFamily="18" charset="0"/>
              </a:rPr>
              <a:t>）：</a:t>
            </a:r>
            <a:r>
              <a:rPr lang="en-US" altLang="zh-CN" i="1">
                <a:sym typeface="Times New Roman" panose="02020603050405020304" pitchFamily="18" charset="0"/>
              </a:rPr>
              <a:t>E</a:t>
            </a:r>
            <a:r>
              <a:rPr lang="en-US" altLang="zh-CN" i="1" baseline="-25000">
                <a:sym typeface="Times New Roman" panose="02020603050405020304" pitchFamily="18" charset="0"/>
              </a:rPr>
              <a:t>c</a:t>
            </a:r>
            <a:r>
              <a:rPr lang="zh-CN" altLang="en-US">
                <a:sym typeface="Times New Roman" panose="02020603050405020304" pitchFamily="18" charset="0"/>
              </a:rPr>
              <a:t>，电子未占满的允带（有部分电子）</a:t>
            </a:r>
          </a:p>
        </p:txBody>
      </p:sp>
      <p:sp>
        <p:nvSpPr>
          <p:cNvPr id="52227" name="Rectangle 5">
            <a:extLst>
              <a:ext uri="{FF2B5EF4-FFF2-40B4-BE49-F238E27FC236}">
                <a16:creationId xmlns:a16="http://schemas.microsoft.com/office/drawing/2014/main" id="{F334E595-DE83-41AA-B49A-26E55168123E}"/>
              </a:ext>
            </a:extLst>
          </p:cNvPr>
          <p:cNvSpPr>
            <a:spLocks noChangeArrowheads="1"/>
          </p:cNvSpPr>
          <p:nvPr/>
        </p:nvSpPr>
        <p:spPr bwMode="auto">
          <a:xfrm>
            <a:off x="609600" y="1341438"/>
            <a:ext cx="4759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zh-CN" altLang="en-US" sz="2400">
                <a:solidFill>
                  <a:srgbClr val="0000FF"/>
                </a:solidFill>
                <a:sym typeface="Times New Roman" panose="02020603050405020304" pitchFamily="18" charset="0"/>
              </a:rPr>
              <a:t>几个能带的概念</a:t>
            </a:r>
          </a:p>
        </p:txBody>
      </p:sp>
    </p:spTree>
    <p:extLst>
      <p:ext uri="{BB962C8B-B14F-4D97-AF65-F5344CB8AC3E}">
        <p14:creationId xmlns:p14="http://schemas.microsoft.com/office/powerpoint/2010/main" val="3298546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5B4419DB-456B-451B-9951-D2CF7AEDF28F}"/>
              </a:ext>
            </a:extLst>
          </p:cNvPr>
          <p:cNvSpPr/>
          <p:nvPr/>
        </p:nvSpPr>
        <p:spPr>
          <a:xfrm>
            <a:off x="809591" y="266868"/>
            <a:ext cx="7524817" cy="830997"/>
          </a:xfrm>
          <a:prstGeom prst="rect">
            <a:avLst/>
          </a:prstGeom>
        </p:spPr>
        <p:txBody>
          <a:bodyPr wrap="none">
            <a:spAutoFit/>
          </a:bodyPr>
          <a:lstStyle/>
          <a:p>
            <a:r>
              <a:rPr lang="zh-CN" altLang="en-US" sz="2400" b="1" dirty="0">
                <a:solidFill>
                  <a:srgbClr val="FF0000"/>
                </a:solidFill>
                <a:effectLst>
                  <a:outerShdw blurRad="38100" dist="38100" dir="2700000" algn="tl">
                    <a:srgbClr val="000000">
                      <a:alpha val="43137"/>
                    </a:srgbClr>
                  </a:outerShdw>
                </a:effectLst>
              </a:rPr>
              <a:t>从电子共有化理解习近平总书记新发展理念</a:t>
            </a:r>
            <a:endParaRPr lang="en-US" altLang="zh-CN" sz="2400" b="1" dirty="0">
              <a:solidFill>
                <a:srgbClr val="FF0000"/>
              </a:solidFill>
              <a:effectLst>
                <a:outerShdw blurRad="38100" dist="38100" dir="2700000" algn="tl">
                  <a:srgbClr val="000000">
                    <a:alpha val="43137"/>
                  </a:srgbClr>
                </a:outerShdw>
              </a:effectLst>
            </a:endParaRPr>
          </a:p>
          <a:p>
            <a:r>
              <a:rPr lang="en-US" altLang="zh-CN" sz="2400" b="1" dirty="0">
                <a:solidFill>
                  <a:srgbClr val="FF0000"/>
                </a:solidFill>
                <a:effectLst>
                  <a:outerShdw blurRad="38100" dist="38100" dir="2700000" algn="tl">
                    <a:srgbClr val="000000">
                      <a:alpha val="43137"/>
                    </a:srgbClr>
                  </a:outerShdw>
                </a:effectLst>
              </a:rPr>
              <a:t>                                                           ——</a:t>
            </a:r>
            <a:r>
              <a:rPr lang="zh-CN" altLang="en-US" sz="2400" b="1" dirty="0">
                <a:solidFill>
                  <a:srgbClr val="FF0000"/>
                </a:solidFill>
                <a:effectLst>
                  <a:outerShdw blurRad="38100" dist="38100" dir="2700000" algn="tl">
                    <a:srgbClr val="000000">
                      <a:alpha val="43137"/>
                    </a:srgbClr>
                  </a:outerShdw>
                </a:effectLst>
              </a:rPr>
              <a:t>共享理念与共同富裕</a:t>
            </a:r>
          </a:p>
        </p:txBody>
      </p:sp>
      <p:sp>
        <p:nvSpPr>
          <p:cNvPr id="5" name="矩形 4">
            <a:extLst>
              <a:ext uri="{FF2B5EF4-FFF2-40B4-BE49-F238E27FC236}">
                <a16:creationId xmlns:a16="http://schemas.microsoft.com/office/drawing/2014/main" id="{4943319D-8AE5-4854-8D67-B0FBB8683262}"/>
              </a:ext>
            </a:extLst>
          </p:cNvPr>
          <p:cNvSpPr/>
          <p:nvPr/>
        </p:nvSpPr>
        <p:spPr>
          <a:xfrm>
            <a:off x="4067944" y="1268760"/>
            <a:ext cx="4788024" cy="5078313"/>
          </a:xfrm>
          <a:prstGeom prst="rect">
            <a:avLst/>
          </a:prstGeom>
        </p:spPr>
        <p:txBody>
          <a:bodyPr wrap="square">
            <a:spAutoFit/>
          </a:bodyPr>
          <a:lstStyle/>
          <a:p>
            <a:pPr marL="285750" indent="-285750">
              <a:buFont typeface="Wingdings" panose="05000000000000000000" pitchFamily="2" charset="2"/>
              <a:buChar char="p"/>
            </a:pPr>
            <a:r>
              <a:rPr lang="zh-CN" altLang="en-US" b="1" dirty="0">
                <a:effectLst>
                  <a:outerShdw blurRad="38100" dist="38100" dir="2700000" algn="tl">
                    <a:srgbClr val="000000">
                      <a:alpha val="43137"/>
                    </a:srgbClr>
                  </a:outerShdw>
                </a:effectLst>
              </a:rPr>
              <a:t>习近平 </a:t>
            </a:r>
            <a:r>
              <a:rPr lang="zh-CN" altLang="en-US" dirty="0"/>
              <a:t>“</a:t>
            </a:r>
            <a:r>
              <a:rPr lang="zh-CN" altLang="en-US" b="1" dirty="0">
                <a:solidFill>
                  <a:srgbClr val="FF0000"/>
                </a:solidFill>
                <a:effectLst>
                  <a:outerShdw blurRad="38100" dist="38100" dir="2700000" algn="tl">
                    <a:srgbClr val="000000">
                      <a:alpha val="43137"/>
                    </a:srgbClr>
                  </a:outerShdw>
                </a:effectLst>
              </a:rPr>
              <a:t>生活在我们伟大祖国和伟大时代的中国人民，共同享有人生出彩的机会，共同享有梦想成真的机会，共同享有同祖国和时代一起成长与进步的机会</a:t>
            </a:r>
            <a:r>
              <a:rPr lang="zh-CN" altLang="en-US" dirty="0"/>
              <a:t>。”</a:t>
            </a:r>
            <a:endParaRPr lang="en-US" altLang="zh-CN" dirty="0"/>
          </a:p>
          <a:p>
            <a:r>
              <a:rPr lang="zh-CN" altLang="en-US" dirty="0"/>
              <a:t>    （社会主义本质与固体电子能量根本特征）</a:t>
            </a:r>
            <a:endParaRPr lang="en-US" altLang="zh-CN" dirty="0"/>
          </a:p>
          <a:p>
            <a:pPr marL="285750" indent="-285750">
              <a:buFont typeface="Wingdings" panose="05000000000000000000" pitchFamily="2" charset="2"/>
              <a:buChar char="p"/>
            </a:pPr>
            <a:r>
              <a:rPr lang="zh-CN" altLang="en-US" dirty="0"/>
              <a:t>从</a:t>
            </a:r>
            <a:r>
              <a:rPr lang="zh-CN" altLang="en-US" dirty="0">
                <a:solidFill>
                  <a:srgbClr val="FF0000"/>
                </a:solidFill>
              </a:rPr>
              <a:t>覆盖面</a:t>
            </a:r>
            <a:r>
              <a:rPr lang="zh-CN" altLang="en-US" dirty="0"/>
              <a:t>而言，要全民共享；从内容而言，要全面共享；从</a:t>
            </a:r>
            <a:r>
              <a:rPr lang="zh-CN" altLang="en-US" dirty="0">
                <a:solidFill>
                  <a:srgbClr val="FF0000"/>
                </a:solidFill>
              </a:rPr>
              <a:t>实现途径</a:t>
            </a:r>
            <a:r>
              <a:rPr lang="zh-CN" altLang="en-US" dirty="0"/>
              <a:t>而言，要共建共享；从推进进程而言，要渐进共享。</a:t>
            </a:r>
            <a:r>
              <a:rPr lang="zh-CN" altLang="en-US" b="1" dirty="0">
                <a:solidFill>
                  <a:srgbClr val="FF0000"/>
                </a:solidFill>
                <a:effectLst>
                  <a:outerShdw blurRad="38100" dist="38100" dir="2700000" algn="tl">
                    <a:srgbClr val="000000">
                      <a:alpha val="43137"/>
                    </a:srgbClr>
                  </a:outerShdw>
                </a:effectLst>
              </a:rPr>
              <a:t>（由外层到内层，相近能量共享）</a:t>
            </a:r>
            <a:endParaRPr lang="en-US" altLang="zh-CN" b="1" dirty="0">
              <a:solidFill>
                <a:srgbClr val="FF0000"/>
              </a:solidFill>
              <a:effectLst>
                <a:outerShdw blurRad="38100" dist="38100" dir="2700000" algn="tl">
                  <a:srgbClr val="000000">
                    <a:alpha val="43137"/>
                  </a:srgbClr>
                </a:outerShdw>
              </a:effectLst>
            </a:endParaRPr>
          </a:p>
          <a:p>
            <a:pPr marL="285750" indent="-285750">
              <a:buFont typeface="Wingdings" panose="05000000000000000000" pitchFamily="2" charset="2"/>
              <a:buChar char="p"/>
            </a:pPr>
            <a:r>
              <a:rPr lang="zh-CN" altLang="en-US" dirty="0">
                <a:solidFill>
                  <a:srgbClr val="FF0000"/>
                </a:solidFill>
                <a:effectLst>
                  <a:outerShdw blurRad="38100" dist="38100" dir="2700000" algn="tl">
                    <a:srgbClr val="000000">
                      <a:alpha val="43137"/>
                    </a:srgbClr>
                  </a:outerShdw>
                </a:effectLst>
              </a:rPr>
              <a:t>脱贫攻坚：</a:t>
            </a:r>
            <a:r>
              <a:rPr lang="zh-CN" altLang="en-US" dirty="0"/>
              <a:t>率领全党全国人民战天斗地，誓与千百年来的贫困抗争到底，不获全胜决不收兵</a:t>
            </a:r>
            <a:endParaRPr lang="en-US" altLang="zh-CN" dirty="0"/>
          </a:p>
          <a:p>
            <a:pPr marL="285750" indent="-285750">
              <a:buFont typeface="Wingdings" panose="05000000000000000000" pitchFamily="2" charset="2"/>
              <a:buChar char="p"/>
            </a:pPr>
            <a:r>
              <a:rPr lang="en-US" altLang="zh-CN" dirty="0">
                <a:solidFill>
                  <a:srgbClr val="FF0000"/>
                </a:solidFill>
                <a:effectLst>
                  <a:outerShdw blurRad="38100" dist="38100" dir="2700000" algn="tl">
                    <a:srgbClr val="000000">
                      <a:alpha val="43137"/>
                    </a:srgbClr>
                  </a:outerShdw>
                </a:effectLst>
              </a:rPr>
              <a:t>2021</a:t>
            </a:r>
            <a:r>
              <a:rPr lang="zh-CN" altLang="en-US" dirty="0">
                <a:solidFill>
                  <a:srgbClr val="FF0000"/>
                </a:solidFill>
                <a:effectLst>
                  <a:outerShdw blurRad="38100" dist="38100" dir="2700000" algn="tl">
                    <a:srgbClr val="000000">
                      <a:alpha val="43137"/>
                    </a:srgbClr>
                  </a:outerShdw>
                </a:effectLst>
              </a:rPr>
              <a:t>年</a:t>
            </a:r>
            <a:r>
              <a:rPr lang="en-US" altLang="zh-CN" dirty="0">
                <a:solidFill>
                  <a:srgbClr val="FF0000"/>
                </a:solidFill>
                <a:effectLst>
                  <a:outerShdw blurRad="38100" dist="38100" dir="2700000" algn="tl">
                    <a:srgbClr val="000000">
                      <a:alpha val="43137"/>
                    </a:srgbClr>
                  </a:outerShdw>
                </a:effectLst>
              </a:rPr>
              <a:t>8</a:t>
            </a:r>
            <a:r>
              <a:rPr lang="zh-CN" altLang="en-US" dirty="0">
                <a:solidFill>
                  <a:srgbClr val="FF0000"/>
                </a:solidFill>
                <a:effectLst>
                  <a:outerShdw blurRad="38100" dist="38100" dir="2700000" algn="tl">
                    <a:srgbClr val="000000">
                      <a:alpha val="43137"/>
                    </a:srgbClr>
                  </a:outerShdw>
                </a:effectLst>
              </a:rPr>
              <a:t>月</a:t>
            </a:r>
            <a:r>
              <a:rPr lang="en-US" altLang="zh-CN" dirty="0">
                <a:solidFill>
                  <a:srgbClr val="FF0000"/>
                </a:solidFill>
                <a:effectLst>
                  <a:outerShdw blurRad="38100" dist="38100" dir="2700000" algn="tl">
                    <a:srgbClr val="000000">
                      <a:alpha val="43137"/>
                    </a:srgbClr>
                  </a:outerShdw>
                </a:effectLst>
              </a:rPr>
              <a:t>17</a:t>
            </a:r>
            <a:r>
              <a:rPr lang="zh-CN" altLang="en-US" dirty="0">
                <a:solidFill>
                  <a:srgbClr val="FF0000"/>
                </a:solidFill>
                <a:effectLst>
                  <a:outerShdw blurRad="38100" dist="38100" dir="2700000" algn="tl">
                    <a:srgbClr val="000000">
                      <a:alpha val="43137"/>
                    </a:srgbClr>
                  </a:outerShdw>
                </a:effectLst>
              </a:rPr>
              <a:t>日，中央财经委员会第十次会议召开</a:t>
            </a:r>
            <a:r>
              <a:rPr lang="zh-CN" altLang="en-US" dirty="0"/>
              <a:t>：我国正在全面建设社会主义现代化国家，由全面小康迈向共同富裕，由中等收入国家发展成为高收入国家，实现共同富裕是一个</a:t>
            </a:r>
            <a:r>
              <a:rPr lang="zh-CN" altLang="en-US" b="1" dirty="0">
                <a:solidFill>
                  <a:srgbClr val="FF0000"/>
                </a:solidFill>
                <a:effectLst>
                  <a:outerShdw blurRad="38100" dist="38100" dir="2700000" algn="tl">
                    <a:srgbClr val="000000">
                      <a:alpha val="43137"/>
                    </a:srgbClr>
                  </a:outerShdw>
                </a:effectLst>
              </a:rPr>
              <a:t>在动态中向前发展的过程</a:t>
            </a:r>
            <a:r>
              <a:rPr lang="zh-CN" altLang="en-US" dirty="0"/>
              <a:t>，不可能一蹴而就，也不可能齐头并进。</a:t>
            </a:r>
          </a:p>
        </p:txBody>
      </p:sp>
      <p:pic>
        <p:nvPicPr>
          <p:cNvPr id="12" name="图片 11">
            <a:extLst>
              <a:ext uri="{FF2B5EF4-FFF2-40B4-BE49-F238E27FC236}">
                <a16:creationId xmlns:a16="http://schemas.microsoft.com/office/drawing/2014/main" id="{9829775E-0561-4B35-8850-164F764A8581}"/>
              </a:ext>
            </a:extLst>
          </p:cNvPr>
          <p:cNvPicPr>
            <a:picLocks noChangeAspect="1"/>
          </p:cNvPicPr>
          <p:nvPr/>
        </p:nvPicPr>
        <p:blipFill>
          <a:blip r:embed="rId2"/>
          <a:stretch>
            <a:fillRect/>
          </a:stretch>
        </p:blipFill>
        <p:spPr>
          <a:xfrm>
            <a:off x="367297" y="3234140"/>
            <a:ext cx="3356992" cy="3356992"/>
          </a:xfrm>
          <a:prstGeom prst="rect">
            <a:avLst/>
          </a:prstGeom>
        </p:spPr>
      </p:pic>
      <p:pic>
        <p:nvPicPr>
          <p:cNvPr id="13" name="图片 12">
            <a:extLst>
              <a:ext uri="{FF2B5EF4-FFF2-40B4-BE49-F238E27FC236}">
                <a16:creationId xmlns:a16="http://schemas.microsoft.com/office/drawing/2014/main" id="{50D0E5AA-213D-460E-BCF5-A4CE0636C897}"/>
              </a:ext>
            </a:extLst>
          </p:cNvPr>
          <p:cNvPicPr>
            <a:picLocks noChangeAspect="1"/>
          </p:cNvPicPr>
          <p:nvPr/>
        </p:nvPicPr>
        <p:blipFill>
          <a:blip r:embed="rId3"/>
          <a:stretch>
            <a:fillRect/>
          </a:stretch>
        </p:blipFill>
        <p:spPr>
          <a:xfrm>
            <a:off x="251242" y="1085478"/>
            <a:ext cx="3816702" cy="2148662"/>
          </a:xfrm>
          <a:prstGeom prst="rect">
            <a:avLst/>
          </a:prstGeom>
        </p:spPr>
      </p:pic>
    </p:spTree>
    <p:extLst>
      <p:ext uri="{BB962C8B-B14F-4D97-AF65-F5344CB8AC3E}">
        <p14:creationId xmlns:p14="http://schemas.microsoft.com/office/powerpoint/2010/main" val="4100704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a:extLst>
              <a:ext uri="{FF2B5EF4-FFF2-40B4-BE49-F238E27FC236}">
                <a16:creationId xmlns:a16="http://schemas.microsoft.com/office/drawing/2014/main" id="{3644F89F-6D4A-414F-89E6-DE7B886332D8}"/>
              </a:ext>
            </a:extLst>
          </p:cNvPr>
          <p:cNvSpPr>
            <a:spLocks noChangeArrowheads="1"/>
          </p:cNvSpPr>
          <p:nvPr/>
        </p:nvSpPr>
        <p:spPr bwMode="auto">
          <a:xfrm>
            <a:off x="684213" y="1989138"/>
            <a:ext cx="7775575" cy="384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zh-CN" altLang="en-US" sz="2400">
                <a:solidFill>
                  <a:srgbClr val="FF3300"/>
                </a:solidFill>
                <a:sym typeface="Times New Roman" panose="02020603050405020304" pitchFamily="18" charset="0"/>
              </a:rPr>
              <a:t>近似条件：</a:t>
            </a:r>
            <a:r>
              <a:rPr lang="zh-CN" altLang="en-US" sz="2400">
                <a:sym typeface="Times New Roman" panose="02020603050405020304" pitchFamily="18" charset="0"/>
              </a:rPr>
              <a:t>晶体中的电子在严格周期性重复排列的原子间运动。</a:t>
            </a:r>
          </a:p>
          <a:p>
            <a:pPr eaLnBrk="1" hangingPunct="1">
              <a:lnSpc>
                <a:spcPct val="130000"/>
              </a:lnSpc>
              <a:spcBef>
                <a:spcPct val="0"/>
              </a:spcBef>
              <a:buClrTx/>
              <a:buFontTx/>
              <a:buNone/>
            </a:pPr>
            <a:r>
              <a:rPr lang="zh-CN" altLang="en-US" sz="2400">
                <a:sym typeface="Times New Roman" panose="02020603050405020304" pitchFamily="18" charset="0"/>
              </a:rPr>
              <a:t>    </a:t>
            </a:r>
            <a:r>
              <a:rPr lang="en-US" altLang="zh-CN" sz="2400">
                <a:sym typeface="Times New Roman" panose="02020603050405020304" pitchFamily="18" charset="0"/>
              </a:rPr>
              <a:t>a) </a:t>
            </a:r>
            <a:r>
              <a:rPr lang="zh-CN" altLang="en-US" sz="2400">
                <a:sym typeface="Times New Roman" panose="02020603050405020304" pitchFamily="18" charset="0"/>
              </a:rPr>
              <a:t>原子核不动；</a:t>
            </a:r>
          </a:p>
          <a:p>
            <a:pPr eaLnBrk="1" hangingPunct="1">
              <a:lnSpc>
                <a:spcPct val="130000"/>
              </a:lnSpc>
              <a:spcBef>
                <a:spcPct val="0"/>
              </a:spcBef>
              <a:buClrTx/>
              <a:buFontTx/>
              <a:buNone/>
            </a:pPr>
            <a:r>
              <a:rPr lang="zh-CN" altLang="en-US" sz="2400">
                <a:sym typeface="Times New Roman" panose="02020603050405020304" pitchFamily="18" charset="0"/>
              </a:rPr>
              <a:t>    </a:t>
            </a:r>
            <a:r>
              <a:rPr lang="en-US" altLang="zh-CN" sz="2400">
                <a:sym typeface="Times New Roman" panose="02020603050405020304" pitchFamily="18" charset="0"/>
              </a:rPr>
              <a:t>b) </a:t>
            </a:r>
            <a:r>
              <a:rPr lang="zh-CN" altLang="en-US" sz="2400">
                <a:sym typeface="Times New Roman" panose="02020603050405020304" pitchFamily="18" charset="0"/>
              </a:rPr>
              <a:t>单电子近似：电子势场</a:t>
            </a:r>
            <a:r>
              <a:rPr lang="en-US" altLang="zh-CN" sz="2400">
                <a:sym typeface="Times New Roman" panose="02020603050405020304" pitchFamily="18" charset="0"/>
              </a:rPr>
              <a:t>=</a:t>
            </a:r>
            <a:r>
              <a:rPr lang="zh-CN" altLang="en-US" sz="2400">
                <a:sym typeface="Times New Roman" panose="02020603050405020304" pitchFamily="18" charset="0"/>
              </a:rPr>
              <a:t>原子核势场</a:t>
            </a:r>
            <a:r>
              <a:rPr lang="en-US" altLang="zh-CN" sz="2400">
                <a:sym typeface="Times New Roman" panose="02020603050405020304" pitchFamily="18" charset="0"/>
              </a:rPr>
              <a:t>+</a:t>
            </a:r>
            <a:r>
              <a:rPr lang="zh-CN" altLang="en-US" sz="2400">
                <a:sym typeface="Times New Roman" panose="02020603050405020304" pitchFamily="18" charset="0"/>
              </a:rPr>
              <a:t>其他原子的平均势场。</a:t>
            </a:r>
          </a:p>
          <a:p>
            <a:pPr eaLnBrk="1" hangingPunct="1">
              <a:lnSpc>
                <a:spcPct val="130000"/>
              </a:lnSpc>
              <a:spcBef>
                <a:spcPct val="0"/>
              </a:spcBef>
              <a:buClrTx/>
              <a:buFontTx/>
              <a:buNone/>
            </a:pPr>
            <a:r>
              <a:rPr lang="zh-CN" altLang="en-US" sz="2400">
                <a:sym typeface="Times New Roman" panose="02020603050405020304" pitchFamily="18" charset="0"/>
              </a:rPr>
              <a:t>         平均势场周期性变化，周期与晶格周期相同。</a:t>
            </a:r>
          </a:p>
          <a:p>
            <a:pPr eaLnBrk="1" hangingPunct="1">
              <a:lnSpc>
                <a:spcPct val="130000"/>
              </a:lnSpc>
              <a:spcBef>
                <a:spcPct val="0"/>
              </a:spcBef>
              <a:buClrTx/>
              <a:buFontTx/>
              <a:buNone/>
            </a:pPr>
            <a:r>
              <a:rPr lang="zh-CN" altLang="en-US" sz="2400">
                <a:solidFill>
                  <a:srgbClr val="FF3300"/>
                </a:solidFill>
                <a:sym typeface="Times New Roman" panose="02020603050405020304" pitchFamily="18" charset="0"/>
              </a:rPr>
              <a:t>       电子在周期性势场中运动的基本特点和自由电子的运动十分相似。</a:t>
            </a:r>
          </a:p>
        </p:txBody>
      </p:sp>
      <p:sp>
        <p:nvSpPr>
          <p:cNvPr id="38915" name="矩形 3">
            <a:extLst>
              <a:ext uri="{FF2B5EF4-FFF2-40B4-BE49-F238E27FC236}">
                <a16:creationId xmlns:a16="http://schemas.microsoft.com/office/drawing/2014/main" id="{7A0B3489-D441-4CA1-92B2-6C9E14A44893}"/>
              </a:ext>
            </a:extLst>
          </p:cNvPr>
          <p:cNvSpPr>
            <a:spLocks noChangeArrowheads="1"/>
          </p:cNvSpPr>
          <p:nvPr/>
        </p:nvSpPr>
        <p:spPr bwMode="auto">
          <a:xfrm>
            <a:off x="395288" y="836613"/>
            <a:ext cx="460895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3200" dirty="0">
                <a:solidFill>
                  <a:schemeClr val="tx1"/>
                </a:solidFill>
                <a:sym typeface="Times New Roman" panose="02020603050405020304" pitchFamily="18" charset="0"/>
              </a:rPr>
              <a:t>1.2.5 </a:t>
            </a:r>
            <a:r>
              <a:rPr lang="zh-CN" altLang="en-US" sz="3200" dirty="0">
                <a:solidFill>
                  <a:schemeClr val="tx1"/>
                </a:solidFill>
                <a:sym typeface="Times New Roman" panose="02020603050405020304" pitchFamily="18" charset="0"/>
              </a:rPr>
              <a:t>半导体中能带理论</a:t>
            </a:r>
            <a:r>
              <a:rPr lang="en-US" altLang="zh-CN" sz="3200" dirty="0">
                <a:solidFill>
                  <a:schemeClr val="tx1"/>
                </a:solidFill>
                <a:sym typeface="Times New Roman" panose="02020603050405020304" pitchFamily="18" charset="0"/>
              </a:rPr>
              <a:t>*</a:t>
            </a:r>
            <a:endParaRPr lang="zh-CN" altLang="en-US" sz="3200" dirty="0">
              <a:solidFill>
                <a:schemeClr val="tx1"/>
              </a:solidFill>
              <a:sym typeface="Times New Roman" panose="02020603050405020304" pitchFamily="18" charset="0"/>
            </a:endParaRPr>
          </a:p>
        </p:txBody>
      </p:sp>
    </p:spTree>
    <p:extLst>
      <p:ext uri="{BB962C8B-B14F-4D97-AF65-F5344CB8AC3E}">
        <p14:creationId xmlns:p14="http://schemas.microsoft.com/office/powerpoint/2010/main" val="4041700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2706486F-7115-4397-BDE3-00F6EB4B1243}"/>
              </a:ext>
            </a:extLst>
          </p:cNvPr>
          <p:cNvSpPr>
            <a:spLocks noChangeArrowheads="1"/>
          </p:cNvSpPr>
          <p:nvPr/>
        </p:nvSpPr>
        <p:spPr bwMode="auto">
          <a:xfrm>
            <a:off x="2425700" y="549275"/>
            <a:ext cx="4114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3200">
                <a:solidFill>
                  <a:srgbClr val="FF0000"/>
                </a:solidFill>
                <a:sym typeface="Times New Roman" panose="02020603050405020304" pitchFamily="18" charset="0"/>
              </a:rPr>
              <a:t>一维自由电子的运动</a:t>
            </a:r>
          </a:p>
        </p:txBody>
      </p:sp>
      <p:graphicFrame>
        <p:nvGraphicFramePr>
          <p:cNvPr id="10" name="Object 8">
            <a:extLst>
              <a:ext uri="{FF2B5EF4-FFF2-40B4-BE49-F238E27FC236}">
                <a16:creationId xmlns:a16="http://schemas.microsoft.com/office/drawing/2014/main" id="{EC112D0B-D182-41D4-A4D9-F1B4777559B3}"/>
              </a:ext>
            </a:extLst>
          </p:cNvPr>
          <p:cNvGraphicFramePr>
            <a:graphicFrameLocks noChangeAspect="1"/>
          </p:cNvGraphicFramePr>
          <p:nvPr/>
        </p:nvGraphicFramePr>
        <p:xfrm>
          <a:off x="5599113" y="1489075"/>
          <a:ext cx="2344737" cy="2667000"/>
        </p:xfrm>
        <a:graphic>
          <a:graphicData uri="http://schemas.openxmlformats.org/presentationml/2006/ole">
            <mc:AlternateContent xmlns:mc="http://schemas.openxmlformats.org/markup-compatibility/2006">
              <mc:Choice xmlns:v="urn:schemas-microsoft-com:vml" Requires="v">
                <p:oleObj spid="_x0000_s174126" name="Equation" r:id="rId3" imgW="1574800" imgH="1625600" progId="Equation.DSMT4">
                  <p:embed/>
                </p:oleObj>
              </mc:Choice>
              <mc:Fallback>
                <p:oleObj name="Equation" r:id="rId3" imgW="1574800" imgH="1625600" progId="Equation.DSMT4">
                  <p:embed/>
                  <p:pic>
                    <p:nvPicPr>
                      <p:cNvPr id="10" name="Object 8">
                        <a:extLst>
                          <a:ext uri="{FF2B5EF4-FFF2-40B4-BE49-F238E27FC236}">
                            <a16:creationId xmlns:a16="http://schemas.microsoft.com/office/drawing/2014/main" id="{EC112D0B-D182-41D4-A4D9-F1B4777559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9113" y="1489075"/>
                        <a:ext cx="2344737"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10">
            <a:extLst>
              <a:ext uri="{FF2B5EF4-FFF2-40B4-BE49-F238E27FC236}">
                <a16:creationId xmlns:a16="http://schemas.microsoft.com/office/drawing/2014/main" id="{317E4D04-2E80-4A64-ACDA-A38D65C4013B}"/>
              </a:ext>
            </a:extLst>
          </p:cNvPr>
          <p:cNvSpPr>
            <a:spLocks noChangeArrowheads="1"/>
          </p:cNvSpPr>
          <p:nvPr/>
        </p:nvSpPr>
        <p:spPr bwMode="auto">
          <a:xfrm>
            <a:off x="323850" y="1557338"/>
            <a:ext cx="50292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82563" indent="-182563">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 typeface="Wingdings" panose="05000000000000000000" pitchFamily="2" charset="2"/>
              <a:buChar char="Ø"/>
            </a:pPr>
            <a:r>
              <a:rPr lang="en-US" altLang="zh-CN" sz="2400" i="1">
                <a:cs typeface="Times New Roman" panose="02020603050405020304" pitchFamily="18" charset="0"/>
                <a:sym typeface="Times New Roman" panose="02020603050405020304" pitchFamily="18" charset="0"/>
              </a:rPr>
              <a:t>k</a:t>
            </a:r>
            <a:r>
              <a:rPr lang="en-US" altLang="zh-CN" sz="2400">
                <a:cs typeface="Times New Roman" panose="02020603050405020304" pitchFamily="18" charset="0"/>
                <a:sym typeface="Times New Roman" panose="02020603050405020304" pitchFamily="18" charset="0"/>
              </a:rPr>
              <a:t> </a:t>
            </a:r>
            <a:r>
              <a:rPr lang="zh-CN" altLang="en-US" sz="2400">
                <a:cs typeface="Times New Roman" panose="02020603050405020304" pitchFamily="18" charset="0"/>
                <a:sym typeface="Times New Roman" panose="02020603050405020304" pitchFamily="18" charset="0"/>
              </a:rPr>
              <a:t>为波矢，大小等于波长倒数</a:t>
            </a:r>
            <a:r>
              <a:rPr lang="en-US" altLang="zh-CN" sz="2400">
                <a:cs typeface="Times New Roman" panose="02020603050405020304" pitchFamily="18" charset="0"/>
                <a:sym typeface="Times New Roman" panose="02020603050405020304" pitchFamily="18" charset="0"/>
              </a:rPr>
              <a:t>1/</a:t>
            </a:r>
            <a:r>
              <a:rPr lang="el-GR" altLang="zh-CN" sz="2400">
                <a:cs typeface="Times New Roman" panose="02020603050405020304" pitchFamily="18" charset="0"/>
                <a:sym typeface="Times New Roman" panose="02020603050405020304" pitchFamily="18" charset="0"/>
              </a:rPr>
              <a:t>λ</a:t>
            </a:r>
            <a:r>
              <a:rPr lang="en-US" altLang="zh-CN" sz="2400">
                <a:cs typeface="Times New Roman" panose="02020603050405020304" pitchFamily="18" charset="0"/>
                <a:sym typeface="Times New Roman" panose="02020603050405020304" pitchFamily="18" charset="0"/>
              </a:rPr>
              <a:t> </a:t>
            </a:r>
            <a:r>
              <a:rPr lang="zh-CN" altLang="en-US" sz="2400">
                <a:cs typeface="Times New Roman" panose="02020603050405020304" pitchFamily="18" charset="0"/>
                <a:sym typeface="Times New Roman" panose="02020603050405020304" pitchFamily="18" charset="0"/>
              </a:rPr>
              <a:t>，方向与波面法线平行，即波的传播方向</a:t>
            </a:r>
            <a:endParaRPr lang="en-US" altLang="zh-CN" sz="2400">
              <a:sym typeface="Times New Roman" panose="02020603050405020304" pitchFamily="18" charset="0"/>
            </a:endParaRPr>
          </a:p>
          <a:p>
            <a:pPr eaLnBrk="1" hangingPunct="1">
              <a:lnSpc>
                <a:spcPct val="120000"/>
              </a:lnSpc>
              <a:spcBef>
                <a:spcPct val="0"/>
              </a:spcBef>
              <a:buClrTx/>
              <a:buFont typeface="Wingdings" panose="05000000000000000000" pitchFamily="2" charset="2"/>
              <a:buChar char="Ø"/>
            </a:pPr>
            <a:r>
              <a:rPr lang="zh-CN" altLang="en-US" sz="2400">
                <a:sym typeface="Times New Roman" panose="02020603050405020304" pitchFamily="18" charset="0"/>
              </a:rPr>
              <a:t>对于波矢为</a:t>
            </a:r>
            <a:r>
              <a:rPr lang="en-US" altLang="zh-CN" sz="2400" i="1">
                <a:sym typeface="Times New Roman" panose="02020603050405020304" pitchFamily="18" charset="0"/>
              </a:rPr>
              <a:t>k</a:t>
            </a:r>
            <a:r>
              <a:rPr lang="zh-CN" altLang="en-US" sz="2400">
                <a:sym typeface="Times New Roman" panose="02020603050405020304" pitchFamily="18" charset="0"/>
              </a:rPr>
              <a:t>的运动状态，能量</a:t>
            </a:r>
            <a:r>
              <a:rPr lang="en-US" altLang="zh-CN" sz="2400" i="1">
                <a:sym typeface="Times New Roman" panose="02020603050405020304" pitchFamily="18" charset="0"/>
              </a:rPr>
              <a:t>E</a:t>
            </a:r>
            <a:r>
              <a:rPr lang="zh-CN" altLang="en-US" sz="2400">
                <a:sym typeface="Times New Roman" panose="02020603050405020304" pitchFamily="18" charset="0"/>
              </a:rPr>
              <a:t>，动量</a:t>
            </a:r>
            <a:r>
              <a:rPr lang="en-US" altLang="zh-CN" sz="2400" i="1">
                <a:sym typeface="Times New Roman" panose="02020603050405020304" pitchFamily="18" charset="0"/>
              </a:rPr>
              <a:t>p</a:t>
            </a:r>
            <a:r>
              <a:rPr lang="zh-CN" altLang="en-US" sz="2400">
                <a:sym typeface="Times New Roman" panose="02020603050405020304" pitchFamily="18" charset="0"/>
              </a:rPr>
              <a:t>和速度</a:t>
            </a:r>
            <a:r>
              <a:rPr lang="en-US" altLang="zh-CN" sz="2400" i="1">
                <a:sym typeface="Times New Roman" panose="02020603050405020304" pitchFamily="18" charset="0"/>
              </a:rPr>
              <a:t>v</a:t>
            </a:r>
            <a:r>
              <a:rPr lang="zh-CN" altLang="en-US" sz="2400">
                <a:sym typeface="Times New Roman" panose="02020603050405020304" pitchFamily="18" charset="0"/>
              </a:rPr>
              <a:t>均有确定的数值</a:t>
            </a:r>
          </a:p>
          <a:p>
            <a:pPr eaLnBrk="1" hangingPunct="1">
              <a:lnSpc>
                <a:spcPct val="120000"/>
              </a:lnSpc>
              <a:spcBef>
                <a:spcPct val="0"/>
              </a:spcBef>
              <a:buClrTx/>
              <a:buFont typeface="Wingdings" panose="05000000000000000000" pitchFamily="2" charset="2"/>
              <a:buChar char="Ø"/>
            </a:pPr>
            <a:r>
              <a:rPr lang="zh-CN" altLang="en-US" sz="2400">
                <a:solidFill>
                  <a:srgbClr val="FF3300"/>
                </a:solidFill>
                <a:sym typeface="Times New Roman" panose="02020603050405020304" pitchFamily="18" charset="0"/>
              </a:rPr>
              <a:t>波矢</a:t>
            </a:r>
            <a:r>
              <a:rPr lang="en-US" altLang="zh-CN" sz="2400" i="1">
                <a:solidFill>
                  <a:srgbClr val="FF3300"/>
                </a:solidFill>
                <a:sym typeface="Times New Roman" panose="02020603050405020304" pitchFamily="18" charset="0"/>
              </a:rPr>
              <a:t>k</a:t>
            </a:r>
            <a:r>
              <a:rPr lang="zh-CN" altLang="en-US" sz="2400">
                <a:solidFill>
                  <a:srgbClr val="FF3300"/>
                </a:solidFill>
                <a:sym typeface="Times New Roman" panose="02020603050405020304" pitchFamily="18" charset="0"/>
              </a:rPr>
              <a:t>用以描述电子的运动状态，不同</a:t>
            </a:r>
            <a:r>
              <a:rPr lang="en-US" altLang="zh-CN" sz="2400" i="1">
                <a:solidFill>
                  <a:srgbClr val="FF3300"/>
                </a:solidFill>
                <a:sym typeface="Times New Roman" panose="02020603050405020304" pitchFamily="18" charset="0"/>
              </a:rPr>
              <a:t>k</a:t>
            </a:r>
            <a:r>
              <a:rPr lang="zh-CN" altLang="en-US" sz="2400">
                <a:solidFill>
                  <a:srgbClr val="FF3300"/>
                </a:solidFill>
                <a:sym typeface="Times New Roman" panose="02020603050405020304" pitchFamily="18" charset="0"/>
              </a:rPr>
              <a:t>值标志电子的不同状态</a:t>
            </a:r>
          </a:p>
          <a:p>
            <a:pPr eaLnBrk="1" hangingPunct="1">
              <a:lnSpc>
                <a:spcPct val="120000"/>
              </a:lnSpc>
              <a:spcBef>
                <a:spcPct val="0"/>
              </a:spcBef>
              <a:buClrTx/>
              <a:buFont typeface="Wingdings" panose="05000000000000000000" pitchFamily="2" charset="2"/>
              <a:buChar char="Ø"/>
            </a:pPr>
            <a:r>
              <a:rPr lang="zh-CN" altLang="en-US" sz="2400">
                <a:sym typeface="Times New Roman" panose="02020603050405020304" pitchFamily="18" charset="0"/>
              </a:rPr>
              <a:t>由于</a:t>
            </a:r>
            <a:r>
              <a:rPr lang="en-US" altLang="zh-CN" sz="2400" i="1">
                <a:sym typeface="Times New Roman" panose="02020603050405020304" pitchFamily="18" charset="0"/>
              </a:rPr>
              <a:t>k</a:t>
            </a:r>
            <a:r>
              <a:rPr lang="zh-CN" altLang="en-US" sz="2400">
                <a:sym typeface="Times New Roman" panose="02020603050405020304" pitchFamily="18" charset="0"/>
              </a:rPr>
              <a:t>连续变化，</a:t>
            </a:r>
            <a:r>
              <a:rPr lang="zh-CN" altLang="en-US" sz="2400">
                <a:solidFill>
                  <a:srgbClr val="FF3300"/>
                </a:solidFill>
                <a:sym typeface="Times New Roman" panose="02020603050405020304" pitchFamily="18" charset="0"/>
              </a:rPr>
              <a:t>自由电子的能量是连续能谱</a:t>
            </a:r>
            <a:r>
              <a:rPr lang="zh-CN" altLang="en-US" sz="2400">
                <a:sym typeface="Times New Roman" panose="02020603050405020304" pitchFamily="18" charset="0"/>
              </a:rPr>
              <a:t>，从零到无限大的所有能量值都允许</a:t>
            </a:r>
          </a:p>
        </p:txBody>
      </p:sp>
      <p:sp>
        <p:nvSpPr>
          <p:cNvPr id="12" name="Oval 11">
            <a:extLst>
              <a:ext uri="{FF2B5EF4-FFF2-40B4-BE49-F238E27FC236}">
                <a16:creationId xmlns:a16="http://schemas.microsoft.com/office/drawing/2014/main" id="{70E33A77-7BD6-4F9B-959D-C51A16B861A0}"/>
              </a:ext>
            </a:extLst>
          </p:cNvPr>
          <p:cNvSpPr>
            <a:spLocks noChangeArrowheads="1"/>
          </p:cNvSpPr>
          <p:nvPr/>
        </p:nvSpPr>
        <p:spPr bwMode="auto">
          <a:xfrm>
            <a:off x="7677150" y="2587625"/>
            <a:ext cx="228600" cy="838200"/>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endParaRPr lang="zh-CN" altLang="en-US">
              <a:solidFill>
                <a:schemeClr val="tx1"/>
              </a:solidFill>
              <a:sym typeface="Times New Roman" panose="02020603050405020304" pitchFamily="18" charset="0"/>
            </a:endParaRPr>
          </a:p>
        </p:txBody>
      </p:sp>
      <p:sp>
        <p:nvSpPr>
          <p:cNvPr id="13" name="Rectangle 12">
            <a:extLst>
              <a:ext uri="{FF2B5EF4-FFF2-40B4-BE49-F238E27FC236}">
                <a16:creationId xmlns:a16="http://schemas.microsoft.com/office/drawing/2014/main" id="{6079E91B-D7FD-49F8-A9C9-3913407AAF57}"/>
              </a:ext>
            </a:extLst>
          </p:cNvPr>
          <p:cNvSpPr>
            <a:spLocks noChangeArrowheads="1"/>
          </p:cNvSpPr>
          <p:nvPr/>
        </p:nvSpPr>
        <p:spPr bwMode="auto">
          <a:xfrm>
            <a:off x="7677150" y="2378075"/>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800">
                <a:solidFill>
                  <a:srgbClr val="FF3300"/>
                </a:solidFill>
                <a:sym typeface="Times New Roman" panose="02020603050405020304" pitchFamily="18" charset="0"/>
              </a:rPr>
              <a:t>连续</a:t>
            </a:r>
          </a:p>
        </p:txBody>
      </p:sp>
      <p:pic>
        <p:nvPicPr>
          <p:cNvPr id="39943" name="Picture 3">
            <a:extLst>
              <a:ext uri="{FF2B5EF4-FFF2-40B4-BE49-F238E27FC236}">
                <a16:creationId xmlns:a16="http://schemas.microsoft.com/office/drawing/2014/main" id="{4925296C-73F9-47C8-9401-99A4B358B3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400" y="4365625"/>
            <a:ext cx="2286000"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84236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62" name="Object 5">
            <a:extLst>
              <a:ext uri="{FF2B5EF4-FFF2-40B4-BE49-F238E27FC236}">
                <a16:creationId xmlns:a16="http://schemas.microsoft.com/office/drawing/2014/main" id="{760175ED-266B-41E8-8A4E-B21482B656B1}"/>
              </a:ext>
            </a:extLst>
          </p:cNvPr>
          <p:cNvGraphicFramePr>
            <a:graphicFrameLocks noChangeAspect="1"/>
          </p:cNvGraphicFramePr>
          <p:nvPr/>
        </p:nvGraphicFramePr>
        <p:xfrm>
          <a:off x="2743200" y="2362200"/>
          <a:ext cx="2514600" cy="471488"/>
        </p:xfrm>
        <a:graphic>
          <a:graphicData uri="http://schemas.openxmlformats.org/presentationml/2006/ole">
            <mc:AlternateContent xmlns:mc="http://schemas.openxmlformats.org/markup-compatibility/2006">
              <mc:Choice xmlns:v="urn:schemas-microsoft-com:vml" Requires="v">
                <p:oleObj spid="_x0000_s175194" name="Equation" r:id="rId3" imgW="1066337" imgH="203112" progId="Equation.DSMT4">
                  <p:embed/>
                </p:oleObj>
              </mc:Choice>
              <mc:Fallback>
                <p:oleObj name="Equation" r:id="rId3" imgW="1066337" imgH="203112" progId="Equation.DSMT4">
                  <p:embed/>
                  <p:pic>
                    <p:nvPicPr>
                      <p:cNvPr id="40962" name="Object 5">
                        <a:extLst>
                          <a:ext uri="{FF2B5EF4-FFF2-40B4-BE49-F238E27FC236}">
                            <a16:creationId xmlns:a16="http://schemas.microsoft.com/office/drawing/2014/main" id="{760175ED-266B-41E8-8A4E-B21482B656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362200"/>
                        <a:ext cx="25146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3" name="Object 4">
            <a:extLst>
              <a:ext uri="{FF2B5EF4-FFF2-40B4-BE49-F238E27FC236}">
                <a16:creationId xmlns:a16="http://schemas.microsoft.com/office/drawing/2014/main" id="{47AD1325-478F-476D-9287-46589BB200CA}"/>
              </a:ext>
            </a:extLst>
          </p:cNvPr>
          <p:cNvGraphicFramePr>
            <a:graphicFrameLocks noChangeAspect="1"/>
          </p:cNvGraphicFramePr>
          <p:nvPr/>
        </p:nvGraphicFramePr>
        <p:xfrm>
          <a:off x="1295400" y="4191000"/>
          <a:ext cx="4625975" cy="962025"/>
        </p:xfrm>
        <a:graphic>
          <a:graphicData uri="http://schemas.openxmlformats.org/presentationml/2006/ole">
            <mc:AlternateContent xmlns:mc="http://schemas.openxmlformats.org/markup-compatibility/2006">
              <mc:Choice xmlns:v="urn:schemas-microsoft-com:vml" Requires="v">
                <p:oleObj spid="_x0000_s175195" name="Equation" r:id="rId5" imgW="2197100" imgH="457200" progId="Equation.DSMT4">
                  <p:embed/>
                </p:oleObj>
              </mc:Choice>
              <mc:Fallback>
                <p:oleObj name="Equation" r:id="rId5" imgW="2197100" imgH="457200" progId="Equation.DSMT4">
                  <p:embed/>
                  <p:pic>
                    <p:nvPicPr>
                      <p:cNvPr id="40963" name="Object 4">
                        <a:extLst>
                          <a:ext uri="{FF2B5EF4-FFF2-40B4-BE49-F238E27FC236}">
                            <a16:creationId xmlns:a16="http://schemas.microsoft.com/office/drawing/2014/main" id="{47AD1325-478F-476D-9287-46589BB200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4191000"/>
                        <a:ext cx="46259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4" name="Rectangle 6">
            <a:extLst>
              <a:ext uri="{FF2B5EF4-FFF2-40B4-BE49-F238E27FC236}">
                <a16:creationId xmlns:a16="http://schemas.microsoft.com/office/drawing/2014/main" id="{1BCA61C1-6560-483A-9700-B9E3C36CFDF3}"/>
              </a:ext>
            </a:extLst>
          </p:cNvPr>
          <p:cNvSpPr>
            <a:spLocks noChangeArrowheads="1"/>
          </p:cNvSpPr>
          <p:nvPr/>
        </p:nvSpPr>
        <p:spPr bwMode="auto">
          <a:xfrm>
            <a:off x="838200" y="1143000"/>
            <a:ext cx="8077200"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82563" indent="-182563">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60000"/>
              </a:lnSpc>
              <a:spcBef>
                <a:spcPct val="0"/>
              </a:spcBef>
              <a:buClrTx/>
              <a:buFont typeface="Wingdings" panose="05000000000000000000" pitchFamily="2" charset="2"/>
              <a:buNone/>
            </a:pPr>
            <a:r>
              <a:rPr lang="zh-CN" altLang="en-US">
                <a:cs typeface="Times New Roman" panose="02020603050405020304" pitchFamily="18" charset="0"/>
                <a:sym typeface="Times New Roman" panose="02020603050405020304" pitchFamily="18" charset="0"/>
              </a:rPr>
              <a:t>晶体中某个电子是在</a:t>
            </a:r>
            <a:r>
              <a:rPr lang="zh-CN" altLang="en-US">
                <a:solidFill>
                  <a:srgbClr val="FF3300"/>
                </a:solidFill>
                <a:cs typeface="Times New Roman" panose="02020603050405020304" pitchFamily="18" charset="0"/>
                <a:sym typeface="Times New Roman" panose="02020603050405020304" pitchFamily="18" charset="0"/>
              </a:rPr>
              <a:t>与晶格同周期的周期性势场</a:t>
            </a:r>
            <a:r>
              <a:rPr lang="zh-CN" altLang="en-US">
                <a:cs typeface="Times New Roman" panose="02020603050405020304" pitchFamily="18" charset="0"/>
                <a:sym typeface="Times New Roman" panose="02020603050405020304" pitchFamily="18" charset="0"/>
              </a:rPr>
              <a:t>中运动</a:t>
            </a:r>
          </a:p>
          <a:p>
            <a:pPr eaLnBrk="1" hangingPunct="1">
              <a:lnSpc>
                <a:spcPct val="160000"/>
              </a:lnSpc>
              <a:spcBef>
                <a:spcPct val="0"/>
              </a:spcBef>
              <a:buClrTx/>
              <a:buFont typeface="Wingdings" panose="05000000000000000000" pitchFamily="2" charset="2"/>
              <a:buNone/>
            </a:pPr>
            <a:r>
              <a:rPr lang="zh-CN" altLang="en-US">
                <a:cs typeface="Times New Roman" panose="02020603050405020304" pitchFamily="18" charset="0"/>
                <a:sym typeface="Times New Roman" panose="02020603050405020304" pitchFamily="18" charset="0"/>
              </a:rPr>
              <a:t>对于一维晶格，表示晶格中位置为</a:t>
            </a:r>
            <a:r>
              <a:rPr lang="en-US" altLang="zh-CN" i="1">
                <a:cs typeface="Times New Roman" panose="02020603050405020304" pitchFamily="18" charset="0"/>
                <a:sym typeface="Times New Roman" panose="02020603050405020304" pitchFamily="18" charset="0"/>
              </a:rPr>
              <a:t>x</a:t>
            </a:r>
            <a:r>
              <a:rPr lang="zh-CN" altLang="en-US">
                <a:cs typeface="Times New Roman" panose="02020603050405020304" pitchFamily="18" charset="0"/>
                <a:sym typeface="Times New Roman" panose="02020603050405020304" pitchFamily="18" charset="0"/>
              </a:rPr>
              <a:t>处的电势</a:t>
            </a:r>
            <a:r>
              <a:rPr lang="en-US" altLang="zh-CN" i="1">
                <a:cs typeface="Times New Roman" panose="02020603050405020304" pitchFamily="18" charset="0"/>
                <a:sym typeface="Times New Roman" panose="02020603050405020304" pitchFamily="18" charset="0"/>
              </a:rPr>
              <a:t>V</a:t>
            </a:r>
            <a:r>
              <a:rPr lang="zh-CN" altLang="en-US">
                <a:cs typeface="Times New Roman" panose="02020603050405020304" pitchFamily="18" charset="0"/>
                <a:sym typeface="Times New Roman" panose="02020603050405020304" pitchFamily="18" charset="0"/>
              </a:rPr>
              <a:t>为</a:t>
            </a:r>
            <a:endParaRPr lang="zh-CN" altLang="en-US">
              <a:sym typeface="Times New Roman" panose="02020603050405020304" pitchFamily="18" charset="0"/>
            </a:endParaRPr>
          </a:p>
        </p:txBody>
      </p:sp>
      <p:sp>
        <p:nvSpPr>
          <p:cNvPr id="40965" name="Rectangle 7">
            <a:extLst>
              <a:ext uri="{FF2B5EF4-FFF2-40B4-BE49-F238E27FC236}">
                <a16:creationId xmlns:a16="http://schemas.microsoft.com/office/drawing/2014/main" id="{5B563A82-6EB5-4FE0-AF44-C3921C4831E3}"/>
              </a:ext>
            </a:extLst>
          </p:cNvPr>
          <p:cNvSpPr>
            <a:spLocks noChangeArrowheads="1"/>
          </p:cNvSpPr>
          <p:nvPr/>
        </p:nvSpPr>
        <p:spPr bwMode="auto">
          <a:xfrm>
            <a:off x="609600" y="3124200"/>
            <a:ext cx="548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82563" indent="-182563">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60000"/>
              </a:lnSpc>
              <a:spcBef>
                <a:spcPct val="0"/>
              </a:spcBef>
              <a:buClrTx/>
              <a:buFont typeface="Wingdings" panose="05000000000000000000" pitchFamily="2" charset="2"/>
              <a:buNone/>
            </a:pPr>
            <a:r>
              <a:rPr lang="zh-CN" altLang="en-US">
                <a:cs typeface="Times New Roman" panose="02020603050405020304" pitchFamily="18" charset="0"/>
                <a:sym typeface="Times New Roman" panose="02020603050405020304" pitchFamily="18" charset="0"/>
              </a:rPr>
              <a:t>晶体中电子的薛定谔方程形式：</a:t>
            </a:r>
          </a:p>
        </p:txBody>
      </p:sp>
      <p:sp>
        <p:nvSpPr>
          <p:cNvPr id="40966" name="Rectangle 8">
            <a:extLst>
              <a:ext uri="{FF2B5EF4-FFF2-40B4-BE49-F238E27FC236}">
                <a16:creationId xmlns:a16="http://schemas.microsoft.com/office/drawing/2014/main" id="{92C15E11-6B01-4B77-8DC8-5396C6CF3FA9}"/>
              </a:ext>
            </a:extLst>
          </p:cNvPr>
          <p:cNvSpPr>
            <a:spLocks noChangeArrowheads="1"/>
          </p:cNvSpPr>
          <p:nvPr/>
        </p:nvSpPr>
        <p:spPr bwMode="auto">
          <a:xfrm>
            <a:off x="762000" y="5410200"/>
            <a:ext cx="647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82563" indent="-182563">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60000"/>
              </a:lnSpc>
              <a:spcBef>
                <a:spcPct val="0"/>
              </a:spcBef>
              <a:buClrTx/>
              <a:buFont typeface="Wingdings" panose="05000000000000000000" pitchFamily="2" charset="2"/>
              <a:buNone/>
            </a:pPr>
            <a:r>
              <a:rPr lang="zh-CN" altLang="en-US">
                <a:cs typeface="Times New Roman" panose="02020603050405020304" pitchFamily="18" charset="0"/>
                <a:sym typeface="Times New Roman" panose="02020603050405020304" pitchFamily="18" charset="0"/>
              </a:rPr>
              <a:t>该方程求解困难，只能采用近似方法求解。</a:t>
            </a:r>
          </a:p>
        </p:txBody>
      </p:sp>
      <p:sp>
        <p:nvSpPr>
          <p:cNvPr id="40967" name="Rectangle 9">
            <a:extLst>
              <a:ext uri="{FF2B5EF4-FFF2-40B4-BE49-F238E27FC236}">
                <a16:creationId xmlns:a16="http://schemas.microsoft.com/office/drawing/2014/main" id="{C7D813D8-E8FC-4910-A6A6-DC9AE6E967BB}"/>
              </a:ext>
            </a:extLst>
          </p:cNvPr>
          <p:cNvSpPr>
            <a:spLocks noChangeArrowheads="1"/>
          </p:cNvSpPr>
          <p:nvPr/>
        </p:nvSpPr>
        <p:spPr bwMode="auto">
          <a:xfrm>
            <a:off x="609600" y="542925"/>
            <a:ext cx="7756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800">
                <a:solidFill>
                  <a:srgbClr val="0000FF"/>
                </a:solidFill>
                <a:sym typeface="Times New Roman" panose="02020603050405020304" pitchFamily="18" charset="0"/>
              </a:rPr>
              <a:t>1. </a:t>
            </a:r>
            <a:r>
              <a:rPr lang="zh-CN" altLang="en-US" sz="2800">
                <a:solidFill>
                  <a:srgbClr val="0000FF"/>
                </a:solidFill>
                <a:sym typeface="Times New Roman" panose="02020603050405020304" pitchFamily="18" charset="0"/>
              </a:rPr>
              <a:t>晶体的周期性势场、薛定谔方程及其解的形式</a:t>
            </a:r>
          </a:p>
        </p:txBody>
      </p:sp>
    </p:spTree>
    <p:extLst>
      <p:ext uri="{BB962C8B-B14F-4D97-AF65-F5344CB8AC3E}">
        <p14:creationId xmlns:p14="http://schemas.microsoft.com/office/powerpoint/2010/main" val="32796491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6" name="Object 8">
            <a:extLst>
              <a:ext uri="{FF2B5EF4-FFF2-40B4-BE49-F238E27FC236}">
                <a16:creationId xmlns:a16="http://schemas.microsoft.com/office/drawing/2014/main" id="{1DC02C70-A3AA-4516-9023-A07B6545A0BD}"/>
              </a:ext>
            </a:extLst>
          </p:cNvPr>
          <p:cNvGraphicFramePr>
            <a:graphicFrameLocks noChangeAspect="1"/>
          </p:cNvGraphicFramePr>
          <p:nvPr/>
        </p:nvGraphicFramePr>
        <p:xfrm>
          <a:off x="1606550" y="2230438"/>
          <a:ext cx="2362200" cy="1003300"/>
        </p:xfrm>
        <a:graphic>
          <a:graphicData uri="http://schemas.openxmlformats.org/presentationml/2006/ole">
            <mc:AlternateContent xmlns:mc="http://schemas.openxmlformats.org/markup-compatibility/2006">
              <mc:Choice xmlns:v="urn:schemas-microsoft-com:vml" Requires="v">
                <p:oleObj spid="_x0000_s176262" name="Equation" r:id="rId3" imgW="1143000" imgH="482600" progId="Equation.DSMT4">
                  <p:embed/>
                </p:oleObj>
              </mc:Choice>
              <mc:Fallback>
                <p:oleObj name="Equation" r:id="rId3" imgW="1143000" imgH="482600" progId="Equation.DSMT4">
                  <p:embed/>
                  <p:pic>
                    <p:nvPicPr>
                      <p:cNvPr id="41986" name="Object 8">
                        <a:extLst>
                          <a:ext uri="{FF2B5EF4-FFF2-40B4-BE49-F238E27FC236}">
                            <a16:creationId xmlns:a16="http://schemas.microsoft.com/office/drawing/2014/main" id="{1DC02C70-A3AA-4516-9023-A07B6545A0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6550" y="2230438"/>
                        <a:ext cx="23622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87" name="Object 7">
            <a:extLst>
              <a:ext uri="{FF2B5EF4-FFF2-40B4-BE49-F238E27FC236}">
                <a16:creationId xmlns:a16="http://schemas.microsoft.com/office/drawing/2014/main" id="{6F574324-B9DA-4755-8C2C-096B93A4F592}"/>
              </a:ext>
            </a:extLst>
          </p:cNvPr>
          <p:cNvGraphicFramePr>
            <a:graphicFrameLocks noChangeAspect="1"/>
          </p:cNvGraphicFramePr>
          <p:nvPr/>
        </p:nvGraphicFramePr>
        <p:xfrm>
          <a:off x="4529138" y="4164013"/>
          <a:ext cx="1371600" cy="417512"/>
        </p:xfrm>
        <a:graphic>
          <a:graphicData uri="http://schemas.openxmlformats.org/presentationml/2006/ole">
            <mc:AlternateContent xmlns:mc="http://schemas.openxmlformats.org/markup-compatibility/2006">
              <mc:Choice xmlns:v="urn:schemas-microsoft-com:vml" Requires="v">
                <p:oleObj spid="_x0000_s176263" name="Equation" r:id="rId5" imgW="749300" imgH="228600" progId="Equation.DSMT4">
                  <p:embed/>
                </p:oleObj>
              </mc:Choice>
              <mc:Fallback>
                <p:oleObj name="Equation" r:id="rId5" imgW="749300" imgH="228600" progId="Equation.DSMT4">
                  <p:embed/>
                  <p:pic>
                    <p:nvPicPr>
                      <p:cNvPr id="41987" name="Object 7">
                        <a:extLst>
                          <a:ext uri="{FF2B5EF4-FFF2-40B4-BE49-F238E27FC236}">
                            <a16:creationId xmlns:a16="http://schemas.microsoft.com/office/drawing/2014/main" id="{6F574324-B9DA-4755-8C2C-096B93A4F5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9138" y="4164013"/>
                        <a:ext cx="1371600"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88" name="Object 6">
            <a:extLst>
              <a:ext uri="{FF2B5EF4-FFF2-40B4-BE49-F238E27FC236}">
                <a16:creationId xmlns:a16="http://schemas.microsoft.com/office/drawing/2014/main" id="{5D586B51-1005-4F0D-9838-565E7DEA8A94}"/>
              </a:ext>
            </a:extLst>
          </p:cNvPr>
          <p:cNvGraphicFramePr>
            <a:graphicFrameLocks noChangeAspect="1"/>
          </p:cNvGraphicFramePr>
          <p:nvPr/>
        </p:nvGraphicFramePr>
        <p:xfrm>
          <a:off x="2216150" y="5572125"/>
          <a:ext cx="1905000" cy="436563"/>
        </p:xfrm>
        <a:graphic>
          <a:graphicData uri="http://schemas.openxmlformats.org/presentationml/2006/ole">
            <mc:AlternateContent xmlns:mc="http://schemas.openxmlformats.org/markup-compatibility/2006">
              <mc:Choice xmlns:v="urn:schemas-microsoft-com:vml" Requires="v">
                <p:oleObj spid="_x0000_s176264" name="Equation" r:id="rId7" imgW="1040948" imgH="241195" progId="Equation.DSMT4">
                  <p:embed/>
                </p:oleObj>
              </mc:Choice>
              <mc:Fallback>
                <p:oleObj name="Equation" r:id="rId7" imgW="1040948" imgH="241195" progId="Equation.DSMT4">
                  <p:embed/>
                  <p:pic>
                    <p:nvPicPr>
                      <p:cNvPr id="41988" name="Object 6">
                        <a:extLst>
                          <a:ext uri="{FF2B5EF4-FFF2-40B4-BE49-F238E27FC236}">
                            <a16:creationId xmlns:a16="http://schemas.microsoft.com/office/drawing/2014/main" id="{5D586B51-1005-4F0D-9838-565E7DEA8A9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16150" y="5572125"/>
                        <a:ext cx="19050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89" name="Rectangle 9">
            <a:extLst>
              <a:ext uri="{FF2B5EF4-FFF2-40B4-BE49-F238E27FC236}">
                <a16:creationId xmlns:a16="http://schemas.microsoft.com/office/drawing/2014/main" id="{52F75CF9-8570-453A-892A-8F374FE41419}"/>
              </a:ext>
            </a:extLst>
          </p:cNvPr>
          <p:cNvSpPr>
            <a:spLocks noChangeArrowheads="1"/>
          </p:cNvSpPr>
          <p:nvPr/>
        </p:nvSpPr>
        <p:spPr bwMode="auto">
          <a:xfrm>
            <a:off x="539750" y="908050"/>
            <a:ext cx="7543800" cy="119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82563" indent="-182563">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60000"/>
              </a:lnSpc>
              <a:spcBef>
                <a:spcPct val="0"/>
              </a:spcBef>
              <a:buClrTx/>
              <a:buFont typeface="Wingdings" panose="05000000000000000000" pitchFamily="2" charset="2"/>
              <a:buNone/>
            </a:pPr>
            <a:r>
              <a:rPr lang="zh-CN" altLang="en-US" sz="2400">
                <a:solidFill>
                  <a:srgbClr val="FF3300"/>
                </a:solidFill>
                <a:cs typeface="Times New Roman" panose="02020603050405020304" pitchFamily="18" charset="0"/>
                <a:sym typeface="Times New Roman" panose="02020603050405020304" pitchFamily="18" charset="0"/>
              </a:rPr>
              <a:t>布洛赫定理：</a:t>
            </a:r>
            <a:r>
              <a:rPr lang="zh-CN" altLang="en-US" sz="2400">
                <a:cs typeface="Times New Roman" panose="02020603050405020304" pitchFamily="18" charset="0"/>
                <a:sym typeface="Times New Roman" panose="02020603050405020304" pitchFamily="18" charset="0"/>
              </a:rPr>
              <a:t>在周期性势场中运动的电子波函数具有如下形式：</a:t>
            </a:r>
          </a:p>
        </p:txBody>
      </p:sp>
      <p:sp>
        <p:nvSpPr>
          <p:cNvPr id="41990" name="Rectangle 10">
            <a:extLst>
              <a:ext uri="{FF2B5EF4-FFF2-40B4-BE49-F238E27FC236}">
                <a16:creationId xmlns:a16="http://schemas.microsoft.com/office/drawing/2014/main" id="{3A15F363-0EC2-418F-84D7-5809406D5381}"/>
              </a:ext>
            </a:extLst>
          </p:cNvPr>
          <p:cNvSpPr>
            <a:spLocks noChangeArrowheads="1"/>
          </p:cNvSpPr>
          <p:nvPr/>
        </p:nvSpPr>
        <p:spPr bwMode="auto">
          <a:xfrm>
            <a:off x="3968750" y="2446338"/>
            <a:ext cx="4876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indent="3429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i="1">
                <a:cs typeface="Times New Roman" panose="02020603050405020304" pitchFamily="18" charset="0"/>
                <a:sym typeface="Times New Roman" panose="02020603050405020304" pitchFamily="18" charset="0"/>
              </a:rPr>
              <a:t>u</a:t>
            </a:r>
            <a:r>
              <a:rPr lang="en-US" altLang="zh-CN" sz="2400" i="1" baseline="-30000">
                <a:cs typeface="Times New Roman" panose="02020603050405020304" pitchFamily="18" charset="0"/>
                <a:sym typeface="Times New Roman" panose="02020603050405020304" pitchFamily="18" charset="0"/>
              </a:rPr>
              <a:t>k</a:t>
            </a:r>
            <a:r>
              <a:rPr lang="en-US" altLang="zh-CN" sz="2400" i="1">
                <a:cs typeface="Times New Roman" panose="02020603050405020304" pitchFamily="18" charset="0"/>
                <a:sym typeface="Times New Roman" panose="02020603050405020304" pitchFamily="18" charset="0"/>
              </a:rPr>
              <a:t>(x)</a:t>
            </a:r>
            <a:r>
              <a:rPr lang="zh-CN" altLang="en-US" sz="2400">
                <a:cs typeface="Times New Roman" panose="02020603050405020304" pitchFamily="18" charset="0"/>
                <a:sym typeface="Times New Roman" panose="02020603050405020304" pitchFamily="18" charset="0"/>
              </a:rPr>
              <a:t>为具有晶格周期性的函数。</a:t>
            </a:r>
            <a:endParaRPr lang="zh-CN" altLang="en-US" sz="2400">
              <a:sym typeface="Times New Roman" panose="02020603050405020304" pitchFamily="18" charset="0"/>
            </a:endParaRPr>
          </a:p>
        </p:txBody>
      </p:sp>
      <p:sp>
        <p:nvSpPr>
          <p:cNvPr id="41991" name="Rectangle 11">
            <a:extLst>
              <a:ext uri="{FF2B5EF4-FFF2-40B4-BE49-F238E27FC236}">
                <a16:creationId xmlns:a16="http://schemas.microsoft.com/office/drawing/2014/main" id="{997DFC8B-C817-4254-9358-2EAA1DD54BBE}"/>
              </a:ext>
            </a:extLst>
          </p:cNvPr>
          <p:cNvSpPr>
            <a:spLocks noChangeArrowheads="1"/>
          </p:cNvSpPr>
          <p:nvPr/>
        </p:nvSpPr>
        <p:spPr bwMode="auto">
          <a:xfrm>
            <a:off x="311150" y="5038725"/>
            <a:ext cx="7010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a:solidFill>
                  <a:srgbClr val="FF3300"/>
                </a:solidFill>
                <a:cs typeface="Times New Roman" panose="02020603050405020304" pitchFamily="18" charset="0"/>
                <a:sym typeface="Times New Roman" panose="02020603050405020304" pitchFamily="18" charset="0"/>
              </a:rPr>
              <a:t>周期性势场中的布洛赫函数</a:t>
            </a:r>
            <a:r>
              <a:rPr lang="zh-CN" altLang="en-US">
                <a:solidFill>
                  <a:srgbClr val="FF3300"/>
                </a:solidFill>
                <a:sym typeface="Times New Roman" panose="02020603050405020304" pitchFamily="18" charset="0"/>
              </a:rPr>
              <a:t>是一个被调幅的平面波</a:t>
            </a:r>
          </a:p>
        </p:txBody>
      </p:sp>
      <p:sp>
        <p:nvSpPr>
          <p:cNvPr id="41992" name="Rectangle 15">
            <a:extLst>
              <a:ext uri="{FF2B5EF4-FFF2-40B4-BE49-F238E27FC236}">
                <a16:creationId xmlns:a16="http://schemas.microsoft.com/office/drawing/2014/main" id="{45106651-3F2F-4938-852A-60212A681A3A}"/>
              </a:ext>
            </a:extLst>
          </p:cNvPr>
          <p:cNvSpPr>
            <a:spLocks noChangeArrowheads="1"/>
          </p:cNvSpPr>
          <p:nvPr/>
        </p:nvSpPr>
        <p:spPr bwMode="auto">
          <a:xfrm>
            <a:off x="539750" y="4164013"/>
            <a:ext cx="4781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a:sym typeface="Times New Roman" panose="02020603050405020304" pitchFamily="18" charset="0"/>
              </a:rPr>
              <a:t>（</a:t>
            </a:r>
            <a:r>
              <a:rPr lang="en-US" altLang="zh-CN" sz="2400">
                <a:sym typeface="Times New Roman" panose="02020603050405020304" pitchFamily="18" charset="0"/>
              </a:rPr>
              <a:t>1</a:t>
            </a:r>
            <a:r>
              <a:rPr lang="zh-CN" altLang="en-US" sz="2400">
                <a:sym typeface="Times New Roman" panose="02020603050405020304" pitchFamily="18" charset="0"/>
              </a:rPr>
              <a:t>）对比自由电子波函数</a:t>
            </a:r>
          </a:p>
        </p:txBody>
      </p:sp>
      <p:sp>
        <p:nvSpPr>
          <p:cNvPr id="41993" name="Rectangle 16">
            <a:extLst>
              <a:ext uri="{FF2B5EF4-FFF2-40B4-BE49-F238E27FC236}">
                <a16:creationId xmlns:a16="http://schemas.microsoft.com/office/drawing/2014/main" id="{2EDABF21-1FBB-4F57-8E99-0E7989B6447F}"/>
              </a:ext>
            </a:extLst>
          </p:cNvPr>
          <p:cNvSpPr>
            <a:spLocks noChangeArrowheads="1"/>
          </p:cNvSpPr>
          <p:nvPr/>
        </p:nvSpPr>
        <p:spPr bwMode="auto">
          <a:xfrm>
            <a:off x="387350" y="3360738"/>
            <a:ext cx="3278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a:cs typeface="Times New Roman" panose="02020603050405020304" pitchFamily="18" charset="0"/>
                <a:sym typeface="Times New Roman" panose="02020603050405020304" pitchFamily="18" charset="0"/>
              </a:rPr>
              <a:t>对布洛赫函数的说明：</a:t>
            </a:r>
          </a:p>
        </p:txBody>
      </p:sp>
      <p:sp>
        <p:nvSpPr>
          <p:cNvPr id="41994" name="Rectangle 18">
            <a:extLst>
              <a:ext uri="{FF2B5EF4-FFF2-40B4-BE49-F238E27FC236}">
                <a16:creationId xmlns:a16="http://schemas.microsoft.com/office/drawing/2014/main" id="{15B6BDB9-C696-42C5-BDC1-4D4981019BBF}"/>
              </a:ext>
            </a:extLst>
          </p:cNvPr>
          <p:cNvSpPr>
            <a:spLocks noChangeArrowheads="1"/>
          </p:cNvSpPr>
          <p:nvPr/>
        </p:nvSpPr>
        <p:spPr bwMode="auto">
          <a:xfrm>
            <a:off x="4349750" y="5572125"/>
            <a:ext cx="3962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a:solidFill>
                  <a:srgbClr val="FF3300"/>
                </a:solidFill>
                <a:sym typeface="Times New Roman" panose="02020603050405020304" pitchFamily="18" charset="0"/>
              </a:rPr>
              <a:t>振幅</a:t>
            </a:r>
            <a:r>
              <a:rPr lang="zh-CN" altLang="en-US">
                <a:solidFill>
                  <a:srgbClr val="FF3300"/>
                </a:solidFill>
                <a:cs typeface="Times New Roman" panose="02020603050405020304" pitchFamily="18" charset="0"/>
                <a:sym typeface="Times New Roman" panose="02020603050405020304" pitchFamily="18" charset="0"/>
              </a:rPr>
              <a:t>变化周期与晶格周期相同</a:t>
            </a:r>
          </a:p>
        </p:txBody>
      </p:sp>
      <p:sp>
        <p:nvSpPr>
          <p:cNvPr id="41995" name="Oval 21">
            <a:extLst>
              <a:ext uri="{FF2B5EF4-FFF2-40B4-BE49-F238E27FC236}">
                <a16:creationId xmlns:a16="http://schemas.microsoft.com/office/drawing/2014/main" id="{EBD3E8AE-DF2E-44FF-BB5A-66700E85922F}"/>
              </a:ext>
            </a:extLst>
          </p:cNvPr>
          <p:cNvSpPr>
            <a:spLocks noChangeArrowheads="1"/>
          </p:cNvSpPr>
          <p:nvPr/>
        </p:nvSpPr>
        <p:spPr bwMode="auto">
          <a:xfrm>
            <a:off x="3435350" y="5572125"/>
            <a:ext cx="762000" cy="533400"/>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endParaRPr lang="zh-CN" altLang="en-US" sz="2400">
              <a:solidFill>
                <a:schemeClr val="tx1"/>
              </a:solidFill>
              <a:sym typeface="Times New Roman" panose="02020603050405020304" pitchFamily="18" charset="0"/>
            </a:endParaRPr>
          </a:p>
        </p:txBody>
      </p:sp>
    </p:spTree>
    <p:extLst>
      <p:ext uri="{BB962C8B-B14F-4D97-AF65-F5344CB8AC3E}">
        <p14:creationId xmlns:p14="http://schemas.microsoft.com/office/powerpoint/2010/main" val="15385891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a:extLst>
              <a:ext uri="{FF2B5EF4-FFF2-40B4-BE49-F238E27FC236}">
                <a16:creationId xmlns:a16="http://schemas.microsoft.com/office/drawing/2014/main" id="{131C3880-0CE7-4A28-94FE-700C2F554E23}"/>
              </a:ext>
            </a:extLst>
          </p:cNvPr>
          <p:cNvSpPr>
            <a:spLocks noChangeArrowheads="1"/>
          </p:cNvSpPr>
          <p:nvPr/>
        </p:nvSpPr>
        <p:spPr bwMode="auto">
          <a:xfrm>
            <a:off x="679450" y="6324600"/>
            <a:ext cx="1905000" cy="457200"/>
          </a:xfrm>
          <a:prstGeom prst="rect">
            <a:avLst/>
          </a:prstGeom>
          <a:noFill/>
          <a:ln>
            <a:noFill/>
          </a:ln>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12700">
                <a:solidFill>
                  <a:srgbClr val="F8F8F8"/>
                </a:solidFill>
                <a:miter lim="800000"/>
                <a:headEnd/>
                <a:tailEnd/>
              </a14:hiddenLine>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a:solidFill>
                <a:schemeClr val="tx1"/>
              </a:solidFill>
              <a:sym typeface="Times New Roman" panose="02020603050405020304" pitchFamily="18" charset="0"/>
            </a:endParaRPr>
          </a:p>
        </p:txBody>
      </p:sp>
      <p:sp>
        <p:nvSpPr>
          <p:cNvPr id="43011" name="Rectangle 5">
            <a:extLst>
              <a:ext uri="{FF2B5EF4-FFF2-40B4-BE49-F238E27FC236}">
                <a16:creationId xmlns:a16="http://schemas.microsoft.com/office/drawing/2014/main" id="{84A21F3C-2E8E-497D-9131-A70C3AF11A33}"/>
              </a:ext>
            </a:extLst>
          </p:cNvPr>
          <p:cNvSpPr>
            <a:spLocks noChangeArrowheads="1"/>
          </p:cNvSpPr>
          <p:nvPr/>
        </p:nvSpPr>
        <p:spPr bwMode="auto">
          <a:xfrm>
            <a:off x="3117850" y="6324600"/>
            <a:ext cx="2895600" cy="457200"/>
          </a:xfrm>
          <a:prstGeom prst="rect">
            <a:avLst/>
          </a:prstGeom>
          <a:noFill/>
          <a:ln>
            <a:noFill/>
          </a:ln>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12700">
                <a:solidFill>
                  <a:srgbClr val="F8F8F8"/>
                </a:solidFill>
                <a:miter lim="800000"/>
                <a:headEnd/>
                <a:tailEnd/>
              </a14:hiddenLine>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a:solidFill>
                <a:schemeClr val="tx1"/>
              </a:solidFill>
              <a:sym typeface="Times New Roman" panose="02020603050405020304" pitchFamily="18" charset="0"/>
            </a:endParaRPr>
          </a:p>
        </p:txBody>
      </p:sp>
      <p:sp>
        <p:nvSpPr>
          <p:cNvPr id="43012" name="Rectangle 6">
            <a:extLst>
              <a:ext uri="{FF2B5EF4-FFF2-40B4-BE49-F238E27FC236}">
                <a16:creationId xmlns:a16="http://schemas.microsoft.com/office/drawing/2014/main" id="{E7568AB2-453E-4C5A-ADDD-BE035A582BD2}"/>
              </a:ext>
            </a:extLst>
          </p:cNvPr>
          <p:cNvSpPr>
            <a:spLocks noChangeArrowheads="1"/>
          </p:cNvSpPr>
          <p:nvPr/>
        </p:nvSpPr>
        <p:spPr bwMode="auto">
          <a:xfrm>
            <a:off x="63500" y="877888"/>
            <a:ext cx="8915400" cy="525780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F8F8F8"/>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marL="342900" indent="-3429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buClrTx/>
              <a:buFontTx/>
              <a:buNone/>
            </a:pPr>
            <a:r>
              <a:rPr kumimoji="1" lang="zh-CN" altLang="en-US" sz="2200">
                <a:solidFill>
                  <a:schemeClr val="tx1"/>
                </a:solidFill>
                <a:sym typeface="Times New Roman" panose="02020603050405020304" pitchFamily="18" charset="0"/>
              </a:rPr>
              <a:t>对自由电子：</a:t>
            </a:r>
            <a:r>
              <a:rPr kumimoji="1" lang="zh-CN" altLang="en-US" sz="2200">
                <a:solidFill>
                  <a:srgbClr val="FFFF66"/>
                </a:solidFill>
                <a:sym typeface="Times New Roman" panose="02020603050405020304" pitchFamily="18" charset="0"/>
              </a:rPr>
              <a:t> </a:t>
            </a:r>
            <a:endParaRPr kumimoji="1" lang="en-US" altLang="zh-CN" sz="2200">
              <a:solidFill>
                <a:srgbClr val="FFFF66"/>
              </a:solidFill>
              <a:sym typeface="Times New Roman" panose="02020603050405020304" pitchFamily="18" charset="0"/>
            </a:endParaRPr>
          </a:p>
          <a:p>
            <a:pPr>
              <a:buClrTx/>
              <a:buFontTx/>
              <a:buNone/>
            </a:pPr>
            <a:endParaRPr kumimoji="1" lang="en-US" altLang="zh-CN" sz="2200">
              <a:solidFill>
                <a:srgbClr val="FFFF66"/>
              </a:solidFill>
              <a:ea typeface="ˎ̥"/>
              <a:cs typeface="ˎ̥"/>
              <a:sym typeface="Times New Roman" panose="02020603050405020304" pitchFamily="18" charset="0"/>
            </a:endParaRPr>
          </a:p>
          <a:p>
            <a:pPr>
              <a:buClrTx/>
              <a:buFontTx/>
              <a:buNone/>
            </a:pPr>
            <a:endParaRPr kumimoji="1" lang="zh-CN" altLang="en-US" sz="2200">
              <a:solidFill>
                <a:schemeClr val="tx1"/>
              </a:solidFill>
              <a:ea typeface="ˎ̥"/>
              <a:cs typeface="ˎ̥"/>
              <a:sym typeface="Times New Roman" panose="02020603050405020304" pitchFamily="18" charset="0"/>
            </a:endParaRPr>
          </a:p>
          <a:p>
            <a:pPr>
              <a:buClrTx/>
              <a:buFontTx/>
              <a:buNone/>
            </a:pPr>
            <a:r>
              <a:rPr kumimoji="1" lang="zh-CN" altLang="en-US" sz="2200">
                <a:solidFill>
                  <a:srgbClr val="FFFF66"/>
                </a:solidFill>
                <a:ea typeface="ˎ̥"/>
                <a:cs typeface="ˎ̥"/>
                <a:sym typeface="Times New Roman" panose="02020603050405020304" pitchFamily="18" charset="0"/>
              </a:rPr>
              <a:t>           </a:t>
            </a:r>
            <a:endParaRPr kumimoji="1" lang="zh-CN" altLang="en-US" sz="2200">
              <a:solidFill>
                <a:schemeClr val="tx1"/>
              </a:solidFill>
              <a:ea typeface="ˎ̥"/>
              <a:cs typeface="ˎ̥"/>
              <a:sym typeface="Times New Roman" panose="02020603050405020304" pitchFamily="18" charset="0"/>
            </a:endParaRPr>
          </a:p>
          <a:p>
            <a:pPr>
              <a:buClrTx/>
              <a:buFontTx/>
              <a:buNone/>
            </a:pPr>
            <a:r>
              <a:rPr kumimoji="1" lang="zh-CN" altLang="en-US" sz="2200">
                <a:solidFill>
                  <a:schemeClr val="tx1"/>
                </a:solidFill>
                <a:ea typeface="ˎ̥"/>
                <a:cs typeface="ˎ̥"/>
                <a:sym typeface="Times New Roman" panose="02020603050405020304" pitchFamily="18" charset="0"/>
              </a:rPr>
              <a:t>  说明电子在空间是</a:t>
            </a:r>
            <a:r>
              <a:rPr kumimoji="1" lang="zh-CN" altLang="en-US" sz="2200" u="sng">
                <a:solidFill>
                  <a:srgbClr val="FF0000"/>
                </a:solidFill>
                <a:sym typeface="Times New Roman" panose="02020603050405020304" pitchFamily="18" charset="0"/>
              </a:rPr>
              <a:t>等几率分布</a:t>
            </a:r>
            <a:r>
              <a:rPr kumimoji="1" lang="zh-CN" altLang="en-US" sz="2200">
                <a:solidFill>
                  <a:schemeClr val="tx1"/>
                </a:solidFill>
                <a:ea typeface="ˎ̥"/>
                <a:cs typeface="ˎ̥"/>
                <a:sym typeface="Times New Roman" panose="02020603050405020304" pitchFamily="18" charset="0"/>
              </a:rPr>
              <a:t>的，即自由电子在空间作自由运动。</a:t>
            </a:r>
            <a:endParaRPr kumimoji="1" lang="en-US" altLang="zh-CN" sz="2200">
              <a:solidFill>
                <a:schemeClr val="tx1"/>
              </a:solidFill>
              <a:ea typeface="ˎ̥"/>
              <a:cs typeface="ˎ̥"/>
              <a:sym typeface="Times New Roman" panose="02020603050405020304" pitchFamily="18" charset="0"/>
            </a:endParaRPr>
          </a:p>
          <a:p>
            <a:pPr>
              <a:buClrTx/>
              <a:buFontTx/>
              <a:buNone/>
            </a:pPr>
            <a:r>
              <a:rPr kumimoji="1" lang="en-US" altLang="zh-CN" sz="2200">
                <a:solidFill>
                  <a:schemeClr val="tx1"/>
                </a:solidFill>
                <a:ea typeface="ˎ̥"/>
                <a:cs typeface="ˎ̥"/>
                <a:sym typeface="Times New Roman" panose="02020603050405020304" pitchFamily="18" charset="0"/>
              </a:rPr>
              <a:t>   </a:t>
            </a:r>
            <a:r>
              <a:rPr kumimoji="1" lang="zh-CN" altLang="en-US" sz="2200">
                <a:solidFill>
                  <a:schemeClr val="tx1"/>
                </a:solidFill>
                <a:ea typeface="ˎ̥"/>
                <a:cs typeface="ˎ̥"/>
                <a:sym typeface="Times New Roman" panose="02020603050405020304" pitchFamily="18" charset="0"/>
              </a:rPr>
              <a:t>波矢</a:t>
            </a:r>
            <a:r>
              <a:rPr kumimoji="1" lang="en-US" altLang="zh-CN" sz="2200">
                <a:solidFill>
                  <a:schemeClr val="tx1"/>
                </a:solidFill>
                <a:ea typeface="ˎ̥"/>
                <a:cs typeface="ˎ̥"/>
                <a:sym typeface="Times New Roman" panose="02020603050405020304" pitchFamily="18" charset="0"/>
              </a:rPr>
              <a:t>k</a:t>
            </a:r>
            <a:r>
              <a:rPr kumimoji="1" lang="zh-CN" altLang="en-US" sz="2200">
                <a:solidFill>
                  <a:schemeClr val="tx1"/>
                </a:solidFill>
                <a:ea typeface="ˎ̥"/>
                <a:cs typeface="ˎ̥"/>
                <a:sym typeface="Times New Roman" panose="02020603050405020304" pitchFamily="18" charset="0"/>
              </a:rPr>
              <a:t>描述自由电子的运动状态。 </a:t>
            </a:r>
          </a:p>
          <a:p>
            <a:pPr>
              <a:buClrTx/>
              <a:buFontTx/>
              <a:buChar char="•"/>
            </a:pPr>
            <a:r>
              <a:rPr kumimoji="1" lang="zh-CN" altLang="en-US" sz="2200">
                <a:solidFill>
                  <a:schemeClr val="tx1"/>
                </a:solidFill>
                <a:ea typeface="ˎ̥"/>
                <a:cs typeface="ˎ̥"/>
                <a:sym typeface="Times New Roman" panose="02020603050405020304" pitchFamily="18" charset="0"/>
              </a:rPr>
              <a:t> </a:t>
            </a:r>
          </a:p>
          <a:p>
            <a:pPr>
              <a:buClrTx/>
              <a:buFontTx/>
              <a:buChar char="•"/>
            </a:pPr>
            <a:r>
              <a:rPr kumimoji="1" lang="zh-CN" altLang="en-US" sz="2200">
                <a:solidFill>
                  <a:schemeClr val="tx1"/>
                </a:solidFill>
                <a:ea typeface="ˎ̥"/>
                <a:cs typeface="ˎ̥"/>
                <a:sym typeface="Times New Roman" panose="02020603050405020304" pitchFamily="18" charset="0"/>
              </a:rPr>
              <a:t> </a:t>
            </a:r>
            <a:endParaRPr lang="zh-CN" altLang="en-US" sz="2200">
              <a:solidFill>
                <a:schemeClr val="tx1"/>
              </a:solidFill>
              <a:sym typeface="Times New Roman" panose="02020603050405020304" pitchFamily="18" charset="0"/>
            </a:endParaRPr>
          </a:p>
        </p:txBody>
      </p:sp>
      <p:sp>
        <p:nvSpPr>
          <p:cNvPr id="43013" name="Line 7">
            <a:extLst>
              <a:ext uri="{FF2B5EF4-FFF2-40B4-BE49-F238E27FC236}">
                <a16:creationId xmlns:a16="http://schemas.microsoft.com/office/drawing/2014/main" id="{8D92A32A-7249-49C8-B841-28882D49C1DF}"/>
              </a:ext>
            </a:extLst>
          </p:cNvPr>
          <p:cNvSpPr>
            <a:spLocks noChangeShapeType="1"/>
          </p:cNvSpPr>
          <p:nvPr/>
        </p:nvSpPr>
        <p:spPr bwMode="auto">
          <a:xfrm>
            <a:off x="4565650" y="5181600"/>
            <a:ext cx="76200" cy="0"/>
          </a:xfrm>
          <a:prstGeom prst="line">
            <a:avLst/>
          </a:prstGeom>
          <a:noFill/>
          <a:ln w="12700">
            <a:solidFill>
              <a:srgbClr val="F8F8F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14" name="Rectangle 8">
            <a:extLst>
              <a:ext uri="{FF2B5EF4-FFF2-40B4-BE49-F238E27FC236}">
                <a16:creationId xmlns:a16="http://schemas.microsoft.com/office/drawing/2014/main" id="{78E6A99B-0B0A-4208-A387-FCD524098A7F}"/>
              </a:ext>
            </a:extLst>
          </p:cNvPr>
          <p:cNvSpPr>
            <a:spLocks noChangeArrowheads="1"/>
          </p:cNvSpPr>
          <p:nvPr/>
        </p:nvSpPr>
        <p:spPr bwMode="auto">
          <a:xfrm>
            <a:off x="403225" y="3716338"/>
            <a:ext cx="8740775" cy="1985962"/>
          </a:xfrm>
          <a:prstGeom prst="rect">
            <a:avLst/>
          </a:prstGeom>
          <a:noFill/>
          <a:ln>
            <a:noFill/>
          </a:ln>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12700">
                <a:solidFill>
                  <a:srgbClr val="F8F8F8"/>
                </a:solidFill>
                <a:miter lim="800000"/>
                <a:headEnd/>
                <a:tailEnd/>
              </a14:hiddenLine>
            </a:ext>
          </a:extLst>
        </p:spPr>
        <p:txBody>
          <a:bodyPr lIns="90488" tIns="44450" rIns="90488" bIns="44450">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buClrTx/>
              <a:buFontTx/>
              <a:buNone/>
            </a:pPr>
            <a:r>
              <a:rPr kumimoji="1" lang="zh-CN" altLang="en-US" sz="2200">
                <a:solidFill>
                  <a:schemeClr val="tx1"/>
                </a:solidFill>
                <a:sym typeface="Times New Roman" panose="02020603050405020304" pitchFamily="18" charset="0"/>
              </a:rPr>
              <a:t>对半导体</a:t>
            </a:r>
            <a:r>
              <a:rPr kumimoji="1" lang="en-US" altLang="zh-CN" sz="2200">
                <a:solidFill>
                  <a:schemeClr val="tx1"/>
                </a:solidFill>
                <a:sym typeface="Times New Roman" panose="02020603050405020304" pitchFamily="18" charset="0"/>
              </a:rPr>
              <a:t>-</a:t>
            </a:r>
            <a:r>
              <a:rPr kumimoji="1" lang="zh-CN" altLang="en-US" sz="2200">
                <a:solidFill>
                  <a:schemeClr val="tx1"/>
                </a:solidFill>
                <a:sym typeface="Times New Roman" panose="02020603050405020304" pitchFamily="18" charset="0"/>
              </a:rPr>
              <a:t>晶体中的电子： </a:t>
            </a:r>
          </a:p>
          <a:p>
            <a:pPr>
              <a:buClrTx/>
              <a:buFontTx/>
              <a:buNone/>
            </a:pPr>
            <a:endParaRPr kumimoji="1" lang="zh-CN" altLang="en-US" sz="2200">
              <a:solidFill>
                <a:srgbClr val="FFFF66"/>
              </a:solidFill>
              <a:sym typeface="Times New Roman" panose="02020603050405020304" pitchFamily="18" charset="0"/>
            </a:endParaRPr>
          </a:p>
          <a:p>
            <a:pPr>
              <a:buClrTx/>
              <a:buFontTx/>
              <a:buNone/>
            </a:pPr>
            <a:endParaRPr kumimoji="1" lang="zh-CN" altLang="en-US" sz="2200">
              <a:solidFill>
                <a:schemeClr val="tx1"/>
              </a:solidFill>
              <a:ea typeface="ˎ̥"/>
              <a:cs typeface="ˎ̥"/>
              <a:sym typeface="Times New Roman" panose="02020603050405020304" pitchFamily="18" charset="0"/>
            </a:endParaRPr>
          </a:p>
          <a:p>
            <a:pPr>
              <a:buClrTx/>
              <a:buFontTx/>
              <a:buNone/>
            </a:pPr>
            <a:r>
              <a:rPr kumimoji="1" lang="zh-CN" altLang="en-US" sz="2200">
                <a:solidFill>
                  <a:schemeClr val="tx1"/>
                </a:solidFill>
                <a:sym typeface="Times New Roman" panose="02020603050405020304" pitchFamily="18" charset="0"/>
              </a:rPr>
              <a:t>说明</a:t>
            </a:r>
            <a:r>
              <a:rPr kumimoji="1" lang="zh-CN" altLang="en-US" sz="2200" u="sng">
                <a:solidFill>
                  <a:srgbClr val="FF0000"/>
                </a:solidFill>
                <a:sym typeface="Times New Roman" panose="02020603050405020304" pitchFamily="18" charset="0"/>
              </a:rPr>
              <a:t>分布几率是晶格的周期函数</a:t>
            </a:r>
            <a:r>
              <a:rPr kumimoji="1" lang="zh-CN" altLang="en-US" sz="2200">
                <a:solidFill>
                  <a:schemeClr val="tx1"/>
                </a:solidFill>
                <a:sym typeface="Times New Roman" panose="02020603050405020304" pitchFamily="18" charset="0"/>
              </a:rPr>
              <a:t>，但对每个原胞的相应位置，电子的分布几率一样的。这里的波矢</a:t>
            </a:r>
            <a:r>
              <a:rPr kumimoji="1" lang="en-US" altLang="zh-CN" sz="2200">
                <a:solidFill>
                  <a:schemeClr val="tx1"/>
                </a:solidFill>
                <a:ea typeface="ˎ̥"/>
                <a:cs typeface="ˎ̥"/>
                <a:sym typeface="Times New Roman" panose="02020603050405020304" pitchFamily="18" charset="0"/>
              </a:rPr>
              <a:t>k</a:t>
            </a:r>
            <a:r>
              <a:rPr kumimoji="1" lang="zh-CN" altLang="en-US" sz="2200">
                <a:solidFill>
                  <a:schemeClr val="tx1"/>
                </a:solidFill>
                <a:sym typeface="Times New Roman" panose="02020603050405020304" pitchFamily="18" charset="0"/>
              </a:rPr>
              <a:t>描述晶体中电子的共有化运动状态。</a:t>
            </a:r>
            <a:endParaRPr lang="zh-CN" altLang="en-US" sz="2200">
              <a:solidFill>
                <a:schemeClr val="tx1"/>
              </a:solidFill>
              <a:sym typeface="Times New Roman" panose="02020603050405020304" pitchFamily="18" charset="0"/>
            </a:endParaRPr>
          </a:p>
        </p:txBody>
      </p:sp>
      <p:graphicFrame>
        <p:nvGraphicFramePr>
          <p:cNvPr id="43015" name="Object 11">
            <a:hlinkClick r:id="" action="ppaction://ole?verb=0"/>
            <a:extLst>
              <a:ext uri="{FF2B5EF4-FFF2-40B4-BE49-F238E27FC236}">
                <a16:creationId xmlns:a16="http://schemas.microsoft.com/office/drawing/2014/main" id="{8BE44BA0-BD10-4C97-A33A-9F5DE2F11893}"/>
              </a:ext>
            </a:extLst>
          </p:cNvPr>
          <p:cNvGraphicFramePr>
            <a:graphicFrameLocks/>
          </p:cNvGraphicFramePr>
          <p:nvPr/>
        </p:nvGraphicFramePr>
        <p:xfrm>
          <a:off x="1547813" y="1484313"/>
          <a:ext cx="4465637" cy="1008062"/>
        </p:xfrm>
        <a:graphic>
          <a:graphicData uri="http://schemas.openxmlformats.org/presentationml/2006/ole">
            <mc:AlternateContent xmlns:mc="http://schemas.openxmlformats.org/markup-compatibility/2006">
              <mc:Choice xmlns:v="urn:schemas-microsoft-com:vml" Requires="v">
                <p:oleObj spid="_x0000_s177242" name="公式" r:id="rId3" imgW="1904977" imgH="352350" progId="Equation.3">
                  <p:embed/>
                </p:oleObj>
              </mc:Choice>
              <mc:Fallback>
                <p:oleObj name="公式" r:id="rId3" imgW="1904977" imgH="352350" progId="Equation.3">
                  <p:embed/>
                  <p:pic>
                    <p:nvPicPr>
                      <p:cNvPr id="43015" name="Object 11">
                        <a:hlinkClick r:id="" action="ppaction://ole?verb=0"/>
                        <a:extLst>
                          <a:ext uri="{FF2B5EF4-FFF2-40B4-BE49-F238E27FC236}">
                            <a16:creationId xmlns:a16="http://schemas.microsoft.com/office/drawing/2014/main" id="{8BE44BA0-BD10-4C97-A33A-9F5DE2F1189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484313"/>
                        <a:ext cx="4465637"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6" name="Object 12">
            <a:hlinkClick r:id="" action="ppaction://ole?verb=0"/>
            <a:extLst>
              <a:ext uri="{FF2B5EF4-FFF2-40B4-BE49-F238E27FC236}">
                <a16:creationId xmlns:a16="http://schemas.microsoft.com/office/drawing/2014/main" id="{6B58D5A8-D18A-4749-BE1F-E0594CE895A7}"/>
              </a:ext>
            </a:extLst>
          </p:cNvPr>
          <p:cNvGraphicFramePr>
            <a:graphicFrameLocks/>
          </p:cNvGraphicFramePr>
          <p:nvPr/>
        </p:nvGraphicFramePr>
        <p:xfrm>
          <a:off x="1258888" y="4076700"/>
          <a:ext cx="5905500" cy="647700"/>
        </p:xfrm>
        <a:graphic>
          <a:graphicData uri="http://schemas.openxmlformats.org/presentationml/2006/ole">
            <mc:AlternateContent xmlns:mc="http://schemas.openxmlformats.org/markup-compatibility/2006">
              <mc:Choice xmlns:v="urn:schemas-microsoft-com:vml" Requires="v">
                <p:oleObj spid="_x0000_s177243" name="公式" r:id="rId5" imgW="2603500" imgH="393700" progId="Equation.3">
                  <p:embed/>
                </p:oleObj>
              </mc:Choice>
              <mc:Fallback>
                <p:oleObj name="公式" r:id="rId5" imgW="2603500" imgH="393700" progId="Equation.3">
                  <p:embed/>
                  <p:pic>
                    <p:nvPicPr>
                      <p:cNvPr id="43016" name="Object 12">
                        <a:hlinkClick r:id="" action="ppaction://ole?verb=0"/>
                        <a:extLst>
                          <a:ext uri="{FF2B5EF4-FFF2-40B4-BE49-F238E27FC236}">
                            <a16:creationId xmlns:a16="http://schemas.microsoft.com/office/drawing/2014/main" id="{6B58D5A8-D18A-4749-BE1F-E0594CE895A7}"/>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4076700"/>
                        <a:ext cx="59055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05966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a:extLst>
              <a:ext uri="{FF2B5EF4-FFF2-40B4-BE49-F238E27FC236}">
                <a16:creationId xmlns:a16="http://schemas.microsoft.com/office/drawing/2014/main" id="{30F8D7B4-BE96-4E9F-B30E-C3A96F98E7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271" t="46291" r="12277" b="10072"/>
          <a:stretch>
            <a:fillRect/>
          </a:stretch>
        </p:blipFill>
        <p:spPr bwMode="auto">
          <a:xfrm>
            <a:off x="1081088" y="4100513"/>
            <a:ext cx="6154737" cy="2424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4035" name="Object 4">
            <a:extLst>
              <a:ext uri="{FF2B5EF4-FFF2-40B4-BE49-F238E27FC236}">
                <a16:creationId xmlns:a16="http://schemas.microsoft.com/office/drawing/2014/main" id="{A4439E84-4B3F-4D77-A809-B40061367B25}"/>
              </a:ext>
            </a:extLst>
          </p:cNvPr>
          <p:cNvGraphicFramePr>
            <a:graphicFrameLocks noChangeAspect="1"/>
          </p:cNvGraphicFramePr>
          <p:nvPr/>
        </p:nvGraphicFramePr>
        <p:xfrm>
          <a:off x="827088" y="3086100"/>
          <a:ext cx="3692525" cy="825500"/>
        </p:xfrm>
        <a:graphic>
          <a:graphicData uri="http://schemas.openxmlformats.org/presentationml/2006/ole">
            <mc:AlternateContent xmlns:mc="http://schemas.openxmlformats.org/markup-compatibility/2006">
              <mc:Choice xmlns:v="urn:schemas-microsoft-com:vml" Requires="v">
                <p:oleObj spid="_x0000_s178266" name="Equation" r:id="rId4" imgW="2159000" imgH="482600" progId="Equation.DSMT4">
                  <p:embed/>
                </p:oleObj>
              </mc:Choice>
              <mc:Fallback>
                <p:oleObj name="Equation" r:id="rId4" imgW="2159000" imgH="482600" progId="Equation.DSMT4">
                  <p:embed/>
                  <p:pic>
                    <p:nvPicPr>
                      <p:cNvPr id="44035" name="Object 4">
                        <a:extLst>
                          <a:ext uri="{FF2B5EF4-FFF2-40B4-BE49-F238E27FC236}">
                            <a16:creationId xmlns:a16="http://schemas.microsoft.com/office/drawing/2014/main" id="{A4439E84-4B3F-4D77-A809-B40061367B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3086100"/>
                        <a:ext cx="36925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36" name="Rectangle 13">
            <a:extLst>
              <a:ext uri="{FF2B5EF4-FFF2-40B4-BE49-F238E27FC236}">
                <a16:creationId xmlns:a16="http://schemas.microsoft.com/office/drawing/2014/main" id="{A780542B-70A2-4000-A5FB-F554B15967FC}"/>
              </a:ext>
            </a:extLst>
          </p:cNvPr>
          <p:cNvSpPr>
            <a:spLocks noChangeArrowheads="1"/>
          </p:cNvSpPr>
          <p:nvPr/>
        </p:nvSpPr>
        <p:spPr bwMode="auto">
          <a:xfrm>
            <a:off x="242888" y="987425"/>
            <a:ext cx="830580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803275" indent="-803275">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r>
              <a:rPr lang="zh-CN" altLang="en-US" sz="2400">
                <a:cs typeface="Times New Roman" panose="02020603050405020304" pitchFamily="18" charset="0"/>
                <a:sym typeface="Times New Roman" panose="02020603050405020304" pitchFamily="18" charset="0"/>
              </a:rPr>
              <a:t>（</a:t>
            </a:r>
            <a:r>
              <a:rPr lang="en-US" altLang="zh-CN" sz="2400">
                <a:cs typeface="Times New Roman" panose="02020603050405020304" pitchFamily="18" charset="0"/>
                <a:sym typeface="Times New Roman" panose="02020603050405020304" pitchFamily="18" charset="0"/>
              </a:rPr>
              <a:t>2</a:t>
            </a:r>
            <a:r>
              <a:rPr lang="zh-CN" altLang="en-US" sz="2400">
                <a:cs typeface="Times New Roman" panose="02020603050405020304" pitchFamily="18" charset="0"/>
                <a:sym typeface="Times New Roman" panose="02020603050405020304" pitchFamily="18" charset="0"/>
              </a:rPr>
              <a:t>） 电子分布几率是晶格的周期函数，各原胞对应点上出现几率相同</a:t>
            </a:r>
            <a:endParaRPr lang="zh-CN" altLang="en-US" sz="2400">
              <a:sym typeface="Times New Roman" panose="02020603050405020304" pitchFamily="18" charset="0"/>
            </a:endParaRPr>
          </a:p>
        </p:txBody>
      </p:sp>
      <p:sp>
        <p:nvSpPr>
          <p:cNvPr id="44037" name="Rectangle 14">
            <a:extLst>
              <a:ext uri="{FF2B5EF4-FFF2-40B4-BE49-F238E27FC236}">
                <a16:creationId xmlns:a16="http://schemas.microsoft.com/office/drawing/2014/main" id="{0EDE0C15-6CA8-41C7-8E3C-7394507157BB}"/>
              </a:ext>
            </a:extLst>
          </p:cNvPr>
          <p:cNvSpPr>
            <a:spLocks noChangeArrowheads="1"/>
          </p:cNvSpPr>
          <p:nvPr/>
        </p:nvSpPr>
        <p:spPr bwMode="auto">
          <a:xfrm>
            <a:off x="247650" y="2025650"/>
            <a:ext cx="8010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630238" indent="-630238">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r>
              <a:rPr lang="zh-CN" altLang="en-US" sz="2400">
                <a:cs typeface="Times New Roman" panose="02020603050405020304" pitchFamily="18" charset="0"/>
                <a:sym typeface="Times New Roman" panose="02020603050405020304" pitchFamily="18" charset="0"/>
              </a:rPr>
              <a:t>（</a:t>
            </a:r>
            <a:r>
              <a:rPr lang="en-US" altLang="zh-CN" sz="2400">
                <a:cs typeface="Times New Roman" panose="02020603050405020304" pitchFamily="18" charset="0"/>
                <a:sym typeface="Times New Roman" panose="02020603050405020304" pitchFamily="18" charset="0"/>
              </a:rPr>
              <a:t>3</a:t>
            </a:r>
            <a:r>
              <a:rPr lang="zh-CN" altLang="en-US" sz="2400">
                <a:cs typeface="Times New Roman" panose="02020603050405020304" pitchFamily="18" charset="0"/>
                <a:sym typeface="Times New Roman" panose="02020603050405020304" pitchFamily="18" charset="0"/>
              </a:rPr>
              <a:t>）体现电子共有化运动：电子可从晶胞中某点自由运动到其他晶胞对应点        </a:t>
            </a:r>
          </a:p>
        </p:txBody>
      </p:sp>
      <p:graphicFrame>
        <p:nvGraphicFramePr>
          <p:cNvPr id="44038" name="Object 22">
            <a:extLst>
              <a:ext uri="{FF2B5EF4-FFF2-40B4-BE49-F238E27FC236}">
                <a16:creationId xmlns:a16="http://schemas.microsoft.com/office/drawing/2014/main" id="{2578AA1A-2F33-4161-AB35-157111A57FA5}"/>
              </a:ext>
            </a:extLst>
          </p:cNvPr>
          <p:cNvGraphicFramePr>
            <a:graphicFrameLocks noChangeAspect="1"/>
          </p:cNvGraphicFramePr>
          <p:nvPr/>
        </p:nvGraphicFramePr>
        <p:xfrm>
          <a:off x="5300663" y="3124200"/>
          <a:ext cx="2514600" cy="542925"/>
        </p:xfrm>
        <a:graphic>
          <a:graphicData uri="http://schemas.openxmlformats.org/presentationml/2006/ole">
            <mc:AlternateContent xmlns:mc="http://schemas.openxmlformats.org/markup-compatibility/2006">
              <mc:Choice xmlns:v="urn:schemas-microsoft-com:vml" Requires="v">
                <p:oleObj spid="_x0000_s178267" name="Equation" r:id="rId6" imgW="1295400" imgH="279400" progId="Equation.DSMT4">
                  <p:embed/>
                </p:oleObj>
              </mc:Choice>
              <mc:Fallback>
                <p:oleObj name="Equation" r:id="rId6" imgW="1295400" imgH="279400" progId="Equation.DSMT4">
                  <p:embed/>
                  <p:pic>
                    <p:nvPicPr>
                      <p:cNvPr id="44038" name="Object 22">
                        <a:extLst>
                          <a:ext uri="{FF2B5EF4-FFF2-40B4-BE49-F238E27FC236}">
                            <a16:creationId xmlns:a16="http://schemas.microsoft.com/office/drawing/2014/main" id="{2578AA1A-2F33-4161-AB35-157111A57FA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00663" y="3124200"/>
                        <a:ext cx="25146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039" name="AutoShape 23">
            <a:extLst>
              <a:ext uri="{FF2B5EF4-FFF2-40B4-BE49-F238E27FC236}">
                <a16:creationId xmlns:a16="http://schemas.microsoft.com/office/drawing/2014/main" id="{90473FA6-C054-479F-8E20-A5B2F9C526C6}"/>
              </a:ext>
            </a:extLst>
          </p:cNvPr>
          <p:cNvSpPr>
            <a:spLocks noChangeArrowheads="1"/>
          </p:cNvSpPr>
          <p:nvPr/>
        </p:nvSpPr>
        <p:spPr bwMode="auto">
          <a:xfrm>
            <a:off x="4614863" y="3276600"/>
            <a:ext cx="304800" cy="304800"/>
          </a:xfrm>
          <a:prstGeom prst="rightArrow">
            <a:avLst>
              <a:gd name="adj1" fmla="val 50000"/>
              <a:gd name="adj2" fmla="val 25000"/>
            </a:avLst>
          </a:prstGeom>
          <a:noFill/>
          <a:ln w="952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endParaRPr lang="zh-CN" altLang="en-US">
              <a:solidFill>
                <a:schemeClr val="tx1"/>
              </a:solidFill>
              <a:sym typeface="Times New Roman" panose="02020603050405020304" pitchFamily="18" charset="0"/>
            </a:endParaRPr>
          </a:p>
        </p:txBody>
      </p:sp>
      <p:sp>
        <p:nvSpPr>
          <p:cNvPr id="44040" name="Rectangle 24">
            <a:extLst>
              <a:ext uri="{FF2B5EF4-FFF2-40B4-BE49-F238E27FC236}">
                <a16:creationId xmlns:a16="http://schemas.microsoft.com/office/drawing/2014/main" id="{904C3CD9-67C3-493A-8C24-44464E14EA88}"/>
              </a:ext>
            </a:extLst>
          </p:cNvPr>
          <p:cNvSpPr>
            <a:spLocks noChangeArrowheads="1"/>
          </p:cNvSpPr>
          <p:nvPr/>
        </p:nvSpPr>
        <p:spPr bwMode="auto">
          <a:xfrm>
            <a:off x="5148263" y="3048000"/>
            <a:ext cx="2743200" cy="762000"/>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endParaRPr lang="zh-CN" altLang="en-US">
              <a:solidFill>
                <a:schemeClr val="tx1"/>
              </a:solidFill>
              <a:sym typeface="Times New Roman" panose="02020603050405020304" pitchFamily="18" charset="0"/>
            </a:endParaRPr>
          </a:p>
        </p:txBody>
      </p:sp>
    </p:spTree>
    <p:extLst>
      <p:ext uri="{BB962C8B-B14F-4D97-AF65-F5344CB8AC3E}">
        <p14:creationId xmlns:p14="http://schemas.microsoft.com/office/powerpoint/2010/main" val="23294773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a:extLst>
              <a:ext uri="{FF2B5EF4-FFF2-40B4-BE49-F238E27FC236}">
                <a16:creationId xmlns:a16="http://schemas.microsoft.com/office/drawing/2014/main" id="{74DD97F8-73BC-4222-8F7C-786E9525BCCE}"/>
              </a:ext>
            </a:extLst>
          </p:cNvPr>
          <p:cNvSpPr>
            <a:spLocks noChangeArrowheads="1"/>
          </p:cNvSpPr>
          <p:nvPr/>
        </p:nvSpPr>
        <p:spPr bwMode="auto">
          <a:xfrm>
            <a:off x="381000" y="2117725"/>
            <a:ext cx="8458200" cy="161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165048" bIns="165048" anchor="ctr">
            <a:spAutoFit/>
          </a:bodyPr>
          <a:lstStyle>
            <a:lvl1pPr indent="304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40000"/>
              </a:lnSpc>
              <a:spcBef>
                <a:spcPct val="0"/>
              </a:spcBef>
              <a:buClrTx/>
              <a:buFont typeface="Wingdings" panose="05000000000000000000" pitchFamily="2" charset="2"/>
              <a:buChar char="Ø"/>
            </a:pPr>
            <a:r>
              <a:rPr lang="zh-CN" altLang="en-US" dirty="0">
                <a:solidFill>
                  <a:srgbClr val="FF3300"/>
                </a:solidFill>
                <a:sym typeface="Times New Roman" panose="02020603050405020304" pitchFamily="18" charset="0"/>
              </a:rPr>
              <a:t>晶体中电子处在不同的</a:t>
            </a:r>
            <a:r>
              <a:rPr lang="en-US" altLang="zh-CN" i="1" dirty="0">
                <a:solidFill>
                  <a:srgbClr val="FF3300"/>
                </a:solidFill>
                <a:sym typeface="Times New Roman" panose="02020603050405020304" pitchFamily="18" charset="0"/>
              </a:rPr>
              <a:t>k</a:t>
            </a:r>
            <a:r>
              <a:rPr lang="zh-CN" altLang="en-US" dirty="0">
                <a:solidFill>
                  <a:srgbClr val="FF3300"/>
                </a:solidFill>
                <a:sym typeface="Times New Roman" panose="02020603050405020304" pitchFamily="18" charset="0"/>
              </a:rPr>
              <a:t>状态，具有不同的能量</a:t>
            </a:r>
            <a:r>
              <a:rPr lang="en-US" altLang="zh-CN" i="1" dirty="0">
                <a:solidFill>
                  <a:srgbClr val="FF3300"/>
                </a:solidFill>
                <a:sym typeface="Times New Roman" panose="02020603050405020304" pitchFamily="18" charset="0"/>
              </a:rPr>
              <a:t>E(k)</a:t>
            </a:r>
          </a:p>
          <a:p>
            <a:pPr eaLnBrk="1" hangingPunct="1">
              <a:lnSpc>
                <a:spcPct val="140000"/>
              </a:lnSpc>
              <a:spcBef>
                <a:spcPct val="0"/>
              </a:spcBef>
              <a:buClrTx/>
              <a:buFont typeface="Wingdings" panose="05000000000000000000" pitchFamily="2" charset="2"/>
              <a:buChar char="Ø"/>
            </a:pPr>
            <a:r>
              <a:rPr lang="zh-CN" altLang="en-US" dirty="0">
                <a:sym typeface="Times New Roman" panose="02020603050405020304" pitchFamily="18" charset="0"/>
              </a:rPr>
              <a:t>通过周期性势场</a:t>
            </a:r>
            <a:r>
              <a:rPr lang="en-US" altLang="zh-CN" i="1" dirty="0">
                <a:sym typeface="Times New Roman" panose="02020603050405020304" pitchFamily="18" charset="0"/>
              </a:rPr>
              <a:t>V(x)</a:t>
            </a:r>
            <a:r>
              <a:rPr lang="zh-CN" altLang="en-US" dirty="0">
                <a:sym typeface="Times New Roman" panose="02020603050405020304" pitchFamily="18" charset="0"/>
              </a:rPr>
              <a:t>可求解电子薛定谔方程得出</a:t>
            </a:r>
            <a:r>
              <a:rPr lang="en-US" altLang="zh-CN" i="1" dirty="0">
                <a:solidFill>
                  <a:srgbClr val="FF3300"/>
                </a:solidFill>
                <a:sym typeface="Times New Roman" panose="02020603050405020304" pitchFamily="18" charset="0"/>
              </a:rPr>
              <a:t>E(k)</a:t>
            </a:r>
            <a:r>
              <a:rPr lang="zh-CN" altLang="en-US" dirty="0">
                <a:solidFill>
                  <a:srgbClr val="FF3300"/>
                </a:solidFill>
                <a:sym typeface="Times New Roman" panose="02020603050405020304" pitchFamily="18" charset="0"/>
              </a:rPr>
              <a:t>关系曲线</a:t>
            </a:r>
          </a:p>
          <a:p>
            <a:pPr eaLnBrk="1" hangingPunct="1">
              <a:lnSpc>
                <a:spcPct val="140000"/>
              </a:lnSpc>
              <a:spcBef>
                <a:spcPct val="0"/>
              </a:spcBef>
              <a:buClrTx/>
              <a:buFont typeface="Wingdings" panose="05000000000000000000" pitchFamily="2" charset="2"/>
              <a:buChar char="Ø"/>
            </a:pPr>
            <a:r>
              <a:rPr lang="zh-CN" altLang="en-US" dirty="0">
                <a:sym typeface="Times New Roman" panose="02020603050405020304" pitchFamily="18" charset="0"/>
              </a:rPr>
              <a:t>利用克龙尼克－潘纳</a:t>
            </a:r>
            <a:r>
              <a:rPr lang="en-US" altLang="zh-CN" dirty="0">
                <a:sym typeface="Times New Roman" panose="02020603050405020304" pitchFamily="18" charset="0"/>
              </a:rPr>
              <a:t>(</a:t>
            </a:r>
            <a:r>
              <a:rPr lang="en-US" altLang="zh-CN" dirty="0" err="1">
                <a:sym typeface="Times New Roman" panose="02020603050405020304" pitchFamily="18" charset="0"/>
              </a:rPr>
              <a:t>Kronig</a:t>
            </a:r>
            <a:r>
              <a:rPr lang="en-US" altLang="zh-CN" dirty="0">
                <a:sym typeface="Times New Roman" panose="02020603050405020304" pitchFamily="18" charset="0"/>
              </a:rPr>
              <a:t>-Penney) </a:t>
            </a:r>
            <a:r>
              <a:rPr lang="zh-CN" altLang="en-US" dirty="0">
                <a:sym typeface="Times New Roman" panose="02020603050405020304" pitchFamily="18" charset="0"/>
              </a:rPr>
              <a:t>简单晶体势场模型</a:t>
            </a:r>
          </a:p>
        </p:txBody>
      </p:sp>
      <p:sp>
        <p:nvSpPr>
          <p:cNvPr id="45059" name="Rectangle 5">
            <a:extLst>
              <a:ext uri="{FF2B5EF4-FFF2-40B4-BE49-F238E27FC236}">
                <a16:creationId xmlns:a16="http://schemas.microsoft.com/office/drawing/2014/main" id="{4C973473-9860-4E9D-8499-0E93FAFC8116}"/>
              </a:ext>
            </a:extLst>
          </p:cNvPr>
          <p:cNvSpPr>
            <a:spLocks noChangeArrowheads="1"/>
          </p:cNvSpPr>
          <p:nvPr/>
        </p:nvSpPr>
        <p:spPr bwMode="auto">
          <a:xfrm>
            <a:off x="2319338" y="473075"/>
            <a:ext cx="3821112"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eaLnBrk="1" hangingPunct="1">
              <a:lnSpc>
                <a:spcPct val="130000"/>
              </a:lnSpc>
              <a:spcBef>
                <a:spcPct val="0"/>
              </a:spcBef>
              <a:buClrTx/>
              <a:buFontTx/>
              <a:buNone/>
            </a:pPr>
            <a:r>
              <a:rPr lang="en-US" altLang="zh-CN" sz="3200">
                <a:solidFill>
                  <a:srgbClr val="0000FF"/>
                </a:solidFill>
                <a:sym typeface="Times New Roman" panose="02020603050405020304" pitchFamily="18" charset="0"/>
              </a:rPr>
              <a:t>2 </a:t>
            </a:r>
            <a:r>
              <a:rPr lang="zh-CN" altLang="en-US" sz="3200">
                <a:solidFill>
                  <a:srgbClr val="0000FF"/>
                </a:solidFill>
                <a:sym typeface="Times New Roman" panose="02020603050405020304" pitchFamily="18" charset="0"/>
              </a:rPr>
              <a:t>布里渊区与能带图</a:t>
            </a:r>
          </a:p>
        </p:txBody>
      </p:sp>
      <p:graphicFrame>
        <p:nvGraphicFramePr>
          <p:cNvPr id="45060" name="Object 6">
            <a:extLst>
              <a:ext uri="{FF2B5EF4-FFF2-40B4-BE49-F238E27FC236}">
                <a16:creationId xmlns:a16="http://schemas.microsoft.com/office/drawing/2014/main" id="{B09AEC45-EDCE-46A4-8335-672BABB5D3F0}"/>
              </a:ext>
            </a:extLst>
          </p:cNvPr>
          <p:cNvGraphicFramePr>
            <a:graphicFrameLocks noChangeAspect="1"/>
          </p:cNvGraphicFramePr>
          <p:nvPr/>
        </p:nvGraphicFramePr>
        <p:xfrm>
          <a:off x="3505200" y="1219200"/>
          <a:ext cx="4625975" cy="962025"/>
        </p:xfrm>
        <a:graphic>
          <a:graphicData uri="http://schemas.openxmlformats.org/presentationml/2006/ole">
            <mc:AlternateContent xmlns:mc="http://schemas.openxmlformats.org/markup-compatibility/2006">
              <mc:Choice xmlns:v="urn:schemas-microsoft-com:vml" Requires="v">
                <p:oleObj spid="_x0000_s179246" name="Equation" r:id="rId3" imgW="2197100" imgH="457200" progId="Equation.DSMT4">
                  <p:embed/>
                </p:oleObj>
              </mc:Choice>
              <mc:Fallback>
                <p:oleObj name="Equation" r:id="rId3" imgW="2197100" imgH="457200" progId="Equation.DSMT4">
                  <p:embed/>
                  <p:pic>
                    <p:nvPicPr>
                      <p:cNvPr id="45060" name="Object 6">
                        <a:extLst>
                          <a:ext uri="{FF2B5EF4-FFF2-40B4-BE49-F238E27FC236}">
                            <a16:creationId xmlns:a16="http://schemas.microsoft.com/office/drawing/2014/main" id="{B09AEC45-EDCE-46A4-8335-672BABB5D3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1219200"/>
                        <a:ext cx="46259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1" name="Rectangle 7">
            <a:extLst>
              <a:ext uri="{FF2B5EF4-FFF2-40B4-BE49-F238E27FC236}">
                <a16:creationId xmlns:a16="http://schemas.microsoft.com/office/drawing/2014/main" id="{E562FE48-B89E-46D2-B88C-04389F821DE9}"/>
              </a:ext>
            </a:extLst>
          </p:cNvPr>
          <p:cNvSpPr>
            <a:spLocks noChangeArrowheads="1"/>
          </p:cNvSpPr>
          <p:nvPr/>
        </p:nvSpPr>
        <p:spPr bwMode="auto">
          <a:xfrm>
            <a:off x="457200" y="1371600"/>
            <a:ext cx="320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82563" indent="-182563">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60000"/>
              </a:lnSpc>
              <a:spcBef>
                <a:spcPct val="0"/>
              </a:spcBef>
              <a:buClrTx/>
              <a:buFont typeface="Wingdings" panose="05000000000000000000" pitchFamily="2" charset="2"/>
              <a:buNone/>
            </a:pPr>
            <a:r>
              <a:rPr lang="zh-CN" altLang="en-US">
                <a:cs typeface="Times New Roman" panose="02020603050405020304" pitchFamily="18" charset="0"/>
                <a:sym typeface="Times New Roman" panose="02020603050405020304" pitchFamily="18" charset="0"/>
              </a:rPr>
              <a:t>晶体电子薛定谔方程：</a:t>
            </a:r>
          </a:p>
        </p:txBody>
      </p:sp>
      <p:pic>
        <p:nvPicPr>
          <p:cNvPr id="60424" name="Picture 8" descr="图片6">
            <a:extLst>
              <a:ext uri="{FF2B5EF4-FFF2-40B4-BE49-F238E27FC236}">
                <a16:creationId xmlns:a16="http://schemas.microsoft.com/office/drawing/2014/main" id="{FEB4C498-86E0-4505-82CA-BAC08BA69B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4191000"/>
            <a:ext cx="320040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5" name="Picture 9">
            <a:extLst>
              <a:ext uri="{FF2B5EF4-FFF2-40B4-BE49-F238E27FC236}">
                <a16:creationId xmlns:a16="http://schemas.microsoft.com/office/drawing/2014/main" id="{4DC268B5-58BF-42FD-AD07-99E830181A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r="41510"/>
          <a:stretch>
            <a:fillRect/>
          </a:stretch>
        </p:blipFill>
        <p:spPr bwMode="auto">
          <a:xfrm>
            <a:off x="4876800" y="3810000"/>
            <a:ext cx="2362200"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11471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6" name="Object 6">
            <a:extLst>
              <a:ext uri="{FF2B5EF4-FFF2-40B4-BE49-F238E27FC236}">
                <a16:creationId xmlns:a16="http://schemas.microsoft.com/office/drawing/2014/main" id="{74831971-2012-4CEE-88CF-28E989F692FC}"/>
              </a:ext>
            </a:extLst>
          </p:cNvPr>
          <p:cNvGraphicFramePr>
            <a:graphicFrameLocks noChangeAspect="1"/>
          </p:cNvGraphicFramePr>
          <p:nvPr/>
        </p:nvGraphicFramePr>
        <p:xfrm>
          <a:off x="2362200" y="5133975"/>
          <a:ext cx="1066800" cy="539750"/>
        </p:xfrm>
        <a:graphic>
          <a:graphicData uri="http://schemas.openxmlformats.org/presentationml/2006/ole">
            <mc:AlternateContent xmlns:mc="http://schemas.openxmlformats.org/markup-compatibility/2006">
              <mc:Choice xmlns:v="urn:schemas-microsoft-com:vml" Requires="v">
                <p:oleObj spid="_x0000_s180446" name="Equation" r:id="rId3" imgW="774364" imgH="393529" progId="Equation.DSMT4">
                  <p:embed/>
                </p:oleObj>
              </mc:Choice>
              <mc:Fallback>
                <p:oleObj name="Equation" r:id="rId3" imgW="774364" imgH="393529" progId="Equation.DSMT4">
                  <p:embed/>
                  <p:pic>
                    <p:nvPicPr>
                      <p:cNvPr id="61446" name="Object 6">
                        <a:extLst>
                          <a:ext uri="{FF2B5EF4-FFF2-40B4-BE49-F238E27FC236}">
                            <a16:creationId xmlns:a16="http://schemas.microsoft.com/office/drawing/2014/main" id="{74831971-2012-4CEE-88CF-28E989F692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5133975"/>
                        <a:ext cx="10668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45" name="Object 5">
            <a:extLst>
              <a:ext uri="{FF2B5EF4-FFF2-40B4-BE49-F238E27FC236}">
                <a16:creationId xmlns:a16="http://schemas.microsoft.com/office/drawing/2014/main" id="{7FF5A651-7222-48CF-BDB2-BEEEB9811AD2}"/>
              </a:ext>
            </a:extLst>
          </p:cNvPr>
          <p:cNvGraphicFramePr>
            <a:graphicFrameLocks noChangeAspect="1"/>
          </p:cNvGraphicFramePr>
          <p:nvPr/>
        </p:nvGraphicFramePr>
        <p:xfrm>
          <a:off x="5715000" y="5072063"/>
          <a:ext cx="2819400" cy="577850"/>
        </p:xfrm>
        <a:graphic>
          <a:graphicData uri="http://schemas.openxmlformats.org/presentationml/2006/ole">
            <mc:AlternateContent xmlns:mc="http://schemas.openxmlformats.org/markup-compatibility/2006">
              <mc:Choice xmlns:v="urn:schemas-microsoft-com:vml" Requires="v">
                <p:oleObj spid="_x0000_s180447" name="Equation" r:id="rId5" imgW="1905000" imgH="393700" progId="Equation.DSMT4">
                  <p:embed/>
                </p:oleObj>
              </mc:Choice>
              <mc:Fallback>
                <p:oleObj name="Equation" r:id="rId5" imgW="1905000" imgH="393700" progId="Equation.DSMT4">
                  <p:embed/>
                  <p:pic>
                    <p:nvPicPr>
                      <p:cNvPr id="61445" name="Object 5">
                        <a:extLst>
                          <a:ext uri="{FF2B5EF4-FFF2-40B4-BE49-F238E27FC236}">
                            <a16:creationId xmlns:a16="http://schemas.microsoft.com/office/drawing/2014/main" id="{7FF5A651-7222-48CF-BDB2-BEEEB9811A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5072063"/>
                        <a:ext cx="28194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44" name="Object 4">
            <a:extLst>
              <a:ext uri="{FF2B5EF4-FFF2-40B4-BE49-F238E27FC236}">
                <a16:creationId xmlns:a16="http://schemas.microsoft.com/office/drawing/2014/main" id="{8B2F0847-CE1D-40B6-837C-0E69F01910D0}"/>
              </a:ext>
            </a:extLst>
          </p:cNvPr>
          <p:cNvGraphicFramePr>
            <a:graphicFrameLocks noChangeAspect="1"/>
          </p:cNvGraphicFramePr>
          <p:nvPr/>
        </p:nvGraphicFramePr>
        <p:xfrm>
          <a:off x="3276600" y="5943600"/>
          <a:ext cx="3048000" cy="581025"/>
        </p:xfrm>
        <a:graphic>
          <a:graphicData uri="http://schemas.openxmlformats.org/presentationml/2006/ole">
            <mc:AlternateContent xmlns:mc="http://schemas.openxmlformats.org/markup-compatibility/2006">
              <mc:Choice xmlns:v="urn:schemas-microsoft-com:vml" Requires="v">
                <p:oleObj spid="_x0000_s180448" name="Equation" r:id="rId7" imgW="2044700" imgH="393700" progId="Equation.DSMT4">
                  <p:embed/>
                </p:oleObj>
              </mc:Choice>
              <mc:Fallback>
                <p:oleObj name="Equation" r:id="rId7" imgW="2044700" imgH="393700" progId="Equation.DSMT4">
                  <p:embed/>
                  <p:pic>
                    <p:nvPicPr>
                      <p:cNvPr id="61444" name="Object 4">
                        <a:extLst>
                          <a:ext uri="{FF2B5EF4-FFF2-40B4-BE49-F238E27FC236}">
                            <a16:creationId xmlns:a16="http://schemas.microsoft.com/office/drawing/2014/main" id="{8B2F0847-CE1D-40B6-837C-0E69F01910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5943600"/>
                        <a:ext cx="3048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51" name="Rectangle 11">
            <a:extLst>
              <a:ext uri="{FF2B5EF4-FFF2-40B4-BE49-F238E27FC236}">
                <a16:creationId xmlns:a16="http://schemas.microsoft.com/office/drawing/2014/main" id="{69A94CAB-2071-45BE-B464-361384EED303}"/>
              </a:ext>
            </a:extLst>
          </p:cNvPr>
          <p:cNvSpPr>
            <a:spLocks noChangeArrowheads="1"/>
          </p:cNvSpPr>
          <p:nvPr/>
        </p:nvSpPr>
        <p:spPr bwMode="auto">
          <a:xfrm>
            <a:off x="381000" y="5195888"/>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a:cs typeface="Times New Roman" panose="02020603050405020304" pitchFamily="18" charset="0"/>
                <a:sym typeface="Times New Roman" panose="02020603050405020304" pitchFamily="18" charset="0"/>
              </a:rPr>
              <a:t>第一布里渊区</a:t>
            </a:r>
            <a:endParaRPr lang="zh-CN" altLang="en-US">
              <a:sym typeface="Times New Roman" panose="02020603050405020304" pitchFamily="18" charset="0"/>
            </a:endParaRPr>
          </a:p>
        </p:txBody>
      </p:sp>
      <p:sp>
        <p:nvSpPr>
          <p:cNvPr id="61452" name="Rectangle 12">
            <a:extLst>
              <a:ext uri="{FF2B5EF4-FFF2-40B4-BE49-F238E27FC236}">
                <a16:creationId xmlns:a16="http://schemas.microsoft.com/office/drawing/2014/main" id="{CFE7A505-02AC-4782-AE3A-218F9B348E6D}"/>
              </a:ext>
            </a:extLst>
          </p:cNvPr>
          <p:cNvSpPr>
            <a:spLocks noChangeArrowheads="1"/>
          </p:cNvSpPr>
          <p:nvPr/>
        </p:nvSpPr>
        <p:spPr bwMode="auto">
          <a:xfrm>
            <a:off x="3962400" y="5195888"/>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a:cs typeface="Times New Roman" panose="02020603050405020304" pitchFamily="18" charset="0"/>
                <a:sym typeface="Times New Roman" panose="02020603050405020304" pitchFamily="18" charset="0"/>
              </a:rPr>
              <a:t>第二布里渊区</a:t>
            </a:r>
            <a:endParaRPr lang="zh-CN" altLang="en-US">
              <a:sym typeface="Times New Roman" panose="02020603050405020304" pitchFamily="18" charset="0"/>
            </a:endParaRPr>
          </a:p>
        </p:txBody>
      </p:sp>
      <p:sp>
        <p:nvSpPr>
          <p:cNvPr id="61453" name="Rectangle 13">
            <a:extLst>
              <a:ext uri="{FF2B5EF4-FFF2-40B4-BE49-F238E27FC236}">
                <a16:creationId xmlns:a16="http://schemas.microsoft.com/office/drawing/2014/main" id="{7276FE28-EBD9-4353-844C-F1AE6B368689}"/>
              </a:ext>
            </a:extLst>
          </p:cNvPr>
          <p:cNvSpPr>
            <a:spLocks noChangeArrowheads="1"/>
          </p:cNvSpPr>
          <p:nvPr/>
        </p:nvSpPr>
        <p:spPr bwMode="auto">
          <a:xfrm>
            <a:off x="1447800" y="6048375"/>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a:cs typeface="Times New Roman" panose="02020603050405020304" pitchFamily="18" charset="0"/>
                <a:sym typeface="Times New Roman" panose="02020603050405020304" pitchFamily="18" charset="0"/>
              </a:rPr>
              <a:t>第三布里渊区</a:t>
            </a:r>
            <a:endParaRPr lang="zh-CN" altLang="en-US">
              <a:sym typeface="Times New Roman" panose="02020603050405020304" pitchFamily="18" charset="0"/>
            </a:endParaRPr>
          </a:p>
        </p:txBody>
      </p:sp>
      <p:pic>
        <p:nvPicPr>
          <p:cNvPr id="61459" name="Picture 19">
            <a:extLst>
              <a:ext uri="{FF2B5EF4-FFF2-40B4-BE49-F238E27FC236}">
                <a16:creationId xmlns:a16="http://schemas.microsoft.com/office/drawing/2014/main" id="{A128B7C3-4C95-497F-AD03-6016A6AD36C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 y="152400"/>
            <a:ext cx="4724400" cy="30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20">
            <a:extLst>
              <a:ext uri="{FF2B5EF4-FFF2-40B4-BE49-F238E27FC236}">
                <a16:creationId xmlns:a16="http://schemas.microsoft.com/office/drawing/2014/main" id="{BA7CF7A5-94C2-45E9-A28F-53BA437989C5}"/>
              </a:ext>
            </a:extLst>
          </p:cNvPr>
          <p:cNvGrpSpPr>
            <a:grpSpLocks/>
          </p:cNvGrpSpPr>
          <p:nvPr/>
        </p:nvGrpSpPr>
        <p:grpSpPr bwMode="auto">
          <a:xfrm>
            <a:off x="5638800" y="381000"/>
            <a:ext cx="1697038" cy="2266950"/>
            <a:chOff x="1701" y="1290"/>
            <a:chExt cx="2584" cy="2587"/>
          </a:xfrm>
        </p:grpSpPr>
        <p:grpSp>
          <p:nvGrpSpPr>
            <p:cNvPr id="46096" name="Group 21">
              <a:extLst>
                <a:ext uri="{FF2B5EF4-FFF2-40B4-BE49-F238E27FC236}">
                  <a16:creationId xmlns:a16="http://schemas.microsoft.com/office/drawing/2014/main" id="{917DBD46-F606-4901-9AF4-CF3E6A3A0232}"/>
                </a:ext>
              </a:extLst>
            </p:cNvPr>
            <p:cNvGrpSpPr>
              <a:grpSpLocks/>
            </p:cNvGrpSpPr>
            <p:nvPr/>
          </p:nvGrpSpPr>
          <p:grpSpPr bwMode="auto">
            <a:xfrm>
              <a:off x="1701" y="1290"/>
              <a:ext cx="2584" cy="2156"/>
              <a:chOff x="1701" y="1290"/>
              <a:chExt cx="2584" cy="2156"/>
            </a:xfrm>
          </p:grpSpPr>
          <p:grpSp>
            <p:nvGrpSpPr>
              <p:cNvPr id="46098" name="Group 22">
                <a:extLst>
                  <a:ext uri="{FF2B5EF4-FFF2-40B4-BE49-F238E27FC236}">
                    <a16:creationId xmlns:a16="http://schemas.microsoft.com/office/drawing/2014/main" id="{B370BB23-5D0C-4207-B1D8-33B09DB04216}"/>
                  </a:ext>
                </a:extLst>
              </p:cNvPr>
              <p:cNvGrpSpPr>
                <a:grpSpLocks/>
              </p:cNvGrpSpPr>
              <p:nvPr/>
            </p:nvGrpSpPr>
            <p:grpSpPr bwMode="auto">
              <a:xfrm>
                <a:off x="1701" y="1290"/>
                <a:ext cx="2584" cy="1997"/>
                <a:chOff x="1701" y="1290"/>
                <a:chExt cx="2584" cy="1997"/>
              </a:xfrm>
            </p:grpSpPr>
            <p:sp>
              <p:nvSpPr>
                <p:cNvPr id="46100" name="Line 23">
                  <a:extLst>
                    <a:ext uri="{FF2B5EF4-FFF2-40B4-BE49-F238E27FC236}">
                      <a16:creationId xmlns:a16="http://schemas.microsoft.com/office/drawing/2014/main" id="{52CADAFC-5738-46B4-B127-4D2079E431F3}"/>
                    </a:ext>
                  </a:extLst>
                </p:cNvPr>
                <p:cNvSpPr>
                  <a:spLocks noChangeShapeType="1"/>
                </p:cNvSpPr>
                <p:nvPr/>
              </p:nvSpPr>
              <p:spPr bwMode="auto">
                <a:xfrm>
                  <a:off x="1701" y="2919"/>
                  <a:ext cx="2087" cy="0"/>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6101" name="Line 24">
                  <a:extLst>
                    <a:ext uri="{FF2B5EF4-FFF2-40B4-BE49-F238E27FC236}">
                      <a16:creationId xmlns:a16="http://schemas.microsoft.com/office/drawing/2014/main" id="{411E60B6-61B7-4662-B023-3F8C966F93A9}"/>
                    </a:ext>
                  </a:extLst>
                </p:cNvPr>
                <p:cNvSpPr>
                  <a:spLocks noChangeShapeType="1"/>
                </p:cNvSpPr>
                <p:nvPr/>
              </p:nvSpPr>
              <p:spPr bwMode="auto">
                <a:xfrm flipV="1">
                  <a:off x="2699" y="1512"/>
                  <a:ext cx="0" cy="1646"/>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6102" name="Freeform 25">
                  <a:extLst>
                    <a:ext uri="{FF2B5EF4-FFF2-40B4-BE49-F238E27FC236}">
                      <a16:creationId xmlns:a16="http://schemas.microsoft.com/office/drawing/2014/main" id="{EB5E3ED0-15D7-447B-8E8E-4035A3232704}"/>
                    </a:ext>
                  </a:extLst>
                </p:cNvPr>
                <p:cNvSpPr>
                  <a:spLocks/>
                </p:cNvSpPr>
                <p:nvPr/>
              </p:nvSpPr>
              <p:spPr bwMode="auto">
                <a:xfrm>
                  <a:off x="2019" y="1966"/>
                  <a:ext cx="1452" cy="952"/>
                </a:xfrm>
                <a:custGeom>
                  <a:avLst/>
                  <a:gdLst>
                    <a:gd name="T0" fmla="*/ 0 w 1452"/>
                    <a:gd name="T1" fmla="*/ 0 h 952"/>
                    <a:gd name="T2" fmla="*/ 681 w 1452"/>
                    <a:gd name="T3" fmla="*/ 952 h 952"/>
                    <a:gd name="T4" fmla="*/ 1452 w 1452"/>
                    <a:gd name="T5" fmla="*/ 0 h 952"/>
                    <a:gd name="T6" fmla="*/ 0 60000 65536"/>
                    <a:gd name="T7" fmla="*/ 0 60000 65536"/>
                    <a:gd name="T8" fmla="*/ 0 60000 65536"/>
                    <a:gd name="T9" fmla="*/ 0 w 1452"/>
                    <a:gd name="T10" fmla="*/ 0 h 952"/>
                    <a:gd name="T11" fmla="*/ 1452 w 1452"/>
                    <a:gd name="T12" fmla="*/ 952 h 952"/>
                  </a:gdLst>
                  <a:ahLst/>
                  <a:cxnLst>
                    <a:cxn ang="T6">
                      <a:pos x="T0" y="T1"/>
                    </a:cxn>
                    <a:cxn ang="T7">
                      <a:pos x="T2" y="T3"/>
                    </a:cxn>
                    <a:cxn ang="T8">
                      <a:pos x="T4" y="T5"/>
                    </a:cxn>
                  </a:cxnLst>
                  <a:rect l="T9" t="T10" r="T11" b="T12"/>
                  <a:pathLst>
                    <a:path w="1452" h="952">
                      <a:moveTo>
                        <a:pt x="0" y="0"/>
                      </a:moveTo>
                      <a:cubicBezTo>
                        <a:pt x="219" y="476"/>
                        <a:pt x="439" y="952"/>
                        <a:pt x="681" y="952"/>
                      </a:cubicBezTo>
                      <a:cubicBezTo>
                        <a:pt x="923" y="952"/>
                        <a:pt x="1324" y="159"/>
                        <a:pt x="1452" y="0"/>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103" name="Text Box 26">
                  <a:extLst>
                    <a:ext uri="{FF2B5EF4-FFF2-40B4-BE49-F238E27FC236}">
                      <a16:creationId xmlns:a16="http://schemas.microsoft.com/office/drawing/2014/main" id="{2910D73F-3671-420B-8D2E-77951B106062}"/>
                    </a:ext>
                  </a:extLst>
                </p:cNvPr>
                <p:cNvSpPr txBox="1">
                  <a:spLocks noChangeArrowheads="1"/>
                </p:cNvSpPr>
                <p:nvPr/>
              </p:nvSpPr>
              <p:spPr bwMode="auto">
                <a:xfrm>
                  <a:off x="2595" y="1290"/>
                  <a:ext cx="513"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buClr>
                      <a:schemeClr val="hlink"/>
                    </a:buClr>
                    <a:buSzPct val="80000"/>
                    <a:buFont typeface="Arial" panose="020B0604020202020204" pitchFamily="34" charset="0"/>
                    <a:buNone/>
                  </a:pPr>
                  <a:r>
                    <a:rPr lang="en-US" altLang="zh-CN" sz="1800" i="1">
                      <a:solidFill>
                        <a:schemeClr val="tx1"/>
                      </a:solidFill>
                      <a:sym typeface="Times New Roman" panose="02020603050405020304" pitchFamily="18" charset="0"/>
                    </a:rPr>
                    <a:t>E</a:t>
                  </a:r>
                </a:p>
              </p:txBody>
            </p:sp>
            <p:sp>
              <p:nvSpPr>
                <p:cNvPr id="46104" name="Text Box 27">
                  <a:extLst>
                    <a:ext uri="{FF2B5EF4-FFF2-40B4-BE49-F238E27FC236}">
                      <a16:creationId xmlns:a16="http://schemas.microsoft.com/office/drawing/2014/main" id="{79D4F50E-C986-46E1-A8D2-375E57A281C6}"/>
                    </a:ext>
                  </a:extLst>
                </p:cNvPr>
                <p:cNvSpPr txBox="1">
                  <a:spLocks noChangeArrowheads="1"/>
                </p:cNvSpPr>
                <p:nvPr/>
              </p:nvSpPr>
              <p:spPr bwMode="auto">
                <a:xfrm>
                  <a:off x="3830" y="2868"/>
                  <a:ext cx="455"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buClr>
                      <a:schemeClr val="hlink"/>
                    </a:buClr>
                    <a:buSzPct val="80000"/>
                    <a:buFont typeface="Arial" panose="020B0604020202020204" pitchFamily="34" charset="0"/>
                    <a:buNone/>
                  </a:pPr>
                  <a:r>
                    <a:rPr lang="en-US" altLang="zh-CN" sz="1800" i="1">
                      <a:solidFill>
                        <a:schemeClr val="tx1"/>
                      </a:solidFill>
                      <a:sym typeface="Times New Roman" panose="02020603050405020304" pitchFamily="18" charset="0"/>
                    </a:rPr>
                    <a:t>k</a:t>
                  </a:r>
                </a:p>
              </p:txBody>
            </p:sp>
          </p:grpSp>
          <p:sp>
            <p:nvSpPr>
              <p:cNvPr id="46099" name="Text Box 28">
                <a:extLst>
                  <a:ext uri="{FF2B5EF4-FFF2-40B4-BE49-F238E27FC236}">
                    <a16:creationId xmlns:a16="http://schemas.microsoft.com/office/drawing/2014/main" id="{3C3631B2-9DE6-4504-BE0A-4D432DC6E360}"/>
                  </a:ext>
                </a:extLst>
              </p:cNvPr>
              <p:cNvSpPr txBox="1">
                <a:spLocks noChangeArrowheads="1"/>
              </p:cNvSpPr>
              <p:nvPr/>
            </p:nvSpPr>
            <p:spPr bwMode="auto">
              <a:xfrm>
                <a:off x="2731" y="3027"/>
                <a:ext cx="474"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buClr>
                    <a:schemeClr val="hlink"/>
                  </a:buClr>
                  <a:buSzPct val="80000"/>
                  <a:buFont typeface="Arial" panose="020B0604020202020204" pitchFamily="34" charset="0"/>
                  <a:buNone/>
                </a:pPr>
                <a:r>
                  <a:rPr lang="en-US" altLang="zh-CN" sz="1800">
                    <a:solidFill>
                      <a:schemeClr val="tx1"/>
                    </a:solidFill>
                    <a:sym typeface="Times New Roman" panose="02020603050405020304" pitchFamily="18" charset="0"/>
                  </a:rPr>
                  <a:t>0</a:t>
                </a:r>
              </a:p>
            </p:txBody>
          </p:sp>
        </p:grpSp>
        <p:sp>
          <p:nvSpPr>
            <p:cNvPr id="46097" name="Text Box 29">
              <a:extLst>
                <a:ext uri="{FF2B5EF4-FFF2-40B4-BE49-F238E27FC236}">
                  <a16:creationId xmlns:a16="http://schemas.microsoft.com/office/drawing/2014/main" id="{97D8DA4E-FCD0-4C73-930E-81F376245663}"/>
                </a:ext>
              </a:extLst>
            </p:cNvPr>
            <p:cNvSpPr txBox="1">
              <a:spLocks noChangeArrowheads="1"/>
            </p:cNvSpPr>
            <p:nvPr/>
          </p:nvSpPr>
          <p:spPr bwMode="auto">
            <a:xfrm>
              <a:off x="2325" y="3458"/>
              <a:ext cx="280"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buClr>
                  <a:schemeClr val="hlink"/>
                </a:buClr>
                <a:buSzPct val="80000"/>
                <a:buFont typeface="Arial" panose="020B0604020202020204" pitchFamily="34" charset="0"/>
                <a:buNone/>
              </a:pPr>
              <a:endParaRPr lang="zh-CN" altLang="zh-CN" sz="1800">
                <a:solidFill>
                  <a:schemeClr val="tx1"/>
                </a:solidFill>
                <a:sym typeface="Times New Roman" panose="02020603050405020304" pitchFamily="18" charset="0"/>
              </a:endParaRPr>
            </a:p>
          </p:txBody>
        </p:sp>
      </p:grpSp>
      <p:sp>
        <p:nvSpPr>
          <p:cNvPr id="61470" name="Rectangle 30">
            <a:extLst>
              <a:ext uri="{FF2B5EF4-FFF2-40B4-BE49-F238E27FC236}">
                <a16:creationId xmlns:a16="http://schemas.microsoft.com/office/drawing/2014/main" id="{D86B40C1-1F9D-457F-8BC2-CC9CDEECE038}"/>
              </a:ext>
            </a:extLst>
          </p:cNvPr>
          <p:cNvSpPr>
            <a:spLocks noChangeArrowheads="1"/>
          </p:cNvSpPr>
          <p:nvPr/>
        </p:nvSpPr>
        <p:spPr bwMode="auto">
          <a:xfrm>
            <a:off x="457200" y="4648200"/>
            <a:ext cx="222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eaLnBrk="1" hangingPunct="1">
              <a:spcBef>
                <a:spcPct val="50000"/>
              </a:spcBef>
              <a:buClrTx/>
              <a:buFontTx/>
              <a:buNone/>
            </a:pPr>
            <a:r>
              <a:rPr lang="zh-CN" altLang="en-US">
                <a:sym typeface="Times New Roman" panose="02020603050405020304" pitchFamily="18" charset="0"/>
              </a:rPr>
              <a:t>允带（</a:t>
            </a:r>
            <a:r>
              <a:rPr lang="zh-CN" altLang="en-US">
                <a:solidFill>
                  <a:srgbClr val="FF3300"/>
                </a:solidFill>
                <a:sym typeface="Times New Roman" panose="02020603050405020304" pitchFamily="18" charset="0"/>
              </a:rPr>
              <a:t>布里渊区</a:t>
            </a:r>
            <a:r>
              <a:rPr lang="zh-CN" altLang="en-US">
                <a:sym typeface="Times New Roman" panose="02020603050405020304" pitchFamily="18" charset="0"/>
              </a:rPr>
              <a:t>）</a:t>
            </a:r>
          </a:p>
        </p:txBody>
      </p:sp>
      <p:sp>
        <p:nvSpPr>
          <p:cNvPr id="61471" name="Rectangle 31">
            <a:extLst>
              <a:ext uri="{FF2B5EF4-FFF2-40B4-BE49-F238E27FC236}">
                <a16:creationId xmlns:a16="http://schemas.microsoft.com/office/drawing/2014/main" id="{291C4948-A320-46BC-9E4D-4D0D5C92EAFE}"/>
              </a:ext>
            </a:extLst>
          </p:cNvPr>
          <p:cNvSpPr>
            <a:spLocks noChangeArrowheads="1"/>
          </p:cNvSpPr>
          <p:nvPr/>
        </p:nvSpPr>
        <p:spPr bwMode="auto">
          <a:xfrm>
            <a:off x="7162800" y="838200"/>
            <a:ext cx="17859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sym typeface="Times New Roman" panose="02020603050405020304" pitchFamily="18" charset="0"/>
              </a:rPr>
              <a:t>自由电子</a:t>
            </a:r>
            <a:r>
              <a:rPr lang="en-US" altLang="zh-CN" sz="1600" i="1">
                <a:sym typeface="Times New Roman" panose="02020603050405020304" pitchFamily="18" charset="0"/>
              </a:rPr>
              <a:t>E(k)</a:t>
            </a:r>
            <a:r>
              <a:rPr lang="zh-CN" altLang="en-US" sz="1600">
                <a:sym typeface="Times New Roman" panose="02020603050405020304" pitchFamily="18" charset="0"/>
              </a:rPr>
              <a:t>关系</a:t>
            </a:r>
          </a:p>
          <a:p>
            <a:pPr algn="ctr" eaLnBrk="1" hangingPunct="1">
              <a:spcBef>
                <a:spcPct val="0"/>
              </a:spcBef>
              <a:buClrTx/>
              <a:buFontTx/>
              <a:buNone/>
            </a:pPr>
            <a:endParaRPr lang="en-US" altLang="zh-CN" sz="1600">
              <a:sym typeface="Times New Roman" panose="02020603050405020304" pitchFamily="18" charset="0"/>
            </a:endParaRPr>
          </a:p>
        </p:txBody>
      </p:sp>
      <p:graphicFrame>
        <p:nvGraphicFramePr>
          <p:cNvPr id="61472" name="Object 32">
            <a:extLst>
              <a:ext uri="{FF2B5EF4-FFF2-40B4-BE49-F238E27FC236}">
                <a16:creationId xmlns:a16="http://schemas.microsoft.com/office/drawing/2014/main" id="{E1FF7089-4F81-4472-AF9F-AC24036316BA}"/>
              </a:ext>
            </a:extLst>
          </p:cNvPr>
          <p:cNvGraphicFramePr>
            <a:graphicFrameLocks noChangeAspect="1"/>
          </p:cNvGraphicFramePr>
          <p:nvPr/>
        </p:nvGraphicFramePr>
        <p:xfrm>
          <a:off x="7620000" y="1600200"/>
          <a:ext cx="1219200" cy="708025"/>
        </p:xfrm>
        <a:graphic>
          <a:graphicData uri="http://schemas.openxmlformats.org/presentationml/2006/ole">
            <mc:AlternateContent xmlns:mc="http://schemas.openxmlformats.org/markup-compatibility/2006">
              <mc:Choice xmlns:v="urn:schemas-microsoft-com:vml" Requires="v">
                <p:oleObj spid="_x0000_s180449" name="Equation" r:id="rId10" imgW="787400" imgH="457200" progId="Equation.DSMT4">
                  <p:embed/>
                </p:oleObj>
              </mc:Choice>
              <mc:Fallback>
                <p:oleObj name="Equation" r:id="rId10" imgW="787400" imgH="457200" progId="Equation.DSMT4">
                  <p:embed/>
                  <p:pic>
                    <p:nvPicPr>
                      <p:cNvPr id="61472" name="Object 32">
                        <a:extLst>
                          <a:ext uri="{FF2B5EF4-FFF2-40B4-BE49-F238E27FC236}">
                            <a16:creationId xmlns:a16="http://schemas.microsoft.com/office/drawing/2014/main" id="{E1FF7089-4F81-4472-AF9F-AC24036316B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0000" y="1600200"/>
                        <a:ext cx="12192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57" name="Rectangle 17">
            <a:extLst>
              <a:ext uri="{FF2B5EF4-FFF2-40B4-BE49-F238E27FC236}">
                <a16:creationId xmlns:a16="http://schemas.microsoft.com/office/drawing/2014/main" id="{E8E4DAAE-B6A4-48C4-873E-59258D299776}"/>
              </a:ext>
            </a:extLst>
          </p:cNvPr>
          <p:cNvSpPr>
            <a:spLocks noChangeArrowheads="1"/>
          </p:cNvSpPr>
          <p:nvPr/>
        </p:nvSpPr>
        <p:spPr bwMode="auto">
          <a:xfrm>
            <a:off x="685800" y="3200400"/>
            <a:ext cx="4648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ClrTx/>
              <a:buFontTx/>
              <a:buNone/>
            </a:pPr>
            <a:r>
              <a:rPr lang="zh-CN" altLang="en-US">
                <a:solidFill>
                  <a:srgbClr val="FF3300"/>
                </a:solidFill>
                <a:sym typeface="Times New Roman" panose="02020603050405020304" pitchFamily="18" charset="0"/>
              </a:rPr>
              <a:t>晶体电子能量</a:t>
            </a:r>
            <a:r>
              <a:rPr lang="en-US" altLang="zh-CN" i="1">
                <a:solidFill>
                  <a:srgbClr val="FF3300"/>
                </a:solidFill>
                <a:sym typeface="Times New Roman" panose="02020603050405020304" pitchFamily="18" charset="0"/>
              </a:rPr>
              <a:t>E(k)</a:t>
            </a:r>
            <a:r>
              <a:rPr lang="zh-CN" altLang="en-US">
                <a:solidFill>
                  <a:srgbClr val="FF3300"/>
                </a:solidFill>
                <a:sym typeface="Times New Roman" panose="02020603050405020304" pitchFamily="18" charset="0"/>
              </a:rPr>
              <a:t>关系特点：</a:t>
            </a:r>
          </a:p>
        </p:txBody>
      </p:sp>
      <p:graphicFrame>
        <p:nvGraphicFramePr>
          <p:cNvPr id="61448" name="Object 8">
            <a:extLst>
              <a:ext uri="{FF2B5EF4-FFF2-40B4-BE49-F238E27FC236}">
                <a16:creationId xmlns:a16="http://schemas.microsoft.com/office/drawing/2014/main" id="{64577870-1ED0-4CA1-B200-61F359AA1676}"/>
              </a:ext>
            </a:extLst>
          </p:cNvPr>
          <p:cNvGraphicFramePr>
            <a:graphicFrameLocks noChangeAspect="1"/>
          </p:cNvGraphicFramePr>
          <p:nvPr/>
        </p:nvGraphicFramePr>
        <p:xfrm>
          <a:off x="1219200" y="3733800"/>
          <a:ext cx="2819400" cy="654050"/>
        </p:xfrm>
        <a:graphic>
          <a:graphicData uri="http://schemas.openxmlformats.org/presentationml/2006/ole">
            <mc:AlternateContent xmlns:mc="http://schemas.openxmlformats.org/markup-compatibility/2006">
              <mc:Choice xmlns:v="urn:schemas-microsoft-com:vml" Requires="v">
                <p:oleObj spid="_x0000_s180450" name="Equation" r:id="rId12" imgW="1688367" imgH="393529" progId="Equation.DSMT4">
                  <p:embed/>
                </p:oleObj>
              </mc:Choice>
              <mc:Fallback>
                <p:oleObj name="Equation" r:id="rId12" imgW="1688367" imgH="393529" progId="Equation.DSMT4">
                  <p:embed/>
                  <p:pic>
                    <p:nvPicPr>
                      <p:cNvPr id="61448" name="Object 8">
                        <a:extLst>
                          <a:ext uri="{FF2B5EF4-FFF2-40B4-BE49-F238E27FC236}">
                            <a16:creationId xmlns:a16="http://schemas.microsoft.com/office/drawing/2014/main" id="{64577870-1ED0-4CA1-B200-61F359AA167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19200" y="3733800"/>
                        <a:ext cx="281940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73" name="Rectangle 33">
            <a:extLst>
              <a:ext uri="{FF2B5EF4-FFF2-40B4-BE49-F238E27FC236}">
                <a16:creationId xmlns:a16="http://schemas.microsoft.com/office/drawing/2014/main" id="{9F40E945-E6F9-428B-A08A-CE2028D967B6}"/>
              </a:ext>
            </a:extLst>
          </p:cNvPr>
          <p:cNvSpPr>
            <a:spLocks noChangeArrowheads="1"/>
          </p:cNvSpPr>
          <p:nvPr/>
        </p:nvSpPr>
        <p:spPr bwMode="auto">
          <a:xfrm>
            <a:off x="4038600" y="3886200"/>
            <a:ext cx="4648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eaLnBrk="1" hangingPunct="1">
              <a:lnSpc>
                <a:spcPct val="80000"/>
              </a:lnSpc>
              <a:spcBef>
                <a:spcPct val="50000"/>
              </a:spcBef>
              <a:buClrTx/>
              <a:buFontTx/>
              <a:buNone/>
            </a:pPr>
            <a:r>
              <a:rPr lang="zh-CN" altLang="en-US">
                <a:solidFill>
                  <a:srgbClr val="FF3300"/>
                </a:solidFill>
                <a:sym typeface="Times New Roman" panose="02020603050405020304" pitchFamily="18" charset="0"/>
              </a:rPr>
              <a:t>能量不连续，形成一系列允带和禁带</a:t>
            </a:r>
          </a:p>
        </p:txBody>
      </p:sp>
    </p:spTree>
    <p:extLst>
      <p:ext uri="{BB962C8B-B14F-4D97-AF65-F5344CB8AC3E}">
        <p14:creationId xmlns:p14="http://schemas.microsoft.com/office/powerpoint/2010/main" val="33511324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a:extLst>
              <a:ext uri="{FF2B5EF4-FFF2-40B4-BE49-F238E27FC236}">
                <a16:creationId xmlns:a16="http://schemas.microsoft.com/office/drawing/2014/main" id="{9B8309B4-0B06-4F1D-9208-CCB6E0350FED}"/>
              </a:ext>
            </a:extLst>
          </p:cNvPr>
          <p:cNvSpPr>
            <a:spLocks noChangeArrowheads="1"/>
          </p:cNvSpPr>
          <p:nvPr/>
        </p:nvSpPr>
        <p:spPr bwMode="auto">
          <a:xfrm>
            <a:off x="381000" y="4800600"/>
            <a:ext cx="8763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indent="304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 typeface="Wingdings" panose="05000000000000000000" pitchFamily="2" charset="2"/>
              <a:buChar char="Ø"/>
            </a:pPr>
            <a:r>
              <a:rPr lang="zh-CN" altLang="en-US">
                <a:solidFill>
                  <a:srgbClr val="FF3300"/>
                </a:solidFill>
                <a:sym typeface="Times New Roman" panose="02020603050405020304" pitchFamily="18" charset="0"/>
              </a:rPr>
              <a:t>简约布里渊区：</a:t>
            </a:r>
            <a:r>
              <a:rPr lang="zh-CN" altLang="en-US">
                <a:sym typeface="Times New Roman" panose="02020603050405020304" pitchFamily="18" charset="0"/>
              </a:rPr>
              <a:t>各布里渊区中</a:t>
            </a:r>
            <a:r>
              <a:rPr lang="en-US" altLang="zh-CN" i="1">
                <a:sym typeface="Times New Roman" panose="02020603050405020304" pitchFamily="18" charset="0"/>
              </a:rPr>
              <a:t>E(k)</a:t>
            </a:r>
            <a:r>
              <a:rPr lang="zh-CN" altLang="en-US">
                <a:sym typeface="Times New Roman" panose="02020603050405020304" pitchFamily="18" charset="0"/>
              </a:rPr>
              <a:t>曲线</a:t>
            </a:r>
            <a:r>
              <a:rPr lang="zh-CN" altLang="en-US">
                <a:solidFill>
                  <a:srgbClr val="FF3300"/>
                </a:solidFill>
                <a:sym typeface="Times New Roman" panose="02020603050405020304" pitchFamily="18" charset="0"/>
              </a:rPr>
              <a:t>平移</a:t>
            </a:r>
            <a:r>
              <a:rPr lang="zh-CN" altLang="en-US">
                <a:sym typeface="Times New Roman" panose="02020603050405020304" pitchFamily="18" charset="0"/>
              </a:rPr>
              <a:t>整数个</a:t>
            </a:r>
            <a:r>
              <a:rPr lang="en-US" altLang="zh-CN">
                <a:sym typeface="Times New Roman" panose="02020603050405020304" pitchFamily="18" charset="0"/>
              </a:rPr>
              <a:t>2π/a</a:t>
            </a:r>
            <a:r>
              <a:rPr lang="zh-CN" altLang="en-US">
                <a:sym typeface="Times New Roman" panose="02020603050405020304" pitchFamily="18" charset="0"/>
              </a:rPr>
              <a:t>到第一布里渊区</a:t>
            </a:r>
          </a:p>
          <a:p>
            <a:pPr eaLnBrk="1" hangingPunct="1">
              <a:lnSpc>
                <a:spcPct val="130000"/>
              </a:lnSpc>
              <a:spcBef>
                <a:spcPct val="0"/>
              </a:spcBef>
              <a:buClrTx/>
              <a:buFont typeface="Wingdings" panose="05000000000000000000" pitchFamily="2" charset="2"/>
              <a:buChar char="Ø"/>
            </a:pPr>
            <a:r>
              <a:rPr lang="zh-CN" altLang="en-US">
                <a:sym typeface="Times New Roman" panose="02020603050405020304" pitchFamily="18" charset="0"/>
              </a:rPr>
              <a:t>要标志一个状态用</a:t>
            </a:r>
            <a:r>
              <a:rPr lang="en-US" altLang="zh-CN" i="1">
                <a:solidFill>
                  <a:srgbClr val="FF3300"/>
                </a:solidFill>
                <a:sym typeface="Times New Roman" panose="02020603050405020304" pitchFamily="18" charset="0"/>
              </a:rPr>
              <a:t>E=E</a:t>
            </a:r>
            <a:r>
              <a:rPr lang="en-US" altLang="zh-CN" i="1" baseline="-25000">
                <a:solidFill>
                  <a:srgbClr val="FF3300"/>
                </a:solidFill>
                <a:sym typeface="Times New Roman" panose="02020603050405020304" pitchFamily="18" charset="0"/>
              </a:rPr>
              <a:t>n</a:t>
            </a:r>
            <a:r>
              <a:rPr lang="en-US" altLang="zh-CN" i="1">
                <a:solidFill>
                  <a:srgbClr val="FF3300"/>
                </a:solidFill>
                <a:sym typeface="Times New Roman" panose="02020603050405020304" pitchFamily="18" charset="0"/>
              </a:rPr>
              <a:t>(k)</a:t>
            </a:r>
            <a:r>
              <a:rPr lang="en-US" altLang="zh-CN" i="1">
                <a:sym typeface="Times New Roman" panose="02020603050405020304" pitchFamily="18" charset="0"/>
              </a:rPr>
              <a:t>     (n</a:t>
            </a:r>
            <a:r>
              <a:rPr lang="en-US" altLang="zh-CN">
                <a:sym typeface="Times New Roman" panose="02020603050405020304" pitchFamily="18" charset="0"/>
              </a:rPr>
              <a:t>=1, 2,</a:t>
            </a:r>
            <a:r>
              <a:rPr lang="en-US" altLang="zh-CN" i="1">
                <a:sym typeface="Times New Roman" panose="02020603050405020304" pitchFamily="18" charset="0"/>
              </a:rPr>
              <a:t> …)</a:t>
            </a:r>
            <a:r>
              <a:rPr lang="en-US" altLang="zh-CN">
                <a:sym typeface="Times New Roman" panose="02020603050405020304" pitchFamily="18" charset="0"/>
              </a:rPr>
              <a:t> </a:t>
            </a:r>
          </a:p>
          <a:p>
            <a:pPr eaLnBrk="1" hangingPunct="1">
              <a:lnSpc>
                <a:spcPct val="130000"/>
              </a:lnSpc>
              <a:spcBef>
                <a:spcPct val="0"/>
              </a:spcBef>
              <a:buClrTx/>
              <a:buFont typeface="Wingdings" panose="05000000000000000000" pitchFamily="2" charset="2"/>
              <a:buNone/>
            </a:pPr>
            <a:r>
              <a:rPr lang="en-US" altLang="zh-CN">
                <a:sym typeface="Times New Roman" panose="02020603050405020304" pitchFamily="18" charset="0"/>
              </a:rPr>
              <a:t>   </a:t>
            </a:r>
            <a:r>
              <a:rPr lang="en-US" altLang="zh-CN" i="1">
                <a:sym typeface="Times New Roman" panose="02020603050405020304" pitchFamily="18" charset="0"/>
              </a:rPr>
              <a:t> n</a:t>
            </a:r>
            <a:r>
              <a:rPr lang="zh-CN" altLang="en-US">
                <a:sym typeface="Times New Roman" panose="02020603050405020304" pitchFamily="18" charset="0"/>
              </a:rPr>
              <a:t>：能带编号；</a:t>
            </a:r>
            <a:r>
              <a:rPr lang="en-US" altLang="zh-CN" i="1">
                <a:sym typeface="Times New Roman" panose="02020603050405020304" pitchFamily="18" charset="0"/>
              </a:rPr>
              <a:t>k</a:t>
            </a:r>
            <a:r>
              <a:rPr lang="zh-CN" altLang="en-US">
                <a:sym typeface="Times New Roman" panose="02020603050405020304" pitchFamily="18" charset="0"/>
              </a:rPr>
              <a:t>：每个能带中不同的电子状态和能级</a:t>
            </a:r>
          </a:p>
        </p:txBody>
      </p:sp>
      <p:sp>
        <p:nvSpPr>
          <p:cNvPr id="47107" name="Rectangle 6">
            <a:extLst>
              <a:ext uri="{FF2B5EF4-FFF2-40B4-BE49-F238E27FC236}">
                <a16:creationId xmlns:a16="http://schemas.microsoft.com/office/drawing/2014/main" id="{344EDC45-8DFE-4CE1-BEB5-2BE1232F994E}"/>
              </a:ext>
            </a:extLst>
          </p:cNvPr>
          <p:cNvSpPr>
            <a:spLocks noChangeArrowheads="1"/>
          </p:cNvSpPr>
          <p:nvPr/>
        </p:nvSpPr>
        <p:spPr bwMode="auto">
          <a:xfrm>
            <a:off x="2717800" y="304800"/>
            <a:ext cx="2995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a:solidFill>
                  <a:srgbClr val="FF3300"/>
                </a:solidFill>
                <a:sym typeface="Times New Roman" panose="02020603050405020304" pitchFamily="18" charset="0"/>
              </a:rPr>
              <a:t>简约布里渊区的表示形式</a:t>
            </a:r>
          </a:p>
        </p:txBody>
      </p:sp>
      <p:pic>
        <p:nvPicPr>
          <p:cNvPr id="47108" name="Picture 8" descr="图片1">
            <a:extLst>
              <a:ext uri="{FF2B5EF4-FFF2-40B4-BE49-F238E27FC236}">
                <a16:creationId xmlns:a16="http://schemas.microsoft.com/office/drawing/2014/main" id="{8219062F-BFE2-4E65-811C-3803AA2984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762000"/>
            <a:ext cx="6934200" cy="38973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91121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5">
            <a:extLst>
              <a:ext uri="{FF2B5EF4-FFF2-40B4-BE49-F238E27FC236}">
                <a16:creationId xmlns:a16="http://schemas.microsoft.com/office/drawing/2014/main" id="{F059046E-D644-40A4-9559-0834C8F2CC71}"/>
              </a:ext>
            </a:extLst>
          </p:cNvPr>
          <p:cNvSpPr>
            <a:spLocks noChangeArrowheads="1"/>
          </p:cNvSpPr>
          <p:nvPr/>
        </p:nvSpPr>
        <p:spPr bwMode="auto">
          <a:xfrm>
            <a:off x="-1549400" y="2217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165048" bIns="165048"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endParaRPr lang="zh-CN" altLang="en-US">
              <a:solidFill>
                <a:schemeClr val="tx1"/>
              </a:solidFill>
            </a:endParaRPr>
          </a:p>
        </p:txBody>
      </p:sp>
      <p:pic>
        <p:nvPicPr>
          <p:cNvPr id="79875" name="Picture 4">
            <a:extLst>
              <a:ext uri="{FF2B5EF4-FFF2-40B4-BE49-F238E27FC236}">
                <a16:creationId xmlns:a16="http://schemas.microsoft.com/office/drawing/2014/main" id="{304B3255-CFBF-4C80-B226-1BD688434F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2286000"/>
            <a:ext cx="3048000" cy="301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6">
            <a:extLst>
              <a:ext uri="{FF2B5EF4-FFF2-40B4-BE49-F238E27FC236}">
                <a16:creationId xmlns:a16="http://schemas.microsoft.com/office/drawing/2014/main" id="{E713E695-A125-4332-A64A-149A444385AD}"/>
              </a:ext>
            </a:extLst>
          </p:cNvPr>
          <p:cNvSpPr>
            <a:spLocks noChangeArrowheads="1"/>
          </p:cNvSpPr>
          <p:nvPr/>
        </p:nvSpPr>
        <p:spPr bwMode="auto">
          <a:xfrm>
            <a:off x="395288" y="2060575"/>
            <a:ext cx="4724400" cy="304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165048" bIns="165048"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nSpc>
                <a:spcPct val="150000"/>
              </a:lnSpc>
              <a:spcBef>
                <a:spcPct val="0"/>
              </a:spcBef>
              <a:buClrTx/>
              <a:buFontTx/>
              <a:buNone/>
            </a:pPr>
            <a:r>
              <a:rPr lang="zh-CN" altLang="en-US" dirty="0">
                <a:cs typeface="Times New Roman" panose="02020603050405020304" pitchFamily="18" charset="0"/>
              </a:rPr>
              <a:t>能带图：</a:t>
            </a:r>
          </a:p>
          <a:p>
            <a:pPr>
              <a:lnSpc>
                <a:spcPct val="150000"/>
              </a:lnSpc>
              <a:spcBef>
                <a:spcPct val="0"/>
              </a:spcBef>
              <a:buClrTx/>
              <a:buFontTx/>
              <a:buNone/>
            </a:pPr>
            <a:r>
              <a:rPr lang="zh-CN" altLang="en-US" dirty="0">
                <a:cs typeface="Times New Roman" panose="02020603050405020304" pitchFamily="18" charset="0"/>
              </a:rPr>
              <a:t>           电子在晶体中不同的方向上运动的时候遇到的势场是不同的，因而</a:t>
            </a:r>
            <a:r>
              <a:rPr lang="en-US" altLang="zh-CN" i="1" dirty="0">
                <a:solidFill>
                  <a:srgbClr val="FF3300"/>
                </a:solidFill>
                <a:cs typeface="Times New Roman" panose="02020603050405020304" pitchFamily="18" charset="0"/>
              </a:rPr>
              <a:t>E-k</a:t>
            </a:r>
            <a:r>
              <a:rPr lang="zh-CN" altLang="en-US" dirty="0">
                <a:solidFill>
                  <a:srgbClr val="FF3300"/>
                </a:solidFill>
                <a:cs typeface="Times New Roman" panose="02020603050405020304" pitchFamily="18" charset="0"/>
              </a:rPr>
              <a:t>关系是</a:t>
            </a:r>
            <a:r>
              <a:rPr lang="en-US" altLang="zh-CN" i="1" dirty="0">
                <a:solidFill>
                  <a:srgbClr val="FF3300"/>
                </a:solidFill>
                <a:cs typeface="Times New Roman" panose="02020603050405020304" pitchFamily="18" charset="0"/>
              </a:rPr>
              <a:t>k</a:t>
            </a:r>
            <a:r>
              <a:rPr lang="zh-CN" altLang="en-US" dirty="0">
                <a:solidFill>
                  <a:srgbClr val="FF3300"/>
                </a:solidFill>
                <a:cs typeface="Times New Roman" panose="02020603050405020304" pitchFamily="18" charset="0"/>
              </a:rPr>
              <a:t>空间方向上的函数。</a:t>
            </a:r>
          </a:p>
          <a:p>
            <a:pPr>
              <a:lnSpc>
                <a:spcPct val="150000"/>
              </a:lnSpc>
              <a:spcBef>
                <a:spcPct val="0"/>
              </a:spcBef>
              <a:buClrTx/>
              <a:buFontTx/>
              <a:buNone/>
            </a:pPr>
            <a:r>
              <a:rPr lang="zh-CN" altLang="en-US" dirty="0">
                <a:cs typeface="Times New Roman" panose="02020603050405020304" pitchFamily="18" charset="0"/>
              </a:rPr>
              <a:t>          每一个</a:t>
            </a:r>
            <a:r>
              <a:rPr lang="en-US" altLang="zh-CN" i="1" dirty="0">
                <a:cs typeface="Times New Roman" panose="02020603050405020304" pitchFamily="18" charset="0"/>
              </a:rPr>
              <a:t>k</a:t>
            </a:r>
            <a:r>
              <a:rPr lang="zh-CN" altLang="en-US" dirty="0">
                <a:cs typeface="Times New Roman" panose="02020603050405020304" pitchFamily="18" charset="0"/>
              </a:rPr>
              <a:t>坐标方向上</a:t>
            </a:r>
            <a:r>
              <a:rPr lang="en-US" altLang="zh-CN" i="1" dirty="0">
                <a:cs typeface="Times New Roman" panose="02020603050405020304" pitchFamily="18" charset="0"/>
              </a:rPr>
              <a:t>E(k)</a:t>
            </a:r>
            <a:r>
              <a:rPr lang="zh-CN" altLang="en-US" dirty="0">
                <a:cs typeface="Times New Roman" panose="02020603050405020304" pitchFamily="18" charset="0"/>
              </a:rPr>
              <a:t>对称，因而每一个方向画出一半就可以</a:t>
            </a:r>
            <a:endParaRPr lang="zh-CN" altLang="en-US" dirty="0">
              <a:latin typeface="Arial" panose="020B0604020202020204" pitchFamily="34" charset="0"/>
            </a:endParaRPr>
          </a:p>
        </p:txBody>
      </p:sp>
      <p:sp>
        <p:nvSpPr>
          <p:cNvPr id="2" name="矩形 1">
            <a:extLst>
              <a:ext uri="{FF2B5EF4-FFF2-40B4-BE49-F238E27FC236}">
                <a16:creationId xmlns:a16="http://schemas.microsoft.com/office/drawing/2014/main" id="{C7A78F89-F11B-4012-86CF-32A6930200A2}"/>
              </a:ext>
            </a:extLst>
          </p:cNvPr>
          <p:cNvSpPr/>
          <p:nvPr/>
        </p:nvSpPr>
        <p:spPr>
          <a:xfrm>
            <a:off x="2757488" y="908720"/>
            <a:ext cx="3954929" cy="523220"/>
          </a:xfrm>
          <a:prstGeom prst="rect">
            <a:avLst/>
          </a:prstGeom>
        </p:spPr>
        <p:txBody>
          <a:bodyPr wrap="none">
            <a:spAutoFit/>
          </a:bodyPr>
          <a:lstStyle/>
          <a:p>
            <a:pPr algn="ctr">
              <a:spcBef>
                <a:spcPct val="0"/>
              </a:spcBef>
            </a:pPr>
            <a:r>
              <a:rPr lang="zh-CN" altLang="en-US" sz="2800" b="1" dirty="0"/>
              <a:t>硅、砷化镓的能带结构  </a:t>
            </a:r>
          </a:p>
        </p:txBody>
      </p:sp>
    </p:spTree>
    <p:extLst>
      <p:ext uri="{BB962C8B-B14F-4D97-AF65-F5344CB8AC3E}">
        <p14:creationId xmlns:p14="http://schemas.microsoft.com/office/powerpoint/2010/main" val="2807954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5">
            <a:extLst>
              <a:ext uri="{FF2B5EF4-FFF2-40B4-BE49-F238E27FC236}">
                <a16:creationId xmlns:a16="http://schemas.microsoft.com/office/drawing/2014/main" id="{50BC8B6D-CD80-45F3-9CCB-CBCB62CC79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524000"/>
            <a:ext cx="3033713"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8">
            <a:extLst>
              <a:ext uri="{FF2B5EF4-FFF2-40B4-BE49-F238E27FC236}">
                <a16:creationId xmlns:a16="http://schemas.microsoft.com/office/drawing/2014/main" id="{1962D54C-5FEF-4E8C-9FBF-E8BA6DDB1DE5}"/>
              </a:ext>
            </a:extLst>
          </p:cNvPr>
          <p:cNvSpPr>
            <a:spLocks noChangeArrowheads="1"/>
          </p:cNvSpPr>
          <p:nvPr/>
        </p:nvSpPr>
        <p:spPr bwMode="auto">
          <a:xfrm>
            <a:off x="3886200" y="1828800"/>
            <a:ext cx="4572000"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77800" indent="-177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70000"/>
              </a:lnSpc>
              <a:spcBef>
                <a:spcPct val="0"/>
              </a:spcBef>
              <a:buClrTx/>
              <a:buFont typeface="Wingdings" panose="05000000000000000000" pitchFamily="2" charset="2"/>
              <a:buChar char="Ø"/>
            </a:pPr>
            <a:r>
              <a:rPr lang="zh-CN" altLang="en-US"/>
              <a:t>硅材料导带的最低点位于</a:t>
            </a:r>
            <a:r>
              <a:rPr lang="en-US" altLang="zh-CN"/>
              <a:t>[100]</a:t>
            </a:r>
            <a:r>
              <a:rPr lang="zh-CN" altLang="en-US"/>
              <a:t>方向</a:t>
            </a:r>
          </a:p>
          <a:p>
            <a:pPr eaLnBrk="1" hangingPunct="1">
              <a:lnSpc>
                <a:spcPct val="170000"/>
              </a:lnSpc>
              <a:spcBef>
                <a:spcPct val="0"/>
              </a:spcBef>
              <a:buClrTx/>
              <a:buFont typeface="Wingdings" panose="05000000000000000000" pitchFamily="2" charset="2"/>
              <a:buChar char="Ø"/>
            </a:pPr>
            <a:r>
              <a:rPr lang="zh-CN" altLang="en-US"/>
              <a:t>价带的最高点位于</a:t>
            </a:r>
            <a:r>
              <a:rPr lang="en-US" altLang="zh-CN" i="1"/>
              <a:t>k</a:t>
            </a:r>
            <a:r>
              <a:rPr lang="en-US" altLang="zh-CN"/>
              <a:t>=0</a:t>
            </a:r>
            <a:r>
              <a:rPr lang="zh-CN" altLang="en-US"/>
              <a:t>点，与导带最低点不一致（间接带隙半导体）</a:t>
            </a:r>
          </a:p>
          <a:p>
            <a:pPr eaLnBrk="1" hangingPunct="1">
              <a:lnSpc>
                <a:spcPct val="170000"/>
              </a:lnSpc>
              <a:spcBef>
                <a:spcPct val="0"/>
              </a:spcBef>
              <a:buClrTx/>
              <a:buFont typeface="Wingdings" panose="05000000000000000000" pitchFamily="2" charset="2"/>
              <a:buChar char="Ø"/>
            </a:pPr>
            <a:r>
              <a:rPr lang="zh-CN" altLang="en-US"/>
              <a:t>电子在不同能带之间的跃迁涉及到动量的改变，除了满足能量守恒之外，还必须要满足动量守恒。</a:t>
            </a:r>
          </a:p>
        </p:txBody>
      </p:sp>
      <p:sp>
        <p:nvSpPr>
          <p:cNvPr id="80900" name="Rectangle 9">
            <a:extLst>
              <a:ext uri="{FF2B5EF4-FFF2-40B4-BE49-F238E27FC236}">
                <a16:creationId xmlns:a16="http://schemas.microsoft.com/office/drawing/2014/main" id="{EC841C2E-A732-4BEB-AA01-B96964BCE49C}"/>
              </a:ext>
            </a:extLst>
          </p:cNvPr>
          <p:cNvSpPr>
            <a:spLocks noChangeArrowheads="1"/>
          </p:cNvSpPr>
          <p:nvPr/>
        </p:nvSpPr>
        <p:spPr bwMode="auto">
          <a:xfrm>
            <a:off x="533400" y="838200"/>
            <a:ext cx="35210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200">
                <a:solidFill>
                  <a:srgbClr val="0000FF"/>
                </a:solidFill>
              </a:rPr>
              <a:t>Si</a:t>
            </a:r>
            <a:r>
              <a:rPr lang="zh-CN" altLang="en-US" sz="2200">
                <a:solidFill>
                  <a:srgbClr val="0000FF"/>
                </a:solidFill>
              </a:rPr>
              <a:t>的能带图</a:t>
            </a:r>
          </a:p>
        </p:txBody>
      </p:sp>
    </p:spTree>
    <p:extLst>
      <p:ext uri="{BB962C8B-B14F-4D97-AF65-F5344CB8AC3E}">
        <p14:creationId xmlns:p14="http://schemas.microsoft.com/office/powerpoint/2010/main" val="6683280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4">
            <a:extLst>
              <a:ext uri="{FF2B5EF4-FFF2-40B4-BE49-F238E27FC236}">
                <a16:creationId xmlns:a16="http://schemas.microsoft.com/office/drawing/2014/main" id="{7D9B61E5-C994-4880-97CB-3C691F55CA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3000"/>
            <a:ext cx="3506788"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3" name="Rectangle 5">
            <a:extLst>
              <a:ext uri="{FF2B5EF4-FFF2-40B4-BE49-F238E27FC236}">
                <a16:creationId xmlns:a16="http://schemas.microsoft.com/office/drawing/2014/main" id="{C8DCA400-A080-407C-851E-9D050F2C932D}"/>
              </a:ext>
            </a:extLst>
          </p:cNvPr>
          <p:cNvSpPr>
            <a:spLocks noChangeArrowheads="1"/>
          </p:cNvSpPr>
          <p:nvPr/>
        </p:nvSpPr>
        <p:spPr bwMode="auto">
          <a:xfrm>
            <a:off x="4114800" y="1905000"/>
            <a:ext cx="4452938"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68288" indent="-268288">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40000"/>
              </a:lnSpc>
              <a:spcBef>
                <a:spcPct val="0"/>
              </a:spcBef>
              <a:buClrTx/>
              <a:buFont typeface="Wingdings" panose="05000000000000000000" pitchFamily="2" charset="2"/>
              <a:buChar char="Ø"/>
            </a:pPr>
            <a:r>
              <a:rPr lang="zh-CN" altLang="en-US">
                <a:cs typeface="Times New Roman" panose="02020603050405020304" pitchFamily="18" charset="0"/>
              </a:rPr>
              <a:t>砷化镓材料导带的最低点与价带的最高点都位于</a:t>
            </a:r>
            <a:r>
              <a:rPr lang="en-US" altLang="zh-CN">
                <a:cs typeface="Times New Roman" panose="02020603050405020304" pitchFamily="18" charset="0"/>
              </a:rPr>
              <a:t>k=0</a:t>
            </a:r>
            <a:r>
              <a:rPr lang="zh-CN" altLang="en-US">
                <a:cs typeface="Times New Roman" panose="02020603050405020304" pitchFamily="18" charset="0"/>
              </a:rPr>
              <a:t>点，（直接带隙半导体）</a:t>
            </a:r>
          </a:p>
          <a:p>
            <a:pPr eaLnBrk="1" hangingPunct="1">
              <a:lnSpc>
                <a:spcPct val="140000"/>
              </a:lnSpc>
              <a:spcBef>
                <a:spcPct val="0"/>
              </a:spcBef>
              <a:buClrTx/>
              <a:buFont typeface="Wingdings" panose="05000000000000000000" pitchFamily="2" charset="2"/>
              <a:buChar char="Ø"/>
            </a:pPr>
            <a:r>
              <a:rPr lang="zh-CN" altLang="en-US">
                <a:cs typeface="Times New Roman" panose="02020603050405020304" pitchFamily="18" charset="0"/>
              </a:rPr>
              <a:t>电子在不同能带之间的跃迁没有动量的改变</a:t>
            </a:r>
          </a:p>
          <a:p>
            <a:pPr eaLnBrk="1" hangingPunct="1">
              <a:lnSpc>
                <a:spcPct val="140000"/>
              </a:lnSpc>
              <a:spcBef>
                <a:spcPct val="0"/>
              </a:spcBef>
              <a:buClrTx/>
              <a:buFont typeface="Wingdings" panose="05000000000000000000" pitchFamily="2" charset="2"/>
              <a:buChar char="Ø"/>
            </a:pPr>
            <a:r>
              <a:rPr lang="zh-CN" altLang="en-US">
                <a:cs typeface="Times New Roman" panose="02020603050405020304" pitchFamily="18" charset="0"/>
              </a:rPr>
              <a:t>对于半导体材料的光电特性具有重要意义。</a:t>
            </a:r>
            <a:endParaRPr lang="zh-CN" altLang="en-US"/>
          </a:p>
          <a:p>
            <a:pPr eaLnBrk="1" hangingPunct="1">
              <a:lnSpc>
                <a:spcPct val="140000"/>
              </a:lnSpc>
              <a:spcBef>
                <a:spcPct val="0"/>
              </a:spcBef>
              <a:buClrTx/>
              <a:buFont typeface="Wingdings" panose="05000000000000000000" pitchFamily="2" charset="2"/>
              <a:buChar char="Ø"/>
            </a:pPr>
            <a:endParaRPr lang="en-US" altLang="zh-CN"/>
          </a:p>
        </p:txBody>
      </p:sp>
      <p:sp>
        <p:nvSpPr>
          <p:cNvPr id="81924" name="Rectangle 6">
            <a:extLst>
              <a:ext uri="{FF2B5EF4-FFF2-40B4-BE49-F238E27FC236}">
                <a16:creationId xmlns:a16="http://schemas.microsoft.com/office/drawing/2014/main" id="{B4EBC2BE-3878-4C54-BB5A-C80E7B2DFC6E}"/>
              </a:ext>
            </a:extLst>
          </p:cNvPr>
          <p:cNvSpPr>
            <a:spLocks noChangeArrowheads="1"/>
          </p:cNvSpPr>
          <p:nvPr/>
        </p:nvSpPr>
        <p:spPr bwMode="auto">
          <a:xfrm>
            <a:off x="762000" y="533400"/>
            <a:ext cx="44958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200">
                <a:solidFill>
                  <a:srgbClr val="0000FF"/>
                </a:solidFill>
              </a:rPr>
              <a:t>GaAs</a:t>
            </a:r>
            <a:r>
              <a:rPr lang="zh-CN" altLang="en-US" sz="2200">
                <a:solidFill>
                  <a:srgbClr val="0000FF"/>
                </a:solidFill>
              </a:rPr>
              <a:t>的能带图</a:t>
            </a:r>
          </a:p>
        </p:txBody>
      </p:sp>
    </p:spTree>
    <p:extLst>
      <p:ext uri="{BB962C8B-B14F-4D97-AF65-F5344CB8AC3E}">
        <p14:creationId xmlns:p14="http://schemas.microsoft.com/office/powerpoint/2010/main" val="16540014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98AEE731-E734-4D7D-86D8-C4571929F000}"/>
              </a:ext>
            </a:extLst>
          </p:cNvPr>
          <p:cNvSpPr>
            <a:spLocks noGrp="1" noRot="1" noChangeArrowheads="1"/>
          </p:cNvSpPr>
          <p:nvPr>
            <p:ph type="title"/>
          </p:nvPr>
        </p:nvSpPr>
        <p:spPr>
          <a:xfrm>
            <a:off x="971600" y="130174"/>
            <a:ext cx="6912768" cy="1027114"/>
          </a:xfrm>
        </p:spPr>
        <p:txBody>
          <a:bodyPr>
            <a:normAutofit/>
          </a:bodyPr>
          <a:lstStyle/>
          <a:p>
            <a:pPr eaLnBrk="1" hangingPunct="1"/>
            <a:r>
              <a:rPr lang="en-US" altLang="zh-CN" dirty="0">
                <a:sym typeface="Times New Roman" panose="02020603050405020304" pitchFamily="18" charset="0"/>
              </a:rPr>
              <a:t>1.2.6* </a:t>
            </a:r>
            <a:r>
              <a:rPr lang="zh-CN" altLang="en-US" dirty="0">
                <a:sym typeface="Times New Roman" panose="02020603050405020304" pitchFamily="18" charset="0"/>
              </a:rPr>
              <a:t>半导体中电子的运动</a:t>
            </a:r>
          </a:p>
        </p:txBody>
      </p:sp>
      <p:sp>
        <p:nvSpPr>
          <p:cNvPr id="55299" name="Rectangle 4">
            <a:extLst>
              <a:ext uri="{FF2B5EF4-FFF2-40B4-BE49-F238E27FC236}">
                <a16:creationId xmlns:a16="http://schemas.microsoft.com/office/drawing/2014/main" id="{326B0009-F9A8-43B0-B970-AB81D3D06C48}"/>
              </a:ext>
            </a:extLst>
          </p:cNvPr>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a:solidFill>
                <a:schemeClr val="tx1"/>
              </a:solidFill>
              <a:sym typeface="Times New Roman" panose="02020603050405020304" pitchFamily="18" charset="0"/>
            </a:endParaRPr>
          </a:p>
        </p:txBody>
      </p:sp>
      <p:graphicFrame>
        <p:nvGraphicFramePr>
          <p:cNvPr id="55300" name="Object 6">
            <a:extLst>
              <a:ext uri="{FF2B5EF4-FFF2-40B4-BE49-F238E27FC236}">
                <a16:creationId xmlns:a16="http://schemas.microsoft.com/office/drawing/2014/main" id="{8816DD05-E48A-473D-8779-517D7BE35D09}"/>
              </a:ext>
            </a:extLst>
          </p:cNvPr>
          <p:cNvGraphicFramePr>
            <a:graphicFrameLocks noChangeAspect="1"/>
          </p:cNvGraphicFramePr>
          <p:nvPr>
            <p:extLst>
              <p:ext uri="{D42A27DB-BD31-4B8C-83A1-F6EECF244321}">
                <p14:modId xmlns:p14="http://schemas.microsoft.com/office/powerpoint/2010/main" val="3615705324"/>
              </p:ext>
            </p:extLst>
          </p:nvPr>
        </p:nvGraphicFramePr>
        <p:xfrm>
          <a:off x="1722884" y="3780446"/>
          <a:ext cx="5410200" cy="849313"/>
        </p:xfrm>
        <a:graphic>
          <a:graphicData uri="http://schemas.openxmlformats.org/presentationml/2006/ole">
            <mc:AlternateContent xmlns:mc="http://schemas.openxmlformats.org/markup-compatibility/2006">
              <mc:Choice xmlns:v="urn:schemas-microsoft-com:vml" Requires="v">
                <p:oleObj spid="_x0000_s182352" name="Equation" r:id="rId3" imgW="2667000" imgH="419100" progId="Equation.DSMT4">
                  <p:embed/>
                </p:oleObj>
              </mc:Choice>
              <mc:Fallback>
                <p:oleObj name="Equation" r:id="rId3" imgW="2667000" imgH="419100" progId="Equation.DSMT4">
                  <p:embed/>
                  <p:pic>
                    <p:nvPicPr>
                      <p:cNvPr id="55300" name="Object 6">
                        <a:extLst>
                          <a:ext uri="{FF2B5EF4-FFF2-40B4-BE49-F238E27FC236}">
                            <a16:creationId xmlns:a16="http://schemas.microsoft.com/office/drawing/2014/main" id="{8816DD05-E48A-473D-8779-517D7BE35D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2884" y="3780446"/>
                        <a:ext cx="5410200"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1" name="Object 5">
            <a:extLst>
              <a:ext uri="{FF2B5EF4-FFF2-40B4-BE49-F238E27FC236}">
                <a16:creationId xmlns:a16="http://schemas.microsoft.com/office/drawing/2014/main" id="{AE490C01-8DF5-450F-82C8-5FDF4881117B}"/>
              </a:ext>
            </a:extLst>
          </p:cNvPr>
          <p:cNvGraphicFramePr>
            <a:graphicFrameLocks noChangeAspect="1"/>
          </p:cNvGraphicFramePr>
          <p:nvPr>
            <p:extLst>
              <p:ext uri="{D42A27DB-BD31-4B8C-83A1-F6EECF244321}">
                <p14:modId xmlns:p14="http://schemas.microsoft.com/office/powerpoint/2010/main" val="710917124"/>
              </p:ext>
            </p:extLst>
          </p:nvPr>
        </p:nvGraphicFramePr>
        <p:xfrm>
          <a:off x="2875409" y="5083784"/>
          <a:ext cx="2895600" cy="839787"/>
        </p:xfrm>
        <a:graphic>
          <a:graphicData uri="http://schemas.openxmlformats.org/presentationml/2006/ole">
            <mc:AlternateContent xmlns:mc="http://schemas.openxmlformats.org/markup-compatibility/2006">
              <mc:Choice xmlns:v="urn:schemas-microsoft-com:vml" Requires="v">
                <p:oleObj spid="_x0000_s182353" name="Equation" r:id="rId5" imgW="1676400" imgH="482600" progId="Equation.DSMT4">
                  <p:embed/>
                </p:oleObj>
              </mc:Choice>
              <mc:Fallback>
                <p:oleObj name="Equation" r:id="rId5" imgW="1676400" imgH="482600" progId="Equation.DSMT4">
                  <p:embed/>
                  <p:pic>
                    <p:nvPicPr>
                      <p:cNvPr id="55301" name="Object 5">
                        <a:extLst>
                          <a:ext uri="{FF2B5EF4-FFF2-40B4-BE49-F238E27FC236}">
                            <a16:creationId xmlns:a16="http://schemas.microsoft.com/office/drawing/2014/main" id="{AE490C01-8DF5-450F-82C8-5FDF488111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5409" y="5083784"/>
                        <a:ext cx="2895600"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02" name="Rectangle 7">
            <a:extLst>
              <a:ext uri="{FF2B5EF4-FFF2-40B4-BE49-F238E27FC236}">
                <a16:creationId xmlns:a16="http://schemas.microsoft.com/office/drawing/2014/main" id="{883D27AC-8BC0-4CA3-B8B4-C756A9084291}"/>
              </a:ext>
            </a:extLst>
          </p:cNvPr>
          <p:cNvSpPr>
            <a:spLocks noChangeArrowheads="1"/>
          </p:cNvSpPr>
          <p:nvPr/>
        </p:nvSpPr>
        <p:spPr bwMode="auto">
          <a:xfrm>
            <a:off x="307975" y="1733458"/>
            <a:ext cx="853440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indent="304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40000"/>
              </a:lnSpc>
              <a:spcBef>
                <a:spcPct val="0"/>
              </a:spcBef>
              <a:buClrTx/>
              <a:buFontTx/>
              <a:buNone/>
            </a:pPr>
            <a:r>
              <a:rPr lang="zh-CN" altLang="en-US" sz="2200" dirty="0">
                <a:cs typeface="Times New Roman" panose="02020603050405020304" pitchFamily="18" charset="0"/>
                <a:sym typeface="Times New Roman" panose="02020603050405020304" pitchFamily="18" charset="0"/>
              </a:rPr>
              <a:t>对实际半导体而言，一般</a:t>
            </a:r>
            <a:r>
              <a:rPr lang="en-US" altLang="zh-CN" sz="2200" i="1" dirty="0">
                <a:cs typeface="Times New Roman" panose="02020603050405020304" pitchFamily="18" charset="0"/>
                <a:sym typeface="Times New Roman" panose="02020603050405020304" pitchFamily="18" charset="0"/>
              </a:rPr>
              <a:t>E(k)</a:t>
            </a:r>
            <a:r>
              <a:rPr lang="zh-CN" altLang="en-US" sz="2200" dirty="0">
                <a:cs typeface="Times New Roman" panose="02020603050405020304" pitchFamily="18" charset="0"/>
                <a:sym typeface="Times New Roman" panose="02020603050405020304" pitchFamily="18" charset="0"/>
              </a:rPr>
              <a:t>函数非常复杂。</a:t>
            </a:r>
          </a:p>
          <a:p>
            <a:pPr eaLnBrk="1" hangingPunct="1">
              <a:lnSpc>
                <a:spcPct val="140000"/>
              </a:lnSpc>
              <a:spcBef>
                <a:spcPct val="0"/>
              </a:spcBef>
              <a:buClrTx/>
              <a:buFontTx/>
              <a:buNone/>
            </a:pPr>
            <a:r>
              <a:rPr lang="zh-CN" altLang="en-US" sz="2200" dirty="0">
                <a:cs typeface="Times New Roman" panose="02020603050405020304" pitchFamily="18" charset="0"/>
                <a:sym typeface="Times New Roman" panose="02020603050405020304" pitchFamily="18" charset="0"/>
              </a:rPr>
              <a:t>但对半导体性质起主要作用的往往是能带底或顶部的电子，通常只考虑能带极值附近的</a:t>
            </a:r>
            <a:r>
              <a:rPr lang="en-US" altLang="zh-CN" sz="2200" i="1" dirty="0">
                <a:cs typeface="Times New Roman" panose="02020603050405020304" pitchFamily="18" charset="0"/>
                <a:sym typeface="Times New Roman" panose="02020603050405020304" pitchFamily="18" charset="0"/>
              </a:rPr>
              <a:t>E(k)</a:t>
            </a:r>
            <a:r>
              <a:rPr lang="zh-CN" altLang="en-US" sz="2200" dirty="0">
                <a:cs typeface="Times New Roman" panose="02020603050405020304" pitchFamily="18" charset="0"/>
                <a:sym typeface="Times New Roman" panose="02020603050405020304" pitchFamily="18" charset="0"/>
              </a:rPr>
              <a:t>关系。</a:t>
            </a:r>
            <a:endParaRPr lang="zh-CN" altLang="en-US" sz="2200" dirty="0">
              <a:sym typeface="Times New Roman" panose="02020603050405020304" pitchFamily="18" charset="0"/>
            </a:endParaRPr>
          </a:p>
          <a:p>
            <a:pPr>
              <a:lnSpc>
                <a:spcPct val="140000"/>
              </a:lnSpc>
              <a:spcBef>
                <a:spcPct val="0"/>
              </a:spcBef>
              <a:buClrTx/>
              <a:buFontTx/>
              <a:buNone/>
            </a:pPr>
            <a:r>
              <a:rPr lang="zh-CN" altLang="en-US" sz="2200" dirty="0">
                <a:cs typeface="Times New Roman" panose="02020603050405020304" pitchFamily="18" charset="0"/>
                <a:sym typeface="Times New Roman" panose="02020603050405020304" pitchFamily="18" charset="0"/>
              </a:rPr>
              <a:t>在能带底部极值（</a:t>
            </a:r>
            <a:r>
              <a:rPr lang="en-US" altLang="zh-CN" sz="2200" i="1" dirty="0">
                <a:cs typeface="Times New Roman" panose="02020603050405020304" pitchFamily="18" charset="0"/>
                <a:sym typeface="Times New Roman" panose="02020603050405020304" pitchFamily="18" charset="0"/>
              </a:rPr>
              <a:t>k</a:t>
            </a:r>
            <a:r>
              <a:rPr lang="en-US" altLang="zh-CN" sz="2200" dirty="0">
                <a:cs typeface="Times New Roman" panose="02020603050405020304" pitchFamily="18" charset="0"/>
                <a:sym typeface="Times New Roman" panose="02020603050405020304" pitchFamily="18" charset="0"/>
              </a:rPr>
              <a:t>=0</a:t>
            </a:r>
            <a:r>
              <a:rPr lang="zh-CN" altLang="en-US" sz="2200" dirty="0">
                <a:cs typeface="Times New Roman" panose="02020603050405020304" pitchFamily="18" charset="0"/>
                <a:sym typeface="Times New Roman" panose="02020603050405020304" pitchFamily="18" charset="0"/>
              </a:rPr>
              <a:t>）附近进行对</a:t>
            </a:r>
            <a:r>
              <a:rPr lang="en-US" altLang="zh-CN" sz="2200" i="1" dirty="0">
                <a:cs typeface="Times New Roman" panose="02020603050405020304" pitchFamily="18" charset="0"/>
                <a:sym typeface="Times New Roman" panose="02020603050405020304" pitchFamily="18" charset="0"/>
              </a:rPr>
              <a:t>E(k)</a:t>
            </a:r>
            <a:r>
              <a:rPr lang="zh-CN" altLang="en-US" sz="2200" dirty="0">
                <a:cs typeface="Times New Roman" panose="02020603050405020304" pitchFamily="18" charset="0"/>
                <a:sym typeface="Times New Roman" panose="02020603050405020304" pitchFamily="18" charset="0"/>
              </a:rPr>
              <a:t>进行泰勒级数展开：</a:t>
            </a:r>
          </a:p>
        </p:txBody>
      </p:sp>
      <p:sp>
        <p:nvSpPr>
          <p:cNvPr id="55303" name="Rectangle 8">
            <a:extLst>
              <a:ext uri="{FF2B5EF4-FFF2-40B4-BE49-F238E27FC236}">
                <a16:creationId xmlns:a16="http://schemas.microsoft.com/office/drawing/2014/main" id="{D92E74B5-E033-40EB-8184-62B3F5E18927}"/>
              </a:ext>
            </a:extLst>
          </p:cNvPr>
          <p:cNvSpPr>
            <a:spLocks noChangeArrowheads="1"/>
          </p:cNvSpPr>
          <p:nvPr/>
        </p:nvSpPr>
        <p:spPr bwMode="auto">
          <a:xfrm>
            <a:off x="1287909" y="4629759"/>
            <a:ext cx="6145212"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indent="2667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200" i="1">
                <a:cs typeface="Times New Roman" panose="02020603050405020304" pitchFamily="18" charset="0"/>
                <a:sym typeface="Times New Roman" panose="02020603050405020304" pitchFamily="18" charset="0"/>
              </a:rPr>
              <a:t>k</a:t>
            </a:r>
            <a:r>
              <a:rPr lang="en-US" altLang="zh-CN" sz="2200">
                <a:cs typeface="Times New Roman" panose="02020603050405020304" pitchFamily="18" charset="0"/>
                <a:sym typeface="Times New Roman" panose="02020603050405020304" pitchFamily="18" charset="0"/>
              </a:rPr>
              <a:t>=0</a:t>
            </a:r>
            <a:r>
              <a:rPr lang="zh-CN" altLang="en-US" sz="2200">
                <a:cs typeface="Times New Roman" panose="02020603050405020304" pitchFamily="18" charset="0"/>
                <a:sym typeface="Times New Roman" panose="02020603050405020304" pitchFamily="18" charset="0"/>
              </a:rPr>
              <a:t>时能量变化很小，一阶导数近似为</a:t>
            </a:r>
            <a:r>
              <a:rPr lang="en-US" altLang="zh-CN" sz="2200">
                <a:cs typeface="Times New Roman" panose="02020603050405020304" pitchFamily="18" charset="0"/>
                <a:sym typeface="Times New Roman" panose="02020603050405020304" pitchFamily="18" charset="0"/>
              </a:rPr>
              <a:t>0</a:t>
            </a:r>
            <a:r>
              <a:rPr lang="zh-CN" altLang="en-US" sz="2200">
                <a:cs typeface="Times New Roman" panose="02020603050405020304" pitchFamily="18" charset="0"/>
                <a:sym typeface="Times New Roman" panose="02020603050405020304" pitchFamily="18" charset="0"/>
              </a:rPr>
              <a:t>，因此</a:t>
            </a:r>
            <a:endParaRPr lang="zh-CN" altLang="en-US" sz="2200">
              <a:sym typeface="Times New Roman" panose="02020603050405020304" pitchFamily="18" charset="0"/>
            </a:endParaRPr>
          </a:p>
          <a:p>
            <a:pPr>
              <a:spcBef>
                <a:spcPct val="0"/>
              </a:spcBef>
              <a:buClrTx/>
              <a:buFontTx/>
              <a:buNone/>
            </a:pPr>
            <a:endParaRPr lang="en-US" altLang="zh-CN" sz="2200">
              <a:sym typeface="Times New Roman" panose="02020603050405020304" pitchFamily="18" charset="0"/>
            </a:endParaRPr>
          </a:p>
        </p:txBody>
      </p:sp>
      <p:sp>
        <p:nvSpPr>
          <p:cNvPr id="55304" name="AutoShape 7">
            <a:extLst>
              <a:ext uri="{FF2B5EF4-FFF2-40B4-BE49-F238E27FC236}">
                <a16:creationId xmlns:a16="http://schemas.microsoft.com/office/drawing/2014/main" id="{0A98AFA5-E46F-45A7-AE03-03BB15F69F45}"/>
              </a:ext>
            </a:extLst>
          </p:cNvPr>
          <p:cNvSpPr>
            <a:spLocks noChangeArrowheads="1"/>
          </p:cNvSpPr>
          <p:nvPr/>
        </p:nvSpPr>
        <p:spPr bwMode="auto">
          <a:xfrm>
            <a:off x="2586484" y="5923571"/>
            <a:ext cx="1460500" cy="342900"/>
          </a:xfrm>
          <a:prstGeom prst="wedgeRoundRectCallout">
            <a:avLst>
              <a:gd name="adj1" fmla="val 45921"/>
              <a:gd name="adj2" fmla="val -105537"/>
              <a:gd name="adj3" fmla="val 16667"/>
            </a:avLst>
          </a:prstGeom>
          <a:noFill/>
          <a:ln w="9525">
            <a:solidFill>
              <a:schemeClr val="tx1"/>
            </a:solidFill>
            <a:miter lim="800000"/>
            <a:headEnd/>
            <a:tailEnd/>
          </a:ln>
          <a:effectLst/>
        </p:spPr>
        <p:txBody>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sz="1800" dirty="0">
                <a:solidFill>
                  <a:schemeClr val="tx1"/>
                </a:solidFill>
                <a:sym typeface="Times New Roman" panose="02020603050405020304" pitchFamily="18" charset="0"/>
              </a:rPr>
              <a:t>导带底能量</a:t>
            </a:r>
          </a:p>
        </p:txBody>
      </p:sp>
      <p:sp>
        <p:nvSpPr>
          <p:cNvPr id="55305" name="Rectangle 2">
            <a:extLst>
              <a:ext uri="{FF2B5EF4-FFF2-40B4-BE49-F238E27FC236}">
                <a16:creationId xmlns:a16="http://schemas.microsoft.com/office/drawing/2014/main" id="{0D7A9ADE-B7C9-4B0B-9CE2-AD3B7EF837E0}"/>
              </a:ext>
            </a:extLst>
          </p:cNvPr>
          <p:cNvSpPr txBox="1">
            <a:spLocks noRot="1" noChangeArrowheads="1"/>
          </p:cNvSpPr>
          <p:nvPr/>
        </p:nvSpPr>
        <p:spPr bwMode="auto">
          <a:xfrm>
            <a:off x="301625" y="80721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a:spcBef>
                <a:spcPct val="0"/>
              </a:spcBef>
              <a:buClrTx/>
              <a:buFontTx/>
              <a:buNone/>
            </a:pPr>
            <a:r>
              <a:rPr lang="en-US" altLang="zh-CN" sz="2800" dirty="0">
                <a:solidFill>
                  <a:schemeClr val="tx1"/>
                </a:solidFill>
                <a:sym typeface="Times New Roman" panose="02020603050405020304" pitchFamily="18" charset="0"/>
              </a:rPr>
              <a:t>1.</a:t>
            </a:r>
            <a:r>
              <a:rPr lang="zh-CN" altLang="en-US" sz="2800" dirty="0">
                <a:solidFill>
                  <a:schemeClr val="tx1"/>
                </a:solidFill>
                <a:sym typeface="Times New Roman" panose="02020603050405020304" pitchFamily="18" charset="0"/>
              </a:rPr>
              <a:t>有效质量</a:t>
            </a:r>
          </a:p>
        </p:txBody>
      </p:sp>
    </p:spTree>
    <p:extLst>
      <p:ext uri="{BB962C8B-B14F-4D97-AF65-F5344CB8AC3E}">
        <p14:creationId xmlns:p14="http://schemas.microsoft.com/office/powerpoint/2010/main" val="1358573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322" name="Object 8">
            <a:extLst>
              <a:ext uri="{FF2B5EF4-FFF2-40B4-BE49-F238E27FC236}">
                <a16:creationId xmlns:a16="http://schemas.microsoft.com/office/drawing/2014/main" id="{07944A2C-2AE5-41FD-B579-23374CA2C03C}"/>
              </a:ext>
            </a:extLst>
          </p:cNvPr>
          <p:cNvGraphicFramePr>
            <a:graphicFrameLocks noChangeAspect="1"/>
          </p:cNvGraphicFramePr>
          <p:nvPr/>
        </p:nvGraphicFramePr>
        <p:xfrm>
          <a:off x="2895600" y="547688"/>
          <a:ext cx="990600" cy="754062"/>
        </p:xfrm>
        <a:graphic>
          <a:graphicData uri="http://schemas.openxmlformats.org/presentationml/2006/ole">
            <mc:AlternateContent xmlns:mc="http://schemas.openxmlformats.org/markup-compatibility/2006">
              <mc:Choice xmlns:v="urn:schemas-microsoft-com:vml" Requires="v">
                <p:oleObj spid="_x0000_s183493" name="Equation" r:id="rId4" imgW="634725" imgH="482391" progId="Equation.DSMT4">
                  <p:embed/>
                </p:oleObj>
              </mc:Choice>
              <mc:Fallback>
                <p:oleObj name="Equation" r:id="rId4" imgW="634725" imgH="482391" progId="Equation.DSMT4">
                  <p:embed/>
                  <p:pic>
                    <p:nvPicPr>
                      <p:cNvPr id="56322" name="Object 8">
                        <a:extLst>
                          <a:ext uri="{FF2B5EF4-FFF2-40B4-BE49-F238E27FC236}">
                            <a16:creationId xmlns:a16="http://schemas.microsoft.com/office/drawing/2014/main" id="{07944A2C-2AE5-41FD-B579-23374CA2C0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547688"/>
                        <a:ext cx="990600"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3" name="Object 7">
            <a:extLst>
              <a:ext uri="{FF2B5EF4-FFF2-40B4-BE49-F238E27FC236}">
                <a16:creationId xmlns:a16="http://schemas.microsoft.com/office/drawing/2014/main" id="{387836AF-F994-44AC-AD21-43C34DFE9871}"/>
              </a:ext>
            </a:extLst>
          </p:cNvPr>
          <p:cNvGraphicFramePr>
            <a:graphicFrameLocks noChangeAspect="1"/>
          </p:cNvGraphicFramePr>
          <p:nvPr/>
        </p:nvGraphicFramePr>
        <p:xfrm>
          <a:off x="6324600" y="533400"/>
          <a:ext cx="1524000" cy="747713"/>
        </p:xfrm>
        <a:graphic>
          <a:graphicData uri="http://schemas.openxmlformats.org/presentationml/2006/ole">
            <mc:AlternateContent xmlns:mc="http://schemas.openxmlformats.org/markup-compatibility/2006">
              <mc:Choice xmlns:v="urn:schemas-microsoft-com:vml" Requires="v">
                <p:oleObj spid="_x0000_s183494" name="Equation" r:id="rId6" imgW="990170" imgH="482391" progId="Equation.DSMT4">
                  <p:embed/>
                </p:oleObj>
              </mc:Choice>
              <mc:Fallback>
                <p:oleObj name="Equation" r:id="rId6" imgW="990170" imgH="482391" progId="Equation.DSMT4">
                  <p:embed/>
                  <p:pic>
                    <p:nvPicPr>
                      <p:cNvPr id="56323" name="Object 7">
                        <a:extLst>
                          <a:ext uri="{FF2B5EF4-FFF2-40B4-BE49-F238E27FC236}">
                            <a16:creationId xmlns:a16="http://schemas.microsoft.com/office/drawing/2014/main" id="{387836AF-F994-44AC-AD21-43C34DFE987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600" y="533400"/>
                        <a:ext cx="1524000"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4" name="Object 6">
            <a:extLst>
              <a:ext uri="{FF2B5EF4-FFF2-40B4-BE49-F238E27FC236}">
                <a16:creationId xmlns:a16="http://schemas.microsoft.com/office/drawing/2014/main" id="{2E9E3444-86ED-4AAA-BAB4-DA1F8FBFD1B3}"/>
              </a:ext>
            </a:extLst>
          </p:cNvPr>
          <p:cNvGraphicFramePr>
            <a:graphicFrameLocks noChangeAspect="1"/>
          </p:cNvGraphicFramePr>
          <p:nvPr/>
        </p:nvGraphicFramePr>
        <p:xfrm>
          <a:off x="762000" y="1524000"/>
          <a:ext cx="3657600" cy="830263"/>
        </p:xfrm>
        <a:graphic>
          <a:graphicData uri="http://schemas.openxmlformats.org/presentationml/2006/ole">
            <mc:AlternateContent xmlns:mc="http://schemas.openxmlformats.org/markup-compatibility/2006">
              <mc:Choice xmlns:v="urn:schemas-microsoft-com:vml" Requires="v">
                <p:oleObj spid="_x0000_s183495" name="Equation" r:id="rId8" imgW="2146300" imgH="482600" progId="Equation.DSMT4">
                  <p:embed/>
                </p:oleObj>
              </mc:Choice>
              <mc:Fallback>
                <p:oleObj name="Equation" r:id="rId8" imgW="2146300" imgH="482600" progId="Equation.DSMT4">
                  <p:embed/>
                  <p:pic>
                    <p:nvPicPr>
                      <p:cNvPr id="56324" name="Object 6">
                        <a:extLst>
                          <a:ext uri="{FF2B5EF4-FFF2-40B4-BE49-F238E27FC236}">
                            <a16:creationId xmlns:a16="http://schemas.microsoft.com/office/drawing/2014/main" id="{2E9E3444-86ED-4AAA-BAB4-DA1F8FBFD1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2000" y="1524000"/>
                        <a:ext cx="3657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5" name="Object 5">
            <a:extLst>
              <a:ext uri="{FF2B5EF4-FFF2-40B4-BE49-F238E27FC236}">
                <a16:creationId xmlns:a16="http://schemas.microsoft.com/office/drawing/2014/main" id="{63ADD126-6639-4936-97E2-2AF9B4E2D388}"/>
              </a:ext>
            </a:extLst>
          </p:cNvPr>
          <p:cNvGraphicFramePr>
            <a:graphicFrameLocks noChangeAspect="1"/>
          </p:cNvGraphicFramePr>
          <p:nvPr/>
        </p:nvGraphicFramePr>
        <p:xfrm>
          <a:off x="5638800" y="1524000"/>
          <a:ext cx="1219200" cy="1031875"/>
        </p:xfrm>
        <a:graphic>
          <a:graphicData uri="http://schemas.openxmlformats.org/presentationml/2006/ole">
            <mc:AlternateContent xmlns:mc="http://schemas.openxmlformats.org/markup-compatibility/2006">
              <mc:Choice xmlns:v="urn:schemas-microsoft-com:vml" Requires="v">
                <p:oleObj spid="_x0000_s183496" name="Equation" r:id="rId10" imgW="812800" imgH="685800" progId="Equation.DSMT4">
                  <p:embed/>
                </p:oleObj>
              </mc:Choice>
              <mc:Fallback>
                <p:oleObj name="Equation" r:id="rId10" imgW="812800" imgH="685800" progId="Equation.DSMT4">
                  <p:embed/>
                  <p:pic>
                    <p:nvPicPr>
                      <p:cNvPr id="56325" name="Object 5">
                        <a:extLst>
                          <a:ext uri="{FF2B5EF4-FFF2-40B4-BE49-F238E27FC236}">
                            <a16:creationId xmlns:a16="http://schemas.microsoft.com/office/drawing/2014/main" id="{63ADD126-6639-4936-97E2-2AF9B4E2D38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38800" y="1524000"/>
                        <a:ext cx="1219200" cy="10318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6" name="Object 4">
            <a:extLst>
              <a:ext uri="{FF2B5EF4-FFF2-40B4-BE49-F238E27FC236}">
                <a16:creationId xmlns:a16="http://schemas.microsoft.com/office/drawing/2014/main" id="{10B32840-1BE1-43AE-9F0F-09998679C8F4}"/>
              </a:ext>
            </a:extLst>
          </p:cNvPr>
          <p:cNvGraphicFramePr>
            <a:graphicFrameLocks noChangeAspect="1"/>
          </p:cNvGraphicFramePr>
          <p:nvPr/>
        </p:nvGraphicFramePr>
        <p:xfrm>
          <a:off x="3733800" y="2667000"/>
          <a:ext cx="2514600" cy="1076325"/>
        </p:xfrm>
        <a:graphic>
          <a:graphicData uri="http://schemas.openxmlformats.org/presentationml/2006/ole">
            <mc:AlternateContent xmlns:mc="http://schemas.openxmlformats.org/markup-compatibility/2006">
              <mc:Choice xmlns:v="urn:schemas-microsoft-com:vml" Requires="v">
                <p:oleObj spid="_x0000_s183497" name="Equation" r:id="rId12" imgW="1600200" imgH="685800" progId="Equation.DSMT4">
                  <p:embed/>
                </p:oleObj>
              </mc:Choice>
              <mc:Fallback>
                <p:oleObj name="Equation" r:id="rId12" imgW="1600200" imgH="685800" progId="Equation.DSMT4">
                  <p:embed/>
                  <p:pic>
                    <p:nvPicPr>
                      <p:cNvPr id="56326" name="Object 4">
                        <a:extLst>
                          <a:ext uri="{FF2B5EF4-FFF2-40B4-BE49-F238E27FC236}">
                            <a16:creationId xmlns:a16="http://schemas.microsoft.com/office/drawing/2014/main" id="{10B32840-1BE1-43AE-9F0F-09998679C8F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33800" y="2667000"/>
                        <a:ext cx="25146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7" name="Rectangle 11">
            <a:extLst>
              <a:ext uri="{FF2B5EF4-FFF2-40B4-BE49-F238E27FC236}">
                <a16:creationId xmlns:a16="http://schemas.microsoft.com/office/drawing/2014/main" id="{FF521297-FAAC-4A80-A58A-A24C2F2955D3}"/>
              </a:ext>
            </a:extLst>
          </p:cNvPr>
          <p:cNvSpPr>
            <a:spLocks noChangeArrowheads="1"/>
          </p:cNvSpPr>
          <p:nvPr/>
        </p:nvSpPr>
        <p:spPr bwMode="auto">
          <a:xfrm>
            <a:off x="228600" y="700088"/>
            <a:ext cx="3048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indent="304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a:cs typeface="Times New Roman" panose="02020603050405020304" pitchFamily="18" charset="0"/>
                <a:sym typeface="Times New Roman" panose="02020603050405020304" pitchFamily="18" charset="0"/>
              </a:rPr>
              <a:t>对于给定的半导体，</a:t>
            </a:r>
            <a:endParaRPr lang="zh-CN" altLang="en-US">
              <a:sym typeface="Times New Roman" panose="02020603050405020304" pitchFamily="18" charset="0"/>
            </a:endParaRPr>
          </a:p>
        </p:txBody>
      </p:sp>
      <p:sp>
        <p:nvSpPr>
          <p:cNvPr id="56328" name="Rectangle 12">
            <a:extLst>
              <a:ext uri="{FF2B5EF4-FFF2-40B4-BE49-F238E27FC236}">
                <a16:creationId xmlns:a16="http://schemas.microsoft.com/office/drawing/2014/main" id="{182445CF-AABD-40A0-A243-632BBE785AF3}"/>
              </a:ext>
            </a:extLst>
          </p:cNvPr>
          <p:cNvSpPr>
            <a:spLocks noChangeArrowheads="1"/>
          </p:cNvSpPr>
          <p:nvPr/>
        </p:nvSpPr>
        <p:spPr bwMode="auto">
          <a:xfrm>
            <a:off x="3733800" y="685800"/>
            <a:ext cx="2533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indent="2667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a:cs typeface="Times New Roman" panose="02020603050405020304" pitchFamily="18" charset="0"/>
                <a:sym typeface="Times New Roman" panose="02020603050405020304" pitchFamily="18" charset="0"/>
              </a:rPr>
              <a:t>是一个定值，假设</a:t>
            </a:r>
            <a:endParaRPr lang="zh-CN" altLang="en-US">
              <a:sym typeface="Times New Roman" panose="02020603050405020304" pitchFamily="18" charset="0"/>
            </a:endParaRPr>
          </a:p>
        </p:txBody>
      </p:sp>
      <p:sp>
        <p:nvSpPr>
          <p:cNvPr id="56329" name="Rectangle 15">
            <a:extLst>
              <a:ext uri="{FF2B5EF4-FFF2-40B4-BE49-F238E27FC236}">
                <a16:creationId xmlns:a16="http://schemas.microsoft.com/office/drawing/2014/main" id="{62B57B8F-8EF4-457E-BC20-3890FD221D23}"/>
              </a:ext>
            </a:extLst>
          </p:cNvPr>
          <p:cNvSpPr>
            <a:spLocks noChangeArrowheads="1"/>
          </p:cNvSpPr>
          <p:nvPr/>
        </p:nvSpPr>
        <p:spPr bwMode="auto">
          <a:xfrm>
            <a:off x="609600" y="3886200"/>
            <a:ext cx="54133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indent="304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i="1">
                <a:cs typeface="Times New Roman" panose="02020603050405020304" pitchFamily="18" charset="0"/>
                <a:sym typeface="Times New Roman" panose="02020603050405020304" pitchFamily="18" charset="0"/>
              </a:rPr>
              <a:t>m*</a:t>
            </a:r>
            <a:r>
              <a:rPr lang="zh-CN" altLang="en-US">
                <a:cs typeface="Times New Roman" panose="02020603050405020304" pitchFamily="18" charset="0"/>
                <a:sym typeface="Times New Roman" panose="02020603050405020304" pitchFamily="18" charset="0"/>
              </a:rPr>
              <a:t>起着相当于质量的作用，称为</a:t>
            </a:r>
            <a:r>
              <a:rPr lang="zh-CN" altLang="en-US">
                <a:solidFill>
                  <a:srgbClr val="FF3300"/>
                </a:solidFill>
                <a:cs typeface="Times New Roman" panose="02020603050405020304" pitchFamily="18" charset="0"/>
                <a:sym typeface="Times New Roman" panose="02020603050405020304" pitchFamily="18" charset="0"/>
              </a:rPr>
              <a:t>有效质量</a:t>
            </a:r>
            <a:r>
              <a:rPr lang="zh-CN" altLang="en-US">
                <a:cs typeface="Times New Roman" panose="02020603050405020304" pitchFamily="18" charset="0"/>
                <a:sym typeface="Times New Roman" panose="02020603050405020304" pitchFamily="18" charset="0"/>
              </a:rPr>
              <a:t>。</a:t>
            </a:r>
            <a:endParaRPr lang="zh-CN" altLang="en-US">
              <a:sym typeface="Times New Roman" panose="02020603050405020304" pitchFamily="18" charset="0"/>
            </a:endParaRPr>
          </a:p>
          <a:p>
            <a:pPr>
              <a:spcBef>
                <a:spcPct val="0"/>
              </a:spcBef>
              <a:buClrTx/>
              <a:buFontTx/>
              <a:buNone/>
            </a:pPr>
            <a:endParaRPr lang="en-US" altLang="zh-CN">
              <a:sym typeface="Times New Roman" panose="02020603050405020304" pitchFamily="18" charset="0"/>
            </a:endParaRPr>
          </a:p>
        </p:txBody>
      </p:sp>
      <p:sp>
        <p:nvSpPr>
          <p:cNvPr id="56330" name="Rectangle 16">
            <a:extLst>
              <a:ext uri="{FF2B5EF4-FFF2-40B4-BE49-F238E27FC236}">
                <a16:creationId xmlns:a16="http://schemas.microsoft.com/office/drawing/2014/main" id="{11B02FF6-D5CB-4527-8794-251018B17987}"/>
              </a:ext>
            </a:extLst>
          </p:cNvPr>
          <p:cNvSpPr>
            <a:spLocks noChangeArrowheads="1"/>
          </p:cNvSpPr>
          <p:nvPr/>
        </p:nvSpPr>
        <p:spPr bwMode="auto">
          <a:xfrm>
            <a:off x="0" y="5680075"/>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zh-CN" sz="1800" b="0">
              <a:solidFill>
                <a:schemeClr val="tx1"/>
              </a:solidFill>
              <a:sym typeface="Times New Roman" panose="02020603050405020304" pitchFamily="18" charset="0"/>
            </a:endParaRPr>
          </a:p>
        </p:txBody>
      </p:sp>
      <p:sp>
        <p:nvSpPr>
          <p:cNvPr id="56331" name="Rectangle 17">
            <a:extLst>
              <a:ext uri="{FF2B5EF4-FFF2-40B4-BE49-F238E27FC236}">
                <a16:creationId xmlns:a16="http://schemas.microsoft.com/office/drawing/2014/main" id="{A9F4A493-C2C5-48F3-B21F-A64A868BEDF2}"/>
              </a:ext>
            </a:extLst>
          </p:cNvPr>
          <p:cNvSpPr>
            <a:spLocks noChangeArrowheads="1"/>
          </p:cNvSpPr>
          <p:nvPr/>
        </p:nvSpPr>
        <p:spPr bwMode="auto">
          <a:xfrm>
            <a:off x="685800" y="2819400"/>
            <a:ext cx="3276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a:cs typeface="Times New Roman" panose="02020603050405020304" pitchFamily="18" charset="0"/>
                <a:sym typeface="Times New Roman" panose="02020603050405020304" pitchFamily="18" charset="0"/>
              </a:rPr>
              <a:t>与自由电子能量类似</a:t>
            </a:r>
          </a:p>
        </p:txBody>
      </p:sp>
      <p:sp>
        <p:nvSpPr>
          <p:cNvPr id="56332" name="AutoShape 18">
            <a:extLst>
              <a:ext uri="{FF2B5EF4-FFF2-40B4-BE49-F238E27FC236}">
                <a16:creationId xmlns:a16="http://schemas.microsoft.com/office/drawing/2014/main" id="{BADF6691-6FA1-4301-AED7-6CDB0F427EFF}"/>
              </a:ext>
            </a:extLst>
          </p:cNvPr>
          <p:cNvSpPr>
            <a:spLocks noChangeArrowheads="1"/>
          </p:cNvSpPr>
          <p:nvPr/>
        </p:nvSpPr>
        <p:spPr bwMode="auto">
          <a:xfrm>
            <a:off x="4876800" y="1752600"/>
            <a:ext cx="457200" cy="304800"/>
          </a:xfrm>
          <a:prstGeom prst="rightArrow">
            <a:avLst>
              <a:gd name="adj1" fmla="val 64583"/>
              <a:gd name="adj2" fmla="val 55208"/>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endParaRPr lang="zh-CN" altLang="en-US">
              <a:solidFill>
                <a:schemeClr val="tx1"/>
              </a:solidFill>
              <a:sym typeface="Times New Roman" panose="02020603050405020304" pitchFamily="18" charset="0"/>
            </a:endParaRPr>
          </a:p>
        </p:txBody>
      </p:sp>
      <p:sp>
        <p:nvSpPr>
          <p:cNvPr id="56333" name="Rectangle 19">
            <a:extLst>
              <a:ext uri="{FF2B5EF4-FFF2-40B4-BE49-F238E27FC236}">
                <a16:creationId xmlns:a16="http://schemas.microsoft.com/office/drawing/2014/main" id="{95BE2082-CED9-42E4-8D16-64B787155E2A}"/>
              </a:ext>
            </a:extLst>
          </p:cNvPr>
          <p:cNvSpPr>
            <a:spLocks noChangeArrowheads="1"/>
          </p:cNvSpPr>
          <p:nvPr/>
        </p:nvSpPr>
        <p:spPr bwMode="auto">
          <a:xfrm>
            <a:off x="342900" y="4464050"/>
            <a:ext cx="8153400" cy="190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271463" indent="-271463">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 typeface="Wingdings" panose="05000000000000000000" pitchFamily="2" charset="2"/>
              <a:buChar char="Ø"/>
            </a:pPr>
            <a:r>
              <a:rPr lang="zh-CN" altLang="en-US">
                <a:sym typeface="Times New Roman" panose="02020603050405020304" pitchFamily="18" charset="0"/>
              </a:rPr>
              <a:t>自由电子静质量</a:t>
            </a:r>
            <a:r>
              <a:rPr lang="en-US" altLang="zh-CN" i="1">
                <a:sym typeface="Times New Roman" panose="02020603050405020304" pitchFamily="18" charset="0"/>
              </a:rPr>
              <a:t>m</a:t>
            </a:r>
            <a:r>
              <a:rPr lang="en-US" altLang="zh-CN" i="1" baseline="-25000">
                <a:sym typeface="Times New Roman" panose="02020603050405020304" pitchFamily="18" charset="0"/>
              </a:rPr>
              <a:t>0</a:t>
            </a:r>
            <a:r>
              <a:rPr lang="zh-CN" altLang="en-US">
                <a:sym typeface="Times New Roman" panose="02020603050405020304" pitchFamily="18" charset="0"/>
              </a:rPr>
              <a:t>为常数，而</a:t>
            </a:r>
            <a:r>
              <a:rPr lang="zh-CN" altLang="en-US">
                <a:solidFill>
                  <a:srgbClr val="FF3300"/>
                </a:solidFill>
                <a:sym typeface="Times New Roman" panose="02020603050405020304" pitchFamily="18" charset="0"/>
              </a:rPr>
              <a:t>有效质量</a:t>
            </a:r>
            <a:r>
              <a:rPr lang="en-US" altLang="zh-CN" i="1">
                <a:solidFill>
                  <a:srgbClr val="FF3300"/>
                </a:solidFill>
                <a:sym typeface="Times New Roman" panose="02020603050405020304" pitchFamily="18" charset="0"/>
              </a:rPr>
              <a:t>m*</a:t>
            </a:r>
            <a:r>
              <a:rPr lang="zh-CN" altLang="en-US">
                <a:solidFill>
                  <a:srgbClr val="FF3300"/>
                </a:solidFill>
                <a:sym typeface="Times New Roman" panose="02020603050405020304" pitchFamily="18" charset="0"/>
              </a:rPr>
              <a:t>和</a:t>
            </a:r>
            <a:r>
              <a:rPr lang="en-US" altLang="zh-CN" i="1">
                <a:solidFill>
                  <a:srgbClr val="FF3300"/>
                </a:solidFill>
                <a:sym typeface="Times New Roman" panose="02020603050405020304" pitchFamily="18" charset="0"/>
              </a:rPr>
              <a:t>E(k)</a:t>
            </a:r>
            <a:r>
              <a:rPr lang="zh-CN" altLang="en-US">
                <a:solidFill>
                  <a:srgbClr val="FF3300"/>
                </a:solidFill>
                <a:sym typeface="Times New Roman" panose="02020603050405020304" pitchFamily="18" charset="0"/>
              </a:rPr>
              <a:t>关系有关</a:t>
            </a:r>
            <a:r>
              <a:rPr lang="zh-CN" altLang="en-US">
                <a:sym typeface="Times New Roman" panose="02020603050405020304" pitchFamily="18" charset="0"/>
              </a:rPr>
              <a:t>。</a:t>
            </a:r>
          </a:p>
          <a:p>
            <a:pPr eaLnBrk="1" hangingPunct="1">
              <a:lnSpc>
                <a:spcPct val="120000"/>
              </a:lnSpc>
              <a:spcBef>
                <a:spcPct val="0"/>
              </a:spcBef>
              <a:buClrTx/>
              <a:buFont typeface="Wingdings" panose="05000000000000000000" pitchFamily="2" charset="2"/>
              <a:buChar char="Ø"/>
            </a:pPr>
            <a:r>
              <a:rPr lang="zh-CN" altLang="en-US">
                <a:sym typeface="Times New Roman" panose="02020603050405020304" pitchFamily="18" charset="0"/>
              </a:rPr>
              <a:t>只有在能带图上的特定位置， </a:t>
            </a:r>
            <a:r>
              <a:rPr lang="en-US" altLang="zh-CN" sz="1800" i="1">
                <a:sym typeface="Times New Roman" panose="02020603050405020304" pitchFamily="18" charset="0"/>
              </a:rPr>
              <a:t>m*</a:t>
            </a:r>
            <a:r>
              <a:rPr lang="zh-CN" altLang="en-US">
                <a:sym typeface="Times New Roman" panose="02020603050405020304" pitchFamily="18" charset="0"/>
              </a:rPr>
              <a:t>值才能作为常数（回旋共振测出）</a:t>
            </a:r>
            <a:endParaRPr lang="en-US" altLang="zh-CN">
              <a:sym typeface="Times New Roman" panose="02020603050405020304" pitchFamily="18" charset="0"/>
            </a:endParaRPr>
          </a:p>
          <a:p>
            <a:pPr>
              <a:lnSpc>
                <a:spcPct val="120000"/>
              </a:lnSpc>
              <a:spcBef>
                <a:spcPct val="0"/>
              </a:spcBef>
              <a:buClrTx/>
              <a:buFont typeface="Wingdings" panose="05000000000000000000" pitchFamily="2" charset="2"/>
              <a:buChar char="Ø"/>
            </a:pPr>
            <a:r>
              <a:rPr lang="zh-CN" altLang="en-US">
                <a:sym typeface="Times New Roman" panose="02020603050405020304" pitchFamily="18" charset="0"/>
              </a:rPr>
              <a:t>若能带顶也位于</a:t>
            </a:r>
            <a:r>
              <a:rPr lang="en-US" altLang="zh-CN">
                <a:sym typeface="Times New Roman" panose="02020603050405020304" pitchFamily="18" charset="0"/>
              </a:rPr>
              <a:t>k=0</a:t>
            </a:r>
            <a:r>
              <a:rPr lang="zh-CN" altLang="en-US">
                <a:sym typeface="Times New Roman" panose="02020603050405020304" pitchFamily="18" charset="0"/>
              </a:rPr>
              <a:t>处，则按照与上述相同的方法可得能带顶电子有效质量（负值）。</a:t>
            </a:r>
          </a:p>
          <a:p>
            <a:pPr eaLnBrk="1" hangingPunct="1">
              <a:lnSpc>
                <a:spcPct val="120000"/>
              </a:lnSpc>
              <a:spcBef>
                <a:spcPct val="0"/>
              </a:spcBef>
              <a:buClrTx/>
              <a:buFont typeface="Wingdings" panose="05000000000000000000" pitchFamily="2" charset="2"/>
              <a:buChar char="Ø"/>
            </a:pPr>
            <a:endParaRPr lang="zh-CN" altLang="en-US">
              <a:sym typeface="Times New Roman" panose="02020603050405020304" pitchFamily="18" charset="0"/>
            </a:endParaRPr>
          </a:p>
        </p:txBody>
      </p:sp>
    </p:spTree>
    <p:extLst>
      <p:ext uri="{BB962C8B-B14F-4D97-AF65-F5344CB8AC3E}">
        <p14:creationId xmlns:p14="http://schemas.microsoft.com/office/powerpoint/2010/main" val="22143193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051221D5-77F4-4CB4-9D2A-D6E3002B0864}"/>
              </a:ext>
            </a:extLst>
          </p:cNvPr>
          <p:cNvSpPr>
            <a:spLocks noGrp="1" noRot="1" noChangeArrowheads="1"/>
          </p:cNvSpPr>
          <p:nvPr>
            <p:ph type="title"/>
          </p:nvPr>
        </p:nvSpPr>
        <p:spPr>
          <a:xfrm>
            <a:off x="323850" y="339725"/>
            <a:ext cx="854075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US" altLang="zh-CN" sz="2800" kern="1200" dirty="0">
                <a:solidFill>
                  <a:schemeClr val="tx1"/>
                </a:solidFill>
                <a:sym typeface="Times New Roman" panose="02020603050405020304" pitchFamily="18" charset="0"/>
              </a:rPr>
              <a:t>2 </a:t>
            </a:r>
            <a:r>
              <a:rPr lang="zh-CN" altLang="en-US" sz="2800" kern="1200" dirty="0">
                <a:solidFill>
                  <a:schemeClr val="tx1"/>
                </a:solidFill>
                <a:sym typeface="Times New Roman" panose="02020603050405020304" pitchFamily="18" charset="0"/>
              </a:rPr>
              <a:t>半导体中电子的平均速度</a:t>
            </a:r>
          </a:p>
        </p:txBody>
      </p:sp>
      <p:graphicFrame>
        <p:nvGraphicFramePr>
          <p:cNvPr id="58371" name="Object 8">
            <a:extLst>
              <a:ext uri="{FF2B5EF4-FFF2-40B4-BE49-F238E27FC236}">
                <a16:creationId xmlns:a16="http://schemas.microsoft.com/office/drawing/2014/main" id="{E207DC82-111D-4261-A1FA-74C8AAA120B9}"/>
              </a:ext>
            </a:extLst>
          </p:cNvPr>
          <p:cNvGraphicFramePr>
            <a:graphicFrameLocks noChangeAspect="1"/>
          </p:cNvGraphicFramePr>
          <p:nvPr/>
        </p:nvGraphicFramePr>
        <p:xfrm>
          <a:off x="1763713" y="2781300"/>
          <a:ext cx="4903787" cy="1655763"/>
        </p:xfrm>
        <a:graphic>
          <a:graphicData uri="http://schemas.openxmlformats.org/presentationml/2006/ole">
            <mc:AlternateContent xmlns:mc="http://schemas.openxmlformats.org/markup-compatibility/2006">
              <mc:Choice xmlns:v="urn:schemas-microsoft-com:vml" Requires="v">
                <p:oleObj spid="_x0000_s184361" name="Equation" r:id="rId3" imgW="2565400" imgH="863600" progId="Equation.DSMT4">
                  <p:embed/>
                </p:oleObj>
              </mc:Choice>
              <mc:Fallback>
                <p:oleObj name="Equation" r:id="rId3" imgW="2565400" imgH="863600" progId="Equation.DSMT4">
                  <p:embed/>
                  <p:pic>
                    <p:nvPicPr>
                      <p:cNvPr id="58371" name="Object 8">
                        <a:extLst>
                          <a:ext uri="{FF2B5EF4-FFF2-40B4-BE49-F238E27FC236}">
                            <a16:creationId xmlns:a16="http://schemas.microsoft.com/office/drawing/2014/main" id="{E207DC82-111D-4261-A1FA-74C8AAA12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2781300"/>
                        <a:ext cx="4903787"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372" name="Rectangle 13">
            <a:extLst>
              <a:ext uri="{FF2B5EF4-FFF2-40B4-BE49-F238E27FC236}">
                <a16:creationId xmlns:a16="http://schemas.microsoft.com/office/drawing/2014/main" id="{DE291631-E255-489D-B26E-81BDC5B910D0}"/>
              </a:ext>
            </a:extLst>
          </p:cNvPr>
          <p:cNvSpPr>
            <a:spLocks noChangeArrowheads="1"/>
          </p:cNvSpPr>
          <p:nvPr/>
        </p:nvSpPr>
        <p:spPr bwMode="auto">
          <a:xfrm>
            <a:off x="668338" y="1870075"/>
            <a:ext cx="37909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sz="2800">
                <a:solidFill>
                  <a:srgbClr val="FF0000"/>
                </a:solidFill>
                <a:sym typeface="Times New Roman" panose="02020603050405020304" pitchFamily="18" charset="0"/>
              </a:rPr>
              <a:t>对于自由电子的速度：</a:t>
            </a:r>
          </a:p>
        </p:txBody>
      </p:sp>
    </p:spTree>
    <p:extLst>
      <p:ext uri="{BB962C8B-B14F-4D97-AF65-F5344CB8AC3E}">
        <p14:creationId xmlns:p14="http://schemas.microsoft.com/office/powerpoint/2010/main" val="28524453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12C2D907-76AA-4498-BBE7-34AF25A2BC08}"/>
              </a:ext>
            </a:extLst>
          </p:cNvPr>
          <p:cNvSpPr>
            <a:spLocks noGrp="1" noRot="1" noChangeArrowheads="1"/>
          </p:cNvSpPr>
          <p:nvPr>
            <p:ph type="body" sz="half" idx="1"/>
          </p:nvPr>
        </p:nvSpPr>
        <p:spPr>
          <a:xfrm>
            <a:off x="323850" y="1847850"/>
            <a:ext cx="7920038" cy="3886200"/>
          </a:xfrm>
        </p:spPr>
        <p:txBody>
          <a:bodyPr/>
          <a:lstStyle/>
          <a:p>
            <a:pPr eaLnBrk="1" hangingPunct="1"/>
            <a:r>
              <a:rPr lang="zh-CN" altLang="en-US" sz="2800">
                <a:sym typeface="Times New Roman" panose="02020603050405020304" pitchFamily="18" charset="0"/>
              </a:rPr>
              <a:t>根据量子力学，电子的运动可以看作波包的运动，波包的群速就是电子运动的平均速度（波包中心的运动速度）。</a:t>
            </a:r>
          </a:p>
          <a:p>
            <a:pPr eaLnBrk="1" hangingPunct="1"/>
            <a:r>
              <a:rPr lang="zh-CN" altLang="en-US" sz="2800">
                <a:sym typeface="Times New Roman" panose="02020603050405020304" pitchFamily="18" charset="0"/>
              </a:rPr>
              <a:t>设波包有许多角频率为</a:t>
            </a:r>
            <a:r>
              <a:rPr lang="el-GR" altLang="zh-CN" sz="2800">
                <a:sym typeface="Times New Roman" panose="02020603050405020304" pitchFamily="18" charset="0"/>
              </a:rPr>
              <a:t>ω</a:t>
            </a:r>
            <a:r>
              <a:rPr lang="zh-CN" altLang="en-US" sz="2800">
                <a:sym typeface="Times New Roman" panose="02020603050405020304" pitchFamily="18" charset="0"/>
              </a:rPr>
              <a:t>的波组成，则波包的群速为：</a:t>
            </a:r>
            <a:endParaRPr lang="el-GR" altLang="zh-CN" sz="2800">
              <a:sym typeface="Times New Roman" panose="02020603050405020304" pitchFamily="18" charset="0"/>
            </a:endParaRPr>
          </a:p>
        </p:txBody>
      </p:sp>
      <p:graphicFrame>
        <p:nvGraphicFramePr>
          <p:cNvPr id="59395" name="Object 3">
            <a:extLst>
              <a:ext uri="{FF2B5EF4-FFF2-40B4-BE49-F238E27FC236}">
                <a16:creationId xmlns:a16="http://schemas.microsoft.com/office/drawing/2014/main" id="{84CEE3EE-2455-4131-A8FD-08455B4F2DCB}"/>
              </a:ext>
            </a:extLst>
          </p:cNvPr>
          <p:cNvGraphicFramePr>
            <a:graphicFrameLocks noGrp="1" noChangeAspect="1"/>
          </p:cNvGraphicFramePr>
          <p:nvPr>
            <p:ph sz="half" idx="2"/>
          </p:nvPr>
        </p:nvGraphicFramePr>
        <p:xfrm>
          <a:off x="3348038" y="4221163"/>
          <a:ext cx="1295400" cy="1057275"/>
        </p:xfrm>
        <a:graphic>
          <a:graphicData uri="http://schemas.openxmlformats.org/presentationml/2006/ole">
            <mc:AlternateContent xmlns:mc="http://schemas.openxmlformats.org/markup-compatibility/2006">
              <mc:Choice xmlns:v="urn:schemas-microsoft-com:vml" Requires="v">
                <p:oleObj spid="_x0000_s185385" name="Equation" r:id="rId3" imgW="482391" imgH="393529" progId="Equation.DSMT4">
                  <p:embed/>
                </p:oleObj>
              </mc:Choice>
              <mc:Fallback>
                <p:oleObj name="Equation" r:id="rId3" imgW="482391" imgH="393529" progId="Equation.DSMT4">
                  <p:embed/>
                  <p:pic>
                    <p:nvPicPr>
                      <p:cNvPr id="59395" name="Object 3">
                        <a:extLst>
                          <a:ext uri="{FF2B5EF4-FFF2-40B4-BE49-F238E27FC236}">
                            <a16:creationId xmlns:a16="http://schemas.microsoft.com/office/drawing/2014/main" id="{84CEE3EE-2455-4131-A8FD-08455B4F2DCB}"/>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4221163"/>
                        <a:ext cx="1295400"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396" name="矩形 1">
            <a:extLst>
              <a:ext uri="{FF2B5EF4-FFF2-40B4-BE49-F238E27FC236}">
                <a16:creationId xmlns:a16="http://schemas.microsoft.com/office/drawing/2014/main" id="{01200BB1-0684-4B89-83F1-EE1F90EADCCF}"/>
              </a:ext>
            </a:extLst>
          </p:cNvPr>
          <p:cNvSpPr>
            <a:spLocks noChangeArrowheads="1"/>
          </p:cNvSpPr>
          <p:nvPr/>
        </p:nvSpPr>
        <p:spPr bwMode="auto">
          <a:xfrm>
            <a:off x="2719388" y="765175"/>
            <a:ext cx="34163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a:solidFill>
                  <a:srgbClr val="FF0000"/>
                </a:solidFill>
                <a:sym typeface="Times New Roman" panose="02020603050405020304" pitchFamily="18" charset="0"/>
              </a:rPr>
              <a:t>半导体中电子的速度</a:t>
            </a:r>
          </a:p>
        </p:txBody>
      </p:sp>
    </p:spTree>
    <p:extLst>
      <p:ext uri="{BB962C8B-B14F-4D97-AF65-F5344CB8AC3E}">
        <p14:creationId xmlns:p14="http://schemas.microsoft.com/office/powerpoint/2010/main" val="26053394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5DDEB38-0C65-4EAE-865B-193C37D968E9}"/>
              </a:ext>
            </a:extLst>
          </p:cNvPr>
          <p:cNvSpPr>
            <a:spLocks noGrp="1" noRot="1" noChangeArrowheads="1"/>
          </p:cNvSpPr>
          <p:nvPr>
            <p:ph type="body" sz="half" idx="1"/>
          </p:nvPr>
        </p:nvSpPr>
        <p:spPr>
          <a:xfrm>
            <a:off x="423863" y="-33338"/>
            <a:ext cx="8424862" cy="3886201"/>
          </a:xfrm>
        </p:spPr>
        <p:txBody>
          <a:bodyPr/>
          <a:lstStyle/>
          <a:p>
            <a:pPr eaLnBrk="1" hangingPunct="1"/>
            <a:endParaRPr lang="zh-CN" altLang="en-US" sz="2800">
              <a:sym typeface="Times New Roman" panose="02020603050405020304" pitchFamily="18" charset="0"/>
            </a:endParaRPr>
          </a:p>
          <a:p>
            <a:pPr eaLnBrk="1" hangingPunct="1"/>
            <a:endParaRPr lang="zh-CN" altLang="en-US" sz="2800">
              <a:sym typeface="Times New Roman" panose="02020603050405020304" pitchFamily="18" charset="0"/>
            </a:endParaRPr>
          </a:p>
          <a:p>
            <a:pPr eaLnBrk="1" hangingPunct="1"/>
            <a:r>
              <a:rPr lang="zh-CN" altLang="en-US" sz="2800">
                <a:sym typeface="Times New Roman" panose="02020603050405020304" pitchFamily="18" charset="0"/>
              </a:rPr>
              <a:t>根据波粒二象性，角频率为</a:t>
            </a:r>
            <a:r>
              <a:rPr lang="el-GR" altLang="zh-CN" sz="2800">
                <a:sym typeface="Times New Roman" panose="02020603050405020304" pitchFamily="18" charset="0"/>
              </a:rPr>
              <a:t>ω</a:t>
            </a:r>
            <a:r>
              <a:rPr lang="zh-CN" altLang="el-GR" sz="2800">
                <a:sym typeface="Times New Roman" panose="02020603050405020304" pitchFamily="18" charset="0"/>
              </a:rPr>
              <a:t>的波，其粒子的能量为 </a:t>
            </a:r>
            <a:r>
              <a:rPr lang="zh-CN" altLang="en-US" sz="2800">
                <a:sym typeface="Times New Roman" panose="02020603050405020304" pitchFamily="18" charset="0"/>
              </a:rPr>
              <a:t>       </a:t>
            </a:r>
            <a:r>
              <a:rPr lang="zh-CN" altLang="el-GR" sz="2800">
                <a:sym typeface="Times New Roman" panose="02020603050405020304" pitchFamily="18" charset="0"/>
              </a:rPr>
              <a:t>，所以</a:t>
            </a:r>
            <a:endParaRPr lang="el-GR" altLang="zh-CN" sz="2800">
              <a:sym typeface="Times New Roman" panose="02020603050405020304" pitchFamily="18" charset="0"/>
            </a:endParaRPr>
          </a:p>
        </p:txBody>
      </p:sp>
      <p:graphicFrame>
        <p:nvGraphicFramePr>
          <p:cNvPr id="60419" name="Object 11">
            <a:extLst>
              <a:ext uri="{FF2B5EF4-FFF2-40B4-BE49-F238E27FC236}">
                <a16:creationId xmlns:a16="http://schemas.microsoft.com/office/drawing/2014/main" id="{129BD276-3604-4D5D-89FA-58938D2D69A8}"/>
              </a:ext>
            </a:extLst>
          </p:cNvPr>
          <p:cNvGraphicFramePr>
            <a:graphicFrameLocks noGrp="1" noChangeAspect="1"/>
          </p:cNvGraphicFramePr>
          <p:nvPr>
            <p:ph sz="half" idx="2"/>
            <p:extLst>
              <p:ext uri="{D42A27DB-BD31-4B8C-83A1-F6EECF244321}">
                <p14:modId xmlns:p14="http://schemas.microsoft.com/office/powerpoint/2010/main" val="1710768117"/>
              </p:ext>
            </p:extLst>
          </p:nvPr>
        </p:nvGraphicFramePr>
        <p:xfrm>
          <a:off x="1121421" y="1389062"/>
          <a:ext cx="574675" cy="423863"/>
        </p:xfrm>
        <a:graphic>
          <a:graphicData uri="http://schemas.openxmlformats.org/presentationml/2006/ole">
            <mc:AlternateContent xmlns:mc="http://schemas.openxmlformats.org/markup-compatibility/2006">
              <mc:Choice xmlns:v="urn:schemas-microsoft-com:vml" Requires="v">
                <p:oleObj spid="_x0000_s186526" name="Equation" r:id="rId3" imgW="241091" imgH="177646" progId="Equation.DSMT4">
                  <p:embed/>
                </p:oleObj>
              </mc:Choice>
              <mc:Fallback>
                <p:oleObj name="Equation" r:id="rId3" imgW="241091" imgH="177646" progId="Equation.DSMT4">
                  <p:embed/>
                  <p:pic>
                    <p:nvPicPr>
                      <p:cNvPr id="60419" name="Object 11">
                        <a:extLst>
                          <a:ext uri="{FF2B5EF4-FFF2-40B4-BE49-F238E27FC236}">
                            <a16:creationId xmlns:a16="http://schemas.microsoft.com/office/drawing/2014/main" id="{129BD276-3604-4D5D-89FA-58938D2D69A8}"/>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1421" y="1389062"/>
                        <a:ext cx="574675"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0" name="Rectangle 3">
            <a:extLst>
              <a:ext uri="{FF2B5EF4-FFF2-40B4-BE49-F238E27FC236}">
                <a16:creationId xmlns:a16="http://schemas.microsoft.com/office/drawing/2014/main" id="{7F803A68-1F4C-4D36-8F84-1670B11510AD}"/>
              </a:ext>
            </a:extLst>
          </p:cNvPr>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a:solidFill>
                <a:schemeClr val="tx1"/>
              </a:solidFill>
              <a:sym typeface="Times New Roman" panose="02020603050405020304" pitchFamily="18" charset="0"/>
            </a:endParaRPr>
          </a:p>
        </p:txBody>
      </p:sp>
      <p:sp>
        <p:nvSpPr>
          <p:cNvPr id="60421" name="Rectangle 5">
            <a:extLst>
              <a:ext uri="{FF2B5EF4-FFF2-40B4-BE49-F238E27FC236}">
                <a16:creationId xmlns:a16="http://schemas.microsoft.com/office/drawing/2014/main" id="{38FDF960-5244-41E8-BC8D-84B2DB4699A0}"/>
              </a:ext>
            </a:extLst>
          </p:cNvPr>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a:solidFill>
                <a:schemeClr val="tx1"/>
              </a:solidFill>
              <a:sym typeface="Times New Roman" panose="02020603050405020304" pitchFamily="18" charset="0"/>
            </a:endParaRPr>
          </a:p>
        </p:txBody>
      </p:sp>
      <p:graphicFrame>
        <p:nvGraphicFramePr>
          <p:cNvPr id="60422" name="Object 6">
            <a:extLst>
              <a:ext uri="{FF2B5EF4-FFF2-40B4-BE49-F238E27FC236}">
                <a16:creationId xmlns:a16="http://schemas.microsoft.com/office/drawing/2014/main" id="{78B5F6B4-D75F-4754-B294-BD7D8A55379A}"/>
              </a:ext>
            </a:extLst>
          </p:cNvPr>
          <p:cNvGraphicFramePr>
            <a:graphicFrameLocks noChangeAspect="1"/>
          </p:cNvGraphicFramePr>
          <p:nvPr/>
        </p:nvGraphicFramePr>
        <p:xfrm>
          <a:off x="3495675" y="1812925"/>
          <a:ext cx="1422400" cy="931863"/>
        </p:xfrm>
        <a:graphic>
          <a:graphicData uri="http://schemas.openxmlformats.org/presentationml/2006/ole">
            <mc:AlternateContent xmlns:mc="http://schemas.openxmlformats.org/markup-compatibility/2006">
              <mc:Choice xmlns:v="urn:schemas-microsoft-com:vml" Requires="v">
                <p:oleObj spid="_x0000_s186527" name="Equation" r:id="rId5" imgW="596641" imgH="393529" progId="Equation.DSMT4">
                  <p:embed/>
                </p:oleObj>
              </mc:Choice>
              <mc:Fallback>
                <p:oleObj name="Equation" r:id="rId5" imgW="596641" imgH="393529" progId="Equation.DSMT4">
                  <p:embed/>
                  <p:pic>
                    <p:nvPicPr>
                      <p:cNvPr id="60422" name="Object 6">
                        <a:extLst>
                          <a:ext uri="{FF2B5EF4-FFF2-40B4-BE49-F238E27FC236}">
                            <a16:creationId xmlns:a16="http://schemas.microsoft.com/office/drawing/2014/main" id="{78B5F6B4-D75F-4754-B294-BD7D8A5537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5675" y="1812925"/>
                        <a:ext cx="1422400"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423" name="Rectangle 7">
            <a:extLst>
              <a:ext uri="{FF2B5EF4-FFF2-40B4-BE49-F238E27FC236}">
                <a16:creationId xmlns:a16="http://schemas.microsoft.com/office/drawing/2014/main" id="{4DA2E020-3602-495B-B217-BDC68E064179}"/>
              </a:ext>
            </a:extLst>
          </p:cNvPr>
          <p:cNvSpPr>
            <a:spLocks noRot="1" noChangeArrowheads="1"/>
          </p:cNvSpPr>
          <p:nvPr/>
        </p:nvSpPr>
        <p:spPr bwMode="auto">
          <a:xfrm>
            <a:off x="409575" y="3176588"/>
            <a:ext cx="8180388" cy="302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buClr>
                <a:schemeClr val="hlink"/>
              </a:buClr>
              <a:buSzPct val="70000"/>
              <a:buFont typeface="Wingdings" panose="05000000000000000000" pitchFamily="2" charset="2"/>
              <a:buChar char="v"/>
            </a:pPr>
            <a:r>
              <a:rPr lang="zh-CN" altLang="en-US" sz="3200" dirty="0">
                <a:solidFill>
                  <a:schemeClr val="tx1"/>
                </a:solidFill>
                <a:sym typeface="Times New Roman" panose="02020603050405020304" pitchFamily="18" charset="0"/>
              </a:rPr>
              <a:t>将                         代入上式，可得</a:t>
            </a:r>
          </a:p>
          <a:p>
            <a:pPr>
              <a:buClr>
                <a:schemeClr val="hlink"/>
              </a:buClr>
              <a:buSzPct val="70000"/>
              <a:buFont typeface="Wingdings" panose="05000000000000000000" pitchFamily="2" charset="2"/>
              <a:buChar char="v"/>
            </a:pPr>
            <a:endParaRPr lang="zh-CN" altLang="en-US" sz="3200" dirty="0">
              <a:solidFill>
                <a:schemeClr val="tx1"/>
              </a:solidFill>
              <a:sym typeface="Times New Roman" panose="02020603050405020304" pitchFamily="18" charset="0"/>
            </a:endParaRPr>
          </a:p>
          <a:p>
            <a:pPr>
              <a:buClr>
                <a:schemeClr val="hlink"/>
              </a:buClr>
              <a:buSzPct val="70000"/>
              <a:buFont typeface="Wingdings" panose="05000000000000000000" pitchFamily="2" charset="2"/>
              <a:buChar char="v"/>
            </a:pPr>
            <a:endParaRPr lang="zh-CN" altLang="en-US" sz="3200" dirty="0">
              <a:solidFill>
                <a:schemeClr val="tx1"/>
              </a:solidFill>
              <a:sym typeface="Times New Roman" panose="02020603050405020304" pitchFamily="18" charset="0"/>
            </a:endParaRPr>
          </a:p>
          <a:p>
            <a:pPr>
              <a:buClr>
                <a:schemeClr val="hlink"/>
              </a:buClr>
              <a:buSzPct val="70000"/>
              <a:buFont typeface="Wingdings" panose="05000000000000000000" pitchFamily="2" charset="2"/>
              <a:buChar char="v"/>
            </a:pPr>
            <a:r>
              <a:rPr lang="zh-CN" altLang="en-US" sz="3200" dirty="0">
                <a:solidFill>
                  <a:schemeClr val="tx1"/>
                </a:solidFill>
                <a:sym typeface="Times New Roman" panose="02020603050405020304" pitchFamily="18" charset="0"/>
              </a:rPr>
              <a:t>由于不同位置有效质量正负的不同，速度的方向也不同</a:t>
            </a:r>
          </a:p>
          <a:p>
            <a:pPr>
              <a:buClr>
                <a:schemeClr val="hlink"/>
              </a:buClr>
              <a:buSzPct val="70000"/>
              <a:buFont typeface="Wingdings" panose="05000000000000000000" pitchFamily="2" charset="2"/>
              <a:buChar char="v"/>
            </a:pPr>
            <a:endParaRPr lang="zh-CN" altLang="en-US" sz="3200" dirty="0">
              <a:solidFill>
                <a:schemeClr val="tx1"/>
              </a:solidFill>
              <a:sym typeface="Times New Roman" panose="02020603050405020304" pitchFamily="18" charset="0"/>
            </a:endParaRPr>
          </a:p>
        </p:txBody>
      </p:sp>
      <p:graphicFrame>
        <p:nvGraphicFramePr>
          <p:cNvPr id="60424" name="Object 8">
            <a:extLst>
              <a:ext uri="{FF2B5EF4-FFF2-40B4-BE49-F238E27FC236}">
                <a16:creationId xmlns:a16="http://schemas.microsoft.com/office/drawing/2014/main" id="{B50AF741-D71F-48ED-8C38-54076F961356}"/>
              </a:ext>
            </a:extLst>
          </p:cNvPr>
          <p:cNvGraphicFramePr>
            <a:graphicFrameLocks noChangeAspect="1"/>
          </p:cNvGraphicFramePr>
          <p:nvPr/>
        </p:nvGraphicFramePr>
        <p:xfrm>
          <a:off x="1397000" y="2951163"/>
          <a:ext cx="2489200" cy="935037"/>
        </p:xfrm>
        <a:graphic>
          <a:graphicData uri="http://schemas.openxmlformats.org/presentationml/2006/ole">
            <mc:AlternateContent xmlns:mc="http://schemas.openxmlformats.org/markup-compatibility/2006">
              <mc:Choice xmlns:v="urn:schemas-microsoft-com:vml" Requires="v">
                <p:oleObj spid="_x0000_s186528" name="Equation" r:id="rId7" imgW="1219200" imgH="457200" progId="Equation.DSMT4">
                  <p:embed/>
                </p:oleObj>
              </mc:Choice>
              <mc:Fallback>
                <p:oleObj name="Equation" r:id="rId7" imgW="1219200" imgH="457200" progId="Equation.DSMT4">
                  <p:embed/>
                  <p:pic>
                    <p:nvPicPr>
                      <p:cNvPr id="60424" name="Object 8">
                        <a:extLst>
                          <a:ext uri="{FF2B5EF4-FFF2-40B4-BE49-F238E27FC236}">
                            <a16:creationId xmlns:a16="http://schemas.microsoft.com/office/drawing/2014/main" id="{B50AF741-D71F-48ED-8C38-54076F96135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97000" y="2951163"/>
                        <a:ext cx="2489200"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5" name="Object 9">
            <a:extLst>
              <a:ext uri="{FF2B5EF4-FFF2-40B4-BE49-F238E27FC236}">
                <a16:creationId xmlns:a16="http://schemas.microsoft.com/office/drawing/2014/main" id="{983CB0FE-BFF1-48A3-B083-CDF3D7BCEFDB}"/>
              </a:ext>
            </a:extLst>
          </p:cNvPr>
          <p:cNvGraphicFramePr>
            <a:graphicFrameLocks noChangeAspect="1"/>
          </p:cNvGraphicFramePr>
          <p:nvPr>
            <p:extLst>
              <p:ext uri="{D42A27DB-BD31-4B8C-83A1-F6EECF244321}">
                <p14:modId xmlns:p14="http://schemas.microsoft.com/office/powerpoint/2010/main" val="1240842239"/>
              </p:ext>
            </p:extLst>
          </p:nvPr>
        </p:nvGraphicFramePr>
        <p:xfrm>
          <a:off x="2293350" y="3927351"/>
          <a:ext cx="1162050" cy="1081088"/>
        </p:xfrm>
        <a:graphic>
          <a:graphicData uri="http://schemas.openxmlformats.org/presentationml/2006/ole">
            <mc:AlternateContent xmlns:mc="http://schemas.openxmlformats.org/markup-compatibility/2006">
              <mc:Choice xmlns:v="urn:schemas-microsoft-com:vml" Requires="v">
                <p:oleObj spid="_x0000_s186529" name="Equation" r:id="rId9" imgW="457200" imgH="431800" progId="Equation.DSMT4">
                  <p:embed/>
                </p:oleObj>
              </mc:Choice>
              <mc:Fallback>
                <p:oleObj name="Equation" r:id="rId9" imgW="457200" imgH="431800" progId="Equation.DSMT4">
                  <p:embed/>
                  <p:pic>
                    <p:nvPicPr>
                      <p:cNvPr id="60425" name="Object 9">
                        <a:extLst>
                          <a:ext uri="{FF2B5EF4-FFF2-40B4-BE49-F238E27FC236}">
                            <a16:creationId xmlns:a16="http://schemas.microsoft.com/office/drawing/2014/main" id="{983CB0FE-BFF1-48A3-B083-CDF3D7BCEFD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93350" y="3927351"/>
                        <a:ext cx="116205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426" name="Rectangle 12">
            <a:extLst>
              <a:ext uri="{FF2B5EF4-FFF2-40B4-BE49-F238E27FC236}">
                <a16:creationId xmlns:a16="http://schemas.microsoft.com/office/drawing/2014/main" id="{57C72417-B98D-4906-978E-EEF01380B2CA}"/>
              </a:ext>
            </a:extLst>
          </p:cNvPr>
          <p:cNvSpPr>
            <a:spLocks noChangeArrowheads="1"/>
          </p:cNvSpPr>
          <p:nvPr/>
        </p:nvSpPr>
        <p:spPr bwMode="auto">
          <a:xfrm>
            <a:off x="3707904" y="4191001"/>
            <a:ext cx="3022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dirty="0">
                <a:solidFill>
                  <a:srgbClr val="FF0000"/>
                </a:solidFill>
                <a:cs typeface="Times New Roman" panose="02020603050405020304" pitchFamily="18" charset="0"/>
                <a:sym typeface="Times New Roman" panose="02020603050405020304" pitchFamily="18" charset="0"/>
              </a:rPr>
              <a:t>类似于自由电子的表达。</a:t>
            </a:r>
            <a:endParaRPr lang="zh-CN" altLang="en-US" dirty="0">
              <a:solidFill>
                <a:srgbClr val="FF0000"/>
              </a:solidFill>
              <a:sym typeface="Times New Roman" panose="02020603050405020304" pitchFamily="18" charset="0"/>
            </a:endParaRPr>
          </a:p>
        </p:txBody>
      </p:sp>
    </p:spTree>
    <p:extLst>
      <p:ext uri="{BB962C8B-B14F-4D97-AF65-F5344CB8AC3E}">
        <p14:creationId xmlns:p14="http://schemas.microsoft.com/office/powerpoint/2010/main" val="30948400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D3395B38-9B52-4CA0-A024-57B7A19F6967}"/>
              </a:ext>
            </a:extLst>
          </p:cNvPr>
          <p:cNvSpPr>
            <a:spLocks noGrp="1" noRot="1" noChangeArrowheads="1"/>
          </p:cNvSpPr>
          <p:nvPr>
            <p:ph type="title"/>
          </p:nvPr>
        </p:nvSpPr>
        <p:spPr>
          <a:xfrm>
            <a:off x="12700" y="357188"/>
            <a:ext cx="854075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US" altLang="zh-CN" sz="2800" kern="1200" dirty="0">
                <a:solidFill>
                  <a:schemeClr val="tx1"/>
                </a:solidFill>
                <a:sym typeface="Times New Roman" panose="02020603050405020304" pitchFamily="18" charset="0"/>
              </a:rPr>
              <a:t>1.3.3 </a:t>
            </a:r>
            <a:r>
              <a:rPr lang="zh-CN" altLang="en-US" sz="2800" kern="1200" dirty="0">
                <a:solidFill>
                  <a:schemeClr val="tx1"/>
                </a:solidFill>
                <a:sym typeface="Times New Roman" panose="02020603050405020304" pitchFamily="18" charset="0"/>
              </a:rPr>
              <a:t>半导体中电子的加速度</a:t>
            </a:r>
          </a:p>
        </p:txBody>
      </p:sp>
      <p:sp>
        <p:nvSpPr>
          <p:cNvPr id="61443" name="Rectangle 4">
            <a:extLst>
              <a:ext uri="{FF2B5EF4-FFF2-40B4-BE49-F238E27FC236}">
                <a16:creationId xmlns:a16="http://schemas.microsoft.com/office/drawing/2014/main" id="{2699BE50-1F5B-4E8C-B4F1-5A5FC71FDF50}"/>
              </a:ext>
            </a:extLst>
          </p:cNvPr>
          <p:cNvSpPr>
            <a:spLocks noChangeArrowheads="1"/>
          </p:cNvSpPr>
          <p:nvPr/>
        </p:nvSpPr>
        <p:spPr bwMode="auto">
          <a:xfrm>
            <a:off x="0" y="314483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a:solidFill>
                <a:schemeClr val="tx1"/>
              </a:solidFill>
              <a:sym typeface="Times New Roman" panose="02020603050405020304" pitchFamily="18" charset="0"/>
            </a:endParaRPr>
          </a:p>
        </p:txBody>
      </p:sp>
      <p:sp>
        <p:nvSpPr>
          <p:cNvPr id="61444" name="矩形 1">
            <a:extLst>
              <a:ext uri="{FF2B5EF4-FFF2-40B4-BE49-F238E27FC236}">
                <a16:creationId xmlns:a16="http://schemas.microsoft.com/office/drawing/2014/main" id="{28250706-4D1C-4245-B5E4-E9B426549231}"/>
              </a:ext>
            </a:extLst>
          </p:cNvPr>
          <p:cNvSpPr>
            <a:spLocks noChangeArrowheads="1"/>
          </p:cNvSpPr>
          <p:nvPr/>
        </p:nvSpPr>
        <p:spPr bwMode="auto">
          <a:xfrm>
            <a:off x="827088" y="1500188"/>
            <a:ext cx="7007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a:solidFill>
                  <a:srgbClr val="FF0000"/>
                </a:solidFill>
                <a:sym typeface="Times New Roman" panose="02020603050405020304" pitchFamily="18" charset="0"/>
              </a:rPr>
              <a:t>当外加电场时，半导体中电子的运动规律？</a:t>
            </a:r>
          </a:p>
        </p:txBody>
      </p:sp>
      <p:sp>
        <p:nvSpPr>
          <p:cNvPr id="61445" name="Rectangle 7">
            <a:extLst>
              <a:ext uri="{FF2B5EF4-FFF2-40B4-BE49-F238E27FC236}">
                <a16:creationId xmlns:a16="http://schemas.microsoft.com/office/drawing/2014/main" id="{AB9C5385-7BD4-4F21-A314-087725337787}"/>
              </a:ext>
            </a:extLst>
          </p:cNvPr>
          <p:cNvSpPr>
            <a:spLocks noChangeArrowheads="1"/>
          </p:cNvSpPr>
          <p:nvPr/>
        </p:nvSpPr>
        <p:spPr bwMode="auto">
          <a:xfrm>
            <a:off x="323850" y="2252663"/>
            <a:ext cx="7696200"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0" bIns="0" anchor="ctr">
            <a:spAutoFit/>
          </a:bodyPr>
          <a:lstStyle>
            <a:lvl1pPr indent="304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nSpc>
                <a:spcPct val="140000"/>
              </a:lnSpc>
              <a:spcBef>
                <a:spcPct val="0"/>
              </a:spcBef>
              <a:buClrTx/>
              <a:buFontTx/>
              <a:buNone/>
            </a:pPr>
            <a:r>
              <a:rPr lang="zh-CN" altLang="en-US" sz="2400">
                <a:cs typeface="Times New Roman" panose="02020603050405020304" pitchFamily="18" charset="0"/>
                <a:sym typeface="Times New Roman" panose="02020603050405020304" pitchFamily="18" charset="0"/>
              </a:rPr>
              <a:t>实际的半导体器件在一定的电压下工作，半导体内部产生外加电场。电场强度为</a:t>
            </a:r>
            <a:r>
              <a:rPr lang="en-US" altLang="zh-CN" sz="2400" i="1">
                <a:cs typeface="Times New Roman" panose="02020603050405020304" pitchFamily="18" charset="0"/>
                <a:sym typeface="Times New Roman" panose="02020603050405020304" pitchFamily="18" charset="0"/>
              </a:rPr>
              <a:t>E</a:t>
            </a:r>
            <a:r>
              <a:rPr lang="zh-CN" altLang="en-US" sz="2400">
                <a:cs typeface="Times New Roman" panose="02020603050405020304" pitchFamily="18" charset="0"/>
                <a:sym typeface="Times New Roman" panose="02020603050405020304" pitchFamily="18" charset="0"/>
              </a:rPr>
              <a:t>时，电子受外力    </a:t>
            </a:r>
            <a:r>
              <a:rPr lang="en-US" altLang="zh-CN" sz="2400" i="1">
                <a:cs typeface="Times New Roman" panose="02020603050405020304" pitchFamily="18" charset="0"/>
                <a:sym typeface="Times New Roman" panose="02020603050405020304" pitchFamily="18" charset="0"/>
              </a:rPr>
              <a:t>f = -qE</a:t>
            </a:r>
            <a:endParaRPr lang="en-US" altLang="zh-CN" sz="2400">
              <a:sym typeface="Times New Roman" panose="02020603050405020304" pitchFamily="18" charset="0"/>
            </a:endParaRPr>
          </a:p>
        </p:txBody>
      </p:sp>
      <p:graphicFrame>
        <p:nvGraphicFramePr>
          <p:cNvPr id="61446" name="Object 6">
            <a:extLst>
              <a:ext uri="{FF2B5EF4-FFF2-40B4-BE49-F238E27FC236}">
                <a16:creationId xmlns:a16="http://schemas.microsoft.com/office/drawing/2014/main" id="{F930A5AB-F9F0-4609-B917-74B5852DBC8B}"/>
              </a:ext>
            </a:extLst>
          </p:cNvPr>
          <p:cNvGraphicFramePr>
            <a:graphicFrameLocks noChangeAspect="1"/>
          </p:cNvGraphicFramePr>
          <p:nvPr/>
        </p:nvGraphicFramePr>
        <p:xfrm>
          <a:off x="2627313" y="4365625"/>
          <a:ext cx="2098675" cy="417513"/>
        </p:xfrm>
        <a:graphic>
          <a:graphicData uri="http://schemas.openxmlformats.org/presentationml/2006/ole">
            <mc:AlternateContent xmlns:mc="http://schemas.openxmlformats.org/markup-compatibility/2006">
              <mc:Choice xmlns:v="urn:schemas-microsoft-com:vml" Requires="v">
                <p:oleObj spid="_x0000_s187433" name="Equation" r:id="rId3" imgW="1002865" imgH="203112" progId="Equation.DSMT4">
                  <p:embed/>
                </p:oleObj>
              </mc:Choice>
              <mc:Fallback>
                <p:oleObj name="Equation" r:id="rId3" imgW="1002865" imgH="203112" progId="Equation.DSMT4">
                  <p:embed/>
                  <p:pic>
                    <p:nvPicPr>
                      <p:cNvPr id="61446" name="Object 6">
                        <a:extLst>
                          <a:ext uri="{FF2B5EF4-FFF2-40B4-BE49-F238E27FC236}">
                            <a16:creationId xmlns:a16="http://schemas.microsoft.com/office/drawing/2014/main" id="{F930A5AB-F9F0-4609-B917-74B5852DBC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4365625"/>
                        <a:ext cx="2098675"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47" name="Rectangle 12">
            <a:extLst>
              <a:ext uri="{FF2B5EF4-FFF2-40B4-BE49-F238E27FC236}">
                <a16:creationId xmlns:a16="http://schemas.microsoft.com/office/drawing/2014/main" id="{FEE77D8D-5CA1-4203-B009-84189E779A7F}"/>
              </a:ext>
            </a:extLst>
          </p:cNvPr>
          <p:cNvSpPr>
            <a:spLocks noChangeArrowheads="1"/>
          </p:cNvSpPr>
          <p:nvPr/>
        </p:nvSpPr>
        <p:spPr bwMode="auto">
          <a:xfrm>
            <a:off x="401638" y="3683000"/>
            <a:ext cx="45164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a:sym typeface="Times New Roman" panose="02020603050405020304" pitchFamily="18" charset="0"/>
              </a:rPr>
              <a:t>外力对电子做功等于能量的改变</a:t>
            </a:r>
          </a:p>
        </p:txBody>
      </p:sp>
    </p:spTree>
    <p:extLst>
      <p:ext uri="{BB962C8B-B14F-4D97-AF65-F5344CB8AC3E}">
        <p14:creationId xmlns:p14="http://schemas.microsoft.com/office/powerpoint/2010/main" val="33339187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8">
            <a:extLst>
              <a:ext uri="{FF2B5EF4-FFF2-40B4-BE49-F238E27FC236}">
                <a16:creationId xmlns:a16="http://schemas.microsoft.com/office/drawing/2014/main" id="{8444988E-5154-44F6-A416-95C669F7DB2A}"/>
              </a:ext>
            </a:extLst>
          </p:cNvPr>
          <p:cNvSpPr>
            <a:spLocks noChangeArrowheads="1"/>
          </p:cNvSpPr>
          <p:nvPr/>
        </p:nvSpPr>
        <p:spPr bwMode="auto">
          <a:xfrm>
            <a:off x="1990725" y="969963"/>
            <a:ext cx="7524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200">
                <a:cs typeface="Times New Roman" panose="02020603050405020304" pitchFamily="18" charset="0"/>
                <a:sym typeface="Times New Roman" panose="02020603050405020304" pitchFamily="18" charset="0"/>
              </a:rPr>
              <a:t>代入</a:t>
            </a:r>
            <a:endParaRPr lang="zh-CN" altLang="en-US" sz="2200">
              <a:sym typeface="Times New Roman" panose="02020603050405020304" pitchFamily="18" charset="0"/>
            </a:endParaRPr>
          </a:p>
        </p:txBody>
      </p:sp>
      <p:sp>
        <p:nvSpPr>
          <p:cNvPr id="62467" name="Rectangle 9">
            <a:extLst>
              <a:ext uri="{FF2B5EF4-FFF2-40B4-BE49-F238E27FC236}">
                <a16:creationId xmlns:a16="http://schemas.microsoft.com/office/drawing/2014/main" id="{515A5E31-3EC1-4D68-9493-378A765E5DAB}"/>
              </a:ext>
            </a:extLst>
          </p:cNvPr>
          <p:cNvSpPr>
            <a:spLocks noChangeArrowheads="1"/>
          </p:cNvSpPr>
          <p:nvPr/>
        </p:nvSpPr>
        <p:spPr bwMode="auto">
          <a:xfrm>
            <a:off x="579438" y="3332163"/>
            <a:ext cx="84074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271463" indent="-271463">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nSpc>
                <a:spcPct val="120000"/>
              </a:lnSpc>
              <a:spcBef>
                <a:spcPct val="0"/>
              </a:spcBef>
              <a:buClrTx/>
              <a:buFont typeface="Wingdings" panose="05000000000000000000" pitchFamily="2" charset="2"/>
              <a:buChar char="Ø"/>
            </a:pPr>
            <a:r>
              <a:rPr lang="zh-CN" altLang="en-US" sz="2400">
                <a:cs typeface="Times New Roman" panose="02020603050405020304" pitchFamily="18" charset="0"/>
                <a:sym typeface="Times New Roman" panose="02020603050405020304" pitchFamily="18" charset="0"/>
              </a:rPr>
              <a:t>在外力作用下，电子的波矢</a:t>
            </a:r>
            <a:r>
              <a:rPr lang="en-US" altLang="zh-CN" sz="2400" i="1">
                <a:cs typeface="Times New Roman" panose="02020603050405020304" pitchFamily="18" charset="0"/>
                <a:sym typeface="Times New Roman" panose="02020603050405020304" pitchFamily="18" charset="0"/>
              </a:rPr>
              <a:t>k</a:t>
            </a:r>
            <a:r>
              <a:rPr lang="zh-CN" altLang="en-US" sz="2400">
                <a:cs typeface="Times New Roman" panose="02020603050405020304" pitchFamily="18" charset="0"/>
                <a:sym typeface="Times New Roman" panose="02020603050405020304" pitchFamily="18" charset="0"/>
              </a:rPr>
              <a:t>随时间不断变化，</a:t>
            </a:r>
            <a:r>
              <a:rPr lang="zh-CN" altLang="en-US" sz="2400">
                <a:sym typeface="Times New Roman" panose="02020603050405020304" pitchFamily="18" charset="0"/>
              </a:rPr>
              <a:t>变化率与外力成正比。</a:t>
            </a:r>
            <a:endParaRPr lang="zh-CN" altLang="en-US" sz="2400">
              <a:cs typeface="Times New Roman" panose="02020603050405020304" pitchFamily="18" charset="0"/>
              <a:sym typeface="Times New Roman" panose="02020603050405020304" pitchFamily="18" charset="0"/>
            </a:endParaRPr>
          </a:p>
          <a:p>
            <a:pPr eaLnBrk="1" hangingPunct="1">
              <a:lnSpc>
                <a:spcPct val="120000"/>
              </a:lnSpc>
              <a:spcBef>
                <a:spcPct val="0"/>
              </a:spcBef>
              <a:buClrTx/>
              <a:buFont typeface="Wingdings" panose="05000000000000000000" pitchFamily="2" charset="2"/>
              <a:buChar char="Ø"/>
            </a:pPr>
            <a:r>
              <a:rPr lang="zh-CN" altLang="en-US" sz="2400">
                <a:solidFill>
                  <a:srgbClr val="FF3300"/>
                </a:solidFill>
                <a:sym typeface="Times New Roman" panose="02020603050405020304" pitchFamily="18" charset="0"/>
              </a:rPr>
              <a:t>借助于有效质量的概念，晶体电子在外力的作用下的运动规律可以用经典的牛顿理论来描述</a:t>
            </a:r>
          </a:p>
          <a:p>
            <a:pPr eaLnBrk="1" hangingPunct="1">
              <a:lnSpc>
                <a:spcPct val="120000"/>
              </a:lnSpc>
              <a:spcBef>
                <a:spcPct val="0"/>
              </a:spcBef>
              <a:buClrTx/>
              <a:buFont typeface="Wingdings" panose="05000000000000000000" pitchFamily="2" charset="2"/>
              <a:buChar char="Ø"/>
            </a:pPr>
            <a:r>
              <a:rPr lang="zh-CN" altLang="en-US" sz="2400">
                <a:sym typeface="Times New Roman" panose="02020603050405020304" pitchFamily="18" charset="0"/>
              </a:rPr>
              <a:t>有效质量是一个将经典理论和量子理论联系起来的概念。</a:t>
            </a:r>
          </a:p>
        </p:txBody>
      </p:sp>
      <p:graphicFrame>
        <p:nvGraphicFramePr>
          <p:cNvPr id="62468" name="Object 13">
            <a:extLst>
              <a:ext uri="{FF2B5EF4-FFF2-40B4-BE49-F238E27FC236}">
                <a16:creationId xmlns:a16="http://schemas.microsoft.com/office/drawing/2014/main" id="{FA7CAF28-7BEA-4049-AB73-825DB362B82B}"/>
              </a:ext>
            </a:extLst>
          </p:cNvPr>
          <p:cNvGraphicFramePr>
            <a:graphicFrameLocks noChangeAspect="1"/>
          </p:cNvGraphicFramePr>
          <p:nvPr/>
        </p:nvGraphicFramePr>
        <p:xfrm>
          <a:off x="1239838" y="904875"/>
          <a:ext cx="719137" cy="619125"/>
        </p:xfrm>
        <a:graphic>
          <a:graphicData uri="http://schemas.openxmlformats.org/presentationml/2006/ole">
            <mc:AlternateContent xmlns:mc="http://schemas.openxmlformats.org/markup-compatibility/2006">
              <mc:Choice xmlns:v="urn:schemas-microsoft-com:vml" Requires="v">
                <p:oleObj spid="_x0000_s188613" name="Equation" r:id="rId3" imgW="457002" imgH="393529" progId="Equation.DSMT4">
                  <p:embed/>
                </p:oleObj>
              </mc:Choice>
              <mc:Fallback>
                <p:oleObj name="Equation" r:id="rId3" imgW="457002" imgH="393529" progId="Equation.DSMT4">
                  <p:embed/>
                  <p:pic>
                    <p:nvPicPr>
                      <p:cNvPr id="62468" name="Object 13">
                        <a:extLst>
                          <a:ext uri="{FF2B5EF4-FFF2-40B4-BE49-F238E27FC236}">
                            <a16:creationId xmlns:a16="http://schemas.microsoft.com/office/drawing/2014/main" id="{FA7CAF28-7BEA-4049-AB73-825DB362B8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9838" y="904875"/>
                        <a:ext cx="719137"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69" name="Rectangle 14">
            <a:extLst>
              <a:ext uri="{FF2B5EF4-FFF2-40B4-BE49-F238E27FC236}">
                <a16:creationId xmlns:a16="http://schemas.microsoft.com/office/drawing/2014/main" id="{1AE4CD8C-87CB-4761-A294-6A62A84AAE2A}"/>
              </a:ext>
            </a:extLst>
          </p:cNvPr>
          <p:cNvSpPr>
            <a:spLocks noChangeArrowheads="1"/>
          </p:cNvSpPr>
          <p:nvPr/>
        </p:nvSpPr>
        <p:spPr bwMode="auto">
          <a:xfrm>
            <a:off x="771525" y="969963"/>
            <a:ext cx="4683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200">
                <a:cs typeface="Times New Roman" panose="02020603050405020304" pitchFamily="18" charset="0"/>
                <a:sym typeface="Times New Roman" panose="02020603050405020304" pitchFamily="18" charset="0"/>
              </a:rPr>
              <a:t>将</a:t>
            </a:r>
            <a:endParaRPr lang="zh-CN" altLang="en-US" sz="2200">
              <a:sym typeface="Times New Roman" panose="02020603050405020304" pitchFamily="18" charset="0"/>
            </a:endParaRPr>
          </a:p>
        </p:txBody>
      </p:sp>
      <p:graphicFrame>
        <p:nvGraphicFramePr>
          <p:cNvPr id="62470" name="Object 15">
            <a:extLst>
              <a:ext uri="{FF2B5EF4-FFF2-40B4-BE49-F238E27FC236}">
                <a16:creationId xmlns:a16="http://schemas.microsoft.com/office/drawing/2014/main" id="{B0F7E2C1-2D18-4571-8A2C-D3773FCAAB39}"/>
              </a:ext>
            </a:extLst>
          </p:cNvPr>
          <p:cNvGraphicFramePr>
            <a:graphicFrameLocks noChangeAspect="1"/>
          </p:cNvGraphicFramePr>
          <p:nvPr/>
        </p:nvGraphicFramePr>
        <p:xfrm>
          <a:off x="2776538" y="788988"/>
          <a:ext cx="2514600" cy="763587"/>
        </p:xfrm>
        <a:graphic>
          <a:graphicData uri="http://schemas.openxmlformats.org/presentationml/2006/ole">
            <mc:AlternateContent xmlns:mc="http://schemas.openxmlformats.org/markup-compatibility/2006">
              <mc:Choice xmlns:v="urn:schemas-microsoft-com:vml" Requires="v">
                <p:oleObj spid="_x0000_s188614" name="Equation" r:id="rId5" imgW="1295400" imgH="393700" progId="Equation.DSMT4">
                  <p:embed/>
                </p:oleObj>
              </mc:Choice>
              <mc:Fallback>
                <p:oleObj name="Equation" r:id="rId5" imgW="1295400" imgH="393700" progId="Equation.DSMT4">
                  <p:embed/>
                  <p:pic>
                    <p:nvPicPr>
                      <p:cNvPr id="62470" name="Object 15">
                        <a:extLst>
                          <a:ext uri="{FF2B5EF4-FFF2-40B4-BE49-F238E27FC236}">
                            <a16:creationId xmlns:a16="http://schemas.microsoft.com/office/drawing/2014/main" id="{B0F7E2C1-2D18-4571-8A2C-D3773FCAAB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6538" y="788988"/>
                        <a:ext cx="2514600" cy="76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71" name="Object 16">
            <a:extLst>
              <a:ext uri="{FF2B5EF4-FFF2-40B4-BE49-F238E27FC236}">
                <a16:creationId xmlns:a16="http://schemas.microsoft.com/office/drawing/2014/main" id="{475CEE01-8E6F-4384-AEA1-9BBC03DCD2FB}"/>
              </a:ext>
            </a:extLst>
          </p:cNvPr>
          <p:cNvGraphicFramePr>
            <a:graphicFrameLocks noChangeAspect="1"/>
          </p:cNvGraphicFramePr>
          <p:nvPr/>
        </p:nvGraphicFramePr>
        <p:xfrm>
          <a:off x="1914525" y="1671638"/>
          <a:ext cx="1371600" cy="709612"/>
        </p:xfrm>
        <a:graphic>
          <a:graphicData uri="http://schemas.openxmlformats.org/presentationml/2006/ole">
            <mc:AlternateContent xmlns:mc="http://schemas.openxmlformats.org/markup-compatibility/2006">
              <mc:Choice xmlns:v="urn:schemas-microsoft-com:vml" Requires="v">
                <p:oleObj spid="_x0000_s188615" name="Equation" r:id="rId7" imgW="761669" imgH="393529" progId="Equation.DSMT4">
                  <p:embed/>
                </p:oleObj>
              </mc:Choice>
              <mc:Fallback>
                <p:oleObj name="Equation" r:id="rId7" imgW="761669" imgH="393529" progId="Equation.DSMT4">
                  <p:embed/>
                  <p:pic>
                    <p:nvPicPr>
                      <p:cNvPr id="62471" name="Object 16">
                        <a:extLst>
                          <a:ext uri="{FF2B5EF4-FFF2-40B4-BE49-F238E27FC236}">
                            <a16:creationId xmlns:a16="http://schemas.microsoft.com/office/drawing/2014/main" id="{475CEE01-8E6F-4384-AEA1-9BBC03DCD2F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4525" y="1671638"/>
                        <a:ext cx="1371600"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472" name="Rectangle 17">
            <a:extLst>
              <a:ext uri="{FF2B5EF4-FFF2-40B4-BE49-F238E27FC236}">
                <a16:creationId xmlns:a16="http://schemas.microsoft.com/office/drawing/2014/main" id="{461CB6EE-C96E-46D7-B0D8-1C767982F66D}"/>
              </a:ext>
            </a:extLst>
          </p:cNvPr>
          <p:cNvSpPr>
            <a:spLocks noChangeArrowheads="1"/>
          </p:cNvSpPr>
          <p:nvPr/>
        </p:nvSpPr>
        <p:spPr bwMode="auto">
          <a:xfrm>
            <a:off x="1076325" y="1808163"/>
            <a:ext cx="7524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200">
                <a:cs typeface="Times New Roman" panose="02020603050405020304" pitchFamily="18" charset="0"/>
                <a:sym typeface="Times New Roman" panose="02020603050405020304" pitchFamily="18" charset="0"/>
              </a:rPr>
              <a:t>由于</a:t>
            </a:r>
            <a:endParaRPr lang="zh-CN" altLang="en-US" sz="2200">
              <a:sym typeface="Times New Roman" panose="02020603050405020304" pitchFamily="18" charset="0"/>
            </a:endParaRPr>
          </a:p>
        </p:txBody>
      </p:sp>
      <p:graphicFrame>
        <p:nvGraphicFramePr>
          <p:cNvPr id="62473" name="Object 18">
            <a:extLst>
              <a:ext uri="{FF2B5EF4-FFF2-40B4-BE49-F238E27FC236}">
                <a16:creationId xmlns:a16="http://schemas.microsoft.com/office/drawing/2014/main" id="{022B1688-9E2C-4298-8831-21EFF2514E4C}"/>
              </a:ext>
            </a:extLst>
          </p:cNvPr>
          <p:cNvGraphicFramePr>
            <a:graphicFrameLocks noChangeAspect="1"/>
          </p:cNvGraphicFramePr>
          <p:nvPr/>
        </p:nvGraphicFramePr>
        <p:xfrm>
          <a:off x="4581525" y="1671638"/>
          <a:ext cx="1981200" cy="723900"/>
        </p:xfrm>
        <a:graphic>
          <a:graphicData uri="http://schemas.openxmlformats.org/presentationml/2006/ole">
            <mc:AlternateContent xmlns:mc="http://schemas.openxmlformats.org/markup-compatibility/2006">
              <mc:Choice xmlns:v="urn:schemas-microsoft-com:vml" Requires="v">
                <p:oleObj spid="_x0000_s188616" name="Equation" r:id="rId9" imgW="1079032" imgH="393529" progId="Equation.DSMT4">
                  <p:embed/>
                </p:oleObj>
              </mc:Choice>
              <mc:Fallback>
                <p:oleObj name="Equation" r:id="rId9" imgW="1079032" imgH="393529" progId="Equation.DSMT4">
                  <p:embed/>
                  <p:pic>
                    <p:nvPicPr>
                      <p:cNvPr id="62473" name="Object 18">
                        <a:extLst>
                          <a:ext uri="{FF2B5EF4-FFF2-40B4-BE49-F238E27FC236}">
                            <a16:creationId xmlns:a16="http://schemas.microsoft.com/office/drawing/2014/main" id="{022B1688-9E2C-4298-8831-21EFF2514E4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81525" y="1671638"/>
                        <a:ext cx="19812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474" name="AutoShape 19">
            <a:extLst>
              <a:ext uri="{FF2B5EF4-FFF2-40B4-BE49-F238E27FC236}">
                <a16:creationId xmlns:a16="http://schemas.microsoft.com/office/drawing/2014/main" id="{80CC7590-558B-42D0-A416-25FBAAAF163B}"/>
              </a:ext>
            </a:extLst>
          </p:cNvPr>
          <p:cNvSpPr>
            <a:spLocks noChangeArrowheads="1"/>
          </p:cNvSpPr>
          <p:nvPr/>
        </p:nvSpPr>
        <p:spPr bwMode="auto">
          <a:xfrm>
            <a:off x="3667125" y="1900238"/>
            <a:ext cx="533400" cy="304800"/>
          </a:xfrm>
          <a:prstGeom prst="rightArrow">
            <a:avLst>
              <a:gd name="adj1" fmla="val 50000"/>
              <a:gd name="adj2" fmla="val 43750"/>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endParaRPr lang="zh-CN" altLang="en-US" sz="2200">
              <a:solidFill>
                <a:schemeClr val="tx1"/>
              </a:solidFill>
              <a:sym typeface="Times New Roman" panose="02020603050405020304" pitchFamily="18" charset="0"/>
            </a:endParaRPr>
          </a:p>
        </p:txBody>
      </p:sp>
      <p:graphicFrame>
        <p:nvGraphicFramePr>
          <p:cNvPr id="62475" name="Object 20">
            <a:extLst>
              <a:ext uri="{FF2B5EF4-FFF2-40B4-BE49-F238E27FC236}">
                <a16:creationId xmlns:a16="http://schemas.microsoft.com/office/drawing/2014/main" id="{29716C40-442D-4DAA-AF64-3884DF1D384A}"/>
              </a:ext>
            </a:extLst>
          </p:cNvPr>
          <p:cNvGraphicFramePr>
            <a:graphicFrameLocks noChangeAspect="1"/>
          </p:cNvGraphicFramePr>
          <p:nvPr/>
        </p:nvGraphicFramePr>
        <p:xfrm>
          <a:off x="3290888" y="2432050"/>
          <a:ext cx="1066800" cy="719138"/>
        </p:xfrm>
        <a:graphic>
          <a:graphicData uri="http://schemas.openxmlformats.org/presentationml/2006/ole">
            <mc:AlternateContent xmlns:mc="http://schemas.openxmlformats.org/markup-compatibility/2006">
              <mc:Choice xmlns:v="urn:schemas-microsoft-com:vml" Requires="v">
                <p:oleObj spid="_x0000_s188617" name="Equation" r:id="rId11" imgW="583947" imgH="393529" progId="Equation.DSMT4">
                  <p:embed/>
                </p:oleObj>
              </mc:Choice>
              <mc:Fallback>
                <p:oleObj name="Equation" r:id="rId11" imgW="583947" imgH="393529" progId="Equation.DSMT4">
                  <p:embed/>
                  <p:pic>
                    <p:nvPicPr>
                      <p:cNvPr id="62475" name="Object 20">
                        <a:extLst>
                          <a:ext uri="{FF2B5EF4-FFF2-40B4-BE49-F238E27FC236}">
                            <a16:creationId xmlns:a16="http://schemas.microsoft.com/office/drawing/2014/main" id="{29716C40-442D-4DAA-AF64-3884DF1D384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90888" y="2432050"/>
                        <a:ext cx="1066800" cy="7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476" name="Rectangle 21">
            <a:extLst>
              <a:ext uri="{FF2B5EF4-FFF2-40B4-BE49-F238E27FC236}">
                <a16:creationId xmlns:a16="http://schemas.microsoft.com/office/drawing/2014/main" id="{E34BD51D-679E-4307-B642-B6006FF7CD2D}"/>
              </a:ext>
            </a:extLst>
          </p:cNvPr>
          <p:cNvSpPr>
            <a:spLocks noChangeArrowheads="1"/>
          </p:cNvSpPr>
          <p:nvPr/>
        </p:nvSpPr>
        <p:spPr bwMode="auto">
          <a:xfrm>
            <a:off x="2366963" y="2620963"/>
            <a:ext cx="7524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200">
                <a:cs typeface="Times New Roman" panose="02020603050405020304" pitchFamily="18" charset="0"/>
                <a:sym typeface="Times New Roman" panose="02020603050405020304" pitchFamily="18" charset="0"/>
              </a:rPr>
              <a:t>得到</a:t>
            </a:r>
            <a:endParaRPr lang="zh-CN" altLang="en-US" sz="2200">
              <a:sym typeface="Times New Roman" panose="02020603050405020304" pitchFamily="18" charset="0"/>
            </a:endParaRPr>
          </a:p>
        </p:txBody>
      </p:sp>
    </p:spTree>
    <p:extLst>
      <p:ext uri="{BB962C8B-B14F-4D97-AF65-F5344CB8AC3E}">
        <p14:creationId xmlns:p14="http://schemas.microsoft.com/office/powerpoint/2010/main" val="23055768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DCFA76E-F7EB-456E-B193-58272B54341F}"/>
              </a:ext>
            </a:extLst>
          </p:cNvPr>
          <p:cNvSpPr>
            <a:spLocks noGrp="1" noRot="1" noChangeArrowheads="1"/>
          </p:cNvSpPr>
          <p:nvPr>
            <p:ph idx="1"/>
          </p:nvPr>
        </p:nvSpPr>
        <p:spPr>
          <a:xfrm>
            <a:off x="234950" y="701675"/>
            <a:ext cx="8540750" cy="3886200"/>
          </a:xfrm>
        </p:spPr>
        <p:txBody>
          <a:bodyPr/>
          <a:lstStyle/>
          <a:p>
            <a:pPr marL="0" indent="0" eaLnBrk="1" hangingPunct="1">
              <a:buFont typeface="Verdana" panose="020B0604030504040204" pitchFamily="34" charset="0"/>
              <a:buNone/>
              <a:defRPr/>
            </a:pPr>
            <a:r>
              <a:rPr lang="zh-CN" altLang="en-US" sz="2800" dirty="0">
                <a:sym typeface="Times New Roman" panose="02020603050405020304" pitchFamily="18" charset="0"/>
              </a:rPr>
              <a:t>电子的加速度</a:t>
            </a:r>
          </a:p>
          <a:p>
            <a:pPr eaLnBrk="1" hangingPunct="1">
              <a:defRPr/>
            </a:pPr>
            <a:endParaRPr lang="zh-CN" altLang="en-US" sz="2800" dirty="0">
              <a:sym typeface="Times New Roman" panose="02020603050405020304" pitchFamily="18" charset="0"/>
            </a:endParaRPr>
          </a:p>
          <a:p>
            <a:pPr eaLnBrk="1" hangingPunct="1">
              <a:defRPr/>
            </a:pPr>
            <a:endParaRPr lang="zh-CN" altLang="en-US" sz="2800" dirty="0">
              <a:sym typeface="Times New Roman" panose="02020603050405020304" pitchFamily="18" charset="0"/>
            </a:endParaRPr>
          </a:p>
          <a:p>
            <a:pPr eaLnBrk="1" hangingPunct="1">
              <a:defRPr/>
            </a:pPr>
            <a:endParaRPr lang="zh-CN" altLang="en-US" sz="2800" dirty="0">
              <a:sym typeface="Times New Roman" panose="02020603050405020304" pitchFamily="18" charset="0"/>
            </a:endParaRPr>
          </a:p>
          <a:p>
            <a:pPr marL="0" indent="0" eaLnBrk="1" hangingPunct="1">
              <a:buFont typeface="Verdana" panose="020B0604030504040204" pitchFamily="34" charset="0"/>
              <a:buNone/>
              <a:defRPr/>
            </a:pPr>
            <a:r>
              <a:rPr lang="zh-CN" altLang="en-US" sz="2800" dirty="0">
                <a:sym typeface="Times New Roman" panose="02020603050405020304" pitchFamily="18" charset="0"/>
              </a:rPr>
              <a:t>利用电子有效质量定义</a:t>
            </a:r>
          </a:p>
          <a:p>
            <a:pPr eaLnBrk="1" hangingPunct="1">
              <a:defRPr/>
            </a:pPr>
            <a:endParaRPr lang="zh-CN" altLang="en-US" sz="2800" dirty="0">
              <a:sym typeface="Times New Roman" panose="02020603050405020304" pitchFamily="18" charset="0"/>
            </a:endParaRPr>
          </a:p>
        </p:txBody>
      </p:sp>
      <p:sp>
        <p:nvSpPr>
          <p:cNvPr id="63491" name="Rectangle 3">
            <a:extLst>
              <a:ext uri="{FF2B5EF4-FFF2-40B4-BE49-F238E27FC236}">
                <a16:creationId xmlns:a16="http://schemas.microsoft.com/office/drawing/2014/main" id="{6A9C3DF5-6E70-4766-A84E-B710FD703B3F}"/>
              </a:ext>
            </a:extLst>
          </p:cNvPr>
          <p:cNvSpPr>
            <a:spLocks noChangeArrowheads="1"/>
          </p:cNvSpPr>
          <p:nvPr/>
        </p:nvSpPr>
        <p:spPr bwMode="auto">
          <a:xfrm>
            <a:off x="0" y="303530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a:solidFill>
                <a:schemeClr val="tx1"/>
              </a:solidFill>
              <a:sym typeface="Times New Roman" panose="02020603050405020304" pitchFamily="18" charset="0"/>
            </a:endParaRPr>
          </a:p>
        </p:txBody>
      </p:sp>
      <p:graphicFrame>
        <p:nvGraphicFramePr>
          <p:cNvPr id="63492" name="Object 4">
            <a:extLst>
              <a:ext uri="{FF2B5EF4-FFF2-40B4-BE49-F238E27FC236}">
                <a16:creationId xmlns:a16="http://schemas.microsoft.com/office/drawing/2014/main" id="{72F49902-DBAE-4035-8641-9E9DF81523AA}"/>
              </a:ext>
            </a:extLst>
          </p:cNvPr>
          <p:cNvGraphicFramePr>
            <a:graphicFrameLocks noChangeAspect="1"/>
          </p:cNvGraphicFramePr>
          <p:nvPr/>
        </p:nvGraphicFramePr>
        <p:xfrm>
          <a:off x="869950" y="1354138"/>
          <a:ext cx="6124575" cy="995362"/>
        </p:xfrm>
        <a:graphic>
          <a:graphicData uri="http://schemas.openxmlformats.org/presentationml/2006/ole">
            <mc:AlternateContent xmlns:mc="http://schemas.openxmlformats.org/markup-compatibility/2006">
              <mc:Choice xmlns:v="urn:schemas-microsoft-com:vml" Requires="v">
                <p:oleObj spid="_x0000_s189559" name="Equation" r:id="rId3" imgW="2578100" imgH="419100" progId="Equation.DSMT4">
                  <p:embed/>
                </p:oleObj>
              </mc:Choice>
              <mc:Fallback>
                <p:oleObj name="Equation" r:id="rId3" imgW="2578100" imgH="419100" progId="Equation.DSMT4">
                  <p:embed/>
                  <p:pic>
                    <p:nvPicPr>
                      <p:cNvPr id="63492" name="Object 4">
                        <a:extLst>
                          <a:ext uri="{FF2B5EF4-FFF2-40B4-BE49-F238E27FC236}">
                            <a16:creationId xmlns:a16="http://schemas.microsoft.com/office/drawing/2014/main" id="{72F49902-DBAE-4035-8641-9E9DF81523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 y="1354138"/>
                        <a:ext cx="6124575"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493" name="Rectangle 5">
            <a:extLst>
              <a:ext uri="{FF2B5EF4-FFF2-40B4-BE49-F238E27FC236}">
                <a16:creationId xmlns:a16="http://schemas.microsoft.com/office/drawing/2014/main" id="{1DED8746-F5B7-4333-9F75-443CF523FF1E}"/>
              </a:ext>
            </a:extLst>
          </p:cNvPr>
          <p:cNvSpPr>
            <a:spLocks noChangeArrowheads="1"/>
          </p:cNvSpPr>
          <p:nvPr/>
        </p:nvSpPr>
        <p:spPr bwMode="auto">
          <a:xfrm>
            <a:off x="0" y="-1841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a:solidFill>
                <a:schemeClr val="tx1"/>
              </a:solidFill>
              <a:sym typeface="Times New Roman" panose="02020603050405020304" pitchFamily="18" charset="0"/>
            </a:endParaRPr>
          </a:p>
        </p:txBody>
      </p:sp>
      <p:graphicFrame>
        <p:nvGraphicFramePr>
          <p:cNvPr id="63494" name="Object 6">
            <a:extLst>
              <a:ext uri="{FF2B5EF4-FFF2-40B4-BE49-F238E27FC236}">
                <a16:creationId xmlns:a16="http://schemas.microsoft.com/office/drawing/2014/main" id="{04729A0F-11AF-4D36-BDDE-F5CF291D6740}"/>
              </a:ext>
            </a:extLst>
          </p:cNvPr>
          <p:cNvGraphicFramePr>
            <a:graphicFrameLocks noChangeAspect="1"/>
          </p:cNvGraphicFramePr>
          <p:nvPr/>
        </p:nvGraphicFramePr>
        <p:xfrm>
          <a:off x="4140200" y="2525713"/>
          <a:ext cx="1500188" cy="1387475"/>
        </p:xfrm>
        <a:graphic>
          <a:graphicData uri="http://schemas.openxmlformats.org/presentationml/2006/ole">
            <mc:AlternateContent xmlns:mc="http://schemas.openxmlformats.org/markup-compatibility/2006">
              <mc:Choice xmlns:v="urn:schemas-microsoft-com:vml" Requires="v">
                <p:oleObj spid="_x0000_s189560" name="Equation" r:id="rId5" imgW="672808" imgH="622030" progId="Equation.DSMT4">
                  <p:embed/>
                </p:oleObj>
              </mc:Choice>
              <mc:Fallback>
                <p:oleObj name="Equation" r:id="rId5" imgW="672808" imgH="622030" progId="Equation.DSMT4">
                  <p:embed/>
                  <p:pic>
                    <p:nvPicPr>
                      <p:cNvPr id="63494" name="Object 6">
                        <a:extLst>
                          <a:ext uri="{FF2B5EF4-FFF2-40B4-BE49-F238E27FC236}">
                            <a16:creationId xmlns:a16="http://schemas.microsoft.com/office/drawing/2014/main" id="{04729A0F-11AF-4D36-BDDE-F5CF291D67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0200" y="2525713"/>
                        <a:ext cx="1500188"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495" name="Object 4">
            <a:extLst>
              <a:ext uri="{FF2B5EF4-FFF2-40B4-BE49-F238E27FC236}">
                <a16:creationId xmlns:a16="http://schemas.microsoft.com/office/drawing/2014/main" id="{5449D275-DD53-4439-8DA4-34AC30A689F3}"/>
              </a:ext>
            </a:extLst>
          </p:cNvPr>
          <p:cNvGraphicFramePr>
            <a:graphicFrameLocks noChangeAspect="1"/>
          </p:cNvGraphicFramePr>
          <p:nvPr/>
        </p:nvGraphicFramePr>
        <p:xfrm>
          <a:off x="1079500" y="3944938"/>
          <a:ext cx="1295400" cy="1120775"/>
        </p:xfrm>
        <a:graphic>
          <a:graphicData uri="http://schemas.openxmlformats.org/presentationml/2006/ole">
            <mc:AlternateContent xmlns:mc="http://schemas.openxmlformats.org/markup-compatibility/2006">
              <mc:Choice xmlns:v="urn:schemas-microsoft-com:vml" Requires="v">
                <p:oleObj spid="_x0000_s189561" r:id="rId7" imgW="495085" imgH="431613" progId="Equation.3">
                  <p:embed/>
                </p:oleObj>
              </mc:Choice>
              <mc:Fallback>
                <p:oleObj r:id="rId7" imgW="495085" imgH="431613" progId="Equation.3">
                  <p:embed/>
                  <p:pic>
                    <p:nvPicPr>
                      <p:cNvPr id="63495" name="Object 4">
                        <a:extLst>
                          <a:ext uri="{FF2B5EF4-FFF2-40B4-BE49-F238E27FC236}">
                            <a16:creationId xmlns:a16="http://schemas.microsoft.com/office/drawing/2014/main" id="{5449D275-DD53-4439-8DA4-34AC30A689F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9500" y="3944938"/>
                        <a:ext cx="129540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496" name="矩形 1">
            <a:extLst>
              <a:ext uri="{FF2B5EF4-FFF2-40B4-BE49-F238E27FC236}">
                <a16:creationId xmlns:a16="http://schemas.microsoft.com/office/drawing/2014/main" id="{EC31C4BC-B9CC-4F5C-A3A5-925AC0FD2220}"/>
              </a:ext>
            </a:extLst>
          </p:cNvPr>
          <p:cNvSpPr>
            <a:spLocks noChangeArrowheads="1"/>
          </p:cNvSpPr>
          <p:nvPr/>
        </p:nvSpPr>
        <p:spPr bwMode="auto">
          <a:xfrm>
            <a:off x="2609850" y="4243388"/>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 typeface="Wingdings" panose="05000000000000000000" pitchFamily="2" charset="2"/>
              <a:buNone/>
            </a:pPr>
            <a:r>
              <a:rPr lang="zh-CN" altLang="en-US" sz="2800">
                <a:solidFill>
                  <a:srgbClr val="FF0000"/>
                </a:solidFill>
                <a:sym typeface="Times New Roman" panose="02020603050405020304" pitchFamily="18" charset="0"/>
              </a:rPr>
              <a:t>与牛顿第二定律类似</a:t>
            </a:r>
          </a:p>
        </p:txBody>
      </p:sp>
    </p:spTree>
    <p:extLst>
      <p:ext uri="{BB962C8B-B14F-4D97-AF65-F5344CB8AC3E}">
        <p14:creationId xmlns:p14="http://schemas.microsoft.com/office/powerpoint/2010/main" val="18993342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1106D4E-EBDE-48BF-8C67-C712D91FED97}"/>
              </a:ext>
            </a:extLst>
          </p:cNvPr>
          <p:cNvSpPr>
            <a:spLocks noGrp="1" noRot="1" noChangeArrowheads="1"/>
          </p:cNvSpPr>
          <p:nvPr>
            <p:ph type="title"/>
          </p:nvPr>
        </p:nvSpPr>
        <p:spPr>
          <a:xfrm>
            <a:off x="301625" y="188913"/>
            <a:ext cx="854075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zh-CN" altLang="en-US" sz="2800" kern="1200" dirty="0">
                <a:solidFill>
                  <a:srgbClr val="FF0000"/>
                </a:solidFill>
                <a:sym typeface="Times New Roman" panose="02020603050405020304" pitchFamily="18" charset="0"/>
              </a:rPr>
              <a:t>有效质量的意义</a:t>
            </a:r>
          </a:p>
        </p:txBody>
      </p:sp>
      <p:sp>
        <p:nvSpPr>
          <p:cNvPr id="64515" name="Rectangle 4">
            <a:extLst>
              <a:ext uri="{FF2B5EF4-FFF2-40B4-BE49-F238E27FC236}">
                <a16:creationId xmlns:a16="http://schemas.microsoft.com/office/drawing/2014/main" id="{3F476561-0E97-4341-9492-20CBF97098A2}"/>
              </a:ext>
            </a:extLst>
          </p:cNvPr>
          <p:cNvSpPr>
            <a:spLocks noChangeArrowheads="1"/>
          </p:cNvSpPr>
          <p:nvPr/>
        </p:nvSpPr>
        <p:spPr bwMode="auto">
          <a:xfrm>
            <a:off x="584200" y="2117725"/>
            <a:ext cx="8026400" cy="395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defRPr sz="2000" b="1">
                <a:solidFill>
                  <a:schemeClr val="tx1"/>
                </a:solidFill>
                <a:latin typeface="Times New Roman" panose="02020603050405020304" pitchFamily="18" charset="0"/>
                <a:ea typeface="宋体" panose="02010600030101010101" pitchFamily="2" charset="-122"/>
              </a:defRPr>
            </a:lvl1pPr>
            <a:lvl2pPr marL="908050" indent="-436563">
              <a:defRPr sz="2000" b="1">
                <a:solidFill>
                  <a:schemeClr val="tx1"/>
                </a:solidFill>
                <a:latin typeface="Times New Roman" panose="02020603050405020304" pitchFamily="18" charset="0"/>
                <a:ea typeface="宋体" panose="02010600030101010101" pitchFamily="2" charset="-122"/>
              </a:defRPr>
            </a:lvl2pPr>
            <a:lvl3pPr marL="1304925" indent="-395288">
              <a:defRPr sz="2000" b="1">
                <a:solidFill>
                  <a:schemeClr val="tx1"/>
                </a:solidFill>
                <a:latin typeface="Times New Roman" panose="02020603050405020304" pitchFamily="18" charset="0"/>
                <a:ea typeface="宋体" panose="02010600030101010101" pitchFamily="2" charset="-122"/>
              </a:defRPr>
            </a:lvl3pPr>
            <a:lvl4pPr marL="1693863" indent="-387350">
              <a:defRPr sz="2000" b="1">
                <a:solidFill>
                  <a:schemeClr val="tx1"/>
                </a:solidFill>
                <a:latin typeface="Times New Roman" panose="02020603050405020304" pitchFamily="18" charset="0"/>
                <a:ea typeface="宋体" panose="02010600030101010101" pitchFamily="2" charset="-122"/>
              </a:defRPr>
            </a:lvl4pPr>
            <a:lvl5pPr marL="2093913" indent="-398463">
              <a:defRPr sz="2000" b="1">
                <a:solidFill>
                  <a:schemeClr val="tx1"/>
                </a:solidFill>
                <a:latin typeface="Times New Roman" panose="02020603050405020304" pitchFamily="18" charset="0"/>
                <a:ea typeface="宋体" panose="02010600030101010101" pitchFamily="2" charset="-122"/>
              </a:defRPr>
            </a:lvl5pPr>
            <a:lvl6pPr marL="2551113" indent="-398463"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6pPr>
            <a:lvl7pPr marL="3008313" indent="-398463"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7pPr>
            <a:lvl8pPr marL="3465513" indent="-398463"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8pPr>
            <a:lvl9pPr marL="3922713" indent="-398463" eaLnBrk="0" fontAlgn="base" hangingPunct="0">
              <a:spcBef>
                <a:spcPct val="0"/>
              </a:spcBef>
              <a:spcAft>
                <a:spcPct val="0"/>
              </a:spcAft>
              <a:defRPr sz="2000" b="1">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hlink"/>
              </a:buClr>
              <a:buSzPct val="70000"/>
              <a:buFont typeface="Wingdings" panose="05000000000000000000" pitchFamily="2" charset="2"/>
              <a:buNone/>
            </a:pPr>
            <a:r>
              <a:rPr lang="zh-CN" altLang="en-US" sz="3200">
                <a:sym typeface="Times New Roman" panose="02020603050405020304" pitchFamily="18" charset="0"/>
              </a:rPr>
              <a:t> </a:t>
            </a:r>
          </a:p>
        </p:txBody>
      </p:sp>
      <p:sp>
        <p:nvSpPr>
          <p:cNvPr id="64516" name="AutoShape 5">
            <a:extLst>
              <a:ext uri="{FF2B5EF4-FFF2-40B4-BE49-F238E27FC236}">
                <a16:creationId xmlns:a16="http://schemas.microsoft.com/office/drawing/2014/main" id="{8A8E310D-5027-41C7-A83D-01C53F6B8E91}"/>
              </a:ext>
            </a:extLst>
          </p:cNvPr>
          <p:cNvSpPr>
            <a:spLocks noChangeArrowheads="1"/>
          </p:cNvSpPr>
          <p:nvPr/>
        </p:nvSpPr>
        <p:spPr bwMode="auto">
          <a:xfrm>
            <a:off x="584200" y="3013075"/>
            <a:ext cx="1668463" cy="800100"/>
          </a:xfrm>
          <a:prstGeom prst="roundRect">
            <a:avLst>
              <a:gd name="adj" fmla="val 16667"/>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a:sym typeface="Times New Roman" panose="02020603050405020304" pitchFamily="18" charset="0"/>
              </a:rPr>
              <a:t>电子在外力</a:t>
            </a:r>
          </a:p>
          <a:p>
            <a:pPr algn="ctr">
              <a:spcBef>
                <a:spcPct val="0"/>
              </a:spcBef>
              <a:buClrTx/>
              <a:buFontTx/>
              <a:buNone/>
            </a:pPr>
            <a:r>
              <a:rPr lang="zh-CN" altLang="en-US">
                <a:sym typeface="Times New Roman" panose="02020603050405020304" pitchFamily="18" charset="0"/>
              </a:rPr>
              <a:t>作用下运动</a:t>
            </a:r>
          </a:p>
        </p:txBody>
      </p:sp>
      <p:sp>
        <p:nvSpPr>
          <p:cNvPr id="64517" name="AutoShape 6">
            <a:extLst>
              <a:ext uri="{FF2B5EF4-FFF2-40B4-BE49-F238E27FC236}">
                <a16:creationId xmlns:a16="http://schemas.microsoft.com/office/drawing/2014/main" id="{F3E5B5EF-C8FC-43C8-8D25-23513B00B3B5}"/>
              </a:ext>
            </a:extLst>
          </p:cNvPr>
          <p:cNvSpPr>
            <a:spLocks noChangeArrowheads="1"/>
          </p:cNvSpPr>
          <p:nvPr/>
        </p:nvSpPr>
        <p:spPr bwMode="auto">
          <a:xfrm>
            <a:off x="595313" y="4111625"/>
            <a:ext cx="1657350" cy="800100"/>
          </a:xfrm>
          <a:prstGeom prst="roundRect">
            <a:avLst>
              <a:gd name="adj" fmla="val 16667"/>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a:sym typeface="Times New Roman" panose="02020603050405020304" pitchFamily="18" charset="0"/>
              </a:rPr>
              <a:t>受到外电场力</a:t>
            </a:r>
          </a:p>
          <a:p>
            <a:pPr algn="ctr">
              <a:spcBef>
                <a:spcPct val="0"/>
              </a:spcBef>
              <a:buClrTx/>
              <a:buFontTx/>
              <a:buNone/>
            </a:pPr>
            <a:r>
              <a:rPr lang="en-US" altLang="zh-CN">
                <a:sym typeface="Times New Roman" panose="02020603050405020304" pitchFamily="18" charset="0"/>
              </a:rPr>
              <a:t>f</a:t>
            </a:r>
            <a:r>
              <a:rPr lang="zh-CN" altLang="en-US">
                <a:sym typeface="Times New Roman" panose="02020603050405020304" pitchFamily="18" charset="0"/>
              </a:rPr>
              <a:t>的作用</a:t>
            </a:r>
          </a:p>
        </p:txBody>
      </p:sp>
      <p:sp>
        <p:nvSpPr>
          <p:cNvPr id="64518" name="AutoShape 7">
            <a:extLst>
              <a:ext uri="{FF2B5EF4-FFF2-40B4-BE49-F238E27FC236}">
                <a16:creationId xmlns:a16="http://schemas.microsoft.com/office/drawing/2014/main" id="{5229D3BB-3AC7-4295-A9DD-D1FE11A90957}"/>
              </a:ext>
            </a:extLst>
          </p:cNvPr>
          <p:cNvSpPr>
            <a:spLocks noChangeArrowheads="1"/>
          </p:cNvSpPr>
          <p:nvPr/>
        </p:nvSpPr>
        <p:spPr bwMode="auto">
          <a:xfrm>
            <a:off x="6781800" y="2965450"/>
            <a:ext cx="1655763" cy="800100"/>
          </a:xfrm>
          <a:prstGeom prst="roundRect">
            <a:avLst>
              <a:gd name="adj" fmla="val 16667"/>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a:sym typeface="Times New Roman" panose="02020603050405020304" pitchFamily="18" charset="0"/>
              </a:rPr>
              <a:t>内部原子、</a:t>
            </a:r>
          </a:p>
          <a:p>
            <a:pPr algn="ctr">
              <a:spcBef>
                <a:spcPct val="0"/>
              </a:spcBef>
              <a:buClrTx/>
              <a:buFontTx/>
              <a:buNone/>
            </a:pPr>
            <a:r>
              <a:rPr lang="zh-CN" altLang="en-US">
                <a:sym typeface="Times New Roman" panose="02020603050405020304" pitchFamily="18" charset="0"/>
              </a:rPr>
              <a:t>电子相互作用</a:t>
            </a:r>
          </a:p>
        </p:txBody>
      </p:sp>
      <p:sp>
        <p:nvSpPr>
          <p:cNvPr id="64519" name="AutoShape 8">
            <a:extLst>
              <a:ext uri="{FF2B5EF4-FFF2-40B4-BE49-F238E27FC236}">
                <a16:creationId xmlns:a16="http://schemas.microsoft.com/office/drawing/2014/main" id="{744AB3A1-BA34-4D41-AC26-D48E0A7AB01A}"/>
              </a:ext>
            </a:extLst>
          </p:cNvPr>
          <p:cNvSpPr>
            <a:spLocks noChangeArrowheads="1"/>
          </p:cNvSpPr>
          <p:nvPr/>
        </p:nvSpPr>
        <p:spPr bwMode="auto">
          <a:xfrm>
            <a:off x="6781800" y="4070350"/>
            <a:ext cx="1671638" cy="771525"/>
          </a:xfrm>
          <a:prstGeom prst="roundRect">
            <a:avLst>
              <a:gd name="adj" fmla="val 16667"/>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a:sym typeface="Times New Roman" panose="02020603050405020304" pitchFamily="18" charset="0"/>
              </a:rPr>
              <a:t>内部势场作用</a:t>
            </a:r>
          </a:p>
        </p:txBody>
      </p:sp>
      <p:sp>
        <p:nvSpPr>
          <p:cNvPr id="64520" name="AutoShape 9">
            <a:extLst>
              <a:ext uri="{FF2B5EF4-FFF2-40B4-BE49-F238E27FC236}">
                <a16:creationId xmlns:a16="http://schemas.microsoft.com/office/drawing/2014/main" id="{08D27565-3660-4B19-9F96-FD10EC7787D0}"/>
              </a:ext>
            </a:extLst>
          </p:cNvPr>
          <p:cNvSpPr>
            <a:spLocks noChangeArrowheads="1"/>
          </p:cNvSpPr>
          <p:nvPr/>
        </p:nvSpPr>
        <p:spPr bwMode="auto">
          <a:xfrm>
            <a:off x="3636963" y="4540250"/>
            <a:ext cx="1655762" cy="936625"/>
          </a:xfrm>
          <a:prstGeom prst="roundRect">
            <a:avLst>
              <a:gd name="adj" fmla="val 16667"/>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a:sym typeface="Times New Roman" panose="02020603050405020304" pitchFamily="18" charset="0"/>
              </a:rPr>
              <a:t>引入有效质量</a:t>
            </a:r>
          </a:p>
        </p:txBody>
      </p:sp>
      <p:sp>
        <p:nvSpPr>
          <p:cNvPr id="64521" name="AutoShape 10">
            <a:extLst>
              <a:ext uri="{FF2B5EF4-FFF2-40B4-BE49-F238E27FC236}">
                <a16:creationId xmlns:a16="http://schemas.microsoft.com/office/drawing/2014/main" id="{C05C3F5E-C1F7-4B0E-A87F-098816EBCE12}"/>
              </a:ext>
            </a:extLst>
          </p:cNvPr>
          <p:cNvSpPr>
            <a:spLocks noChangeArrowheads="1"/>
          </p:cNvSpPr>
          <p:nvPr/>
        </p:nvSpPr>
        <p:spPr bwMode="auto">
          <a:xfrm>
            <a:off x="931863" y="5603875"/>
            <a:ext cx="1655762" cy="936625"/>
          </a:xfrm>
          <a:prstGeom prst="roundRect">
            <a:avLst>
              <a:gd name="adj" fmla="val 16667"/>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a:sym typeface="Times New Roman" panose="02020603050405020304" pitchFamily="18" charset="0"/>
              </a:rPr>
              <a:t>外力</a:t>
            </a:r>
            <a:r>
              <a:rPr lang="en-US" altLang="zh-CN">
                <a:sym typeface="Times New Roman" panose="02020603050405020304" pitchFamily="18" charset="0"/>
              </a:rPr>
              <a:t>f</a:t>
            </a:r>
            <a:r>
              <a:rPr lang="zh-CN" altLang="en-US">
                <a:sym typeface="Times New Roman" panose="02020603050405020304" pitchFamily="18" charset="0"/>
              </a:rPr>
              <a:t>和电子的</a:t>
            </a:r>
          </a:p>
          <a:p>
            <a:pPr algn="ctr">
              <a:spcBef>
                <a:spcPct val="0"/>
              </a:spcBef>
              <a:buClrTx/>
              <a:buFontTx/>
              <a:buNone/>
            </a:pPr>
            <a:r>
              <a:rPr lang="zh-CN" altLang="en-US">
                <a:sym typeface="Times New Roman" panose="02020603050405020304" pitchFamily="18" charset="0"/>
              </a:rPr>
              <a:t>加速度相联系</a:t>
            </a:r>
          </a:p>
        </p:txBody>
      </p:sp>
      <p:sp>
        <p:nvSpPr>
          <p:cNvPr id="64522" name="AutoShape 11">
            <a:extLst>
              <a:ext uri="{FF2B5EF4-FFF2-40B4-BE49-F238E27FC236}">
                <a16:creationId xmlns:a16="http://schemas.microsoft.com/office/drawing/2014/main" id="{AA22E769-469A-4380-919F-0E650016DE5D}"/>
              </a:ext>
            </a:extLst>
          </p:cNvPr>
          <p:cNvSpPr>
            <a:spLocks noChangeArrowheads="1"/>
          </p:cNvSpPr>
          <p:nvPr/>
        </p:nvSpPr>
        <p:spPr bwMode="auto">
          <a:xfrm>
            <a:off x="6262688" y="5494338"/>
            <a:ext cx="1655762" cy="936625"/>
          </a:xfrm>
          <a:prstGeom prst="roundRect">
            <a:avLst>
              <a:gd name="adj" fmla="val 16667"/>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a:spcBef>
                <a:spcPct val="0"/>
              </a:spcBef>
              <a:buClrTx/>
              <a:buFontTx/>
              <a:buNone/>
            </a:pPr>
            <a:r>
              <a:rPr lang="zh-CN" altLang="en-US">
                <a:sym typeface="Times New Roman" panose="02020603050405020304" pitchFamily="18" charset="0"/>
              </a:rPr>
              <a:t>有效质量概括</a:t>
            </a:r>
          </a:p>
          <a:p>
            <a:pPr algn="ctr">
              <a:spcBef>
                <a:spcPct val="0"/>
              </a:spcBef>
              <a:buClrTx/>
              <a:buFontTx/>
              <a:buNone/>
            </a:pPr>
            <a:r>
              <a:rPr lang="zh-CN" altLang="en-US">
                <a:sym typeface="Times New Roman" panose="02020603050405020304" pitchFamily="18" charset="0"/>
              </a:rPr>
              <a:t>内部势场作用</a:t>
            </a:r>
          </a:p>
        </p:txBody>
      </p:sp>
      <p:sp>
        <p:nvSpPr>
          <p:cNvPr id="64523" name="AutoShape 12">
            <a:extLst>
              <a:ext uri="{FF2B5EF4-FFF2-40B4-BE49-F238E27FC236}">
                <a16:creationId xmlns:a16="http://schemas.microsoft.com/office/drawing/2014/main" id="{D65A0C75-59FC-4C87-93C2-E6B5613BE7B8}"/>
              </a:ext>
            </a:extLst>
          </p:cNvPr>
          <p:cNvSpPr>
            <a:spLocks noChangeArrowheads="1"/>
          </p:cNvSpPr>
          <p:nvPr/>
        </p:nvSpPr>
        <p:spPr bwMode="auto">
          <a:xfrm rot="972372">
            <a:off x="2338388" y="4473575"/>
            <a:ext cx="1312862" cy="358775"/>
          </a:xfrm>
          <a:prstGeom prst="rightArrow">
            <a:avLst>
              <a:gd name="adj1" fmla="val 30769"/>
              <a:gd name="adj2" fmla="val 139917"/>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a:spcBef>
                <a:spcPct val="0"/>
              </a:spcBef>
              <a:buClrTx/>
              <a:buFontTx/>
              <a:buNone/>
            </a:pPr>
            <a:endParaRPr lang="zh-CN" altLang="en-US">
              <a:sym typeface="Times New Roman" panose="02020603050405020304" pitchFamily="18" charset="0"/>
            </a:endParaRPr>
          </a:p>
        </p:txBody>
      </p:sp>
      <p:sp>
        <p:nvSpPr>
          <p:cNvPr id="64524" name="AutoShape 13">
            <a:extLst>
              <a:ext uri="{FF2B5EF4-FFF2-40B4-BE49-F238E27FC236}">
                <a16:creationId xmlns:a16="http://schemas.microsoft.com/office/drawing/2014/main" id="{65CE8AA3-E005-40C8-866A-4992361ADE45}"/>
              </a:ext>
            </a:extLst>
          </p:cNvPr>
          <p:cNvSpPr>
            <a:spLocks noChangeArrowheads="1"/>
          </p:cNvSpPr>
          <p:nvPr/>
        </p:nvSpPr>
        <p:spPr bwMode="auto">
          <a:xfrm rot="5400000">
            <a:off x="1297781" y="3833019"/>
            <a:ext cx="252413" cy="288925"/>
          </a:xfrm>
          <a:prstGeom prst="rightArrow">
            <a:avLst>
              <a:gd name="adj1" fmla="val 50000"/>
              <a:gd name="adj2" fmla="val 49176"/>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a:sym typeface="Times New Roman" panose="02020603050405020304" pitchFamily="18" charset="0"/>
            </a:endParaRPr>
          </a:p>
        </p:txBody>
      </p:sp>
      <p:sp>
        <p:nvSpPr>
          <p:cNvPr id="64525" name="AutoShape 14">
            <a:extLst>
              <a:ext uri="{FF2B5EF4-FFF2-40B4-BE49-F238E27FC236}">
                <a16:creationId xmlns:a16="http://schemas.microsoft.com/office/drawing/2014/main" id="{255AB69A-CF84-4DA3-B401-494E198A461A}"/>
              </a:ext>
            </a:extLst>
          </p:cNvPr>
          <p:cNvSpPr>
            <a:spLocks noChangeArrowheads="1"/>
          </p:cNvSpPr>
          <p:nvPr/>
        </p:nvSpPr>
        <p:spPr bwMode="auto">
          <a:xfrm rot="9796597">
            <a:off x="5262563" y="4473575"/>
            <a:ext cx="1389062" cy="358775"/>
          </a:xfrm>
          <a:prstGeom prst="rightArrow">
            <a:avLst>
              <a:gd name="adj1" fmla="val 30769"/>
              <a:gd name="adj2" fmla="val 148038"/>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a:sym typeface="Times New Roman" panose="02020603050405020304" pitchFamily="18" charset="0"/>
            </a:endParaRPr>
          </a:p>
        </p:txBody>
      </p:sp>
      <p:sp>
        <p:nvSpPr>
          <p:cNvPr id="64526" name="AutoShape 15">
            <a:extLst>
              <a:ext uri="{FF2B5EF4-FFF2-40B4-BE49-F238E27FC236}">
                <a16:creationId xmlns:a16="http://schemas.microsoft.com/office/drawing/2014/main" id="{D7D51699-72A1-43A9-AD24-726279D6A839}"/>
              </a:ext>
            </a:extLst>
          </p:cNvPr>
          <p:cNvSpPr>
            <a:spLocks noChangeArrowheads="1"/>
          </p:cNvSpPr>
          <p:nvPr/>
        </p:nvSpPr>
        <p:spPr bwMode="auto">
          <a:xfrm rot="8725440">
            <a:off x="2733675" y="5457825"/>
            <a:ext cx="935038" cy="358775"/>
          </a:xfrm>
          <a:prstGeom prst="rightArrow">
            <a:avLst>
              <a:gd name="adj1" fmla="val 30769"/>
              <a:gd name="adj2" fmla="val 99651"/>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a:sym typeface="Times New Roman" panose="02020603050405020304" pitchFamily="18" charset="0"/>
            </a:endParaRPr>
          </a:p>
        </p:txBody>
      </p:sp>
      <p:sp>
        <p:nvSpPr>
          <p:cNvPr id="64527" name="AutoShape 16">
            <a:extLst>
              <a:ext uri="{FF2B5EF4-FFF2-40B4-BE49-F238E27FC236}">
                <a16:creationId xmlns:a16="http://schemas.microsoft.com/office/drawing/2014/main" id="{5599AD71-37FA-49BE-9357-7E0574E3810B}"/>
              </a:ext>
            </a:extLst>
          </p:cNvPr>
          <p:cNvSpPr>
            <a:spLocks noChangeArrowheads="1"/>
          </p:cNvSpPr>
          <p:nvPr/>
        </p:nvSpPr>
        <p:spPr bwMode="auto">
          <a:xfrm rot="1569535">
            <a:off x="5322888" y="5464175"/>
            <a:ext cx="854075" cy="358775"/>
          </a:xfrm>
          <a:prstGeom prst="rightArrow">
            <a:avLst>
              <a:gd name="adj1" fmla="val 30769"/>
              <a:gd name="adj2" fmla="val 100148"/>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a:spcBef>
                <a:spcPct val="0"/>
              </a:spcBef>
              <a:buClrTx/>
              <a:buFontTx/>
              <a:buNone/>
            </a:pPr>
            <a:endParaRPr lang="zh-CN" altLang="en-US">
              <a:sym typeface="Times New Roman" panose="02020603050405020304" pitchFamily="18" charset="0"/>
            </a:endParaRPr>
          </a:p>
        </p:txBody>
      </p:sp>
      <p:sp>
        <p:nvSpPr>
          <p:cNvPr id="64528" name="AutoShape 17">
            <a:extLst>
              <a:ext uri="{FF2B5EF4-FFF2-40B4-BE49-F238E27FC236}">
                <a16:creationId xmlns:a16="http://schemas.microsoft.com/office/drawing/2014/main" id="{7EA604E7-3010-46E2-BD3F-D5EFD7DFD8F3}"/>
              </a:ext>
            </a:extLst>
          </p:cNvPr>
          <p:cNvSpPr>
            <a:spLocks noChangeArrowheads="1"/>
          </p:cNvSpPr>
          <p:nvPr/>
        </p:nvSpPr>
        <p:spPr bwMode="auto">
          <a:xfrm rot="5400000">
            <a:off x="7527925" y="3792538"/>
            <a:ext cx="257175" cy="288925"/>
          </a:xfrm>
          <a:prstGeom prst="rightArrow">
            <a:avLst>
              <a:gd name="adj1" fmla="val 50000"/>
              <a:gd name="adj2" fmla="val 49176"/>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endParaRPr lang="zh-CN" altLang="en-US">
              <a:sym typeface="Times New Roman" panose="02020603050405020304" pitchFamily="18" charset="0"/>
            </a:endParaRPr>
          </a:p>
        </p:txBody>
      </p:sp>
      <p:sp>
        <p:nvSpPr>
          <p:cNvPr id="64529" name="Rectangle 6">
            <a:extLst>
              <a:ext uri="{FF2B5EF4-FFF2-40B4-BE49-F238E27FC236}">
                <a16:creationId xmlns:a16="http://schemas.microsoft.com/office/drawing/2014/main" id="{5320BE92-F479-4240-BD59-CF153221FFCC}"/>
              </a:ext>
            </a:extLst>
          </p:cNvPr>
          <p:cNvSpPr>
            <a:spLocks noChangeArrowheads="1"/>
          </p:cNvSpPr>
          <p:nvPr/>
        </p:nvSpPr>
        <p:spPr bwMode="auto">
          <a:xfrm>
            <a:off x="301625" y="1169988"/>
            <a:ext cx="8534400"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indent="304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Tx/>
              <a:buNone/>
            </a:pPr>
            <a:r>
              <a:rPr lang="zh-CN" altLang="en-US" dirty="0">
                <a:cs typeface="Times New Roman" panose="02020603050405020304" pitchFamily="18" charset="0"/>
                <a:sym typeface="Times New Roman" panose="02020603050405020304" pitchFamily="18" charset="0"/>
              </a:rPr>
              <a:t>（</a:t>
            </a:r>
            <a:r>
              <a:rPr lang="en-US" altLang="zh-CN" dirty="0">
                <a:cs typeface="Times New Roman" panose="02020603050405020304" pitchFamily="18" charset="0"/>
                <a:sym typeface="Times New Roman" panose="02020603050405020304" pitchFamily="18" charset="0"/>
              </a:rPr>
              <a:t>1</a:t>
            </a:r>
            <a:r>
              <a:rPr lang="zh-CN" altLang="en-US" dirty="0">
                <a:cs typeface="Times New Roman" panose="02020603050405020304" pitchFamily="18" charset="0"/>
                <a:sym typeface="Times New Roman" panose="02020603050405020304" pitchFamily="18" charset="0"/>
              </a:rPr>
              <a:t>）</a:t>
            </a:r>
            <a:r>
              <a:rPr lang="zh-CN" altLang="en-US" dirty="0">
                <a:solidFill>
                  <a:srgbClr val="FF3300"/>
                </a:solidFill>
                <a:sym typeface="Times New Roman" panose="02020603050405020304" pitchFamily="18" charset="0"/>
              </a:rPr>
              <a:t>有效质量</a:t>
            </a:r>
            <a:r>
              <a:rPr lang="zh-CN" altLang="en-US" dirty="0">
                <a:solidFill>
                  <a:srgbClr val="FF3300"/>
                </a:solidFill>
                <a:cs typeface="Times New Roman" panose="02020603050405020304" pitchFamily="18" charset="0"/>
                <a:sym typeface="Times New Roman" panose="02020603050405020304" pitchFamily="18" charset="0"/>
              </a:rPr>
              <a:t>概括了半导体内部势场的作用</a:t>
            </a:r>
            <a:r>
              <a:rPr lang="zh-CN" altLang="en-US" dirty="0">
                <a:cs typeface="Times New Roman" panose="02020603050405020304" pitchFamily="18" charset="0"/>
                <a:sym typeface="Times New Roman" panose="02020603050405020304" pitchFamily="18" charset="0"/>
              </a:rPr>
              <a:t>，在解决半导体中电子在外力作用下的运动运动规律时，可以不涉及到内部势场的作用</a:t>
            </a:r>
            <a:endParaRPr lang="zh-CN" altLang="en-US" dirty="0">
              <a:sym typeface="Times New Roman" panose="02020603050405020304" pitchFamily="18" charset="0"/>
            </a:endParaRPr>
          </a:p>
        </p:txBody>
      </p:sp>
      <p:sp>
        <p:nvSpPr>
          <p:cNvPr id="64530" name="Rectangle 9">
            <a:extLst>
              <a:ext uri="{FF2B5EF4-FFF2-40B4-BE49-F238E27FC236}">
                <a16:creationId xmlns:a16="http://schemas.microsoft.com/office/drawing/2014/main" id="{774BDFF5-AE01-4407-A758-61FEE42C51EA}"/>
              </a:ext>
            </a:extLst>
          </p:cNvPr>
          <p:cNvSpPr>
            <a:spLocks noChangeArrowheads="1"/>
          </p:cNvSpPr>
          <p:nvPr/>
        </p:nvSpPr>
        <p:spPr bwMode="auto">
          <a:xfrm>
            <a:off x="198438" y="2070100"/>
            <a:ext cx="8534400"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indent="304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nSpc>
                <a:spcPct val="120000"/>
              </a:lnSpc>
              <a:spcBef>
                <a:spcPct val="0"/>
              </a:spcBef>
              <a:buClrTx/>
              <a:buFontTx/>
              <a:buNone/>
            </a:pPr>
            <a:r>
              <a:rPr lang="zh-CN" altLang="en-US">
                <a:cs typeface="Times New Roman" panose="02020603050405020304" pitchFamily="18" charset="0"/>
                <a:sym typeface="Times New Roman" panose="02020603050405020304" pitchFamily="18" charset="0"/>
              </a:rPr>
              <a:t>（</a:t>
            </a:r>
            <a:r>
              <a:rPr lang="en-US" altLang="zh-CN">
                <a:cs typeface="Times New Roman" panose="02020603050405020304" pitchFamily="18" charset="0"/>
                <a:sym typeface="Times New Roman" panose="02020603050405020304" pitchFamily="18" charset="0"/>
              </a:rPr>
              <a:t>2</a:t>
            </a:r>
            <a:r>
              <a:rPr lang="zh-CN" altLang="en-US">
                <a:cs typeface="Times New Roman" panose="02020603050405020304" pitchFamily="18" charset="0"/>
                <a:sym typeface="Times New Roman" panose="02020603050405020304" pitchFamily="18" charset="0"/>
              </a:rPr>
              <a:t>）有效质量</a:t>
            </a:r>
            <a:r>
              <a:rPr lang="en-US" altLang="zh-CN" i="1">
                <a:cs typeface="Times New Roman" panose="02020603050405020304" pitchFamily="18" charset="0"/>
                <a:sym typeface="Times New Roman" panose="02020603050405020304" pitchFamily="18" charset="0"/>
              </a:rPr>
              <a:t>m*</a:t>
            </a:r>
            <a:r>
              <a:rPr lang="zh-CN" altLang="en-US">
                <a:cs typeface="Times New Roman" panose="02020603050405020304" pitchFamily="18" charset="0"/>
                <a:sym typeface="Times New Roman" panose="02020603050405020304" pitchFamily="18" charset="0"/>
              </a:rPr>
              <a:t>可以直接由实验测定，方便地</a:t>
            </a:r>
            <a:r>
              <a:rPr lang="zh-CN" altLang="en-US">
                <a:solidFill>
                  <a:srgbClr val="FF3300"/>
                </a:solidFill>
                <a:cs typeface="Times New Roman" panose="02020603050405020304" pitchFamily="18" charset="0"/>
                <a:sym typeface="Times New Roman" panose="02020603050405020304" pitchFamily="18" charset="0"/>
              </a:rPr>
              <a:t>求解电子的运动规律和能带极值附近</a:t>
            </a:r>
            <a:r>
              <a:rPr lang="en-US" altLang="zh-CN" i="1">
                <a:solidFill>
                  <a:srgbClr val="FF3300"/>
                </a:solidFill>
                <a:cs typeface="Times New Roman" panose="02020603050405020304" pitchFamily="18" charset="0"/>
                <a:sym typeface="Times New Roman" panose="02020603050405020304" pitchFamily="18" charset="0"/>
              </a:rPr>
              <a:t>E(k)</a:t>
            </a:r>
            <a:r>
              <a:rPr lang="zh-CN" altLang="en-US">
                <a:solidFill>
                  <a:srgbClr val="FF3300"/>
                </a:solidFill>
                <a:cs typeface="Times New Roman" panose="02020603050405020304" pitchFamily="18" charset="0"/>
                <a:sym typeface="Times New Roman" panose="02020603050405020304" pitchFamily="18" charset="0"/>
              </a:rPr>
              <a:t>关系</a:t>
            </a:r>
            <a:endParaRPr lang="zh-CN" altLang="en-US">
              <a:sym typeface="Times New Roman" panose="02020603050405020304" pitchFamily="18" charset="0"/>
            </a:endParaRPr>
          </a:p>
        </p:txBody>
      </p:sp>
    </p:spTree>
    <p:extLst>
      <p:ext uri="{BB962C8B-B14F-4D97-AF65-F5344CB8AC3E}">
        <p14:creationId xmlns:p14="http://schemas.microsoft.com/office/powerpoint/2010/main" val="15944979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1">
            <a:extLst>
              <a:ext uri="{FF2B5EF4-FFF2-40B4-BE49-F238E27FC236}">
                <a16:creationId xmlns:a16="http://schemas.microsoft.com/office/drawing/2014/main" id="{0DFBFA4A-D114-4C10-848F-1C0B80344C9D}"/>
              </a:ext>
            </a:extLst>
          </p:cNvPr>
          <p:cNvSpPr>
            <a:spLocks noChangeArrowheads="1"/>
          </p:cNvSpPr>
          <p:nvPr/>
        </p:nvSpPr>
        <p:spPr bwMode="auto">
          <a:xfrm>
            <a:off x="2843213" y="260350"/>
            <a:ext cx="30686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 typeface="Wingdings" panose="05000000000000000000" pitchFamily="2" charset="2"/>
              <a:buNone/>
            </a:pPr>
            <a:r>
              <a:rPr lang="zh-CN" altLang="en-US" sz="3200">
                <a:solidFill>
                  <a:srgbClr val="FF0000"/>
                </a:solidFill>
                <a:sym typeface="Times New Roman" panose="02020603050405020304" pitchFamily="18" charset="0"/>
              </a:rPr>
              <a:t>有效质量的特点</a:t>
            </a:r>
          </a:p>
        </p:txBody>
      </p:sp>
      <p:pic>
        <p:nvPicPr>
          <p:cNvPr id="65539" name="Picture 4" descr="img008">
            <a:extLst>
              <a:ext uri="{FF2B5EF4-FFF2-40B4-BE49-F238E27FC236}">
                <a16:creationId xmlns:a16="http://schemas.microsoft.com/office/drawing/2014/main" id="{B9031ACA-35BB-4B98-A594-2D0B3BC7BC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7588" y="631825"/>
            <a:ext cx="2906712"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5540" name="Object 7">
            <a:extLst>
              <a:ext uri="{FF2B5EF4-FFF2-40B4-BE49-F238E27FC236}">
                <a16:creationId xmlns:a16="http://schemas.microsoft.com/office/drawing/2014/main" id="{41F1A311-5E4A-48C8-B21F-77BE4684B3D8}"/>
              </a:ext>
            </a:extLst>
          </p:cNvPr>
          <p:cNvGraphicFramePr>
            <a:graphicFrameLocks noChangeAspect="1"/>
          </p:cNvGraphicFramePr>
          <p:nvPr/>
        </p:nvGraphicFramePr>
        <p:xfrm>
          <a:off x="8027988" y="2774950"/>
          <a:ext cx="936625" cy="792163"/>
        </p:xfrm>
        <a:graphic>
          <a:graphicData uri="http://schemas.openxmlformats.org/presentationml/2006/ole">
            <mc:AlternateContent xmlns:mc="http://schemas.openxmlformats.org/markup-compatibility/2006">
              <mc:Choice xmlns:v="urn:schemas-microsoft-com:vml" Requires="v">
                <p:oleObj spid="_x0000_s190505" name="Equation" r:id="rId4" imgW="812800" imgH="685800" progId="Equation.DSMT4">
                  <p:embed/>
                </p:oleObj>
              </mc:Choice>
              <mc:Fallback>
                <p:oleObj name="Equation" r:id="rId4" imgW="812800" imgH="685800" progId="Equation.DSMT4">
                  <p:embed/>
                  <p:pic>
                    <p:nvPicPr>
                      <p:cNvPr id="65540" name="Object 7">
                        <a:extLst>
                          <a:ext uri="{FF2B5EF4-FFF2-40B4-BE49-F238E27FC236}">
                            <a16:creationId xmlns:a16="http://schemas.microsoft.com/office/drawing/2014/main" id="{41F1A311-5E4A-48C8-B21F-77BE4684B3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27988" y="2774950"/>
                        <a:ext cx="93662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541" name="Rectangle 10">
            <a:extLst>
              <a:ext uri="{FF2B5EF4-FFF2-40B4-BE49-F238E27FC236}">
                <a16:creationId xmlns:a16="http://schemas.microsoft.com/office/drawing/2014/main" id="{028E3012-D973-4E6F-8FB1-281CB91595AD}"/>
              </a:ext>
            </a:extLst>
          </p:cNvPr>
          <p:cNvSpPr>
            <a:spLocks noChangeArrowheads="1"/>
          </p:cNvSpPr>
          <p:nvPr/>
        </p:nvSpPr>
        <p:spPr bwMode="auto">
          <a:xfrm>
            <a:off x="250825" y="1044575"/>
            <a:ext cx="5329238"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indent="304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nSpc>
                <a:spcPct val="120000"/>
              </a:lnSpc>
              <a:spcBef>
                <a:spcPct val="0"/>
              </a:spcBef>
              <a:buClrTx/>
              <a:buFontTx/>
              <a:buNone/>
            </a:pPr>
            <a:r>
              <a:rPr lang="zh-CN" altLang="en-US" sz="2200">
                <a:cs typeface="Times New Roman" panose="02020603050405020304" pitchFamily="18" charset="0"/>
                <a:sym typeface="Times New Roman" panose="02020603050405020304" pitchFamily="18" charset="0"/>
              </a:rPr>
              <a:t>（</a:t>
            </a:r>
            <a:r>
              <a:rPr lang="en-US" altLang="zh-CN" sz="2200">
                <a:cs typeface="Times New Roman" panose="02020603050405020304" pitchFamily="18" charset="0"/>
                <a:sym typeface="Times New Roman" panose="02020603050405020304" pitchFamily="18" charset="0"/>
              </a:rPr>
              <a:t>1</a:t>
            </a:r>
            <a:r>
              <a:rPr lang="zh-CN" altLang="en-US" sz="2200">
                <a:cs typeface="Times New Roman" panose="02020603050405020304" pitchFamily="18" charset="0"/>
                <a:sym typeface="Times New Roman" panose="02020603050405020304" pitchFamily="18" charset="0"/>
              </a:rPr>
              <a:t>）有效质量</a:t>
            </a:r>
            <a:r>
              <a:rPr lang="zh-CN" altLang="en-US" sz="2200">
                <a:solidFill>
                  <a:srgbClr val="FF3300"/>
                </a:solidFill>
                <a:sym typeface="Times New Roman" panose="02020603050405020304" pitchFamily="18" charset="0"/>
              </a:rPr>
              <a:t>有大有小</a:t>
            </a:r>
            <a:endParaRPr lang="en-US" altLang="zh-CN" sz="2200">
              <a:cs typeface="Times New Roman" panose="02020603050405020304" pitchFamily="18" charset="0"/>
              <a:sym typeface="Times New Roman" panose="02020603050405020304" pitchFamily="18" charset="0"/>
            </a:endParaRPr>
          </a:p>
          <a:p>
            <a:pPr>
              <a:lnSpc>
                <a:spcPct val="120000"/>
              </a:lnSpc>
              <a:spcBef>
                <a:spcPct val="0"/>
              </a:spcBef>
              <a:buClrTx/>
              <a:buFontTx/>
              <a:buNone/>
            </a:pPr>
            <a:r>
              <a:rPr lang="zh-CN" altLang="en-US" sz="2200">
                <a:cs typeface="Times New Roman" panose="02020603050405020304" pitchFamily="18" charset="0"/>
                <a:sym typeface="Times New Roman" panose="02020603050405020304" pitchFamily="18" charset="0"/>
              </a:rPr>
              <a:t>与</a:t>
            </a:r>
            <a:r>
              <a:rPr lang="en-US" altLang="zh-CN" sz="2200" i="1">
                <a:cs typeface="Times New Roman" panose="02020603050405020304" pitchFamily="18" charset="0"/>
                <a:sym typeface="Times New Roman" panose="02020603050405020304" pitchFamily="18" charset="0"/>
              </a:rPr>
              <a:t>E</a:t>
            </a:r>
            <a:r>
              <a:rPr lang="zh-CN" altLang="en-US" sz="2200">
                <a:cs typeface="Times New Roman" panose="02020603050405020304" pitchFamily="18" charset="0"/>
                <a:sym typeface="Times New Roman" panose="02020603050405020304" pitchFamily="18" charset="0"/>
              </a:rPr>
              <a:t>对</a:t>
            </a:r>
            <a:r>
              <a:rPr lang="en-US" altLang="zh-CN" sz="2200" i="1">
                <a:cs typeface="Times New Roman" panose="02020603050405020304" pitchFamily="18" charset="0"/>
                <a:sym typeface="Times New Roman" panose="02020603050405020304" pitchFamily="18" charset="0"/>
              </a:rPr>
              <a:t>k</a:t>
            </a:r>
            <a:r>
              <a:rPr lang="zh-CN" altLang="en-US" sz="2200">
                <a:cs typeface="Times New Roman" panose="02020603050405020304" pitchFamily="18" charset="0"/>
                <a:sym typeface="Times New Roman" panose="02020603050405020304" pitchFamily="18" charset="0"/>
              </a:rPr>
              <a:t>的二次微商成反比，能带越窄，二次微商越小，有效质量越大。内层电子能带窄，有效质量大；外层电子能带宽，有效质量小。</a:t>
            </a:r>
            <a:r>
              <a:rPr lang="zh-CN" altLang="en-US" sz="2200">
                <a:solidFill>
                  <a:srgbClr val="FF3300"/>
                </a:solidFill>
                <a:cs typeface="Times New Roman" panose="02020603050405020304" pitchFamily="18" charset="0"/>
                <a:sym typeface="Times New Roman" panose="02020603050405020304" pitchFamily="18" charset="0"/>
              </a:rPr>
              <a:t>外层电子在外力作用下获得较大加速度</a:t>
            </a:r>
            <a:r>
              <a:rPr lang="en-US" altLang="zh-CN" sz="2200">
                <a:cs typeface="Times New Roman" panose="02020603050405020304" pitchFamily="18" charset="0"/>
                <a:sym typeface="Times New Roman" panose="02020603050405020304" pitchFamily="18" charset="0"/>
              </a:rPr>
              <a:t>.</a:t>
            </a:r>
            <a:endParaRPr lang="zh-CN" altLang="en-US" sz="2200">
              <a:sym typeface="Times New Roman" panose="02020603050405020304" pitchFamily="18" charset="0"/>
            </a:endParaRPr>
          </a:p>
        </p:txBody>
      </p:sp>
      <p:sp>
        <p:nvSpPr>
          <p:cNvPr id="65542" name="Rectangle 11">
            <a:extLst>
              <a:ext uri="{FF2B5EF4-FFF2-40B4-BE49-F238E27FC236}">
                <a16:creationId xmlns:a16="http://schemas.microsoft.com/office/drawing/2014/main" id="{6A45BC76-73F2-47A6-9452-7B69C8101CDF}"/>
              </a:ext>
            </a:extLst>
          </p:cNvPr>
          <p:cNvSpPr>
            <a:spLocks noChangeArrowheads="1"/>
          </p:cNvSpPr>
          <p:nvPr/>
        </p:nvSpPr>
        <p:spPr bwMode="auto">
          <a:xfrm>
            <a:off x="250825" y="3784600"/>
            <a:ext cx="5834063"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indent="304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 typeface="Wingdings" panose="05000000000000000000" pitchFamily="2" charset="2"/>
              <a:buNone/>
            </a:pPr>
            <a:r>
              <a:rPr lang="zh-CN" altLang="en-US" sz="2200">
                <a:sym typeface="Times New Roman" panose="02020603050405020304" pitchFamily="18" charset="0"/>
              </a:rPr>
              <a:t>（</a:t>
            </a:r>
            <a:r>
              <a:rPr lang="en-US" altLang="zh-CN" sz="2200">
                <a:sym typeface="Times New Roman" panose="02020603050405020304" pitchFamily="18" charset="0"/>
              </a:rPr>
              <a:t>2</a:t>
            </a:r>
            <a:r>
              <a:rPr lang="zh-CN" altLang="en-US" sz="2200">
                <a:sym typeface="Times New Roman" panose="02020603050405020304" pitchFamily="18" charset="0"/>
              </a:rPr>
              <a:t>）有效质量在</a:t>
            </a:r>
            <a:r>
              <a:rPr lang="zh-CN" altLang="en-US" sz="2200">
                <a:solidFill>
                  <a:srgbClr val="FF3300"/>
                </a:solidFill>
                <a:sym typeface="Times New Roman" panose="02020603050405020304" pitchFamily="18" charset="0"/>
              </a:rPr>
              <a:t>有正有负</a:t>
            </a:r>
            <a:endParaRPr lang="en-US" altLang="zh-CN" sz="2200">
              <a:sym typeface="Times New Roman" panose="02020603050405020304" pitchFamily="18" charset="0"/>
            </a:endParaRPr>
          </a:p>
          <a:p>
            <a:pPr eaLnBrk="1" hangingPunct="1">
              <a:lnSpc>
                <a:spcPct val="120000"/>
              </a:lnSpc>
              <a:spcBef>
                <a:spcPct val="0"/>
              </a:spcBef>
              <a:buClrTx/>
              <a:buFont typeface="Wingdings" panose="05000000000000000000" pitchFamily="2" charset="2"/>
              <a:buNone/>
            </a:pPr>
            <a:r>
              <a:rPr lang="en-US" altLang="zh-CN" sz="2200">
                <a:sym typeface="Times New Roman" panose="02020603050405020304" pitchFamily="18" charset="0"/>
              </a:rPr>
              <a:t>   </a:t>
            </a:r>
            <a:r>
              <a:rPr lang="zh-CN" altLang="en-US" sz="2200">
                <a:sym typeface="Times New Roman" panose="02020603050405020304" pitchFamily="18" charset="0"/>
              </a:rPr>
              <a:t>在带底处，二阶导数为正，因而电子有效质量为正。在带顶部，二阶导数为负，有效质量为负 </a:t>
            </a:r>
          </a:p>
          <a:p>
            <a:pPr>
              <a:lnSpc>
                <a:spcPct val="120000"/>
              </a:lnSpc>
              <a:spcBef>
                <a:spcPct val="0"/>
              </a:spcBef>
              <a:buClrTx/>
              <a:buFontTx/>
              <a:buNone/>
            </a:pPr>
            <a:endParaRPr lang="en-US" altLang="zh-CN" sz="2200">
              <a:sym typeface="Times New Roman" panose="02020603050405020304" pitchFamily="18" charset="0"/>
            </a:endParaRPr>
          </a:p>
        </p:txBody>
      </p:sp>
    </p:spTree>
    <p:extLst>
      <p:ext uri="{BB962C8B-B14F-4D97-AF65-F5344CB8AC3E}">
        <p14:creationId xmlns:p14="http://schemas.microsoft.com/office/powerpoint/2010/main" val="9689323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矩形 1">
            <a:extLst>
              <a:ext uri="{FF2B5EF4-FFF2-40B4-BE49-F238E27FC236}">
                <a16:creationId xmlns:a16="http://schemas.microsoft.com/office/drawing/2014/main" id="{15155886-180D-4529-AEBE-803CFDFC5F9A}"/>
              </a:ext>
            </a:extLst>
          </p:cNvPr>
          <p:cNvSpPr>
            <a:spLocks noChangeArrowheads="1"/>
          </p:cNvSpPr>
          <p:nvPr/>
        </p:nvSpPr>
        <p:spPr bwMode="auto">
          <a:xfrm>
            <a:off x="3178175" y="404813"/>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3200" dirty="0">
                <a:solidFill>
                  <a:srgbClr val="FF0000"/>
                </a:solidFill>
                <a:sym typeface="Times New Roman" panose="02020603050405020304" pitchFamily="18" charset="0"/>
              </a:rPr>
              <a:t>空穴的有效质量</a:t>
            </a:r>
          </a:p>
        </p:txBody>
      </p:sp>
      <p:sp>
        <p:nvSpPr>
          <p:cNvPr id="68612" name="矩形 2">
            <a:extLst>
              <a:ext uri="{FF2B5EF4-FFF2-40B4-BE49-F238E27FC236}">
                <a16:creationId xmlns:a16="http://schemas.microsoft.com/office/drawing/2014/main" id="{76ABFEE0-DE22-4AA8-853E-BAE2D2FC46F4}"/>
              </a:ext>
            </a:extLst>
          </p:cNvPr>
          <p:cNvSpPr>
            <a:spLocks noChangeArrowheads="1"/>
          </p:cNvSpPr>
          <p:nvPr/>
        </p:nvSpPr>
        <p:spPr bwMode="auto">
          <a:xfrm>
            <a:off x="2430016" y="1423075"/>
            <a:ext cx="457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spcBef>
                <a:spcPct val="0"/>
              </a:spcBef>
              <a:buClrTx/>
              <a:buFont typeface="Wingdings" panose="05000000000000000000" pitchFamily="2" charset="2"/>
              <a:buNone/>
            </a:pPr>
            <a:r>
              <a:rPr lang="en-US" altLang="zh-CN">
                <a:solidFill>
                  <a:schemeClr val="tx1"/>
                </a:solidFill>
                <a:sym typeface="Times New Roman" panose="02020603050405020304" pitchFamily="18" charset="0"/>
              </a:rPr>
              <a:t>                                                                                                                                                                                                                                                                                                                                                                                                                                                                                                                                                                                                                                                                                                                                                                                                                                                                                                                                                                                                                                                                                                                                                                                                                                                                                                                                                                                                                                                                  </a:t>
            </a:r>
          </a:p>
        </p:txBody>
      </p:sp>
      <p:sp>
        <p:nvSpPr>
          <p:cNvPr id="17" name="Rectangle 2">
            <a:extLst>
              <a:ext uri="{FF2B5EF4-FFF2-40B4-BE49-F238E27FC236}">
                <a16:creationId xmlns:a16="http://schemas.microsoft.com/office/drawing/2014/main" id="{425407E8-AD3C-4DD7-9F37-7D1586753AC9}"/>
              </a:ext>
            </a:extLst>
          </p:cNvPr>
          <p:cNvSpPr txBox="1">
            <a:spLocks noRot="1" noChangeArrowheads="1"/>
          </p:cNvSpPr>
          <p:nvPr/>
        </p:nvSpPr>
        <p:spPr bwMode="gray">
          <a:xfrm>
            <a:off x="539552" y="3020198"/>
            <a:ext cx="8229600"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1" fontAlgn="base" hangingPunct="1">
              <a:spcBef>
                <a:spcPct val="20000"/>
              </a:spcBef>
              <a:spcAft>
                <a:spcPct val="0"/>
              </a:spcAft>
              <a:buClr>
                <a:srgbClr val="000000"/>
              </a:buClr>
              <a:buFont typeface="Verdana" panose="020B0604030504040204" pitchFamily="34" charset="0"/>
              <a:buChar char="−"/>
              <a:defRPr sz="2000" b="1">
                <a:solidFill>
                  <a:srgbClr val="000000"/>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2" panose="05020102010507070707" pitchFamily="18" charset="2"/>
              <a:buChar char="¬"/>
              <a:defRPr sz="2200">
                <a:solidFill>
                  <a:srgbClr val="000000"/>
                </a:solidFill>
                <a:latin typeface="Arial" pitchFamily="34" charset="0"/>
                <a:ea typeface="+mn-ea"/>
              </a:defRPr>
            </a:lvl2pPr>
            <a:lvl3pPr marL="1143000" indent="-228600" algn="l" rtl="0" eaLnBrk="1" fontAlgn="base" hangingPunct="1">
              <a:spcBef>
                <a:spcPct val="20000"/>
              </a:spcBef>
              <a:spcAft>
                <a:spcPct val="0"/>
              </a:spcAft>
              <a:buClr>
                <a:schemeClr val="tx1"/>
              </a:buClr>
              <a:buChar char="•"/>
              <a:defRPr sz="2000" b="1">
                <a:solidFill>
                  <a:srgbClr val="000000"/>
                </a:solidFill>
                <a:latin typeface="+mn-lt"/>
                <a:ea typeface="+mn-ea"/>
              </a:defRPr>
            </a:lvl3pPr>
            <a:lvl4pPr marL="1600200" indent="-228600" algn="l" rtl="0" eaLnBrk="1" fontAlgn="base" hangingPunct="1">
              <a:spcBef>
                <a:spcPct val="20000"/>
              </a:spcBef>
              <a:spcAft>
                <a:spcPct val="0"/>
              </a:spcAft>
              <a:buChar char="–"/>
              <a:defRPr sz="2000" b="1">
                <a:solidFill>
                  <a:srgbClr val="000000"/>
                </a:solidFill>
                <a:latin typeface="+mn-lt"/>
                <a:ea typeface="+mn-ea"/>
              </a:defRPr>
            </a:lvl4pPr>
            <a:lvl5pPr marL="2057400" indent="-228600" algn="l" rtl="0" eaLnBrk="1" fontAlgn="base" hangingPunct="1">
              <a:spcBef>
                <a:spcPct val="20000"/>
              </a:spcBef>
              <a:spcAft>
                <a:spcPct val="0"/>
              </a:spcAft>
              <a:buChar char="»"/>
              <a:defRPr sz="2000" b="1">
                <a:solidFill>
                  <a:srgbClr val="000000"/>
                </a:solidFill>
                <a:latin typeface="+mn-lt"/>
                <a:ea typeface="+mn-ea"/>
              </a:defRPr>
            </a:lvl5pPr>
            <a:lvl6pPr marL="2514600" indent="-228600" algn="l" rtl="0" eaLnBrk="1" fontAlgn="base" hangingPunct="1">
              <a:spcBef>
                <a:spcPct val="20000"/>
              </a:spcBef>
              <a:spcAft>
                <a:spcPct val="0"/>
              </a:spcAft>
              <a:buChar char="»"/>
              <a:defRPr sz="2000" b="1">
                <a:solidFill>
                  <a:srgbClr val="000000"/>
                </a:solidFill>
                <a:latin typeface="+mn-lt"/>
                <a:ea typeface="+mn-ea"/>
              </a:defRPr>
            </a:lvl6pPr>
            <a:lvl7pPr marL="2971800" indent="-228600" algn="l" rtl="0" eaLnBrk="1" fontAlgn="base" hangingPunct="1">
              <a:spcBef>
                <a:spcPct val="20000"/>
              </a:spcBef>
              <a:spcAft>
                <a:spcPct val="0"/>
              </a:spcAft>
              <a:buChar char="»"/>
              <a:defRPr sz="2000" b="1">
                <a:solidFill>
                  <a:srgbClr val="000000"/>
                </a:solidFill>
                <a:latin typeface="+mn-lt"/>
                <a:ea typeface="+mn-ea"/>
              </a:defRPr>
            </a:lvl7pPr>
            <a:lvl8pPr marL="3429000" indent="-228600" algn="l" rtl="0" eaLnBrk="1" fontAlgn="base" hangingPunct="1">
              <a:spcBef>
                <a:spcPct val="20000"/>
              </a:spcBef>
              <a:spcAft>
                <a:spcPct val="0"/>
              </a:spcAft>
              <a:buChar char="»"/>
              <a:defRPr sz="2000" b="1">
                <a:solidFill>
                  <a:srgbClr val="000000"/>
                </a:solidFill>
                <a:latin typeface="+mn-lt"/>
                <a:ea typeface="+mn-ea"/>
              </a:defRPr>
            </a:lvl8pPr>
            <a:lvl9pPr marL="3886200" indent="-228600" algn="l" rtl="0" eaLnBrk="1" fontAlgn="base" hangingPunct="1">
              <a:spcBef>
                <a:spcPct val="20000"/>
              </a:spcBef>
              <a:spcAft>
                <a:spcPct val="0"/>
              </a:spcAft>
              <a:buChar char="»"/>
              <a:defRPr sz="2000" b="1">
                <a:solidFill>
                  <a:srgbClr val="000000"/>
                </a:solidFill>
                <a:latin typeface="+mn-lt"/>
                <a:ea typeface="+mn-ea"/>
              </a:defRPr>
            </a:lvl9pPr>
          </a:lstStyle>
          <a:p>
            <a:pPr>
              <a:buFont typeface="Wingdings" panose="05000000000000000000" pitchFamily="2" charset="2"/>
              <a:buNone/>
              <a:defRPr/>
            </a:pPr>
            <a:r>
              <a:rPr lang="zh-CN" altLang="en-US" kern="0" dirty="0">
                <a:solidFill>
                  <a:srgbClr val="FF0000"/>
                </a:solidFill>
                <a:sym typeface="Times New Roman" panose="02020603050405020304" pitchFamily="18" charset="0"/>
              </a:rPr>
              <a:t>引入空穴的意义</a:t>
            </a:r>
          </a:p>
          <a:p>
            <a:pPr>
              <a:defRPr/>
            </a:pPr>
            <a:r>
              <a:rPr lang="zh-CN" altLang="en-US" kern="0" dirty="0">
                <a:sym typeface="Times New Roman" panose="02020603050405020304" pitchFamily="18" charset="0"/>
              </a:rPr>
              <a:t>把价带中大量电子对电流的贡献用少量的空穴表达出来。</a:t>
            </a:r>
          </a:p>
          <a:p>
            <a:pPr>
              <a:defRPr/>
            </a:pPr>
            <a:r>
              <a:rPr lang="zh-CN" altLang="en-US" kern="0" dirty="0">
                <a:sym typeface="Times New Roman" panose="02020603050405020304" pitchFamily="18" charset="0"/>
              </a:rPr>
              <a:t>半导体中有</a:t>
            </a:r>
            <a:r>
              <a:rPr lang="zh-CN" altLang="en-US" kern="0" dirty="0">
                <a:solidFill>
                  <a:srgbClr val="FF0000"/>
                </a:solidFill>
                <a:sym typeface="Times New Roman" panose="02020603050405020304" pitchFamily="18" charset="0"/>
              </a:rPr>
              <a:t>电子和空穴</a:t>
            </a:r>
            <a:r>
              <a:rPr lang="zh-CN" altLang="en-US" kern="0" dirty="0">
                <a:sym typeface="Times New Roman" panose="02020603050405020304" pitchFamily="18" charset="0"/>
              </a:rPr>
              <a:t>两种载流子，而金属中只有</a:t>
            </a:r>
            <a:r>
              <a:rPr lang="zh-CN" altLang="en-US" kern="0" dirty="0">
                <a:solidFill>
                  <a:srgbClr val="FF0000"/>
                </a:solidFill>
                <a:sym typeface="Times New Roman" panose="02020603050405020304" pitchFamily="18" charset="0"/>
              </a:rPr>
              <a:t>电子</a:t>
            </a:r>
            <a:r>
              <a:rPr lang="zh-CN" altLang="en-US" kern="0" dirty="0">
                <a:sym typeface="Times New Roman" panose="02020603050405020304" pitchFamily="18" charset="0"/>
              </a:rPr>
              <a:t>一种载流子</a:t>
            </a:r>
          </a:p>
        </p:txBody>
      </p:sp>
      <p:sp>
        <p:nvSpPr>
          <p:cNvPr id="13" name="Rectangle 7">
            <a:extLst>
              <a:ext uri="{FF2B5EF4-FFF2-40B4-BE49-F238E27FC236}">
                <a16:creationId xmlns:a16="http://schemas.microsoft.com/office/drawing/2014/main" id="{4FE11282-D518-49F6-9A0C-8D79AEEA64A1}"/>
              </a:ext>
            </a:extLst>
          </p:cNvPr>
          <p:cNvSpPr>
            <a:spLocks noChangeArrowheads="1"/>
          </p:cNvSpPr>
          <p:nvPr/>
        </p:nvSpPr>
        <p:spPr bwMode="auto">
          <a:xfrm>
            <a:off x="539552" y="989588"/>
            <a:ext cx="7086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Tx/>
              <a:buNone/>
            </a:pPr>
            <a:r>
              <a:rPr lang="zh-CN" altLang="en-US" dirty="0">
                <a:solidFill>
                  <a:srgbClr val="FF3300"/>
                </a:solidFill>
              </a:rPr>
              <a:t>空穴是由价带顶的电子跃迁到导带而产生的。</a:t>
            </a:r>
          </a:p>
          <a:p>
            <a:pPr eaLnBrk="1" hangingPunct="1">
              <a:lnSpc>
                <a:spcPct val="120000"/>
              </a:lnSpc>
              <a:spcBef>
                <a:spcPct val="0"/>
              </a:spcBef>
              <a:buClrTx/>
              <a:buFontTx/>
              <a:buNone/>
            </a:pPr>
            <a:r>
              <a:rPr lang="zh-CN" altLang="en-US" dirty="0"/>
              <a:t>在价带底， </a:t>
            </a:r>
            <a:r>
              <a:rPr lang="en-US" altLang="zh-CN" i="1" dirty="0"/>
              <a:t>E(k)</a:t>
            </a:r>
            <a:r>
              <a:rPr lang="zh-CN" altLang="en-US" dirty="0"/>
              <a:t>二阶导数为正，电子有效质量</a:t>
            </a:r>
            <a:r>
              <a:rPr lang="en-US" altLang="zh-CN" i="1" dirty="0"/>
              <a:t>m</a:t>
            </a:r>
            <a:r>
              <a:rPr lang="en-US" altLang="zh-CN" i="1" baseline="30000" dirty="0"/>
              <a:t>*</a:t>
            </a:r>
            <a:r>
              <a:rPr lang="en-US" altLang="zh-CN" i="1" baseline="-25000" dirty="0"/>
              <a:t>n</a:t>
            </a:r>
            <a:r>
              <a:rPr lang="zh-CN" altLang="en-US" dirty="0"/>
              <a:t>为正</a:t>
            </a:r>
          </a:p>
          <a:p>
            <a:pPr eaLnBrk="1" hangingPunct="1">
              <a:lnSpc>
                <a:spcPct val="120000"/>
              </a:lnSpc>
              <a:spcBef>
                <a:spcPct val="0"/>
              </a:spcBef>
              <a:buClrTx/>
              <a:buFontTx/>
              <a:buNone/>
            </a:pPr>
            <a:r>
              <a:rPr lang="zh-CN" altLang="en-US" dirty="0"/>
              <a:t>在价带顶，</a:t>
            </a:r>
            <a:r>
              <a:rPr lang="en-US" altLang="zh-CN" i="1" dirty="0"/>
              <a:t>E(k)</a:t>
            </a:r>
            <a:r>
              <a:rPr lang="zh-CN" altLang="en-US" dirty="0"/>
              <a:t>二阶导数为负，电子有效质量</a:t>
            </a:r>
            <a:r>
              <a:rPr lang="en-US" altLang="zh-CN" i="1" dirty="0"/>
              <a:t>m</a:t>
            </a:r>
            <a:r>
              <a:rPr lang="en-US" altLang="zh-CN" i="1" baseline="30000" dirty="0"/>
              <a:t>*</a:t>
            </a:r>
            <a:r>
              <a:rPr lang="en-US" altLang="zh-CN" i="1" baseline="-25000" dirty="0"/>
              <a:t>n</a:t>
            </a:r>
            <a:r>
              <a:rPr lang="zh-CN" altLang="en-US" dirty="0"/>
              <a:t>为负</a:t>
            </a:r>
          </a:p>
          <a:p>
            <a:pPr eaLnBrk="1" hangingPunct="1">
              <a:lnSpc>
                <a:spcPct val="120000"/>
              </a:lnSpc>
              <a:spcBef>
                <a:spcPct val="0"/>
              </a:spcBef>
              <a:buClrTx/>
              <a:buFontTx/>
              <a:buNone/>
            </a:pPr>
            <a:r>
              <a:rPr lang="zh-CN" altLang="en-US" dirty="0">
                <a:solidFill>
                  <a:srgbClr val="FF3300"/>
                </a:solidFill>
              </a:rPr>
              <a:t>空穴的有效质量为</a:t>
            </a:r>
            <a:r>
              <a:rPr lang="en-US" altLang="zh-CN" i="1" dirty="0">
                <a:solidFill>
                  <a:srgbClr val="FF3300"/>
                </a:solidFill>
              </a:rPr>
              <a:t>m</a:t>
            </a:r>
            <a:r>
              <a:rPr lang="en-US" altLang="zh-CN" i="1" baseline="30000" dirty="0">
                <a:solidFill>
                  <a:srgbClr val="FF3300"/>
                </a:solidFill>
              </a:rPr>
              <a:t>*</a:t>
            </a:r>
            <a:r>
              <a:rPr lang="en-US" altLang="zh-CN" i="1" baseline="-25000" dirty="0">
                <a:solidFill>
                  <a:srgbClr val="FF3300"/>
                </a:solidFill>
              </a:rPr>
              <a:t>p</a:t>
            </a:r>
            <a:r>
              <a:rPr lang="en-US" altLang="zh-CN" i="1" dirty="0">
                <a:solidFill>
                  <a:srgbClr val="FF3300"/>
                </a:solidFill>
              </a:rPr>
              <a:t>=-m</a:t>
            </a:r>
            <a:r>
              <a:rPr lang="en-US" altLang="zh-CN" i="1" baseline="30000" dirty="0">
                <a:solidFill>
                  <a:srgbClr val="FF3300"/>
                </a:solidFill>
              </a:rPr>
              <a:t>*</a:t>
            </a:r>
            <a:r>
              <a:rPr lang="en-US" altLang="zh-CN" i="1" baseline="-25000" dirty="0">
                <a:solidFill>
                  <a:srgbClr val="FF3300"/>
                </a:solidFill>
              </a:rPr>
              <a:t>n</a:t>
            </a:r>
            <a:r>
              <a:rPr lang="zh-CN" altLang="en-US" dirty="0">
                <a:solidFill>
                  <a:srgbClr val="FF3300"/>
                </a:solidFill>
              </a:rPr>
              <a:t>。</a:t>
            </a:r>
          </a:p>
        </p:txBody>
      </p:sp>
      <p:pic>
        <p:nvPicPr>
          <p:cNvPr id="4" name="图片 3">
            <a:extLst>
              <a:ext uri="{FF2B5EF4-FFF2-40B4-BE49-F238E27FC236}">
                <a16:creationId xmlns:a16="http://schemas.microsoft.com/office/drawing/2014/main" id="{1FC01348-7F25-457D-9F10-8EDDABEE34CD}"/>
              </a:ext>
            </a:extLst>
          </p:cNvPr>
          <p:cNvPicPr>
            <a:picLocks noChangeAspect="1"/>
          </p:cNvPicPr>
          <p:nvPr/>
        </p:nvPicPr>
        <p:blipFill>
          <a:blip r:embed="rId2"/>
          <a:stretch>
            <a:fillRect/>
          </a:stretch>
        </p:blipFill>
        <p:spPr>
          <a:xfrm>
            <a:off x="1835696" y="4393902"/>
            <a:ext cx="4527569" cy="2219329"/>
          </a:xfrm>
          <a:prstGeom prst="rect">
            <a:avLst/>
          </a:prstGeom>
        </p:spPr>
      </p:pic>
    </p:spTree>
    <p:extLst>
      <p:ext uri="{BB962C8B-B14F-4D97-AF65-F5344CB8AC3E}">
        <p14:creationId xmlns:p14="http://schemas.microsoft.com/office/powerpoint/2010/main" val="16344949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DA44EAB-1EA0-443A-9256-B9E7984B60C7}"/>
              </a:ext>
            </a:extLst>
          </p:cNvPr>
          <p:cNvSpPr/>
          <p:nvPr/>
        </p:nvSpPr>
        <p:spPr>
          <a:xfrm>
            <a:off x="611560" y="247894"/>
            <a:ext cx="7776864" cy="954107"/>
          </a:xfrm>
          <a:prstGeom prst="rect">
            <a:avLst/>
          </a:prstGeom>
        </p:spPr>
        <p:txBody>
          <a:bodyPr wrap="square">
            <a:spAutoFit/>
          </a:bodyPr>
          <a:lstStyle/>
          <a:p>
            <a:r>
              <a:rPr lang="zh-CN" altLang="en-US" sz="2800" b="1" dirty="0">
                <a:solidFill>
                  <a:srgbClr val="FF0000"/>
                </a:solidFill>
                <a:effectLst>
                  <a:outerShdw blurRad="38100" dist="38100" dir="2700000" algn="tl">
                    <a:srgbClr val="000000">
                      <a:alpha val="43137"/>
                    </a:srgbClr>
                  </a:outerShdw>
                </a:effectLst>
              </a:rPr>
              <a:t>空穴的“负质量”</a:t>
            </a:r>
            <a:r>
              <a:rPr lang="en-US" altLang="zh-CN" sz="2800" b="1" dirty="0">
                <a:effectLst>
                  <a:outerShdw blurRad="38100" dist="38100" dir="2700000" algn="tl">
                    <a:srgbClr val="000000">
                      <a:alpha val="43137"/>
                    </a:srgbClr>
                  </a:outerShdw>
                </a:effectLst>
              </a:rPr>
              <a:t>——</a:t>
            </a:r>
            <a:r>
              <a:rPr lang="zh-CN" altLang="en-US" sz="2800" b="1" dirty="0">
                <a:effectLst>
                  <a:outerShdw blurRad="38100" dist="38100" dir="2700000" algn="tl">
                    <a:srgbClr val="000000">
                      <a:alpha val="43137"/>
                    </a:srgbClr>
                  </a:outerShdw>
                </a:effectLst>
              </a:rPr>
              <a:t>打破固有思维模式，从新的角度重新认识质量这一经典物理量的本质含义</a:t>
            </a:r>
          </a:p>
        </p:txBody>
      </p:sp>
      <p:sp>
        <p:nvSpPr>
          <p:cNvPr id="5" name="矩形 4">
            <a:extLst>
              <a:ext uri="{FF2B5EF4-FFF2-40B4-BE49-F238E27FC236}">
                <a16:creationId xmlns:a16="http://schemas.microsoft.com/office/drawing/2014/main" id="{D2A93D8D-09EF-41E0-A7D0-6C86CDDDEC20}"/>
              </a:ext>
            </a:extLst>
          </p:cNvPr>
          <p:cNvSpPr/>
          <p:nvPr/>
        </p:nvSpPr>
        <p:spPr>
          <a:xfrm>
            <a:off x="455679" y="1443799"/>
            <a:ext cx="4493538" cy="830997"/>
          </a:xfrm>
          <a:prstGeom prst="rect">
            <a:avLst/>
          </a:prstGeom>
        </p:spPr>
        <p:txBody>
          <a:bodyPr wrap="none">
            <a:spAutoFit/>
          </a:bodyPr>
          <a:lstStyle/>
          <a:p>
            <a:r>
              <a:rPr lang="zh-CN" altLang="en-US" sz="2400" dirty="0">
                <a:effectLst>
                  <a:outerShdw blurRad="38100" dist="38100" dir="2700000" algn="tl">
                    <a:srgbClr val="000000">
                      <a:alpha val="43137"/>
                    </a:srgbClr>
                  </a:outerShdw>
                </a:effectLst>
              </a:rPr>
              <a:t>平动惯性大小的量度：质量</a:t>
            </a:r>
            <a:endParaRPr lang="en-US" altLang="zh-CN" sz="2400" dirty="0">
              <a:effectLst>
                <a:outerShdw blurRad="38100" dist="38100" dir="2700000" algn="tl">
                  <a:srgbClr val="000000">
                    <a:alpha val="43137"/>
                  </a:srgbClr>
                </a:outerShdw>
              </a:effectLst>
            </a:endParaRPr>
          </a:p>
          <a:p>
            <a:r>
              <a:rPr lang="zh-CN" altLang="en-US" sz="2400" dirty="0">
                <a:effectLst>
                  <a:outerShdw blurRad="38100" dist="38100" dir="2700000" algn="tl">
                    <a:srgbClr val="000000">
                      <a:alpha val="43137"/>
                    </a:srgbClr>
                  </a:outerShdw>
                </a:effectLst>
              </a:rPr>
              <a:t>转动惯性大小的量度：转动惯量</a:t>
            </a:r>
          </a:p>
        </p:txBody>
      </p:sp>
      <p:sp>
        <p:nvSpPr>
          <p:cNvPr id="6" name="矩形 5">
            <a:extLst>
              <a:ext uri="{FF2B5EF4-FFF2-40B4-BE49-F238E27FC236}">
                <a16:creationId xmlns:a16="http://schemas.microsoft.com/office/drawing/2014/main" id="{A1403759-A2BE-4EA4-8AE6-BF76CD9B4EAE}"/>
              </a:ext>
            </a:extLst>
          </p:cNvPr>
          <p:cNvSpPr/>
          <p:nvPr/>
        </p:nvSpPr>
        <p:spPr>
          <a:xfrm>
            <a:off x="383671" y="2346510"/>
            <a:ext cx="7344816" cy="1200329"/>
          </a:xfrm>
          <a:prstGeom prst="rect">
            <a:avLst/>
          </a:prstGeom>
        </p:spPr>
        <p:txBody>
          <a:bodyPr wrap="square">
            <a:spAutoFit/>
          </a:bodyPr>
          <a:lstStyle/>
          <a:p>
            <a:r>
              <a:rPr lang="zh-CN" altLang="en-US" sz="2400" b="1" dirty="0">
                <a:solidFill>
                  <a:srgbClr val="FF0000"/>
                </a:solidFill>
                <a:effectLst>
                  <a:outerShdw blurRad="38100" dist="38100" dir="2700000" algn="tl">
                    <a:srgbClr val="000000">
                      <a:alpha val="43137"/>
                    </a:srgbClr>
                  </a:outerShdw>
                </a:effectLst>
              </a:rPr>
              <a:t>有效质量：</a:t>
            </a:r>
            <a:r>
              <a:rPr lang="zh-CN" altLang="en-US" sz="2400" b="1" dirty="0">
                <a:effectLst>
                  <a:outerShdw blurRad="38100" dist="38100" dir="2700000" algn="tl">
                    <a:srgbClr val="000000">
                      <a:alpha val="43137"/>
                    </a:srgbClr>
                  </a:outerShdw>
                </a:effectLst>
              </a:rPr>
              <a:t>在解决半导体中微观电子运动问题中，使得牛顿定律可以运用</a:t>
            </a:r>
            <a:endParaRPr lang="en-US" altLang="zh-CN" sz="2400" b="1" dirty="0">
              <a:effectLst>
                <a:outerShdw blurRad="38100" dist="38100" dir="2700000" algn="tl">
                  <a:srgbClr val="000000">
                    <a:alpha val="43137"/>
                  </a:srgbClr>
                </a:outerShdw>
              </a:effectLst>
            </a:endParaRPr>
          </a:p>
          <a:p>
            <a:r>
              <a:rPr lang="zh-CN" altLang="en-US" sz="2400" b="1" dirty="0">
                <a:solidFill>
                  <a:srgbClr val="FF0000"/>
                </a:solidFill>
                <a:effectLst>
                  <a:outerShdw blurRad="38100" dist="38100" dir="2700000" algn="tl">
                    <a:srgbClr val="000000">
                      <a:alpha val="43137"/>
                    </a:srgbClr>
                  </a:outerShdw>
                </a:effectLst>
              </a:rPr>
              <a:t>空穴负的有效质量：</a:t>
            </a:r>
            <a:r>
              <a:rPr lang="zh-CN" altLang="en-US" sz="2400" b="1" dirty="0">
                <a:effectLst>
                  <a:outerShdw blurRad="38100" dist="38100" dir="2700000" algn="tl">
                    <a:srgbClr val="000000">
                      <a:alpha val="43137"/>
                    </a:srgbClr>
                  </a:outerShdw>
                </a:effectLst>
              </a:rPr>
              <a:t>从牛顿定律中导出的负方向运动</a:t>
            </a:r>
          </a:p>
        </p:txBody>
      </p:sp>
      <p:sp>
        <p:nvSpPr>
          <p:cNvPr id="7" name="矩形 6">
            <a:extLst>
              <a:ext uri="{FF2B5EF4-FFF2-40B4-BE49-F238E27FC236}">
                <a16:creationId xmlns:a16="http://schemas.microsoft.com/office/drawing/2014/main" id="{3734CBF2-5531-4F06-8C94-57C548B0A02E}"/>
              </a:ext>
            </a:extLst>
          </p:cNvPr>
          <p:cNvSpPr/>
          <p:nvPr/>
        </p:nvSpPr>
        <p:spPr>
          <a:xfrm>
            <a:off x="2123728" y="3957300"/>
            <a:ext cx="4512774" cy="523220"/>
          </a:xfrm>
          <a:prstGeom prst="rect">
            <a:avLst/>
          </a:prstGeom>
        </p:spPr>
        <p:txBody>
          <a:bodyPr wrap="none">
            <a:spAutoFit/>
          </a:bodyPr>
          <a:lstStyle/>
          <a:p>
            <a:r>
              <a:rPr lang="zh-CN" altLang="en-US" sz="2800" b="1" dirty="0">
                <a:solidFill>
                  <a:srgbClr val="FF0000"/>
                </a:solidFill>
                <a:effectLst>
                  <a:outerShdw blurRad="38100" dist="38100" dir="2700000" algn="tl">
                    <a:srgbClr val="000000">
                      <a:alpha val="43137"/>
                    </a:srgbClr>
                  </a:outerShdw>
                </a:effectLst>
              </a:rPr>
              <a:t>敢于打破固有的思维模式！</a:t>
            </a:r>
          </a:p>
        </p:txBody>
      </p:sp>
      <p:sp>
        <p:nvSpPr>
          <p:cNvPr id="8" name="矩形 7">
            <a:extLst>
              <a:ext uri="{FF2B5EF4-FFF2-40B4-BE49-F238E27FC236}">
                <a16:creationId xmlns:a16="http://schemas.microsoft.com/office/drawing/2014/main" id="{D5D856F5-BFF0-4B44-850B-7CF65E094DFF}"/>
              </a:ext>
            </a:extLst>
          </p:cNvPr>
          <p:cNvSpPr/>
          <p:nvPr/>
        </p:nvSpPr>
        <p:spPr>
          <a:xfrm>
            <a:off x="270427" y="5414201"/>
            <a:ext cx="7571303" cy="923330"/>
          </a:xfrm>
          <a:prstGeom prst="rect">
            <a:avLst/>
          </a:prstGeom>
        </p:spPr>
        <p:txBody>
          <a:bodyPr wrap="none">
            <a:spAutoFit/>
          </a:bodyPr>
          <a:lstStyle/>
          <a:p>
            <a:r>
              <a:rPr lang="zh-CN" altLang="en-US" dirty="0"/>
              <a:t>例子：司马光砸缸、哥白尼的“日心说”、两个铁球同时落地、田忌赛马</a:t>
            </a:r>
            <a:endParaRPr lang="en-US" altLang="zh-CN" dirty="0"/>
          </a:p>
          <a:p>
            <a:r>
              <a:rPr lang="zh-CN" altLang="en-US" dirty="0"/>
              <a:t>毛泽东</a:t>
            </a:r>
            <a:r>
              <a:rPr lang="en-US" altLang="zh-CN" dirty="0"/>
              <a:t>《</a:t>
            </a:r>
            <a:r>
              <a:rPr lang="zh-CN" altLang="en-US" dirty="0"/>
              <a:t>反对本本主义</a:t>
            </a:r>
            <a:r>
              <a:rPr lang="en-US" altLang="zh-CN" dirty="0"/>
              <a:t>》</a:t>
            </a:r>
            <a:r>
              <a:rPr lang="zh-CN" altLang="en-US" dirty="0"/>
              <a:t>；邓小平南巡讲话，改革开放关键一招；</a:t>
            </a:r>
            <a:endParaRPr lang="en-US" altLang="zh-CN" dirty="0"/>
          </a:p>
          <a:p>
            <a:r>
              <a:rPr lang="zh-CN" altLang="en-US" dirty="0"/>
              <a:t>习近平：新时代、新发展、新格局、新理念；党和国家事业的历史性变革</a:t>
            </a:r>
          </a:p>
        </p:txBody>
      </p:sp>
      <p:sp>
        <p:nvSpPr>
          <p:cNvPr id="9" name="矩形 8">
            <a:extLst>
              <a:ext uri="{FF2B5EF4-FFF2-40B4-BE49-F238E27FC236}">
                <a16:creationId xmlns:a16="http://schemas.microsoft.com/office/drawing/2014/main" id="{17FBAB44-AA56-406A-A841-D21064543875}"/>
              </a:ext>
            </a:extLst>
          </p:cNvPr>
          <p:cNvSpPr/>
          <p:nvPr/>
        </p:nvSpPr>
        <p:spPr>
          <a:xfrm>
            <a:off x="312822" y="4679216"/>
            <a:ext cx="7272808" cy="646331"/>
          </a:xfrm>
          <a:prstGeom prst="rect">
            <a:avLst/>
          </a:prstGeom>
        </p:spPr>
        <p:txBody>
          <a:bodyPr wrap="square">
            <a:spAutoFit/>
          </a:bodyPr>
          <a:lstStyle/>
          <a:p>
            <a:r>
              <a:rPr lang="zh-CN" altLang="en-US" dirty="0"/>
              <a:t>孔子：“不愤不启，不悱不发。举一隅不以三隅反，则不复也”，强调要打破固有思维定式的束缚，提倡发散性思维和联想性思维相统一。</a:t>
            </a:r>
          </a:p>
        </p:txBody>
      </p:sp>
    </p:spTree>
    <p:extLst>
      <p:ext uri="{BB962C8B-B14F-4D97-AF65-F5344CB8AC3E}">
        <p14:creationId xmlns:p14="http://schemas.microsoft.com/office/powerpoint/2010/main" val="9711315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4"/>
          <p:cNvSpPr>
            <a:spLocks noChangeArrowheads="1"/>
          </p:cNvSpPr>
          <p:nvPr/>
        </p:nvSpPr>
        <p:spPr bwMode="auto">
          <a:xfrm>
            <a:off x="755576" y="1600944"/>
            <a:ext cx="7848872" cy="2772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2000" dirty="0">
                <a:latin typeface="Times New Roman" panose="02020603050405020304" pitchFamily="18" charset="0"/>
                <a:sym typeface="Times New Roman" panose="02020603050405020304" pitchFamily="18" charset="0"/>
              </a:rPr>
              <a:t>1</a:t>
            </a:r>
            <a:r>
              <a:rPr lang="zh-CN" altLang="en-US" sz="2000" dirty="0">
                <a:latin typeface="Times New Roman" panose="02020603050405020304" pitchFamily="18" charset="0"/>
                <a:sym typeface="Times New Roman" panose="02020603050405020304" pitchFamily="18" charset="0"/>
              </a:rPr>
              <a:t>、原子严格地周期性排列，晶体具有</a:t>
            </a:r>
            <a:r>
              <a:rPr lang="zh-CN" altLang="en-US" sz="2000" dirty="0">
                <a:solidFill>
                  <a:srgbClr val="FF0000"/>
                </a:solidFill>
                <a:latin typeface="Times New Roman" panose="02020603050405020304" pitchFamily="18" charset="0"/>
                <a:sym typeface="Times New Roman" panose="02020603050405020304" pitchFamily="18" charset="0"/>
              </a:rPr>
              <a:t>完整</a:t>
            </a:r>
            <a:r>
              <a:rPr lang="zh-CN" altLang="en-US" sz="2000" dirty="0">
                <a:latin typeface="Times New Roman" panose="02020603050405020304" pitchFamily="18" charset="0"/>
                <a:sym typeface="Times New Roman" panose="02020603050405020304" pitchFamily="18" charset="0"/>
              </a:rPr>
              <a:t>的晶格</a:t>
            </a:r>
          </a:p>
          <a:p>
            <a:pPr eaLnBrk="1" hangingPunct="1">
              <a:buFont typeface="Wingdings" panose="05000000000000000000" pitchFamily="2" charset="2"/>
              <a:buNone/>
            </a:pPr>
            <a:r>
              <a:rPr lang="zh-CN" altLang="en-US" sz="2000" dirty="0">
                <a:latin typeface="Times New Roman" panose="02020603050405020304" pitchFamily="18" charset="0"/>
                <a:sym typeface="Times New Roman" panose="02020603050405020304" pitchFamily="18" charset="0"/>
              </a:rPr>
              <a:t>      结构。</a:t>
            </a:r>
          </a:p>
          <a:p>
            <a:pPr eaLnBrk="1" hangingPunct="1">
              <a:buFont typeface="Wingdings" panose="05000000000000000000" pitchFamily="2" charset="2"/>
              <a:buNone/>
            </a:pPr>
            <a:r>
              <a:rPr lang="en-US" altLang="zh-CN" sz="2000" dirty="0">
                <a:latin typeface="Times New Roman" panose="02020603050405020304" pitchFamily="18" charset="0"/>
                <a:sym typeface="Times New Roman" panose="02020603050405020304" pitchFamily="18" charset="0"/>
              </a:rPr>
              <a:t>2</a:t>
            </a:r>
            <a:r>
              <a:rPr lang="zh-CN" altLang="en-US" sz="2000" dirty="0">
                <a:latin typeface="Times New Roman" panose="02020603050405020304" pitchFamily="18" charset="0"/>
                <a:sym typeface="Times New Roman" panose="02020603050405020304" pitchFamily="18" charset="0"/>
              </a:rPr>
              <a:t>、晶体中无杂质，无缺陷。</a:t>
            </a:r>
          </a:p>
          <a:p>
            <a:pPr eaLnBrk="1" hangingPunct="1">
              <a:buFont typeface="Wingdings" panose="05000000000000000000" pitchFamily="2" charset="2"/>
              <a:buNone/>
            </a:pPr>
            <a:r>
              <a:rPr lang="en-US" altLang="zh-CN" sz="2000" dirty="0">
                <a:latin typeface="Times New Roman" panose="02020603050405020304" pitchFamily="18" charset="0"/>
                <a:sym typeface="Times New Roman" panose="02020603050405020304" pitchFamily="18" charset="0"/>
              </a:rPr>
              <a:t>3</a:t>
            </a:r>
            <a:r>
              <a:rPr lang="zh-CN" altLang="en-US" sz="2000" dirty="0">
                <a:latin typeface="Times New Roman" panose="02020603050405020304" pitchFamily="18" charset="0"/>
                <a:sym typeface="Times New Roman" panose="02020603050405020304" pitchFamily="18" charset="0"/>
              </a:rPr>
              <a:t>、电子在周期场中作共有化运动，形成允带和禁带</a:t>
            </a:r>
            <a:r>
              <a:rPr lang="en-US" altLang="zh-CN" sz="2000" dirty="0">
                <a:latin typeface="Times New Roman" panose="02020603050405020304" pitchFamily="18" charset="0"/>
                <a:sym typeface="Times New Roman" panose="02020603050405020304" pitchFamily="18" charset="0"/>
              </a:rPr>
              <a:t>——</a:t>
            </a:r>
            <a:r>
              <a:rPr lang="zh-CN" altLang="en-US" sz="2000" dirty="0">
                <a:latin typeface="Times New Roman" panose="02020603050405020304" pitchFamily="18" charset="0"/>
                <a:sym typeface="Times New Roman" panose="02020603050405020304" pitchFamily="18" charset="0"/>
              </a:rPr>
              <a:t>电子能量</a:t>
            </a:r>
            <a:r>
              <a:rPr lang="zh-CN" altLang="en-US" sz="2000" dirty="0">
                <a:solidFill>
                  <a:srgbClr val="FF0000"/>
                </a:solidFill>
                <a:latin typeface="Times New Roman" panose="02020603050405020304" pitchFamily="18" charset="0"/>
                <a:sym typeface="Times New Roman" panose="02020603050405020304" pitchFamily="18" charset="0"/>
              </a:rPr>
              <a:t>只能处在</a:t>
            </a:r>
            <a:r>
              <a:rPr lang="zh-CN" altLang="en-US" sz="2000" dirty="0">
                <a:latin typeface="Times New Roman" panose="02020603050405020304" pitchFamily="18" charset="0"/>
                <a:sym typeface="Times New Roman" panose="02020603050405020304" pitchFamily="18" charset="0"/>
              </a:rPr>
              <a:t>允带中的能级上，禁带中无能级。由本征激发提供载流子</a:t>
            </a:r>
          </a:p>
          <a:p>
            <a:pPr eaLnBrk="1" hangingPunct="1">
              <a:buFont typeface="Wingdings" panose="05000000000000000000" pitchFamily="2" charset="2"/>
              <a:buChar char="Ø"/>
            </a:pPr>
            <a:r>
              <a:rPr lang="zh-CN" altLang="en-US" sz="2000" dirty="0">
                <a:solidFill>
                  <a:srgbClr val="FF0000"/>
                </a:solidFill>
                <a:latin typeface="Times New Roman" panose="02020603050405020304" pitchFamily="18" charset="0"/>
                <a:sym typeface="Times New Roman" panose="02020603050405020304" pitchFamily="18" charset="0"/>
              </a:rPr>
              <a:t>本征半导体</a:t>
            </a:r>
            <a:r>
              <a:rPr lang="en-US" altLang="zh-CN" sz="2000" dirty="0">
                <a:latin typeface="Times New Roman" panose="02020603050405020304" pitchFamily="18" charset="0"/>
                <a:sym typeface="Times New Roman" panose="02020603050405020304" pitchFamily="18" charset="0"/>
              </a:rPr>
              <a:t>——</a:t>
            </a:r>
            <a:r>
              <a:rPr lang="zh-CN" altLang="en-US" sz="2000" dirty="0">
                <a:latin typeface="Times New Roman" panose="02020603050405020304" pitchFamily="18" charset="0"/>
                <a:sym typeface="Times New Roman" panose="02020603050405020304" pitchFamily="18" charset="0"/>
              </a:rPr>
              <a:t>晶体具有完美的晶格结构，无任何杂质和缺陷。 </a:t>
            </a:r>
          </a:p>
        </p:txBody>
      </p:sp>
      <p:sp>
        <p:nvSpPr>
          <p:cNvPr id="2" name="矩形 1">
            <a:extLst>
              <a:ext uri="{FF2B5EF4-FFF2-40B4-BE49-F238E27FC236}">
                <a16:creationId xmlns:a16="http://schemas.microsoft.com/office/drawing/2014/main" id="{503431DF-6C30-4647-8E53-B1FCDC2E0156}"/>
              </a:ext>
            </a:extLst>
          </p:cNvPr>
          <p:cNvSpPr/>
          <p:nvPr/>
        </p:nvSpPr>
        <p:spPr>
          <a:xfrm>
            <a:off x="1759371" y="224259"/>
            <a:ext cx="5625258" cy="746743"/>
          </a:xfrm>
          <a:prstGeom prst="rect">
            <a:avLst/>
          </a:prstGeom>
        </p:spPr>
        <p:txBody>
          <a:bodyPr wrap="none">
            <a:spAutoFit/>
          </a:bodyPr>
          <a:lstStyle/>
          <a:p>
            <a:pPr algn="ctr">
              <a:lnSpc>
                <a:spcPct val="150000"/>
              </a:lnSpc>
            </a:pPr>
            <a:r>
              <a:rPr lang="en-US" altLang="zh-CN" sz="3200" dirty="0">
                <a:sym typeface="Times New Roman" panose="02020603050405020304" pitchFamily="18" charset="0"/>
              </a:rPr>
              <a:t>1.2.7 </a:t>
            </a:r>
            <a:r>
              <a:rPr lang="zh-CN" altLang="en-US" sz="3200" dirty="0">
                <a:sym typeface="Times New Roman" panose="02020603050405020304" pitchFamily="18" charset="0"/>
              </a:rPr>
              <a:t>半导体中杂质和缺陷能级</a:t>
            </a:r>
            <a:endParaRPr lang="zh-CN" altLang="en-US" sz="3200" dirty="0"/>
          </a:p>
        </p:txBody>
      </p:sp>
      <p:pic>
        <p:nvPicPr>
          <p:cNvPr id="3" name="图片 2">
            <a:extLst>
              <a:ext uri="{FF2B5EF4-FFF2-40B4-BE49-F238E27FC236}">
                <a16:creationId xmlns:a16="http://schemas.microsoft.com/office/drawing/2014/main" id="{70B1923D-2ADD-411D-A20A-76E5A9D3B385}"/>
              </a:ext>
            </a:extLst>
          </p:cNvPr>
          <p:cNvPicPr>
            <a:picLocks noChangeAspect="1"/>
          </p:cNvPicPr>
          <p:nvPr/>
        </p:nvPicPr>
        <p:blipFill>
          <a:blip r:embed="rId2"/>
          <a:stretch>
            <a:fillRect/>
          </a:stretch>
        </p:blipFill>
        <p:spPr>
          <a:xfrm>
            <a:off x="2987824" y="3870709"/>
            <a:ext cx="5070485" cy="2772693"/>
          </a:xfrm>
          <a:prstGeom prst="rect">
            <a:avLst/>
          </a:prstGeom>
        </p:spPr>
      </p:pic>
      <p:sp>
        <p:nvSpPr>
          <p:cNvPr id="12" name="矩形 11">
            <a:extLst>
              <a:ext uri="{FF2B5EF4-FFF2-40B4-BE49-F238E27FC236}">
                <a16:creationId xmlns:a16="http://schemas.microsoft.com/office/drawing/2014/main" id="{7D4D3255-93EF-4F16-8D8E-3A03D3F4BE6B}"/>
              </a:ext>
            </a:extLst>
          </p:cNvPr>
          <p:cNvSpPr/>
          <p:nvPr/>
        </p:nvSpPr>
        <p:spPr>
          <a:xfrm>
            <a:off x="755576" y="1095538"/>
            <a:ext cx="1731564" cy="461665"/>
          </a:xfrm>
          <a:prstGeom prst="rect">
            <a:avLst/>
          </a:prstGeom>
        </p:spPr>
        <p:txBody>
          <a:bodyPr wrap="none">
            <a:spAutoFit/>
          </a:bodyPr>
          <a:lstStyle/>
          <a:p>
            <a:r>
              <a:rPr lang="zh-CN" altLang="en-US" sz="2400" b="1" dirty="0">
                <a:solidFill>
                  <a:srgbClr val="0033CC"/>
                </a:solidFill>
                <a:latin typeface="Times New Roman" panose="02020603050405020304" pitchFamily="18" charset="0"/>
                <a:sym typeface="Times New Roman" panose="02020603050405020304" pitchFamily="18" charset="0"/>
              </a:rPr>
              <a:t>理想半导体</a:t>
            </a:r>
            <a:endParaRPr lang="zh-CN" altLang="en-US" sz="2400" dirty="0"/>
          </a:p>
        </p:txBody>
      </p:sp>
    </p:spTree>
    <p:extLst>
      <p:ext uri="{BB962C8B-B14F-4D97-AF65-F5344CB8AC3E}">
        <p14:creationId xmlns:p14="http://schemas.microsoft.com/office/powerpoint/2010/main" val="24077643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344323" y="308957"/>
            <a:ext cx="1988045" cy="523220"/>
          </a:xfrm>
          <a:prstGeom prst="rect">
            <a:avLst/>
          </a:prstGeom>
          <a:noFill/>
          <a:ln>
            <a:noFill/>
          </a:ln>
          <a:effectLst/>
        </p:spPr>
        <p:txBody>
          <a:bodyPr wrap="none">
            <a:spAutoFit/>
          </a:bodyPr>
          <a:lstStyle/>
          <a:p>
            <a:pPr eaLnBrk="1" hangingPunct="1"/>
            <a:r>
              <a:rPr kumimoji="1" lang="zh-CN" altLang="en-US" sz="2800" b="1" dirty="0">
                <a:solidFill>
                  <a:srgbClr val="0033CC"/>
                </a:solidFill>
                <a:sym typeface="Times New Roman" panose="02020603050405020304" pitchFamily="18" charset="0"/>
              </a:rPr>
              <a:t>实际半导体</a:t>
            </a:r>
          </a:p>
        </p:txBody>
      </p:sp>
      <p:sp>
        <p:nvSpPr>
          <p:cNvPr id="95235" name="Text Box 3"/>
          <p:cNvSpPr txBox="1">
            <a:spLocks noChangeArrowheads="1"/>
          </p:cNvSpPr>
          <p:nvPr/>
        </p:nvSpPr>
        <p:spPr bwMode="auto">
          <a:xfrm>
            <a:off x="395288" y="908050"/>
            <a:ext cx="7921625" cy="523220"/>
          </a:xfrm>
          <a:prstGeom prst="rect">
            <a:avLst/>
          </a:prstGeom>
          <a:noFill/>
          <a:ln>
            <a:noFill/>
          </a:ln>
          <a:effectLst/>
        </p:spPr>
        <p:txBody>
          <a:bodyPr>
            <a:spAutoFit/>
          </a:bodyPr>
          <a:lstStyle/>
          <a:p>
            <a:pPr eaLnBrk="1" hangingPunct="1"/>
            <a:r>
              <a:rPr kumimoji="1" lang="en-US" altLang="zh-CN" sz="2800" b="1" dirty="0">
                <a:solidFill>
                  <a:srgbClr val="FF0000"/>
                </a:solidFill>
                <a:sym typeface="Times New Roman" panose="02020603050405020304" pitchFamily="18" charset="0"/>
              </a:rPr>
              <a:t>1 </a:t>
            </a:r>
            <a:r>
              <a:rPr kumimoji="1" lang="zh-CN" altLang="en-US" sz="2800" b="1" dirty="0">
                <a:solidFill>
                  <a:srgbClr val="FF0000"/>
                </a:solidFill>
                <a:sym typeface="Times New Roman" panose="02020603050405020304" pitchFamily="18" charset="0"/>
              </a:rPr>
              <a:t>晶体中晶格位置上的原子在平衡位置振动</a:t>
            </a:r>
          </a:p>
        </p:txBody>
      </p:sp>
      <p:grpSp>
        <p:nvGrpSpPr>
          <p:cNvPr id="95236" name="Group 4"/>
          <p:cNvGrpSpPr>
            <a:grpSpLocks/>
          </p:cNvGrpSpPr>
          <p:nvPr/>
        </p:nvGrpSpPr>
        <p:grpSpPr bwMode="auto">
          <a:xfrm>
            <a:off x="485848" y="2271155"/>
            <a:ext cx="7456487" cy="1690688"/>
            <a:chOff x="295" y="1117"/>
            <a:chExt cx="4833" cy="1361"/>
          </a:xfrm>
        </p:grpSpPr>
        <p:sp>
          <p:nvSpPr>
            <p:cNvPr id="95237" name="AutoShape 5"/>
            <p:cNvSpPr>
              <a:spLocks noChangeArrowheads="1"/>
            </p:cNvSpPr>
            <p:nvPr/>
          </p:nvSpPr>
          <p:spPr bwMode="auto">
            <a:xfrm>
              <a:off x="295" y="1661"/>
              <a:ext cx="724" cy="13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ym typeface="Times New Roman" panose="02020603050405020304" pitchFamily="18" charset="0"/>
              </a:endParaRPr>
            </a:p>
          </p:txBody>
        </p:sp>
        <p:grpSp>
          <p:nvGrpSpPr>
            <p:cNvPr id="95238" name="Group 6"/>
            <p:cNvGrpSpPr>
              <a:grpSpLocks/>
            </p:cNvGrpSpPr>
            <p:nvPr/>
          </p:nvGrpSpPr>
          <p:grpSpPr bwMode="auto">
            <a:xfrm>
              <a:off x="1054" y="1117"/>
              <a:ext cx="4074" cy="1361"/>
              <a:chOff x="1054" y="1117"/>
              <a:chExt cx="4074" cy="1361"/>
            </a:xfrm>
          </p:grpSpPr>
          <p:sp>
            <p:nvSpPr>
              <p:cNvPr id="95239" name="Text Box 7"/>
              <p:cNvSpPr txBox="1">
                <a:spLocks noChangeArrowheads="1"/>
              </p:cNvSpPr>
              <p:nvPr/>
            </p:nvSpPr>
            <p:spPr bwMode="auto">
              <a:xfrm>
                <a:off x="1054" y="1505"/>
                <a:ext cx="1722" cy="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zh-CN" altLang="en-US" sz="3200">
                    <a:sym typeface="Times New Roman" panose="02020603050405020304" pitchFamily="18" charset="0"/>
                  </a:rPr>
                  <a:t>缺陷的出现：</a:t>
                </a:r>
              </a:p>
            </p:txBody>
          </p:sp>
          <p:sp>
            <p:nvSpPr>
              <p:cNvPr id="95240" name="AutoShape 8"/>
              <p:cNvSpPr>
                <a:spLocks/>
              </p:cNvSpPr>
              <p:nvPr/>
            </p:nvSpPr>
            <p:spPr bwMode="auto">
              <a:xfrm>
                <a:off x="2661" y="1208"/>
                <a:ext cx="386" cy="1089"/>
              </a:xfrm>
              <a:prstGeom prst="leftBrace">
                <a:avLst>
                  <a:gd name="adj1" fmla="val 23510"/>
                  <a:gd name="adj2" fmla="val 50000"/>
                </a:avLst>
              </a:prstGeom>
              <a:noFill/>
              <a:ln w="3492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ym typeface="Times New Roman" panose="02020603050405020304" pitchFamily="18" charset="0"/>
                </a:endParaRPr>
              </a:p>
            </p:txBody>
          </p:sp>
          <p:sp>
            <p:nvSpPr>
              <p:cNvPr id="95241" name="Text Box 9"/>
              <p:cNvSpPr txBox="1">
                <a:spLocks noChangeArrowheads="1"/>
              </p:cNvSpPr>
              <p:nvPr/>
            </p:nvSpPr>
            <p:spPr bwMode="auto">
              <a:xfrm>
                <a:off x="3144" y="1130"/>
                <a:ext cx="814"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zh-CN" altLang="en-US" sz="2800" b="1">
                    <a:sym typeface="Times New Roman" panose="02020603050405020304" pitchFamily="18" charset="0"/>
                  </a:rPr>
                  <a:t>点缺陷</a:t>
                </a:r>
              </a:p>
            </p:txBody>
          </p:sp>
          <p:sp>
            <p:nvSpPr>
              <p:cNvPr id="95242" name="Text Box 10"/>
              <p:cNvSpPr txBox="1">
                <a:spLocks noChangeArrowheads="1"/>
              </p:cNvSpPr>
              <p:nvPr/>
            </p:nvSpPr>
            <p:spPr bwMode="auto">
              <a:xfrm>
                <a:off x="3144" y="1525"/>
                <a:ext cx="814"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zh-CN" altLang="en-US" sz="2800" b="1">
                    <a:sym typeface="Times New Roman" panose="02020603050405020304" pitchFamily="18" charset="0"/>
                  </a:rPr>
                  <a:t>线缺陷</a:t>
                </a:r>
              </a:p>
            </p:txBody>
          </p:sp>
          <p:sp>
            <p:nvSpPr>
              <p:cNvPr id="95243" name="Text Box 11"/>
              <p:cNvSpPr txBox="1">
                <a:spLocks noChangeArrowheads="1"/>
              </p:cNvSpPr>
              <p:nvPr/>
            </p:nvSpPr>
            <p:spPr bwMode="auto">
              <a:xfrm>
                <a:off x="3192" y="2037"/>
                <a:ext cx="814"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zh-CN" altLang="en-US" sz="2800" b="1">
                    <a:sym typeface="Times New Roman" panose="02020603050405020304" pitchFamily="18" charset="0"/>
                  </a:rPr>
                  <a:t>面缺陷</a:t>
                </a:r>
              </a:p>
            </p:txBody>
          </p:sp>
          <p:sp>
            <p:nvSpPr>
              <p:cNvPr id="95244" name="AutoShape 12"/>
              <p:cNvSpPr>
                <a:spLocks noChangeArrowheads="1"/>
              </p:cNvSpPr>
              <p:nvPr/>
            </p:nvSpPr>
            <p:spPr bwMode="auto">
              <a:xfrm>
                <a:off x="3965" y="1253"/>
                <a:ext cx="387" cy="46"/>
              </a:xfrm>
              <a:prstGeom prst="rightArrow">
                <a:avLst>
                  <a:gd name="adj1" fmla="val 50000"/>
                  <a:gd name="adj2" fmla="val 21032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ym typeface="Times New Roman" panose="02020603050405020304" pitchFamily="18" charset="0"/>
                </a:endParaRPr>
              </a:p>
            </p:txBody>
          </p:sp>
          <p:sp>
            <p:nvSpPr>
              <p:cNvPr id="95245" name="Text Box 13"/>
              <p:cNvSpPr txBox="1">
                <a:spLocks noChangeArrowheads="1"/>
              </p:cNvSpPr>
              <p:nvPr/>
            </p:nvSpPr>
            <p:spPr bwMode="auto">
              <a:xfrm>
                <a:off x="4545" y="1117"/>
                <a:ext cx="582"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zh-CN" altLang="en-US" sz="2800" b="1">
                    <a:sym typeface="Times New Roman" panose="02020603050405020304" pitchFamily="18" charset="0"/>
                  </a:rPr>
                  <a:t>空位</a:t>
                </a:r>
              </a:p>
            </p:txBody>
          </p:sp>
          <p:sp>
            <p:nvSpPr>
              <p:cNvPr id="95246" name="AutoShape 14"/>
              <p:cNvSpPr>
                <a:spLocks noChangeArrowheads="1"/>
              </p:cNvSpPr>
              <p:nvPr/>
            </p:nvSpPr>
            <p:spPr bwMode="auto">
              <a:xfrm>
                <a:off x="4013" y="1707"/>
                <a:ext cx="387" cy="46"/>
              </a:xfrm>
              <a:prstGeom prst="rightArrow">
                <a:avLst>
                  <a:gd name="adj1" fmla="val 50000"/>
                  <a:gd name="adj2" fmla="val 21032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ym typeface="Times New Roman" panose="02020603050405020304" pitchFamily="18" charset="0"/>
                </a:endParaRPr>
              </a:p>
            </p:txBody>
          </p:sp>
          <p:sp>
            <p:nvSpPr>
              <p:cNvPr id="95247" name="Text Box 15"/>
              <p:cNvSpPr txBox="1">
                <a:spLocks noChangeArrowheads="1"/>
              </p:cNvSpPr>
              <p:nvPr/>
            </p:nvSpPr>
            <p:spPr bwMode="auto">
              <a:xfrm>
                <a:off x="4545" y="1571"/>
                <a:ext cx="582"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zh-CN" altLang="en-US" sz="2800" b="1">
                    <a:sym typeface="Times New Roman" panose="02020603050405020304" pitchFamily="18" charset="0"/>
                  </a:rPr>
                  <a:t>位错</a:t>
                </a:r>
              </a:p>
            </p:txBody>
          </p:sp>
          <p:sp>
            <p:nvSpPr>
              <p:cNvPr id="95248" name="AutoShape 16"/>
              <p:cNvSpPr>
                <a:spLocks noChangeArrowheads="1"/>
              </p:cNvSpPr>
              <p:nvPr/>
            </p:nvSpPr>
            <p:spPr bwMode="auto">
              <a:xfrm>
                <a:off x="4062" y="2196"/>
                <a:ext cx="387" cy="46"/>
              </a:xfrm>
              <a:prstGeom prst="rightArrow">
                <a:avLst>
                  <a:gd name="adj1" fmla="val 50000"/>
                  <a:gd name="adj2" fmla="val 21032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ym typeface="Times New Roman" panose="02020603050405020304" pitchFamily="18" charset="0"/>
                </a:endParaRPr>
              </a:p>
            </p:txBody>
          </p:sp>
          <p:sp>
            <p:nvSpPr>
              <p:cNvPr id="95249" name="Text Box 17"/>
              <p:cNvSpPr txBox="1">
                <a:spLocks noChangeArrowheads="1"/>
              </p:cNvSpPr>
              <p:nvPr/>
            </p:nvSpPr>
            <p:spPr bwMode="auto">
              <a:xfrm>
                <a:off x="4546" y="2060"/>
                <a:ext cx="582"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zh-CN" altLang="en-US" sz="2800" b="1">
                    <a:sym typeface="Times New Roman" panose="02020603050405020304" pitchFamily="18" charset="0"/>
                  </a:rPr>
                  <a:t>层错</a:t>
                </a:r>
              </a:p>
            </p:txBody>
          </p:sp>
        </p:grpSp>
      </p:grpSp>
      <p:sp>
        <p:nvSpPr>
          <p:cNvPr id="95250" name="Text Box 18"/>
          <p:cNvSpPr txBox="1">
            <a:spLocks noChangeArrowheads="1"/>
          </p:cNvSpPr>
          <p:nvPr/>
        </p:nvSpPr>
        <p:spPr bwMode="auto">
          <a:xfrm>
            <a:off x="412263" y="4062957"/>
            <a:ext cx="7921625" cy="523220"/>
          </a:xfrm>
          <a:prstGeom prst="rect">
            <a:avLst/>
          </a:prstGeom>
          <a:noFill/>
          <a:ln>
            <a:noFill/>
          </a:ln>
          <a:effectLst/>
        </p:spPr>
        <p:txBody>
          <a:bodyPr>
            <a:spAutoFit/>
          </a:bodyPr>
          <a:lstStyle/>
          <a:p>
            <a:pPr eaLnBrk="1" hangingPunct="1"/>
            <a:r>
              <a:rPr kumimoji="1" lang="en-US" altLang="zh-CN" sz="2800" b="1" dirty="0">
                <a:solidFill>
                  <a:srgbClr val="FF0000"/>
                </a:solidFill>
                <a:sym typeface="Times New Roman" panose="02020603050405020304" pitchFamily="18" charset="0"/>
              </a:rPr>
              <a:t>3 </a:t>
            </a:r>
            <a:r>
              <a:rPr kumimoji="1" lang="zh-CN" altLang="en-US" sz="2800" b="1" dirty="0">
                <a:solidFill>
                  <a:srgbClr val="FF0000"/>
                </a:solidFill>
                <a:sym typeface="Times New Roman" panose="02020603050405020304" pitchFamily="18" charset="0"/>
              </a:rPr>
              <a:t>存在与晶体基质原子不同的杂质原子</a:t>
            </a:r>
          </a:p>
        </p:txBody>
      </p:sp>
      <p:grpSp>
        <p:nvGrpSpPr>
          <p:cNvPr id="95251" name="Group 19"/>
          <p:cNvGrpSpPr>
            <a:grpSpLocks/>
          </p:cNvGrpSpPr>
          <p:nvPr/>
        </p:nvGrpSpPr>
        <p:grpSpPr bwMode="auto">
          <a:xfrm>
            <a:off x="251520" y="4799244"/>
            <a:ext cx="8713787" cy="1577975"/>
            <a:chOff x="249" y="3113"/>
            <a:chExt cx="5452" cy="1527"/>
          </a:xfrm>
        </p:grpSpPr>
        <p:sp>
          <p:nvSpPr>
            <p:cNvPr id="95252" name="AutoShape 20"/>
            <p:cNvSpPr>
              <a:spLocks noChangeArrowheads="1"/>
            </p:cNvSpPr>
            <p:nvPr/>
          </p:nvSpPr>
          <p:spPr bwMode="auto">
            <a:xfrm>
              <a:off x="249" y="3566"/>
              <a:ext cx="680" cy="13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ym typeface="Times New Roman" panose="02020603050405020304" pitchFamily="18" charset="0"/>
              </a:endParaRPr>
            </a:p>
          </p:txBody>
        </p:sp>
        <p:sp>
          <p:nvSpPr>
            <p:cNvPr id="95253" name="Text Box 21"/>
            <p:cNvSpPr txBox="1">
              <a:spLocks noChangeArrowheads="1"/>
            </p:cNvSpPr>
            <p:nvPr/>
          </p:nvSpPr>
          <p:spPr bwMode="auto">
            <a:xfrm>
              <a:off x="975" y="3436"/>
              <a:ext cx="1595" cy="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3200" dirty="0">
                  <a:sym typeface="Times New Roman" panose="02020603050405020304" pitchFamily="18" charset="0"/>
                </a:rPr>
                <a:t>杂质的出现：</a:t>
              </a:r>
            </a:p>
          </p:txBody>
        </p:sp>
        <p:sp>
          <p:nvSpPr>
            <p:cNvPr id="95254" name="AutoShape 22"/>
            <p:cNvSpPr>
              <a:spLocks/>
            </p:cNvSpPr>
            <p:nvPr/>
          </p:nvSpPr>
          <p:spPr bwMode="auto">
            <a:xfrm>
              <a:off x="2484" y="3141"/>
              <a:ext cx="363" cy="1089"/>
            </a:xfrm>
            <a:prstGeom prst="leftBrace">
              <a:avLst>
                <a:gd name="adj1" fmla="val 25000"/>
                <a:gd name="adj2" fmla="val 50000"/>
              </a:avLst>
            </a:prstGeom>
            <a:noFill/>
            <a:ln w="3492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ym typeface="Times New Roman" panose="02020603050405020304" pitchFamily="18" charset="0"/>
              </a:endParaRPr>
            </a:p>
          </p:txBody>
        </p:sp>
        <p:sp>
          <p:nvSpPr>
            <p:cNvPr id="95255" name="Text Box 23"/>
            <p:cNvSpPr txBox="1">
              <a:spLocks noChangeArrowheads="1"/>
            </p:cNvSpPr>
            <p:nvPr/>
          </p:nvSpPr>
          <p:spPr bwMode="auto">
            <a:xfrm>
              <a:off x="2790" y="3113"/>
              <a:ext cx="1009"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zh-CN" altLang="en-US" sz="2800" b="1">
                  <a:sym typeface="Times New Roman" panose="02020603050405020304" pitchFamily="18" charset="0"/>
                </a:rPr>
                <a:t>无意掺杂</a:t>
              </a:r>
            </a:p>
          </p:txBody>
        </p:sp>
        <p:sp>
          <p:nvSpPr>
            <p:cNvPr id="95256" name="AutoShape 24"/>
            <p:cNvSpPr>
              <a:spLocks noChangeArrowheads="1"/>
            </p:cNvSpPr>
            <p:nvPr/>
          </p:nvSpPr>
          <p:spPr bwMode="auto">
            <a:xfrm>
              <a:off x="3833" y="3294"/>
              <a:ext cx="363" cy="46"/>
            </a:xfrm>
            <a:prstGeom prst="rightArrow">
              <a:avLst>
                <a:gd name="adj1" fmla="val 50000"/>
                <a:gd name="adj2" fmla="val 1972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ym typeface="Times New Roman" panose="02020603050405020304" pitchFamily="18" charset="0"/>
              </a:endParaRPr>
            </a:p>
          </p:txBody>
        </p:sp>
        <p:sp>
          <p:nvSpPr>
            <p:cNvPr id="95257" name="Text Box 25"/>
            <p:cNvSpPr txBox="1">
              <a:spLocks noChangeArrowheads="1"/>
            </p:cNvSpPr>
            <p:nvPr/>
          </p:nvSpPr>
          <p:spPr bwMode="auto">
            <a:xfrm>
              <a:off x="4241" y="3113"/>
              <a:ext cx="1460"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2800" b="1">
                  <a:sym typeface="Times New Roman" panose="02020603050405020304" pitchFamily="18" charset="0"/>
                </a:rPr>
                <a:t>源材料和工艺</a:t>
              </a:r>
            </a:p>
          </p:txBody>
        </p:sp>
        <p:sp>
          <p:nvSpPr>
            <p:cNvPr id="95258" name="AutoShape 26"/>
            <p:cNvSpPr>
              <a:spLocks noChangeArrowheads="1"/>
            </p:cNvSpPr>
            <p:nvPr/>
          </p:nvSpPr>
          <p:spPr bwMode="auto">
            <a:xfrm>
              <a:off x="3969" y="3974"/>
              <a:ext cx="363" cy="46"/>
            </a:xfrm>
            <a:prstGeom prst="rightArrow">
              <a:avLst>
                <a:gd name="adj1" fmla="val 50000"/>
                <a:gd name="adj2" fmla="val 1972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ym typeface="Times New Roman" panose="02020603050405020304" pitchFamily="18" charset="0"/>
              </a:endParaRPr>
            </a:p>
          </p:txBody>
        </p:sp>
        <p:sp>
          <p:nvSpPr>
            <p:cNvPr id="95259" name="Text Box 27"/>
            <p:cNvSpPr txBox="1">
              <a:spLocks noChangeArrowheads="1"/>
            </p:cNvSpPr>
            <p:nvPr/>
          </p:nvSpPr>
          <p:spPr bwMode="auto">
            <a:xfrm>
              <a:off x="4377" y="3724"/>
              <a:ext cx="1233" cy="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zh-CN" altLang="en-US" sz="2800" b="1">
                  <a:sym typeface="Times New Roman" panose="02020603050405020304" pitchFamily="18" charset="0"/>
                </a:rPr>
                <a:t>有目的控制</a:t>
              </a:r>
            </a:p>
            <a:p>
              <a:pPr eaLnBrk="1" hangingPunct="1"/>
              <a:r>
                <a:rPr kumimoji="1" lang="zh-CN" altLang="en-US" sz="2800" b="1">
                  <a:sym typeface="Times New Roman" panose="02020603050405020304" pitchFamily="18" charset="0"/>
                </a:rPr>
                <a:t>材料性质</a:t>
              </a:r>
            </a:p>
          </p:txBody>
        </p:sp>
        <p:sp>
          <p:nvSpPr>
            <p:cNvPr id="95260" name="Text Box 28"/>
            <p:cNvSpPr txBox="1">
              <a:spLocks noChangeArrowheads="1"/>
            </p:cNvSpPr>
            <p:nvPr/>
          </p:nvSpPr>
          <p:spPr bwMode="auto">
            <a:xfrm>
              <a:off x="2880" y="3840"/>
              <a:ext cx="1009" cy="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zh-CN" altLang="en-US" sz="2800" b="1">
                  <a:sym typeface="Times New Roman" panose="02020603050405020304" pitchFamily="18" charset="0"/>
                </a:rPr>
                <a:t>有意掺杂</a:t>
              </a:r>
            </a:p>
          </p:txBody>
        </p:sp>
      </p:grpSp>
      <p:sp>
        <p:nvSpPr>
          <p:cNvPr id="95261" name="Text Box 29"/>
          <p:cNvSpPr txBox="1">
            <a:spLocks noChangeArrowheads="1"/>
          </p:cNvSpPr>
          <p:nvPr/>
        </p:nvSpPr>
        <p:spPr bwMode="auto">
          <a:xfrm>
            <a:off x="395288" y="1608568"/>
            <a:ext cx="7921625" cy="523220"/>
          </a:xfrm>
          <a:prstGeom prst="rect">
            <a:avLst/>
          </a:prstGeom>
          <a:noFill/>
          <a:ln>
            <a:noFill/>
          </a:ln>
          <a:effectLst/>
        </p:spPr>
        <p:txBody>
          <a:bodyPr>
            <a:spAutoFit/>
          </a:bodyPr>
          <a:lstStyle/>
          <a:p>
            <a:pPr eaLnBrk="1" hangingPunct="1"/>
            <a:r>
              <a:rPr kumimoji="1" lang="en-US" altLang="zh-CN" sz="2800" b="1" dirty="0">
                <a:solidFill>
                  <a:srgbClr val="FF0000"/>
                </a:solidFill>
                <a:sym typeface="Times New Roman" panose="02020603050405020304" pitchFamily="18" charset="0"/>
              </a:rPr>
              <a:t>2 </a:t>
            </a:r>
            <a:r>
              <a:rPr kumimoji="1" lang="zh-CN" altLang="en-US" sz="2800" b="1" dirty="0">
                <a:solidFill>
                  <a:srgbClr val="FF0000"/>
                </a:solidFill>
                <a:sym typeface="Times New Roman" panose="02020603050405020304" pitchFamily="18" charset="0"/>
              </a:rPr>
              <a:t>晶格结构并非完整无缺，存在缺陷</a:t>
            </a:r>
          </a:p>
        </p:txBody>
      </p:sp>
    </p:spTree>
    <p:custDataLst>
      <p:tags r:id="rId1"/>
    </p:custDataLst>
    <p:extLst>
      <p:ext uri="{BB962C8B-B14F-4D97-AF65-F5344CB8AC3E}">
        <p14:creationId xmlns:p14="http://schemas.microsoft.com/office/powerpoint/2010/main" val="42781386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259" name="Group 3"/>
          <p:cNvGrpSpPr>
            <a:grpSpLocks/>
          </p:cNvGrpSpPr>
          <p:nvPr/>
        </p:nvGrpSpPr>
        <p:grpSpPr bwMode="auto">
          <a:xfrm>
            <a:off x="1511300" y="3821112"/>
            <a:ext cx="6937375" cy="2384425"/>
            <a:chOff x="952" y="2407"/>
            <a:chExt cx="4370" cy="1502"/>
          </a:xfrm>
        </p:grpSpPr>
        <p:sp>
          <p:nvSpPr>
            <p:cNvPr id="96261" name="AutoShape 5"/>
            <p:cNvSpPr>
              <a:spLocks noChangeAspect="1" noChangeArrowheads="1" noTextEdit="1"/>
            </p:cNvSpPr>
            <p:nvPr/>
          </p:nvSpPr>
          <p:spPr bwMode="auto">
            <a:xfrm>
              <a:off x="1247" y="2407"/>
              <a:ext cx="4075" cy="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ym typeface="Times New Roman" panose="02020603050405020304" pitchFamily="18" charset="0"/>
              </a:endParaRPr>
            </a:p>
          </p:txBody>
        </p:sp>
        <p:pic>
          <p:nvPicPr>
            <p:cNvPr id="96262" name="Picture 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 y="2478"/>
              <a:ext cx="4082" cy="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 name="Rectangle 8"/>
          <p:cNvSpPr>
            <a:spLocks noChangeArrowheads="1"/>
          </p:cNvSpPr>
          <p:nvPr/>
        </p:nvSpPr>
        <p:spPr bwMode="auto">
          <a:xfrm>
            <a:off x="323528" y="816932"/>
            <a:ext cx="8496944" cy="2918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tIns="165048" bIns="165048" anchor="ctr">
            <a:spAutoFit/>
          </a:bodyPr>
          <a:lstStyle>
            <a:lvl1pPr marL="268288" indent="-268288">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zh-CN" altLang="en-US" sz="2800" dirty="0">
                <a:solidFill>
                  <a:srgbClr val="FF3300"/>
                </a:solidFill>
                <a:latin typeface="Arial" panose="020B0604020202020204" pitchFamily="34" charset="0"/>
              </a:rPr>
              <a:t>杂质、缺陷对半导体的性质起着决定性的影响：</a:t>
            </a:r>
          </a:p>
          <a:p>
            <a:pPr eaLnBrk="1" hangingPunct="1">
              <a:lnSpc>
                <a:spcPct val="150000"/>
              </a:lnSpc>
              <a:spcBef>
                <a:spcPct val="0"/>
              </a:spcBef>
              <a:buClrTx/>
              <a:buFontTx/>
              <a:buNone/>
            </a:pPr>
            <a:r>
              <a:rPr lang="en-US" altLang="zh-CN" sz="2800" dirty="0">
                <a:latin typeface="Arial" panose="020B0604020202020204" pitchFamily="34" charset="0"/>
              </a:rPr>
              <a:t>1. </a:t>
            </a:r>
            <a:r>
              <a:rPr lang="zh-CN" altLang="en-US" sz="2800" dirty="0">
                <a:latin typeface="Arial" panose="020B0604020202020204" pitchFamily="34" charset="0"/>
              </a:rPr>
              <a:t>使周期场破坏，在杂质或缺陷周围引起</a:t>
            </a:r>
            <a:r>
              <a:rPr lang="zh-CN" altLang="en-US" sz="2800" dirty="0">
                <a:solidFill>
                  <a:srgbClr val="FF3300"/>
                </a:solidFill>
                <a:latin typeface="Arial" panose="020B0604020202020204" pitchFamily="34" charset="0"/>
              </a:rPr>
              <a:t>局部性的量子态</a:t>
            </a:r>
            <a:r>
              <a:rPr lang="en-US" altLang="zh-CN" sz="2800" dirty="0">
                <a:latin typeface="Arial" panose="020B0604020202020204" pitchFamily="34" charset="0"/>
              </a:rPr>
              <a:t>——</a:t>
            </a:r>
            <a:r>
              <a:rPr lang="zh-CN" altLang="en-US" sz="2800" dirty="0">
                <a:latin typeface="Arial" panose="020B0604020202020204" pitchFamily="34" charset="0"/>
              </a:rPr>
              <a:t>对应的能级常常处在禁带中。</a:t>
            </a:r>
          </a:p>
          <a:p>
            <a:pPr eaLnBrk="1" hangingPunct="1">
              <a:lnSpc>
                <a:spcPct val="150000"/>
              </a:lnSpc>
              <a:spcBef>
                <a:spcPct val="0"/>
              </a:spcBef>
              <a:buClrTx/>
              <a:buFontTx/>
              <a:buNone/>
            </a:pPr>
            <a:r>
              <a:rPr lang="en-US" altLang="zh-CN" sz="2800" dirty="0">
                <a:latin typeface="Arial" panose="020B0604020202020204" pitchFamily="34" charset="0"/>
              </a:rPr>
              <a:t>2. </a:t>
            </a:r>
            <a:r>
              <a:rPr lang="zh-CN" altLang="en-US" sz="2800" dirty="0">
                <a:solidFill>
                  <a:srgbClr val="FF3300"/>
                </a:solidFill>
                <a:latin typeface="Arial" panose="020B0604020202020204" pitchFamily="34" charset="0"/>
              </a:rPr>
              <a:t>杂质电离提供载流子</a:t>
            </a:r>
            <a:r>
              <a:rPr lang="zh-CN" altLang="en-US" sz="2800" dirty="0">
                <a:latin typeface="Arial" panose="020B0604020202020204" pitchFamily="34" charset="0"/>
              </a:rPr>
              <a:t>参与导电。 </a:t>
            </a:r>
          </a:p>
        </p:txBody>
      </p:sp>
    </p:spTree>
    <p:extLst>
      <p:ext uri="{BB962C8B-B14F-4D97-AF65-F5344CB8AC3E}">
        <p14:creationId xmlns:p14="http://schemas.microsoft.com/office/powerpoint/2010/main" val="11082709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ChangeArrowheads="1"/>
          </p:cNvSpPr>
          <p:nvPr/>
        </p:nvSpPr>
        <p:spPr bwMode="auto">
          <a:xfrm>
            <a:off x="2895600" y="962025"/>
            <a:ext cx="588962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165048" bIns="165048" anchor="ctr">
            <a:spAutoFit/>
          </a:bodyPr>
          <a:lstStyle>
            <a:lvl1pPr marL="263525" indent="-263525">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 typeface="Wingdings" panose="05000000000000000000" pitchFamily="2" charset="2"/>
              <a:buChar char="Ø"/>
            </a:pPr>
            <a:r>
              <a:rPr lang="en-US" altLang="zh-CN">
                <a:solidFill>
                  <a:srgbClr val="FF3300"/>
                </a:solidFill>
              </a:rPr>
              <a:t>N</a:t>
            </a:r>
            <a:r>
              <a:rPr lang="zh-CN" altLang="en-US">
                <a:solidFill>
                  <a:srgbClr val="FF3300"/>
                </a:solidFill>
              </a:rPr>
              <a:t>型半导体</a:t>
            </a:r>
            <a:r>
              <a:rPr lang="zh-CN" altLang="en-US"/>
              <a:t>（</a:t>
            </a:r>
            <a:r>
              <a:rPr lang="en-US" altLang="zh-CN"/>
              <a:t>Negative</a:t>
            </a:r>
            <a:r>
              <a:rPr lang="zh-CN" altLang="en-US"/>
              <a:t>）：半导体由电子导电</a:t>
            </a:r>
          </a:p>
          <a:p>
            <a:pPr eaLnBrk="1" hangingPunct="1">
              <a:lnSpc>
                <a:spcPct val="120000"/>
              </a:lnSpc>
              <a:spcBef>
                <a:spcPct val="0"/>
              </a:spcBef>
              <a:buClrTx/>
              <a:buFont typeface="Wingdings" panose="05000000000000000000" pitchFamily="2" charset="2"/>
              <a:buChar char="Ø"/>
            </a:pPr>
            <a:r>
              <a:rPr lang="zh-CN" altLang="en-US">
                <a:solidFill>
                  <a:srgbClr val="FF3300"/>
                </a:solidFill>
              </a:rPr>
              <a:t>施主杂质</a:t>
            </a:r>
            <a:r>
              <a:rPr lang="zh-CN" altLang="en-US"/>
              <a:t>（</a:t>
            </a:r>
            <a:r>
              <a:rPr lang="en-US" altLang="zh-CN"/>
              <a:t>Donor </a:t>
            </a:r>
            <a:r>
              <a:rPr lang="zh-CN" altLang="en-US"/>
              <a:t>）：提供电子的杂质</a:t>
            </a:r>
          </a:p>
          <a:p>
            <a:pPr eaLnBrk="1" hangingPunct="1">
              <a:lnSpc>
                <a:spcPct val="120000"/>
              </a:lnSpc>
              <a:spcBef>
                <a:spcPct val="0"/>
              </a:spcBef>
              <a:buClrTx/>
              <a:buFont typeface="Wingdings" panose="05000000000000000000" pitchFamily="2" charset="2"/>
              <a:buChar char="Ø"/>
            </a:pPr>
            <a:r>
              <a:rPr lang="zh-CN" altLang="en-US">
                <a:solidFill>
                  <a:srgbClr val="FF3300"/>
                </a:solidFill>
              </a:rPr>
              <a:t>施主杂质电离</a:t>
            </a:r>
            <a:r>
              <a:rPr lang="zh-CN" altLang="en-US"/>
              <a:t>：电子脱离施主杂质束缚成为导电电子的过程，所需要能量为杂质电离能（</a:t>
            </a:r>
            <a:r>
              <a:rPr lang="en-US" altLang="zh-CN"/>
              <a:t>Δ</a:t>
            </a:r>
            <a:r>
              <a:rPr lang="en-US" altLang="zh-CN" i="1"/>
              <a:t>E</a:t>
            </a:r>
            <a:r>
              <a:rPr lang="en-US" altLang="zh-CN" i="1" baseline="-25000"/>
              <a:t>D</a:t>
            </a:r>
            <a:r>
              <a:rPr lang="zh-CN" altLang="en-US"/>
              <a:t>）。</a:t>
            </a:r>
          </a:p>
          <a:p>
            <a:pPr eaLnBrk="1" hangingPunct="1">
              <a:lnSpc>
                <a:spcPct val="120000"/>
              </a:lnSpc>
              <a:spcBef>
                <a:spcPct val="0"/>
              </a:spcBef>
              <a:buClrTx/>
              <a:buFont typeface="Wingdings" panose="05000000000000000000" pitchFamily="2" charset="2"/>
              <a:buChar char="Ø"/>
            </a:pPr>
            <a:r>
              <a:rPr lang="zh-CN" altLang="en-US">
                <a:solidFill>
                  <a:srgbClr val="FF3300"/>
                </a:solidFill>
              </a:rPr>
              <a:t>电离施主</a:t>
            </a:r>
            <a:r>
              <a:rPr lang="zh-CN" altLang="en-US"/>
              <a:t>：失去电子的施主杂质离子（</a:t>
            </a:r>
            <a:r>
              <a:rPr lang="en-US" altLang="zh-CN"/>
              <a:t>P</a:t>
            </a:r>
            <a:r>
              <a:rPr lang="en-US" altLang="zh-CN" baseline="30000"/>
              <a:t>+</a:t>
            </a:r>
            <a:r>
              <a:rPr lang="zh-CN" altLang="en-US"/>
              <a:t>）成为不可移动的正电中心</a:t>
            </a:r>
          </a:p>
        </p:txBody>
      </p:sp>
      <p:sp>
        <p:nvSpPr>
          <p:cNvPr id="43011" name="Rectangle 5"/>
          <p:cNvSpPr>
            <a:spLocks noChangeArrowheads="1"/>
          </p:cNvSpPr>
          <p:nvPr/>
        </p:nvSpPr>
        <p:spPr bwMode="auto">
          <a:xfrm>
            <a:off x="2195736" y="241216"/>
            <a:ext cx="4365298" cy="8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165048" bIns="165048" anchor="ctr">
            <a:spAutoFit/>
          </a:bodyPr>
          <a:lstStyle>
            <a:lvl1pPr indent="2667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200" dirty="0">
                <a:solidFill>
                  <a:srgbClr val="0000FF"/>
                </a:solidFill>
                <a:cs typeface="Times New Roman" panose="02020603050405020304" pitchFamily="18" charset="0"/>
              </a:rPr>
              <a:t>1. </a:t>
            </a:r>
            <a:r>
              <a:rPr lang="zh-CN" altLang="en-US" sz="3200" dirty="0">
                <a:solidFill>
                  <a:srgbClr val="0000FF"/>
                </a:solidFill>
                <a:cs typeface="Times New Roman" panose="02020603050405020304" pitchFamily="18" charset="0"/>
              </a:rPr>
              <a:t>施主杂质  施主能级</a:t>
            </a:r>
          </a:p>
        </p:txBody>
      </p:sp>
      <p:pic>
        <p:nvPicPr>
          <p:cNvPr id="43012" name="Picture 6"/>
          <p:cNvPicPr>
            <a:picLocks noChangeAspect="1" noChangeArrowheads="1"/>
          </p:cNvPicPr>
          <p:nvPr/>
        </p:nvPicPr>
        <p:blipFill>
          <a:blip r:embed="rId2">
            <a:extLst>
              <a:ext uri="{28A0092B-C50C-407E-A947-70E740481C1C}">
                <a14:useLocalDpi xmlns:a14="http://schemas.microsoft.com/office/drawing/2010/main" val="0"/>
              </a:ext>
            </a:extLst>
          </a:blip>
          <a:srcRect r="11285" b="15717"/>
          <a:stretch>
            <a:fillRect/>
          </a:stretch>
        </p:blipFill>
        <p:spPr bwMode="auto">
          <a:xfrm>
            <a:off x="381000" y="1066800"/>
            <a:ext cx="2514600" cy="241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43013" name="Picture 7"/>
          <p:cNvPicPr>
            <a:picLocks noChangeAspect="1" noChangeArrowheads="1"/>
          </p:cNvPicPr>
          <p:nvPr/>
        </p:nvPicPr>
        <p:blipFill>
          <a:blip r:embed="rId3">
            <a:extLst>
              <a:ext uri="{28A0092B-C50C-407E-A947-70E740481C1C}">
                <a14:useLocalDpi xmlns:a14="http://schemas.microsoft.com/office/drawing/2010/main" val="0"/>
              </a:ext>
            </a:extLst>
          </a:blip>
          <a:srcRect b="25714"/>
          <a:stretch>
            <a:fillRect/>
          </a:stretch>
        </p:blipFill>
        <p:spPr bwMode="auto">
          <a:xfrm>
            <a:off x="228600" y="4495800"/>
            <a:ext cx="2743200"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3014" name="Rectangle 9"/>
          <p:cNvSpPr>
            <a:spLocks noChangeArrowheads="1"/>
          </p:cNvSpPr>
          <p:nvPr/>
        </p:nvSpPr>
        <p:spPr bwMode="auto">
          <a:xfrm>
            <a:off x="3276600" y="3581400"/>
            <a:ext cx="56388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82563" indent="-182563">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 typeface="Wingdings" panose="05000000000000000000" pitchFamily="2" charset="2"/>
              <a:buChar char="Ø"/>
            </a:pPr>
            <a:r>
              <a:rPr lang="zh-CN" altLang="en-US"/>
              <a:t>电子得到</a:t>
            </a:r>
            <a:r>
              <a:rPr lang="en-US" altLang="zh-CN"/>
              <a:t>Δ</a:t>
            </a:r>
            <a:r>
              <a:rPr lang="en-US" altLang="zh-CN" i="1"/>
              <a:t>E</a:t>
            </a:r>
            <a:r>
              <a:rPr lang="en-US" altLang="zh-CN" i="1" baseline="-25000"/>
              <a:t>D</a:t>
            </a:r>
            <a:r>
              <a:rPr lang="zh-CN" altLang="en-US"/>
              <a:t>后，从施主的束缚态跃迁到导带成为导电电子</a:t>
            </a:r>
          </a:p>
          <a:p>
            <a:pPr eaLnBrk="1" hangingPunct="1">
              <a:lnSpc>
                <a:spcPct val="120000"/>
              </a:lnSpc>
              <a:spcBef>
                <a:spcPct val="0"/>
              </a:spcBef>
              <a:buClrTx/>
              <a:buFont typeface="Wingdings" panose="05000000000000000000" pitchFamily="2" charset="2"/>
              <a:buChar char="Ø"/>
            </a:pPr>
            <a:r>
              <a:rPr lang="zh-CN" altLang="en-US"/>
              <a:t>电子被施主杂质束缚时能量比导带底</a:t>
            </a:r>
            <a:r>
              <a:rPr lang="en-US" altLang="zh-CN" i="1"/>
              <a:t>E</a:t>
            </a:r>
            <a:r>
              <a:rPr lang="en-US" altLang="zh-CN" i="1" baseline="-25000"/>
              <a:t>C</a:t>
            </a:r>
            <a:r>
              <a:rPr lang="zh-CN" altLang="en-US"/>
              <a:t>低</a:t>
            </a:r>
            <a:r>
              <a:rPr lang="en-US" altLang="zh-CN"/>
              <a:t>Δ</a:t>
            </a:r>
            <a:r>
              <a:rPr lang="en-US" altLang="zh-CN" i="1"/>
              <a:t>E</a:t>
            </a:r>
            <a:r>
              <a:rPr lang="en-US" altLang="zh-CN" i="1" baseline="-25000"/>
              <a:t>D</a:t>
            </a:r>
            <a:endParaRPr lang="en-US" altLang="zh-CN"/>
          </a:p>
          <a:p>
            <a:pPr eaLnBrk="1" hangingPunct="1">
              <a:lnSpc>
                <a:spcPct val="120000"/>
              </a:lnSpc>
              <a:spcBef>
                <a:spcPct val="0"/>
              </a:spcBef>
              <a:buClrTx/>
              <a:buFont typeface="Wingdings" panose="05000000000000000000" pitchFamily="2" charset="2"/>
              <a:buChar char="Ø"/>
            </a:pPr>
            <a:r>
              <a:rPr lang="zh-CN" altLang="en-US">
                <a:solidFill>
                  <a:srgbClr val="FF3300"/>
                </a:solidFill>
              </a:rPr>
              <a:t>施主能级</a:t>
            </a:r>
            <a:r>
              <a:rPr lang="en-US" altLang="zh-CN" i="1">
                <a:solidFill>
                  <a:srgbClr val="FF3300"/>
                </a:solidFill>
              </a:rPr>
              <a:t>E</a:t>
            </a:r>
            <a:r>
              <a:rPr lang="en-US" altLang="zh-CN" i="1" baseline="-25000">
                <a:solidFill>
                  <a:srgbClr val="FF3300"/>
                </a:solidFill>
              </a:rPr>
              <a:t>D</a:t>
            </a:r>
            <a:r>
              <a:rPr lang="zh-CN" altLang="en-US"/>
              <a:t>：电子被施主杂质束缚的能量状态（</a:t>
            </a:r>
            <a:r>
              <a:rPr lang="en-US" altLang="zh-CN" i="1"/>
              <a:t>E</a:t>
            </a:r>
            <a:r>
              <a:rPr lang="en-US" altLang="zh-CN" i="1" baseline="-25000"/>
              <a:t>D</a:t>
            </a:r>
            <a:r>
              <a:rPr lang="en-US" altLang="zh-CN" i="1"/>
              <a:t>=E</a:t>
            </a:r>
            <a:r>
              <a:rPr lang="en-US" altLang="zh-CN" i="1" baseline="-25000"/>
              <a:t>C </a:t>
            </a:r>
            <a:r>
              <a:rPr lang="en-US" altLang="zh-CN"/>
              <a:t>-</a:t>
            </a:r>
            <a:r>
              <a:rPr lang="en-US" altLang="zh-CN" i="1"/>
              <a:t>ΔE</a:t>
            </a:r>
            <a:r>
              <a:rPr lang="en-US" altLang="zh-CN" i="1" baseline="-25000"/>
              <a:t>D</a:t>
            </a:r>
            <a:r>
              <a:rPr lang="zh-CN" altLang="en-US"/>
              <a:t>）</a:t>
            </a:r>
          </a:p>
          <a:p>
            <a:pPr eaLnBrk="1" hangingPunct="1">
              <a:lnSpc>
                <a:spcPct val="120000"/>
              </a:lnSpc>
              <a:spcBef>
                <a:spcPct val="0"/>
              </a:spcBef>
              <a:buClrTx/>
              <a:buFont typeface="Wingdings" panose="05000000000000000000" pitchFamily="2" charset="2"/>
              <a:buChar char="Ø"/>
            </a:pPr>
            <a:r>
              <a:rPr lang="zh-CN" altLang="en-US"/>
              <a:t>一般</a:t>
            </a:r>
            <a:r>
              <a:rPr lang="en-US" altLang="zh-CN"/>
              <a:t>Δ</a:t>
            </a:r>
            <a:r>
              <a:rPr lang="en-US" altLang="zh-CN" i="1"/>
              <a:t>E</a:t>
            </a:r>
            <a:r>
              <a:rPr lang="en-US" altLang="zh-CN" i="1" baseline="-25000"/>
              <a:t>D</a:t>
            </a:r>
            <a:r>
              <a:rPr lang="zh-CN" altLang="en-US"/>
              <a:t>较小，</a:t>
            </a:r>
            <a:r>
              <a:rPr lang="en-US" altLang="zh-CN" i="1">
                <a:solidFill>
                  <a:srgbClr val="FF3300"/>
                </a:solidFill>
              </a:rPr>
              <a:t>E</a:t>
            </a:r>
            <a:r>
              <a:rPr lang="en-US" altLang="zh-CN" i="1" baseline="-25000">
                <a:solidFill>
                  <a:srgbClr val="FF3300"/>
                </a:solidFill>
              </a:rPr>
              <a:t>D</a:t>
            </a:r>
            <a:r>
              <a:rPr lang="zh-CN" altLang="en-US">
                <a:solidFill>
                  <a:srgbClr val="FF3300"/>
                </a:solidFill>
              </a:rPr>
              <a:t>通常位于离导带底</a:t>
            </a:r>
            <a:r>
              <a:rPr lang="en-US" altLang="zh-CN" i="1">
                <a:solidFill>
                  <a:srgbClr val="FF3300"/>
                </a:solidFill>
              </a:rPr>
              <a:t>E</a:t>
            </a:r>
            <a:r>
              <a:rPr lang="en-US" altLang="zh-CN" i="1" baseline="-25000">
                <a:solidFill>
                  <a:srgbClr val="FF3300"/>
                </a:solidFill>
              </a:rPr>
              <a:t>C</a:t>
            </a:r>
            <a:r>
              <a:rPr lang="zh-CN" altLang="en-US">
                <a:solidFill>
                  <a:srgbClr val="FF3300"/>
                </a:solidFill>
              </a:rPr>
              <a:t>很近的禁带中</a:t>
            </a:r>
            <a:r>
              <a:rPr lang="zh-CN" altLang="en-US"/>
              <a:t>，而且是局域化的。</a:t>
            </a:r>
          </a:p>
        </p:txBody>
      </p:sp>
      <p:sp>
        <p:nvSpPr>
          <p:cNvPr id="43015" name="Rectangle 10"/>
          <p:cNvSpPr>
            <a:spLocks noChangeArrowheads="1"/>
          </p:cNvSpPr>
          <p:nvPr/>
        </p:nvSpPr>
        <p:spPr bwMode="auto">
          <a:xfrm>
            <a:off x="152400" y="4191000"/>
            <a:ext cx="30511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ctr" eaLnBrk="1" hangingPunct="1">
              <a:lnSpc>
                <a:spcPct val="110000"/>
              </a:lnSpc>
              <a:spcBef>
                <a:spcPct val="0"/>
              </a:spcBef>
              <a:buClrTx/>
              <a:buFontTx/>
              <a:buNone/>
            </a:pPr>
            <a:r>
              <a:rPr lang="zh-CN" altLang="en-US" sz="1600">
                <a:latin typeface="Arial" panose="020B0604020202020204" pitchFamily="34" charset="0"/>
              </a:rPr>
              <a:t>能带图表示施主杂质的电离过程</a:t>
            </a:r>
          </a:p>
        </p:txBody>
      </p:sp>
    </p:spTree>
    <p:extLst>
      <p:ext uri="{BB962C8B-B14F-4D97-AF65-F5344CB8AC3E}">
        <p14:creationId xmlns:p14="http://schemas.microsoft.com/office/powerpoint/2010/main" val="14102885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3"/>
          <p:cNvSpPr>
            <a:spLocks noChangeArrowheads="1"/>
          </p:cNvSpPr>
          <p:nvPr/>
        </p:nvSpPr>
        <p:spPr bwMode="auto">
          <a:xfrm>
            <a:off x="1041897" y="923404"/>
            <a:ext cx="7334059" cy="584775"/>
          </a:xfrm>
          <a:prstGeom prst="rect">
            <a:avLst/>
          </a:prstGeom>
          <a:noFill/>
          <a:ln>
            <a:noFill/>
          </a:ln>
          <a:effectLst/>
        </p:spPr>
        <p:txBody>
          <a:bodyPr wrap="none">
            <a:spAutoFit/>
          </a:bodyPr>
          <a:lstStyle/>
          <a:p>
            <a:pPr eaLnBrk="1" hangingPunct="1"/>
            <a:r>
              <a:rPr kumimoji="1" lang="en-US" altLang="zh-CN" sz="3200" b="1" dirty="0">
                <a:solidFill>
                  <a:srgbClr val="0033CC"/>
                </a:solidFill>
                <a:sym typeface="Times New Roman" panose="02020603050405020304" pitchFamily="18" charset="0"/>
              </a:rPr>
              <a:t>Si</a:t>
            </a:r>
            <a:r>
              <a:rPr kumimoji="1" lang="zh-CN" altLang="en-US" sz="3200" b="1" dirty="0">
                <a:solidFill>
                  <a:srgbClr val="0033CC"/>
                </a:solidFill>
                <a:sym typeface="Times New Roman" panose="02020603050405020304" pitchFamily="18" charset="0"/>
              </a:rPr>
              <a:t>、</a:t>
            </a:r>
            <a:r>
              <a:rPr kumimoji="1" lang="en-US" altLang="zh-CN" sz="3200" b="1" dirty="0">
                <a:solidFill>
                  <a:srgbClr val="0033CC"/>
                </a:solidFill>
                <a:sym typeface="Times New Roman" panose="02020603050405020304" pitchFamily="18" charset="0"/>
              </a:rPr>
              <a:t>Ge</a:t>
            </a:r>
            <a:r>
              <a:rPr kumimoji="1" lang="zh-CN" altLang="en-US" sz="3200" b="1" dirty="0">
                <a:solidFill>
                  <a:srgbClr val="0033CC"/>
                </a:solidFill>
                <a:sym typeface="Times New Roman" panose="02020603050405020304" pitchFamily="18" charset="0"/>
              </a:rPr>
              <a:t>中</a:t>
            </a:r>
            <a:r>
              <a:rPr kumimoji="1" lang="en-US" altLang="zh-CN" sz="3200" b="1" dirty="0">
                <a:solidFill>
                  <a:srgbClr val="0033CC"/>
                </a:solidFill>
                <a:sym typeface="Times New Roman" panose="02020603050405020304" pitchFamily="18" charset="0"/>
              </a:rPr>
              <a:t>Ⅴ</a:t>
            </a:r>
            <a:r>
              <a:rPr kumimoji="1" lang="zh-CN" altLang="en-US" sz="3200" b="1" dirty="0">
                <a:solidFill>
                  <a:srgbClr val="0033CC"/>
                </a:solidFill>
                <a:sym typeface="Times New Roman" panose="02020603050405020304" pitchFamily="18" charset="0"/>
              </a:rPr>
              <a:t>族杂质的电离能△</a:t>
            </a:r>
            <a:r>
              <a:rPr kumimoji="1" lang="en-US" altLang="zh-CN" sz="3200" b="1" dirty="0">
                <a:solidFill>
                  <a:srgbClr val="0033CC"/>
                </a:solidFill>
                <a:sym typeface="Times New Roman" panose="02020603050405020304" pitchFamily="18" charset="0"/>
              </a:rPr>
              <a:t>E</a:t>
            </a:r>
            <a:r>
              <a:rPr kumimoji="1" lang="en-US" altLang="zh-CN" sz="3200" b="1" baseline="-25000" dirty="0">
                <a:solidFill>
                  <a:srgbClr val="0033CC"/>
                </a:solidFill>
                <a:sym typeface="Times New Roman" panose="02020603050405020304" pitchFamily="18" charset="0"/>
              </a:rPr>
              <a:t>D</a:t>
            </a:r>
            <a:r>
              <a:rPr kumimoji="1" lang="zh-CN" altLang="en-US" sz="3200" b="1" dirty="0">
                <a:solidFill>
                  <a:srgbClr val="0033CC"/>
                </a:solidFill>
                <a:sym typeface="Times New Roman" panose="02020603050405020304" pitchFamily="18" charset="0"/>
              </a:rPr>
              <a:t>（</a:t>
            </a:r>
            <a:r>
              <a:rPr kumimoji="1" lang="en-US" altLang="zh-CN" sz="3200" b="1" dirty="0">
                <a:solidFill>
                  <a:srgbClr val="0033CC"/>
                </a:solidFill>
                <a:sym typeface="Times New Roman" panose="02020603050405020304" pitchFamily="18" charset="0"/>
              </a:rPr>
              <a:t>eV</a:t>
            </a:r>
            <a:r>
              <a:rPr kumimoji="1" lang="zh-CN" altLang="en-US" sz="3200" b="1" dirty="0">
                <a:solidFill>
                  <a:srgbClr val="0033CC"/>
                </a:solidFill>
                <a:sym typeface="Times New Roman" panose="02020603050405020304" pitchFamily="18" charset="0"/>
              </a:rPr>
              <a:t>）</a:t>
            </a:r>
          </a:p>
        </p:txBody>
      </p:sp>
      <p:sp>
        <p:nvSpPr>
          <p:cNvPr id="105476" name="Line 4"/>
          <p:cNvSpPr>
            <a:spLocks noChangeShapeType="1"/>
          </p:cNvSpPr>
          <p:nvPr/>
        </p:nvSpPr>
        <p:spPr bwMode="auto">
          <a:xfrm>
            <a:off x="1114922" y="1845742"/>
            <a:ext cx="6553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ym typeface="Times New Roman" panose="02020603050405020304" pitchFamily="18" charset="0"/>
            </a:endParaRPr>
          </a:p>
        </p:txBody>
      </p:sp>
      <p:sp>
        <p:nvSpPr>
          <p:cNvPr id="105477" name="Line 5"/>
          <p:cNvSpPr>
            <a:spLocks noChangeShapeType="1"/>
          </p:cNvSpPr>
          <p:nvPr/>
        </p:nvSpPr>
        <p:spPr bwMode="auto">
          <a:xfrm>
            <a:off x="2399209" y="2387079"/>
            <a:ext cx="52578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ym typeface="Times New Roman" panose="02020603050405020304" pitchFamily="18" charset="0"/>
            </a:endParaRPr>
          </a:p>
        </p:txBody>
      </p:sp>
      <p:sp>
        <p:nvSpPr>
          <p:cNvPr id="105478" name="Line 6"/>
          <p:cNvSpPr>
            <a:spLocks noChangeShapeType="1"/>
          </p:cNvSpPr>
          <p:nvPr/>
        </p:nvSpPr>
        <p:spPr bwMode="auto">
          <a:xfrm>
            <a:off x="1180009" y="2996679"/>
            <a:ext cx="6553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ym typeface="Times New Roman" panose="02020603050405020304" pitchFamily="18" charset="0"/>
            </a:endParaRPr>
          </a:p>
        </p:txBody>
      </p:sp>
      <p:sp>
        <p:nvSpPr>
          <p:cNvPr id="105479" name="Line 7"/>
          <p:cNvSpPr>
            <a:spLocks noChangeShapeType="1"/>
          </p:cNvSpPr>
          <p:nvPr/>
        </p:nvSpPr>
        <p:spPr bwMode="auto">
          <a:xfrm>
            <a:off x="1180009" y="3606279"/>
            <a:ext cx="6553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ym typeface="Times New Roman" panose="02020603050405020304" pitchFamily="18" charset="0"/>
            </a:endParaRPr>
          </a:p>
        </p:txBody>
      </p:sp>
      <p:sp>
        <p:nvSpPr>
          <p:cNvPr id="105480" name="Line 8"/>
          <p:cNvSpPr>
            <a:spLocks noChangeShapeType="1"/>
          </p:cNvSpPr>
          <p:nvPr/>
        </p:nvSpPr>
        <p:spPr bwMode="auto">
          <a:xfrm>
            <a:off x="1180009" y="4139679"/>
            <a:ext cx="6629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ym typeface="Times New Roman" panose="02020603050405020304" pitchFamily="18" charset="0"/>
            </a:endParaRPr>
          </a:p>
        </p:txBody>
      </p:sp>
      <p:sp>
        <p:nvSpPr>
          <p:cNvPr id="105481" name="Line 9"/>
          <p:cNvSpPr>
            <a:spLocks noChangeShapeType="1"/>
          </p:cNvSpPr>
          <p:nvPr/>
        </p:nvSpPr>
        <p:spPr bwMode="auto">
          <a:xfrm>
            <a:off x="2399209" y="1853679"/>
            <a:ext cx="0" cy="2286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ym typeface="Times New Roman" panose="02020603050405020304" pitchFamily="18" charset="0"/>
            </a:endParaRPr>
          </a:p>
        </p:txBody>
      </p:sp>
      <p:sp>
        <p:nvSpPr>
          <p:cNvPr id="105482" name="Line 10"/>
          <p:cNvSpPr>
            <a:spLocks noChangeShapeType="1"/>
          </p:cNvSpPr>
          <p:nvPr/>
        </p:nvSpPr>
        <p:spPr bwMode="auto">
          <a:xfrm>
            <a:off x="4075609" y="2387079"/>
            <a:ext cx="0" cy="1752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ym typeface="Times New Roman" panose="02020603050405020304" pitchFamily="18" charset="0"/>
            </a:endParaRPr>
          </a:p>
        </p:txBody>
      </p:sp>
      <p:sp>
        <p:nvSpPr>
          <p:cNvPr id="105483" name="Line 11"/>
          <p:cNvSpPr>
            <a:spLocks noChangeShapeType="1"/>
          </p:cNvSpPr>
          <p:nvPr/>
        </p:nvSpPr>
        <p:spPr bwMode="auto">
          <a:xfrm>
            <a:off x="5904409" y="2387079"/>
            <a:ext cx="0" cy="1752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ym typeface="Times New Roman" panose="02020603050405020304" pitchFamily="18" charset="0"/>
            </a:endParaRPr>
          </a:p>
        </p:txBody>
      </p:sp>
      <p:sp>
        <p:nvSpPr>
          <p:cNvPr id="105484" name="Rectangle 12"/>
          <p:cNvSpPr>
            <a:spLocks noChangeArrowheads="1"/>
          </p:cNvSpPr>
          <p:nvPr/>
        </p:nvSpPr>
        <p:spPr bwMode="auto">
          <a:xfrm>
            <a:off x="1114922" y="2061642"/>
            <a:ext cx="11509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3200" b="1">
                <a:solidFill>
                  <a:srgbClr val="000000"/>
                </a:solidFill>
                <a:sym typeface="Times New Roman" panose="02020603050405020304" pitchFamily="18" charset="0"/>
              </a:rPr>
              <a:t>晶体</a:t>
            </a:r>
          </a:p>
        </p:txBody>
      </p:sp>
      <p:sp>
        <p:nvSpPr>
          <p:cNvPr id="105485" name="Rectangle 13"/>
          <p:cNvSpPr>
            <a:spLocks noChangeArrowheads="1"/>
          </p:cNvSpPr>
          <p:nvPr/>
        </p:nvSpPr>
        <p:spPr bwMode="auto">
          <a:xfrm>
            <a:off x="3418384" y="1845742"/>
            <a:ext cx="32956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3200" b="1">
                <a:solidFill>
                  <a:srgbClr val="000000"/>
                </a:solidFill>
                <a:sym typeface="Times New Roman" panose="02020603050405020304" pitchFamily="18" charset="0"/>
              </a:rPr>
              <a:t>杂              质</a:t>
            </a:r>
          </a:p>
        </p:txBody>
      </p:sp>
      <p:sp>
        <p:nvSpPr>
          <p:cNvPr id="105486" name="Rectangle 14"/>
          <p:cNvSpPr>
            <a:spLocks noChangeArrowheads="1"/>
          </p:cNvSpPr>
          <p:nvPr/>
        </p:nvSpPr>
        <p:spPr bwMode="auto">
          <a:xfrm>
            <a:off x="3008809" y="2463279"/>
            <a:ext cx="4135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CN" sz="3200">
                <a:sym typeface="Times New Roman" panose="02020603050405020304" pitchFamily="18" charset="0"/>
              </a:rPr>
              <a:t>P              As              Sb</a:t>
            </a:r>
          </a:p>
        </p:txBody>
      </p:sp>
      <p:sp>
        <p:nvSpPr>
          <p:cNvPr id="105487" name="Rectangle 15"/>
          <p:cNvSpPr>
            <a:spLocks noChangeArrowheads="1"/>
          </p:cNvSpPr>
          <p:nvPr/>
        </p:nvSpPr>
        <p:spPr bwMode="auto">
          <a:xfrm>
            <a:off x="1408609" y="3072879"/>
            <a:ext cx="6008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CN" sz="3200" b="1">
                <a:solidFill>
                  <a:srgbClr val="000000"/>
                </a:solidFill>
                <a:sym typeface="Times New Roman" panose="02020603050405020304" pitchFamily="18" charset="0"/>
              </a:rPr>
              <a:t>Si</a:t>
            </a:r>
            <a:r>
              <a:rPr kumimoji="1" lang="en-US" altLang="zh-CN" sz="3200">
                <a:solidFill>
                  <a:schemeClr val="folHlink"/>
                </a:solidFill>
                <a:sym typeface="Times New Roman" panose="02020603050405020304" pitchFamily="18" charset="0"/>
              </a:rPr>
              <a:t>  </a:t>
            </a:r>
            <a:r>
              <a:rPr kumimoji="1" lang="en-US" altLang="zh-CN" sz="3200">
                <a:sym typeface="Times New Roman" panose="02020603050405020304" pitchFamily="18" charset="0"/>
              </a:rPr>
              <a:t>       0.044        0.049          0.039</a:t>
            </a:r>
          </a:p>
        </p:txBody>
      </p:sp>
      <p:sp>
        <p:nvSpPr>
          <p:cNvPr id="105488" name="Rectangle 16"/>
          <p:cNvSpPr>
            <a:spLocks noChangeArrowheads="1"/>
          </p:cNvSpPr>
          <p:nvPr/>
        </p:nvSpPr>
        <p:spPr bwMode="auto">
          <a:xfrm>
            <a:off x="1332409" y="3606279"/>
            <a:ext cx="62690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20000"/>
              </a:spcBef>
              <a:buClr>
                <a:schemeClr val="accent2"/>
              </a:buClr>
              <a:buSzPct val="80000"/>
              <a:buFont typeface="Wingdings" panose="05000000000000000000" pitchFamily="2" charset="2"/>
              <a:buNone/>
            </a:pPr>
            <a:r>
              <a:rPr kumimoji="1" lang="en-US" altLang="zh-CN" sz="3200" b="1">
                <a:solidFill>
                  <a:srgbClr val="000000"/>
                </a:solidFill>
                <a:sym typeface="Times New Roman" panose="02020603050405020304" pitchFamily="18" charset="0"/>
              </a:rPr>
              <a:t>Ge</a:t>
            </a:r>
            <a:r>
              <a:rPr kumimoji="1" lang="en-US" altLang="zh-CN" sz="3200">
                <a:solidFill>
                  <a:srgbClr val="000000"/>
                </a:solidFill>
                <a:sym typeface="Times New Roman" panose="02020603050405020304" pitchFamily="18" charset="0"/>
              </a:rPr>
              <a:t> </a:t>
            </a:r>
            <a:r>
              <a:rPr kumimoji="1" lang="en-US" altLang="zh-CN" sz="3200">
                <a:sym typeface="Times New Roman" panose="02020603050405020304" pitchFamily="18" charset="0"/>
              </a:rPr>
              <a:t>       0.0126      0.0127        0.0096</a:t>
            </a:r>
          </a:p>
        </p:txBody>
      </p:sp>
      <p:sp>
        <p:nvSpPr>
          <p:cNvPr id="105489" name="Text Box 17"/>
          <p:cNvSpPr txBox="1">
            <a:spLocks noChangeArrowheads="1"/>
          </p:cNvSpPr>
          <p:nvPr/>
        </p:nvSpPr>
        <p:spPr bwMode="auto">
          <a:xfrm>
            <a:off x="827584" y="4365104"/>
            <a:ext cx="74152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2800" b="1">
                <a:solidFill>
                  <a:srgbClr val="000000"/>
                </a:solidFill>
                <a:sym typeface="Times New Roman" panose="02020603050405020304" pitchFamily="18" charset="0"/>
              </a:rPr>
              <a:t>硅、锗在</a:t>
            </a:r>
            <a:r>
              <a:rPr kumimoji="1" lang="en-US" altLang="zh-CN" sz="2800" b="1">
                <a:solidFill>
                  <a:srgbClr val="000000"/>
                </a:solidFill>
                <a:sym typeface="Times New Roman" panose="02020603050405020304" pitchFamily="18" charset="0"/>
              </a:rPr>
              <a:t>T=0 K</a:t>
            </a:r>
            <a:r>
              <a:rPr kumimoji="1" lang="zh-CN" altLang="en-US" sz="2800" b="1">
                <a:solidFill>
                  <a:srgbClr val="000000"/>
                </a:solidFill>
                <a:sym typeface="Times New Roman" panose="02020603050405020304" pitchFamily="18" charset="0"/>
              </a:rPr>
              <a:t>时的</a:t>
            </a:r>
            <a:r>
              <a:rPr kumimoji="1" lang="en-US" altLang="zh-CN" sz="2800" b="1">
                <a:solidFill>
                  <a:srgbClr val="000000"/>
                </a:solidFill>
                <a:sym typeface="Times New Roman" panose="02020603050405020304" pitchFamily="18" charset="0"/>
              </a:rPr>
              <a:t>Eg</a:t>
            </a:r>
            <a:r>
              <a:rPr kumimoji="1" lang="zh-CN" altLang="en-US" sz="2800" b="1">
                <a:solidFill>
                  <a:srgbClr val="000000"/>
                </a:solidFill>
                <a:sym typeface="Times New Roman" panose="02020603050405020304" pitchFamily="18" charset="0"/>
              </a:rPr>
              <a:t>为</a:t>
            </a:r>
            <a:r>
              <a:rPr kumimoji="1" lang="en-US" altLang="zh-CN" sz="2800" b="1">
                <a:solidFill>
                  <a:srgbClr val="000000"/>
                </a:solidFill>
                <a:sym typeface="Times New Roman" panose="02020603050405020304" pitchFamily="18" charset="0"/>
              </a:rPr>
              <a:t>1.170 eV</a:t>
            </a:r>
            <a:r>
              <a:rPr kumimoji="1" lang="zh-CN" altLang="en-US" sz="2800" b="1">
                <a:solidFill>
                  <a:srgbClr val="000000"/>
                </a:solidFill>
                <a:sym typeface="Times New Roman" panose="02020603050405020304" pitchFamily="18" charset="0"/>
              </a:rPr>
              <a:t>和</a:t>
            </a:r>
            <a:r>
              <a:rPr kumimoji="1" lang="en-US" altLang="zh-CN" sz="2800" b="1">
                <a:solidFill>
                  <a:srgbClr val="000000"/>
                </a:solidFill>
                <a:sym typeface="Times New Roman" panose="02020603050405020304" pitchFamily="18" charset="0"/>
              </a:rPr>
              <a:t>0.7437 eV</a:t>
            </a:r>
          </a:p>
        </p:txBody>
      </p:sp>
    </p:spTree>
    <p:extLst>
      <p:ext uri="{BB962C8B-B14F-4D97-AF65-F5344CB8AC3E}">
        <p14:creationId xmlns:p14="http://schemas.microsoft.com/office/powerpoint/2010/main" val="34105648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ChangeArrowheads="1"/>
          </p:cNvSpPr>
          <p:nvPr/>
        </p:nvSpPr>
        <p:spPr bwMode="auto">
          <a:xfrm>
            <a:off x="3276600" y="831850"/>
            <a:ext cx="5562600" cy="548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165048" bIns="165048" anchor="ctr">
            <a:spAutoFit/>
          </a:bodyPr>
          <a:lstStyle>
            <a:lvl1pPr marL="177800" indent="-177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 typeface="Wingdings" panose="05000000000000000000" pitchFamily="2" charset="2"/>
              <a:buChar char="Ø"/>
            </a:pPr>
            <a:r>
              <a:rPr lang="en-US" altLang="zh-CN" dirty="0">
                <a:solidFill>
                  <a:srgbClr val="FF3300"/>
                </a:solidFill>
              </a:rPr>
              <a:t>P</a:t>
            </a:r>
            <a:r>
              <a:rPr lang="zh-CN" altLang="en-US" dirty="0">
                <a:solidFill>
                  <a:srgbClr val="FF3300"/>
                </a:solidFill>
              </a:rPr>
              <a:t>型半导体</a:t>
            </a:r>
            <a:r>
              <a:rPr lang="zh-CN" altLang="en-US" dirty="0"/>
              <a:t>（</a:t>
            </a:r>
            <a:r>
              <a:rPr lang="en-US" altLang="zh-CN" dirty="0"/>
              <a:t>Positive</a:t>
            </a:r>
            <a:r>
              <a:rPr lang="zh-CN" altLang="en-US" dirty="0"/>
              <a:t>）：半导体由空穴导电</a:t>
            </a:r>
          </a:p>
          <a:p>
            <a:pPr eaLnBrk="1" hangingPunct="1">
              <a:lnSpc>
                <a:spcPct val="130000"/>
              </a:lnSpc>
              <a:spcBef>
                <a:spcPct val="0"/>
              </a:spcBef>
              <a:buClrTx/>
              <a:buFont typeface="Wingdings" panose="05000000000000000000" pitchFamily="2" charset="2"/>
              <a:buChar char="Ø"/>
            </a:pPr>
            <a:r>
              <a:rPr lang="zh-CN" altLang="en-US" dirty="0">
                <a:solidFill>
                  <a:srgbClr val="FF3300"/>
                </a:solidFill>
              </a:rPr>
              <a:t>受主杂质</a:t>
            </a:r>
            <a:r>
              <a:rPr lang="zh-CN" altLang="en-US" dirty="0"/>
              <a:t>（</a:t>
            </a:r>
            <a:r>
              <a:rPr lang="en-US" altLang="zh-CN" dirty="0"/>
              <a:t>Acceptor</a:t>
            </a:r>
            <a:r>
              <a:rPr lang="zh-CN" altLang="en-US" dirty="0"/>
              <a:t>）：能够提供电子的杂质</a:t>
            </a:r>
          </a:p>
          <a:p>
            <a:pPr eaLnBrk="1" hangingPunct="1">
              <a:lnSpc>
                <a:spcPct val="130000"/>
              </a:lnSpc>
              <a:spcBef>
                <a:spcPct val="0"/>
              </a:spcBef>
              <a:buClrTx/>
              <a:buFont typeface="Wingdings" panose="05000000000000000000" pitchFamily="2" charset="2"/>
              <a:buChar char="Ø"/>
            </a:pPr>
            <a:r>
              <a:rPr lang="zh-CN" altLang="en-US" dirty="0">
                <a:solidFill>
                  <a:srgbClr val="FF3300"/>
                </a:solidFill>
              </a:rPr>
              <a:t>电离能</a:t>
            </a:r>
            <a:r>
              <a:rPr lang="en-US" altLang="zh-CN" dirty="0" err="1">
                <a:solidFill>
                  <a:srgbClr val="FF3300"/>
                </a:solidFill>
              </a:rPr>
              <a:t>Δ</a:t>
            </a:r>
            <a:r>
              <a:rPr lang="en-US" altLang="zh-CN" i="1" dirty="0" err="1">
                <a:solidFill>
                  <a:srgbClr val="FF3300"/>
                </a:solidFill>
              </a:rPr>
              <a:t>E</a:t>
            </a:r>
            <a:r>
              <a:rPr lang="en-US" altLang="zh-CN" i="1" baseline="-25000" dirty="0" err="1">
                <a:solidFill>
                  <a:srgbClr val="FF3300"/>
                </a:solidFill>
              </a:rPr>
              <a:t>a</a:t>
            </a:r>
            <a:r>
              <a:rPr lang="en-US" altLang="zh-CN" dirty="0"/>
              <a:t> </a:t>
            </a:r>
            <a:r>
              <a:rPr lang="zh-CN" altLang="en-US" dirty="0"/>
              <a:t>：</a:t>
            </a:r>
            <a:r>
              <a:rPr lang="en-US" altLang="zh-CN" dirty="0"/>
              <a:t>B</a:t>
            </a:r>
            <a:r>
              <a:rPr lang="zh-CN" altLang="en-US" dirty="0"/>
              <a:t>原子夺取电子，产生空穴，所需要的能量</a:t>
            </a:r>
          </a:p>
          <a:p>
            <a:pPr eaLnBrk="1" hangingPunct="1">
              <a:lnSpc>
                <a:spcPct val="130000"/>
              </a:lnSpc>
              <a:spcBef>
                <a:spcPct val="0"/>
              </a:spcBef>
              <a:buClrTx/>
              <a:buFont typeface="Wingdings" panose="05000000000000000000" pitchFamily="2" charset="2"/>
              <a:buChar char="Ø"/>
            </a:pPr>
            <a:r>
              <a:rPr lang="zh-CN" altLang="en-US" dirty="0">
                <a:solidFill>
                  <a:srgbClr val="FF3300"/>
                </a:solidFill>
              </a:rPr>
              <a:t>电离受主</a:t>
            </a:r>
            <a:r>
              <a:rPr lang="zh-CN" altLang="en-US" dirty="0"/>
              <a:t>：</a:t>
            </a:r>
            <a:r>
              <a:rPr lang="en-US" altLang="zh-CN" dirty="0"/>
              <a:t>B</a:t>
            </a:r>
            <a:r>
              <a:rPr lang="zh-CN" altLang="en-US" dirty="0"/>
              <a:t>原子得到电子后成为不可移动负电中心</a:t>
            </a:r>
            <a:r>
              <a:rPr lang="en-US" altLang="zh-CN" dirty="0"/>
              <a:t>B</a:t>
            </a:r>
            <a:r>
              <a:rPr lang="en-US" altLang="zh-CN" baseline="30000" dirty="0"/>
              <a:t>-</a:t>
            </a:r>
            <a:endParaRPr lang="en-US" altLang="zh-CN" dirty="0"/>
          </a:p>
          <a:p>
            <a:pPr eaLnBrk="1" hangingPunct="1">
              <a:lnSpc>
                <a:spcPct val="130000"/>
              </a:lnSpc>
              <a:spcBef>
                <a:spcPct val="0"/>
              </a:spcBef>
              <a:buClrTx/>
              <a:buFont typeface="Wingdings" panose="05000000000000000000" pitchFamily="2" charset="2"/>
              <a:buChar char="Ø"/>
            </a:pPr>
            <a:r>
              <a:rPr lang="zh-CN" altLang="en-US" dirty="0"/>
              <a:t>空穴原来在导带中，得到能量</a:t>
            </a:r>
            <a:r>
              <a:rPr lang="en-US" altLang="zh-CN" dirty="0" err="1"/>
              <a:t>Δ</a:t>
            </a:r>
            <a:r>
              <a:rPr lang="en-US" altLang="zh-CN" i="1" dirty="0" err="1"/>
              <a:t>E</a:t>
            </a:r>
            <a:r>
              <a:rPr lang="en-US" altLang="zh-CN" i="1" baseline="-25000" dirty="0" err="1"/>
              <a:t>a</a:t>
            </a:r>
            <a:r>
              <a:rPr lang="zh-CN" altLang="en-US" dirty="0"/>
              <a:t>后，从受主的束缚态跃迁到价带成为导电空穴，</a:t>
            </a:r>
          </a:p>
          <a:p>
            <a:pPr eaLnBrk="1" hangingPunct="1">
              <a:lnSpc>
                <a:spcPct val="130000"/>
              </a:lnSpc>
              <a:spcBef>
                <a:spcPct val="0"/>
              </a:spcBef>
              <a:buClrTx/>
              <a:buFont typeface="Wingdings" panose="05000000000000000000" pitchFamily="2" charset="2"/>
              <a:buChar char="Ø"/>
            </a:pPr>
            <a:r>
              <a:rPr lang="zh-CN" altLang="en-US" dirty="0"/>
              <a:t>受主被束缚时的能量比价带顶</a:t>
            </a:r>
            <a:r>
              <a:rPr lang="en-US" altLang="zh-CN" i="1" dirty="0" err="1"/>
              <a:t>E</a:t>
            </a:r>
            <a:r>
              <a:rPr lang="en-US" altLang="zh-CN" i="1" baseline="-25000" dirty="0" err="1"/>
              <a:t>v</a:t>
            </a:r>
            <a:r>
              <a:rPr lang="zh-CN" altLang="en-US" dirty="0"/>
              <a:t>高</a:t>
            </a:r>
            <a:r>
              <a:rPr lang="en-US" altLang="zh-CN" dirty="0" err="1"/>
              <a:t>Δ</a:t>
            </a:r>
            <a:r>
              <a:rPr lang="en-US" altLang="zh-CN" i="1" dirty="0" err="1"/>
              <a:t>E</a:t>
            </a:r>
            <a:r>
              <a:rPr lang="en-US" altLang="zh-CN" i="1" baseline="-25000" dirty="0" err="1"/>
              <a:t>a</a:t>
            </a:r>
            <a:endParaRPr lang="en-US" altLang="zh-CN" i="1" baseline="-25000" dirty="0"/>
          </a:p>
          <a:p>
            <a:pPr eaLnBrk="1" hangingPunct="1">
              <a:lnSpc>
                <a:spcPct val="130000"/>
              </a:lnSpc>
              <a:spcBef>
                <a:spcPct val="0"/>
              </a:spcBef>
              <a:buClrTx/>
              <a:buFont typeface="Wingdings" panose="05000000000000000000" pitchFamily="2" charset="2"/>
              <a:buChar char="Ø"/>
            </a:pPr>
            <a:r>
              <a:rPr lang="zh-CN" altLang="en-US" dirty="0">
                <a:solidFill>
                  <a:srgbClr val="FF3300"/>
                </a:solidFill>
              </a:rPr>
              <a:t>施主能级</a:t>
            </a:r>
            <a:r>
              <a:rPr lang="en-US" altLang="zh-CN" i="1" dirty="0" err="1">
                <a:solidFill>
                  <a:srgbClr val="FF3300"/>
                </a:solidFill>
              </a:rPr>
              <a:t>E</a:t>
            </a:r>
            <a:r>
              <a:rPr lang="en-US" altLang="zh-CN" i="1" baseline="-25000" dirty="0" err="1">
                <a:solidFill>
                  <a:srgbClr val="FF3300"/>
                </a:solidFill>
              </a:rPr>
              <a:t>a</a:t>
            </a:r>
            <a:r>
              <a:rPr lang="zh-CN" altLang="en-US" dirty="0"/>
              <a:t>：电子被施主杂质束缚的的能量状态（</a:t>
            </a:r>
            <a:r>
              <a:rPr lang="en-US" altLang="zh-CN" i="1" dirty="0" err="1"/>
              <a:t>E</a:t>
            </a:r>
            <a:r>
              <a:rPr lang="en-US" altLang="zh-CN" i="1" baseline="-25000" dirty="0" err="1"/>
              <a:t>a</a:t>
            </a:r>
            <a:r>
              <a:rPr lang="en-US" altLang="zh-CN" i="1" dirty="0"/>
              <a:t>=</a:t>
            </a:r>
            <a:r>
              <a:rPr lang="en-US" altLang="zh-CN" i="1" dirty="0" err="1"/>
              <a:t>E</a:t>
            </a:r>
            <a:r>
              <a:rPr lang="en-US" altLang="zh-CN" i="1" baseline="-25000" dirty="0" err="1"/>
              <a:t>V</a:t>
            </a:r>
            <a:r>
              <a:rPr lang="en-US" altLang="zh-CN" i="1" dirty="0" err="1"/>
              <a:t>+ΔE</a:t>
            </a:r>
            <a:r>
              <a:rPr lang="en-US" altLang="zh-CN" i="1" baseline="-25000" dirty="0" err="1"/>
              <a:t>a</a:t>
            </a:r>
            <a:r>
              <a:rPr lang="zh-CN" altLang="en-US" dirty="0"/>
              <a:t>）</a:t>
            </a:r>
          </a:p>
          <a:p>
            <a:pPr eaLnBrk="1" hangingPunct="1">
              <a:lnSpc>
                <a:spcPct val="130000"/>
              </a:lnSpc>
              <a:spcBef>
                <a:spcPct val="0"/>
              </a:spcBef>
              <a:buClrTx/>
              <a:buFont typeface="Wingdings" panose="05000000000000000000" pitchFamily="2" charset="2"/>
              <a:buChar char="Ø"/>
            </a:pPr>
            <a:r>
              <a:rPr lang="zh-CN" altLang="en-US" dirty="0"/>
              <a:t>一般</a:t>
            </a:r>
            <a:r>
              <a:rPr lang="en-US" altLang="zh-CN" i="1" dirty="0" err="1"/>
              <a:t>ΔE</a:t>
            </a:r>
            <a:r>
              <a:rPr lang="en-US" altLang="zh-CN" i="1" baseline="-25000" dirty="0" err="1"/>
              <a:t>a</a:t>
            </a:r>
            <a:r>
              <a:rPr lang="zh-CN" altLang="en-US" dirty="0"/>
              <a:t>较小，</a:t>
            </a:r>
            <a:r>
              <a:rPr lang="en-US" altLang="zh-CN" i="1" dirty="0" err="1">
                <a:solidFill>
                  <a:srgbClr val="FF3300"/>
                </a:solidFill>
              </a:rPr>
              <a:t>E</a:t>
            </a:r>
            <a:r>
              <a:rPr lang="en-US" altLang="zh-CN" i="1" baseline="-25000" dirty="0" err="1">
                <a:solidFill>
                  <a:srgbClr val="FF3300"/>
                </a:solidFill>
              </a:rPr>
              <a:t>a</a:t>
            </a:r>
            <a:r>
              <a:rPr lang="zh-CN" altLang="en-US" dirty="0">
                <a:solidFill>
                  <a:srgbClr val="FF3300"/>
                </a:solidFill>
              </a:rPr>
              <a:t>通常位于离价带</a:t>
            </a:r>
            <a:r>
              <a:rPr lang="en-US" altLang="zh-CN" i="1" dirty="0">
                <a:solidFill>
                  <a:srgbClr val="FF3300"/>
                </a:solidFill>
              </a:rPr>
              <a:t>E</a:t>
            </a:r>
            <a:r>
              <a:rPr lang="en-US" altLang="zh-CN" i="1" baseline="-25000" dirty="0">
                <a:solidFill>
                  <a:srgbClr val="FF3300"/>
                </a:solidFill>
              </a:rPr>
              <a:t>V</a:t>
            </a:r>
            <a:r>
              <a:rPr lang="zh-CN" altLang="en-US" dirty="0">
                <a:solidFill>
                  <a:srgbClr val="FF3300"/>
                </a:solidFill>
              </a:rPr>
              <a:t>很近的禁带中</a:t>
            </a:r>
            <a:r>
              <a:rPr lang="zh-CN" altLang="en-US" dirty="0"/>
              <a:t>，而且是局域化的</a:t>
            </a:r>
          </a:p>
        </p:txBody>
      </p:sp>
      <p:pic>
        <p:nvPicPr>
          <p:cNvPr id="44035" name="Picture 5"/>
          <p:cNvPicPr>
            <a:picLocks noChangeAspect="1" noChangeArrowheads="1"/>
          </p:cNvPicPr>
          <p:nvPr/>
        </p:nvPicPr>
        <p:blipFill>
          <a:blip r:embed="rId2">
            <a:extLst>
              <a:ext uri="{28A0092B-C50C-407E-A947-70E740481C1C}">
                <a14:useLocalDpi xmlns:a14="http://schemas.microsoft.com/office/drawing/2010/main" val="0"/>
              </a:ext>
            </a:extLst>
          </a:blip>
          <a:srcRect b="15811"/>
          <a:stretch>
            <a:fillRect/>
          </a:stretch>
        </p:blipFill>
        <p:spPr bwMode="auto">
          <a:xfrm>
            <a:off x="152400" y="990600"/>
            <a:ext cx="3200400" cy="234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44036" name="Picture 6"/>
          <p:cNvPicPr>
            <a:picLocks noChangeAspect="1" noChangeArrowheads="1"/>
          </p:cNvPicPr>
          <p:nvPr/>
        </p:nvPicPr>
        <p:blipFill>
          <a:blip r:embed="rId3">
            <a:extLst>
              <a:ext uri="{28A0092B-C50C-407E-A947-70E740481C1C}">
                <a14:useLocalDpi xmlns:a14="http://schemas.microsoft.com/office/drawing/2010/main" val="0"/>
              </a:ext>
            </a:extLst>
          </a:blip>
          <a:srcRect b="19147"/>
          <a:stretch>
            <a:fillRect/>
          </a:stretch>
        </p:blipFill>
        <p:spPr bwMode="auto">
          <a:xfrm>
            <a:off x="152400" y="4038600"/>
            <a:ext cx="3314700"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4037" name="Rectangle 7"/>
          <p:cNvSpPr>
            <a:spLocks noChangeArrowheads="1"/>
          </p:cNvSpPr>
          <p:nvPr/>
        </p:nvSpPr>
        <p:spPr bwMode="auto">
          <a:xfrm>
            <a:off x="1979712" y="55880"/>
            <a:ext cx="4365298" cy="8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165048" bIns="165048" anchor="ctr">
            <a:spAutoFit/>
          </a:bodyPr>
          <a:lstStyle>
            <a:lvl1pPr indent="2667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200" dirty="0">
                <a:solidFill>
                  <a:srgbClr val="0000FF"/>
                </a:solidFill>
                <a:cs typeface="Times New Roman" panose="02020603050405020304" pitchFamily="18" charset="0"/>
              </a:rPr>
              <a:t>2. </a:t>
            </a:r>
            <a:r>
              <a:rPr lang="zh-CN" altLang="en-US" sz="3200" dirty="0">
                <a:solidFill>
                  <a:srgbClr val="0000FF"/>
                </a:solidFill>
                <a:cs typeface="Times New Roman" panose="02020603050405020304" pitchFamily="18" charset="0"/>
              </a:rPr>
              <a:t>受主杂质  受主能级</a:t>
            </a:r>
          </a:p>
        </p:txBody>
      </p:sp>
    </p:spTree>
    <p:extLst>
      <p:ext uri="{BB962C8B-B14F-4D97-AF65-F5344CB8AC3E}">
        <p14:creationId xmlns:p14="http://schemas.microsoft.com/office/powerpoint/2010/main" val="13455223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4"/>
          <p:cNvSpPr>
            <a:spLocks noChangeArrowheads="1"/>
          </p:cNvSpPr>
          <p:nvPr/>
        </p:nvSpPr>
        <p:spPr bwMode="auto">
          <a:xfrm>
            <a:off x="539552" y="2492896"/>
            <a:ext cx="7772400" cy="2971800"/>
          </a:xfrm>
          <a:prstGeom prst="rect">
            <a:avLst/>
          </a:prstGeom>
          <a:noFill/>
          <a:ln w="9525">
            <a:solidFill>
              <a:srgbClr val="FF99FF"/>
            </a:solidFill>
            <a:miter lim="800000"/>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Char char="•"/>
            </a:pPr>
            <a:r>
              <a:rPr kumimoji="1" lang="zh-CN" altLang="en-US" b="1" dirty="0">
                <a:latin typeface="Times New Roman" panose="02020603050405020304" pitchFamily="18" charset="0"/>
                <a:sym typeface="Times New Roman" panose="02020603050405020304" pitchFamily="18" charset="0"/>
              </a:rPr>
              <a:t>在单晶生长过程中掺入杂质 </a:t>
            </a:r>
            <a:endParaRPr kumimoji="1" lang="zh-CN" altLang="en-US" dirty="0">
              <a:latin typeface="Times New Roman" panose="02020603050405020304" pitchFamily="18" charset="0"/>
              <a:cs typeface="ˎ̥"/>
              <a:sym typeface="Times New Roman" panose="02020603050405020304" pitchFamily="18" charset="0"/>
            </a:endParaRPr>
          </a:p>
          <a:p>
            <a:pPr eaLnBrk="1" hangingPunct="1">
              <a:buClrTx/>
              <a:buSzTx/>
              <a:buFontTx/>
              <a:buChar char="•"/>
            </a:pPr>
            <a:r>
              <a:rPr kumimoji="1" lang="zh-CN" altLang="en-US" b="1" dirty="0">
                <a:latin typeface="Times New Roman" panose="02020603050405020304" pitchFamily="18" charset="0"/>
                <a:sym typeface="Times New Roman" panose="02020603050405020304" pitchFamily="18" charset="0"/>
              </a:rPr>
              <a:t>在高温下通过杂质扩散的工艺掺入杂质 </a:t>
            </a:r>
            <a:endParaRPr kumimoji="1" lang="zh-CN" altLang="en-US" dirty="0">
              <a:latin typeface="Times New Roman" panose="02020603050405020304" pitchFamily="18" charset="0"/>
              <a:cs typeface="ˎ̥"/>
              <a:sym typeface="Times New Roman" panose="02020603050405020304" pitchFamily="18" charset="0"/>
            </a:endParaRPr>
          </a:p>
          <a:p>
            <a:pPr eaLnBrk="1" hangingPunct="1">
              <a:buClrTx/>
              <a:buSzTx/>
              <a:buFontTx/>
              <a:buChar char="•"/>
            </a:pPr>
            <a:r>
              <a:rPr kumimoji="1" lang="zh-CN" altLang="en-US" b="1" dirty="0">
                <a:latin typeface="Times New Roman" panose="02020603050405020304" pitchFamily="18" charset="0"/>
                <a:sym typeface="Times New Roman" panose="02020603050405020304" pitchFamily="18" charset="0"/>
              </a:rPr>
              <a:t>离子注入杂质 </a:t>
            </a:r>
            <a:endParaRPr kumimoji="1" lang="zh-CN" altLang="en-US" dirty="0">
              <a:latin typeface="Times New Roman" panose="02020603050405020304" pitchFamily="18" charset="0"/>
              <a:cs typeface="ˎ̥"/>
              <a:sym typeface="Times New Roman" panose="02020603050405020304" pitchFamily="18" charset="0"/>
            </a:endParaRPr>
          </a:p>
          <a:p>
            <a:pPr eaLnBrk="1" hangingPunct="1">
              <a:buClrTx/>
              <a:buSzTx/>
              <a:buFontTx/>
              <a:buChar char="•"/>
            </a:pPr>
            <a:r>
              <a:rPr kumimoji="1" lang="zh-CN" altLang="en-US" b="1" dirty="0">
                <a:latin typeface="Times New Roman" panose="02020603050405020304" pitchFamily="18" charset="0"/>
                <a:sym typeface="Times New Roman" panose="02020603050405020304" pitchFamily="18" charset="0"/>
              </a:rPr>
              <a:t>在薄膜外延工艺过程中掺入杂质 </a:t>
            </a:r>
            <a:endParaRPr kumimoji="1" lang="zh-CN" altLang="en-US" dirty="0">
              <a:latin typeface="Times New Roman" panose="02020603050405020304" pitchFamily="18" charset="0"/>
              <a:cs typeface="ˎ̥"/>
              <a:sym typeface="Times New Roman" panose="02020603050405020304" pitchFamily="18" charset="0"/>
            </a:endParaRPr>
          </a:p>
          <a:p>
            <a:pPr eaLnBrk="1" hangingPunct="1">
              <a:buClrTx/>
              <a:buSzTx/>
              <a:buFontTx/>
              <a:buChar char="•"/>
            </a:pPr>
            <a:r>
              <a:rPr kumimoji="1" lang="zh-CN" altLang="en-US" b="1" dirty="0">
                <a:latin typeface="Times New Roman" panose="02020603050405020304" pitchFamily="18" charset="0"/>
                <a:sym typeface="Times New Roman" panose="02020603050405020304" pitchFamily="18" charset="0"/>
              </a:rPr>
              <a:t>用合金工艺将杂质掺入半导体中</a:t>
            </a:r>
            <a:endParaRPr lang="zh-CN" altLang="en-US" dirty="0">
              <a:latin typeface="Times New Roman" panose="02020603050405020304" pitchFamily="18" charset="0"/>
              <a:sym typeface="Times New Roman" panose="02020603050405020304" pitchFamily="18" charset="0"/>
            </a:endParaRPr>
          </a:p>
        </p:txBody>
      </p:sp>
      <p:sp>
        <p:nvSpPr>
          <p:cNvPr id="2" name="矩形 1"/>
          <p:cNvSpPr/>
          <p:nvPr/>
        </p:nvSpPr>
        <p:spPr>
          <a:xfrm>
            <a:off x="1259632" y="1124744"/>
            <a:ext cx="4815742" cy="707886"/>
          </a:xfrm>
          <a:prstGeom prst="rect">
            <a:avLst/>
          </a:prstGeom>
        </p:spPr>
        <p:txBody>
          <a:bodyPr wrap="none">
            <a:spAutoFit/>
          </a:bodyPr>
          <a:lstStyle/>
          <a:p>
            <a:pPr algn="ctr" eaLnBrk="1" hangingPunct="1"/>
            <a:r>
              <a:rPr kumimoji="1" lang="zh-CN" altLang="en-US" sz="4000" dirty="0">
                <a:solidFill>
                  <a:srgbClr val="0033CC"/>
                </a:solidFill>
                <a:effectLst>
                  <a:outerShdw blurRad="38100" dist="38100" dir="2700000" algn="tl">
                    <a:srgbClr val="C0C0C0"/>
                  </a:outerShdw>
                </a:effectLst>
                <a:sym typeface="Times New Roman" panose="02020603050405020304" pitchFamily="18" charset="0"/>
              </a:rPr>
              <a:t>控制杂质浓度的方法</a:t>
            </a:r>
            <a:endParaRPr lang="zh-CN" altLang="en-US" dirty="0">
              <a:solidFill>
                <a:srgbClr val="0033CC"/>
              </a:solidFill>
              <a:sym typeface="Times New Roman" panose="02020603050405020304" pitchFamily="18" charset="0"/>
            </a:endParaRPr>
          </a:p>
        </p:txBody>
      </p:sp>
    </p:spTree>
    <p:extLst>
      <p:ext uri="{BB962C8B-B14F-4D97-AF65-F5344CB8AC3E}">
        <p14:creationId xmlns:p14="http://schemas.microsoft.com/office/powerpoint/2010/main" val="38466379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rrowheads="1"/>
          </p:cNvSpPr>
          <p:nvPr>
            <p:ph type="title"/>
          </p:nvPr>
        </p:nvSpPr>
        <p:spPr>
          <a:xfrm>
            <a:off x="3131840" y="34794"/>
            <a:ext cx="4231382" cy="1325563"/>
          </a:xfrm>
          <a:noFill/>
        </p:spPr>
        <p:txBody>
          <a:bodyPr>
            <a:normAutofit/>
          </a:bodyPr>
          <a:lstStyle/>
          <a:p>
            <a:r>
              <a:rPr lang="en-US" altLang="zh-CN" sz="3200" dirty="0">
                <a:solidFill>
                  <a:srgbClr val="0033CC"/>
                </a:solidFill>
                <a:latin typeface="Times New Roman" panose="02020603050405020304" pitchFamily="18" charset="0"/>
                <a:ea typeface="宋体" panose="02010600030101010101" pitchFamily="2" charset="-122"/>
                <a:sym typeface="Times New Roman" panose="02020603050405020304" pitchFamily="18" charset="0"/>
              </a:rPr>
              <a:t>3. </a:t>
            </a:r>
            <a:r>
              <a:rPr lang="zh-CN" altLang="en-US" sz="3200" dirty="0">
                <a:solidFill>
                  <a:srgbClr val="0033CC"/>
                </a:solidFill>
                <a:latin typeface="Times New Roman" panose="02020603050405020304" pitchFamily="18" charset="0"/>
                <a:ea typeface="宋体" panose="02010600030101010101" pitchFamily="2" charset="-122"/>
                <a:sym typeface="Times New Roman" panose="02020603050405020304" pitchFamily="18" charset="0"/>
              </a:rPr>
              <a:t>深能级杂质</a:t>
            </a:r>
          </a:p>
        </p:txBody>
      </p:sp>
      <p:sp>
        <p:nvSpPr>
          <p:cNvPr id="33795" name="Rectangle 3"/>
          <p:cNvSpPr>
            <a:spLocks noGrp="1" noRot="1" noChangeArrowheads="1"/>
          </p:cNvSpPr>
          <p:nvPr>
            <p:ph idx="1"/>
          </p:nvPr>
        </p:nvSpPr>
        <p:spPr>
          <a:xfrm>
            <a:off x="179512" y="1066800"/>
            <a:ext cx="8610600" cy="5184576"/>
          </a:xfrm>
        </p:spPr>
        <p:txBody>
          <a:bodyPr/>
          <a:lstStyle/>
          <a:p>
            <a:pPr>
              <a:lnSpc>
                <a:spcPct val="120000"/>
              </a:lnSpc>
              <a:buFont typeface="Wingdings" panose="05000000000000000000" pitchFamily="2" charset="2"/>
              <a:buChar char="Ø"/>
            </a:pPr>
            <a:r>
              <a:rPr lang="zh-CN" altLang="en-US" sz="2400" dirty="0">
                <a:solidFill>
                  <a:srgbClr val="FF0000"/>
                </a:solidFill>
                <a:latin typeface="Times New Roman" panose="02020603050405020304" pitchFamily="18" charset="0"/>
                <a:ea typeface="宋体" panose="02010600030101010101" pitchFamily="2" charset="-122"/>
                <a:sym typeface="Times New Roman" panose="02020603050405020304" pitchFamily="18" charset="0"/>
              </a:rPr>
              <a:t>非</a:t>
            </a:r>
            <a:r>
              <a:rPr lang="en-US" altLang="zh-CN" sz="2400" dirty="0">
                <a:solidFill>
                  <a:srgbClr val="FF0000"/>
                </a:solidFill>
                <a:latin typeface="Times New Roman" panose="02020603050405020304" pitchFamily="18" charset="0"/>
                <a:ea typeface="宋体" panose="02010600030101010101" pitchFamily="2" charset="-122"/>
                <a:sym typeface="Times New Roman" panose="02020603050405020304" pitchFamily="18" charset="0"/>
              </a:rPr>
              <a:t>Ⅲ</a:t>
            </a:r>
            <a:r>
              <a:rPr lang="zh-CN" altLang="en-US" sz="2400" dirty="0">
                <a:solidFill>
                  <a:srgbClr val="FF0000"/>
                </a:solidFill>
                <a:latin typeface="Times New Roman" panose="02020603050405020304" pitchFamily="18" charset="0"/>
                <a:ea typeface="宋体" panose="02010600030101010101" pitchFamily="2" charset="-122"/>
                <a:sym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sym typeface="Times New Roman" panose="02020603050405020304" pitchFamily="18" charset="0"/>
              </a:rPr>
              <a:t>Ⅴ</a:t>
            </a:r>
            <a:r>
              <a:rPr lang="zh-CN" altLang="en-US" sz="2400" dirty="0">
                <a:solidFill>
                  <a:srgbClr val="FF0000"/>
                </a:solidFill>
                <a:latin typeface="Times New Roman" panose="02020603050405020304" pitchFamily="18" charset="0"/>
                <a:ea typeface="宋体" panose="02010600030101010101" pitchFamily="2" charset="-122"/>
                <a:sym typeface="Times New Roman" panose="02020603050405020304" pitchFamily="18" charset="0"/>
              </a:rPr>
              <a:t>族</a:t>
            </a:r>
            <a:r>
              <a:rPr lang="zh-CN" altLang="en-US" sz="2400" dirty="0">
                <a:latin typeface="Times New Roman" panose="02020603050405020304" pitchFamily="18" charset="0"/>
                <a:ea typeface="宋体" panose="02010600030101010101" pitchFamily="2" charset="-122"/>
                <a:sym typeface="Times New Roman" panose="02020603050405020304" pitchFamily="18" charset="0"/>
              </a:rPr>
              <a:t>杂质在</a:t>
            </a:r>
            <a:r>
              <a:rPr lang="en-US" altLang="zh-CN" sz="2400" dirty="0">
                <a:latin typeface="Times New Roman" panose="02020603050405020304" pitchFamily="18" charset="0"/>
                <a:ea typeface="宋体" panose="02010600030101010101" pitchFamily="2" charset="-122"/>
                <a:sym typeface="Times New Roman" panose="02020603050405020304" pitchFamily="18" charset="0"/>
              </a:rPr>
              <a:t>Si</a:t>
            </a:r>
            <a:r>
              <a:rPr lang="zh-CN" altLang="en-US" sz="2400" dirty="0">
                <a:latin typeface="Times New Roman" panose="02020603050405020304" pitchFamily="18" charset="0"/>
                <a:ea typeface="宋体" panose="02010600030101010101" pitchFamily="2" charset="-122"/>
                <a:sym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sym typeface="Times New Roman" panose="02020603050405020304" pitchFamily="18" charset="0"/>
              </a:rPr>
              <a:t>Ge</a:t>
            </a:r>
            <a:r>
              <a:rPr lang="zh-CN" altLang="en-US" sz="2400" dirty="0">
                <a:latin typeface="Times New Roman" panose="02020603050405020304" pitchFamily="18" charset="0"/>
                <a:ea typeface="宋体" panose="02010600030101010101" pitchFamily="2" charset="-122"/>
                <a:sym typeface="Times New Roman" panose="02020603050405020304" pitchFamily="18" charset="0"/>
              </a:rPr>
              <a:t>的禁带中产生的施主能级远离导带底，受主能级远离价带顶。杂质电离能大，能够产生多次电离</a:t>
            </a:r>
          </a:p>
          <a:p>
            <a:pPr>
              <a:lnSpc>
                <a:spcPct val="120000"/>
              </a:lnSpc>
              <a:buFont typeface="Wingdings" panose="05000000000000000000" pitchFamily="2" charset="2"/>
              <a:buChar char="Ø"/>
            </a:pPr>
            <a:r>
              <a:rPr lang="zh-CN" altLang="en-US" sz="2400" dirty="0">
                <a:latin typeface="Times New Roman" panose="02020603050405020304" pitchFamily="18" charset="0"/>
                <a:ea typeface="宋体" panose="02010600030101010101" pitchFamily="2" charset="-122"/>
                <a:sym typeface="Times New Roman" panose="02020603050405020304" pitchFamily="18" charset="0"/>
              </a:rPr>
              <a:t>特点</a:t>
            </a:r>
          </a:p>
          <a:p>
            <a:pPr>
              <a:lnSpc>
                <a:spcPct val="120000"/>
              </a:lnSpc>
              <a:spcBef>
                <a:spcPct val="0"/>
              </a:spcBef>
              <a:buClrTx/>
              <a:buFontTx/>
              <a:buNone/>
            </a:pPr>
            <a:r>
              <a:rPr lang="en-US" altLang="zh-CN" sz="2400" dirty="0">
                <a:cs typeface="Times New Roman" panose="02020603050405020304" pitchFamily="18" charset="0"/>
              </a:rPr>
              <a:t>1. </a:t>
            </a:r>
            <a:r>
              <a:rPr lang="zh-CN" altLang="en-US" sz="2400" dirty="0">
                <a:cs typeface="Times New Roman" panose="02020603050405020304" pitchFamily="18" charset="0"/>
              </a:rPr>
              <a:t>杂质电离能大，不容易电离，对载流子浓度影响不大。</a:t>
            </a:r>
            <a:endParaRPr lang="zh-CN" altLang="en-US" sz="2400" dirty="0">
              <a:latin typeface="Arial" panose="020B0604020202020204" pitchFamily="34" charset="0"/>
            </a:endParaRPr>
          </a:p>
          <a:p>
            <a:pPr>
              <a:lnSpc>
                <a:spcPct val="120000"/>
              </a:lnSpc>
              <a:spcBef>
                <a:spcPct val="0"/>
              </a:spcBef>
              <a:buClrTx/>
              <a:buFontTx/>
              <a:buNone/>
            </a:pPr>
            <a:r>
              <a:rPr lang="en-US" altLang="zh-CN" sz="2400" dirty="0">
                <a:cs typeface="Times New Roman" panose="02020603050405020304" pitchFamily="18" charset="0"/>
              </a:rPr>
              <a:t>2. </a:t>
            </a:r>
            <a:r>
              <a:rPr lang="zh-CN" altLang="en-US" sz="2400" dirty="0">
                <a:cs typeface="Times New Roman" panose="02020603050405020304" pitchFamily="18" charset="0"/>
              </a:rPr>
              <a:t>一般能够产生多次电离，产生多重能级，甚至既产生施主能级也产生受主能级。</a:t>
            </a:r>
            <a:endParaRPr lang="zh-CN" altLang="en-US" sz="2400" dirty="0">
              <a:latin typeface="Arial" panose="020B0604020202020204" pitchFamily="34" charset="0"/>
            </a:endParaRPr>
          </a:p>
          <a:p>
            <a:pPr>
              <a:lnSpc>
                <a:spcPct val="120000"/>
              </a:lnSpc>
              <a:spcBef>
                <a:spcPct val="0"/>
              </a:spcBef>
              <a:buClrTx/>
              <a:buFontTx/>
              <a:buNone/>
            </a:pPr>
            <a:r>
              <a:rPr lang="en-US" altLang="zh-CN" sz="2400" dirty="0">
                <a:cs typeface="Times New Roman" panose="02020603050405020304" pitchFamily="18" charset="0"/>
              </a:rPr>
              <a:t>3. </a:t>
            </a:r>
            <a:r>
              <a:rPr lang="zh-CN" altLang="en-US" sz="2400" dirty="0">
                <a:cs typeface="Times New Roman" panose="02020603050405020304" pitchFamily="18" charset="0"/>
              </a:rPr>
              <a:t>能起到复合中心作用，使少数载流子寿命降低。</a:t>
            </a:r>
            <a:endParaRPr lang="zh-CN" altLang="en-US" sz="2400" dirty="0">
              <a:latin typeface="Arial" panose="020B0604020202020204" pitchFamily="34" charset="0"/>
            </a:endParaRPr>
          </a:p>
          <a:p>
            <a:pPr>
              <a:lnSpc>
                <a:spcPct val="120000"/>
              </a:lnSpc>
              <a:spcBef>
                <a:spcPct val="0"/>
              </a:spcBef>
              <a:buClrTx/>
              <a:buFontTx/>
              <a:buNone/>
            </a:pPr>
            <a:r>
              <a:rPr lang="en-US" altLang="zh-CN" sz="2400" dirty="0">
                <a:cs typeface="Times New Roman" panose="02020603050405020304" pitchFamily="18" charset="0"/>
              </a:rPr>
              <a:t>4. </a:t>
            </a:r>
            <a:r>
              <a:rPr lang="zh-CN" altLang="en-US" sz="2400" dirty="0">
                <a:cs typeface="Times New Roman" panose="02020603050405020304" pitchFamily="18" charset="0"/>
              </a:rPr>
              <a:t>电离后成为带电中心，对载流子起散射作用，迁移率减少，导电性能下降。</a:t>
            </a:r>
            <a:endParaRPr lang="zh-CN" altLang="en-US" sz="2400" b="1" dirty="0">
              <a:solidFill>
                <a:schemeClr val="tx1"/>
              </a:solidFill>
              <a:latin typeface="Times New Roman" panose="02020603050405020304" pitchFamily="18" charset="0"/>
              <a:ea typeface="宋体" panose="02010600030101010101" pitchFamily="2" charset="-122"/>
              <a:sym typeface="Times New Roman" panose="02020603050405020304" pitchFamily="18" charset="0"/>
            </a:endParaRPr>
          </a:p>
        </p:txBody>
      </p:sp>
    </p:spTree>
    <p:extLst>
      <p:ext uri="{BB962C8B-B14F-4D97-AF65-F5344CB8AC3E}">
        <p14:creationId xmlns:p14="http://schemas.microsoft.com/office/powerpoint/2010/main" val="16744154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10" name="Line 22"/>
          <p:cNvSpPr>
            <a:spLocks noChangeShapeType="1"/>
          </p:cNvSpPr>
          <p:nvPr/>
        </p:nvSpPr>
        <p:spPr bwMode="auto">
          <a:xfrm>
            <a:off x="147638" y="-11113"/>
            <a:ext cx="3200400" cy="0"/>
          </a:xfrm>
          <a:prstGeom prst="line">
            <a:avLst/>
          </a:prstGeom>
          <a:noFill/>
          <a:ln w="12700" cap="sq">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lstStyle/>
          <a:p>
            <a:endParaRPr lang="zh-CN" altLang="en-US">
              <a:sym typeface="Times New Roman" panose="02020603050405020304" pitchFamily="18" charset="0"/>
            </a:endParaRPr>
          </a:p>
        </p:txBody>
      </p:sp>
      <p:pic>
        <p:nvPicPr>
          <p:cNvPr id="22" name="Picture 4" descr="img009"/>
          <p:cNvPicPr>
            <a:picLocks noChangeAspect="1" noChangeArrowheads="1"/>
          </p:cNvPicPr>
          <p:nvPr/>
        </p:nvPicPr>
        <p:blipFill>
          <a:blip r:embed="rId2">
            <a:extLst>
              <a:ext uri="{28A0092B-C50C-407E-A947-70E740481C1C}">
                <a14:useLocalDpi xmlns:a14="http://schemas.microsoft.com/office/drawing/2010/main" val="0"/>
              </a:ext>
            </a:extLst>
          </a:blip>
          <a:srcRect l="6807" r="17476"/>
          <a:stretch>
            <a:fillRect/>
          </a:stretch>
        </p:blipFill>
        <p:spPr bwMode="auto">
          <a:xfrm>
            <a:off x="1979712" y="188639"/>
            <a:ext cx="4392488" cy="637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17636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E804DE0-1754-419C-A14F-9B6F3CF2CF38}"/>
              </a:ext>
            </a:extLst>
          </p:cNvPr>
          <p:cNvSpPr txBox="1"/>
          <p:nvPr/>
        </p:nvSpPr>
        <p:spPr>
          <a:xfrm>
            <a:off x="2340331" y="326036"/>
            <a:ext cx="4463338" cy="461665"/>
          </a:xfrm>
          <a:prstGeom prst="rect">
            <a:avLst/>
          </a:prstGeom>
          <a:noFill/>
        </p:spPr>
        <p:txBody>
          <a:bodyPr wrap="none" rtlCol="0">
            <a:spAutoFit/>
          </a:bodyPr>
          <a:lstStyle/>
          <a:p>
            <a:r>
              <a:rPr lang="zh-CN" altLang="en-US" sz="2400" b="1" dirty="0">
                <a:effectLst>
                  <a:outerShdw blurRad="38100" dist="38100" dir="2700000" algn="tl">
                    <a:srgbClr val="000000">
                      <a:alpha val="43137"/>
                    </a:srgbClr>
                  </a:outerShdw>
                </a:effectLst>
              </a:rPr>
              <a:t>电子</a:t>
            </a:r>
            <a:r>
              <a:rPr lang="en-US" altLang="zh-CN" sz="2400" b="1" dirty="0">
                <a:effectLst>
                  <a:outerShdw blurRad="38100" dist="38100" dir="2700000" algn="tl">
                    <a:srgbClr val="000000">
                      <a:alpha val="43137"/>
                    </a:srgbClr>
                  </a:outerShdw>
                </a:effectLst>
              </a:rPr>
              <a:t>vs.</a:t>
            </a:r>
            <a:r>
              <a:rPr lang="zh-CN" altLang="en-US" sz="2400" b="1" dirty="0">
                <a:effectLst>
                  <a:outerShdw blurRad="38100" dist="38100" dir="2700000" algn="tl">
                    <a:srgbClr val="000000">
                      <a:alpha val="43137"/>
                    </a:srgbClr>
                  </a:outerShdw>
                </a:effectLst>
              </a:rPr>
              <a:t>空穴</a:t>
            </a:r>
            <a:r>
              <a:rPr lang="en-US" altLang="zh-CN" sz="2400" b="1" dirty="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矛盾的对立统一</a:t>
            </a:r>
          </a:p>
        </p:txBody>
      </p:sp>
      <p:sp>
        <p:nvSpPr>
          <p:cNvPr id="3" name="矩形 2">
            <a:extLst>
              <a:ext uri="{FF2B5EF4-FFF2-40B4-BE49-F238E27FC236}">
                <a16:creationId xmlns:a16="http://schemas.microsoft.com/office/drawing/2014/main" id="{F3E6511C-F890-4963-BB52-5C37BFB6EDAC}"/>
              </a:ext>
            </a:extLst>
          </p:cNvPr>
          <p:cNvSpPr/>
          <p:nvPr/>
        </p:nvSpPr>
        <p:spPr>
          <a:xfrm>
            <a:off x="323528" y="1092639"/>
            <a:ext cx="8496944" cy="646331"/>
          </a:xfrm>
          <a:prstGeom prst="rect">
            <a:avLst/>
          </a:prstGeom>
        </p:spPr>
        <p:txBody>
          <a:bodyPr wrap="square">
            <a:spAutoFit/>
          </a:bodyPr>
          <a:lstStyle/>
          <a:p>
            <a:r>
              <a:rPr lang="en-US" altLang="zh-CN" dirty="0"/>
              <a:t>《</a:t>
            </a:r>
            <a:r>
              <a:rPr lang="zh-CN" altLang="en-US" dirty="0"/>
              <a:t>矛盾论</a:t>
            </a:r>
            <a:r>
              <a:rPr lang="en-US" altLang="zh-CN" dirty="0"/>
              <a:t>》</a:t>
            </a:r>
            <a:r>
              <a:rPr lang="zh-CN" altLang="en-US" dirty="0"/>
              <a:t>是毛泽东选最精华的文章之一，也是贯穿整部毛选的思维方法，如果搞不懂矛盾论，那么也很难分析问题，思考问题的逻辑</a:t>
            </a:r>
          </a:p>
        </p:txBody>
      </p:sp>
      <p:pic>
        <p:nvPicPr>
          <p:cNvPr id="4" name="图片 3">
            <a:extLst>
              <a:ext uri="{FF2B5EF4-FFF2-40B4-BE49-F238E27FC236}">
                <a16:creationId xmlns:a16="http://schemas.microsoft.com/office/drawing/2014/main" id="{9ABE1DEF-2629-42B1-B203-BB50283B190E}"/>
              </a:ext>
            </a:extLst>
          </p:cNvPr>
          <p:cNvPicPr>
            <a:picLocks noChangeAspect="1"/>
          </p:cNvPicPr>
          <p:nvPr/>
        </p:nvPicPr>
        <p:blipFill>
          <a:blip r:embed="rId2"/>
          <a:stretch>
            <a:fillRect/>
          </a:stretch>
        </p:blipFill>
        <p:spPr>
          <a:xfrm>
            <a:off x="124518" y="2356244"/>
            <a:ext cx="2555776" cy="3731433"/>
          </a:xfrm>
          <a:prstGeom prst="rect">
            <a:avLst/>
          </a:prstGeom>
        </p:spPr>
      </p:pic>
      <p:sp>
        <p:nvSpPr>
          <p:cNvPr id="5" name="矩形 4">
            <a:extLst>
              <a:ext uri="{FF2B5EF4-FFF2-40B4-BE49-F238E27FC236}">
                <a16:creationId xmlns:a16="http://schemas.microsoft.com/office/drawing/2014/main" id="{DF00C73B-AE79-422E-9A43-809FB68A17A3}"/>
              </a:ext>
            </a:extLst>
          </p:cNvPr>
          <p:cNvSpPr/>
          <p:nvPr/>
        </p:nvSpPr>
        <p:spPr>
          <a:xfrm>
            <a:off x="2842423" y="2636912"/>
            <a:ext cx="6158212" cy="3170099"/>
          </a:xfrm>
          <a:prstGeom prst="rect">
            <a:avLst/>
          </a:prstGeom>
        </p:spPr>
        <p:txBody>
          <a:bodyPr wrap="square">
            <a:spAutoFit/>
          </a:bodyPr>
          <a:lstStyle/>
          <a:p>
            <a:pPr marL="285750" indent="-285750">
              <a:buFont typeface="Wingdings" panose="05000000000000000000" pitchFamily="2" charset="2"/>
              <a:buChar char="p"/>
            </a:pPr>
            <a:r>
              <a:rPr lang="zh-CN" altLang="en-US" sz="2000" dirty="0"/>
              <a:t>教科书的经典说法：</a:t>
            </a:r>
            <a:r>
              <a:rPr lang="zh-CN" altLang="en-US" sz="2000" b="1" dirty="0">
                <a:solidFill>
                  <a:srgbClr val="FF0000"/>
                </a:solidFill>
                <a:effectLst>
                  <a:outerShdw blurRad="38100" dist="38100" dir="2700000" algn="tl">
                    <a:srgbClr val="000000">
                      <a:alpha val="43137"/>
                    </a:srgbClr>
                  </a:outerShdw>
                </a:effectLst>
              </a:rPr>
              <a:t>矛盾，即对立统一，是指事物内部和事物之间的对立统一关系</a:t>
            </a:r>
            <a:endParaRPr lang="en-US" altLang="zh-CN" sz="2000" b="1" dirty="0">
              <a:solidFill>
                <a:srgbClr val="FF0000"/>
              </a:solidFill>
              <a:effectLst>
                <a:outerShdw blurRad="38100" dist="38100" dir="2700000" algn="tl">
                  <a:srgbClr val="000000">
                    <a:alpha val="43137"/>
                  </a:srgbClr>
                </a:outerShdw>
              </a:effectLst>
            </a:endParaRPr>
          </a:p>
          <a:p>
            <a:pPr marL="285750" indent="-285750">
              <a:buFont typeface="Wingdings" panose="05000000000000000000" pitchFamily="2" charset="2"/>
              <a:buChar char="p"/>
            </a:pPr>
            <a:r>
              <a:rPr lang="zh-CN" altLang="en-US" sz="2000" b="1" dirty="0">
                <a:effectLst>
                  <a:outerShdw blurRad="38100" dist="38100" dir="2700000" algn="tl">
                    <a:srgbClr val="000000">
                      <a:alpha val="43137"/>
                    </a:srgbClr>
                  </a:outerShdw>
                </a:effectLst>
              </a:rPr>
              <a:t>“不论是简单的运动形式，或复杂的运动形式，不论是客观现象，或思想现象，矛盾是普遍地存在着”</a:t>
            </a:r>
            <a:r>
              <a:rPr lang="en-US" altLang="zh-CN" sz="2000" b="1" dirty="0">
                <a:effectLst>
                  <a:outerShdw blurRad="38100" dist="38100" dir="2700000" algn="tl">
                    <a:srgbClr val="000000">
                      <a:alpha val="43137"/>
                    </a:srgbClr>
                  </a:outerShdw>
                </a:effectLst>
              </a:rPr>
              <a:t> </a:t>
            </a:r>
          </a:p>
          <a:p>
            <a:pPr marL="285750" indent="-285750">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rPr>
              <a:t>主次矛盾：</a:t>
            </a:r>
            <a:r>
              <a:rPr lang="zh-CN" altLang="en-US" sz="2000" dirty="0"/>
              <a:t>当着事物发展了，过程变化了，外部条件变化了，有些矛盾会激化，有些会缓和。主次矛盾、矛盾的主次方面会随着时间、条件的变化而发生地位的转化，原来次要的可能上升为主要的，原来主要的可能下降为次要的</a:t>
            </a:r>
            <a:r>
              <a:rPr lang="zh-CN" altLang="en-US" sz="2000" b="1" dirty="0">
                <a:effectLst>
                  <a:outerShdw blurRad="38100" dist="38100" dir="2700000" algn="tl">
                    <a:srgbClr val="000000">
                      <a:alpha val="43137"/>
                    </a:srgbClr>
                  </a:outerShdw>
                </a:effectLst>
              </a:rPr>
              <a:t>（载流子浓度随时间、空间变化）</a:t>
            </a:r>
          </a:p>
        </p:txBody>
      </p:sp>
    </p:spTree>
    <p:extLst>
      <p:ext uri="{BB962C8B-B14F-4D97-AF65-F5344CB8AC3E}">
        <p14:creationId xmlns:p14="http://schemas.microsoft.com/office/powerpoint/2010/main" val="42052254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7B1EC15-5C1D-40C9-9550-B13F44AD95FD}"/>
              </a:ext>
            </a:extLst>
          </p:cNvPr>
          <p:cNvSpPr txBox="1"/>
          <p:nvPr/>
        </p:nvSpPr>
        <p:spPr>
          <a:xfrm>
            <a:off x="2340331" y="326036"/>
            <a:ext cx="4463338" cy="461665"/>
          </a:xfrm>
          <a:prstGeom prst="rect">
            <a:avLst/>
          </a:prstGeom>
          <a:noFill/>
        </p:spPr>
        <p:txBody>
          <a:bodyPr wrap="none" rtlCol="0">
            <a:spAutoFit/>
          </a:bodyPr>
          <a:lstStyle/>
          <a:p>
            <a:r>
              <a:rPr lang="zh-CN" altLang="en-US" sz="2400" b="1" dirty="0">
                <a:effectLst>
                  <a:outerShdw blurRad="38100" dist="38100" dir="2700000" algn="tl">
                    <a:srgbClr val="000000">
                      <a:alpha val="43137"/>
                    </a:srgbClr>
                  </a:outerShdw>
                </a:effectLst>
              </a:rPr>
              <a:t>电子</a:t>
            </a:r>
            <a:r>
              <a:rPr lang="en-US" altLang="zh-CN" sz="2400" b="1" dirty="0">
                <a:effectLst>
                  <a:outerShdw blurRad="38100" dist="38100" dir="2700000" algn="tl">
                    <a:srgbClr val="000000">
                      <a:alpha val="43137"/>
                    </a:srgbClr>
                  </a:outerShdw>
                </a:effectLst>
              </a:rPr>
              <a:t>vs.</a:t>
            </a:r>
            <a:r>
              <a:rPr lang="zh-CN" altLang="en-US" sz="2400" b="1" dirty="0">
                <a:effectLst>
                  <a:outerShdw blurRad="38100" dist="38100" dir="2700000" algn="tl">
                    <a:srgbClr val="000000">
                      <a:alpha val="43137"/>
                    </a:srgbClr>
                  </a:outerShdw>
                </a:effectLst>
              </a:rPr>
              <a:t>空穴</a:t>
            </a:r>
            <a:r>
              <a:rPr lang="en-US" altLang="zh-CN" sz="2400" b="1" dirty="0">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矛盾的对立统一</a:t>
            </a:r>
          </a:p>
        </p:txBody>
      </p:sp>
      <p:pic>
        <p:nvPicPr>
          <p:cNvPr id="3" name="图片 2">
            <a:extLst>
              <a:ext uri="{FF2B5EF4-FFF2-40B4-BE49-F238E27FC236}">
                <a16:creationId xmlns:a16="http://schemas.microsoft.com/office/drawing/2014/main" id="{AC233AF1-D637-47D2-9169-CA2EB41717E3}"/>
              </a:ext>
            </a:extLst>
          </p:cNvPr>
          <p:cNvPicPr>
            <a:picLocks noChangeAspect="1"/>
          </p:cNvPicPr>
          <p:nvPr/>
        </p:nvPicPr>
        <p:blipFill>
          <a:blip r:embed="rId2"/>
          <a:stretch>
            <a:fillRect/>
          </a:stretch>
        </p:blipFill>
        <p:spPr>
          <a:xfrm>
            <a:off x="107504" y="1662932"/>
            <a:ext cx="2555776" cy="3731433"/>
          </a:xfrm>
          <a:prstGeom prst="rect">
            <a:avLst/>
          </a:prstGeom>
        </p:spPr>
      </p:pic>
      <p:sp>
        <p:nvSpPr>
          <p:cNvPr id="4" name="矩形 3">
            <a:extLst>
              <a:ext uri="{FF2B5EF4-FFF2-40B4-BE49-F238E27FC236}">
                <a16:creationId xmlns:a16="http://schemas.microsoft.com/office/drawing/2014/main" id="{971317C3-33B5-4944-8512-A7A07F50F7DC}"/>
              </a:ext>
            </a:extLst>
          </p:cNvPr>
          <p:cNvSpPr/>
          <p:nvPr/>
        </p:nvSpPr>
        <p:spPr>
          <a:xfrm>
            <a:off x="2876725" y="917912"/>
            <a:ext cx="6158212" cy="5940088"/>
          </a:xfrm>
          <a:prstGeom prst="rect">
            <a:avLst/>
          </a:prstGeom>
        </p:spPr>
        <p:txBody>
          <a:bodyPr wrap="square">
            <a:spAutoFit/>
          </a:bodyPr>
          <a:lstStyle/>
          <a:p>
            <a:pPr marL="285750" indent="-285750">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rPr>
              <a:t>矛盾的斗争性：</a:t>
            </a:r>
            <a:r>
              <a:rPr lang="zh-CN" altLang="en-US" sz="2000" b="1" dirty="0">
                <a:effectLst>
                  <a:outerShdw blurRad="38100" dist="38100" dir="2700000" algn="tl">
                    <a:srgbClr val="000000">
                      <a:alpha val="43137"/>
                    </a:srgbClr>
                  </a:outerShdw>
                </a:effectLst>
              </a:rPr>
              <a:t>相互排斥、相互否定、相互反对的趋势。不仅促成事物量变、质变，还是事物朝同一性规定方向过渡的决定性力量。（</a:t>
            </a:r>
            <a:r>
              <a:rPr lang="en-US" altLang="zh-CN" sz="2000" b="1" dirty="0" err="1">
                <a:effectLst>
                  <a:outerShdw blurRad="38100" dist="38100" dir="2700000" algn="tl">
                    <a:srgbClr val="000000">
                      <a:alpha val="43137"/>
                    </a:srgbClr>
                  </a:outerShdw>
                </a:effectLst>
              </a:rPr>
              <a:t>pn</a:t>
            </a:r>
            <a:r>
              <a:rPr lang="zh-CN" altLang="en-US" sz="2000" b="1" dirty="0">
                <a:effectLst>
                  <a:outerShdw blurRad="38100" dist="38100" dir="2700000" algn="tl">
                    <a:srgbClr val="000000">
                      <a:alpha val="43137"/>
                    </a:srgbClr>
                  </a:outerShdw>
                </a:effectLst>
              </a:rPr>
              <a:t>型半导体）</a:t>
            </a:r>
            <a:endParaRPr lang="en-US" altLang="zh-CN" sz="2000" b="1" dirty="0">
              <a:effectLst>
                <a:outerShdw blurRad="38100" dist="38100" dir="2700000" algn="tl">
                  <a:srgbClr val="000000">
                    <a:alpha val="43137"/>
                  </a:srgbClr>
                </a:outerShdw>
              </a:effectLst>
            </a:endParaRPr>
          </a:p>
          <a:p>
            <a:pPr marL="285750" indent="-285750">
              <a:buFont typeface="Wingdings" panose="05000000000000000000" pitchFamily="2" charset="2"/>
              <a:buChar char="p"/>
            </a:pPr>
            <a:endParaRPr lang="en-US" altLang="zh-CN" sz="2000" b="1" dirty="0">
              <a:effectLst>
                <a:outerShdw blurRad="38100" dist="38100" dir="2700000" algn="tl">
                  <a:srgbClr val="000000">
                    <a:alpha val="43137"/>
                  </a:srgbClr>
                </a:outerShdw>
              </a:effectLst>
            </a:endParaRPr>
          </a:p>
          <a:p>
            <a:pPr marL="285750" indent="-285750">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rPr>
              <a:t>矛盾的同一性：</a:t>
            </a:r>
            <a:r>
              <a:rPr lang="zh-CN" altLang="en-US" sz="2000" b="1" dirty="0">
                <a:effectLst>
                  <a:outerShdw blurRad="38100" dist="38100" dir="2700000" algn="tl">
                    <a:srgbClr val="000000">
                      <a:alpha val="43137"/>
                    </a:srgbClr>
                  </a:outerShdw>
                </a:effectLst>
              </a:rPr>
              <a:t>矛盾的同一性是事物发展的前提，</a:t>
            </a:r>
            <a:r>
              <a:rPr lang="zh-CN" altLang="en-US" sz="2000" b="1" dirty="0">
                <a:solidFill>
                  <a:srgbClr val="121212"/>
                </a:solidFill>
                <a:effectLst>
                  <a:outerShdw blurRad="38100" dist="38100" dir="2700000" algn="tl">
                    <a:srgbClr val="000000">
                      <a:alpha val="43137"/>
                    </a:srgbClr>
                  </a:outerShdw>
                </a:effectLst>
                <a:latin typeface="-apple-system"/>
              </a:rPr>
              <a:t>规定了事物发展的方向。矛盾的双方可以利用对方的发展而使自己也获得发展。</a:t>
            </a:r>
            <a:r>
              <a:rPr lang="zh-CN" altLang="en-US" sz="2000" dirty="0"/>
              <a:t>矛盾着的对立面互相依存，互为存在前提，并共处于一个统一体当中；矛盾着的对立面互相贯通，在一定条件下相互转化</a:t>
            </a:r>
            <a:r>
              <a:rPr lang="zh-CN" altLang="en-US" sz="2000" b="1" dirty="0">
                <a:effectLst>
                  <a:outerShdw blurRad="38100" dist="38100" dir="2700000" algn="tl">
                    <a:srgbClr val="000000">
                      <a:alpha val="43137"/>
                    </a:srgbClr>
                  </a:outerShdw>
                </a:effectLst>
              </a:rPr>
              <a:t>（空穴的来源：不同空间中电子空穴的变化，体现电性的不同）</a:t>
            </a:r>
            <a:endParaRPr lang="en-US" altLang="zh-CN" sz="2000" b="1" dirty="0">
              <a:effectLst>
                <a:outerShdw blurRad="38100" dist="38100" dir="2700000" algn="tl">
                  <a:srgbClr val="000000">
                    <a:alpha val="43137"/>
                  </a:srgbClr>
                </a:outerShdw>
              </a:effectLst>
            </a:endParaRPr>
          </a:p>
          <a:p>
            <a:pPr marL="285750" indent="-285750">
              <a:buFont typeface="Wingdings" panose="05000000000000000000" pitchFamily="2" charset="2"/>
              <a:buChar char="p"/>
            </a:pPr>
            <a:endParaRPr lang="en-US" altLang="zh-CN" sz="2000" b="1" dirty="0">
              <a:effectLst>
                <a:outerShdw blurRad="38100" dist="38100" dir="2700000" algn="tl">
                  <a:srgbClr val="000000">
                    <a:alpha val="43137"/>
                  </a:srgbClr>
                </a:outerShdw>
              </a:effectLst>
            </a:endParaRPr>
          </a:p>
          <a:p>
            <a:pPr marL="285750" indent="-285750">
              <a:buFont typeface="Wingdings" panose="05000000000000000000" pitchFamily="2" charset="2"/>
              <a:buChar char="p"/>
            </a:pPr>
            <a:r>
              <a:rPr lang="zh-CN" altLang="en-US" sz="2000" dirty="0"/>
              <a:t>矛盾双方协同运动，共同推进事物发展</a:t>
            </a:r>
            <a:r>
              <a:rPr lang="en-US" altLang="zh-CN" sz="2000" dirty="0"/>
              <a:t>——</a:t>
            </a:r>
            <a:r>
              <a:rPr lang="zh-CN" altLang="en-US" sz="2000" b="1" dirty="0">
                <a:solidFill>
                  <a:srgbClr val="FF0000"/>
                </a:solidFill>
                <a:effectLst>
                  <a:outerShdw blurRad="38100" dist="38100" dir="2700000" algn="tl">
                    <a:srgbClr val="000000">
                      <a:alpha val="43137"/>
                    </a:srgbClr>
                  </a:outerShdw>
                </a:effectLst>
              </a:rPr>
              <a:t>要使得矛盾和谐</a:t>
            </a:r>
            <a:endParaRPr lang="en-US" altLang="zh-CN" sz="2000" b="1" dirty="0">
              <a:solidFill>
                <a:srgbClr val="FF0000"/>
              </a:solidFill>
              <a:effectLst>
                <a:outerShdw blurRad="38100" dist="38100" dir="2700000" algn="tl">
                  <a:srgbClr val="000000">
                    <a:alpha val="43137"/>
                  </a:srgbClr>
                </a:outerShdw>
              </a:effectLst>
            </a:endParaRPr>
          </a:p>
          <a:p>
            <a:pPr marL="285750" indent="-285750">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rPr>
              <a:t>解决矛盾的唯一方法就是实事求是</a:t>
            </a:r>
          </a:p>
          <a:p>
            <a:pPr marL="285750" indent="-285750">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rPr>
              <a:t>人与人之间的差距，往往就在实现矛盾协调的功力上。我党治国理政，从新民主革命到新时代发展，不断解决矛盾</a:t>
            </a:r>
          </a:p>
          <a:p>
            <a:pPr marL="285750" indent="-285750">
              <a:buFont typeface="Wingdings" panose="05000000000000000000" pitchFamily="2" charset="2"/>
              <a:buChar char="p"/>
            </a:pPr>
            <a:endParaRPr lang="zh-CN" altLang="en-US" sz="2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405765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5.6|9.4|28.2|18.9"/>
</p:tagLst>
</file>

<file path=ppt/theme/theme1.xml><?xml version="1.0" encoding="utf-8"?>
<a:theme xmlns:a="http://schemas.openxmlformats.org/drawingml/2006/main" name="Office Theme">
  <a:themeElements>
    <a:clrScheme name="红色">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824</TotalTime>
  <Words>4769</Words>
  <Application>Microsoft Office PowerPoint</Application>
  <PresentationFormat>全屏显示(4:3)</PresentationFormat>
  <Paragraphs>385</Paragraphs>
  <Slides>62</Slides>
  <Notes>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62</vt:i4>
      </vt:variant>
    </vt:vector>
  </HeadingPairs>
  <TitlesOfParts>
    <vt:vector size="74" baseType="lpstr">
      <vt:lpstr>-apple-system</vt:lpstr>
      <vt:lpstr>等线</vt:lpstr>
      <vt:lpstr>宋体</vt:lpstr>
      <vt:lpstr>Arial</vt:lpstr>
      <vt:lpstr>Calibri</vt:lpstr>
      <vt:lpstr>Times New Roman</vt:lpstr>
      <vt:lpstr>Verdana</vt:lpstr>
      <vt:lpstr>Wingdings</vt:lpstr>
      <vt:lpstr>Office Theme</vt:lpstr>
      <vt:lpstr>Equation</vt:lpstr>
      <vt:lpstr>公式</vt:lpstr>
      <vt:lpstr>Equation.3</vt:lpstr>
      <vt:lpstr>第1章 半导体材料的基本性质 </vt:lpstr>
      <vt:lpstr>1.1 半导体与基本晶体结构 1.1.1 半导体</vt:lpstr>
      <vt:lpstr>PowerPoint 演示文稿</vt:lpstr>
      <vt:lpstr>PowerPoint 演示文稿</vt:lpstr>
      <vt:lpstr>PowerPoint 演示文稿</vt:lpstr>
      <vt:lpstr>PowerPoint 演示文稿</vt:lpstr>
      <vt:lpstr>PowerPoint 演示文稿</vt:lpstr>
      <vt:lpstr>1.1.4晶面及其表示方法</vt:lpstr>
      <vt:lpstr>PowerPoint 演示文稿</vt:lpstr>
      <vt:lpstr>1.1.5 半导体材料简介</vt:lpstr>
      <vt:lpstr>第1章 半导体材料的基本性质 </vt:lpstr>
      <vt:lpstr>1.2半导体的能带 1.2.1 孤立原子中电子能级</vt:lpstr>
      <vt:lpstr>PowerPoint 演示文稿</vt:lpstr>
      <vt:lpstr>1.2.2 晶体中电子的能带</vt:lpstr>
      <vt:lpstr>PowerPoint 演示文稿</vt:lpstr>
      <vt:lpstr>PowerPoint 演示文稿</vt:lpstr>
      <vt:lpstr>PowerPoint 演示文稿</vt:lpstr>
      <vt:lpstr>PowerPoint 演示文稿</vt:lpstr>
      <vt:lpstr>PowerPoint 演示文稿</vt:lpstr>
      <vt:lpstr>1.2.3 硅晶体能带的形成过程</vt:lpstr>
      <vt:lpstr>1.2.4 能带图的意义及简化表示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1.2.6* 半导体中电子的运动</vt:lpstr>
      <vt:lpstr>PowerPoint 演示文稿</vt:lpstr>
      <vt:lpstr>2 半导体中电子的平均速度</vt:lpstr>
      <vt:lpstr>PowerPoint 演示文稿</vt:lpstr>
      <vt:lpstr>PowerPoint 演示文稿</vt:lpstr>
      <vt:lpstr>1.3.3 半导体中电子的加速度</vt:lpstr>
      <vt:lpstr>PowerPoint 演示文稿</vt:lpstr>
      <vt:lpstr>PowerPoint 演示文稿</vt:lpstr>
      <vt:lpstr>有效质量的意义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深能级杂质</vt:lpstr>
      <vt:lpstr>PowerPoint 演示文稿</vt:lpstr>
      <vt:lpstr>PowerPoint 演示文稿</vt:lpstr>
      <vt:lpstr>PowerPoint 演示文稿</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半导体材料的基本性质 </dc:title>
  <dc:creator>番茄花园</dc:creator>
  <cp:lastModifiedBy>陈达</cp:lastModifiedBy>
  <cp:revision>80</cp:revision>
  <dcterms:created xsi:type="dcterms:W3CDTF">2008-12-02T04:00:09Z</dcterms:created>
  <dcterms:modified xsi:type="dcterms:W3CDTF">2021-08-29T08:13:39Z</dcterms:modified>
</cp:coreProperties>
</file>