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77"/>
  </p:notesMasterIdLst>
  <p:sldIdLst>
    <p:sldId id="257" r:id="rId2"/>
    <p:sldId id="325" r:id="rId3"/>
    <p:sldId id="258" r:id="rId4"/>
    <p:sldId id="330" r:id="rId5"/>
    <p:sldId id="259" r:id="rId6"/>
    <p:sldId id="262" r:id="rId7"/>
    <p:sldId id="331" r:id="rId8"/>
    <p:sldId id="332" r:id="rId9"/>
    <p:sldId id="333" r:id="rId10"/>
    <p:sldId id="334" r:id="rId11"/>
    <p:sldId id="263" r:id="rId12"/>
    <p:sldId id="264" r:id="rId13"/>
    <p:sldId id="265" r:id="rId14"/>
    <p:sldId id="266" r:id="rId15"/>
    <p:sldId id="354" r:id="rId16"/>
    <p:sldId id="327" r:id="rId17"/>
    <p:sldId id="268" r:id="rId18"/>
    <p:sldId id="269" r:id="rId19"/>
    <p:sldId id="335" r:id="rId20"/>
    <p:sldId id="294" r:id="rId21"/>
    <p:sldId id="352" r:id="rId22"/>
    <p:sldId id="353" r:id="rId23"/>
    <p:sldId id="364" r:id="rId24"/>
    <p:sldId id="365" r:id="rId25"/>
    <p:sldId id="366" r:id="rId26"/>
    <p:sldId id="355" r:id="rId27"/>
    <p:sldId id="382" r:id="rId28"/>
    <p:sldId id="270" r:id="rId29"/>
    <p:sldId id="271" r:id="rId30"/>
    <p:sldId id="272" r:id="rId31"/>
    <p:sldId id="274" r:id="rId32"/>
    <p:sldId id="329" r:id="rId33"/>
    <p:sldId id="328" r:id="rId34"/>
    <p:sldId id="275" r:id="rId35"/>
    <p:sldId id="276" r:id="rId36"/>
    <p:sldId id="336" r:id="rId37"/>
    <p:sldId id="337" r:id="rId38"/>
    <p:sldId id="338" r:id="rId39"/>
    <p:sldId id="339" r:id="rId40"/>
    <p:sldId id="341" r:id="rId41"/>
    <p:sldId id="342" r:id="rId42"/>
    <p:sldId id="344" r:id="rId43"/>
    <p:sldId id="343" r:id="rId44"/>
    <p:sldId id="345" r:id="rId45"/>
    <p:sldId id="346" r:id="rId46"/>
    <p:sldId id="350" r:id="rId47"/>
    <p:sldId id="351" r:id="rId48"/>
    <p:sldId id="383" r:id="rId49"/>
    <p:sldId id="357" r:id="rId50"/>
    <p:sldId id="363" r:id="rId51"/>
    <p:sldId id="358" r:id="rId52"/>
    <p:sldId id="359" r:id="rId53"/>
    <p:sldId id="360" r:id="rId54"/>
    <p:sldId id="361" r:id="rId55"/>
    <p:sldId id="362" r:id="rId56"/>
    <p:sldId id="367" r:id="rId57"/>
    <p:sldId id="368" r:id="rId58"/>
    <p:sldId id="369" r:id="rId59"/>
    <p:sldId id="370" r:id="rId60"/>
    <p:sldId id="371" r:id="rId61"/>
    <p:sldId id="372" r:id="rId62"/>
    <p:sldId id="373" r:id="rId63"/>
    <p:sldId id="374" r:id="rId64"/>
    <p:sldId id="375" r:id="rId65"/>
    <p:sldId id="377" r:id="rId66"/>
    <p:sldId id="378" r:id="rId67"/>
    <p:sldId id="379" r:id="rId68"/>
    <p:sldId id="380" r:id="rId69"/>
    <p:sldId id="381" r:id="rId70"/>
    <p:sldId id="277" r:id="rId71"/>
    <p:sldId id="278" r:id="rId72"/>
    <p:sldId id="279" r:id="rId73"/>
    <p:sldId id="290" r:id="rId74"/>
    <p:sldId id="291" r:id="rId75"/>
    <p:sldId id="384" r:id="rId7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654"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5" Type="http://schemas.openxmlformats.org/officeDocument/2006/relationships/image" Target="../media/image11.wmf"/><Relationship Id="rId4"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17.wmf"/><Relationship Id="rId7" Type="http://schemas.openxmlformats.org/officeDocument/2006/relationships/image" Target="../media/image21.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7.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6.emf"/><Relationship Id="rId5" Type="http://schemas.openxmlformats.org/officeDocument/2006/relationships/image" Target="../media/image21.wmf"/><Relationship Id="rId4"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image" Target="../media/image44.wmf"/><Relationship Id="rId7" Type="http://schemas.openxmlformats.org/officeDocument/2006/relationships/image" Target="../media/image48.wmf"/><Relationship Id="rId2" Type="http://schemas.openxmlformats.org/officeDocument/2006/relationships/image" Target="../media/image43.wmf"/><Relationship Id="rId1" Type="http://schemas.openxmlformats.org/officeDocument/2006/relationships/image" Target="../media/image42.wmf"/><Relationship Id="rId6" Type="http://schemas.openxmlformats.org/officeDocument/2006/relationships/image" Target="../media/image47.wmf"/><Relationship Id="rId5" Type="http://schemas.openxmlformats.org/officeDocument/2006/relationships/image" Target="../media/image46.wmf"/><Relationship Id="rId10" Type="http://schemas.openxmlformats.org/officeDocument/2006/relationships/image" Target="../media/image51.wmf"/><Relationship Id="rId4" Type="http://schemas.openxmlformats.org/officeDocument/2006/relationships/image" Target="../media/image45.wmf"/><Relationship Id="rId9" Type="http://schemas.openxmlformats.org/officeDocument/2006/relationships/image" Target="../media/image50.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image" Target="../media/image53.wmf"/><Relationship Id="rId7" Type="http://schemas.openxmlformats.org/officeDocument/2006/relationships/image" Target="../media/image57.wmf"/><Relationship Id="rId2" Type="http://schemas.openxmlformats.org/officeDocument/2006/relationships/image" Target="../media/image51.wmf"/><Relationship Id="rId1" Type="http://schemas.openxmlformats.org/officeDocument/2006/relationships/image" Target="../media/image52.wmf"/><Relationship Id="rId6" Type="http://schemas.openxmlformats.org/officeDocument/2006/relationships/image" Target="../media/image56.wmf"/><Relationship Id="rId11" Type="http://schemas.openxmlformats.org/officeDocument/2006/relationships/image" Target="../media/image61.wmf"/><Relationship Id="rId5" Type="http://schemas.openxmlformats.org/officeDocument/2006/relationships/image" Target="../media/image55.wmf"/><Relationship Id="rId10" Type="http://schemas.openxmlformats.org/officeDocument/2006/relationships/image" Target="../media/image60.wmf"/><Relationship Id="rId4" Type="http://schemas.openxmlformats.org/officeDocument/2006/relationships/image" Target="../media/image54.wmf"/><Relationship Id="rId9" Type="http://schemas.openxmlformats.org/officeDocument/2006/relationships/image" Target="../media/image59.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image" Target="../media/image63.wmf"/><Relationship Id="rId7" Type="http://schemas.openxmlformats.org/officeDocument/2006/relationships/image" Target="../media/image67.wmf"/><Relationship Id="rId2" Type="http://schemas.openxmlformats.org/officeDocument/2006/relationships/image" Target="../media/image62.wmf"/><Relationship Id="rId1" Type="http://schemas.openxmlformats.org/officeDocument/2006/relationships/image" Target="../media/image51.wmf"/><Relationship Id="rId6" Type="http://schemas.openxmlformats.org/officeDocument/2006/relationships/image" Target="../media/image66.wmf"/><Relationship Id="rId5" Type="http://schemas.openxmlformats.org/officeDocument/2006/relationships/image" Target="../media/image65.wmf"/><Relationship Id="rId4" Type="http://schemas.openxmlformats.org/officeDocument/2006/relationships/image" Target="../media/image6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image" Target="../media/image8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image" Target="../media/image93.emf"/><Relationship Id="rId1" Type="http://schemas.openxmlformats.org/officeDocument/2006/relationships/image" Target="../media/image92.emf"/><Relationship Id="rId6" Type="http://schemas.openxmlformats.org/officeDocument/2006/relationships/image" Target="../media/image97.emf"/><Relationship Id="rId5" Type="http://schemas.openxmlformats.org/officeDocument/2006/relationships/image" Target="../media/image96.emf"/><Relationship Id="rId4" Type="http://schemas.openxmlformats.org/officeDocument/2006/relationships/image" Target="../media/image95.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image" Target="../media/image99.wmf"/><Relationship Id="rId1" Type="http://schemas.openxmlformats.org/officeDocument/2006/relationships/image" Target="../media/image9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 Id="rId4" Type="http://schemas.openxmlformats.org/officeDocument/2006/relationships/image" Target="../media/image104.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image" Target="../media/image105.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 Id="rId5" Type="http://schemas.openxmlformats.org/officeDocument/2006/relationships/image" Target="../media/image111.wmf"/><Relationship Id="rId4" Type="http://schemas.openxmlformats.org/officeDocument/2006/relationships/image" Target="../media/image11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 Id="rId5" Type="http://schemas.openxmlformats.org/officeDocument/2006/relationships/image" Target="../media/image116.wmf"/><Relationship Id="rId4" Type="http://schemas.openxmlformats.org/officeDocument/2006/relationships/image" Target="../media/image11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26.wmf"/><Relationship Id="rId3" Type="http://schemas.openxmlformats.org/officeDocument/2006/relationships/image" Target="../media/image122.wmf"/><Relationship Id="rId7" Type="http://schemas.openxmlformats.org/officeDocument/2006/relationships/image" Target="../media/image125.wmf"/><Relationship Id="rId2" Type="http://schemas.openxmlformats.org/officeDocument/2006/relationships/image" Target="../media/image121.wmf"/><Relationship Id="rId1" Type="http://schemas.openxmlformats.org/officeDocument/2006/relationships/image" Target="../media/image120.wmf"/><Relationship Id="rId6" Type="http://schemas.openxmlformats.org/officeDocument/2006/relationships/image" Target="../media/image124.wmf"/><Relationship Id="rId5" Type="http://schemas.openxmlformats.org/officeDocument/2006/relationships/image" Target="../media/image123.wmf"/><Relationship Id="rId10" Type="http://schemas.openxmlformats.org/officeDocument/2006/relationships/image" Target="../media/image128.wmf"/><Relationship Id="rId4" Type="http://schemas.openxmlformats.org/officeDocument/2006/relationships/image" Target="../media/image118.wmf"/><Relationship Id="rId9" Type="http://schemas.openxmlformats.org/officeDocument/2006/relationships/image" Target="../media/image12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2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16.wmf"/><Relationship Id="rId1" Type="http://schemas.openxmlformats.org/officeDocument/2006/relationships/image" Target="../media/image133.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19.wmf"/><Relationship Id="rId1" Type="http://schemas.openxmlformats.org/officeDocument/2006/relationships/image" Target="../media/image11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5.emf"/><Relationship Id="rId5" Type="http://schemas.openxmlformats.org/officeDocument/2006/relationships/image" Target="../media/image144.emf"/><Relationship Id="rId4" Type="http://schemas.openxmlformats.org/officeDocument/2006/relationships/image" Target="../media/image143.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64.emf"/><Relationship Id="rId3" Type="http://schemas.openxmlformats.org/officeDocument/2006/relationships/image" Target="../media/image160.wmf"/><Relationship Id="rId7" Type="http://schemas.openxmlformats.org/officeDocument/2006/relationships/image" Target="../media/image163.emf"/><Relationship Id="rId2" Type="http://schemas.openxmlformats.org/officeDocument/2006/relationships/image" Target="../media/image159.wmf"/><Relationship Id="rId1" Type="http://schemas.openxmlformats.org/officeDocument/2006/relationships/image" Target="../media/image158.wmf"/><Relationship Id="rId6" Type="http://schemas.openxmlformats.org/officeDocument/2006/relationships/image" Target="../media/image162.emf"/><Relationship Id="rId5" Type="http://schemas.openxmlformats.org/officeDocument/2006/relationships/image" Target="../media/image161.emf"/><Relationship Id="rId4" Type="http://schemas.openxmlformats.org/officeDocument/2006/relationships/image" Target="../media/image142.wmf"/><Relationship Id="rId9" Type="http://schemas.openxmlformats.org/officeDocument/2006/relationships/image" Target="../media/image165.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68.emf"/><Relationship Id="rId1" Type="http://schemas.openxmlformats.org/officeDocument/2006/relationships/image" Target="../media/image167.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 Id="rId4" Type="http://schemas.openxmlformats.org/officeDocument/2006/relationships/image" Target="../media/image172.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78.wmf"/><Relationship Id="rId2" Type="http://schemas.openxmlformats.org/officeDocument/2006/relationships/image" Target="../media/image120.wmf"/><Relationship Id="rId1" Type="http://schemas.openxmlformats.org/officeDocument/2006/relationships/image" Target="../media/image177.wmf"/><Relationship Id="rId6" Type="http://schemas.openxmlformats.org/officeDocument/2006/relationships/image" Target="../media/image181.wmf"/><Relationship Id="rId5" Type="http://schemas.openxmlformats.org/officeDocument/2006/relationships/image" Target="../media/image180.wmf"/><Relationship Id="rId4" Type="http://schemas.openxmlformats.org/officeDocument/2006/relationships/image" Target="../media/image179.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80.wmf"/><Relationship Id="rId2" Type="http://schemas.openxmlformats.org/officeDocument/2006/relationships/image" Target="../media/image183.wmf"/><Relationship Id="rId1" Type="http://schemas.openxmlformats.org/officeDocument/2006/relationships/image" Target="../media/image182.wmf"/><Relationship Id="rId5" Type="http://schemas.openxmlformats.org/officeDocument/2006/relationships/image" Target="../media/image185.wmf"/><Relationship Id="rId4" Type="http://schemas.openxmlformats.org/officeDocument/2006/relationships/image" Target="../media/image184.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 Id="rId4" Type="http://schemas.openxmlformats.org/officeDocument/2006/relationships/image" Target="../media/image189.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92.wmf"/><Relationship Id="rId2" Type="http://schemas.openxmlformats.org/officeDocument/2006/relationships/image" Target="../media/image191.wmf"/><Relationship Id="rId1" Type="http://schemas.openxmlformats.org/officeDocument/2006/relationships/image" Target="../media/image190.wmf"/><Relationship Id="rId5" Type="http://schemas.openxmlformats.org/officeDocument/2006/relationships/image" Target="../media/image194.wmf"/><Relationship Id="rId4" Type="http://schemas.openxmlformats.org/officeDocument/2006/relationships/image" Target="../media/image193.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96.wmf"/><Relationship Id="rId1" Type="http://schemas.openxmlformats.org/officeDocument/2006/relationships/image" Target="../media/image195.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99.wmf"/><Relationship Id="rId1" Type="http://schemas.openxmlformats.org/officeDocument/2006/relationships/image" Target="../media/image19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14DE76-B7A3-4511-8542-E4EDDB5246AB}" type="datetimeFigureOut">
              <a:rPr lang="zh-CN" altLang="en-US" smtClean="0"/>
              <a:t>2019/4/8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98DFB-950F-43A2-B9A1-A848AA44E5B5}" type="slidenum">
              <a:rPr lang="zh-CN" altLang="en-US" smtClean="0"/>
              <a:t>‹#›</a:t>
            </a:fld>
            <a:endParaRPr lang="zh-CN" altLang="en-US"/>
          </a:p>
        </p:txBody>
      </p:sp>
    </p:spTree>
    <p:extLst>
      <p:ext uri="{BB962C8B-B14F-4D97-AF65-F5344CB8AC3E}">
        <p14:creationId xmlns:p14="http://schemas.microsoft.com/office/powerpoint/2010/main" val="1324874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3A04199-FCB5-4D72-A8E9-AF5FDF9F89AD}" type="slidenum">
              <a:rPr lang="zh-CN" altLang="en-US" smtClean="0"/>
              <a:pPr/>
              <a:t>51</a:t>
            </a:fld>
            <a:endParaRPr lang="en-US" altLang="zh-CN"/>
          </a:p>
        </p:txBody>
      </p:sp>
    </p:spTree>
    <p:extLst>
      <p:ext uri="{BB962C8B-B14F-4D97-AF65-F5344CB8AC3E}">
        <p14:creationId xmlns:p14="http://schemas.microsoft.com/office/powerpoint/2010/main" val="1481437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03D3A768-9DAF-4C01-89B1-3309CB8DEE15}" type="slidenum">
              <a:rPr lang="en-US" altLang="zh-CN" smtClean="0"/>
              <a:pPr/>
              <a:t>‹#›</a:t>
            </a:fld>
            <a:endParaRPr lang="en-US" altLang="zh-CN"/>
          </a:p>
        </p:txBody>
      </p:sp>
    </p:spTree>
    <p:extLst>
      <p:ext uri="{BB962C8B-B14F-4D97-AF65-F5344CB8AC3E}">
        <p14:creationId xmlns:p14="http://schemas.microsoft.com/office/powerpoint/2010/main" val="2855470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DBAF0F58-7F30-4E42-8AA4-5B8CB440F48D}" type="slidenum">
              <a:rPr lang="en-US" altLang="zh-CN" smtClean="0"/>
              <a:pPr/>
              <a:t>‹#›</a:t>
            </a:fld>
            <a:endParaRPr lang="en-US" altLang="zh-CN"/>
          </a:p>
        </p:txBody>
      </p:sp>
    </p:spTree>
    <p:extLst>
      <p:ext uri="{BB962C8B-B14F-4D97-AF65-F5344CB8AC3E}">
        <p14:creationId xmlns:p14="http://schemas.microsoft.com/office/powerpoint/2010/main" val="4165401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7E9371DA-AAC5-4C63-A52E-18D5E58BDB37}" type="slidenum">
              <a:rPr lang="en-US" altLang="zh-CN" smtClean="0"/>
              <a:pPr/>
              <a:t>‹#›</a:t>
            </a:fld>
            <a:endParaRPr lang="en-US" altLang="zh-CN"/>
          </a:p>
        </p:txBody>
      </p:sp>
    </p:spTree>
    <p:extLst>
      <p:ext uri="{BB962C8B-B14F-4D97-AF65-F5344CB8AC3E}">
        <p14:creationId xmlns:p14="http://schemas.microsoft.com/office/powerpoint/2010/main" val="426000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43B3957E-E9BE-4F4D-A16A-5AFDF128CA2F}" type="slidenum">
              <a:rPr lang="en-US" altLang="zh-CN" smtClean="0"/>
              <a:pPr/>
              <a:t>‹#›</a:t>
            </a:fld>
            <a:endParaRPr lang="en-US" altLang="zh-CN"/>
          </a:p>
        </p:txBody>
      </p:sp>
    </p:spTree>
    <p:extLst>
      <p:ext uri="{BB962C8B-B14F-4D97-AF65-F5344CB8AC3E}">
        <p14:creationId xmlns:p14="http://schemas.microsoft.com/office/powerpoint/2010/main" val="4283793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en-US" altLang="zh-CN"/>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A86064A8-1C74-47A2-A7A3-3CAF053A2FFA}" type="slidenum">
              <a:rPr lang="en-US" altLang="zh-CN" smtClean="0"/>
              <a:pPr/>
              <a:t>‹#›</a:t>
            </a:fld>
            <a:endParaRPr lang="en-US" altLang="zh-CN"/>
          </a:p>
        </p:txBody>
      </p:sp>
    </p:spTree>
    <p:extLst>
      <p:ext uri="{BB962C8B-B14F-4D97-AF65-F5344CB8AC3E}">
        <p14:creationId xmlns:p14="http://schemas.microsoft.com/office/powerpoint/2010/main" val="2751376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en-US" altLang="zh-CN"/>
          </a:p>
        </p:txBody>
      </p:sp>
      <p:sp>
        <p:nvSpPr>
          <p:cNvPr id="4" name="Footer Placeholder 3"/>
          <p:cNvSpPr>
            <a:spLocks noGrp="1"/>
          </p:cNvSpPr>
          <p:nvPr>
            <p:ph type="ftr" sz="quarter" idx="11"/>
          </p:nvPr>
        </p:nvSpPr>
        <p:spPr/>
        <p:txBody>
          <a:bodyPr/>
          <a:lstStyle/>
          <a:p>
            <a:endParaRPr lang="en-US" altLang="zh-CN"/>
          </a:p>
        </p:txBody>
      </p:sp>
      <p:sp>
        <p:nvSpPr>
          <p:cNvPr id="5" name="Slide Number Placeholder 4"/>
          <p:cNvSpPr>
            <a:spLocks noGrp="1"/>
          </p:cNvSpPr>
          <p:nvPr>
            <p:ph type="sldNum" sz="quarter" idx="12"/>
          </p:nvPr>
        </p:nvSpPr>
        <p:spPr/>
        <p:txBody>
          <a:bodyPr/>
          <a:lstStyle/>
          <a:p>
            <a:fld id="{D7D204E8-7C44-43EB-AA00-C2B6802C620F}" type="slidenum">
              <a:rPr lang="en-US" altLang="zh-CN" smtClean="0"/>
              <a:pPr/>
              <a:t>‹#›</a:t>
            </a:fld>
            <a:endParaRPr lang="en-US" altLang="zh-CN"/>
          </a:p>
        </p:txBody>
      </p:sp>
    </p:spTree>
    <p:extLst>
      <p:ext uri="{BB962C8B-B14F-4D97-AF65-F5344CB8AC3E}">
        <p14:creationId xmlns:p14="http://schemas.microsoft.com/office/powerpoint/2010/main" val="3701209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zh-CN"/>
          </a:p>
        </p:txBody>
      </p:sp>
      <p:sp>
        <p:nvSpPr>
          <p:cNvPr id="3" name="Footer Placeholder 2"/>
          <p:cNvSpPr>
            <a:spLocks noGrp="1"/>
          </p:cNvSpPr>
          <p:nvPr>
            <p:ph type="ftr" sz="quarter" idx="11"/>
          </p:nvPr>
        </p:nvSpPr>
        <p:spPr/>
        <p:txBody>
          <a:bodyPr/>
          <a:lstStyle/>
          <a:p>
            <a:endParaRPr lang="en-US" altLang="zh-CN"/>
          </a:p>
        </p:txBody>
      </p:sp>
      <p:sp>
        <p:nvSpPr>
          <p:cNvPr id="4" name="Slide Number Placeholder 3"/>
          <p:cNvSpPr>
            <a:spLocks noGrp="1"/>
          </p:cNvSpPr>
          <p:nvPr>
            <p:ph type="sldNum" sz="quarter" idx="12"/>
          </p:nvPr>
        </p:nvSpPr>
        <p:spPr/>
        <p:txBody>
          <a:bodyPr/>
          <a:lstStyle/>
          <a:p>
            <a:fld id="{37F31BB4-8156-479F-A9D8-940B35B370FD}" type="slidenum">
              <a:rPr lang="en-US" altLang="zh-CN" smtClean="0"/>
              <a:pPr/>
              <a:t>‹#›</a:t>
            </a:fld>
            <a:endParaRPr lang="en-US" altLang="zh-CN"/>
          </a:p>
        </p:txBody>
      </p:sp>
    </p:spTree>
    <p:extLst>
      <p:ext uri="{BB962C8B-B14F-4D97-AF65-F5344CB8AC3E}">
        <p14:creationId xmlns:p14="http://schemas.microsoft.com/office/powerpoint/2010/main" val="3696104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8D0328A0-2F35-441E-B8B5-7F6BBD857410}" type="slidenum">
              <a:rPr lang="en-US" altLang="zh-CN" smtClean="0"/>
              <a:pPr/>
              <a:t>‹#›</a:t>
            </a:fld>
            <a:endParaRPr lang="en-US" altLang="zh-CN"/>
          </a:p>
        </p:txBody>
      </p:sp>
    </p:spTree>
    <p:extLst>
      <p:ext uri="{BB962C8B-B14F-4D97-AF65-F5344CB8AC3E}">
        <p14:creationId xmlns:p14="http://schemas.microsoft.com/office/powerpoint/2010/main" val="1782389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6C86595C-7DCA-4A33-ABBB-5B01042D330A}" type="slidenum">
              <a:rPr lang="en-US" altLang="zh-CN" smtClean="0"/>
              <a:pPr/>
              <a:t>‹#›</a:t>
            </a:fld>
            <a:endParaRPr lang="en-US" altLang="zh-CN"/>
          </a:p>
        </p:txBody>
      </p:sp>
    </p:spTree>
    <p:extLst>
      <p:ext uri="{BB962C8B-B14F-4D97-AF65-F5344CB8AC3E}">
        <p14:creationId xmlns:p14="http://schemas.microsoft.com/office/powerpoint/2010/main" val="146804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7EAE282D-F827-4FD3-8FC7-EB2EC3FC4968}" type="slidenum">
              <a:rPr lang="en-US" altLang="zh-CN" smtClean="0"/>
              <a:pPr/>
              <a:t>‹#›</a:t>
            </a:fld>
            <a:endParaRPr lang="en-US" altLang="zh-CN"/>
          </a:p>
        </p:txBody>
      </p:sp>
    </p:spTree>
    <p:extLst>
      <p:ext uri="{BB962C8B-B14F-4D97-AF65-F5344CB8AC3E}">
        <p14:creationId xmlns:p14="http://schemas.microsoft.com/office/powerpoint/2010/main" val="2291126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23A0B03D-C809-49BA-8C3B-B760B3197A61}" type="slidenum">
              <a:rPr lang="en-US" altLang="zh-CN" smtClean="0"/>
              <a:pPr/>
              <a:t>‹#›</a:t>
            </a:fld>
            <a:endParaRPr lang="en-US" altLang="zh-CN"/>
          </a:p>
        </p:txBody>
      </p:sp>
    </p:spTree>
    <p:extLst>
      <p:ext uri="{BB962C8B-B14F-4D97-AF65-F5344CB8AC3E}">
        <p14:creationId xmlns:p14="http://schemas.microsoft.com/office/powerpoint/2010/main" val="1459379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63DC55-8458-4859-B4F4-EA1B54054705}"/>
              </a:ext>
            </a:extLst>
          </p:cNvPr>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C0B6C93-2FB0-434B-B1C9-0E12A63B9F00}"/>
              </a:ext>
            </a:extLst>
          </p:cNvPr>
          <p:cNvSpPr>
            <a:spLocks noGrp="1"/>
          </p:cNvSpPr>
          <p:nvPr>
            <p:ph type="body" sz="half" idx="1"/>
          </p:nvPr>
        </p:nvSpPr>
        <p:spPr>
          <a:xfrm>
            <a:off x="11826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DBB76C2-307E-4333-8281-4B76D00A47C7}"/>
              </a:ext>
            </a:extLst>
          </p:cNvPr>
          <p:cNvSpPr>
            <a:spLocks noGrp="1"/>
          </p:cNvSpPr>
          <p:nvPr>
            <p:ph sz="half" idx="2"/>
          </p:nvPr>
        </p:nvSpPr>
        <p:spPr>
          <a:xfrm>
            <a:off x="51450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C8D3CA9E-D90D-410B-B2DC-93546EFE961C}"/>
              </a:ext>
            </a:extLst>
          </p:cNvPr>
          <p:cNvSpPr>
            <a:spLocks noGrp="1"/>
          </p:cNvSpPr>
          <p:nvPr>
            <p:ph type="dt" sz="half" idx="10"/>
          </p:nvPr>
        </p:nvSpPr>
        <p:spPr>
          <a:xfrm>
            <a:off x="1162050" y="6243638"/>
            <a:ext cx="1905000" cy="45720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AFB2E7CF-CE98-4065-BB83-1A996C83934D}"/>
              </a:ext>
            </a:extLst>
          </p:cNvPr>
          <p:cNvSpPr>
            <a:spLocks noGrp="1"/>
          </p:cNvSpPr>
          <p:nvPr>
            <p:ph type="ftr" sz="quarter" idx="11"/>
          </p:nvPr>
        </p:nvSpPr>
        <p:spPr>
          <a:xfrm>
            <a:off x="3657600" y="6243638"/>
            <a:ext cx="2895600" cy="45720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C755E91-2A5B-47BA-A495-7102BCA42FCC}"/>
              </a:ext>
            </a:extLst>
          </p:cNvPr>
          <p:cNvSpPr>
            <a:spLocks noGrp="1"/>
          </p:cNvSpPr>
          <p:nvPr>
            <p:ph type="sldNum" sz="quarter" idx="12"/>
          </p:nvPr>
        </p:nvSpPr>
        <p:spPr>
          <a:xfrm>
            <a:off x="7042150" y="6243638"/>
            <a:ext cx="1905000" cy="457200"/>
          </a:xfrm>
        </p:spPr>
        <p:txBody>
          <a:bodyPr/>
          <a:lstStyle>
            <a:lvl1pPr>
              <a:defRPr/>
            </a:lvl1pPr>
          </a:lstStyle>
          <a:p>
            <a:fld id="{57A00779-703D-491C-A195-6D71D336768C}" type="slidenum">
              <a:rPr lang="en-US" altLang="zh-CN"/>
              <a:pPr/>
              <a:t>‹#›</a:t>
            </a:fld>
            <a:endParaRPr lang="en-US" altLang="zh-CN"/>
          </a:p>
        </p:txBody>
      </p:sp>
    </p:spTree>
    <p:extLst>
      <p:ext uri="{BB962C8B-B14F-4D97-AF65-F5344CB8AC3E}">
        <p14:creationId xmlns:p14="http://schemas.microsoft.com/office/powerpoint/2010/main" val="3348439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5F5AE0-D0FD-44B5-B82B-A95D29B47B75}"/>
              </a:ext>
            </a:extLst>
          </p:cNvPr>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7E49427-1311-4D05-92BB-A8E8FB405906}"/>
              </a:ext>
            </a:extLst>
          </p:cNvPr>
          <p:cNvSpPr>
            <a:spLocks noGrp="1"/>
          </p:cNvSpPr>
          <p:nvPr>
            <p:ph type="body" sz="half" idx="1"/>
          </p:nvPr>
        </p:nvSpPr>
        <p:spPr>
          <a:xfrm>
            <a:off x="11826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5406B90C-CFA7-488B-81F1-2C7B96C53426}"/>
              </a:ext>
            </a:extLst>
          </p:cNvPr>
          <p:cNvSpPr>
            <a:spLocks noGrp="1"/>
          </p:cNvSpPr>
          <p:nvPr>
            <p:ph sz="quarter" idx="2"/>
          </p:nvPr>
        </p:nvSpPr>
        <p:spPr>
          <a:xfrm>
            <a:off x="5145088" y="2017713"/>
            <a:ext cx="3810000" cy="1981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a:extLst>
              <a:ext uri="{FF2B5EF4-FFF2-40B4-BE49-F238E27FC236}">
                <a16:creationId xmlns:a16="http://schemas.microsoft.com/office/drawing/2014/main" id="{8E53EB17-845F-49D0-A621-FC5D68B63FFF}"/>
              </a:ext>
            </a:extLst>
          </p:cNvPr>
          <p:cNvSpPr>
            <a:spLocks noGrp="1"/>
          </p:cNvSpPr>
          <p:nvPr>
            <p:ph sz="quarter" idx="3"/>
          </p:nvPr>
        </p:nvSpPr>
        <p:spPr>
          <a:xfrm>
            <a:off x="5145088" y="4151313"/>
            <a:ext cx="3810000" cy="1981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a:extLst>
              <a:ext uri="{FF2B5EF4-FFF2-40B4-BE49-F238E27FC236}">
                <a16:creationId xmlns:a16="http://schemas.microsoft.com/office/drawing/2014/main" id="{47451B21-603E-41E1-9A59-4F6CE8DA0A6F}"/>
              </a:ext>
            </a:extLst>
          </p:cNvPr>
          <p:cNvSpPr>
            <a:spLocks noGrp="1"/>
          </p:cNvSpPr>
          <p:nvPr>
            <p:ph type="dt" sz="half" idx="10"/>
          </p:nvPr>
        </p:nvSpPr>
        <p:spPr>
          <a:xfrm>
            <a:off x="1162050" y="6243638"/>
            <a:ext cx="1905000" cy="457200"/>
          </a:xfrm>
        </p:spPr>
        <p:txBody>
          <a:bodyPr/>
          <a:lstStyle>
            <a:lvl1pPr>
              <a:defRPr/>
            </a:lvl1pPr>
          </a:lstStyle>
          <a:p>
            <a:endParaRPr lang="en-US" altLang="zh-CN"/>
          </a:p>
        </p:txBody>
      </p:sp>
      <p:sp>
        <p:nvSpPr>
          <p:cNvPr id="7" name="页脚占位符 6">
            <a:extLst>
              <a:ext uri="{FF2B5EF4-FFF2-40B4-BE49-F238E27FC236}">
                <a16:creationId xmlns:a16="http://schemas.microsoft.com/office/drawing/2014/main" id="{D35EF94B-5C92-418D-87C5-7F773440FF9C}"/>
              </a:ext>
            </a:extLst>
          </p:cNvPr>
          <p:cNvSpPr>
            <a:spLocks noGrp="1"/>
          </p:cNvSpPr>
          <p:nvPr>
            <p:ph type="ftr" sz="quarter" idx="11"/>
          </p:nvPr>
        </p:nvSpPr>
        <p:spPr>
          <a:xfrm>
            <a:off x="3657600" y="6243638"/>
            <a:ext cx="2895600" cy="457200"/>
          </a:xfrm>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2D49DA04-853C-42C1-B171-DA086BB47C16}"/>
              </a:ext>
            </a:extLst>
          </p:cNvPr>
          <p:cNvSpPr>
            <a:spLocks noGrp="1"/>
          </p:cNvSpPr>
          <p:nvPr>
            <p:ph type="sldNum" sz="quarter" idx="12"/>
          </p:nvPr>
        </p:nvSpPr>
        <p:spPr>
          <a:xfrm>
            <a:off x="7042150" y="6243638"/>
            <a:ext cx="1905000" cy="457200"/>
          </a:xfrm>
        </p:spPr>
        <p:txBody>
          <a:bodyPr/>
          <a:lstStyle>
            <a:lvl1pPr>
              <a:defRPr/>
            </a:lvl1pPr>
          </a:lstStyle>
          <a:p>
            <a:fld id="{344806D8-AFB3-4748-9919-29CB29F933C2}" type="slidenum">
              <a:rPr lang="en-US" altLang="zh-CN"/>
              <a:pPr/>
              <a:t>‹#›</a:t>
            </a:fld>
            <a:endParaRPr lang="en-US" altLang="zh-CN"/>
          </a:p>
        </p:txBody>
      </p:sp>
    </p:spTree>
    <p:extLst>
      <p:ext uri="{BB962C8B-B14F-4D97-AF65-F5344CB8AC3E}">
        <p14:creationId xmlns:p14="http://schemas.microsoft.com/office/powerpoint/2010/main" val="3992498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E5B3AE-F22E-4FAF-BC3D-2BD2381403C7}" type="slidenum">
              <a:rPr lang="en-US" altLang="zh-CN" smtClean="0"/>
              <a:pPr/>
              <a:t>‹#›</a:t>
            </a:fld>
            <a:endParaRPr lang="en-US" altLang="zh-CN"/>
          </a:p>
        </p:txBody>
      </p:sp>
    </p:spTree>
    <p:extLst>
      <p:ext uri="{BB962C8B-B14F-4D97-AF65-F5344CB8AC3E}">
        <p14:creationId xmlns:p14="http://schemas.microsoft.com/office/powerpoint/2010/main" val="252159003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3.wmf"/><Relationship Id="rId5" Type="http://schemas.openxmlformats.org/officeDocument/2006/relationships/oleObject" Target="../embeddings/oleObject7.bin"/><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4.bin"/><Relationship Id="rId18" Type="http://schemas.openxmlformats.org/officeDocument/2006/relationships/image" Target="../media/image22.w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9.wmf"/><Relationship Id="rId17" Type="http://schemas.openxmlformats.org/officeDocument/2006/relationships/oleObject" Target="../embeddings/oleObject16.bin"/><Relationship Id="rId2" Type="http://schemas.openxmlformats.org/officeDocument/2006/relationships/slideLayout" Target="../slideLayouts/slideLayout7.xml"/><Relationship Id="rId16" Type="http://schemas.openxmlformats.org/officeDocument/2006/relationships/image" Target="../media/image21.wmf"/><Relationship Id="rId1" Type="http://schemas.openxmlformats.org/officeDocument/2006/relationships/vmlDrawing" Target="../drawings/vmlDrawing3.vml"/><Relationship Id="rId6" Type="http://schemas.openxmlformats.org/officeDocument/2006/relationships/image" Target="../media/image16.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oleObject" Target="../embeddings/oleObject15.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2.bin"/><Relationship Id="rId14" Type="http://schemas.openxmlformats.org/officeDocument/2006/relationships/image" Target="../media/image20.wmf"/></Relationships>
</file>

<file path=ppt/slides/_rels/slide10.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22.bin"/><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21.wmf"/><Relationship Id="rId2" Type="http://schemas.openxmlformats.org/officeDocument/2006/relationships/slideLayout" Target="../slideLayouts/slideLayout7.xml"/><Relationship Id="rId16" Type="http://schemas.openxmlformats.org/officeDocument/2006/relationships/image" Target="../media/image27.wmf"/><Relationship Id="rId1" Type="http://schemas.openxmlformats.org/officeDocument/2006/relationships/vmlDrawing" Target="../drawings/vmlDrawing4.vml"/><Relationship Id="rId6" Type="http://schemas.openxmlformats.org/officeDocument/2006/relationships/image" Target="../media/image24.w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oleObject" Target="../embeddings/oleObject23.bin"/><Relationship Id="rId10" Type="http://schemas.openxmlformats.org/officeDocument/2006/relationships/image" Target="../media/image20.wmf"/><Relationship Id="rId4" Type="http://schemas.openxmlformats.org/officeDocument/2006/relationships/image" Target="../media/image23.wmf"/><Relationship Id="rId9" Type="http://schemas.openxmlformats.org/officeDocument/2006/relationships/oleObject" Target="../embeddings/oleObject20.bin"/><Relationship Id="rId14" Type="http://schemas.openxmlformats.org/officeDocument/2006/relationships/image" Target="../media/image26.emf"/></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34.wmf"/><Relationship Id="rId7" Type="http://schemas.openxmlformats.org/officeDocument/2006/relationships/image" Target="../media/image31.wmf"/><Relationship Id="rId12" Type="http://schemas.openxmlformats.org/officeDocument/2006/relationships/image" Target="../media/image37.png"/><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oleObject" Target="../embeddings/oleObject24.bin"/><Relationship Id="rId11" Type="http://schemas.openxmlformats.org/officeDocument/2006/relationships/image" Target="../media/image33.wmf"/><Relationship Id="rId5" Type="http://schemas.openxmlformats.org/officeDocument/2006/relationships/image" Target="../media/image36.wmf"/><Relationship Id="rId10" Type="http://schemas.openxmlformats.org/officeDocument/2006/relationships/oleObject" Target="../embeddings/oleObject26.bin"/><Relationship Id="rId4" Type="http://schemas.openxmlformats.org/officeDocument/2006/relationships/image" Target="../media/image35.wmf"/><Relationship Id="rId9" Type="http://schemas.openxmlformats.org/officeDocument/2006/relationships/image" Target="../media/image3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33.wmf"/></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39.png"/><Relationship Id="rId7"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0.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33.bin"/><Relationship Id="rId18" Type="http://schemas.openxmlformats.org/officeDocument/2006/relationships/image" Target="../media/image49.wmf"/><Relationship Id="rId3" Type="http://schemas.openxmlformats.org/officeDocument/2006/relationships/oleObject" Target="../embeddings/oleObject28.bin"/><Relationship Id="rId21" Type="http://schemas.openxmlformats.org/officeDocument/2006/relationships/oleObject" Target="../embeddings/oleObject37.bin"/><Relationship Id="rId7" Type="http://schemas.openxmlformats.org/officeDocument/2006/relationships/oleObject" Target="../embeddings/oleObject30.bin"/><Relationship Id="rId12" Type="http://schemas.openxmlformats.org/officeDocument/2006/relationships/image" Target="../media/image46.wmf"/><Relationship Id="rId17" Type="http://schemas.openxmlformats.org/officeDocument/2006/relationships/oleObject" Target="../embeddings/oleObject35.bin"/><Relationship Id="rId2" Type="http://schemas.openxmlformats.org/officeDocument/2006/relationships/slideLayout" Target="../slideLayouts/slideLayout4.xml"/><Relationship Id="rId16" Type="http://schemas.openxmlformats.org/officeDocument/2006/relationships/image" Target="../media/image48.wmf"/><Relationship Id="rId20" Type="http://schemas.openxmlformats.org/officeDocument/2006/relationships/image" Target="../media/image50.wmf"/><Relationship Id="rId1" Type="http://schemas.openxmlformats.org/officeDocument/2006/relationships/vmlDrawing" Target="../drawings/vmlDrawing7.vml"/><Relationship Id="rId6" Type="http://schemas.openxmlformats.org/officeDocument/2006/relationships/image" Target="../media/image43.wmf"/><Relationship Id="rId11" Type="http://schemas.openxmlformats.org/officeDocument/2006/relationships/oleObject" Target="../embeddings/oleObject32.bin"/><Relationship Id="rId5" Type="http://schemas.openxmlformats.org/officeDocument/2006/relationships/oleObject" Target="../embeddings/oleObject29.bin"/><Relationship Id="rId15" Type="http://schemas.openxmlformats.org/officeDocument/2006/relationships/oleObject" Target="../embeddings/oleObject34.bin"/><Relationship Id="rId10" Type="http://schemas.openxmlformats.org/officeDocument/2006/relationships/image" Target="../media/image45.wmf"/><Relationship Id="rId19" Type="http://schemas.openxmlformats.org/officeDocument/2006/relationships/oleObject" Target="../embeddings/oleObject36.bin"/><Relationship Id="rId4" Type="http://schemas.openxmlformats.org/officeDocument/2006/relationships/image" Target="../media/image42.wmf"/><Relationship Id="rId9" Type="http://schemas.openxmlformats.org/officeDocument/2006/relationships/oleObject" Target="../embeddings/oleObject31.bin"/><Relationship Id="rId14" Type="http://schemas.openxmlformats.org/officeDocument/2006/relationships/image" Target="../media/image47.wmf"/><Relationship Id="rId22" Type="http://schemas.openxmlformats.org/officeDocument/2006/relationships/image" Target="../media/image51.wmf"/></Relationships>
</file>

<file path=ppt/slides/_rels/slide21.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oleObject" Target="../embeddings/oleObject43.bin"/><Relationship Id="rId18" Type="http://schemas.openxmlformats.org/officeDocument/2006/relationships/image" Target="../media/image58.wmf"/><Relationship Id="rId3" Type="http://schemas.openxmlformats.org/officeDocument/2006/relationships/oleObject" Target="../embeddings/oleObject38.bin"/><Relationship Id="rId21" Type="http://schemas.openxmlformats.org/officeDocument/2006/relationships/oleObject" Target="../embeddings/oleObject47.bin"/><Relationship Id="rId7" Type="http://schemas.openxmlformats.org/officeDocument/2006/relationships/oleObject" Target="../embeddings/oleObject40.bin"/><Relationship Id="rId12" Type="http://schemas.openxmlformats.org/officeDocument/2006/relationships/image" Target="../media/image55.wmf"/><Relationship Id="rId17" Type="http://schemas.openxmlformats.org/officeDocument/2006/relationships/oleObject" Target="../embeddings/oleObject45.bin"/><Relationship Id="rId2" Type="http://schemas.openxmlformats.org/officeDocument/2006/relationships/slideLayout" Target="../slideLayouts/slideLayout7.xml"/><Relationship Id="rId16" Type="http://schemas.openxmlformats.org/officeDocument/2006/relationships/image" Target="../media/image57.wmf"/><Relationship Id="rId20" Type="http://schemas.openxmlformats.org/officeDocument/2006/relationships/image" Target="../media/image59.wmf"/><Relationship Id="rId1" Type="http://schemas.openxmlformats.org/officeDocument/2006/relationships/vmlDrawing" Target="../drawings/vmlDrawing8.vml"/><Relationship Id="rId6" Type="http://schemas.openxmlformats.org/officeDocument/2006/relationships/image" Target="../media/image51.wmf"/><Relationship Id="rId11" Type="http://schemas.openxmlformats.org/officeDocument/2006/relationships/oleObject" Target="../embeddings/oleObject42.bin"/><Relationship Id="rId24" Type="http://schemas.openxmlformats.org/officeDocument/2006/relationships/image" Target="../media/image61.wmf"/><Relationship Id="rId5" Type="http://schemas.openxmlformats.org/officeDocument/2006/relationships/oleObject" Target="../embeddings/oleObject39.bin"/><Relationship Id="rId15" Type="http://schemas.openxmlformats.org/officeDocument/2006/relationships/oleObject" Target="../embeddings/oleObject44.bin"/><Relationship Id="rId23" Type="http://schemas.openxmlformats.org/officeDocument/2006/relationships/oleObject" Target="../embeddings/oleObject48.bin"/><Relationship Id="rId10" Type="http://schemas.openxmlformats.org/officeDocument/2006/relationships/image" Target="../media/image54.wmf"/><Relationship Id="rId19" Type="http://schemas.openxmlformats.org/officeDocument/2006/relationships/oleObject" Target="../embeddings/oleObject46.bin"/><Relationship Id="rId4" Type="http://schemas.openxmlformats.org/officeDocument/2006/relationships/image" Target="../media/image52.wmf"/><Relationship Id="rId9" Type="http://schemas.openxmlformats.org/officeDocument/2006/relationships/oleObject" Target="../embeddings/oleObject41.bin"/><Relationship Id="rId14" Type="http://schemas.openxmlformats.org/officeDocument/2006/relationships/image" Target="../media/image56.wmf"/><Relationship Id="rId22" Type="http://schemas.openxmlformats.org/officeDocument/2006/relationships/image" Target="../media/image60.wmf"/></Relationships>
</file>

<file path=ppt/slides/_rels/slide22.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54.bin"/><Relationship Id="rId18" Type="http://schemas.openxmlformats.org/officeDocument/2006/relationships/image" Target="../media/image68.wmf"/><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65.wmf"/><Relationship Id="rId17" Type="http://schemas.openxmlformats.org/officeDocument/2006/relationships/oleObject" Target="../embeddings/oleObject56.bin"/><Relationship Id="rId2" Type="http://schemas.openxmlformats.org/officeDocument/2006/relationships/slideLayout" Target="../slideLayouts/slideLayout7.xml"/><Relationship Id="rId16" Type="http://schemas.openxmlformats.org/officeDocument/2006/relationships/image" Target="../media/image67.wmf"/><Relationship Id="rId1" Type="http://schemas.openxmlformats.org/officeDocument/2006/relationships/vmlDrawing" Target="../drawings/vmlDrawing9.vml"/><Relationship Id="rId6" Type="http://schemas.openxmlformats.org/officeDocument/2006/relationships/image" Target="../media/image62.wmf"/><Relationship Id="rId11" Type="http://schemas.openxmlformats.org/officeDocument/2006/relationships/oleObject" Target="../embeddings/oleObject53.bin"/><Relationship Id="rId5" Type="http://schemas.openxmlformats.org/officeDocument/2006/relationships/oleObject" Target="../embeddings/oleObject50.bin"/><Relationship Id="rId15" Type="http://schemas.openxmlformats.org/officeDocument/2006/relationships/oleObject" Target="../embeddings/oleObject55.bin"/><Relationship Id="rId10" Type="http://schemas.openxmlformats.org/officeDocument/2006/relationships/image" Target="../media/image64.wmf"/><Relationship Id="rId4" Type="http://schemas.openxmlformats.org/officeDocument/2006/relationships/image" Target="../media/image51.wmf"/><Relationship Id="rId9" Type="http://schemas.openxmlformats.org/officeDocument/2006/relationships/oleObject" Target="../embeddings/oleObject52.bin"/><Relationship Id="rId14" Type="http://schemas.openxmlformats.org/officeDocument/2006/relationships/image" Target="../media/image66.wmf"/></Relationships>
</file>

<file path=ppt/slides/_rels/slide2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7.xml"/><Relationship Id="rId4" Type="http://schemas.openxmlformats.org/officeDocument/2006/relationships/image" Target="../media/image71.jpeg"/></Relationships>
</file>

<file path=ppt/slides/_rels/slide2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image" Target="../media/image80.png"/><Relationship Id="rId7"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78.wmf"/><Relationship Id="rId5" Type="http://schemas.openxmlformats.org/officeDocument/2006/relationships/oleObject" Target="../embeddings/oleObject57.bin"/><Relationship Id="rId4" Type="http://schemas.microsoft.com/office/2007/relationships/hdphoto" Target="../media/hdphoto4.wdp"/></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9.bin"/><Relationship Id="rId7" Type="http://schemas.openxmlformats.org/officeDocument/2006/relationships/image" Target="../media/image82.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60.bin"/><Relationship Id="rId5" Type="http://schemas.openxmlformats.org/officeDocument/2006/relationships/image" Target="../media/image83.png"/><Relationship Id="rId4" Type="http://schemas.openxmlformats.org/officeDocument/2006/relationships/image" Target="../media/image81.wmf"/></Relationships>
</file>

<file path=ppt/slides/_rels/slide3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85.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87.wmf"/><Relationship Id="rId5" Type="http://schemas.openxmlformats.org/officeDocument/2006/relationships/oleObject" Target="../embeddings/oleObject63.bin"/><Relationship Id="rId4" Type="http://schemas.openxmlformats.org/officeDocument/2006/relationships/image" Target="../media/image86.wmf"/></Relationships>
</file>

<file path=ppt/slides/_rels/slide35.xml.rels><?xml version="1.0" encoding="UTF-8" standalone="yes"?>
<Relationships xmlns="http://schemas.openxmlformats.org/package/2006/relationships"><Relationship Id="rId2" Type="http://schemas.openxmlformats.org/officeDocument/2006/relationships/image" Target="../media/image88.tif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94.emf"/><Relationship Id="rId13" Type="http://schemas.openxmlformats.org/officeDocument/2006/relationships/oleObject" Target="../embeddings/oleObject69.bin"/><Relationship Id="rId3" Type="http://schemas.openxmlformats.org/officeDocument/2006/relationships/oleObject" Target="../embeddings/oleObject64.bin"/><Relationship Id="rId7" Type="http://schemas.openxmlformats.org/officeDocument/2006/relationships/oleObject" Target="../embeddings/oleObject66.bin"/><Relationship Id="rId12" Type="http://schemas.openxmlformats.org/officeDocument/2006/relationships/image" Target="../media/image96.e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93.emf"/><Relationship Id="rId11" Type="http://schemas.openxmlformats.org/officeDocument/2006/relationships/oleObject" Target="../embeddings/oleObject68.bin"/><Relationship Id="rId5" Type="http://schemas.openxmlformats.org/officeDocument/2006/relationships/oleObject" Target="../embeddings/oleObject65.bin"/><Relationship Id="rId10" Type="http://schemas.openxmlformats.org/officeDocument/2006/relationships/image" Target="../media/image95.emf"/><Relationship Id="rId4" Type="http://schemas.openxmlformats.org/officeDocument/2006/relationships/image" Target="../media/image92.emf"/><Relationship Id="rId9" Type="http://schemas.openxmlformats.org/officeDocument/2006/relationships/oleObject" Target="../embeddings/oleObject67.bin"/><Relationship Id="rId14" Type="http://schemas.openxmlformats.org/officeDocument/2006/relationships/image" Target="../media/image97.emf"/></Relationships>
</file>

<file path=ppt/slides/_rels/slide41.xml.rels><?xml version="1.0" encoding="UTF-8" standalone="yes"?>
<Relationships xmlns="http://schemas.openxmlformats.org/package/2006/relationships"><Relationship Id="rId8" Type="http://schemas.openxmlformats.org/officeDocument/2006/relationships/image" Target="../media/image100.e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99.wmf"/><Relationship Id="rId5" Type="http://schemas.openxmlformats.org/officeDocument/2006/relationships/oleObject" Target="../embeddings/oleObject71.bin"/><Relationship Id="rId4" Type="http://schemas.openxmlformats.org/officeDocument/2006/relationships/image" Target="../media/image98.wmf"/></Relationships>
</file>

<file path=ppt/slides/_rels/slide42.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102.wmf"/><Relationship Id="rId5" Type="http://schemas.openxmlformats.org/officeDocument/2006/relationships/oleObject" Target="../embeddings/oleObject74.bin"/><Relationship Id="rId10" Type="http://schemas.openxmlformats.org/officeDocument/2006/relationships/image" Target="../media/image104.wmf"/><Relationship Id="rId4" Type="http://schemas.openxmlformats.org/officeDocument/2006/relationships/image" Target="../media/image101.wmf"/><Relationship Id="rId9" Type="http://schemas.openxmlformats.org/officeDocument/2006/relationships/oleObject" Target="../embeddings/oleObject76.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106.emf"/><Relationship Id="rId5" Type="http://schemas.openxmlformats.org/officeDocument/2006/relationships/oleObject" Target="../embeddings/oleObject78.bin"/><Relationship Id="rId4" Type="http://schemas.openxmlformats.org/officeDocument/2006/relationships/image" Target="../media/image105.emf"/></Relationships>
</file>

<file path=ppt/slides/_rels/slide44.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111.wmf"/><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image" Target="../media/image108.wmf"/><Relationship Id="rId11" Type="http://schemas.openxmlformats.org/officeDocument/2006/relationships/oleObject" Target="../embeddings/oleObject83.bin"/><Relationship Id="rId5" Type="http://schemas.openxmlformats.org/officeDocument/2006/relationships/oleObject" Target="../embeddings/oleObject80.bin"/><Relationship Id="rId10" Type="http://schemas.openxmlformats.org/officeDocument/2006/relationships/image" Target="../media/image110.wmf"/><Relationship Id="rId4" Type="http://schemas.openxmlformats.org/officeDocument/2006/relationships/image" Target="../media/image107.wmf"/><Relationship Id="rId9" Type="http://schemas.openxmlformats.org/officeDocument/2006/relationships/oleObject" Target="../embeddings/oleObject82.bin"/></Relationships>
</file>

<file path=ppt/slides/_rels/slide45.x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image" Target="../media/image116.wmf"/><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image" Target="../media/image113.wmf"/><Relationship Id="rId11" Type="http://schemas.openxmlformats.org/officeDocument/2006/relationships/oleObject" Target="../embeddings/oleObject88.bin"/><Relationship Id="rId5" Type="http://schemas.openxmlformats.org/officeDocument/2006/relationships/oleObject" Target="../embeddings/oleObject85.bin"/><Relationship Id="rId10" Type="http://schemas.openxmlformats.org/officeDocument/2006/relationships/image" Target="../media/image115.wmf"/><Relationship Id="rId4" Type="http://schemas.openxmlformats.org/officeDocument/2006/relationships/image" Target="../media/image112.wmf"/><Relationship Id="rId9" Type="http://schemas.openxmlformats.org/officeDocument/2006/relationships/oleObject" Target="../embeddings/oleObject87.bin"/></Relationships>
</file>

<file path=ppt/slides/_rels/slide46.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89.bin"/><Relationship Id="rId7" Type="http://schemas.openxmlformats.org/officeDocument/2006/relationships/oleObject" Target="../embeddings/oleObject91.bin"/><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image" Target="../media/image118.wmf"/><Relationship Id="rId5" Type="http://schemas.openxmlformats.org/officeDocument/2006/relationships/oleObject" Target="../embeddings/oleObject90.bin"/><Relationship Id="rId4" Type="http://schemas.openxmlformats.org/officeDocument/2006/relationships/image" Target="../media/image117.wmf"/></Relationships>
</file>

<file path=ppt/slides/_rels/slide47.xml.rels><?xml version="1.0" encoding="UTF-8" standalone="yes"?>
<Relationships xmlns="http://schemas.openxmlformats.org/package/2006/relationships"><Relationship Id="rId8" Type="http://schemas.openxmlformats.org/officeDocument/2006/relationships/image" Target="../media/image122.wmf"/><Relationship Id="rId13" Type="http://schemas.openxmlformats.org/officeDocument/2006/relationships/oleObject" Target="../embeddings/oleObject97.bin"/><Relationship Id="rId18" Type="http://schemas.openxmlformats.org/officeDocument/2006/relationships/image" Target="../media/image126.wmf"/><Relationship Id="rId3" Type="http://schemas.openxmlformats.org/officeDocument/2006/relationships/oleObject" Target="../embeddings/oleObject92.bin"/><Relationship Id="rId21" Type="http://schemas.openxmlformats.org/officeDocument/2006/relationships/oleObject" Target="../embeddings/oleObject101.bin"/><Relationship Id="rId7" Type="http://schemas.openxmlformats.org/officeDocument/2006/relationships/oleObject" Target="../embeddings/oleObject94.bin"/><Relationship Id="rId12" Type="http://schemas.openxmlformats.org/officeDocument/2006/relationships/image" Target="../media/image123.wmf"/><Relationship Id="rId17" Type="http://schemas.openxmlformats.org/officeDocument/2006/relationships/oleObject" Target="../embeddings/oleObject99.bin"/><Relationship Id="rId2" Type="http://schemas.openxmlformats.org/officeDocument/2006/relationships/slideLayout" Target="../slideLayouts/slideLayout4.xml"/><Relationship Id="rId16" Type="http://schemas.openxmlformats.org/officeDocument/2006/relationships/image" Target="../media/image125.wmf"/><Relationship Id="rId20" Type="http://schemas.openxmlformats.org/officeDocument/2006/relationships/image" Target="../media/image127.wmf"/><Relationship Id="rId1" Type="http://schemas.openxmlformats.org/officeDocument/2006/relationships/vmlDrawing" Target="../drawings/vmlDrawing21.vml"/><Relationship Id="rId6" Type="http://schemas.openxmlformats.org/officeDocument/2006/relationships/image" Target="../media/image121.wmf"/><Relationship Id="rId11" Type="http://schemas.openxmlformats.org/officeDocument/2006/relationships/oleObject" Target="../embeddings/oleObject96.bin"/><Relationship Id="rId5" Type="http://schemas.openxmlformats.org/officeDocument/2006/relationships/oleObject" Target="../embeddings/oleObject93.bin"/><Relationship Id="rId15" Type="http://schemas.openxmlformats.org/officeDocument/2006/relationships/oleObject" Target="../embeddings/oleObject98.bin"/><Relationship Id="rId10" Type="http://schemas.openxmlformats.org/officeDocument/2006/relationships/image" Target="../media/image118.wmf"/><Relationship Id="rId19" Type="http://schemas.openxmlformats.org/officeDocument/2006/relationships/oleObject" Target="../embeddings/oleObject100.bin"/><Relationship Id="rId4" Type="http://schemas.openxmlformats.org/officeDocument/2006/relationships/image" Target="../media/image120.wmf"/><Relationship Id="rId9" Type="http://schemas.openxmlformats.org/officeDocument/2006/relationships/oleObject" Target="../embeddings/oleObject95.bin"/><Relationship Id="rId14" Type="http://schemas.openxmlformats.org/officeDocument/2006/relationships/image" Target="../media/image124.wmf"/><Relationship Id="rId22" Type="http://schemas.openxmlformats.org/officeDocument/2006/relationships/image" Target="../media/image128.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image" Target="../media/image88.tiff"/><Relationship Id="rId4" Type="http://schemas.openxmlformats.org/officeDocument/2006/relationships/image" Target="../media/image129.wmf"/></Relationships>
</file>

<file path=ppt/slides/_rels/slide50.xml.rels><?xml version="1.0" encoding="UTF-8" standalone="yes"?>
<Relationships xmlns="http://schemas.openxmlformats.org/package/2006/relationships"><Relationship Id="rId2" Type="http://schemas.openxmlformats.org/officeDocument/2006/relationships/image" Target="../media/image130.w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1.emf"/><Relationship Id="rId2" Type="http://schemas.openxmlformats.org/officeDocument/2006/relationships/image" Target="../media/image130.w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134.wmf"/><Relationship Id="rId13" Type="http://schemas.openxmlformats.org/officeDocument/2006/relationships/oleObject" Target="../embeddings/oleObject108.bin"/><Relationship Id="rId3" Type="http://schemas.openxmlformats.org/officeDocument/2006/relationships/oleObject" Target="../embeddings/oleObject103.bin"/><Relationship Id="rId7" Type="http://schemas.openxmlformats.org/officeDocument/2006/relationships/oleObject" Target="../embeddings/oleObject105.bin"/><Relationship Id="rId12" Type="http://schemas.openxmlformats.org/officeDocument/2006/relationships/image" Target="../media/image136.wmf"/><Relationship Id="rId2" Type="http://schemas.openxmlformats.org/officeDocument/2006/relationships/slideLayout" Target="../slideLayouts/slideLayout4.xml"/><Relationship Id="rId1" Type="http://schemas.openxmlformats.org/officeDocument/2006/relationships/vmlDrawing" Target="../drawings/vmlDrawing23.vml"/><Relationship Id="rId6" Type="http://schemas.openxmlformats.org/officeDocument/2006/relationships/image" Target="../media/image116.wmf"/><Relationship Id="rId11" Type="http://schemas.openxmlformats.org/officeDocument/2006/relationships/oleObject" Target="../embeddings/oleObject107.bin"/><Relationship Id="rId5" Type="http://schemas.openxmlformats.org/officeDocument/2006/relationships/oleObject" Target="../embeddings/oleObject104.bin"/><Relationship Id="rId10" Type="http://schemas.openxmlformats.org/officeDocument/2006/relationships/image" Target="../media/image135.wmf"/><Relationship Id="rId4" Type="http://schemas.openxmlformats.org/officeDocument/2006/relationships/image" Target="../media/image133.wmf"/><Relationship Id="rId9" Type="http://schemas.openxmlformats.org/officeDocument/2006/relationships/oleObject" Target="../embeddings/oleObject106.bin"/><Relationship Id="rId14" Type="http://schemas.openxmlformats.org/officeDocument/2006/relationships/image" Target="../media/image137.wmf"/></Relationships>
</file>

<file path=ppt/slides/_rels/slide55.x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oleObject" Target="../embeddings/oleObject90.bin"/><Relationship Id="rId7" Type="http://schemas.openxmlformats.org/officeDocument/2006/relationships/oleObject" Target="../embeddings/oleObject109.bin"/><Relationship Id="rId2" Type="http://schemas.openxmlformats.org/officeDocument/2006/relationships/slideLayout" Target="../slideLayouts/slideLayout4.xml"/><Relationship Id="rId1" Type="http://schemas.openxmlformats.org/officeDocument/2006/relationships/vmlDrawing" Target="../drawings/vmlDrawing24.vml"/><Relationship Id="rId6" Type="http://schemas.openxmlformats.org/officeDocument/2006/relationships/image" Target="../media/image119.wmf"/><Relationship Id="rId5" Type="http://schemas.openxmlformats.org/officeDocument/2006/relationships/oleObject" Target="../embeddings/oleObject91.bin"/><Relationship Id="rId4" Type="http://schemas.openxmlformats.org/officeDocument/2006/relationships/image" Target="../media/image118.wmf"/><Relationship Id="rId9" Type="http://schemas.openxmlformats.org/officeDocument/2006/relationships/image" Target="../media/image139.png"/></Relationships>
</file>

<file path=ppt/slides/_rels/slide56.x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oleObject" Target="../embeddings/oleObject115.bin"/><Relationship Id="rId3" Type="http://schemas.openxmlformats.org/officeDocument/2006/relationships/oleObject" Target="../embeddings/oleObject110.bin"/><Relationship Id="rId7" Type="http://schemas.openxmlformats.org/officeDocument/2006/relationships/oleObject" Target="../embeddings/oleObject112.bin"/><Relationship Id="rId12" Type="http://schemas.openxmlformats.org/officeDocument/2006/relationships/image" Target="../media/image144.emf"/><Relationship Id="rId2" Type="http://schemas.openxmlformats.org/officeDocument/2006/relationships/slideLayout" Target="../slideLayouts/slideLayout4.xml"/><Relationship Id="rId1" Type="http://schemas.openxmlformats.org/officeDocument/2006/relationships/vmlDrawing" Target="../drawings/vmlDrawing25.vml"/><Relationship Id="rId6" Type="http://schemas.openxmlformats.org/officeDocument/2006/relationships/image" Target="../media/image141.wmf"/><Relationship Id="rId11" Type="http://schemas.openxmlformats.org/officeDocument/2006/relationships/oleObject" Target="../embeddings/oleObject114.bin"/><Relationship Id="rId5" Type="http://schemas.openxmlformats.org/officeDocument/2006/relationships/oleObject" Target="../embeddings/oleObject111.bin"/><Relationship Id="rId10" Type="http://schemas.openxmlformats.org/officeDocument/2006/relationships/image" Target="../media/image143.emf"/><Relationship Id="rId4" Type="http://schemas.openxmlformats.org/officeDocument/2006/relationships/image" Target="../media/image140.wmf"/><Relationship Id="rId9" Type="http://schemas.openxmlformats.org/officeDocument/2006/relationships/oleObject" Target="../embeddings/oleObject113.bin"/><Relationship Id="rId14" Type="http://schemas.openxmlformats.org/officeDocument/2006/relationships/image" Target="../media/image145.emf"/></Relationships>
</file>

<file path=ppt/slides/_rels/slide57.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slideLayout" Target="../slideLayouts/slideLayout7.xml"/><Relationship Id="rId4" Type="http://schemas.openxmlformats.org/officeDocument/2006/relationships/image" Target="../media/image149.wmf"/></Relationships>
</file>

<file path=ppt/slides/_rels/slide59.xml.rels><?xml version="1.0" encoding="UTF-8" standalone="yes"?>
<Relationships xmlns="http://schemas.openxmlformats.org/package/2006/relationships"><Relationship Id="rId8" Type="http://schemas.openxmlformats.org/officeDocument/2006/relationships/image" Target="../media/image156.emf"/><Relationship Id="rId3" Type="http://schemas.openxmlformats.org/officeDocument/2006/relationships/image" Target="../media/image151.wmf"/><Relationship Id="rId7" Type="http://schemas.openxmlformats.org/officeDocument/2006/relationships/image" Target="../media/image155.wmf"/><Relationship Id="rId2" Type="http://schemas.openxmlformats.org/officeDocument/2006/relationships/image" Target="../media/image150.wmf"/><Relationship Id="rId1" Type="http://schemas.openxmlformats.org/officeDocument/2006/relationships/slideLayout" Target="../slideLayouts/slideLayout7.xml"/><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52.wmf"/><Relationship Id="rId9" Type="http://schemas.openxmlformats.org/officeDocument/2006/relationships/image" Target="../media/image157.emf"/></Relationships>
</file>

<file path=ppt/slides/_rels/slide60.xml.rels><?xml version="1.0" encoding="UTF-8" standalone="yes"?>
<Relationships xmlns="http://schemas.openxmlformats.org/package/2006/relationships"><Relationship Id="rId8" Type="http://schemas.openxmlformats.org/officeDocument/2006/relationships/image" Target="../media/image160.wmf"/><Relationship Id="rId13" Type="http://schemas.openxmlformats.org/officeDocument/2006/relationships/oleObject" Target="../embeddings/oleObject121.bin"/><Relationship Id="rId18" Type="http://schemas.openxmlformats.org/officeDocument/2006/relationships/image" Target="../media/image164.emf"/><Relationship Id="rId3" Type="http://schemas.openxmlformats.org/officeDocument/2006/relationships/oleObject" Target="../embeddings/oleObject116.bin"/><Relationship Id="rId7" Type="http://schemas.openxmlformats.org/officeDocument/2006/relationships/oleObject" Target="../embeddings/oleObject118.bin"/><Relationship Id="rId12" Type="http://schemas.openxmlformats.org/officeDocument/2006/relationships/image" Target="../media/image161.emf"/><Relationship Id="rId17" Type="http://schemas.openxmlformats.org/officeDocument/2006/relationships/oleObject" Target="../embeddings/oleObject123.bin"/><Relationship Id="rId2" Type="http://schemas.openxmlformats.org/officeDocument/2006/relationships/slideLayout" Target="../slideLayouts/slideLayout7.xml"/><Relationship Id="rId16" Type="http://schemas.openxmlformats.org/officeDocument/2006/relationships/image" Target="../media/image163.emf"/><Relationship Id="rId20" Type="http://schemas.openxmlformats.org/officeDocument/2006/relationships/image" Target="../media/image165.wmf"/><Relationship Id="rId1" Type="http://schemas.openxmlformats.org/officeDocument/2006/relationships/vmlDrawing" Target="../drawings/vmlDrawing26.vml"/><Relationship Id="rId6" Type="http://schemas.openxmlformats.org/officeDocument/2006/relationships/image" Target="../media/image159.wmf"/><Relationship Id="rId11" Type="http://schemas.openxmlformats.org/officeDocument/2006/relationships/oleObject" Target="../embeddings/oleObject120.bin"/><Relationship Id="rId5" Type="http://schemas.openxmlformats.org/officeDocument/2006/relationships/oleObject" Target="../embeddings/oleObject117.bin"/><Relationship Id="rId15" Type="http://schemas.openxmlformats.org/officeDocument/2006/relationships/oleObject" Target="../embeddings/oleObject122.bin"/><Relationship Id="rId10" Type="http://schemas.openxmlformats.org/officeDocument/2006/relationships/image" Target="../media/image142.wmf"/><Relationship Id="rId19" Type="http://schemas.openxmlformats.org/officeDocument/2006/relationships/oleObject" Target="../embeddings/oleObject124.bin"/><Relationship Id="rId4" Type="http://schemas.openxmlformats.org/officeDocument/2006/relationships/image" Target="../media/image158.wmf"/><Relationship Id="rId9" Type="http://schemas.openxmlformats.org/officeDocument/2006/relationships/oleObject" Target="../embeddings/oleObject119.bin"/><Relationship Id="rId14" Type="http://schemas.openxmlformats.org/officeDocument/2006/relationships/image" Target="../media/image162.emf"/></Relationships>
</file>

<file path=ppt/slides/_rels/slide61.xml.rels><?xml version="1.0" encoding="UTF-8" standalone="yes"?>
<Relationships xmlns="http://schemas.openxmlformats.org/package/2006/relationships"><Relationship Id="rId2" Type="http://schemas.openxmlformats.org/officeDocument/2006/relationships/image" Target="../media/image166.w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Layout" Target="../slideLayouts/slideLayout4.xml"/><Relationship Id="rId1" Type="http://schemas.openxmlformats.org/officeDocument/2006/relationships/vmlDrawing" Target="../drawings/vmlDrawing27.vml"/><Relationship Id="rId6" Type="http://schemas.openxmlformats.org/officeDocument/2006/relationships/image" Target="../media/image168.emf"/><Relationship Id="rId5" Type="http://schemas.openxmlformats.org/officeDocument/2006/relationships/oleObject" Target="../embeddings/oleObject126.bin"/><Relationship Id="rId4" Type="http://schemas.openxmlformats.org/officeDocument/2006/relationships/image" Target="../media/image167.wmf"/></Relationships>
</file>

<file path=ppt/slides/_rels/slide63.xml.rels><?xml version="1.0" encoding="UTF-8" standalone="yes"?>
<Relationships xmlns="http://schemas.openxmlformats.org/package/2006/relationships"><Relationship Id="rId8" Type="http://schemas.openxmlformats.org/officeDocument/2006/relationships/image" Target="../media/image171.wmf"/><Relationship Id="rId3" Type="http://schemas.openxmlformats.org/officeDocument/2006/relationships/oleObject" Target="../embeddings/oleObject127.bin"/><Relationship Id="rId7" Type="http://schemas.openxmlformats.org/officeDocument/2006/relationships/oleObject" Target="../embeddings/oleObject129.bin"/><Relationship Id="rId2" Type="http://schemas.openxmlformats.org/officeDocument/2006/relationships/slideLayout" Target="../slideLayouts/slideLayout4.xml"/><Relationship Id="rId1" Type="http://schemas.openxmlformats.org/officeDocument/2006/relationships/vmlDrawing" Target="../drawings/vmlDrawing28.vml"/><Relationship Id="rId6" Type="http://schemas.openxmlformats.org/officeDocument/2006/relationships/image" Target="../media/image170.wmf"/><Relationship Id="rId5" Type="http://schemas.openxmlformats.org/officeDocument/2006/relationships/oleObject" Target="../embeddings/oleObject128.bin"/><Relationship Id="rId10" Type="http://schemas.openxmlformats.org/officeDocument/2006/relationships/image" Target="../media/image172.wmf"/><Relationship Id="rId4" Type="http://schemas.openxmlformats.org/officeDocument/2006/relationships/image" Target="../media/image169.wmf"/><Relationship Id="rId9" Type="http://schemas.openxmlformats.org/officeDocument/2006/relationships/oleObject" Target="../embeddings/oleObject130.bin"/></Relationships>
</file>

<file path=ppt/slides/_rels/slide64.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75.wmf"/><Relationship Id="rId2" Type="http://schemas.openxmlformats.org/officeDocument/2006/relationships/image" Target="../media/image174.wmf"/><Relationship Id="rId1" Type="http://schemas.openxmlformats.org/officeDocument/2006/relationships/slideLayout" Target="../slideLayouts/slideLayout7.xml"/><Relationship Id="rId4" Type="http://schemas.openxmlformats.org/officeDocument/2006/relationships/image" Target="../media/image176.emf"/></Relationships>
</file>

<file path=ppt/slides/_rels/slide66.xml.rels><?xml version="1.0" encoding="UTF-8" standalone="yes"?>
<Relationships xmlns="http://schemas.openxmlformats.org/package/2006/relationships"><Relationship Id="rId8" Type="http://schemas.openxmlformats.org/officeDocument/2006/relationships/image" Target="../media/image178.wmf"/><Relationship Id="rId13" Type="http://schemas.openxmlformats.org/officeDocument/2006/relationships/oleObject" Target="../embeddings/oleObject136.bin"/><Relationship Id="rId3" Type="http://schemas.openxmlformats.org/officeDocument/2006/relationships/oleObject" Target="../embeddings/oleObject131.bin"/><Relationship Id="rId7" Type="http://schemas.openxmlformats.org/officeDocument/2006/relationships/oleObject" Target="../embeddings/oleObject133.bin"/><Relationship Id="rId12" Type="http://schemas.openxmlformats.org/officeDocument/2006/relationships/image" Target="../media/image180.wmf"/><Relationship Id="rId2" Type="http://schemas.openxmlformats.org/officeDocument/2006/relationships/slideLayout" Target="../slideLayouts/slideLayout4.xml"/><Relationship Id="rId1" Type="http://schemas.openxmlformats.org/officeDocument/2006/relationships/vmlDrawing" Target="../drawings/vmlDrawing29.vml"/><Relationship Id="rId6" Type="http://schemas.openxmlformats.org/officeDocument/2006/relationships/image" Target="../media/image120.wmf"/><Relationship Id="rId11" Type="http://schemas.openxmlformats.org/officeDocument/2006/relationships/oleObject" Target="../embeddings/oleObject135.bin"/><Relationship Id="rId5" Type="http://schemas.openxmlformats.org/officeDocument/2006/relationships/oleObject" Target="../embeddings/oleObject132.bin"/><Relationship Id="rId10" Type="http://schemas.openxmlformats.org/officeDocument/2006/relationships/image" Target="../media/image179.wmf"/><Relationship Id="rId4" Type="http://schemas.openxmlformats.org/officeDocument/2006/relationships/image" Target="../media/image177.wmf"/><Relationship Id="rId9" Type="http://schemas.openxmlformats.org/officeDocument/2006/relationships/oleObject" Target="../embeddings/oleObject134.bin"/><Relationship Id="rId14" Type="http://schemas.openxmlformats.org/officeDocument/2006/relationships/image" Target="../media/image181.wmf"/></Relationships>
</file>

<file path=ppt/slides/_rels/slide67.x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oleObject" Target="../embeddings/oleObject137.bin"/><Relationship Id="rId7" Type="http://schemas.openxmlformats.org/officeDocument/2006/relationships/oleObject" Target="../embeddings/oleObject139.bin"/><Relationship Id="rId12" Type="http://schemas.openxmlformats.org/officeDocument/2006/relationships/image" Target="../media/image185.wmf"/><Relationship Id="rId2" Type="http://schemas.openxmlformats.org/officeDocument/2006/relationships/slideLayout" Target="../slideLayouts/slideLayout4.xml"/><Relationship Id="rId1" Type="http://schemas.openxmlformats.org/officeDocument/2006/relationships/vmlDrawing" Target="../drawings/vmlDrawing30.vml"/><Relationship Id="rId6" Type="http://schemas.openxmlformats.org/officeDocument/2006/relationships/image" Target="../media/image183.wmf"/><Relationship Id="rId11" Type="http://schemas.openxmlformats.org/officeDocument/2006/relationships/oleObject" Target="../embeddings/oleObject141.bin"/><Relationship Id="rId5" Type="http://schemas.openxmlformats.org/officeDocument/2006/relationships/oleObject" Target="../embeddings/oleObject138.bin"/><Relationship Id="rId10" Type="http://schemas.openxmlformats.org/officeDocument/2006/relationships/image" Target="../media/image184.wmf"/><Relationship Id="rId4" Type="http://schemas.openxmlformats.org/officeDocument/2006/relationships/image" Target="../media/image182.wmf"/><Relationship Id="rId9" Type="http://schemas.openxmlformats.org/officeDocument/2006/relationships/oleObject" Target="../embeddings/oleObject140.bin"/></Relationships>
</file>

<file path=ppt/slides/_rels/slide68.xml.rels><?xml version="1.0" encoding="UTF-8" standalone="yes"?>
<Relationships xmlns="http://schemas.openxmlformats.org/package/2006/relationships"><Relationship Id="rId8" Type="http://schemas.openxmlformats.org/officeDocument/2006/relationships/image" Target="../media/image188.wmf"/><Relationship Id="rId3" Type="http://schemas.openxmlformats.org/officeDocument/2006/relationships/oleObject" Target="../embeddings/oleObject142.bin"/><Relationship Id="rId7" Type="http://schemas.openxmlformats.org/officeDocument/2006/relationships/oleObject" Target="../embeddings/oleObject144.bin"/><Relationship Id="rId2" Type="http://schemas.openxmlformats.org/officeDocument/2006/relationships/slideLayout" Target="../slideLayouts/slideLayout4.xml"/><Relationship Id="rId1" Type="http://schemas.openxmlformats.org/officeDocument/2006/relationships/vmlDrawing" Target="../drawings/vmlDrawing31.vml"/><Relationship Id="rId6" Type="http://schemas.openxmlformats.org/officeDocument/2006/relationships/image" Target="../media/image187.wmf"/><Relationship Id="rId5" Type="http://schemas.openxmlformats.org/officeDocument/2006/relationships/oleObject" Target="../embeddings/oleObject143.bin"/><Relationship Id="rId10" Type="http://schemas.openxmlformats.org/officeDocument/2006/relationships/image" Target="../media/image189.wmf"/><Relationship Id="rId4" Type="http://schemas.openxmlformats.org/officeDocument/2006/relationships/image" Target="../media/image186.wmf"/><Relationship Id="rId9" Type="http://schemas.openxmlformats.org/officeDocument/2006/relationships/oleObject" Target="../embeddings/oleObject145.bin"/></Relationships>
</file>

<file path=ppt/slides/_rels/slide69.xml.rels><?xml version="1.0" encoding="UTF-8" standalone="yes"?>
<Relationships xmlns="http://schemas.openxmlformats.org/package/2006/relationships"><Relationship Id="rId8" Type="http://schemas.openxmlformats.org/officeDocument/2006/relationships/image" Target="../media/image192.wmf"/><Relationship Id="rId3" Type="http://schemas.openxmlformats.org/officeDocument/2006/relationships/oleObject" Target="../embeddings/oleObject146.bin"/><Relationship Id="rId7" Type="http://schemas.openxmlformats.org/officeDocument/2006/relationships/oleObject" Target="../embeddings/oleObject148.bin"/><Relationship Id="rId12" Type="http://schemas.openxmlformats.org/officeDocument/2006/relationships/image" Target="../media/image194.wmf"/><Relationship Id="rId2" Type="http://schemas.openxmlformats.org/officeDocument/2006/relationships/slideLayout" Target="../slideLayouts/slideLayout4.xml"/><Relationship Id="rId1" Type="http://schemas.openxmlformats.org/officeDocument/2006/relationships/vmlDrawing" Target="../drawings/vmlDrawing32.vml"/><Relationship Id="rId6" Type="http://schemas.openxmlformats.org/officeDocument/2006/relationships/image" Target="../media/image191.wmf"/><Relationship Id="rId11" Type="http://schemas.openxmlformats.org/officeDocument/2006/relationships/oleObject" Target="../embeddings/oleObject150.bin"/><Relationship Id="rId5" Type="http://schemas.openxmlformats.org/officeDocument/2006/relationships/oleObject" Target="../embeddings/oleObject147.bin"/><Relationship Id="rId10" Type="http://schemas.openxmlformats.org/officeDocument/2006/relationships/image" Target="../media/image193.wmf"/><Relationship Id="rId4" Type="http://schemas.openxmlformats.org/officeDocument/2006/relationships/image" Target="../media/image190.wmf"/><Relationship Id="rId9" Type="http://schemas.openxmlformats.org/officeDocument/2006/relationships/oleObject" Target="../embeddings/oleObject149.bin"/></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51.bin"/><Relationship Id="rId7" Type="http://schemas.openxmlformats.org/officeDocument/2006/relationships/image" Target="../media/image197.png"/><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196.wmf"/><Relationship Id="rId5" Type="http://schemas.openxmlformats.org/officeDocument/2006/relationships/oleObject" Target="../embeddings/oleObject152.bin"/><Relationship Id="rId4" Type="http://schemas.openxmlformats.org/officeDocument/2006/relationships/image" Target="../media/image195.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53.bin"/><Relationship Id="rId7" Type="http://schemas.openxmlformats.org/officeDocument/2006/relationships/image" Target="../media/image200.png"/><Relationship Id="rId2" Type="http://schemas.openxmlformats.org/officeDocument/2006/relationships/slideLayout" Target="../slideLayouts/slideLayout13.xml"/><Relationship Id="rId1" Type="http://schemas.openxmlformats.org/officeDocument/2006/relationships/vmlDrawing" Target="../drawings/vmlDrawing34.vml"/><Relationship Id="rId6" Type="http://schemas.openxmlformats.org/officeDocument/2006/relationships/image" Target="../media/image199.wmf"/><Relationship Id="rId5" Type="http://schemas.openxmlformats.org/officeDocument/2006/relationships/oleObject" Target="../embeddings/oleObject154.bin"/><Relationship Id="rId4" Type="http://schemas.openxmlformats.org/officeDocument/2006/relationships/image" Target="../media/image198.wmf"/></Relationships>
</file>

<file path=ppt/slides/_rels/slide72.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image" Target="../media/image20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C5C5A83-6CF7-43AB-A375-FFCD0D286F39}"/>
              </a:ext>
            </a:extLst>
          </p:cNvPr>
          <p:cNvSpPr>
            <a:spLocks noGrp="1" noChangeArrowheads="1"/>
          </p:cNvSpPr>
          <p:nvPr>
            <p:ph type="title"/>
          </p:nvPr>
        </p:nvSpPr>
        <p:spPr>
          <a:xfrm>
            <a:off x="1475656" y="476672"/>
            <a:ext cx="6463630" cy="1325563"/>
          </a:xfrm>
        </p:spPr>
        <p:txBody>
          <a:bodyPr/>
          <a:lstStyle/>
          <a:p>
            <a:pPr>
              <a:lnSpc>
                <a:spcPct val="110000"/>
              </a:lnSpc>
              <a:spcBef>
                <a:spcPts val="0"/>
              </a:spcBef>
            </a:pPr>
            <a:r>
              <a:rPr lang="zh-CN" altLang="en-US" dirty="0">
                <a:latin typeface="Times New Roman" panose="02020603050405020304" pitchFamily="18" charset="0"/>
                <a:ea typeface="宋体" panose="02010600030101010101" pitchFamily="2" charset="-122"/>
              </a:rPr>
              <a:t>第二章 </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结机理与特性</a:t>
            </a:r>
          </a:p>
        </p:txBody>
      </p:sp>
      <p:sp>
        <p:nvSpPr>
          <p:cNvPr id="2" name="矩形 1">
            <a:extLst>
              <a:ext uri="{FF2B5EF4-FFF2-40B4-BE49-F238E27FC236}">
                <a16:creationId xmlns:a16="http://schemas.microsoft.com/office/drawing/2014/main" id="{37D91D68-6D10-40B3-A612-ED5B19B13D12}"/>
              </a:ext>
            </a:extLst>
          </p:cNvPr>
          <p:cNvSpPr/>
          <p:nvPr/>
        </p:nvSpPr>
        <p:spPr>
          <a:xfrm>
            <a:off x="827584" y="2276872"/>
            <a:ext cx="7627869" cy="3970318"/>
          </a:xfrm>
          <a:prstGeom prst="rect">
            <a:avLst/>
          </a:prstGeom>
        </p:spPr>
        <p:txBody>
          <a:bodyPr wrap="square">
            <a:spAutoFit/>
          </a:bodyPr>
          <a:lstStyle/>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2.1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平衡</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2.2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正向</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2.3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反向</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2.4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结空间电荷区的电场、位分布和宽度</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2.5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结击穿机理与击穿特性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2.6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结的电容特性</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FFBCB5B7-2483-4471-8575-EA9724CD15F7}"/>
              </a:ext>
            </a:extLst>
          </p:cNvPr>
          <p:cNvSpPr>
            <a:spLocks noChangeArrowheads="1"/>
          </p:cNvSpPr>
          <p:nvPr/>
        </p:nvSpPr>
        <p:spPr bwMode="auto">
          <a:xfrm>
            <a:off x="539552" y="476672"/>
            <a:ext cx="78486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177800" indent="-177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 typeface="Wingdings" panose="05000000000000000000" pitchFamily="2" charset="2"/>
              <a:buChar char="Ø"/>
            </a:pPr>
            <a:r>
              <a:rPr lang="zh-CN" altLang="en-US" dirty="0">
                <a:solidFill>
                  <a:schemeClr val="tx1"/>
                </a:solidFill>
              </a:rPr>
              <a:t>同一半导体内部，一边是</a:t>
            </a:r>
            <a:r>
              <a:rPr lang="en-US" altLang="zh-CN" dirty="0">
                <a:solidFill>
                  <a:schemeClr val="tx1"/>
                </a:solidFill>
              </a:rPr>
              <a:t>P </a:t>
            </a:r>
            <a:r>
              <a:rPr lang="zh-CN" altLang="en-US" dirty="0">
                <a:solidFill>
                  <a:schemeClr val="tx1"/>
                </a:solidFill>
              </a:rPr>
              <a:t>型，一边是</a:t>
            </a:r>
            <a:r>
              <a:rPr lang="en-US" altLang="zh-CN" dirty="0">
                <a:solidFill>
                  <a:schemeClr val="tx1"/>
                </a:solidFill>
              </a:rPr>
              <a:t>N </a:t>
            </a:r>
            <a:r>
              <a:rPr lang="zh-CN" altLang="en-US" dirty="0">
                <a:solidFill>
                  <a:schemeClr val="tx1"/>
                </a:solidFill>
              </a:rPr>
              <a:t>型，则会在</a:t>
            </a:r>
            <a:r>
              <a:rPr lang="en-US" altLang="zh-CN" dirty="0">
                <a:solidFill>
                  <a:schemeClr val="tx1"/>
                </a:solidFill>
              </a:rPr>
              <a:t>P </a:t>
            </a:r>
            <a:r>
              <a:rPr lang="zh-CN" altLang="en-US" dirty="0">
                <a:solidFill>
                  <a:schemeClr val="tx1"/>
                </a:solidFill>
              </a:rPr>
              <a:t>型区和</a:t>
            </a:r>
            <a:r>
              <a:rPr lang="en-US" altLang="zh-CN" dirty="0">
                <a:solidFill>
                  <a:schemeClr val="tx1"/>
                </a:solidFill>
              </a:rPr>
              <a:t>N </a:t>
            </a:r>
            <a:r>
              <a:rPr lang="zh-CN" altLang="en-US" dirty="0">
                <a:solidFill>
                  <a:schemeClr val="tx1"/>
                </a:solidFill>
              </a:rPr>
              <a:t>型区的交界面附近形成</a:t>
            </a:r>
            <a:r>
              <a:rPr lang="en-US" altLang="zh-CN" dirty="0">
                <a:solidFill>
                  <a:schemeClr val="tx1"/>
                </a:solidFill>
              </a:rPr>
              <a:t>PN</a:t>
            </a:r>
            <a:r>
              <a:rPr lang="zh-CN" altLang="en-US" dirty="0">
                <a:solidFill>
                  <a:schemeClr val="tx1"/>
                </a:solidFill>
              </a:rPr>
              <a:t>结 </a:t>
            </a:r>
          </a:p>
          <a:p>
            <a:pPr eaLnBrk="1" hangingPunct="1">
              <a:lnSpc>
                <a:spcPct val="140000"/>
              </a:lnSpc>
              <a:spcBef>
                <a:spcPct val="0"/>
              </a:spcBef>
              <a:buClrTx/>
              <a:buFont typeface="Wingdings" panose="05000000000000000000" pitchFamily="2" charset="2"/>
              <a:buChar char="Ø"/>
            </a:pPr>
            <a:r>
              <a:rPr lang="en-US" altLang="zh-CN" dirty="0">
                <a:solidFill>
                  <a:schemeClr val="tx1"/>
                </a:solidFill>
              </a:rPr>
              <a:t>PN</a:t>
            </a:r>
            <a:r>
              <a:rPr lang="zh-CN" altLang="en-US" dirty="0">
                <a:solidFill>
                  <a:schemeClr val="tx1"/>
                </a:solidFill>
              </a:rPr>
              <a:t>结具有特殊的性质：单向导电性</a:t>
            </a:r>
          </a:p>
          <a:p>
            <a:pPr eaLnBrk="1" hangingPunct="1">
              <a:lnSpc>
                <a:spcPct val="140000"/>
              </a:lnSpc>
              <a:spcBef>
                <a:spcPct val="0"/>
              </a:spcBef>
              <a:buClrTx/>
              <a:buFont typeface="Wingdings" panose="05000000000000000000" pitchFamily="2" charset="2"/>
              <a:buChar char="Ø"/>
            </a:pPr>
            <a:r>
              <a:rPr lang="en-US" altLang="zh-CN" dirty="0">
                <a:solidFill>
                  <a:schemeClr val="tx1"/>
                </a:solidFill>
              </a:rPr>
              <a:t>PN </a:t>
            </a:r>
            <a:r>
              <a:rPr lang="zh-CN" altLang="en-US" dirty="0">
                <a:solidFill>
                  <a:schemeClr val="tx1"/>
                </a:solidFill>
              </a:rPr>
              <a:t>结是许多重要半导体器件的核心。</a:t>
            </a:r>
          </a:p>
          <a:p>
            <a:pPr eaLnBrk="1" hangingPunct="1">
              <a:lnSpc>
                <a:spcPct val="140000"/>
              </a:lnSpc>
              <a:spcBef>
                <a:spcPct val="0"/>
              </a:spcBef>
              <a:buClrTx/>
              <a:buFont typeface="Wingdings" panose="05000000000000000000" pitchFamily="2" charset="2"/>
              <a:buChar char="Ø"/>
            </a:pPr>
            <a:r>
              <a:rPr lang="zh-CN" altLang="en-US" dirty="0">
                <a:solidFill>
                  <a:schemeClr val="tx1"/>
                </a:solidFill>
              </a:rPr>
              <a:t>两种</a:t>
            </a:r>
            <a:r>
              <a:rPr lang="en-US" altLang="zh-CN" dirty="0">
                <a:solidFill>
                  <a:schemeClr val="tx1"/>
                </a:solidFill>
              </a:rPr>
              <a:t>PN</a:t>
            </a:r>
            <a:r>
              <a:rPr lang="zh-CN" altLang="en-US" dirty="0">
                <a:solidFill>
                  <a:schemeClr val="tx1"/>
                </a:solidFill>
              </a:rPr>
              <a:t>结的基本结构：突变结（冶金结），缓变结（扩散结）</a:t>
            </a:r>
          </a:p>
        </p:txBody>
      </p:sp>
      <p:pic>
        <p:nvPicPr>
          <p:cNvPr id="5" name="Picture 4" descr="图片a-3">
            <a:extLst>
              <a:ext uri="{FF2B5EF4-FFF2-40B4-BE49-F238E27FC236}">
                <a16:creationId xmlns:a16="http://schemas.microsoft.com/office/drawing/2014/main" id="{5B64B819-5E59-48E4-A201-204D80D117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505200"/>
            <a:ext cx="3656013"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2t1a">
            <a:extLst>
              <a:ext uri="{FF2B5EF4-FFF2-40B4-BE49-F238E27FC236}">
                <a16:creationId xmlns:a16="http://schemas.microsoft.com/office/drawing/2014/main" id="{B606B51F-E2E3-47E7-B446-5B15323FAB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0842" t="75009" r="-1738" b="2798"/>
          <a:stretch>
            <a:fillRect/>
          </a:stretch>
        </p:blipFill>
        <p:spPr bwMode="auto">
          <a:xfrm>
            <a:off x="609600" y="3733800"/>
            <a:ext cx="3048000"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016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E45584D-2673-4BCF-956D-1C35A780B54E}"/>
              </a:ext>
            </a:extLst>
          </p:cNvPr>
          <p:cNvSpPr>
            <a:spLocks noGrp="1" noChangeArrowheads="1"/>
          </p:cNvSpPr>
          <p:nvPr>
            <p:ph type="title"/>
          </p:nvPr>
        </p:nvSpPr>
        <p:spPr/>
        <p:txBody>
          <a:bodyPr>
            <a:normAutofit fontScale="90000"/>
          </a:bodyPr>
          <a:lstStyle/>
          <a:p>
            <a:pPr>
              <a:lnSpc>
                <a:spcPct val="110000"/>
              </a:lnSpc>
              <a:spcBef>
                <a:spcPts val="0"/>
              </a:spcBef>
            </a:pP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平衡</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结的机理与特性</a:t>
            </a:r>
            <a:br>
              <a:rPr lang="zh-CN" altLang="en-US" dirty="0">
                <a:latin typeface="Times New Roman" panose="02020603050405020304" pitchFamily="18" charset="0"/>
                <a:ea typeface="宋体" panose="02010600030101010101" pitchFamily="2" charset="-122"/>
              </a:rPr>
            </a:br>
            <a:br>
              <a:rPr lang="en-US" altLang="zh-CN" dirty="0">
                <a:latin typeface="Times New Roman" panose="02020603050405020304" pitchFamily="18" charset="0"/>
                <a:ea typeface="宋体" panose="02010600030101010101" pitchFamily="2" charset="-122"/>
              </a:rPr>
            </a:br>
            <a:r>
              <a:rPr lang="en-US" altLang="zh-CN" sz="3200" dirty="0">
                <a:latin typeface="Times New Roman" panose="02020603050405020304" pitchFamily="18" charset="0"/>
                <a:ea typeface="宋体" panose="02010600030101010101" pitchFamily="2" charset="-122"/>
              </a:rPr>
              <a:t>2.1.1 PN</a:t>
            </a:r>
            <a:r>
              <a:rPr lang="zh-CN" altLang="en-US" sz="3200" dirty="0">
                <a:latin typeface="Times New Roman" panose="02020603050405020304" pitchFamily="18" charset="0"/>
                <a:ea typeface="宋体" panose="02010600030101010101" pitchFamily="2" charset="-122"/>
              </a:rPr>
              <a:t>结的制备与杂质分布</a:t>
            </a:r>
          </a:p>
        </p:txBody>
      </p:sp>
      <p:sp>
        <p:nvSpPr>
          <p:cNvPr id="25603" name="Rectangle 3">
            <a:extLst>
              <a:ext uri="{FF2B5EF4-FFF2-40B4-BE49-F238E27FC236}">
                <a16:creationId xmlns:a16="http://schemas.microsoft.com/office/drawing/2014/main" id="{B74885BB-9FC7-4F95-B0DF-8A2AF5D023A7}"/>
              </a:ext>
            </a:extLst>
          </p:cNvPr>
          <p:cNvSpPr>
            <a:spLocks noGrp="1" noChangeArrowheads="1"/>
          </p:cNvSpPr>
          <p:nvPr>
            <p:ph idx="1"/>
          </p:nvPr>
        </p:nvSpPr>
        <p:spPr>
          <a:xfrm>
            <a:off x="628650" y="2139552"/>
            <a:ext cx="7637462" cy="1627187"/>
          </a:xfrm>
        </p:spPr>
        <p:txBody>
          <a:bodyPr>
            <a:normAutofit lnSpcReduction="10000"/>
          </a:bodyPr>
          <a:lstStyle/>
          <a:p>
            <a:pPr>
              <a:lnSpc>
                <a:spcPct val="110000"/>
              </a:lnSpc>
              <a:spcBef>
                <a:spcPts val="0"/>
              </a:spcBef>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在</a:t>
            </a:r>
            <a:r>
              <a:rPr lang="en-US" altLang="zh-CN" sz="2400" dirty="0">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型</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或</a:t>
            </a:r>
            <a:r>
              <a:rPr lang="en-US" altLang="zh-CN" sz="2400" dirty="0">
                <a:latin typeface="Times New Roman" panose="02020603050405020304" pitchFamily="18" charset="0"/>
                <a:ea typeface="宋体" panose="02010600030101010101" pitchFamily="2" charset="-122"/>
              </a:rPr>
              <a:t>P</a:t>
            </a:r>
            <a:r>
              <a:rPr lang="zh-CN" altLang="en-US" sz="2400" dirty="0">
                <a:latin typeface="Times New Roman" panose="02020603050405020304" pitchFamily="18" charset="0"/>
                <a:ea typeface="宋体" panose="02010600030101010101" pitchFamily="2" charset="-122"/>
              </a:rPr>
              <a:t>型</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半导体单晶片衬底上，分别采用不同的掺杂方法，使原来半导体的一部分变成</a:t>
            </a:r>
            <a:r>
              <a:rPr lang="en-US" altLang="zh-CN" sz="2400" dirty="0">
                <a:latin typeface="Times New Roman" panose="02020603050405020304" pitchFamily="18" charset="0"/>
                <a:ea typeface="宋体" panose="02010600030101010101" pitchFamily="2" charset="-122"/>
              </a:rPr>
              <a:t>P</a:t>
            </a:r>
            <a:r>
              <a:rPr lang="zh-CN" altLang="en-US" sz="2400" dirty="0">
                <a:latin typeface="Times New Roman" panose="02020603050405020304" pitchFamily="18" charset="0"/>
                <a:ea typeface="宋体" panose="02010600030101010101" pitchFamily="2" charset="-122"/>
              </a:rPr>
              <a:t>型，（或</a:t>
            </a:r>
            <a:r>
              <a:rPr lang="en-US" altLang="zh-CN" sz="2400" dirty="0">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型），那么在</a:t>
            </a:r>
            <a:r>
              <a:rPr lang="en-US" altLang="zh-CN" sz="2400" dirty="0">
                <a:latin typeface="Times New Roman" panose="02020603050405020304" pitchFamily="18" charset="0"/>
                <a:ea typeface="宋体" panose="02010600030101010101" pitchFamily="2" charset="-122"/>
              </a:rPr>
              <a:t>P</a:t>
            </a:r>
            <a:r>
              <a:rPr lang="zh-CN" altLang="en-US" sz="2400" dirty="0">
                <a:latin typeface="Times New Roman" panose="02020603050405020304" pitchFamily="18" charset="0"/>
                <a:ea typeface="宋体" panose="02010600030101010101" pitchFamily="2" charset="-122"/>
              </a:rPr>
              <a:t>型半导体与</a:t>
            </a:r>
            <a:r>
              <a:rPr lang="en-US" altLang="zh-CN" sz="2400" dirty="0">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型半导体的交界面处就形成了</a:t>
            </a:r>
            <a:r>
              <a:rPr lang="en-US" altLang="zh-CN" sz="2400" dirty="0">
                <a:latin typeface="Times New Roman" panose="02020603050405020304" pitchFamily="18" charset="0"/>
                <a:ea typeface="宋体" panose="02010600030101010101" pitchFamily="2" charset="-122"/>
              </a:rPr>
              <a:t>PN</a:t>
            </a:r>
            <a:r>
              <a:rPr lang="zh-CN" altLang="en-US" sz="2400" dirty="0">
                <a:latin typeface="Times New Roman" panose="02020603050405020304" pitchFamily="18" charset="0"/>
                <a:ea typeface="宋体" panose="02010600030101010101" pitchFamily="2" charset="-122"/>
              </a:rPr>
              <a:t>结，如图</a:t>
            </a:r>
          </a:p>
        </p:txBody>
      </p:sp>
      <p:pic>
        <p:nvPicPr>
          <p:cNvPr id="25604" name="Picture 4" descr="0201">
            <a:extLst>
              <a:ext uri="{FF2B5EF4-FFF2-40B4-BE49-F238E27FC236}">
                <a16:creationId xmlns:a16="http://schemas.microsoft.com/office/drawing/2014/main" id="{AF4A20FA-1623-47A1-8588-2038E1AE0C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3933056"/>
            <a:ext cx="3384550" cy="1924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57BF826F-6958-4C0B-91BB-258B9E372315}"/>
              </a:ext>
            </a:extLst>
          </p:cNvPr>
          <p:cNvSpPr>
            <a:spLocks noChangeArrowheads="1"/>
          </p:cNvSpPr>
          <p:nvPr/>
        </p:nvSpPr>
        <p:spPr bwMode="auto">
          <a:xfrm>
            <a:off x="395214" y="4076030"/>
            <a:ext cx="8675687"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latinLnBrk="0">
              <a:lnSpc>
                <a:spcPct val="150000"/>
              </a:lnSpc>
            </a:pPr>
            <a:r>
              <a:rPr kumimoji="0" lang="zh-CN" altLang="en-US" sz="2000" b="1">
                <a:solidFill>
                  <a:srgbClr val="000066"/>
                </a:solidFill>
              </a:rPr>
              <a:t>因此</a:t>
            </a:r>
            <a:r>
              <a:rPr kumimoji="0" lang="en-US" altLang="zh-CN" sz="2000" b="1">
                <a:solidFill>
                  <a:srgbClr val="000066"/>
                </a:solidFill>
              </a:rPr>
              <a:t>PN</a:t>
            </a:r>
            <a:r>
              <a:rPr kumimoji="0" lang="zh-CN" altLang="en-US" sz="2000" b="1">
                <a:solidFill>
                  <a:srgbClr val="000066"/>
                </a:solidFill>
              </a:rPr>
              <a:t>结有同型同质结、同型异质结、异型同质结和异型异质结之分。广义地说，金属和半导体接触也是异质结，不过为了意义更明确，把它们叫做金属－半导体接触或金属－半导体结（</a:t>
            </a:r>
            <a:r>
              <a:rPr kumimoji="0" lang="en-US" altLang="zh-CN" sz="2000" b="1">
                <a:solidFill>
                  <a:srgbClr val="FF3300"/>
                </a:solidFill>
              </a:rPr>
              <a:t>M-S</a:t>
            </a:r>
            <a:r>
              <a:rPr kumimoji="0" lang="zh-CN" altLang="en-US" sz="2000" b="1">
                <a:solidFill>
                  <a:srgbClr val="FF3300"/>
                </a:solidFill>
              </a:rPr>
              <a:t>结</a:t>
            </a:r>
            <a:r>
              <a:rPr kumimoji="0" lang="zh-CN" altLang="en-US" sz="2000" b="1">
                <a:solidFill>
                  <a:srgbClr val="000066"/>
                </a:solidFill>
              </a:rPr>
              <a:t>）。</a:t>
            </a:r>
            <a:r>
              <a:rPr kumimoji="0" lang="zh-CN" altLang="en-US" sz="2000"/>
              <a:t> </a:t>
            </a:r>
            <a:endParaRPr kumimoji="0" lang="zh-CN" altLang="en-US" sz="2000" b="1">
              <a:solidFill>
                <a:srgbClr val="000066"/>
              </a:solidFill>
            </a:endParaRPr>
          </a:p>
        </p:txBody>
      </p:sp>
      <p:sp>
        <p:nvSpPr>
          <p:cNvPr id="5" name="Rectangle 5">
            <a:extLst>
              <a:ext uri="{FF2B5EF4-FFF2-40B4-BE49-F238E27FC236}">
                <a16:creationId xmlns:a16="http://schemas.microsoft.com/office/drawing/2014/main" id="{8CE5EC82-C90D-4498-9AD2-A0D8C485541D}"/>
              </a:ext>
            </a:extLst>
          </p:cNvPr>
          <p:cNvSpPr>
            <a:spLocks noChangeArrowheads="1"/>
          </p:cNvSpPr>
          <p:nvPr/>
        </p:nvSpPr>
        <p:spPr bwMode="auto">
          <a:xfrm>
            <a:off x="755576" y="1340768"/>
            <a:ext cx="6192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a:solidFill>
                  <a:srgbClr val="FF3300"/>
                </a:solidFill>
              </a:rPr>
              <a:t>同质结：</a:t>
            </a:r>
            <a:r>
              <a:rPr kumimoji="0" lang="zh-CN" altLang="en-US" sz="2000" b="1">
                <a:solidFill>
                  <a:srgbClr val="000066"/>
                </a:solidFill>
              </a:rPr>
              <a:t>由同种物质构成的结（如硅）；</a:t>
            </a:r>
          </a:p>
        </p:txBody>
      </p:sp>
      <p:sp>
        <p:nvSpPr>
          <p:cNvPr id="6" name="Rectangle 6">
            <a:extLst>
              <a:ext uri="{FF2B5EF4-FFF2-40B4-BE49-F238E27FC236}">
                <a16:creationId xmlns:a16="http://schemas.microsoft.com/office/drawing/2014/main" id="{79C89EFC-2C9D-4BE2-A9E7-701B2239E687}"/>
              </a:ext>
            </a:extLst>
          </p:cNvPr>
          <p:cNvSpPr>
            <a:spLocks noChangeArrowheads="1"/>
          </p:cNvSpPr>
          <p:nvPr/>
        </p:nvSpPr>
        <p:spPr bwMode="auto">
          <a:xfrm>
            <a:off x="755576" y="1844005"/>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a:solidFill>
                  <a:srgbClr val="FF3300"/>
                </a:solidFill>
              </a:rPr>
              <a:t>异质结：</a:t>
            </a:r>
            <a:r>
              <a:rPr kumimoji="0" lang="zh-CN" altLang="en-US" sz="2000" b="1">
                <a:solidFill>
                  <a:srgbClr val="000066"/>
                </a:solidFill>
              </a:rPr>
              <a:t>由不同种物质构成的结（如硅和锗）</a:t>
            </a:r>
            <a:r>
              <a:rPr kumimoji="0" lang="zh-CN" altLang="en-US" sz="2000"/>
              <a:t> </a:t>
            </a:r>
            <a:r>
              <a:rPr kumimoji="0" lang="zh-CN" altLang="en-US" sz="2000" b="1">
                <a:solidFill>
                  <a:srgbClr val="000066"/>
                </a:solidFill>
              </a:rPr>
              <a:t>；</a:t>
            </a:r>
          </a:p>
        </p:txBody>
      </p:sp>
      <p:sp>
        <p:nvSpPr>
          <p:cNvPr id="7" name="Rectangle 7">
            <a:extLst>
              <a:ext uri="{FF2B5EF4-FFF2-40B4-BE49-F238E27FC236}">
                <a16:creationId xmlns:a16="http://schemas.microsoft.com/office/drawing/2014/main" id="{B185366B-D348-435A-AA87-7164C1FBC84A}"/>
              </a:ext>
            </a:extLst>
          </p:cNvPr>
          <p:cNvSpPr>
            <a:spLocks noChangeArrowheads="1"/>
          </p:cNvSpPr>
          <p:nvPr/>
        </p:nvSpPr>
        <p:spPr bwMode="auto">
          <a:xfrm>
            <a:off x="755576" y="2378993"/>
            <a:ext cx="79200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dirty="0">
                <a:solidFill>
                  <a:srgbClr val="FF3300"/>
                </a:solidFill>
              </a:rPr>
              <a:t>同型结：</a:t>
            </a:r>
            <a:r>
              <a:rPr kumimoji="0" lang="zh-CN" altLang="en-US" sz="2000" b="1" dirty="0">
                <a:solidFill>
                  <a:srgbClr val="000066"/>
                </a:solidFill>
              </a:rPr>
              <a:t>由同种导电类型的物质构成的结</a:t>
            </a:r>
          </a:p>
          <a:p>
            <a:pPr eaLnBrk="1" hangingPunct="1"/>
            <a:r>
              <a:rPr kumimoji="0" lang="zh-CN" altLang="en-US" sz="2000" b="1" dirty="0">
                <a:solidFill>
                  <a:srgbClr val="000066"/>
                </a:solidFill>
              </a:rPr>
              <a:t>         （如</a:t>
            </a:r>
            <a:r>
              <a:rPr kumimoji="0" lang="en-US" altLang="zh-CN" sz="2000" b="1" dirty="0">
                <a:solidFill>
                  <a:srgbClr val="000066"/>
                </a:solidFill>
              </a:rPr>
              <a:t>P-</a:t>
            </a:r>
            <a:r>
              <a:rPr kumimoji="0" lang="zh-CN" altLang="en-US" sz="2000" b="1" dirty="0">
                <a:solidFill>
                  <a:srgbClr val="000066"/>
                </a:solidFill>
              </a:rPr>
              <a:t>硅和</a:t>
            </a:r>
            <a:r>
              <a:rPr kumimoji="0" lang="en-US" altLang="zh-CN" sz="2000" b="1" dirty="0">
                <a:solidFill>
                  <a:srgbClr val="000066"/>
                </a:solidFill>
              </a:rPr>
              <a:t>P-</a:t>
            </a:r>
            <a:r>
              <a:rPr kumimoji="0" lang="zh-CN" altLang="en-US" sz="2000" b="1" dirty="0">
                <a:solidFill>
                  <a:srgbClr val="000066"/>
                </a:solidFill>
              </a:rPr>
              <a:t>锗、</a:t>
            </a:r>
            <a:r>
              <a:rPr kumimoji="0" lang="en-US" altLang="zh-CN" sz="2000" b="1" dirty="0">
                <a:solidFill>
                  <a:srgbClr val="000066"/>
                </a:solidFill>
              </a:rPr>
              <a:t>N-</a:t>
            </a:r>
            <a:r>
              <a:rPr kumimoji="0" lang="zh-CN" altLang="en-US" sz="2000" b="1" dirty="0">
                <a:solidFill>
                  <a:srgbClr val="000066"/>
                </a:solidFill>
              </a:rPr>
              <a:t>硅和</a:t>
            </a:r>
            <a:r>
              <a:rPr kumimoji="0" lang="en-US" altLang="zh-CN" sz="2000" b="1" dirty="0">
                <a:solidFill>
                  <a:srgbClr val="000066"/>
                </a:solidFill>
              </a:rPr>
              <a:t>N-</a:t>
            </a:r>
            <a:r>
              <a:rPr kumimoji="0" lang="zh-CN" altLang="en-US" sz="2000" b="1" dirty="0">
                <a:solidFill>
                  <a:srgbClr val="000066"/>
                </a:solidFill>
              </a:rPr>
              <a:t>锗）；</a:t>
            </a:r>
          </a:p>
        </p:txBody>
      </p:sp>
      <p:sp>
        <p:nvSpPr>
          <p:cNvPr id="8" name="Rectangle 8">
            <a:extLst>
              <a:ext uri="{FF2B5EF4-FFF2-40B4-BE49-F238E27FC236}">
                <a16:creationId xmlns:a16="http://schemas.microsoft.com/office/drawing/2014/main" id="{74AD05DD-8DBD-42FD-9F66-AB68EF8053F4}"/>
              </a:ext>
            </a:extLst>
          </p:cNvPr>
          <p:cNvSpPr>
            <a:spLocks noChangeArrowheads="1"/>
          </p:cNvSpPr>
          <p:nvPr/>
        </p:nvSpPr>
        <p:spPr bwMode="auto">
          <a:xfrm>
            <a:off x="755576" y="3212430"/>
            <a:ext cx="79200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a:solidFill>
                  <a:srgbClr val="FF3300"/>
                </a:solidFill>
              </a:rPr>
              <a:t>异型结：</a:t>
            </a:r>
            <a:r>
              <a:rPr kumimoji="0" lang="zh-CN" altLang="en-US" sz="2000" b="1">
                <a:solidFill>
                  <a:srgbClr val="000066"/>
                </a:solidFill>
              </a:rPr>
              <a:t>由不同种导电类型的物质构成的结</a:t>
            </a:r>
          </a:p>
          <a:p>
            <a:pPr eaLnBrk="1" hangingPunct="1"/>
            <a:r>
              <a:rPr kumimoji="0" lang="zh-CN" altLang="en-US" sz="2000" b="1">
                <a:solidFill>
                  <a:srgbClr val="000066"/>
                </a:solidFill>
              </a:rPr>
              <a:t>         （如</a:t>
            </a:r>
            <a:r>
              <a:rPr kumimoji="0" lang="en-US" altLang="zh-CN" sz="2000" b="1">
                <a:solidFill>
                  <a:srgbClr val="000066"/>
                </a:solidFill>
              </a:rPr>
              <a:t>P-</a:t>
            </a:r>
            <a:r>
              <a:rPr kumimoji="0" lang="zh-CN" altLang="en-US" sz="2000" b="1">
                <a:solidFill>
                  <a:srgbClr val="000066"/>
                </a:solidFill>
              </a:rPr>
              <a:t>硅和</a:t>
            </a:r>
            <a:r>
              <a:rPr kumimoji="0" lang="en-US" altLang="zh-CN" sz="2000" b="1">
                <a:solidFill>
                  <a:srgbClr val="000066"/>
                </a:solidFill>
              </a:rPr>
              <a:t>N-</a:t>
            </a:r>
            <a:r>
              <a:rPr kumimoji="0" lang="zh-CN" altLang="en-US" sz="2000" b="1">
                <a:solidFill>
                  <a:srgbClr val="000066"/>
                </a:solidFill>
              </a:rPr>
              <a:t>硅、</a:t>
            </a:r>
            <a:r>
              <a:rPr kumimoji="0" lang="en-US" altLang="zh-CN" sz="2000" b="1">
                <a:solidFill>
                  <a:srgbClr val="000066"/>
                </a:solidFill>
              </a:rPr>
              <a:t>P-</a:t>
            </a:r>
            <a:r>
              <a:rPr kumimoji="0" lang="zh-CN" altLang="en-US" sz="2000" b="1">
                <a:solidFill>
                  <a:srgbClr val="000066"/>
                </a:solidFill>
              </a:rPr>
              <a:t>锗和</a:t>
            </a:r>
            <a:r>
              <a:rPr kumimoji="0" lang="en-US" altLang="zh-CN" sz="2000" b="1">
                <a:solidFill>
                  <a:srgbClr val="000066"/>
                </a:solidFill>
              </a:rPr>
              <a:t>N</a:t>
            </a:r>
            <a:r>
              <a:rPr kumimoji="0" lang="zh-CN" altLang="en-US" sz="2000" b="1">
                <a:solidFill>
                  <a:srgbClr val="000066"/>
                </a:solidFill>
              </a:rPr>
              <a:t>－锗）；</a:t>
            </a:r>
          </a:p>
        </p:txBody>
      </p:sp>
    </p:spTree>
    <p:extLst>
      <p:ext uri="{BB962C8B-B14F-4D97-AF65-F5344CB8AC3E}">
        <p14:creationId xmlns:p14="http://schemas.microsoft.com/office/powerpoint/2010/main" val="194413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4EC5CB15-0B1C-4881-A2A2-E33089E05AED}"/>
              </a:ext>
            </a:extLst>
          </p:cNvPr>
          <p:cNvSpPr>
            <a:spLocks noGrp="1" noChangeArrowheads="1"/>
          </p:cNvSpPr>
          <p:nvPr>
            <p:ph idx="1"/>
          </p:nvPr>
        </p:nvSpPr>
        <p:spPr>
          <a:xfrm>
            <a:off x="539552" y="332656"/>
            <a:ext cx="7345363" cy="863600"/>
          </a:xfrm>
        </p:spPr>
        <p:txBody>
          <a:bodyPr>
            <a:normAutofit lnSpcReduction="10000"/>
          </a:bodyPr>
          <a:lstStyle/>
          <a:p>
            <a:pPr>
              <a:lnSpc>
                <a:spcPct val="120000"/>
              </a:lnSpc>
              <a:spcBef>
                <a:spcPts val="0"/>
              </a:spcBef>
            </a:pPr>
            <a:r>
              <a:rPr lang="zh-CN" altLang="en-US" sz="2400" dirty="0">
                <a:latin typeface="Times New Roman" panose="02020603050405020304" pitchFamily="18" charset="0"/>
                <a:ea typeface="宋体" panose="02010600030101010101" pitchFamily="2" charset="-122"/>
              </a:rPr>
              <a:t>合金法及其杂质分布</a:t>
            </a:r>
          </a:p>
          <a:p>
            <a:pPr>
              <a:lnSpc>
                <a:spcPct val="12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合金法制备</a:t>
            </a:r>
            <a:r>
              <a:rPr lang="en-US" altLang="zh-CN" sz="2400" dirty="0">
                <a:latin typeface="Times New Roman" panose="02020603050405020304" pitchFamily="18" charset="0"/>
                <a:ea typeface="宋体" panose="02010600030101010101" pitchFamily="2" charset="-122"/>
              </a:rPr>
              <a:t>PN</a:t>
            </a:r>
            <a:r>
              <a:rPr lang="zh-CN" altLang="en-US" sz="2400" dirty="0">
                <a:latin typeface="Times New Roman" panose="02020603050405020304" pitchFamily="18" charset="0"/>
                <a:ea typeface="宋体" panose="02010600030101010101" pitchFamily="2" charset="-122"/>
              </a:rPr>
              <a:t>结的基本过程如图所示</a:t>
            </a:r>
          </a:p>
        </p:txBody>
      </p:sp>
      <p:pic>
        <p:nvPicPr>
          <p:cNvPr id="26629" name="Picture 5" descr="0202">
            <a:extLst>
              <a:ext uri="{FF2B5EF4-FFF2-40B4-BE49-F238E27FC236}">
                <a16:creationId xmlns:a16="http://schemas.microsoft.com/office/drawing/2014/main" id="{BFE91FD5-A45F-49EB-B51E-17683C087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915" y="1267693"/>
            <a:ext cx="5976937" cy="17748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10786284-B3E6-41B3-95E7-587216A18E50}"/>
              </a:ext>
            </a:extLst>
          </p:cNvPr>
          <p:cNvSpPr txBox="1">
            <a:spLocks noChangeArrowheads="1"/>
          </p:cNvSpPr>
          <p:nvPr/>
        </p:nvSpPr>
        <p:spPr>
          <a:xfrm>
            <a:off x="539552" y="3253508"/>
            <a:ext cx="7350125" cy="11239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pPr>
            <a:r>
              <a:rPr lang="zh-CN" altLang="en-US" sz="2400" dirty="0">
                <a:latin typeface="Times New Roman" panose="02020603050405020304" pitchFamily="18" charset="0"/>
                <a:ea typeface="宋体" panose="02010600030101010101" pitchFamily="2" charset="-122"/>
              </a:rPr>
              <a:t>扩散法及其杂质分布</a:t>
            </a:r>
          </a:p>
          <a:p>
            <a:pPr>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a:t>
            </a:r>
          </a:p>
        </p:txBody>
      </p:sp>
      <p:pic>
        <p:nvPicPr>
          <p:cNvPr id="7" name="Picture 5" descr="0204">
            <a:extLst>
              <a:ext uri="{FF2B5EF4-FFF2-40B4-BE49-F238E27FC236}">
                <a16:creationId xmlns:a16="http://schemas.microsoft.com/office/drawing/2014/main" id="{054CEFDC-D594-4D6E-A8F2-1A3279C56D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228" y="3774854"/>
            <a:ext cx="7416800" cy="1627188"/>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7">
            <a:extLst>
              <a:ext uri="{FF2B5EF4-FFF2-40B4-BE49-F238E27FC236}">
                <a16:creationId xmlns:a16="http://schemas.microsoft.com/office/drawing/2014/main" id="{B3A189D8-6F99-452E-905E-070559361AB7}"/>
              </a:ext>
            </a:extLst>
          </p:cNvPr>
          <p:cNvSpPr txBox="1">
            <a:spLocks noChangeArrowheads="1"/>
          </p:cNvSpPr>
          <p:nvPr/>
        </p:nvSpPr>
        <p:spPr bwMode="auto">
          <a:xfrm>
            <a:off x="1043608" y="5621116"/>
            <a:ext cx="6480175" cy="87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sz="2400" dirty="0">
                <a:latin typeface="Times New Roman" panose="02020603050405020304" pitchFamily="18" charset="0"/>
                <a:ea typeface="宋体" panose="02010600030101010101" pitchFamily="2" charset="-122"/>
              </a:rPr>
              <a:t>扩散结的形成过程</a:t>
            </a:r>
          </a:p>
          <a:p>
            <a:pPr algn="ctr">
              <a:lnSpc>
                <a:spcPct val="110000"/>
              </a:lnSpc>
            </a:pPr>
            <a:r>
              <a:rPr lang="en-US" altLang="zh-CN" sz="2400" dirty="0">
                <a:latin typeface="Times New Roman" panose="02020603050405020304" pitchFamily="18" charset="0"/>
                <a:ea typeface="宋体" panose="02010600030101010101" pitchFamily="2" charset="-122"/>
              </a:rPr>
              <a:t>a</a:t>
            </a:r>
            <a:r>
              <a:rPr lang="zh-CN" altLang="en-US" sz="2400" dirty="0">
                <a:latin typeface="Times New Roman" panose="02020603050405020304" pitchFamily="18" charset="0"/>
                <a:ea typeface="宋体" panose="02010600030101010101" pitchFamily="2" charset="-122"/>
              </a:rPr>
              <a:t>）氧化 </a:t>
            </a:r>
            <a:r>
              <a:rPr lang="en-US" altLang="zh-CN" sz="2400" dirty="0">
                <a:latin typeface="Times New Roman" panose="02020603050405020304" pitchFamily="18" charset="0"/>
                <a:ea typeface="宋体" panose="02010600030101010101" pitchFamily="2" charset="-122"/>
              </a:rPr>
              <a:t>b</a:t>
            </a:r>
            <a:r>
              <a:rPr lang="zh-CN" altLang="en-US" sz="2400" dirty="0">
                <a:latin typeface="Times New Roman" panose="02020603050405020304" pitchFamily="18" charset="0"/>
                <a:ea typeface="宋体" panose="02010600030101010101" pitchFamily="2" charset="-122"/>
              </a:rPr>
              <a:t>）光刻 </a:t>
            </a:r>
            <a:r>
              <a:rPr lang="en-US" altLang="zh-CN" sz="2400" dirty="0">
                <a:latin typeface="Times New Roman" panose="02020603050405020304" pitchFamily="18" charset="0"/>
                <a:ea typeface="宋体" panose="02010600030101010101" pitchFamily="2" charset="-122"/>
              </a:rPr>
              <a:t>c</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P</a:t>
            </a:r>
            <a:r>
              <a:rPr lang="zh-CN" altLang="en-US" sz="2400" dirty="0">
                <a:latin typeface="Times New Roman" panose="02020603050405020304" pitchFamily="18" charset="0"/>
                <a:ea typeface="宋体" panose="02010600030101010101" pitchFamily="2" charset="-122"/>
              </a:rPr>
              <a:t>型杂质的扩散 </a:t>
            </a:r>
            <a:r>
              <a:rPr lang="en-US" altLang="zh-CN" sz="2400" dirty="0">
                <a:latin typeface="Times New Roman" panose="02020603050405020304" pitchFamily="18" charset="0"/>
                <a:ea typeface="宋体" panose="02010600030101010101" pitchFamily="2" charset="-122"/>
              </a:rPr>
              <a:t>d</a:t>
            </a:r>
            <a:r>
              <a:rPr lang="zh-CN" altLang="en-US" sz="2400" dirty="0">
                <a:latin typeface="Times New Roman" panose="02020603050405020304" pitchFamily="18" charset="0"/>
                <a:ea typeface="宋体" panose="02010600030101010101" pitchFamily="2"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4" descr="0206">
            <a:extLst>
              <a:ext uri="{FF2B5EF4-FFF2-40B4-BE49-F238E27FC236}">
                <a16:creationId xmlns:a16="http://schemas.microsoft.com/office/drawing/2014/main" id="{92E2D400-01AB-4152-960F-C132B2830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976" y="2125266"/>
            <a:ext cx="6481763" cy="1827212"/>
          </a:xfrm>
          <a:prstGeom prst="rect">
            <a:avLst/>
          </a:prstGeom>
          <a:noFill/>
          <a:extLst>
            <a:ext uri="{909E8E84-426E-40DD-AFC4-6F175D3DCCD1}">
              <a14:hiddenFill xmlns:a14="http://schemas.microsoft.com/office/drawing/2010/main">
                <a:solidFill>
                  <a:srgbClr val="FFFFFF"/>
                </a:solidFill>
              </a14:hiddenFill>
            </a:ext>
          </a:extLst>
        </p:spPr>
      </p:pic>
      <p:sp>
        <p:nvSpPr>
          <p:cNvPr id="29701" name="Text Box 5">
            <a:extLst>
              <a:ext uri="{FF2B5EF4-FFF2-40B4-BE49-F238E27FC236}">
                <a16:creationId xmlns:a16="http://schemas.microsoft.com/office/drawing/2014/main" id="{23763DC2-17AD-4D66-9F59-A5A3C9EA865F}"/>
              </a:ext>
            </a:extLst>
          </p:cNvPr>
          <p:cNvSpPr txBox="1">
            <a:spLocks noChangeArrowheads="1"/>
          </p:cNvSpPr>
          <p:nvPr/>
        </p:nvSpPr>
        <p:spPr bwMode="auto">
          <a:xfrm>
            <a:off x="899592" y="1484784"/>
            <a:ext cx="5903912"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342900" indent="-342900">
              <a:spcBef>
                <a:spcPct val="20000"/>
              </a:spcBef>
              <a:buClr>
                <a:schemeClr val="folHlink"/>
              </a:buClr>
              <a:buSzPct val="60000"/>
              <a:buFont typeface="Wingdings" panose="05000000000000000000" pitchFamily="2" charset="2"/>
              <a:buChar char="n"/>
              <a:defRPr sz="2400"/>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a:lnSpc>
                <a:spcPct val="110000"/>
              </a:lnSpc>
              <a:spcBef>
                <a:spcPts val="0"/>
              </a:spcBef>
            </a:pPr>
            <a:r>
              <a:rPr lang="zh-CN" altLang="en-US" dirty="0">
                <a:latin typeface="Times New Roman" panose="02020603050405020304" pitchFamily="18" charset="0"/>
                <a:ea typeface="宋体" panose="02010600030101010101" pitchFamily="2" charset="-122"/>
              </a:rPr>
              <a:t>离子注入</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a:t>
            </a:r>
          </a:p>
        </p:txBody>
      </p:sp>
      <p:sp>
        <p:nvSpPr>
          <p:cNvPr id="29702" name="Text Box 6">
            <a:extLst>
              <a:ext uri="{FF2B5EF4-FFF2-40B4-BE49-F238E27FC236}">
                <a16:creationId xmlns:a16="http://schemas.microsoft.com/office/drawing/2014/main" id="{E917930E-9926-4809-9877-9E2EB4ADFF3F}"/>
              </a:ext>
            </a:extLst>
          </p:cNvPr>
          <p:cNvSpPr txBox="1">
            <a:spLocks noChangeArrowheads="1"/>
          </p:cNvSpPr>
          <p:nvPr/>
        </p:nvSpPr>
        <p:spPr bwMode="auto">
          <a:xfrm>
            <a:off x="899592" y="4319042"/>
            <a:ext cx="7345362"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buClr>
                <a:schemeClr val="folHlink"/>
              </a:buClr>
              <a:buSzPct val="60000"/>
              <a:buFont typeface="Wingdings" panose="05000000000000000000" pitchFamily="2" charset="2"/>
              <a:buChar char="n"/>
            </a:pPr>
            <a:r>
              <a:rPr lang="zh-CN" altLang="en-US" sz="2400" dirty="0">
                <a:latin typeface="Times New Roman" panose="02020603050405020304" pitchFamily="18" charset="0"/>
              </a:rPr>
              <a:t>外延生长法</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7BE03114-7CBC-4C94-A208-9A06C4EB81E4}"/>
              </a:ext>
            </a:extLst>
          </p:cNvPr>
          <p:cNvSpPr>
            <a:spLocks noChangeArrowheads="1"/>
          </p:cNvSpPr>
          <p:nvPr/>
        </p:nvSpPr>
        <p:spPr bwMode="auto">
          <a:xfrm>
            <a:off x="205706" y="908720"/>
            <a:ext cx="8389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zh-CN" altLang="en-US" b="1" dirty="0">
                <a:solidFill>
                  <a:srgbClr val="000066"/>
                </a:solidFill>
              </a:rPr>
              <a:t>采用硅平面工艺制备</a:t>
            </a:r>
            <a:r>
              <a:rPr kumimoji="0" lang="en-US" altLang="zh-CN" b="1" dirty="0">
                <a:solidFill>
                  <a:srgbClr val="000066"/>
                </a:solidFill>
              </a:rPr>
              <a:t>PN</a:t>
            </a:r>
            <a:r>
              <a:rPr kumimoji="0" lang="zh-CN" altLang="en-US" b="1" dirty="0">
                <a:solidFill>
                  <a:srgbClr val="000066"/>
                </a:solidFill>
              </a:rPr>
              <a:t>结的主要工艺过程</a:t>
            </a:r>
            <a:r>
              <a:rPr kumimoji="0" lang="en-US" altLang="zh-CN" b="1" dirty="0">
                <a:solidFill>
                  <a:srgbClr val="000066"/>
                </a:solidFill>
              </a:rPr>
              <a:t>(1)</a:t>
            </a:r>
            <a:endParaRPr kumimoji="0" lang="zh-CN" altLang="en-US" b="1" dirty="0">
              <a:solidFill>
                <a:srgbClr val="000066"/>
              </a:solidFill>
            </a:endParaRPr>
          </a:p>
        </p:txBody>
      </p:sp>
      <p:grpSp>
        <p:nvGrpSpPr>
          <p:cNvPr id="2" name="Group 4">
            <a:extLst>
              <a:ext uri="{FF2B5EF4-FFF2-40B4-BE49-F238E27FC236}">
                <a16:creationId xmlns:a16="http://schemas.microsoft.com/office/drawing/2014/main" id="{DD90E87F-734B-441A-BE4A-C86B67EA6D7F}"/>
              </a:ext>
            </a:extLst>
          </p:cNvPr>
          <p:cNvGrpSpPr>
            <a:grpSpLocks/>
          </p:cNvGrpSpPr>
          <p:nvPr/>
        </p:nvGrpSpPr>
        <p:grpSpPr bwMode="auto">
          <a:xfrm>
            <a:off x="254918" y="1578645"/>
            <a:ext cx="2819400" cy="1585913"/>
            <a:chOff x="144" y="1296"/>
            <a:chExt cx="1776" cy="999"/>
          </a:xfrm>
        </p:grpSpPr>
        <p:graphicFrame>
          <p:nvGraphicFramePr>
            <p:cNvPr id="6194" name="Object 4">
              <a:extLst>
                <a:ext uri="{FF2B5EF4-FFF2-40B4-BE49-F238E27FC236}">
                  <a16:creationId xmlns:a16="http://schemas.microsoft.com/office/drawing/2014/main" id="{2081360E-1591-4C66-93F5-CE11791A16BC}"/>
                </a:ext>
              </a:extLst>
            </p:cNvPr>
            <p:cNvGraphicFramePr>
              <a:graphicFrameLocks noChangeAspect="1"/>
            </p:cNvGraphicFramePr>
            <p:nvPr/>
          </p:nvGraphicFramePr>
          <p:xfrm>
            <a:off x="288" y="1296"/>
            <a:ext cx="1231" cy="749"/>
          </p:xfrm>
          <a:graphic>
            <a:graphicData uri="http://schemas.openxmlformats.org/presentationml/2006/ole">
              <mc:AlternateContent xmlns:mc="http://schemas.openxmlformats.org/markup-compatibility/2006">
                <mc:Choice xmlns:v="urn:schemas-microsoft-com:vml" Requires="v">
                  <p:oleObj spid="_x0000_s108861" name="Visio" r:id="rId3" imgW="4170600" imgH="3121200" progId="Visio.Drawing.11">
                    <p:embed/>
                  </p:oleObj>
                </mc:Choice>
                <mc:Fallback>
                  <p:oleObj name="Visio" r:id="rId3" imgW="4170600" imgH="3121200" progId="Visio.Drawing.11">
                    <p:embed/>
                    <p:pic>
                      <p:nvPicPr>
                        <p:cNvPr id="6194" name="Object 4">
                          <a:extLst>
                            <a:ext uri="{FF2B5EF4-FFF2-40B4-BE49-F238E27FC236}">
                              <a16:creationId xmlns:a16="http://schemas.microsoft.com/office/drawing/2014/main" id="{2081360E-1591-4C66-93F5-CE11791A16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 y="1296"/>
                          <a:ext cx="1231" cy="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95" name="Text Box 5">
              <a:extLst>
                <a:ext uri="{FF2B5EF4-FFF2-40B4-BE49-F238E27FC236}">
                  <a16:creationId xmlns:a16="http://schemas.microsoft.com/office/drawing/2014/main" id="{AEB972D0-A0DF-4937-A6A1-4483EE4FD652}"/>
                </a:ext>
              </a:extLst>
            </p:cNvPr>
            <p:cNvSpPr txBox="1">
              <a:spLocks noChangeArrowheads="1"/>
            </p:cNvSpPr>
            <p:nvPr/>
          </p:nvSpPr>
          <p:spPr bwMode="auto">
            <a:xfrm>
              <a:off x="144" y="2064"/>
              <a:ext cx="17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pPr>
              <a:r>
                <a:rPr lang="en-US" altLang="zh-CN" sz="1800">
                  <a:solidFill>
                    <a:srgbClr val="000066"/>
                  </a:solidFill>
                  <a:latin typeface="Gulim" panose="020B0600000101010101" pitchFamily="34" charset="-127"/>
                </a:rPr>
                <a:t>(a)</a:t>
              </a:r>
              <a:r>
                <a:rPr lang="zh-CN" altLang="en-US" sz="1800">
                  <a:solidFill>
                    <a:srgbClr val="000066"/>
                  </a:solidFill>
                  <a:latin typeface="Gulim" panose="020B0600000101010101" pitchFamily="34" charset="-127"/>
                </a:rPr>
                <a:t>抛光处理后的型硅晶片</a:t>
              </a:r>
              <a:endParaRPr lang="zh-CN" altLang="en-US" sz="1800">
                <a:latin typeface="Gulim" panose="020B0600000101010101" pitchFamily="34" charset="-127"/>
                <a:ea typeface="Gulim" panose="020B0600000101010101" pitchFamily="34" charset="-127"/>
              </a:endParaRPr>
            </a:p>
          </p:txBody>
        </p:sp>
      </p:grpSp>
      <p:grpSp>
        <p:nvGrpSpPr>
          <p:cNvPr id="3" name="Group 7">
            <a:extLst>
              <a:ext uri="{FF2B5EF4-FFF2-40B4-BE49-F238E27FC236}">
                <a16:creationId xmlns:a16="http://schemas.microsoft.com/office/drawing/2014/main" id="{FF231020-28EE-436C-A12C-BF1FEDF99EED}"/>
              </a:ext>
            </a:extLst>
          </p:cNvPr>
          <p:cNvGrpSpPr>
            <a:grpSpLocks/>
          </p:cNvGrpSpPr>
          <p:nvPr/>
        </p:nvGrpSpPr>
        <p:grpSpPr bwMode="auto">
          <a:xfrm>
            <a:off x="3302918" y="1578645"/>
            <a:ext cx="2895600" cy="1784350"/>
            <a:chOff x="2064" y="1296"/>
            <a:chExt cx="1824" cy="1124"/>
          </a:xfrm>
        </p:grpSpPr>
        <p:graphicFrame>
          <p:nvGraphicFramePr>
            <p:cNvPr id="6192" name="Object 6">
              <a:extLst>
                <a:ext uri="{FF2B5EF4-FFF2-40B4-BE49-F238E27FC236}">
                  <a16:creationId xmlns:a16="http://schemas.microsoft.com/office/drawing/2014/main" id="{E58C283A-4FA4-405A-A186-E1BF0032EB5B}"/>
                </a:ext>
              </a:extLst>
            </p:cNvPr>
            <p:cNvGraphicFramePr>
              <a:graphicFrameLocks noChangeAspect="1"/>
            </p:cNvGraphicFramePr>
            <p:nvPr/>
          </p:nvGraphicFramePr>
          <p:xfrm>
            <a:off x="2208" y="1296"/>
            <a:ext cx="1248" cy="730"/>
          </p:xfrm>
          <a:graphic>
            <a:graphicData uri="http://schemas.openxmlformats.org/presentationml/2006/ole">
              <mc:AlternateContent xmlns:mc="http://schemas.openxmlformats.org/markup-compatibility/2006">
                <mc:Choice xmlns:v="urn:schemas-microsoft-com:vml" Requires="v">
                  <p:oleObj spid="_x0000_s108862" name="Visio" r:id="rId5" imgW="1831497" imgH="1071745" progId="">
                    <p:embed/>
                  </p:oleObj>
                </mc:Choice>
                <mc:Fallback>
                  <p:oleObj name="Visio" r:id="rId5" imgW="1831497" imgH="1071745" progId="">
                    <p:embed/>
                    <p:pic>
                      <p:nvPicPr>
                        <p:cNvPr id="6192" name="Object 6">
                          <a:extLst>
                            <a:ext uri="{FF2B5EF4-FFF2-40B4-BE49-F238E27FC236}">
                              <a16:creationId xmlns:a16="http://schemas.microsoft.com/office/drawing/2014/main" id="{E58C283A-4FA4-405A-A186-E1BF0032EB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8" y="1296"/>
                          <a:ext cx="1248" cy="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93" name="Text Box 7">
              <a:extLst>
                <a:ext uri="{FF2B5EF4-FFF2-40B4-BE49-F238E27FC236}">
                  <a16:creationId xmlns:a16="http://schemas.microsoft.com/office/drawing/2014/main" id="{3FC8C405-C734-4981-980D-1D71D0D32812}"/>
                </a:ext>
              </a:extLst>
            </p:cNvPr>
            <p:cNvSpPr txBox="1">
              <a:spLocks noChangeArrowheads="1"/>
            </p:cNvSpPr>
            <p:nvPr/>
          </p:nvSpPr>
          <p:spPr bwMode="auto">
            <a:xfrm>
              <a:off x="2064" y="2016"/>
              <a:ext cx="182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en-US" altLang="zh-CN" sz="1800">
                  <a:solidFill>
                    <a:srgbClr val="000066"/>
                  </a:solidFill>
                </a:rPr>
                <a:t>(b)</a:t>
              </a:r>
              <a:r>
                <a:rPr lang="zh-CN" altLang="en-US" sz="1800">
                  <a:solidFill>
                    <a:srgbClr val="000066"/>
                  </a:solidFill>
                </a:rPr>
                <a:t>采用干法或湿法氧化    工艺的晶片氧化层制作</a:t>
              </a:r>
              <a:r>
                <a:rPr lang="zh-CN" altLang="en-US" sz="1800">
                  <a:latin typeface="Gulim" panose="020B0600000101010101" pitchFamily="34" charset="-127"/>
                  <a:ea typeface="Gulim" panose="020B0600000101010101" pitchFamily="34" charset="-127"/>
                </a:rPr>
                <a:t> </a:t>
              </a:r>
            </a:p>
          </p:txBody>
        </p:sp>
      </p:grpSp>
      <p:grpSp>
        <p:nvGrpSpPr>
          <p:cNvPr id="4" name="Group 10">
            <a:extLst>
              <a:ext uri="{FF2B5EF4-FFF2-40B4-BE49-F238E27FC236}">
                <a16:creationId xmlns:a16="http://schemas.microsoft.com/office/drawing/2014/main" id="{3537C659-0AB3-41A3-ADC8-E8B1CB8DEFA9}"/>
              </a:ext>
            </a:extLst>
          </p:cNvPr>
          <p:cNvGrpSpPr>
            <a:grpSpLocks/>
          </p:cNvGrpSpPr>
          <p:nvPr/>
        </p:nvGrpSpPr>
        <p:grpSpPr bwMode="auto">
          <a:xfrm>
            <a:off x="6046118" y="1426245"/>
            <a:ext cx="2971800" cy="1738313"/>
            <a:chOff x="3792" y="1200"/>
            <a:chExt cx="1872" cy="1095"/>
          </a:xfrm>
        </p:grpSpPr>
        <p:graphicFrame>
          <p:nvGraphicFramePr>
            <p:cNvPr id="6190" name="Object 8">
              <a:extLst>
                <a:ext uri="{FF2B5EF4-FFF2-40B4-BE49-F238E27FC236}">
                  <a16:creationId xmlns:a16="http://schemas.microsoft.com/office/drawing/2014/main" id="{44420344-54FE-4AD6-9CDF-122F66F2D56D}"/>
                </a:ext>
              </a:extLst>
            </p:cNvPr>
            <p:cNvGraphicFramePr>
              <a:graphicFrameLocks noChangeAspect="1"/>
            </p:cNvGraphicFramePr>
            <p:nvPr/>
          </p:nvGraphicFramePr>
          <p:xfrm>
            <a:off x="4032" y="1200"/>
            <a:ext cx="1440" cy="934"/>
          </p:xfrm>
          <a:graphic>
            <a:graphicData uri="http://schemas.openxmlformats.org/presentationml/2006/ole">
              <mc:AlternateContent xmlns:mc="http://schemas.openxmlformats.org/markup-compatibility/2006">
                <mc:Choice xmlns:v="urn:schemas-microsoft-com:vml" Requires="v">
                  <p:oleObj spid="_x0000_s108863" name="Visio" r:id="rId7" imgW="1837800" imgH="1248300" progId="">
                    <p:embed/>
                  </p:oleObj>
                </mc:Choice>
                <mc:Fallback>
                  <p:oleObj name="Visio" r:id="rId7" imgW="1837800" imgH="1248300" progId="">
                    <p:embed/>
                    <p:pic>
                      <p:nvPicPr>
                        <p:cNvPr id="6190" name="Object 8">
                          <a:extLst>
                            <a:ext uri="{FF2B5EF4-FFF2-40B4-BE49-F238E27FC236}">
                              <a16:creationId xmlns:a16="http://schemas.microsoft.com/office/drawing/2014/main" id="{44420344-54FE-4AD6-9CDF-122F66F2D56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2" y="1200"/>
                          <a:ext cx="1440" cy="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91" name="Rectangle 9">
              <a:extLst>
                <a:ext uri="{FF2B5EF4-FFF2-40B4-BE49-F238E27FC236}">
                  <a16:creationId xmlns:a16="http://schemas.microsoft.com/office/drawing/2014/main" id="{A93AE017-551C-42A9-B59C-BC084EC6F653}"/>
                </a:ext>
              </a:extLst>
            </p:cNvPr>
            <p:cNvSpPr>
              <a:spLocks noChangeArrowheads="1"/>
            </p:cNvSpPr>
            <p:nvPr/>
          </p:nvSpPr>
          <p:spPr bwMode="auto">
            <a:xfrm>
              <a:off x="3792" y="2064"/>
              <a:ext cx="18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1800">
                  <a:solidFill>
                    <a:srgbClr val="000066"/>
                  </a:solidFill>
                </a:rPr>
                <a:t>(c)</a:t>
              </a:r>
              <a:r>
                <a:rPr lang="zh-CN" altLang="en-US" sz="1800">
                  <a:solidFill>
                    <a:srgbClr val="000066"/>
                  </a:solidFill>
                </a:rPr>
                <a:t>光刻胶层匀胶及坚膜</a:t>
              </a:r>
              <a:r>
                <a:rPr lang="ko-KR" altLang="en-US" sz="1100">
                  <a:latin typeface="Gulim" panose="020B0600000101010101" pitchFamily="34" charset="-127"/>
                  <a:ea typeface="Gulim" panose="020B0600000101010101" pitchFamily="34" charset="-127"/>
                </a:rPr>
                <a:t> </a:t>
              </a:r>
              <a:endParaRPr lang="ko-KR" altLang="en-US">
                <a:latin typeface="Gulim" panose="020B0600000101010101" pitchFamily="34" charset="-127"/>
                <a:ea typeface="Gulim" panose="020B0600000101010101" pitchFamily="34" charset="-127"/>
              </a:endParaRPr>
            </a:p>
          </p:txBody>
        </p:sp>
      </p:grpSp>
      <p:grpSp>
        <p:nvGrpSpPr>
          <p:cNvPr id="5" name="Group 13">
            <a:extLst>
              <a:ext uri="{FF2B5EF4-FFF2-40B4-BE49-F238E27FC236}">
                <a16:creationId xmlns:a16="http://schemas.microsoft.com/office/drawing/2014/main" id="{DCB1CEA1-3588-4AE8-BDD9-831D4E350598}"/>
              </a:ext>
            </a:extLst>
          </p:cNvPr>
          <p:cNvGrpSpPr>
            <a:grpSpLocks/>
          </p:cNvGrpSpPr>
          <p:nvPr/>
        </p:nvGrpSpPr>
        <p:grpSpPr bwMode="auto">
          <a:xfrm>
            <a:off x="26318" y="3178845"/>
            <a:ext cx="3352800" cy="2271713"/>
            <a:chOff x="0" y="2304"/>
            <a:chExt cx="2112" cy="1431"/>
          </a:xfrm>
        </p:grpSpPr>
        <p:sp>
          <p:nvSpPr>
            <p:cNvPr id="6188" name="Text Box 10">
              <a:extLst>
                <a:ext uri="{FF2B5EF4-FFF2-40B4-BE49-F238E27FC236}">
                  <a16:creationId xmlns:a16="http://schemas.microsoft.com/office/drawing/2014/main" id="{2B801105-BE3A-43B4-875B-F354C16CD5E6}"/>
                </a:ext>
              </a:extLst>
            </p:cNvPr>
            <p:cNvSpPr txBox="1">
              <a:spLocks noChangeArrowheads="1"/>
            </p:cNvSpPr>
            <p:nvPr/>
          </p:nvSpPr>
          <p:spPr bwMode="auto">
            <a:xfrm>
              <a:off x="340" y="3504"/>
              <a:ext cx="14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1800">
                  <a:solidFill>
                    <a:srgbClr val="000066"/>
                  </a:solidFill>
                </a:rPr>
                <a:t>（</a:t>
              </a:r>
              <a:r>
                <a:rPr lang="en-US" altLang="zh-CN" sz="1800">
                  <a:solidFill>
                    <a:srgbClr val="000066"/>
                  </a:solidFill>
                </a:rPr>
                <a:t>d)</a:t>
              </a:r>
              <a:r>
                <a:rPr lang="zh-CN" altLang="en-US" sz="1800">
                  <a:solidFill>
                    <a:srgbClr val="000066"/>
                  </a:solidFill>
                </a:rPr>
                <a:t>图形掩膜、曝光</a:t>
              </a:r>
              <a:r>
                <a:rPr lang="zh-CN" altLang="en-US" sz="1800">
                  <a:latin typeface="Gulim" panose="020B0600000101010101" pitchFamily="34" charset="-127"/>
                  <a:ea typeface="Gulim" panose="020B0600000101010101" pitchFamily="34" charset="-127"/>
                </a:rPr>
                <a:t> </a:t>
              </a:r>
            </a:p>
          </p:txBody>
        </p:sp>
        <p:graphicFrame>
          <p:nvGraphicFramePr>
            <p:cNvPr id="6189" name="Object 11">
              <a:extLst>
                <a:ext uri="{FF2B5EF4-FFF2-40B4-BE49-F238E27FC236}">
                  <a16:creationId xmlns:a16="http://schemas.microsoft.com/office/drawing/2014/main" id="{E102EE89-3885-4F2B-BB0A-366D070910F7}"/>
                </a:ext>
              </a:extLst>
            </p:cNvPr>
            <p:cNvGraphicFramePr>
              <a:graphicFrameLocks noChangeAspect="1"/>
            </p:cNvGraphicFramePr>
            <p:nvPr/>
          </p:nvGraphicFramePr>
          <p:xfrm>
            <a:off x="0" y="2304"/>
            <a:ext cx="2112" cy="1200"/>
          </p:xfrm>
          <a:graphic>
            <a:graphicData uri="http://schemas.openxmlformats.org/presentationml/2006/ole">
              <mc:AlternateContent xmlns:mc="http://schemas.openxmlformats.org/markup-compatibility/2006">
                <mc:Choice xmlns:v="urn:schemas-microsoft-com:vml" Requires="v">
                  <p:oleObj spid="_x0000_s108864" name="Visio" r:id="rId9" imgW="2839500" imgH="1844100" progId="">
                    <p:embed/>
                  </p:oleObj>
                </mc:Choice>
                <mc:Fallback>
                  <p:oleObj name="Visio" r:id="rId9" imgW="2839500" imgH="1844100" progId="">
                    <p:embed/>
                    <p:pic>
                      <p:nvPicPr>
                        <p:cNvPr id="6189" name="Object 11">
                          <a:extLst>
                            <a:ext uri="{FF2B5EF4-FFF2-40B4-BE49-F238E27FC236}">
                              <a16:creationId xmlns:a16="http://schemas.microsoft.com/office/drawing/2014/main" id="{E102EE89-3885-4F2B-BB0A-366D070910F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304"/>
                          <a:ext cx="2112"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16">
            <a:extLst>
              <a:ext uri="{FF2B5EF4-FFF2-40B4-BE49-F238E27FC236}">
                <a16:creationId xmlns:a16="http://schemas.microsoft.com/office/drawing/2014/main" id="{F5D7D824-4853-4483-AD4E-C67B35A9DAB0}"/>
              </a:ext>
            </a:extLst>
          </p:cNvPr>
          <p:cNvGrpSpPr>
            <a:grpSpLocks/>
          </p:cNvGrpSpPr>
          <p:nvPr/>
        </p:nvGrpSpPr>
        <p:grpSpPr bwMode="auto">
          <a:xfrm>
            <a:off x="3531518" y="3559845"/>
            <a:ext cx="2743200" cy="2501900"/>
            <a:chOff x="2208" y="2544"/>
            <a:chExt cx="1728" cy="1576"/>
          </a:xfrm>
        </p:grpSpPr>
        <p:sp>
          <p:nvSpPr>
            <p:cNvPr id="6156" name="Text Box 13">
              <a:extLst>
                <a:ext uri="{FF2B5EF4-FFF2-40B4-BE49-F238E27FC236}">
                  <a16:creationId xmlns:a16="http://schemas.microsoft.com/office/drawing/2014/main" id="{377CE2DC-4F32-4C72-942A-6584A1729CF7}"/>
                </a:ext>
              </a:extLst>
            </p:cNvPr>
            <p:cNvSpPr txBox="1">
              <a:spLocks noChangeArrowheads="1"/>
            </p:cNvSpPr>
            <p:nvPr/>
          </p:nvSpPr>
          <p:spPr bwMode="auto">
            <a:xfrm>
              <a:off x="2208" y="3456"/>
              <a:ext cx="1728"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pPr>
              <a:r>
                <a:rPr lang="en-US" altLang="zh-CN" sz="1800">
                  <a:solidFill>
                    <a:srgbClr val="000066"/>
                  </a:solidFill>
                </a:rPr>
                <a:t>(e)</a:t>
              </a:r>
              <a:r>
                <a:rPr lang="zh-CN" altLang="en-US" sz="1800">
                  <a:solidFill>
                    <a:srgbClr val="000066"/>
                  </a:solidFill>
                </a:rPr>
                <a:t>曝光后去掉扩散窗口胶膜的晶片</a:t>
              </a:r>
              <a:endParaRPr lang="zh-CN" altLang="en-US" sz="1800">
                <a:solidFill>
                  <a:srgbClr val="000066"/>
                </a:solidFill>
                <a:latin typeface="Gulim" panose="020B0600000101010101" pitchFamily="34" charset="-127"/>
              </a:endParaRPr>
            </a:p>
            <a:p>
              <a:pPr eaLnBrk="1" hangingPunct="1">
                <a:spcBef>
                  <a:spcPct val="50000"/>
                </a:spcBef>
              </a:pPr>
              <a:endParaRPr lang="zh-CN" altLang="en-US" sz="1800">
                <a:solidFill>
                  <a:srgbClr val="000066"/>
                </a:solidFill>
                <a:latin typeface="Gulim" panose="020B0600000101010101" pitchFamily="34" charset="-127"/>
              </a:endParaRPr>
            </a:p>
          </p:txBody>
        </p:sp>
        <p:grpSp>
          <p:nvGrpSpPr>
            <p:cNvPr id="6157" name="Group 15">
              <a:extLst>
                <a:ext uri="{FF2B5EF4-FFF2-40B4-BE49-F238E27FC236}">
                  <a16:creationId xmlns:a16="http://schemas.microsoft.com/office/drawing/2014/main" id="{674893A7-14CC-4BFB-B4A8-984EC395E68F}"/>
                </a:ext>
              </a:extLst>
            </p:cNvPr>
            <p:cNvGrpSpPr>
              <a:grpSpLocks/>
            </p:cNvGrpSpPr>
            <p:nvPr/>
          </p:nvGrpSpPr>
          <p:grpSpPr bwMode="auto">
            <a:xfrm>
              <a:off x="2352" y="2544"/>
              <a:ext cx="1296" cy="788"/>
              <a:chOff x="6657" y="5461"/>
              <a:chExt cx="2961" cy="1733"/>
            </a:xfrm>
          </p:grpSpPr>
          <p:sp>
            <p:nvSpPr>
              <p:cNvPr id="6158" name="Freeform 16">
                <a:extLst>
                  <a:ext uri="{FF2B5EF4-FFF2-40B4-BE49-F238E27FC236}">
                    <a16:creationId xmlns:a16="http://schemas.microsoft.com/office/drawing/2014/main" id="{A0DA40A9-9483-46E6-8D6A-718F4F5F7941}"/>
                  </a:ext>
                </a:extLst>
              </p:cNvPr>
              <p:cNvSpPr>
                <a:spLocks/>
              </p:cNvSpPr>
              <p:nvPr/>
            </p:nvSpPr>
            <p:spPr bwMode="auto">
              <a:xfrm>
                <a:off x="6660" y="5652"/>
                <a:ext cx="2958" cy="683"/>
              </a:xfrm>
              <a:custGeom>
                <a:avLst/>
                <a:gdLst>
                  <a:gd name="T0" fmla="*/ 0 w 2958"/>
                  <a:gd name="T1" fmla="*/ 0 h 683"/>
                  <a:gd name="T2" fmla="*/ 2252 w 2958"/>
                  <a:gd name="T3" fmla="*/ 0 h 683"/>
                  <a:gd name="T4" fmla="*/ 2958 w 2958"/>
                  <a:gd name="T5" fmla="*/ 668 h 683"/>
                  <a:gd name="T6" fmla="*/ 691 w 2958"/>
                  <a:gd name="T7" fmla="*/ 683 h 683"/>
                  <a:gd name="T8" fmla="*/ 0 w 2958"/>
                  <a:gd name="T9" fmla="*/ 0 h 683"/>
                  <a:gd name="T10" fmla="*/ 0 w 2958"/>
                  <a:gd name="T11" fmla="*/ 0 h 683"/>
                  <a:gd name="T12" fmla="*/ 0 60000 65536"/>
                  <a:gd name="T13" fmla="*/ 0 60000 65536"/>
                  <a:gd name="T14" fmla="*/ 0 60000 65536"/>
                  <a:gd name="T15" fmla="*/ 0 60000 65536"/>
                  <a:gd name="T16" fmla="*/ 0 60000 65536"/>
                  <a:gd name="T17" fmla="*/ 0 60000 65536"/>
                  <a:gd name="T18" fmla="*/ 0 w 2958"/>
                  <a:gd name="T19" fmla="*/ 0 h 683"/>
                  <a:gd name="T20" fmla="*/ 2958 w 2958"/>
                  <a:gd name="T21" fmla="*/ 683 h 683"/>
                </a:gdLst>
                <a:ahLst/>
                <a:cxnLst>
                  <a:cxn ang="T12">
                    <a:pos x="T0" y="T1"/>
                  </a:cxn>
                  <a:cxn ang="T13">
                    <a:pos x="T2" y="T3"/>
                  </a:cxn>
                  <a:cxn ang="T14">
                    <a:pos x="T4" y="T5"/>
                  </a:cxn>
                  <a:cxn ang="T15">
                    <a:pos x="T6" y="T7"/>
                  </a:cxn>
                  <a:cxn ang="T16">
                    <a:pos x="T8" y="T9"/>
                  </a:cxn>
                  <a:cxn ang="T17">
                    <a:pos x="T10" y="T11"/>
                  </a:cxn>
                </a:cxnLst>
                <a:rect l="T18" t="T19" r="T20" b="T21"/>
                <a:pathLst>
                  <a:path w="2958" h="683">
                    <a:moveTo>
                      <a:pt x="0" y="0"/>
                    </a:moveTo>
                    <a:lnTo>
                      <a:pt x="2252" y="0"/>
                    </a:lnTo>
                    <a:lnTo>
                      <a:pt x="2958" y="668"/>
                    </a:lnTo>
                    <a:lnTo>
                      <a:pt x="691" y="68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59" name="Freeform 17">
                <a:extLst>
                  <a:ext uri="{FF2B5EF4-FFF2-40B4-BE49-F238E27FC236}">
                    <a16:creationId xmlns:a16="http://schemas.microsoft.com/office/drawing/2014/main" id="{D3AF2727-0FFB-4FC8-804C-4D8F36D7A915}"/>
                  </a:ext>
                </a:extLst>
              </p:cNvPr>
              <p:cNvSpPr>
                <a:spLocks/>
              </p:cNvSpPr>
              <p:nvPr/>
            </p:nvSpPr>
            <p:spPr bwMode="auto">
              <a:xfrm>
                <a:off x="6660" y="5652"/>
                <a:ext cx="2958" cy="683"/>
              </a:xfrm>
              <a:custGeom>
                <a:avLst/>
                <a:gdLst>
                  <a:gd name="T0" fmla="*/ 0 w 2958"/>
                  <a:gd name="T1" fmla="*/ 0 h 683"/>
                  <a:gd name="T2" fmla="*/ 2252 w 2958"/>
                  <a:gd name="T3" fmla="*/ 0 h 683"/>
                  <a:gd name="T4" fmla="*/ 2958 w 2958"/>
                  <a:gd name="T5" fmla="*/ 668 h 683"/>
                  <a:gd name="T6" fmla="*/ 691 w 2958"/>
                  <a:gd name="T7" fmla="*/ 683 h 683"/>
                  <a:gd name="T8" fmla="*/ 0 w 2958"/>
                  <a:gd name="T9" fmla="*/ 0 h 683"/>
                  <a:gd name="T10" fmla="*/ 0 w 2958"/>
                  <a:gd name="T11" fmla="*/ 0 h 683"/>
                  <a:gd name="T12" fmla="*/ 0 60000 65536"/>
                  <a:gd name="T13" fmla="*/ 0 60000 65536"/>
                  <a:gd name="T14" fmla="*/ 0 60000 65536"/>
                  <a:gd name="T15" fmla="*/ 0 60000 65536"/>
                  <a:gd name="T16" fmla="*/ 0 60000 65536"/>
                  <a:gd name="T17" fmla="*/ 0 60000 65536"/>
                  <a:gd name="T18" fmla="*/ 0 w 2958"/>
                  <a:gd name="T19" fmla="*/ 0 h 683"/>
                  <a:gd name="T20" fmla="*/ 2958 w 2958"/>
                  <a:gd name="T21" fmla="*/ 683 h 683"/>
                </a:gdLst>
                <a:ahLst/>
                <a:cxnLst>
                  <a:cxn ang="T12">
                    <a:pos x="T0" y="T1"/>
                  </a:cxn>
                  <a:cxn ang="T13">
                    <a:pos x="T2" y="T3"/>
                  </a:cxn>
                  <a:cxn ang="T14">
                    <a:pos x="T4" y="T5"/>
                  </a:cxn>
                  <a:cxn ang="T15">
                    <a:pos x="T6" y="T7"/>
                  </a:cxn>
                  <a:cxn ang="T16">
                    <a:pos x="T8" y="T9"/>
                  </a:cxn>
                  <a:cxn ang="T17">
                    <a:pos x="T10" y="T11"/>
                  </a:cxn>
                </a:cxnLst>
                <a:rect l="T18" t="T19" r="T20" b="T21"/>
                <a:pathLst>
                  <a:path w="2958" h="683">
                    <a:moveTo>
                      <a:pt x="0" y="0"/>
                    </a:moveTo>
                    <a:lnTo>
                      <a:pt x="2252" y="0"/>
                    </a:lnTo>
                    <a:lnTo>
                      <a:pt x="2958" y="668"/>
                    </a:lnTo>
                    <a:lnTo>
                      <a:pt x="691" y="683"/>
                    </a:lnTo>
                    <a:lnTo>
                      <a:pt x="0" y="0"/>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0" name="Line 18">
                <a:extLst>
                  <a:ext uri="{FF2B5EF4-FFF2-40B4-BE49-F238E27FC236}">
                    <a16:creationId xmlns:a16="http://schemas.microsoft.com/office/drawing/2014/main" id="{5F94F5A0-0FF4-4763-9D08-6A747CD5D22B}"/>
                  </a:ext>
                </a:extLst>
              </p:cNvPr>
              <p:cNvSpPr>
                <a:spLocks noChangeShapeType="1"/>
              </p:cNvSpPr>
              <p:nvPr/>
            </p:nvSpPr>
            <p:spPr bwMode="auto">
              <a:xfrm>
                <a:off x="9603" y="6496"/>
                <a:ext cx="7" cy="486"/>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1" name="Line 19">
                <a:extLst>
                  <a:ext uri="{FF2B5EF4-FFF2-40B4-BE49-F238E27FC236}">
                    <a16:creationId xmlns:a16="http://schemas.microsoft.com/office/drawing/2014/main" id="{461F82A0-3008-4BB2-BEBA-F2B80C86248A}"/>
                  </a:ext>
                </a:extLst>
              </p:cNvPr>
              <p:cNvSpPr>
                <a:spLocks noChangeShapeType="1"/>
              </p:cNvSpPr>
              <p:nvPr/>
            </p:nvSpPr>
            <p:spPr bwMode="auto">
              <a:xfrm>
                <a:off x="6660" y="5637"/>
                <a:ext cx="1" cy="683"/>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2" name="Rectangle 20">
                <a:extLst>
                  <a:ext uri="{FF2B5EF4-FFF2-40B4-BE49-F238E27FC236}">
                    <a16:creationId xmlns:a16="http://schemas.microsoft.com/office/drawing/2014/main" id="{4B9DA892-8263-4561-AB2B-D7B32CFC0E07}"/>
                  </a:ext>
                </a:extLst>
              </p:cNvPr>
              <p:cNvSpPr>
                <a:spLocks noChangeArrowheads="1"/>
              </p:cNvSpPr>
              <p:nvPr/>
            </p:nvSpPr>
            <p:spPr bwMode="auto">
              <a:xfrm>
                <a:off x="7359" y="6144"/>
                <a:ext cx="783" cy="1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163" name="Rectangle 21">
                <a:extLst>
                  <a:ext uri="{FF2B5EF4-FFF2-40B4-BE49-F238E27FC236}">
                    <a16:creationId xmlns:a16="http://schemas.microsoft.com/office/drawing/2014/main" id="{2BB3FCEC-1BEF-4AD0-816F-4ED796A4536E}"/>
                  </a:ext>
                </a:extLst>
              </p:cNvPr>
              <p:cNvSpPr>
                <a:spLocks noChangeArrowheads="1"/>
              </p:cNvSpPr>
              <p:nvPr/>
            </p:nvSpPr>
            <p:spPr bwMode="auto">
              <a:xfrm>
                <a:off x="7359" y="6144"/>
                <a:ext cx="783" cy="184"/>
              </a:xfrm>
              <a:prstGeom prst="rect">
                <a:avLst/>
              </a:pr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164" name="Freeform 22">
                <a:extLst>
                  <a:ext uri="{FF2B5EF4-FFF2-40B4-BE49-F238E27FC236}">
                    <a16:creationId xmlns:a16="http://schemas.microsoft.com/office/drawing/2014/main" id="{A6B581F7-66C5-4F2F-BA87-2834BAAA9768}"/>
                  </a:ext>
                </a:extLst>
              </p:cNvPr>
              <p:cNvSpPr>
                <a:spLocks/>
              </p:cNvSpPr>
              <p:nvPr/>
            </p:nvSpPr>
            <p:spPr bwMode="auto">
              <a:xfrm>
                <a:off x="6667" y="5461"/>
                <a:ext cx="684" cy="852"/>
              </a:xfrm>
              <a:custGeom>
                <a:avLst/>
                <a:gdLst>
                  <a:gd name="T0" fmla="*/ 0 w 684"/>
                  <a:gd name="T1" fmla="*/ 0 h 852"/>
                  <a:gd name="T2" fmla="*/ 684 w 684"/>
                  <a:gd name="T3" fmla="*/ 675 h 852"/>
                  <a:gd name="T4" fmla="*/ 684 w 684"/>
                  <a:gd name="T5" fmla="*/ 852 h 852"/>
                  <a:gd name="T6" fmla="*/ 0 w 684"/>
                  <a:gd name="T7" fmla="*/ 183 h 852"/>
                  <a:gd name="T8" fmla="*/ 0 w 684"/>
                  <a:gd name="T9" fmla="*/ 0 h 852"/>
                  <a:gd name="T10" fmla="*/ 0 w 684"/>
                  <a:gd name="T11" fmla="*/ 0 h 852"/>
                  <a:gd name="T12" fmla="*/ 0 60000 65536"/>
                  <a:gd name="T13" fmla="*/ 0 60000 65536"/>
                  <a:gd name="T14" fmla="*/ 0 60000 65536"/>
                  <a:gd name="T15" fmla="*/ 0 60000 65536"/>
                  <a:gd name="T16" fmla="*/ 0 60000 65536"/>
                  <a:gd name="T17" fmla="*/ 0 60000 65536"/>
                  <a:gd name="T18" fmla="*/ 0 w 684"/>
                  <a:gd name="T19" fmla="*/ 0 h 852"/>
                  <a:gd name="T20" fmla="*/ 684 w 684"/>
                  <a:gd name="T21" fmla="*/ 852 h 852"/>
                </a:gdLst>
                <a:ahLst/>
                <a:cxnLst>
                  <a:cxn ang="T12">
                    <a:pos x="T0" y="T1"/>
                  </a:cxn>
                  <a:cxn ang="T13">
                    <a:pos x="T2" y="T3"/>
                  </a:cxn>
                  <a:cxn ang="T14">
                    <a:pos x="T4" y="T5"/>
                  </a:cxn>
                  <a:cxn ang="T15">
                    <a:pos x="T6" y="T7"/>
                  </a:cxn>
                  <a:cxn ang="T16">
                    <a:pos x="T8" y="T9"/>
                  </a:cxn>
                  <a:cxn ang="T17">
                    <a:pos x="T10" y="T11"/>
                  </a:cxn>
                </a:cxnLst>
                <a:rect l="T18" t="T19" r="T20" b="T21"/>
                <a:pathLst>
                  <a:path w="684" h="852">
                    <a:moveTo>
                      <a:pt x="0" y="0"/>
                    </a:moveTo>
                    <a:lnTo>
                      <a:pt x="684" y="675"/>
                    </a:lnTo>
                    <a:lnTo>
                      <a:pt x="684" y="852"/>
                    </a:lnTo>
                    <a:lnTo>
                      <a:pt x="0" y="18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5" name="Freeform 23">
                <a:extLst>
                  <a:ext uri="{FF2B5EF4-FFF2-40B4-BE49-F238E27FC236}">
                    <a16:creationId xmlns:a16="http://schemas.microsoft.com/office/drawing/2014/main" id="{119BFAA2-4872-4D64-BE1B-BD04CBF07237}"/>
                  </a:ext>
                </a:extLst>
              </p:cNvPr>
              <p:cNvSpPr>
                <a:spLocks/>
              </p:cNvSpPr>
              <p:nvPr/>
            </p:nvSpPr>
            <p:spPr bwMode="auto">
              <a:xfrm>
                <a:off x="6667" y="5461"/>
                <a:ext cx="684" cy="852"/>
              </a:xfrm>
              <a:custGeom>
                <a:avLst/>
                <a:gdLst>
                  <a:gd name="T0" fmla="*/ 0 w 684"/>
                  <a:gd name="T1" fmla="*/ 0 h 852"/>
                  <a:gd name="T2" fmla="*/ 684 w 684"/>
                  <a:gd name="T3" fmla="*/ 675 h 852"/>
                  <a:gd name="T4" fmla="*/ 684 w 684"/>
                  <a:gd name="T5" fmla="*/ 852 h 852"/>
                  <a:gd name="T6" fmla="*/ 0 w 684"/>
                  <a:gd name="T7" fmla="*/ 183 h 852"/>
                  <a:gd name="T8" fmla="*/ 0 w 684"/>
                  <a:gd name="T9" fmla="*/ 0 h 852"/>
                  <a:gd name="T10" fmla="*/ 0 w 684"/>
                  <a:gd name="T11" fmla="*/ 0 h 852"/>
                  <a:gd name="T12" fmla="*/ 0 60000 65536"/>
                  <a:gd name="T13" fmla="*/ 0 60000 65536"/>
                  <a:gd name="T14" fmla="*/ 0 60000 65536"/>
                  <a:gd name="T15" fmla="*/ 0 60000 65536"/>
                  <a:gd name="T16" fmla="*/ 0 60000 65536"/>
                  <a:gd name="T17" fmla="*/ 0 60000 65536"/>
                  <a:gd name="T18" fmla="*/ 0 w 684"/>
                  <a:gd name="T19" fmla="*/ 0 h 852"/>
                  <a:gd name="T20" fmla="*/ 684 w 684"/>
                  <a:gd name="T21" fmla="*/ 852 h 852"/>
                </a:gdLst>
                <a:ahLst/>
                <a:cxnLst>
                  <a:cxn ang="T12">
                    <a:pos x="T0" y="T1"/>
                  </a:cxn>
                  <a:cxn ang="T13">
                    <a:pos x="T2" y="T3"/>
                  </a:cxn>
                  <a:cxn ang="T14">
                    <a:pos x="T4" y="T5"/>
                  </a:cxn>
                  <a:cxn ang="T15">
                    <a:pos x="T6" y="T7"/>
                  </a:cxn>
                  <a:cxn ang="T16">
                    <a:pos x="T8" y="T9"/>
                  </a:cxn>
                  <a:cxn ang="T17">
                    <a:pos x="T10" y="T11"/>
                  </a:cxn>
                </a:cxnLst>
                <a:rect l="T18" t="T19" r="T20" b="T21"/>
                <a:pathLst>
                  <a:path w="684" h="852">
                    <a:moveTo>
                      <a:pt x="0" y="0"/>
                    </a:moveTo>
                    <a:lnTo>
                      <a:pt x="684" y="675"/>
                    </a:lnTo>
                    <a:lnTo>
                      <a:pt x="684" y="852"/>
                    </a:lnTo>
                    <a:lnTo>
                      <a:pt x="0" y="183"/>
                    </a:lnTo>
                    <a:lnTo>
                      <a:pt x="0" y="0"/>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6" name="Freeform 24">
                <a:extLst>
                  <a:ext uri="{FF2B5EF4-FFF2-40B4-BE49-F238E27FC236}">
                    <a16:creationId xmlns:a16="http://schemas.microsoft.com/office/drawing/2014/main" id="{0EBE480E-6A5E-49F2-866D-28256F126735}"/>
                  </a:ext>
                </a:extLst>
              </p:cNvPr>
              <p:cNvSpPr>
                <a:spLocks/>
              </p:cNvSpPr>
              <p:nvPr/>
            </p:nvSpPr>
            <p:spPr bwMode="auto">
              <a:xfrm>
                <a:off x="6660" y="5475"/>
                <a:ext cx="1496" cy="669"/>
              </a:xfrm>
              <a:custGeom>
                <a:avLst/>
                <a:gdLst>
                  <a:gd name="T0" fmla="*/ 0 w 1496"/>
                  <a:gd name="T1" fmla="*/ 0 h 669"/>
                  <a:gd name="T2" fmla="*/ 791 w 1496"/>
                  <a:gd name="T3" fmla="*/ 0 h 669"/>
                  <a:gd name="T4" fmla="*/ 1496 w 1496"/>
                  <a:gd name="T5" fmla="*/ 669 h 669"/>
                  <a:gd name="T6" fmla="*/ 699 w 1496"/>
                  <a:gd name="T7" fmla="*/ 669 h 669"/>
                  <a:gd name="T8" fmla="*/ 0 w 1496"/>
                  <a:gd name="T9" fmla="*/ 0 h 669"/>
                  <a:gd name="T10" fmla="*/ 0 w 1496"/>
                  <a:gd name="T11" fmla="*/ 0 h 669"/>
                  <a:gd name="T12" fmla="*/ 0 60000 65536"/>
                  <a:gd name="T13" fmla="*/ 0 60000 65536"/>
                  <a:gd name="T14" fmla="*/ 0 60000 65536"/>
                  <a:gd name="T15" fmla="*/ 0 60000 65536"/>
                  <a:gd name="T16" fmla="*/ 0 60000 65536"/>
                  <a:gd name="T17" fmla="*/ 0 60000 65536"/>
                  <a:gd name="T18" fmla="*/ 0 w 1496"/>
                  <a:gd name="T19" fmla="*/ 0 h 669"/>
                  <a:gd name="T20" fmla="*/ 1496 w 1496"/>
                  <a:gd name="T21" fmla="*/ 669 h 669"/>
                </a:gdLst>
                <a:ahLst/>
                <a:cxnLst>
                  <a:cxn ang="T12">
                    <a:pos x="T0" y="T1"/>
                  </a:cxn>
                  <a:cxn ang="T13">
                    <a:pos x="T2" y="T3"/>
                  </a:cxn>
                  <a:cxn ang="T14">
                    <a:pos x="T4" y="T5"/>
                  </a:cxn>
                  <a:cxn ang="T15">
                    <a:pos x="T6" y="T7"/>
                  </a:cxn>
                  <a:cxn ang="T16">
                    <a:pos x="T8" y="T9"/>
                  </a:cxn>
                  <a:cxn ang="T17">
                    <a:pos x="T10" y="T11"/>
                  </a:cxn>
                </a:cxnLst>
                <a:rect l="T18" t="T19" r="T20" b="T21"/>
                <a:pathLst>
                  <a:path w="1496" h="669">
                    <a:moveTo>
                      <a:pt x="0" y="0"/>
                    </a:moveTo>
                    <a:lnTo>
                      <a:pt x="791" y="0"/>
                    </a:lnTo>
                    <a:lnTo>
                      <a:pt x="1496" y="669"/>
                    </a:lnTo>
                    <a:lnTo>
                      <a:pt x="699" y="669"/>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7" name="Freeform 25">
                <a:extLst>
                  <a:ext uri="{FF2B5EF4-FFF2-40B4-BE49-F238E27FC236}">
                    <a16:creationId xmlns:a16="http://schemas.microsoft.com/office/drawing/2014/main" id="{6877340A-5489-452A-B8BF-4FD1CFAA7B2E}"/>
                  </a:ext>
                </a:extLst>
              </p:cNvPr>
              <p:cNvSpPr>
                <a:spLocks/>
              </p:cNvSpPr>
              <p:nvPr/>
            </p:nvSpPr>
            <p:spPr bwMode="auto">
              <a:xfrm>
                <a:off x="6660" y="5475"/>
                <a:ext cx="1496" cy="669"/>
              </a:xfrm>
              <a:custGeom>
                <a:avLst/>
                <a:gdLst>
                  <a:gd name="T0" fmla="*/ 0 w 1496"/>
                  <a:gd name="T1" fmla="*/ 0 h 669"/>
                  <a:gd name="T2" fmla="*/ 791 w 1496"/>
                  <a:gd name="T3" fmla="*/ 0 h 669"/>
                  <a:gd name="T4" fmla="*/ 1496 w 1496"/>
                  <a:gd name="T5" fmla="*/ 669 h 669"/>
                  <a:gd name="T6" fmla="*/ 699 w 1496"/>
                  <a:gd name="T7" fmla="*/ 669 h 669"/>
                  <a:gd name="T8" fmla="*/ 0 w 1496"/>
                  <a:gd name="T9" fmla="*/ 0 h 669"/>
                  <a:gd name="T10" fmla="*/ 0 w 1496"/>
                  <a:gd name="T11" fmla="*/ 0 h 669"/>
                  <a:gd name="T12" fmla="*/ 0 60000 65536"/>
                  <a:gd name="T13" fmla="*/ 0 60000 65536"/>
                  <a:gd name="T14" fmla="*/ 0 60000 65536"/>
                  <a:gd name="T15" fmla="*/ 0 60000 65536"/>
                  <a:gd name="T16" fmla="*/ 0 60000 65536"/>
                  <a:gd name="T17" fmla="*/ 0 60000 65536"/>
                  <a:gd name="T18" fmla="*/ 0 w 1496"/>
                  <a:gd name="T19" fmla="*/ 0 h 669"/>
                  <a:gd name="T20" fmla="*/ 1496 w 1496"/>
                  <a:gd name="T21" fmla="*/ 669 h 669"/>
                </a:gdLst>
                <a:ahLst/>
                <a:cxnLst>
                  <a:cxn ang="T12">
                    <a:pos x="T0" y="T1"/>
                  </a:cxn>
                  <a:cxn ang="T13">
                    <a:pos x="T2" y="T3"/>
                  </a:cxn>
                  <a:cxn ang="T14">
                    <a:pos x="T4" y="T5"/>
                  </a:cxn>
                  <a:cxn ang="T15">
                    <a:pos x="T6" y="T7"/>
                  </a:cxn>
                  <a:cxn ang="T16">
                    <a:pos x="T8" y="T9"/>
                  </a:cxn>
                  <a:cxn ang="T17">
                    <a:pos x="T10" y="T11"/>
                  </a:cxn>
                </a:cxnLst>
                <a:rect l="T18" t="T19" r="T20" b="T21"/>
                <a:pathLst>
                  <a:path w="1496" h="669">
                    <a:moveTo>
                      <a:pt x="0" y="0"/>
                    </a:moveTo>
                    <a:lnTo>
                      <a:pt x="791" y="0"/>
                    </a:lnTo>
                    <a:lnTo>
                      <a:pt x="1496" y="669"/>
                    </a:lnTo>
                    <a:lnTo>
                      <a:pt x="699" y="669"/>
                    </a:lnTo>
                    <a:lnTo>
                      <a:pt x="0" y="0"/>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8" name="Rectangle 26">
                <a:extLst>
                  <a:ext uri="{FF2B5EF4-FFF2-40B4-BE49-F238E27FC236}">
                    <a16:creationId xmlns:a16="http://schemas.microsoft.com/office/drawing/2014/main" id="{3759E85E-B913-4DE3-ADBA-A710059BC68E}"/>
                  </a:ext>
                </a:extLst>
              </p:cNvPr>
              <p:cNvSpPr>
                <a:spLocks noChangeArrowheads="1"/>
              </p:cNvSpPr>
              <p:nvPr/>
            </p:nvSpPr>
            <p:spPr bwMode="auto">
              <a:xfrm>
                <a:off x="8820" y="6151"/>
                <a:ext cx="776" cy="1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169" name="Rectangle 27">
                <a:extLst>
                  <a:ext uri="{FF2B5EF4-FFF2-40B4-BE49-F238E27FC236}">
                    <a16:creationId xmlns:a16="http://schemas.microsoft.com/office/drawing/2014/main" id="{E02D9CFF-9D60-49FD-964B-57FE15F9E7A2}"/>
                  </a:ext>
                </a:extLst>
              </p:cNvPr>
              <p:cNvSpPr>
                <a:spLocks noChangeArrowheads="1"/>
              </p:cNvSpPr>
              <p:nvPr/>
            </p:nvSpPr>
            <p:spPr bwMode="auto">
              <a:xfrm>
                <a:off x="8820" y="6151"/>
                <a:ext cx="776" cy="184"/>
              </a:xfrm>
              <a:prstGeom prst="rect">
                <a:avLst/>
              </a:pr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170" name="Freeform 28">
                <a:extLst>
                  <a:ext uri="{FF2B5EF4-FFF2-40B4-BE49-F238E27FC236}">
                    <a16:creationId xmlns:a16="http://schemas.microsoft.com/office/drawing/2014/main" id="{82B31632-D895-4078-AA06-E22E3FCC1095}"/>
                  </a:ext>
                </a:extLst>
              </p:cNvPr>
              <p:cNvSpPr>
                <a:spLocks/>
              </p:cNvSpPr>
              <p:nvPr/>
            </p:nvSpPr>
            <p:spPr bwMode="auto">
              <a:xfrm>
                <a:off x="8100" y="5461"/>
                <a:ext cx="713" cy="852"/>
              </a:xfrm>
              <a:custGeom>
                <a:avLst/>
                <a:gdLst>
                  <a:gd name="T0" fmla="*/ 0 w 713"/>
                  <a:gd name="T1" fmla="*/ 183 h 852"/>
                  <a:gd name="T2" fmla="*/ 713 w 713"/>
                  <a:gd name="T3" fmla="*/ 852 h 852"/>
                  <a:gd name="T4" fmla="*/ 713 w 713"/>
                  <a:gd name="T5" fmla="*/ 683 h 852"/>
                  <a:gd name="T6" fmla="*/ 7 w 713"/>
                  <a:gd name="T7" fmla="*/ 0 h 852"/>
                  <a:gd name="T8" fmla="*/ 0 w 713"/>
                  <a:gd name="T9" fmla="*/ 183 h 852"/>
                  <a:gd name="T10" fmla="*/ 0 w 713"/>
                  <a:gd name="T11" fmla="*/ 183 h 852"/>
                  <a:gd name="T12" fmla="*/ 0 60000 65536"/>
                  <a:gd name="T13" fmla="*/ 0 60000 65536"/>
                  <a:gd name="T14" fmla="*/ 0 60000 65536"/>
                  <a:gd name="T15" fmla="*/ 0 60000 65536"/>
                  <a:gd name="T16" fmla="*/ 0 60000 65536"/>
                  <a:gd name="T17" fmla="*/ 0 60000 65536"/>
                  <a:gd name="T18" fmla="*/ 0 w 713"/>
                  <a:gd name="T19" fmla="*/ 0 h 852"/>
                  <a:gd name="T20" fmla="*/ 713 w 713"/>
                  <a:gd name="T21" fmla="*/ 852 h 852"/>
                </a:gdLst>
                <a:ahLst/>
                <a:cxnLst>
                  <a:cxn ang="T12">
                    <a:pos x="T0" y="T1"/>
                  </a:cxn>
                  <a:cxn ang="T13">
                    <a:pos x="T2" y="T3"/>
                  </a:cxn>
                  <a:cxn ang="T14">
                    <a:pos x="T4" y="T5"/>
                  </a:cxn>
                  <a:cxn ang="T15">
                    <a:pos x="T6" y="T7"/>
                  </a:cxn>
                  <a:cxn ang="T16">
                    <a:pos x="T8" y="T9"/>
                  </a:cxn>
                  <a:cxn ang="T17">
                    <a:pos x="T10" y="T11"/>
                  </a:cxn>
                </a:cxnLst>
                <a:rect l="T18" t="T19" r="T20" b="T21"/>
                <a:pathLst>
                  <a:path w="713" h="852">
                    <a:moveTo>
                      <a:pt x="0" y="183"/>
                    </a:moveTo>
                    <a:lnTo>
                      <a:pt x="713" y="852"/>
                    </a:lnTo>
                    <a:lnTo>
                      <a:pt x="713" y="683"/>
                    </a:lnTo>
                    <a:lnTo>
                      <a:pt x="7" y="0"/>
                    </a:lnTo>
                    <a:lnTo>
                      <a:pt x="0" y="1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1" name="Freeform 29">
                <a:extLst>
                  <a:ext uri="{FF2B5EF4-FFF2-40B4-BE49-F238E27FC236}">
                    <a16:creationId xmlns:a16="http://schemas.microsoft.com/office/drawing/2014/main" id="{EA1B19EC-95C1-48DB-A3AB-24B4BD9B7F16}"/>
                  </a:ext>
                </a:extLst>
              </p:cNvPr>
              <p:cNvSpPr>
                <a:spLocks/>
              </p:cNvSpPr>
              <p:nvPr/>
            </p:nvSpPr>
            <p:spPr bwMode="auto">
              <a:xfrm>
                <a:off x="8100" y="5461"/>
                <a:ext cx="713" cy="852"/>
              </a:xfrm>
              <a:custGeom>
                <a:avLst/>
                <a:gdLst>
                  <a:gd name="T0" fmla="*/ 0 w 713"/>
                  <a:gd name="T1" fmla="*/ 183 h 852"/>
                  <a:gd name="T2" fmla="*/ 713 w 713"/>
                  <a:gd name="T3" fmla="*/ 852 h 852"/>
                  <a:gd name="T4" fmla="*/ 713 w 713"/>
                  <a:gd name="T5" fmla="*/ 683 h 852"/>
                  <a:gd name="T6" fmla="*/ 7 w 713"/>
                  <a:gd name="T7" fmla="*/ 0 h 852"/>
                  <a:gd name="T8" fmla="*/ 0 w 713"/>
                  <a:gd name="T9" fmla="*/ 183 h 852"/>
                  <a:gd name="T10" fmla="*/ 0 w 713"/>
                  <a:gd name="T11" fmla="*/ 183 h 852"/>
                  <a:gd name="T12" fmla="*/ 0 60000 65536"/>
                  <a:gd name="T13" fmla="*/ 0 60000 65536"/>
                  <a:gd name="T14" fmla="*/ 0 60000 65536"/>
                  <a:gd name="T15" fmla="*/ 0 60000 65536"/>
                  <a:gd name="T16" fmla="*/ 0 60000 65536"/>
                  <a:gd name="T17" fmla="*/ 0 60000 65536"/>
                  <a:gd name="T18" fmla="*/ 0 w 713"/>
                  <a:gd name="T19" fmla="*/ 0 h 852"/>
                  <a:gd name="T20" fmla="*/ 713 w 713"/>
                  <a:gd name="T21" fmla="*/ 852 h 852"/>
                </a:gdLst>
                <a:ahLst/>
                <a:cxnLst>
                  <a:cxn ang="T12">
                    <a:pos x="T0" y="T1"/>
                  </a:cxn>
                  <a:cxn ang="T13">
                    <a:pos x="T2" y="T3"/>
                  </a:cxn>
                  <a:cxn ang="T14">
                    <a:pos x="T4" y="T5"/>
                  </a:cxn>
                  <a:cxn ang="T15">
                    <a:pos x="T6" y="T7"/>
                  </a:cxn>
                  <a:cxn ang="T16">
                    <a:pos x="T8" y="T9"/>
                  </a:cxn>
                  <a:cxn ang="T17">
                    <a:pos x="T10" y="T11"/>
                  </a:cxn>
                </a:cxnLst>
                <a:rect l="T18" t="T19" r="T20" b="T21"/>
                <a:pathLst>
                  <a:path w="713" h="852">
                    <a:moveTo>
                      <a:pt x="0" y="183"/>
                    </a:moveTo>
                    <a:lnTo>
                      <a:pt x="713" y="852"/>
                    </a:lnTo>
                    <a:lnTo>
                      <a:pt x="713" y="683"/>
                    </a:lnTo>
                    <a:lnTo>
                      <a:pt x="7" y="0"/>
                    </a:lnTo>
                    <a:lnTo>
                      <a:pt x="0" y="183"/>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2" name="Freeform 30">
                <a:extLst>
                  <a:ext uri="{FF2B5EF4-FFF2-40B4-BE49-F238E27FC236}">
                    <a16:creationId xmlns:a16="http://schemas.microsoft.com/office/drawing/2014/main" id="{F01BA9E1-D16C-4B88-9892-85E094F365CF}"/>
                  </a:ext>
                </a:extLst>
              </p:cNvPr>
              <p:cNvSpPr>
                <a:spLocks/>
              </p:cNvSpPr>
              <p:nvPr/>
            </p:nvSpPr>
            <p:spPr bwMode="auto">
              <a:xfrm>
                <a:off x="8114" y="5468"/>
                <a:ext cx="1482" cy="676"/>
              </a:xfrm>
              <a:custGeom>
                <a:avLst/>
                <a:gdLst>
                  <a:gd name="T0" fmla="*/ 0 w 1482"/>
                  <a:gd name="T1" fmla="*/ 0 h 676"/>
                  <a:gd name="T2" fmla="*/ 776 w 1482"/>
                  <a:gd name="T3" fmla="*/ 0 h 676"/>
                  <a:gd name="T4" fmla="*/ 1482 w 1482"/>
                  <a:gd name="T5" fmla="*/ 676 h 676"/>
                  <a:gd name="T6" fmla="*/ 706 w 1482"/>
                  <a:gd name="T7" fmla="*/ 676 h 676"/>
                  <a:gd name="T8" fmla="*/ 0 w 1482"/>
                  <a:gd name="T9" fmla="*/ 0 h 676"/>
                  <a:gd name="T10" fmla="*/ 0 w 1482"/>
                  <a:gd name="T11" fmla="*/ 0 h 676"/>
                  <a:gd name="T12" fmla="*/ 0 60000 65536"/>
                  <a:gd name="T13" fmla="*/ 0 60000 65536"/>
                  <a:gd name="T14" fmla="*/ 0 60000 65536"/>
                  <a:gd name="T15" fmla="*/ 0 60000 65536"/>
                  <a:gd name="T16" fmla="*/ 0 60000 65536"/>
                  <a:gd name="T17" fmla="*/ 0 60000 65536"/>
                  <a:gd name="T18" fmla="*/ 0 w 1482"/>
                  <a:gd name="T19" fmla="*/ 0 h 676"/>
                  <a:gd name="T20" fmla="*/ 1482 w 1482"/>
                  <a:gd name="T21" fmla="*/ 676 h 676"/>
                </a:gdLst>
                <a:ahLst/>
                <a:cxnLst>
                  <a:cxn ang="T12">
                    <a:pos x="T0" y="T1"/>
                  </a:cxn>
                  <a:cxn ang="T13">
                    <a:pos x="T2" y="T3"/>
                  </a:cxn>
                  <a:cxn ang="T14">
                    <a:pos x="T4" y="T5"/>
                  </a:cxn>
                  <a:cxn ang="T15">
                    <a:pos x="T6" y="T7"/>
                  </a:cxn>
                  <a:cxn ang="T16">
                    <a:pos x="T8" y="T9"/>
                  </a:cxn>
                  <a:cxn ang="T17">
                    <a:pos x="T10" y="T11"/>
                  </a:cxn>
                </a:cxnLst>
                <a:rect l="T18" t="T19" r="T20" b="T21"/>
                <a:pathLst>
                  <a:path w="1482" h="676">
                    <a:moveTo>
                      <a:pt x="0" y="0"/>
                    </a:moveTo>
                    <a:lnTo>
                      <a:pt x="776" y="0"/>
                    </a:lnTo>
                    <a:lnTo>
                      <a:pt x="1482" y="676"/>
                    </a:lnTo>
                    <a:lnTo>
                      <a:pt x="706" y="676"/>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3" name="Freeform 31">
                <a:extLst>
                  <a:ext uri="{FF2B5EF4-FFF2-40B4-BE49-F238E27FC236}">
                    <a16:creationId xmlns:a16="http://schemas.microsoft.com/office/drawing/2014/main" id="{927AB24E-8C6B-42E8-B948-BB1B2340B88B}"/>
                  </a:ext>
                </a:extLst>
              </p:cNvPr>
              <p:cNvSpPr>
                <a:spLocks/>
              </p:cNvSpPr>
              <p:nvPr/>
            </p:nvSpPr>
            <p:spPr bwMode="auto">
              <a:xfrm>
                <a:off x="8114" y="5468"/>
                <a:ext cx="1482" cy="676"/>
              </a:xfrm>
              <a:custGeom>
                <a:avLst/>
                <a:gdLst>
                  <a:gd name="T0" fmla="*/ 0 w 1482"/>
                  <a:gd name="T1" fmla="*/ 0 h 676"/>
                  <a:gd name="T2" fmla="*/ 776 w 1482"/>
                  <a:gd name="T3" fmla="*/ 0 h 676"/>
                  <a:gd name="T4" fmla="*/ 1482 w 1482"/>
                  <a:gd name="T5" fmla="*/ 676 h 676"/>
                  <a:gd name="T6" fmla="*/ 706 w 1482"/>
                  <a:gd name="T7" fmla="*/ 676 h 676"/>
                  <a:gd name="T8" fmla="*/ 0 w 1482"/>
                  <a:gd name="T9" fmla="*/ 0 h 676"/>
                  <a:gd name="T10" fmla="*/ 0 w 1482"/>
                  <a:gd name="T11" fmla="*/ 0 h 676"/>
                  <a:gd name="T12" fmla="*/ 0 60000 65536"/>
                  <a:gd name="T13" fmla="*/ 0 60000 65536"/>
                  <a:gd name="T14" fmla="*/ 0 60000 65536"/>
                  <a:gd name="T15" fmla="*/ 0 60000 65536"/>
                  <a:gd name="T16" fmla="*/ 0 60000 65536"/>
                  <a:gd name="T17" fmla="*/ 0 60000 65536"/>
                  <a:gd name="T18" fmla="*/ 0 w 1482"/>
                  <a:gd name="T19" fmla="*/ 0 h 676"/>
                  <a:gd name="T20" fmla="*/ 1482 w 1482"/>
                  <a:gd name="T21" fmla="*/ 676 h 676"/>
                </a:gdLst>
                <a:ahLst/>
                <a:cxnLst>
                  <a:cxn ang="T12">
                    <a:pos x="T0" y="T1"/>
                  </a:cxn>
                  <a:cxn ang="T13">
                    <a:pos x="T2" y="T3"/>
                  </a:cxn>
                  <a:cxn ang="T14">
                    <a:pos x="T4" y="T5"/>
                  </a:cxn>
                  <a:cxn ang="T15">
                    <a:pos x="T6" y="T7"/>
                  </a:cxn>
                  <a:cxn ang="T16">
                    <a:pos x="T8" y="T9"/>
                  </a:cxn>
                  <a:cxn ang="T17">
                    <a:pos x="T10" y="T11"/>
                  </a:cxn>
                </a:cxnLst>
                <a:rect l="T18" t="T19" r="T20" b="T21"/>
                <a:pathLst>
                  <a:path w="1482" h="676">
                    <a:moveTo>
                      <a:pt x="0" y="0"/>
                    </a:moveTo>
                    <a:lnTo>
                      <a:pt x="776" y="0"/>
                    </a:lnTo>
                    <a:lnTo>
                      <a:pt x="1482" y="676"/>
                    </a:lnTo>
                    <a:lnTo>
                      <a:pt x="706" y="676"/>
                    </a:lnTo>
                    <a:lnTo>
                      <a:pt x="0" y="0"/>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4" name="Line 32">
                <a:extLst>
                  <a:ext uri="{FF2B5EF4-FFF2-40B4-BE49-F238E27FC236}">
                    <a16:creationId xmlns:a16="http://schemas.microsoft.com/office/drawing/2014/main" id="{164EB3FF-D208-4EC6-ABC5-4050193CFA91}"/>
                  </a:ext>
                </a:extLst>
              </p:cNvPr>
              <p:cNvSpPr>
                <a:spLocks noChangeShapeType="1"/>
              </p:cNvSpPr>
              <p:nvPr/>
            </p:nvSpPr>
            <p:spPr bwMode="auto">
              <a:xfrm>
                <a:off x="6660" y="6328"/>
                <a:ext cx="691" cy="668"/>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5" name="Freeform 33">
                <a:extLst>
                  <a:ext uri="{FF2B5EF4-FFF2-40B4-BE49-F238E27FC236}">
                    <a16:creationId xmlns:a16="http://schemas.microsoft.com/office/drawing/2014/main" id="{8254779B-7846-4235-AADB-7F7D2835A73E}"/>
                  </a:ext>
                </a:extLst>
              </p:cNvPr>
              <p:cNvSpPr>
                <a:spLocks/>
              </p:cNvSpPr>
              <p:nvPr/>
            </p:nvSpPr>
            <p:spPr bwMode="auto">
              <a:xfrm>
                <a:off x="6660" y="5630"/>
                <a:ext cx="2943" cy="860"/>
              </a:xfrm>
              <a:custGeom>
                <a:avLst/>
                <a:gdLst>
                  <a:gd name="T0" fmla="*/ 0 w 2943"/>
                  <a:gd name="T1" fmla="*/ 146 h 860"/>
                  <a:gd name="T2" fmla="*/ 691 w 2943"/>
                  <a:gd name="T3" fmla="*/ 860 h 860"/>
                  <a:gd name="T4" fmla="*/ 2943 w 2943"/>
                  <a:gd name="T5" fmla="*/ 860 h 860"/>
                  <a:gd name="T6" fmla="*/ 2943 w 2943"/>
                  <a:gd name="T7" fmla="*/ 690 h 860"/>
                  <a:gd name="T8" fmla="*/ 691 w 2943"/>
                  <a:gd name="T9" fmla="*/ 690 h 860"/>
                  <a:gd name="T10" fmla="*/ 0 w 2943"/>
                  <a:gd name="T11" fmla="*/ 0 h 860"/>
                  <a:gd name="T12" fmla="*/ 0 w 2943"/>
                  <a:gd name="T13" fmla="*/ 146 h 860"/>
                  <a:gd name="T14" fmla="*/ 0 w 2943"/>
                  <a:gd name="T15" fmla="*/ 146 h 860"/>
                  <a:gd name="T16" fmla="*/ 0 60000 65536"/>
                  <a:gd name="T17" fmla="*/ 0 60000 65536"/>
                  <a:gd name="T18" fmla="*/ 0 60000 65536"/>
                  <a:gd name="T19" fmla="*/ 0 60000 65536"/>
                  <a:gd name="T20" fmla="*/ 0 60000 65536"/>
                  <a:gd name="T21" fmla="*/ 0 60000 65536"/>
                  <a:gd name="T22" fmla="*/ 0 60000 65536"/>
                  <a:gd name="T23" fmla="*/ 0 60000 65536"/>
                  <a:gd name="T24" fmla="*/ 0 w 2943"/>
                  <a:gd name="T25" fmla="*/ 0 h 860"/>
                  <a:gd name="T26" fmla="*/ 2943 w 2943"/>
                  <a:gd name="T27" fmla="*/ 860 h 8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43" h="860">
                    <a:moveTo>
                      <a:pt x="0" y="146"/>
                    </a:moveTo>
                    <a:lnTo>
                      <a:pt x="691" y="860"/>
                    </a:lnTo>
                    <a:lnTo>
                      <a:pt x="2943" y="860"/>
                    </a:lnTo>
                    <a:lnTo>
                      <a:pt x="2943" y="690"/>
                    </a:lnTo>
                    <a:lnTo>
                      <a:pt x="691" y="690"/>
                    </a:lnTo>
                    <a:lnTo>
                      <a:pt x="0" y="0"/>
                    </a:lnTo>
                    <a:lnTo>
                      <a:pt x="0" y="14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6" name="Freeform 34">
                <a:extLst>
                  <a:ext uri="{FF2B5EF4-FFF2-40B4-BE49-F238E27FC236}">
                    <a16:creationId xmlns:a16="http://schemas.microsoft.com/office/drawing/2014/main" id="{93BC67BF-3CAA-4B68-8DE2-6F4FA6E01F9D}"/>
                  </a:ext>
                </a:extLst>
              </p:cNvPr>
              <p:cNvSpPr>
                <a:spLocks/>
              </p:cNvSpPr>
              <p:nvPr/>
            </p:nvSpPr>
            <p:spPr bwMode="auto">
              <a:xfrm>
                <a:off x="6660" y="5630"/>
                <a:ext cx="2943" cy="860"/>
              </a:xfrm>
              <a:custGeom>
                <a:avLst/>
                <a:gdLst>
                  <a:gd name="T0" fmla="*/ 0 w 2943"/>
                  <a:gd name="T1" fmla="*/ 146 h 860"/>
                  <a:gd name="T2" fmla="*/ 691 w 2943"/>
                  <a:gd name="T3" fmla="*/ 860 h 860"/>
                  <a:gd name="T4" fmla="*/ 2943 w 2943"/>
                  <a:gd name="T5" fmla="*/ 860 h 860"/>
                  <a:gd name="T6" fmla="*/ 2943 w 2943"/>
                  <a:gd name="T7" fmla="*/ 690 h 860"/>
                  <a:gd name="T8" fmla="*/ 691 w 2943"/>
                  <a:gd name="T9" fmla="*/ 690 h 860"/>
                  <a:gd name="T10" fmla="*/ 0 w 2943"/>
                  <a:gd name="T11" fmla="*/ 0 h 860"/>
                  <a:gd name="T12" fmla="*/ 0 w 2943"/>
                  <a:gd name="T13" fmla="*/ 146 h 860"/>
                  <a:gd name="T14" fmla="*/ 0 w 2943"/>
                  <a:gd name="T15" fmla="*/ 146 h 860"/>
                  <a:gd name="T16" fmla="*/ 0 60000 65536"/>
                  <a:gd name="T17" fmla="*/ 0 60000 65536"/>
                  <a:gd name="T18" fmla="*/ 0 60000 65536"/>
                  <a:gd name="T19" fmla="*/ 0 60000 65536"/>
                  <a:gd name="T20" fmla="*/ 0 60000 65536"/>
                  <a:gd name="T21" fmla="*/ 0 60000 65536"/>
                  <a:gd name="T22" fmla="*/ 0 60000 65536"/>
                  <a:gd name="T23" fmla="*/ 0 60000 65536"/>
                  <a:gd name="T24" fmla="*/ 0 w 2943"/>
                  <a:gd name="T25" fmla="*/ 0 h 860"/>
                  <a:gd name="T26" fmla="*/ 2943 w 2943"/>
                  <a:gd name="T27" fmla="*/ 860 h 8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43" h="860">
                    <a:moveTo>
                      <a:pt x="0" y="146"/>
                    </a:moveTo>
                    <a:lnTo>
                      <a:pt x="691" y="860"/>
                    </a:lnTo>
                    <a:lnTo>
                      <a:pt x="2943" y="860"/>
                    </a:lnTo>
                    <a:lnTo>
                      <a:pt x="2943" y="690"/>
                    </a:lnTo>
                    <a:lnTo>
                      <a:pt x="691" y="690"/>
                    </a:lnTo>
                    <a:lnTo>
                      <a:pt x="0" y="0"/>
                    </a:lnTo>
                    <a:lnTo>
                      <a:pt x="0" y="146"/>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7" name="Rectangle 35">
                <a:extLst>
                  <a:ext uri="{FF2B5EF4-FFF2-40B4-BE49-F238E27FC236}">
                    <a16:creationId xmlns:a16="http://schemas.microsoft.com/office/drawing/2014/main" id="{B8E91BE2-56A2-4576-953A-9E8EE086D375}"/>
                  </a:ext>
                </a:extLst>
              </p:cNvPr>
              <p:cNvSpPr>
                <a:spLocks noChangeArrowheads="1"/>
              </p:cNvSpPr>
              <p:nvPr/>
            </p:nvSpPr>
            <p:spPr bwMode="auto">
              <a:xfrm>
                <a:off x="8224" y="6679"/>
                <a:ext cx="12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900">
                    <a:solidFill>
                      <a:srgbClr val="000000"/>
                    </a:solidFill>
                    <a:latin typeface="Times New Roman" panose="02020603050405020304" pitchFamily="18" charset="0"/>
                  </a:rPr>
                  <a:t>n </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178" name="Rectangle 36">
                <a:extLst>
                  <a:ext uri="{FF2B5EF4-FFF2-40B4-BE49-F238E27FC236}">
                    <a16:creationId xmlns:a16="http://schemas.microsoft.com/office/drawing/2014/main" id="{8505241E-627F-493C-BF03-47B33961DF0B}"/>
                  </a:ext>
                </a:extLst>
              </p:cNvPr>
              <p:cNvSpPr>
                <a:spLocks noChangeArrowheads="1"/>
              </p:cNvSpPr>
              <p:nvPr/>
            </p:nvSpPr>
            <p:spPr bwMode="auto">
              <a:xfrm>
                <a:off x="8329" y="6633"/>
                <a:ext cx="92"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900">
                    <a:solidFill>
                      <a:srgbClr val="000000"/>
                    </a:solidFill>
                    <a:latin typeface="Symbol" panose="05050102010706020507" pitchFamily="18" charset="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179" name="Rectangle 37">
                <a:extLst>
                  <a:ext uri="{FF2B5EF4-FFF2-40B4-BE49-F238E27FC236}">
                    <a16:creationId xmlns:a16="http://schemas.microsoft.com/office/drawing/2014/main" id="{75833BCC-4517-4CA7-998E-51F5B12B2A7C}"/>
                  </a:ext>
                </a:extLst>
              </p:cNvPr>
              <p:cNvSpPr>
                <a:spLocks noChangeArrowheads="1"/>
              </p:cNvSpPr>
              <p:nvPr/>
            </p:nvSpPr>
            <p:spPr bwMode="auto">
              <a:xfrm>
                <a:off x="8435" y="6677"/>
                <a:ext cx="17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zh-CN" altLang="en-US" sz="900">
                    <a:solidFill>
                      <a:srgbClr val="000000"/>
                    </a:solidFill>
                    <a:latin typeface="Times New Roman" panose="02020603050405020304" pitchFamily="18" charset="0"/>
                  </a:rPr>
                  <a:t> </a:t>
                </a:r>
                <a:r>
                  <a:rPr kumimoji="0" lang="en-US" altLang="zh-CN" sz="900">
                    <a:solidFill>
                      <a:srgbClr val="000000"/>
                    </a:solidFill>
                    <a:latin typeface="Times New Roman" panose="02020603050405020304" pitchFamily="18" charset="0"/>
                  </a:rPr>
                  <a:t>Si</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180" name="Line 38">
                <a:extLst>
                  <a:ext uri="{FF2B5EF4-FFF2-40B4-BE49-F238E27FC236}">
                    <a16:creationId xmlns:a16="http://schemas.microsoft.com/office/drawing/2014/main" id="{42BED3BC-973C-4D35-B68A-50A2B1C02B95}"/>
                  </a:ext>
                </a:extLst>
              </p:cNvPr>
              <p:cNvSpPr>
                <a:spLocks noChangeShapeType="1"/>
              </p:cNvSpPr>
              <p:nvPr/>
            </p:nvSpPr>
            <p:spPr bwMode="auto">
              <a:xfrm>
                <a:off x="7351" y="6996"/>
                <a:ext cx="2252" cy="1"/>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1" name="Rectangle 39">
                <a:extLst>
                  <a:ext uri="{FF2B5EF4-FFF2-40B4-BE49-F238E27FC236}">
                    <a16:creationId xmlns:a16="http://schemas.microsoft.com/office/drawing/2014/main" id="{E93869E5-428E-414C-B6C1-2EC9F885F17C}"/>
                  </a:ext>
                </a:extLst>
              </p:cNvPr>
              <p:cNvSpPr>
                <a:spLocks noChangeArrowheads="1"/>
              </p:cNvSpPr>
              <p:nvPr/>
            </p:nvSpPr>
            <p:spPr bwMode="auto">
              <a:xfrm>
                <a:off x="8944" y="5914"/>
                <a:ext cx="439"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zh-CN" altLang="en-US" sz="800">
                    <a:solidFill>
                      <a:srgbClr val="000000"/>
                    </a:solidFill>
                  </a:rPr>
                  <a:t>光刻胶</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182" name="Rectangle 40">
                <a:extLst>
                  <a:ext uri="{FF2B5EF4-FFF2-40B4-BE49-F238E27FC236}">
                    <a16:creationId xmlns:a16="http://schemas.microsoft.com/office/drawing/2014/main" id="{B65AC8C2-F006-4D89-8BA8-BEDCBDC0A090}"/>
                  </a:ext>
                </a:extLst>
              </p:cNvPr>
              <p:cNvSpPr>
                <a:spLocks noChangeArrowheads="1"/>
              </p:cNvSpPr>
              <p:nvPr/>
            </p:nvSpPr>
            <p:spPr bwMode="auto">
              <a:xfrm>
                <a:off x="9063" y="6363"/>
                <a:ext cx="22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800">
                    <a:solidFill>
                      <a:srgbClr val="000000"/>
                    </a:solidFill>
                    <a:latin typeface="Times New Roman" panose="02020603050405020304" pitchFamily="18" charset="0"/>
                  </a:rPr>
                  <a:t>SiO</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183" name="Rectangle 41">
                <a:extLst>
                  <a:ext uri="{FF2B5EF4-FFF2-40B4-BE49-F238E27FC236}">
                    <a16:creationId xmlns:a16="http://schemas.microsoft.com/office/drawing/2014/main" id="{04CD9AF3-B881-4DA6-B99C-F7E72E90D9F5}"/>
                  </a:ext>
                </a:extLst>
              </p:cNvPr>
              <p:cNvSpPr>
                <a:spLocks noChangeArrowheads="1"/>
              </p:cNvSpPr>
              <p:nvPr/>
            </p:nvSpPr>
            <p:spPr bwMode="auto">
              <a:xfrm>
                <a:off x="9273" y="6437"/>
                <a:ext cx="46"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500">
                    <a:solidFill>
                      <a:srgbClr val="000000"/>
                    </a:solidFill>
                    <a:latin typeface="Times New Roman" panose="02020603050405020304" pitchFamily="18" charset="0"/>
                  </a:rPr>
                  <a:t>2</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184" name="Freeform 42">
                <a:extLst>
                  <a:ext uri="{FF2B5EF4-FFF2-40B4-BE49-F238E27FC236}">
                    <a16:creationId xmlns:a16="http://schemas.microsoft.com/office/drawing/2014/main" id="{0C06BC5C-A2BD-493F-8FA6-CFD6A790E30C}"/>
                  </a:ext>
                </a:extLst>
              </p:cNvPr>
              <p:cNvSpPr>
                <a:spLocks/>
              </p:cNvSpPr>
              <p:nvPr/>
            </p:nvSpPr>
            <p:spPr bwMode="auto">
              <a:xfrm>
                <a:off x="6657" y="6313"/>
                <a:ext cx="2943" cy="860"/>
              </a:xfrm>
              <a:custGeom>
                <a:avLst/>
                <a:gdLst>
                  <a:gd name="T0" fmla="*/ 0 w 2943"/>
                  <a:gd name="T1" fmla="*/ 148 h 860"/>
                  <a:gd name="T2" fmla="*/ 691 w 2943"/>
                  <a:gd name="T3" fmla="*/ 860 h 860"/>
                  <a:gd name="T4" fmla="*/ 2943 w 2943"/>
                  <a:gd name="T5" fmla="*/ 860 h 860"/>
                  <a:gd name="T6" fmla="*/ 2943 w 2943"/>
                  <a:gd name="T7" fmla="*/ 691 h 860"/>
                  <a:gd name="T8" fmla="*/ 691 w 2943"/>
                  <a:gd name="T9" fmla="*/ 691 h 860"/>
                  <a:gd name="T10" fmla="*/ 0 w 2943"/>
                  <a:gd name="T11" fmla="*/ 0 h 860"/>
                  <a:gd name="T12" fmla="*/ 0 w 2943"/>
                  <a:gd name="T13" fmla="*/ 148 h 860"/>
                  <a:gd name="T14" fmla="*/ 0 w 2943"/>
                  <a:gd name="T15" fmla="*/ 148 h 860"/>
                  <a:gd name="T16" fmla="*/ 0 60000 65536"/>
                  <a:gd name="T17" fmla="*/ 0 60000 65536"/>
                  <a:gd name="T18" fmla="*/ 0 60000 65536"/>
                  <a:gd name="T19" fmla="*/ 0 60000 65536"/>
                  <a:gd name="T20" fmla="*/ 0 60000 65536"/>
                  <a:gd name="T21" fmla="*/ 0 60000 65536"/>
                  <a:gd name="T22" fmla="*/ 0 60000 65536"/>
                  <a:gd name="T23" fmla="*/ 0 60000 65536"/>
                  <a:gd name="T24" fmla="*/ 0 w 2943"/>
                  <a:gd name="T25" fmla="*/ 0 h 860"/>
                  <a:gd name="T26" fmla="*/ 2943 w 2943"/>
                  <a:gd name="T27" fmla="*/ 860 h 8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43" h="860">
                    <a:moveTo>
                      <a:pt x="0" y="148"/>
                    </a:moveTo>
                    <a:lnTo>
                      <a:pt x="691" y="860"/>
                    </a:lnTo>
                    <a:lnTo>
                      <a:pt x="2943" y="860"/>
                    </a:lnTo>
                    <a:lnTo>
                      <a:pt x="2943" y="691"/>
                    </a:lnTo>
                    <a:lnTo>
                      <a:pt x="691" y="691"/>
                    </a:lnTo>
                    <a:lnTo>
                      <a:pt x="0" y="0"/>
                    </a:lnTo>
                    <a:lnTo>
                      <a:pt x="0" y="148"/>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5" name="Line 43">
                <a:extLst>
                  <a:ext uri="{FF2B5EF4-FFF2-40B4-BE49-F238E27FC236}">
                    <a16:creationId xmlns:a16="http://schemas.microsoft.com/office/drawing/2014/main" id="{D64AF771-017E-4AD9-B7AE-ED2C7524F56B}"/>
                  </a:ext>
                </a:extLst>
              </p:cNvPr>
              <p:cNvSpPr>
                <a:spLocks noChangeShapeType="1"/>
              </p:cNvSpPr>
              <p:nvPr/>
            </p:nvSpPr>
            <p:spPr bwMode="auto">
              <a:xfrm>
                <a:off x="7359" y="6320"/>
                <a:ext cx="1" cy="853"/>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86" name="Rectangle 44">
                <a:extLst>
                  <a:ext uri="{FF2B5EF4-FFF2-40B4-BE49-F238E27FC236}">
                    <a16:creationId xmlns:a16="http://schemas.microsoft.com/office/drawing/2014/main" id="{63869177-8CA4-41A8-AA25-59294DCE9CBA}"/>
                  </a:ext>
                </a:extLst>
              </p:cNvPr>
              <p:cNvSpPr>
                <a:spLocks noChangeArrowheads="1"/>
              </p:cNvSpPr>
              <p:nvPr/>
            </p:nvSpPr>
            <p:spPr bwMode="auto">
              <a:xfrm>
                <a:off x="8316" y="7025"/>
                <a:ext cx="105"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800">
                    <a:solidFill>
                      <a:srgbClr val="000000"/>
                    </a:solidFill>
                    <a:latin typeface="Times New Roman" panose="02020603050405020304" pitchFamily="18" charset="0"/>
                  </a:rPr>
                  <a:t>N</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187" name="Rectangle 45">
                <a:extLst>
                  <a:ext uri="{FF2B5EF4-FFF2-40B4-BE49-F238E27FC236}">
                    <a16:creationId xmlns:a16="http://schemas.microsoft.com/office/drawing/2014/main" id="{B0B95D00-8AB6-48DE-97B1-6FE5B00ADFF2}"/>
                  </a:ext>
                </a:extLst>
              </p:cNvPr>
              <p:cNvSpPr>
                <a:spLocks noChangeArrowheads="1"/>
              </p:cNvSpPr>
              <p:nvPr/>
            </p:nvSpPr>
            <p:spPr bwMode="auto">
              <a:xfrm>
                <a:off x="8435" y="7009"/>
                <a:ext cx="5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500">
                    <a:solidFill>
                      <a:srgbClr val="000000"/>
                    </a:solidFill>
                    <a:latin typeface="Times New Roman" panose="02020603050405020304" pitchFamily="18" charset="0"/>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grpSp>
      </p:grpSp>
      <p:grpSp>
        <p:nvGrpSpPr>
          <p:cNvPr id="8" name="Group 49">
            <a:extLst>
              <a:ext uri="{FF2B5EF4-FFF2-40B4-BE49-F238E27FC236}">
                <a16:creationId xmlns:a16="http://schemas.microsoft.com/office/drawing/2014/main" id="{340EB9B3-B798-4A39-9EFD-5FF60FCDF00C}"/>
              </a:ext>
            </a:extLst>
          </p:cNvPr>
          <p:cNvGrpSpPr>
            <a:grpSpLocks/>
          </p:cNvGrpSpPr>
          <p:nvPr/>
        </p:nvGrpSpPr>
        <p:grpSpPr bwMode="auto">
          <a:xfrm>
            <a:off x="6274718" y="3450308"/>
            <a:ext cx="2743200" cy="1924050"/>
            <a:chOff x="3936" y="2475"/>
            <a:chExt cx="1728" cy="1212"/>
          </a:xfrm>
        </p:grpSpPr>
        <p:sp>
          <p:nvSpPr>
            <p:cNvPr id="6154" name="Text Box 14">
              <a:extLst>
                <a:ext uri="{FF2B5EF4-FFF2-40B4-BE49-F238E27FC236}">
                  <a16:creationId xmlns:a16="http://schemas.microsoft.com/office/drawing/2014/main" id="{B0BB90D0-B01C-4492-89FE-41C0DE037E41}"/>
                </a:ext>
              </a:extLst>
            </p:cNvPr>
            <p:cNvSpPr txBox="1">
              <a:spLocks noChangeArrowheads="1"/>
            </p:cNvSpPr>
            <p:nvPr/>
          </p:nvSpPr>
          <p:spPr bwMode="auto">
            <a:xfrm>
              <a:off x="3936" y="3456"/>
              <a:ext cx="17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1800">
                  <a:solidFill>
                    <a:srgbClr val="000066"/>
                  </a:solidFill>
                </a:rPr>
                <a:t>（</a:t>
              </a:r>
              <a:r>
                <a:rPr lang="en-US" altLang="zh-CN" sz="1800">
                  <a:solidFill>
                    <a:srgbClr val="000066"/>
                  </a:solidFill>
                </a:rPr>
                <a:t>f)</a:t>
              </a:r>
              <a:r>
                <a:rPr lang="zh-CN" altLang="en-US" sz="1800">
                  <a:solidFill>
                    <a:srgbClr val="000066"/>
                  </a:solidFill>
                </a:rPr>
                <a:t>腐蚀</a:t>
              </a:r>
              <a:r>
                <a:rPr lang="en-US" altLang="zh-CN" sz="1800">
                  <a:solidFill>
                    <a:srgbClr val="000066"/>
                  </a:solidFill>
                </a:rPr>
                <a:t>SiO</a:t>
              </a:r>
              <a:r>
                <a:rPr lang="en-US" altLang="zh-CN" sz="1800" baseline="-30000">
                  <a:solidFill>
                    <a:srgbClr val="000066"/>
                  </a:solidFill>
                </a:rPr>
                <a:t>2</a:t>
              </a:r>
              <a:r>
                <a:rPr lang="zh-CN" altLang="en-US" sz="1800">
                  <a:solidFill>
                    <a:srgbClr val="000066"/>
                  </a:solidFill>
                </a:rPr>
                <a:t>后的晶片</a:t>
              </a:r>
              <a:r>
                <a:rPr lang="zh-CN" altLang="en-US" sz="1800">
                  <a:solidFill>
                    <a:srgbClr val="000066"/>
                  </a:solidFill>
                  <a:latin typeface="Gulim" panose="020B0600000101010101" pitchFamily="34" charset="-127"/>
                  <a:ea typeface="Gulim" panose="020B0600000101010101" pitchFamily="34" charset="-127"/>
                </a:rPr>
                <a:t> </a:t>
              </a:r>
            </a:p>
          </p:txBody>
        </p:sp>
        <p:graphicFrame>
          <p:nvGraphicFramePr>
            <p:cNvPr id="6155" name="Object 46">
              <a:extLst>
                <a:ext uri="{FF2B5EF4-FFF2-40B4-BE49-F238E27FC236}">
                  <a16:creationId xmlns:a16="http://schemas.microsoft.com/office/drawing/2014/main" id="{EE4723BA-F03C-4446-802D-2B1F4B2A2EC8}"/>
                </a:ext>
              </a:extLst>
            </p:cNvPr>
            <p:cNvGraphicFramePr>
              <a:graphicFrameLocks noChangeAspect="1"/>
            </p:cNvGraphicFramePr>
            <p:nvPr/>
          </p:nvGraphicFramePr>
          <p:xfrm>
            <a:off x="4080" y="2475"/>
            <a:ext cx="1344" cy="792"/>
          </p:xfrm>
          <a:graphic>
            <a:graphicData uri="http://schemas.openxmlformats.org/presentationml/2006/ole">
              <mc:AlternateContent xmlns:mc="http://schemas.openxmlformats.org/markup-compatibility/2006">
                <mc:Choice xmlns:v="urn:schemas-microsoft-com:vml" Requires="v">
                  <p:oleObj spid="_x0000_s108865" name="Visio" r:id="rId11" imgW="1818910" imgH="1071745" progId="">
                    <p:embed/>
                  </p:oleObj>
                </mc:Choice>
                <mc:Fallback>
                  <p:oleObj name="Visio" r:id="rId11" imgW="1818910" imgH="1071745" progId="">
                    <p:embed/>
                    <p:pic>
                      <p:nvPicPr>
                        <p:cNvPr id="6155" name="Object 46">
                          <a:extLst>
                            <a:ext uri="{FF2B5EF4-FFF2-40B4-BE49-F238E27FC236}">
                              <a16:creationId xmlns:a16="http://schemas.microsoft.com/office/drawing/2014/main" id="{EE4723BA-F03C-4446-802D-2B1F4B2A2EC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0" y="2475"/>
                          <a:ext cx="1344" cy="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3834775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0E99315E-7D4B-45E2-B77C-00AFD3A045CB}"/>
              </a:ext>
            </a:extLst>
          </p:cNvPr>
          <p:cNvSpPr>
            <a:spLocks noChangeArrowheads="1"/>
          </p:cNvSpPr>
          <p:nvPr/>
        </p:nvSpPr>
        <p:spPr bwMode="auto">
          <a:xfrm>
            <a:off x="277019" y="844365"/>
            <a:ext cx="8389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zh-CN" altLang="en-US" b="1" dirty="0">
                <a:solidFill>
                  <a:srgbClr val="000066"/>
                </a:solidFill>
              </a:rPr>
              <a:t>采用硅平面工艺制备</a:t>
            </a:r>
            <a:r>
              <a:rPr kumimoji="0" lang="en-US" altLang="zh-CN" b="1" dirty="0">
                <a:solidFill>
                  <a:srgbClr val="000066"/>
                </a:solidFill>
              </a:rPr>
              <a:t>PN</a:t>
            </a:r>
            <a:r>
              <a:rPr kumimoji="0" lang="zh-CN" altLang="en-US" b="1" dirty="0">
                <a:solidFill>
                  <a:srgbClr val="000066"/>
                </a:solidFill>
              </a:rPr>
              <a:t>结的主要工艺过程</a:t>
            </a:r>
            <a:r>
              <a:rPr kumimoji="0" lang="en-US" altLang="zh-CN" b="1" dirty="0">
                <a:solidFill>
                  <a:srgbClr val="000066"/>
                </a:solidFill>
              </a:rPr>
              <a:t>(2)</a:t>
            </a:r>
            <a:endParaRPr kumimoji="0" lang="zh-CN" altLang="en-US" b="1" dirty="0">
              <a:solidFill>
                <a:srgbClr val="000066"/>
              </a:solidFill>
            </a:endParaRPr>
          </a:p>
        </p:txBody>
      </p:sp>
      <p:grpSp>
        <p:nvGrpSpPr>
          <p:cNvPr id="2" name="Group 4">
            <a:extLst>
              <a:ext uri="{FF2B5EF4-FFF2-40B4-BE49-F238E27FC236}">
                <a16:creationId xmlns:a16="http://schemas.microsoft.com/office/drawing/2014/main" id="{8B0B763A-E288-4D3D-A1F2-116B4962B59F}"/>
              </a:ext>
            </a:extLst>
          </p:cNvPr>
          <p:cNvGrpSpPr>
            <a:grpSpLocks/>
          </p:cNvGrpSpPr>
          <p:nvPr/>
        </p:nvGrpSpPr>
        <p:grpSpPr bwMode="auto">
          <a:xfrm>
            <a:off x="1042988" y="2209800"/>
            <a:ext cx="3429000" cy="1814513"/>
            <a:chOff x="657" y="1392"/>
            <a:chExt cx="2160" cy="1143"/>
          </a:xfrm>
        </p:grpSpPr>
        <p:graphicFrame>
          <p:nvGraphicFramePr>
            <p:cNvPr id="7269" name="Object 3">
              <a:extLst>
                <a:ext uri="{FF2B5EF4-FFF2-40B4-BE49-F238E27FC236}">
                  <a16:creationId xmlns:a16="http://schemas.microsoft.com/office/drawing/2014/main" id="{BBF90055-C701-4767-BC69-1DE06E9F93B3}"/>
                </a:ext>
              </a:extLst>
            </p:cNvPr>
            <p:cNvGraphicFramePr>
              <a:graphicFrameLocks noChangeAspect="1"/>
            </p:cNvGraphicFramePr>
            <p:nvPr/>
          </p:nvGraphicFramePr>
          <p:xfrm>
            <a:off x="801" y="1392"/>
            <a:ext cx="1432" cy="1072"/>
          </p:xfrm>
          <a:graphic>
            <a:graphicData uri="http://schemas.openxmlformats.org/presentationml/2006/ole">
              <mc:AlternateContent xmlns:mc="http://schemas.openxmlformats.org/markup-compatibility/2006">
                <mc:Choice xmlns:v="urn:schemas-microsoft-com:vml" Requires="v">
                  <p:oleObj spid="_x0000_s109759" name="Visio" r:id="rId3" imgW="1855773" imgH="1365756" progId="">
                    <p:embed/>
                  </p:oleObj>
                </mc:Choice>
                <mc:Fallback>
                  <p:oleObj name="Visio" r:id="rId3" imgW="1855773" imgH="1365756" progId="">
                    <p:embed/>
                    <p:pic>
                      <p:nvPicPr>
                        <p:cNvPr id="7269" name="Object 3">
                          <a:extLst>
                            <a:ext uri="{FF2B5EF4-FFF2-40B4-BE49-F238E27FC236}">
                              <a16:creationId xmlns:a16="http://schemas.microsoft.com/office/drawing/2014/main" id="{BBF90055-C701-4767-BC69-1DE06E9F93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 y="1392"/>
                          <a:ext cx="1432" cy="1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0" name="Text Box 7">
              <a:extLst>
                <a:ext uri="{FF2B5EF4-FFF2-40B4-BE49-F238E27FC236}">
                  <a16:creationId xmlns:a16="http://schemas.microsoft.com/office/drawing/2014/main" id="{9FDD3BDF-135D-4EC8-AA83-031A9625C40C}"/>
                </a:ext>
              </a:extLst>
            </p:cNvPr>
            <p:cNvSpPr txBox="1">
              <a:spLocks noChangeArrowheads="1"/>
            </p:cNvSpPr>
            <p:nvPr/>
          </p:nvSpPr>
          <p:spPr bwMode="auto">
            <a:xfrm>
              <a:off x="657" y="2304"/>
              <a:ext cx="21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en-US" altLang="zh-CN" sz="1800"/>
                <a:t>(g)</a:t>
              </a:r>
              <a:r>
                <a:rPr lang="zh-CN" altLang="en-US" sz="1800"/>
                <a:t>完成光刻后去胶的晶片</a:t>
              </a:r>
              <a:r>
                <a:rPr lang="zh-CN" altLang="en-US" sz="1800">
                  <a:latin typeface="Gulim" panose="020B0600000101010101" pitchFamily="34" charset="-127"/>
                  <a:ea typeface="Gulim" panose="020B0600000101010101" pitchFamily="34" charset="-127"/>
                </a:rPr>
                <a:t> </a:t>
              </a:r>
            </a:p>
          </p:txBody>
        </p:sp>
      </p:grpSp>
      <p:sp>
        <p:nvSpPr>
          <p:cNvPr id="7173" name="Text Box 8">
            <a:extLst>
              <a:ext uri="{FF2B5EF4-FFF2-40B4-BE49-F238E27FC236}">
                <a16:creationId xmlns:a16="http://schemas.microsoft.com/office/drawing/2014/main" id="{D824547F-C852-48B0-9265-6B4A119E57E3}"/>
              </a:ext>
            </a:extLst>
          </p:cNvPr>
          <p:cNvSpPr txBox="1">
            <a:spLocks noChangeArrowheads="1"/>
          </p:cNvSpPr>
          <p:nvPr/>
        </p:nvSpPr>
        <p:spPr bwMode="auto">
          <a:xfrm>
            <a:off x="4700588" y="3657600"/>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endParaRPr lang="zh-CN" altLang="zh-CN">
              <a:latin typeface="Gulim" panose="020B0600000101010101" pitchFamily="34" charset="-127"/>
              <a:ea typeface="Gulim" panose="020B0600000101010101" pitchFamily="34" charset="-127"/>
            </a:endParaRPr>
          </a:p>
        </p:txBody>
      </p:sp>
      <p:grpSp>
        <p:nvGrpSpPr>
          <p:cNvPr id="3" name="Group 8">
            <a:extLst>
              <a:ext uri="{FF2B5EF4-FFF2-40B4-BE49-F238E27FC236}">
                <a16:creationId xmlns:a16="http://schemas.microsoft.com/office/drawing/2014/main" id="{A0F614DD-F60F-47A5-B3F9-DA73457D90F3}"/>
              </a:ext>
            </a:extLst>
          </p:cNvPr>
          <p:cNvGrpSpPr>
            <a:grpSpLocks/>
          </p:cNvGrpSpPr>
          <p:nvPr/>
        </p:nvGrpSpPr>
        <p:grpSpPr bwMode="auto">
          <a:xfrm>
            <a:off x="1423988" y="4191000"/>
            <a:ext cx="3200400" cy="1890713"/>
            <a:chOff x="897" y="2640"/>
            <a:chExt cx="2016" cy="1191"/>
          </a:xfrm>
        </p:grpSpPr>
        <p:graphicFrame>
          <p:nvGraphicFramePr>
            <p:cNvPr id="7267" name="Object 4">
              <a:extLst>
                <a:ext uri="{FF2B5EF4-FFF2-40B4-BE49-F238E27FC236}">
                  <a16:creationId xmlns:a16="http://schemas.microsoft.com/office/drawing/2014/main" id="{31E69AFF-18E3-48C5-9576-1F2F08F57B01}"/>
                </a:ext>
              </a:extLst>
            </p:cNvPr>
            <p:cNvGraphicFramePr>
              <a:graphicFrameLocks noChangeAspect="1"/>
            </p:cNvGraphicFramePr>
            <p:nvPr/>
          </p:nvGraphicFramePr>
          <p:xfrm>
            <a:off x="993" y="2640"/>
            <a:ext cx="1433" cy="927"/>
          </p:xfrm>
          <a:graphic>
            <a:graphicData uri="http://schemas.openxmlformats.org/presentationml/2006/ole">
              <mc:AlternateContent xmlns:mc="http://schemas.openxmlformats.org/markup-compatibility/2006">
                <mc:Choice xmlns:v="urn:schemas-microsoft-com:vml" Requires="v">
                  <p:oleObj spid="_x0000_s109760" name="Visio" r:id="rId5" imgW="1903427" imgH="1190428" progId="">
                    <p:embed/>
                  </p:oleObj>
                </mc:Choice>
                <mc:Fallback>
                  <p:oleObj name="Visio" r:id="rId5" imgW="1903427" imgH="1190428" progId="">
                    <p:embed/>
                    <p:pic>
                      <p:nvPicPr>
                        <p:cNvPr id="7267" name="Object 4">
                          <a:extLst>
                            <a:ext uri="{FF2B5EF4-FFF2-40B4-BE49-F238E27FC236}">
                              <a16:creationId xmlns:a16="http://schemas.microsoft.com/office/drawing/2014/main" id="{31E69AFF-18E3-48C5-9576-1F2F08F57B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3" y="2640"/>
                          <a:ext cx="1433" cy="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68" name="Text Box 10">
              <a:extLst>
                <a:ext uri="{FF2B5EF4-FFF2-40B4-BE49-F238E27FC236}">
                  <a16:creationId xmlns:a16="http://schemas.microsoft.com/office/drawing/2014/main" id="{68F0369F-8D97-499C-B75F-0CE76FEAD544}"/>
                </a:ext>
              </a:extLst>
            </p:cNvPr>
            <p:cNvSpPr txBox="1">
              <a:spLocks noChangeArrowheads="1"/>
            </p:cNvSpPr>
            <p:nvPr/>
          </p:nvSpPr>
          <p:spPr bwMode="auto">
            <a:xfrm>
              <a:off x="897" y="3600"/>
              <a:ext cx="20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en-US" altLang="zh-CN" sz="1800"/>
                <a:t>(i)</a:t>
              </a:r>
              <a:r>
                <a:rPr lang="zh-CN" altLang="en-US" sz="1800"/>
                <a:t>蒸发</a:t>
              </a:r>
              <a:r>
                <a:rPr lang="en-US" altLang="zh-CN" sz="1800"/>
                <a:t>/</a:t>
              </a:r>
              <a:r>
                <a:rPr lang="zh-CN" altLang="en-US" sz="1800"/>
                <a:t>溅射金属</a:t>
              </a:r>
              <a:r>
                <a:rPr lang="zh-CN" altLang="en-US" sz="1800">
                  <a:latin typeface="Gulim" panose="020B0600000101010101" pitchFamily="34" charset="-127"/>
                  <a:ea typeface="Gulim" panose="020B0600000101010101" pitchFamily="34" charset="-127"/>
                </a:rPr>
                <a:t> </a:t>
              </a:r>
            </a:p>
          </p:txBody>
        </p:sp>
      </p:grpSp>
      <p:grpSp>
        <p:nvGrpSpPr>
          <p:cNvPr id="4" name="Group 11">
            <a:extLst>
              <a:ext uri="{FF2B5EF4-FFF2-40B4-BE49-F238E27FC236}">
                <a16:creationId xmlns:a16="http://schemas.microsoft.com/office/drawing/2014/main" id="{6569CE8E-C6F7-4894-B613-1BEE5F31C2D7}"/>
              </a:ext>
            </a:extLst>
          </p:cNvPr>
          <p:cNvGrpSpPr>
            <a:grpSpLocks/>
          </p:cNvGrpSpPr>
          <p:nvPr/>
        </p:nvGrpSpPr>
        <p:grpSpPr bwMode="auto">
          <a:xfrm>
            <a:off x="5065713" y="4149725"/>
            <a:ext cx="2819400" cy="2022475"/>
            <a:chOff x="3191" y="2614"/>
            <a:chExt cx="1776" cy="1274"/>
          </a:xfrm>
        </p:grpSpPr>
        <p:graphicFrame>
          <p:nvGraphicFramePr>
            <p:cNvPr id="7265" name="Object 6">
              <a:extLst>
                <a:ext uri="{FF2B5EF4-FFF2-40B4-BE49-F238E27FC236}">
                  <a16:creationId xmlns:a16="http://schemas.microsoft.com/office/drawing/2014/main" id="{CFD57A13-22C7-4508-AC5A-5912241AF1CB}"/>
                </a:ext>
              </a:extLst>
            </p:cNvPr>
            <p:cNvGraphicFramePr>
              <a:graphicFrameLocks noChangeAspect="1"/>
            </p:cNvGraphicFramePr>
            <p:nvPr/>
          </p:nvGraphicFramePr>
          <p:xfrm>
            <a:off x="3335" y="2614"/>
            <a:ext cx="1428" cy="1028"/>
          </p:xfrm>
          <a:graphic>
            <a:graphicData uri="http://schemas.openxmlformats.org/presentationml/2006/ole">
              <mc:AlternateContent xmlns:mc="http://schemas.openxmlformats.org/markup-compatibility/2006">
                <mc:Choice xmlns:v="urn:schemas-microsoft-com:vml" Requires="v">
                  <p:oleObj spid="_x0000_s109761" name="Visio" r:id="rId7" imgW="1889041" imgH="1313607" progId="">
                    <p:embed/>
                  </p:oleObj>
                </mc:Choice>
                <mc:Fallback>
                  <p:oleObj name="Visio" r:id="rId7" imgW="1889041" imgH="1313607" progId="">
                    <p:embed/>
                    <p:pic>
                      <p:nvPicPr>
                        <p:cNvPr id="7265" name="Object 6">
                          <a:extLst>
                            <a:ext uri="{FF2B5EF4-FFF2-40B4-BE49-F238E27FC236}">
                              <a16:creationId xmlns:a16="http://schemas.microsoft.com/office/drawing/2014/main" id="{CFD57A13-22C7-4508-AC5A-5912241AF1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5" y="2614"/>
                          <a:ext cx="1428" cy="1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66" name="Text Box 11">
              <a:extLst>
                <a:ext uri="{FF2B5EF4-FFF2-40B4-BE49-F238E27FC236}">
                  <a16:creationId xmlns:a16="http://schemas.microsoft.com/office/drawing/2014/main" id="{CEEA4427-D361-4DCE-B4D5-09F59E913C81}"/>
                </a:ext>
              </a:extLst>
            </p:cNvPr>
            <p:cNvSpPr txBox="1">
              <a:spLocks noChangeArrowheads="1"/>
            </p:cNvSpPr>
            <p:nvPr/>
          </p:nvSpPr>
          <p:spPr bwMode="auto">
            <a:xfrm>
              <a:off x="3191" y="3600"/>
              <a:ext cx="17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1800"/>
                <a:t>（</a:t>
              </a:r>
              <a:r>
                <a:rPr lang="en-US" altLang="zh-CN" sz="1800"/>
                <a:t>j</a:t>
              </a:r>
              <a:r>
                <a:rPr lang="zh-CN" altLang="en-US" sz="1800"/>
                <a:t>） </a:t>
              </a:r>
              <a:r>
                <a:rPr lang="en-US" altLang="zh-CN" sz="1800"/>
                <a:t>PN </a:t>
              </a:r>
              <a:r>
                <a:rPr lang="zh-CN" altLang="en-US" sz="1800"/>
                <a:t>结制作完成</a:t>
              </a:r>
              <a:r>
                <a:rPr lang="zh-CN" altLang="en-US">
                  <a:latin typeface="Gulim" panose="020B0600000101010101" pitchFamily="34" charset="-127"/>
                  <a:ea typeface="Gulim" panose="020B0600000101010101" pitchFamily="34" charset="-127"/>
                </a:rPr>
                <a:t> </a:t>
              </a:r>
            </a:p>
          </p:txBody>
        </p:sp>
      </p:grpSp>
      <p:grpSp>
        <p:nvGrpSpPr>
          <p:cNvPr id="5" name="Group 14">
            <a:extLst>
              <a:ext uri="{FF2B5EF4-FFF2-40B4-BE49-F238E27FC236}">
                <a16:creationId xmlns:a16="http://schemas.microsoft.com/office/drawing/2014/main" id="{355B47D7-07E5-4C5A-B8C6-43AEF5FD862B}"/>
              </a:ext>
            </a:extLst>
          </p:cNvPr>
          <p:cNvGrpSpPr>
            <a:grpSpLocks/>
          </p:cNvGrpSpPr>
          <p:nvPr/>
        </p:nvGrpSpPr>
        <p:grpSpPr bwMode="auto">
          <a:xfrm>
            <a:off x="4319588" y="1905000"/>
            <a:ext cx="4191000" cy="2119313"/>
            <a:chOff x="2721" y="1200"/>
            <a:chExt cx="2640" cy="1335"/>
          </a:xfrm>
        </p:grpSpPr>
        <p:sp>
          <p:nvSpPr>
            <p:cNvPr id="7177" name="Text Box 9">
              <a:extLst>
                <a:ext uri="{FF2B5EF4-FFF2-40B4-BE49-F238E27FC236}">
                  <a16:creationId xmlns:a16="http://schemas.microsoft.com/office/drawing/2014/main" id="{9A2BCBEA-F161-477B-B3EC-B2D3D48B8EC4}"/>
                </a:ext>
              </a:extLst>
            </p:cNvPr>
            <p:cNvSpPr txBox="1">
              <a:spLocks noChangeArrowheads="1"/>
            </p:cNvSpPr>
            <p:nvPr/>
          </p:nvSpPr>
          <p:spPr bwMode="auto">
            <a:xfrm>
              <a:off x="2721" y="2304"/>
              <a:ext cx="26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pPr>
              <a:r>
                <a:rPr lang="en-US" altLang="zh-CN" sz="1800"/>
                <a:t>(h)</a:t>
              </a:r>
              <a:r>
                <a:rPr lang="zh-CN" altLang="en-US" sz="1800"/>
                <a:t>通过扩散（或离子注入）形成 </a:t>
              </a:r>
              <a:r>
                <a:rPr lang="en-US" altLang="zh-CN" sz="1800"/>
                <a:t>PN</a:t>
              </a:r>
              <a:r>
                <a:rPr lang="zh-CN" altLang="en-US" sz="1800"/>
                <a:t>结</a:t>
              </a:r>
              <a:endParaRPr lang="zh-CN" altLang="en-US" sz="1800">
                <a:latin typeface="Gulim" panose="020B0600000101010101" pitchFamily="34" charset="-127"/>
                <a:ea typeface="Gulim" panose="020B0600000101010101" pitchFamily="34" charset="-127"/>
              </a:endParaRPr>
            </a:p>
          </p:txBody>
        </p:sp>
        <p:grpSp>
          <p:nvGrpSpPr>
            <p:cNvPr id="7178" name="Group 13">
              <a:extLst>
                <a:ext uri="{FF2B5EF4-FFF2-40B4-BE49-F238E27FC236}">
                  <a16:creationId xmlns:a16="http://schemas.microsoft.com/office/drawing/2014/main" id="{E9062105-1F01-451F-8A3B-0B18D7636A93}"/>
                </a:ext>
              </a:extLst>
            </p:cNvPr>
            <p:cNvGrpSpPr>
              <a:grpSpLocks/>
            </p:cNvGrpSpPr>
            <p:nvPr/>
          </p:nvGrpSpPr>
          <p:grpSpPr bwMode="auto">
            <a:xfrm>
              <a:off x="3249" y="1200"/>
              <a:ext cx="1380" cy="849"/>
              <a:chOff x="3600" y="2587"/>
              <a:chExt cx="2970" cy="1769"/>
            </a:xfrm>
          </p:grpSpPr>
          <p:sp>
            <p:nvSpPr>
              <p:cNvPr id="7179" name="Rectangle 14">
                <a:extLst>
                  <a:ext uri="{FF2B5EF4-FFF2-40B4-BE49-F238E27FC236}">
                    <a16:creationId xmlns:a16="http://schemas.microsoft.com/office/drawing/2014/main" id="{38ECC8C8-C0BD-4E7B-9B4F-6300B707AC8E}"/>
                  </a:ext>
                </a:extLst>
              </p:cNvPr>
              <p:cNvSpPr>
                <a:spLocks noChangeArrowheads="1"/>
              </p:cNvSpPr>
              <p:nvPr/>
            </p:nvSpPr>
            <p:spPr bwMode="auto">
              <a:xfrm>
                <a:off x="4313" y="3689"/>
                <a:ext cx="2251" cy="5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7180" name="Rectangle 15">
                <a:extLst>
                  <a:ext uri="{FF2B5EF4-FFF2-40B4-BE49-F238E27FC236}">
                    <a16:creationId xmlns:a16="http://schemas.microsoft.com/office/drawing/2014/main" id="{73B2C80B-12B5-4DAC-BF31-CD40745C6058}"/>
                  </a:ext>
                </a:extLst>
              </p:cNvPr>
              <p:cNvSpPr>
                <a:spLocks noChangeArrowheads="1"/>
              </p:cNvSpPr>
              <p:nvPr/>
            </p:nvSpPr>
            <p:spPr bwMode="auto">
              <a:xfrm>
                <a:off x="4313" y="3689"/>
                <a:ext cx="2251" cy="500"/>
              </a:xfrm>
              <a:prstGeom prst="rect">
                <a:avLst/>
              </a:pr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7181" name="Line 16">
                <a:extLst>
                  <a:ext uri="{FF2B5EF4-FFF2-40B4-BE49-F238E27FC236}">
                    <a16:creationId xmlns:a16="http://schemas.microsoft.com/office/drawing/2014/main" id="{AE15C5F7-AF63-4A54-8FA9-410CE39A63E4}"/>
                  </a:ext>
                </a:extLst>
              </p:cNvPr>
              <p:cNvSpPr>
                <a:spLocks noChangeShapeType="1"/>
              </p:cNvSpPr>
              <p:nvPr/>
            </p:nvSpPr>
            <p:spPr bwMode="auto">
              <a:xfrm flipH="1" flipV="1">
                <a:off x="3607" y="3006"/>
                <a:ext cx="692" cy="676"/>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2" name="Line 17">
                <a:extLst>
                  <a:ext uri="{FF2B5EF4-FFF2-40B4-BE49-F238E27FC236}">
                    <a16:creationId xmlns:a16="http://schemas.microsoft.com/office/drawing/2014/main" id="{07FC6391-9DF2-4251-906C-250BF4AE723A}"/>
                  </a:ext>
                </a:extLst>
              </p:cNvPr>
              <p:cNvSpPr>
                <a:spLocks noChangeShapeType="1"/>
              </p:cNvSpPr>
              <p:nvPr/>
            </p:nvSpPr>
            <p:spPr bwMode="auto">
              <a:xfrm flipH="1" flipV="1">
                <a:off x="3621" y="3506"/>
                <a:ext cx="692" cy="675"/>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3" name="Line 18">
                <a:extLst>
                  <a:ext uri="{FF2B5EF4-FFF2-40B4-BE49-F238E27FC236}">
                    <a16:creationId xmlns:a16="http://schemas.microsoft.com/office/drawing/2014/main" id="{7158C295-1710-45C2-9B73-8AFD7A090B10}"/>
                  </a:ext>
                </a:extLst>
              </p:cNvPr>
              <p:cNvSpPr>
                <a:spLocks noChangeShapeType="1"/>
              </p:cNvSpPr>
              <p:nvPr/>
            </p:nvSpPr>
            <p:spPr bwMode="auto">
              <a:xfrm>
                <a:off x="4228" y="3006"/>
                <a:ext cx="897" cy="1"/>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4" name="Line 19">
                <a:extLst>
                  <a:ext uri="{FF2B5EF4-FFF2-40B4-BE49-F238E27FC236}">
                    <a16:creationId xmlns:a16="http://schemas.microsoft.com/office/drawing/2014/main" id="{5CD8B26B-D0E5-4610-A8E9-9DE1FCF45D88}"/>
                  </a:ext>
                </a:extLst>
              </p:cNvPr>
              <p:cNvSpPr>
                <a:spLocks noChangeShapeType="1"/>
              </p:cNvSpPr>
              <p:nvPr/>
            </p:nvSpPr>
            <p:spPr bwMode="auto">
              <a:xfrm>
                <a:off x="3607" y="3006"/>
                <a:ext cx="1" cy="500"/>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5" name="Freeform 20">
                <a:extLst>
                  <a:ext uri="{FF2B5EF4-FFF2-40B4-BE49-F238E27FC236}">
                    <a16:creationId xmlns:a16="http://schemas.microsoft.com/office/drawing/2014/main" id="{CBFA67F8-BA9F-4F1D-877B-3EBDE0BAC55C}"/>
                  </a:ext>
                </a:extLst>
              </p:cNvPr>
              <p:cNvSpPr>
                <a:spLocks/>
              </p:cNvSpPr>
              <p:nvPr/>
            </p:nvSpPr>
            <p:spPr bwMode="auto">
              <a:xfrm>
                <a:off x="5075" y="2844"/>
                <a:ext cx="1489" cy="845"/>
              </a:xfrm>
              <a:custGeom>
                <a:avLst/>
                <a:gdLst>
                  <a:gd name="T0" fmla="*/ 1489 w 1489"/>
                  <a:gd name="T1" fmla="*/ 845 h 845"/>
                  <a:gd name="T2" fmla="*/ 1489 w 1489"/>
                  <a:gd name="T3" fmla="*/ 669 h 845"/>
                  <a:gd name="T4" fmla="*/ 713 w 1489"/>
                  <a:gd name="T5" fmla="*/ 669 h 845"/>
                  <a:gd name="T6" fmla="*/ 0 w 1489"/>
                  <a:gd name="T7" fmla="*/ 0 h 845"/>
                  <a:gd name="T8" fmla="*/ 0 w 1489"/>
                  <a:gd name="T9" fmla="*/ 170 h 845"/>
                  <a:gd name="T10" fmla="*/ 713 w 1489"/>
                  <a:gd name="T11" fmla="*/ 845 h 845"/>
                  <a:gd name="T12" fmla="*/ 1489 w 1489"/>
                  <a:gd name="T13" fmla="*/ 845 h 845"/>
                  <a:gd name="T14" fmla="*/ 1489 w 1489"/>
                  <a:gd name="T15" fmla="*/ 845 h 845"/>
                  <a:gd name="T16" fmla="*/ 0 60000 65536"/>
                  <a:gd name="T17" fmla="*/ 0 60000 65536"/>
                  <a:gd name="T18" fmla="*/ 0 60000 65536"/>
                  <a:gd name="T19" fmla="*/ 0 60000 65536"/>
                  <a:gd name="T20" fmla="*/ 0 60000 65536"/>
                  <a:gd name="T21" fmla="*/ 0 60000 65536"/>
                  <a:gd name="T22" fmla="*/ 0 60000 65536"/>
                  <a:gd name="T23" fmla="*/ 0 60000 65536"/>
                  <a:gd name="T24" fmla="*/ 0 w 1489"/>
                  <a:gd name="T25" fmla="*/ 0 h 845"/>
                  <a:gd name="T26" fmla="*/ 1489 w 1489"/>
                  <a:gd name="T27" fmla="*/ 845 h 8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89" h="845">
                    <a:moveTo>
                      <a:pt x="1489" y="845"/>
                    </a:moveTo>
                    <a:lnTo>
                      <a:pt x="1489" y="669"/>
                    </a:lnTo>
                    <a:lnTo>
                      <a:pt x="713" y="669"/>
                    </a:lnTo>
                    <a:lnTo>
                      <a:pt x="0" y="0"/>
                    </a:lnTo>
                    <a:lnTo>
                      <a:pt x="0" y="170"/>
                    </a:lnTo>
                    <a:lnTo>
                      <a:pt x="713" y="845"/>
                    </a:lnTo>
                    <a:lnTo>
                      <a:pt x="1489" y="84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6" name="Freeform 21">
                <a:extLst>
                  <a:ext uri="{FF2B5EF4-FFF2-40B4-BE49-F238E27FC236}">
                    <a16:creationId xmlns:a16="http://schemas.microsoft.com/office/drawing/2014/main" id="{B13D405C-6C86-4706-A8E6-2796EC02A366}"/>
                  </a:ext>
                </a:extLst>
              </p:cNvPr>
              <p:cNvSpPr>
                <a:spLocks/>
              </p:cNvSpPr>
              <p:nvPr/>
            </p:nvSpPr>
            <p:spPr bwMode="auto">
              <a:xfrm>
                <a:off x="5075" y="2844"/>
                <a:ext cx="1489" cy="845"/>
              </a:xfrm>
              <a:custGeom>
                <a:avLst/>
                <a:gdLst>
                  <a:gd name="T0" fmla="*/ 1489 w 1489"/>
                  <a:gd name="T1" fmla="*/ 845 h 845"/>
                  <a:gd name="T2" fmla="*/ 1489 w 1489"/>
                  <a:gd name="T3" fmla="*/ 669 h 845"/>
                  <a:gd name="T4" fmla="*/ 713 w 1489"/>
                  <a:gd name="T5" fmla="*/ 669 h 845"/>
                  <a:gd name="T6" fmla="*/ 0 w 1489"/>
                  <a:gd name="T7" fmla="*/ 0 h 845"/>
                  <a:gd name="T8" fmla="*/ 0 w 1489"/>
                  <a:gd name="T9" fmla="*/ 170 h 845"/>
                  <a:gd name="T10" fmla="*/ 713 w 1489"/>
                  <a:gd name="T11" fmla="*/ 845 h 845"/>
                  <a:gd name="T12" fmla="*/ 1489 w 1489"/>
                  <a:gd name="T13" fmla="*/ 845 h 845"/>
                  <a:gd name="T14" fmla="*/ 1489 w 1489"/>
                  <a:gd name="T15" fmla="*/ 845 h 845"/>
                  <a:gd name="T16" fmla="*/ 0 60000 65536"/>
                  <a:gd name="T17" fmla="*/ 0 60000 65536"/>
                  <a:gd name="T18" fmla="*/ 0 60000 65536"/>
                  <a:gd name="T19" fmla="*/ 0 60000 65536"/>
                  <a:gd name="T20" fmla="*/ 0 60000 65536"/>
                  <a:gd name="T21" fmla="*/ 0 60000 65536"/>
                  <a:gd name="T22" fmla="*/ 0 60000 65536"/>
                  <a:gd name="T23" fmla="*/ 0 60000 65536"/>
                  <a:gd name="T24" fmla="*/ 0 w 1489"/>
                  <a:gd name="T25" fmla="*/ 0 h 845"/>
                  <a:gd name="T26" fmla="*/ 1489 w 1489"/>
                  <a:gd name="T27" fmla="*/ 845 h 8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89" h="845">
                    <a:moveTo>
                      <a:pt x="1489" y="845"/>
                    </a:moveTo>
                    <a:lnTo>
                      <a:pt x="1489" y="669"/>
                    </a:lnTo>
                    <a:lnTo>
                      <a:pt x="713" y="669"/>
                    </a:lnTo>
                    <a:lnTo>
                      <a:pt x="0" y="0"/>
                    </a:lnTo>
                    <a:lnTo>
                      <a:pt x="0" y="170"/>
                    </a:lnTo>
                    <a:lnTo>
                      <a:pt x="713" y="845"/>
                    </a:lnTo>
                    <a:lnTo>
                      <a:pt x="1489" y="845"/>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87" name="Freeform 22">
                <a:extLst>
                  <a:ext uri="{FF2B5EF4-FFF2-40B4-BE49-F238E27FC236}">
                    <a16:creationId xmlns:a16="http://schemas.microsoft.com/office/drawing/2014/main" id="{A0CF0E5D-8BF5-4794-AF0E-6938CF3B568A}"/>
                  </a:ext>
                </a:extLst>
              </p:cNvPr>
              <p:cNvSpPr>
                <a:spLocks/>
              </p:cNvSpPr>
              <p:nvPr/>
            </p:nvSpPr>
            <p:spPr bwMode="auto">
              <a:xfrm>
                <a:off x="5075" y="2844"/>
                <a:ext cx="1489" cy="669"/>
              </a:xfrm>
              <a:custGeom>
                <a:avLst/>
                <a:gdLst>
                  <a:gd name="T0" fmla="*/ 0 w 1489"/>
                  <a:gd name="T1" fmla="*/ 0 h 669"/>
                  <a:gd name="T2" fmla="*/ 776 w 1489"/>
                  <a:gd name="T3" fmla="*/ 0 h 669"/>
                  <a:gd name="T4" fmla="*/ 1489 w 1489"/>
                  <a:gd name="T5" fmla="*/ 669 h 669"/>
                  <a:gd name="T6" fmla="*/ 706 w 1489"/>
                  <a:gd name="T7" fmla="*/ 669 h 669"/>
                  <a:gd name="T8" fmla="*/ 0 w 1489"/>
                  <a:gd name="T9" fmla="*/ 0 h 669"/>
                  <a:gd name="T10" fmla="*/ 0 w 1489"/>
                  <a:gd name="T11" fmla="*/ 0 h 669"/>
                  <a:gd name="T12" fmla="*/ 0 60000 65536"/>
                  <a:gd name="T13" fmla="*/ 0 60000 65536"/>
                  <a:gd name="T14" fmla="*/ 0 60000 65536"/>
                  <a:gd name="T15" fmla="*/ 0 60000 65536"/>
                  <a:gd name="T16" fmla="*/ 0 60000 65536"/>
                  <a:gd name="T17" fmla="*/ 0 60000 65536"/>
                  <a:gd name="T18" fmla="*/ 0 w 1489"/>
                  <a:gd name="T19" fmla="*/ 0 h 669"/>
                  <a:gd name="T20" fmla="*/ 1489 w 1489"/>
                  <a:gd name="T21" fmla="*/ 669 h 669"/>
                </a:gdLst>
                <a:ahLst/>
                <a:cxnLst>
                  <a:cxn ang="T12">
                    <a:pos x="T0" y="T1"/>
                  </a:cxn>
                  <a:cxn ang="T13">
                    <a:pos x="T2" y="T3"/>
                  </a:cxn>
                  <a:cxn ang="T14">
                    <a:pos x="T4" y="T5"/>
                  </a:cxn>
                  <a:cxn ang="T15">
                    <a:pos x="T6" y="T7"/>
                  </a:cxn>
                  <a:cxn ang="T16">
                    <a:pos x="T8" y="T9"/>
                  </a:cxn>
                  <a:cxn ang="T17">
                    <a:pos x="T10" y="T11"/>
                  </a:cxn>
                </a:cxnLst>
                <a:rect l="T18" t="T19" r="T20" b="T21"/>
                <a:pathLst>
                  <a:path w="1489" h="669">
                    <a:moveTo>
                      <a:pt x="0" y="0"/>
                    </a:moveTo>
                    <a:lnTo>
                      <a:pt x="776" y="0"/>
                    </a:lnTo>
                    <a:lnTo>
                      <a:pt x="1489" y="669"/>
                    </a:lnTo>
                    <a:lnTo>
                      <a:pt x="706" y="669"/>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88" name="Freeform 23">
                <a:extLst>
                  <a:ext uri="{FF2B5EF4-FFF2-40B4-BE49-F238E27FC236}">
                    <a16:creationId xmlns:a16="http://schemas.microsoft.com/office/drawing/2014/main" id="{7376742B-A7C5-44E3-91B1-7DCE17750F89}"/>
                  </a:ext>
                </a:extLst>
              </p:cNvPr>
              <p:cNvSpPr>
                <a:spLocks/>
              </p:cNvSpPr>
              <p:nvPr/>
            </p:nvSpPr>
            <p:spPr bwMode="auto">
              <a:xfrm>
                <a:off x="5075" y="2844"/>
                <a:ext cx="1489" cy="669"/>
              </a:xfrm>
              <a:custGeom>
                <a:avLst/>
                <a:gdLst>
                  <a:gd name="T0" fmla="*/ 0 w 1489"/>
                  <a:gd name="T1" fmla="*/ 0 h 669"/>
                  <a:gd name="T2" fmla="*/ 776 w 1489"/>
                  <a:gd name="T3" fmla="*/ 0 h 669"/>
                  <a:gd name="T4" fmla="*/ 1489 w 1489"/>
                  <a:gd name="T5" fmla="*/ 669 h 669"/>
                  <a:gd name="T6" fmla="*/ 706 w 1489"/>
                  <a:gd name="T7" fmla="*/ 669 h 669"/>
                  <a:gd name="T8" fmla="*/ 0 w 1489"/>
                  <a:gd name="T9" fmla="*/ 0 h 669"/>
                  <a:gd name="T10" fmla="*/ 0 w 1489"/>
                  <a:gd name="T11" fmla="*/ 0 h 669"/>
                  <a:gd name="T12" fmla="*/ 0 60000 65536"/>
                  <a:gd name="T13" fmla="*/ 0 60000 65536"/>
                  <a:gd name="T14" fmla="*/ 0 60000 65536"/>
                  <a:gd name="T15" fmla="*/ 0 60000 65536"/>
                  <a:gd name="T16" fmla="*/ 0 60000 65536"/>
                  <a:gd name="T17" fmla="*/ 0 60000 65536"/>
                  <a:gd name="T18" fmla="*/ 0 w 1489"/>
                  <a:gd name="T19" fmla="*/ 0 h 669"/>
                  <a:gd name="T20" fmla="*/ 1489 w 1489"/>
                  <a:gd name="T21" fmla="*/ 669 h 669"/>
                </a:gdLst>
                <a:ahLst/>
                <a:cxnLst>
                  <a:cxn ang="T12">
                    <a:pos x="T0" y="T1"/>
                  </a:cxn>
                  <a:cxn ang="T13">
                    <a:pos x="T2" y="T3"/>
                  </a:cxn>
                  <a:cxn ang="T14">
                    <a:pos x="T4" y="T5"/>
                  </a:cxn>
                  <a:cxn ang="T15">
                    <a:pos x="T6" y="T7"/>
                  </a:cxn>
                  <a:cxn ang="T16">
                    <a:pos x="T8" y="T9"/>
                  </a:cxn>
                  <a:cxn ang="T17">
                    <a:pos x="T10" y="T11"/>
                  </a:cxn>
                </a:cxnLst>
                <a:rect l="T18" t="T19" r="T20" b="T21"/>
                <a:pathLst>
                  <a:path w="1489" h="669">
                    <a:moveTo>
                      <a:pt x="0" y="0"/>
                    </a:moveTo>
                    <a:lnTo>
                      <a:pt x="776" y="0"/>
                    </a:lnTo>
                    <a:lnTo>
                      <a:pt x="1489" y="669"/>
                    </a:lnTo>
                    <a:lnTo>
                      <a:pt x="706" y="669"/>
                    </a:lnTo>
                    <a:lnTo>
                      <a:pt x="0" y="0"/>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89" name="Line 24">
                <a:extLst>
                  <a:ext uri="{FF2B5EF4-FFF2-40B4-BE49-F238E27FC236}">
                    <a16:creationId xmlns:a16="http://schemas.microsoft.com/office/drawing/2014/main" id="{5CD6E59D-A5B0-4C83-A378-94A82E765D18}"/>
                  </a:ext>
                </a:extLst>
              </p:cNvPr>
              <p:cNvSpPr>
                <a:spLocks noChangeShapeType="1"/>
              </p:cNvSpPr>
              <p:nvPr/>
            </p:nvSpPr>
            <p:spPr bwMode="auto">
              <a:xfrm>
                <a:off x="5781" y="3506"/>
                <a:ext cx="1" cy="183"/>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0" name="Freeform 25">
                <a:extLst>
                  <a:ext uri="{FF2B5EF4-FFF2-40B4-BE49-F238E27FC236}">
                    <a16:creationId xmlns:a16="http://schemas.microsoft.com/office/drawing/2014/main" id="{5A34905E-5710-478E-96C7-45DDC19D3979}"/>
                  </a:ext>
                </a:extLst>
              </p:cNvPr>
              <p:cNvSpPr>
                <a:spLocks/>
              </p:cNvSpPr>
              <p:nvPr/>
            </p:nvSpPr>
            <p:spPr bwMode="auto">
              <a:xfrm>
                <a:off x="3607" y="2844"/>
                <a:ext cx="1490" cy="845"/>
              </a:xfrm>
              <a:custGeom>
                <a:avLst/>
                <a:gdLst>
                  <a:gd name="T0" fmla="*/ 1490 w 1490"/>
                  <a:gd name="T1" fmla="*/ 845 h 845"/>
                  <a:gd name="T2" fmla="*/ 1490 w 1490"/>
                  <a:gd name="T3" fmla="*/ 669 h 845"/>
                  <a:gd name="T4" fmla="*/ 706 w 1490"/>
                  <a:gd name="T5" fmla="*/ 669 h 845"/>
                  <a:gd name="T6" fmla="*/ 0 w 1490"/>
                  <a:gd name="T7" fmla="*/ 0 h 845"/>
                  <a:gd name="T8" fmla="*/ 0 w 1490"/>
                  <a:gd name="T9" fmla="*/ 170 h 845"/>
                  <a:gd name="T10" fmla="*/ 706 w 1490"/>
                  <a:gd name="T11" fmla="*/ 845 h 845"/>
                  <a:gd name="T12" fmla="*/ 1490 w 1490"/>
                  <a:gd name="T13" fmla="*/ 845 h 845"/>
                  <a:gd name="T14" fmla="*/ 1490 w 1490"/>
                  <a:gd name="T15" fmla="*/ 845 h 845"/>
                  <a:gd name="T16" fmla="*/ 0 60000 65536"/>
                  <a:gd name="T17" fmla="*/ 0 60000 65536"/>
                  <a:gd name="T18" fmla="*/ 0 60000 65536"/>
                  <a:gd name="T19" fmla="*/ 0 60000 65536"/>
                  <a:gd name="T20" fmla="*/ 0 60000 65536"/>
                  <a:gd name="T21" fmla="*/ 0 60000 65536"/>
                  <a:gd name="T22" fmla="*/ 0 60000 65536"/>
                  <a:gd name="T23" fmla="*/ 0 60000 65536"/>
                  <a:gd name="T24" fmla="*/ 0 w 1490"/>
                  <a:gd name="T25" fmla="*/ 0 h 845"/>
                  <a:gd name="T26" fmla="*/ 1490 w 1490"/>
                  <a:gd name="T27" fmla="*/ 845 h 8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0" h="845">
                    <a:moveTo>
                      <a:pt x="1490" y="845"/>
                    </a:moveTo>
                    <a:lnTo>
                      <a:pt x="1490" y="669"/>
                    </a:lnTo>
                    <a:lnTo>
                      <a:pt x="706" y="669"/>
                    </a:lnTo>
                    <a:lnTo>
                      <a:pt x="0" y="0"/>
                    </a:lnTo>
                    <a:lnTo>
                      <a:pt x="0" y="170"/>
                    </a:lnTo>
                    <a:lnTo>
                      <a:pt x="706" y="845"/>
                    </a:lnTo>
                    <a:lnTo>
                      <a:pt x="1490" y="84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1" name="Freeform 26">
                <a:extLst>
                  <a:ext uri="{FF2B5EF4-FFF2-40B4-BE49-F238E27FC236}">
                    <a16:creationId xmlns:a16="http://schemas.microsoft.com/office/drawing/2014/main" id="{791F6E9F-8483-459E-A84F-1E14DE1DF046}"/>
                  </a:ext>
                </a:extLst>
              </p:cNvPr>
              <p:cNvSpPr>
                <a:spLocks/>
              </p:cNvSpPr>
              <p:nvPr/>
            </p:nvSpPr>
            <p:spPr bwMode="auto">
              <a:xfrm>
                <a:off x="3607" y="2844"/>
                <a:ext cx="1490" cy="845"/>
              </a:xfrm>
              <a:custGeom>
                <a:avLst/>
                <a:gdLst>
                  <a:gd name="T0" fmla="*/ 1490 w 1490"/>
                  <a:gd name="T1" fmla="*/ 845 h 845"/>
                  <a:gd name="T2" fmla="*/ 1490 w 1490"/>
                  <a:gd name="T3" fmla="*/ 669 h 845"/>
                  <a:gd name="T4" fmla="*/ 706 w 1490"/>
                  <a:gd name="T5" fmla="*/ 669 h 845"/>
                  <a:gd name="T6" fmla="*/ 0 w 1490"/>
                  <a:gd name="T7" fmla="*/ 0 h 845"/>
                  <a:gd name="T8" fmla="*/ 0 w 1490"/>
                  <a:gd name="T9" fmla="*/ 170 h 845"/>
                  <a:gd name="T10" fmla="*/ 706 w 1490"/>
                  <a:gd name="T11" fmla="*/ 845 h 845"/>
                  <a:gd name="T12" fmla="*/ 1490 w 1490"/>
                  <a:gd name="T13" fmla="*/ 845 h 845"/>
                  <a:gd name="T14" fmla="*/ 1490 w 1490"/>
                  <a:gd name="T15" fmla="*/ 845 h 845"/>
                  <a:gd name="T16" fmla="*/ 0 60000 65536"/>
                  <a:gd name="T17" fmla="*/ 0 60000 65536"/>
                  <a:gd name="T18" fmla="*/ 0 60000 65536"/>
                  <a:gd name="T19" fmla="*/ 0 60000 65536"/>
                  <a:gd name="T20" fmla="*/ 0 60000 65536"/>
                  <a:gd name="T21" fmla="*/ 0 60000 65536"/>
                  <a:gd name="T22" fmla="*/ 0 60000 65536"/>
                  <a:gd name="T23" fmla="*/ 0 60000 65536"/>
                  <a:gd name="T24" fmla="*/ 0 w 1490"/>
                  <a:gd name="T25" fmla="*/ 0 h 845"/>
                  <a:gd name="T26" fmla="*/ 1490 w 1490"/>
                  <a:gd name="T27" fmla="*/ 845 h 8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0" h="845">
                    <a:moveTo>
                      <a:pt x="1490" y="845"/>
                    </a:moveTo>
                    <a:lnTo>
                      <a:pt x="1490" y="669"/>
                    </a:lnTo>
                    <a:lnTo>
                      <a:pt x="706" y="669"/>
                    </a:lnTo>
                    <a:lnTo>
                      <a:pt x="0" y="0"/>
                    </a:lnTo>
                    <a:lnTo>
                      <a:pt x="0" y="170"/>
                    </a:lnTo>
                    <a:lnTo>
                      <a:pt x="706" y="845"/>
                    </a:lnTo>
                    <a:lnTo>
                      <a:pt x="1490" y="845"/>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92" name="Freeform 27">
                <a:extLst>
                  <a:ext uri="{FF2B5EF4-FFF2-40B4-BE49-F238E27FC236}">
                    <a16:creationId xmlns:a16="http://schemas.microsoft.com/office/drawing/2014/main" id="{FFE53B40-D136-4A85-A263-B627939277DE}"/>
                  </a:ext>
                </a:extLst>
              </p:cNvPr>
              <p:cNvSpPr>
                <a:spLocks/>
              </p:cNvSpPr>
              <p:nvPr/>
            </p:nvSpPr>
            <p:spPr bwMode="auto">
              <a:xfrm>
                <a:off x="3600" y="2844"/>
                <a:ext cx="1489" cy="669"/>
              </a:xfrm>
              <a:custGeom>
                <a:avLst/>
                <a:gdLst>
                  <a:gd name="T0" fmla="*/ 0 w 1489"/>
                  <a:gd name="T1" fmla="*/ 0 h 669"/>
                  <a:gd name="T2" fmla="*/ 783 w 1489"/>
                  <a:gd name="T3" fmla="*/ 0 h 669"/>
                  <a:gd name="T4" fmla="*/ 1489 w 1489"/>
                  <a:gd name="T5" fmla="*/ 669 h 669"/>
                  <a:gd name="T6" fmla="*/ 713 w 1489"/>
                  <a:gd name="T7" fmla="*/ 669 h 669"/>
                  <a:gd name="T8" fmla="*/ 0 w 1489"/>
                  <a:gd name="T9" fmla="*/ 0 h 669"/>
                  <a:gd name="T10" fmla="*/ 0 w 1489"/>
                  <a:gd name="T11" fmla="*/ 0 h 669"/>
                  <a:gd name="T12" fmla="*/ 0 60000 65536"/>
                  <a:gd name="T13" fmla="*/ 0 60000 65536"/>
                  <a:gd name="T14" fmla="*/ 0 60000 65536"/>
                  <a:gd name="T15" fmla="*/ 0 60000 65536"/>
                  <a:gd name="T16" fmla="*/ 0 60000 65536"/>
                  <a:gd name="T17" fmla="*/ 0 60000 65536"/>
                  <a:gd name="T18" fmla="*/ 0 w 1489"/>
                  <a:gd name="T19" fmla="*/ 0 h 669"/>
                  <a:gd name="T20" fmla="*/ 1489 w 1489"/>
                  <a:gd name="T21" fmla="*/ 669 h 669"/>
                </a:gdLst>
                <a:ahLst/>
                <a:cxnLst>
                  <a:cxn ang="T12">
                    <a:pos x="T0" y="T1"/>
                  </a:cxn>
                  <a:cxn ang="T13">
                    <a:pos x="T2" y="T3"/>
                  </a:cxn>
                  <a:cxn ang="T14">
                    <a:pos x="T4" y="T5"/>
                  </a:cxn>
                  <a:cxn ang="T15">
                    <a:pos x="T6" y="T7"/>
                  </a:cxn>
                  <a:cxn ang="T16">
                    <a:pos x="T8" y="T9"/>
                  </a:cxn>
                  <a:cxn ang="T17">
                    <a:pos x="T10" y="T11"/>
                  </a:cxn>
                </a:cxnLst>
                <a:rect l="T18" t="T19" r="T20" b="T21"/>
                <a:pathLst>
                  <a:path w="1489" h="669">
                    <a:moveTo>
                      <a:pt x="0" y="0"/>
                    </a:moveTo>
                    <a:lnTo>
                      <a:pt x="783" y="0"/>
                    </a:lnTo>
                    <a:lnTo>
                      <a:pt x="1489" y="669"/>
                    </a:lnTo>
                    <a:lnTo>
                      <a:pt x="713" y="669"/>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3" name="Freeform 28">
                <a:extLst>
                  <a:ext uri="{FF2B5EF4-FFF2-40B4-BE49-F238E27FC236}">
                    <a16:creationId xmlns:a16="http://schemas.microsoft.com/office/drawing/2014/main" id="{25F485C8-29B5-4BDC-916B-CF5DD35B0F1C}"/>
                  </a:ext>
                </a:extLst>
              </p:cNvPr>
              <p:cNvSpPr>
                <a:spLocks/>
              </p:cNvSpPr>
              <p:nvPr/>
            </p:nvSpPr>
            <p:spPr bwMode="auto">
              <a:xfrm>
                <a:off x="3600" y="2844"/>
                <a:ext cx="1489" cy="669"/>
              </a:xfrm>
              <a:custGeom>
                <a:avLst/>
                <a:gdLst>
                  <a:gd name="T0" fmla="*/ 0 w 1489"/>
                  <a:gd name="T1" fmla="*/ 0 h 669"/>
                  <a:gd name="T2" fmla="*/ 783 w 1489"/>
                  <a:gd name="T3" fmla="*/ 0 h 669"/>
                  <a:gd name="T4" fmla="*/ 1489 w 1489"/>
                  <a:gd name="T5" fmla="*/ 669 h 669"/>
                  <a:gd name="T6" fmla="*/ 713 w 1489"/>
                  <a:gd name="T7" fmla="*/ 669 h 669"/>
                  <a:gd name="T8" fmla="*/ 0 w 1489"/>
                  <a:gd name="T9" fmla="*/ 0 h 669"/>
                  <a:gd name="T10" fmla="*/ 0 w 1489"/>
                  <a:gd name="T11" fmla="*/ 0 h 669"/>
                  <a:gd name="T12" fmla="*/ 0 60000 65536"/>
                  <a:gd name="T13" fmla="*/ 0 60000 65536"/>
                  <a:gd name="T14" fmla="*/ 0 60000 65536"/>
                  <a:gd name="T15" fmla="*/ 0 60000 65536"/>
                  <a:gd name="T16" fmla="*/ 0 60000 65536"/>
                  <a:gd name="T17" fmla="*/ 0 60000 65536"/>
                  <a:gd name="T18" fmla="*/ 0 w 1489"/>
                  <a:gd name="T19" fmla="*/ 0 h 669"/>
                  <a:gd name="T20" fmla="*/ 1489 w 1489"/>
                  <a:gd name="T21" fmla="*/ 669 h 669"/>
                </a:gdLst>
                <a:ahLst/>
                <a:cxnLst>
                  <a:cxn ang="T12">
                    <a:pos x="T0" y="T1"/>
                  </a:cxn>
                  <a:cxn ang="T13">
                    <a:pos x="T2" y="T3"/>
                  </a:cxn>
                  <a:cxn ang="T14">
                    <a:pos x="T4" y="T5"/>
                  </a:cxn>
                  <a:cxn ang="T15">
                    <a:pos x="T6" y="T7"/>
                  </a:cxn>
                  <a:cxn ang="T16">
                    <a:pos x="T8" y="T9"/>
                  </a:cxn>
                  <a:cxn ang="T17">
                    <a:pos x="T10" y="T11"/>
                  </a:cxn>
                </a:cxnLst>
                <a:rect l="T18" t="T19" r="T20" b="T21"/>
                <a:pathLst>
                  <a:path w="1489" h="669">
                    <a:moveTo>
                      <a:pt x="0" y="0"/>
                    </a:moveTo>
                    <a:lnTo>
                      <a:pt x="783" y="0"/>
                    </a:lnTo>
                    <a:lnTo>
                      <a:pt x="1489" y="669"/>
                    </a:lnTo>
                    <a:lnTo>
                      <a:pt x="713" y="669"/>
                    </a:lnTo>
                    <a:lnTo>
                      <a:pt x="0" y="0"/>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94" name="Line 29">
                <a:extLst>
                  <a:ext uri="{FF2B5EF4-FFF2-40B4-BE49-F238E27FC236}">
                    <a16:creationId xmlns:a16="http://schemas.microsoft.com/office/drawing/2014/main" id="{1ACAE011-2C88-41AC-B519-69013B069FAF}"/>
                  </a:ext>
                </a:extLst>
              </p:cNvPr>
              <p:cNvSpPr>
                <a:spLocks noChangeShapeType="1"/>
              </p:cNvSpPr>
              <p:nvPr/>
            </p:nvSpPr>
            <p:spPr bwMode="auto">
              <a:xfrm>
                <a:off x="4313" y="3513"/>
                <a:ext cx="1" cy="183"/>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5" name="Line 30">
                <a:extLst>
                  <a:ext uri="{FF2B5EF4-FFF2-40B4-BE49-F238E27FC236}">
                    <a16:creationId xmlns:a16="http://schemas.microsoft.com/office/drawing/2014/main" id="{74519DBD-2E2E-4E2C-872E-8938BCCF2E89}"/>
                  </a:ext>
                </a:extLst>
              </p:cNvPr>
              <p:cNvSpPr>
                <a:spLocks noChangeShapeType="1"/>
              </p:cNvSpPr>
              <p:nvPr/>
            </p:nvSpPr>
            <p:spPr bwMode="auto">
              <a:xfrm>
                <a:off x="3995" y="258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6" name="Freeform 31">
                <a:extLst>
                  <a:ext uri="{FF2B5EF4-FFF2-40B4-BE49-F238E27FC236}">
                    <a16:creationId xmlns:a16="http://schemas.microsoft.com/office/drawing/2014/main" id="{02F27CFB-EAA9-4F49-8713-C1398A53380D}"/>
                  </a:ext>
                </a:extLst>
              </p:cNvPr>
              <p:cNvSpPr>
                <a:spLocks/>
              </p:cNvSpPr>
              <p:nvPr/>
            </p:nvSpPr>
            <p:spPr bwMode="auto">
              <a:xfrm>
                <a:off x="3953" y="2704"/>
                <a:ext cx="92" cy="163"/>
              </a:xfrm>
              <a:custGeom>
                <a:avLst/>
                <a:gdLst>
                  <a:gd name="T0" fmla="*/ 0 w 92"/>
                  <a:gd name="T1" fmla="*/ 0 h 163"/>
                  <a:gd name="T2" fmla="*/ 49 w 92"/>
                  <a:gd name="T3" fmla="*/ 163 h 163"/>
                  <a:gd name="T4" fmla="*/ 92 w 92"/>
                  <a:gd name="T5" fmla="*/ 0 h 163"/>
                  <a:gd name="T6" fmla="*/ 49 w 92"/>
                  <a:gd name="T7" fmla="*/ 52 h 163"/>
                  <a:gd name="T8" fmla="*/ 0 w 92"/>
                  <a:gd name="T9" fmla="*/ 0 h 163"/>
                  <a:gd name="T10" fmla="*/ 0 60000 65536"/>
                  <a:gd name="T11" fmla="*/ 0 60000 65536"/>
                  <a:gd name="T12" fmla="*/ 0 60000 65536"/>
                  <a:gd name="T13" fmla="*/ 0 60000 65536"/>
                  <a:gd name="T14" fmla="*/ 0 60000 65536"/>
                  <a:gd name="T15" fmla="*/ 0 w 92"/>
                  <a:gd name="T16" fmla="*/ 0 h 163"/>
                  <a:gd name="T17" fmla="*/ 92 w 92"/>
                  <a:gd name="T18" fmla="*/ 163 h 163"/>
                </a:gdLst>
                <a:ahLst/>
                <a:cxnLst>
                  <a:cxn ang="T10">
                    <a:pos x="T0" y="T1"/>
                  </a:cxn>
                  <a:cxn ang="T11">
                    <a:pos x="T2" y="T3"/>
                  </a:cxn>
                  <a:cxn ang="T12">
                    <a:pos x="T4" y="T5"/>
                  </a:cxn>
                  <a:cxn ang="T13">
                    <a:pos x="T6" y="T7"/>
                  </a:cxn>
                  <a:cxn ang="T14">
                    <a:pos x="T8" y="T9"/>
                  </a:cxn>
                </a:cxnLst>
                <a:rect l="T15" t="T16" r="T17" b="T18"/>
                <a:pathLst>
                  <a:path w="92" h="163">
                    <a:moveTo>
                      <a:pt x="0" y="0"/>
                    </a:moveTo>
                    <a:lnTo>
                      <a:pt x="49" y="163"/>
                    </a:lnTo>
                    <a:lnTo>
                      <a:pt x="92" y="0"/>
                    </a:lnTo>
                    <a:lnTo>
                      <a:pt x="49"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7" name="Line 32">
                <a:extLst>
                  <a:ext uri="{FF2B5EF4-FFF2-40B4-BE49-F238E27FC236}">
                    <a16:creationId xmlns:a16="http://schemas.microsoft.com/office/drawing/2014/main" id="{5D192E1A-BD5E-4010-B2FE-8CB5D73E862C}"/>
                  </a:ext>
                </a:extLst>
              </p:cNvPr>
              <p:cNvSpPr>
                <a:spLocks noChangeShapeType="1"/>
              </p:cNvSpPr>
              <p:nvPr/>
            </p:nvSpPr>
            <p:spPr bwMode="auto">
              <a:xfrm>
                <a:off x="4559" y="258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8" name="Freeform 33">
                <a:extLst>
                  <a:ext uri="{FF2B5EF4-FFF2-40B4-BE49-F238E27FC236}">
                    <a16:creationId xmlns:a16="http://schemas.microsoft.com/office/drawing/2014/main" id="{44D4455B-D248-4CDE-B863-D93EE64CAE2D}"/>
                  </a:ext>
                </a:extLst>
              </p:cNvPr>
              <p:cNvSpPr>
                <a:spLocks/>
              </p:cNvSpPr>
              <p:nvPr/>
            </p:nvSpPr>
            <p:spPr bwMode="auto">
              <a:xfrm>
                <a:off x="4517" y="2704"/>
                <a:ext cx="92" cy="163"/>
              </a:xfrm>
              <a:custGeom>
                <a:avLst/>
                <a:gdLst>
                  <a:gd name="T0" fmla="*/ 0 w 92"/>
                  <a:gd name="T1" fmla="*/ 0 h 163"/>
                  <a:gd name="T2" fmla="*/ 50 w 92"/>
                  <a:gd name="T3" fmla="*/ 163 h 163"/>
                  <a:gd name="T4" fmla="*/ 92 w 92"/>
                  <a:gd name="T5" fmla="*/ 0 h 163"/>
                  <a:gd name="T6" fmla="*/ 50 w 92"/>
                  <a:gd name="T7" fmla="*/ 52 h 163"/>
                  <a:gd name="T8" fmla="*/ 0 w 92"/>
                  <a:gd name="T9" fmla="*/ 0 h 163"/>
                  <a:gd name="T10" fmla="*/ 0 60000 65536"/>
                  <a:gd name="T11" fmla="*/ 0 60000 65536"/>
                  <a:gd name="T12" fmla="*/ 0 60000 65536"/>
                  <a:gd name="T13" fmla="*/ 0 60000 65536"/>
                  <a:gd name="T14" fmla="*/ 0 60000 65536"/>
                  <a:gd name="T15" fmla="*/ 0 w 92"/>
                  <a:gd name="T16" fmla="*/ 0 h 163"/>
                  <a:gd name="T17" fmla="*/ 92 w 92"/>
                  <a:gd name="T18" fmla="*/ 163 h 163"/>
                </a:gdLst>
                <a:ahLst/>
                <a:cxnLst>
                  <a:cxn ang="T10">
                    <a:pos x="T0" y="T1"/>
                  </a:cxn>
                  <a:cxn ang="T11">
                    <a:pos x="T2" y="T3"/>
                  </a:cxn>
                  <a:cxn ang="T12">
                    <a:pos x="T4" y="T5"/>
                  </a:cxn>
                  <a:cxn ang="T13">
                    <a:pos x="T6" y="T7"/>
                  </a:cxn>
                  <a:cxn ang="T14">
                    <a:pos x="T8" y="T9"/>
                  </a:cxn>
                </a:cxnLst>
                <a:rect l="T15" t="T16" r="T17" b="T18"/>
                <a:pathLst>
                  <a:path w="92" h="163">
                    <a:moveTo>
                      <a:pt x="0" y="0"/>
                    </a:moveTo>
                    <a:lnTo>
                      <a:pt x="50" y="163"/>
                    </a:lnTo>
                    <a:lnTo>
                      <a:pt x="92" y="0"/>
                    </a:lnTo>
                    <a:lnTo>
                      <a:pt x="50"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99" name="Line 34">
                <a:extLst>
                  <a:ext uri="{FF2B5EF4-FFF2-40B4-BE49-F238E27FC236}">
                    <a16:creationId xmlns:a16="http://schemas.microsoft.com/office/drawing/2014/main" id="{00CC7B80-C240-4BE8-8453-676144246705}"/>
                  </a:ext>
                </a:extLst>
              </p:cNvPr>
              <p:cNvSpPr>
                <a:spLocks noChangeShapeType="1"/>
              </p:cNvSpPr>
              <p:nvPr/>
            </p:nvSpPr>
            <p:spPr bwMode="auto">
              <a:xfrm>
                <a:off x="4277" y="258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0" name="Freeform 35">
                <a:extLst>
                  <a:ext uri="{FF2B5EF4-FFF2-40B4-BE49-F238E27FC236}">
                    <a16:creationId xmlns:a16="http://schemas.microsoft.com/office/drawing/2014/main" id="{E059BEE8-743D-41F1-932C-BF2AD8042C80}"/>
                  </a:ext>
                </a:extLst>
              </p:cNvPr>
              <p:cNvSpPr>
                <a:spLocks/>
              </p:cNvSpPr>
              <p:nvPr/>
            </p:nvSpPr>
            <p:spPr bwMode="auto">
              <a:xfrm>
                <a:off x="4235" y="2704"/>
                <a:ext cx="92" cy="163"/>
              </a:xfrm>
              <a:custGeom>
                <a:avLst/>
                <a:gdLst>
                  <a:gd name="T0" fmla="*/ 0 w 92"/>
                  <a:gd name="T1" fmla="*/ 0 h 163"/>
                  <a:gd name="T2" fmla="*/ 50 w 92"/>
                  <a:gd name="T3" fmla="*/ 163 h 163"/>
                  <a:gd name="T4" fmla="*/ 92 w 92"/>
                  <a:gd name="T5" fmla="*/ 0 h 163"/>
                  <a:gd name="T6" fmla="*/ 50 w 92"/>
                  <a:gd name="T7" fmla="*/ 52 h 163"/>
                  <a:gd name="T8" fmla="*/ 0 w 92"/>
                  <a:gd name="T9" fmla="*/ 0 h 163"/>
                  <a:gd name="T10" fmla="*/ 0 60000 65536"/>
                  <a:gd name="T11" fmla="*/ 0 60000 65536"/>
                  <a:gd name="T12" fmla="*/ 0 60000 65536"/>
                  <a:gd name="T13" fmla="*/ 0 60000 65536"/>
                  <a:gd name="T14" fmla="*/ 0 60000 65536"/>
                  <a:gd name="T15" fmla="*/ 0 w 92"/>
                  <a:gd name="T16" fmla="*/ 0 h 163"/>
                  <a:gd name="T17" fmla="*/ 92 w 92"/>
                  <a:gd name="T18" fmla="*/ 163 h 163"/>
                </a:gdLst>
                <a:ahLst/>
                <a:cxnLst>
                  <a:cxn ang="T10">
                    <a:pos x="T0" y="T1"/>
                  </a:cxn>
                  <a:cxn ang="T11">
                    <a:pos x="T2" y="T3"/>
                  </a:cxn>
                  <a:cxn ang="T12">
                    <a:pos x="T4" y="T5"/>
                  </a:cxn>
                  <a:cxn ang="T13">
                    <a:pos x="T6" y="T7"/>
                  </a:cxn>
                  <a:cxn ang="T14">
                    <a:pos x="T8" y="T9"/>
                  </a:cxn>
                </a:cxnLst>
                <a:rect l="T15" t="T16" r="T17" b="T18"/>
                <a:pathLst>
                  <a:path w="92" h="163">
                    <a:moveTo>
                      <a:pt x="0" y="0"/>
                    </a:moveTo>
                    <a:lnTo>
                      <a:pt x="50" y="163"/>
                    </a:lnTo>
                    <a:lnTo>
                      <a:pt x="92" y="0"/>
                    </a:lnTo>
                    <a:lnTo>
                      <a:pt x="50"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1" name="Line 36">
                <a:extLst>
                  <a:ext uri="{FF2B5EF4-FFF2-40B4-BE49-F238E27FC236}">
                    <a16:creationId xmlns:a16="http://schemas.microsoft.com/office/drawing/2014/main" id="{4476D2D6-23E7-4C23-ABCE-8B22E884638C}"/>
                  </a:ext>
                </a:extLst>
              </p:cNvPr>
              <p:cNvSpPr>
                <a:spLocks noChangeShapeType="1"/>
              </p:cNvSpPr>
              <p:nvPr/>
            </p:nvSpPr>
            <p:spPr bwMode="auto">
              <a:xfrm>
                <a:off x="4842" y="258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2" name="Freeform 37">
                <a:extLst>
                  <a:ext uri="{FF2B5EF4-FFF2-40B4-BE49-F238E27FC236}">
                    <a16:creationId xmlns:a16="http://schemas.microsoft.com/office/drawing/2014/main" id="{DF00041B-02ED-44FF-926D-9F0BC6111CC7}"/>
                  </a:ext>
                </a:extLst>
              </p:cNvPr>
              <p:cNvSpPr>
                <a:spLocks/>
              </p:cNvSpPr>
              <p:nvPr/>
            </p:nvSpPr>
            <p:spPr bwMode="auto">
              <a:xfrm>
                <a:off x="4799" y="2704"/>
                <a:ext cx="92" cy="163"/>
              </a:xfrm>
              <a:custGeom>
                <a:avLst/>
                <a:gdLst>
                  <a:gd name="T0" fmla="*/ 0 w 92"/>
                  <a:gd name="T1" fmla="*/ 0 h 163"/>
                  <a:gd name="T2" fmla="*/ 50 w 92"/>
                  <a:gd name="T3" fmla="*/ 163 h 163"/>
                  <a:gd name="T4" fmla="*/ 92 w 92"/>
                  <a:gd name="T5" fmla="*/ 0 h 163"/>
                  <a:gd name="T6" fmla="*/ 50 w 92"/>
                  <a:gd name="T7" fmla="*/ 52 h 163"/>
                  <a:gd name="T8" fmla="*/ 0 w 92"/>
                  <a:gd name="T9" fmla="*/ 0 h 163"/>
                  <a:gd name="T10" fmla="*/ 0 60000 65536"/>
                  <a:gd name="T11" fmla="*/ 0 60000 65536"/>
                  <a:gd name="T12" fmla="*/ 0 60000 65536"/>
                  <a:gd name="T13" fmla="*/ 0 60000 65536"/>
                  <a:gd name="T14" fmla="*/ 0 60000 65536"/>
                  <a:gd name="T15" fmla="*/ 0 w 92"/>
                  <a:gd name="T16" fmla="*/ 0 h 163"/>
                  <a:gd name="T17" fmla="*/ 92 w 92"/>
                  <a:gd name="T18" fmla="*/ 163 h 163"/>
                </a:gdLst>
                <a:ahLst/>
                <a:cxnLst>
                  <a:cxn ang="T10">
                    <a:pos x="T0" y="T1"/>
                  </a:cxn>
                  <a:cxn ang="T11">
                    <a:pos x="T2" y="T3"/>
                  </a:cxn>
                  <a:cxn ang="T12">
                    <a:pos x="T4" y="T5"/>
                  </a:cxn>
                  <a:cxn ang="T13">
                    <a:pos x="T6" y="T7"/>
                  </a:cxn>
                  <a:cxn ang="T14">
                    <a:pos x="T8" y="T9"/>
                  </a:cxn>
                </a:cxnLst>
                <a:rect l="T15" t="T16" r="T17" b="T18"/>
                <a:pathLst>
                  <a:path w="92" h="163">
                    <a:moveTo>
                      <a:pt x="0" y="0"/>
                    </a:moveTo>
                    <a:lnTo>
                      <a:pt x="50" y="163"/>
                    </a:lnTo>
                    <a:lnTo>
                      <a:pt x="92" y="0"/>
                    </a:lnTo>
                    <a:lnTo>
                      <a:pt x="50"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3" name="Line 38">
                <a:extLst>
                  <a:ext uri="{FF2B5EF4-FFF2-40B4-BE49-F238E27FC236}">
                    <a16:creationId xmlns:a16="http://schemas.microsoft.com/office/drawing/2014/main" id="{E0FF4350-1AA0-43FD-8740-AD24D14DC4C0}"/>
                  </a:ext>
                </a:extLst>
              </p:cNvPr>
              <p:cNvSpPr>
                <a:spLocks noChangeShapeType="1"/>
              </p:cNvSpPr>
              <p:nvPr/>
            </p:nvSpPr>
            <p:spPr bwMode="auto">
              <a:xfrm>
                <a:off x="5125" y="258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4" name="Freeform 39">
                <a:extLst>
                  <a:ext uri="{FF2B5EF4-FFF2-40B4-BE49-F238E27FC236}">
                    <a16:creationId xmlns:a16="http://schemas.microsoft.com/office/drawing/2014/main" id="{FD1E9AE7-166D-499A-B180-5B6E17093379}"/>
                  </a:ext>
                </a:extLst>
              </p:cNvPr>
              <p:cNvSpPr>
                <a:spLocks/>
              </p:cNvSpPr>
              <p:nvPr/>
            </p:nvSpPr>
            <p:spPr bwMode="auto">
              <a:xfrm>
                <a:off x="5082" y="2704"/>
                <a:ext cx="91" cy="163"/>
              </a:xfrm>
              <a:custGeom>
                <a:avLst/>
                <a:gdLst>
                  <a:gd name="T0" fmla="*/ 0 w 91"/>
                  <a:gd name="T1" fmla="*/ 0 h 163"/>
                  <a:gd name="T2" fmla="*/ 49 w 91"/>
                  <a:gd name="T3" fmla="*/ 163 h 163"/>
                  <a:gd name="T4" fmla="*/ 91 w 91"/>
                  <a:gd name="T5" fmla="*/ 0 h 163"/>
                  <a:gd name="T6" fmla="*/ 49 w 91"/>
                  <a:gd name="T7" fmla="*/ 52 h 163"/>
                  <a:gd name="T8" fmla="*/ 0 w 91"/>
                  <a:gd name="T9" fmla="*/ 0 h 163"/>
                  <a:gd name="T10" fmla="*/ 0 60000 65536"/>
                  <a:gd name="T11" fmla="*/ 0 60000 65536"/>
                  <a:gd name="T12" fmla="*/ 0 60000 65536"/>
                  <a:gd name="T13" fmla="*/ 0 60000 65536"/>
                  <a:gd name="T14" fmla="*/ 0 60000 65536"/>
                  <a:gd name="T15" fmla="*/ 0 w 91"/>
                  <a:gd name="T16" fmla="*/ 0 h 163"/>
                  <a:gd name="T17" fmla="*/ 91 w 91"/>
                  <a:gd name="T18" fmla="*/ 163 h 163"/>
                </a:gdLst>
                <a:ahLst/>
                <a:cxnLst>
                  <a:cxn ang="T10">
                    <a:pos x="T0" y="T1"/>
                  </a:cxn>
                  <a:cxn ang="T11">
                    <a:pos x="T2" y="T3"/>
                  </a:cxn>
                  <a:cxn ang="T12">
                    <a:pos x="T4" y="T5"/>
                  </a:cxn>
                  <a:cxn ang="T13">
                    <a:pos x="T6" y="T7"/>
                  </a:cxn>
                  <a:cxn ang="T14">
                    <a:pos x="T8" y="T9"/>
                  </a:cxn>
                </a:cxnLst>
                <a:rect l="T15" t="T16" r="T17" b="T18"/>
                <a:pathLst>
                  <a:path w="91" h="163">
                    <a:moveTo>
                      <a:pt x="0" y="0"/>
                    </a:moveTo>
                    <a:lnTo>
                      <a:pt x="49" y="163"/>
                    </a:lnTo>
                    <a:lnTo>
                      <a:pt x="91" y="0"/>
                    </a:lnTo>
                    <a:lnTo>
                      <a:pt x="49"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5" name="Line 40">
                <a:extLst>
                  <a:ext uri="{FF2B5EF4-FFF2-40B4-BE49-F238E27FC236}">
                    <a16:creationId xmlns:a16="http://schemas.microsoft.com/office/drawing/2014/main" id="{25852D07-322D-4166-A929-E88A15B74BE9}"/>
                  </a:ext>
                </a:extLst>
              </p:cNvPr>
              <p:cNvSpPr>
                <a:spLocks noChangeShapeType="1"/>
              </p:cNvSpPr>
              <p:nvPr/>
            </p:nvSpPr>
            <p:spPr bwMode="auto">
              <a:xfrm>
                <a:off x="5407" y="2587"/>
                <a:ext cx="6"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6" name="Freeform 41">
                <a:extLst>
                  <a:ext uri="{FF2B5EF4-FFF2-40B4-BE49-F238E27FC236}">
                    <a16:creationId xmlns:a16="http://schemas.microsoft.com/office/drawing/2014/main" id="{AFDB9228-C9C1-4B88-8C36-C615D190AEF5}"/>
                  </a:ext>
                </a:extLst>
              </p:cNvPr>
              <p:cNvSpPr>
                <a:spLocks/>
              </p:cNvSpPr>
              <p:nvPr/>
            </p:nvSpPr>
            <p:spPr bwMode="auto">
              <a:xfrm>
                <a:off x="5371" y="2704"/>
                <a:ext cx="92" cy="163"/>
              </a:xfrm>
              <a:custGeom>
                <a:avLst/>
                <a:gdLst>
                  <a:gd name="T0" fmla="*/ 0 w 92"/>
                  <a:gd name="T1" fmla="*/ 0 h 163"/>
                  <a:gd name="T2" fmla="*/ 42 w 92"/>
                  <a:gd name="T3" fmla="*/ 163 h 163"/>
                  <a:gd name="T4" fmla="*/ 92 w 92"/>
                  <a:gd name="T5" fmla="*/ 0 h 163"/>
                  <a:gd name="T6" fmla="*/ 42 w 92"/>
                  <a:gd name="T7" fmla="*/ 52 h 163"/>
                  <a:gd name="T8" fmla="*/ 0 w 92"/>
                  <a:gd name="T9" fmla="*/ 0 h 163"/>
                  <a:gd name="T10" fmla="*/ 0 60000 65536"/>
                  <a:gd name="T11" fmla="*/ 0 60000 65536"/>
                  <a:gd name="T12" fmla="*/ 0 60000 65536"/>
                  <a:gd name="T13" fmla="*/ 0 60000 65536"/>
                  <a:gd name="T14" fmla="*/ 0 60000 65536"/>
                  <a:gd name="T15" fmla="*/ 0 w 92"/>
                  <a:gd name="T16" fmla="*/ 0 h 163"/>
                  <a:gd name="T17" fmla="*/ 92 w 92"/>
                  <a:gd name="T18" fmla="*/ 163 h 163"/>
                </a:gdLst>
                <a:ahLst/>
                <a:cxnLst>
                  <a:cxn ang="T10">
                    <a:pos x="T0" y="T1"/>
                  </a:cxn>
                  <a:cxn ang="T11">
                    <a:pos x="T2" y="T3"/>
                  </a:cxn>
                  <a:cxn ang="T12">
                    <a:pos x="T4" y="T5"/>
                  </a:cxn>
                  <a:cxn ang="T13">
                    <a:pos x="T6" y="T7"/>
                  </a:cxn>
                  <a:cxn ang="T14">
                    <a:pos x="T8" y="T9"/>
                  </a:cxn>
                </a:cxnLst>
                <a:rect l="T15" t="T16" r="T17" b="T18"/>
                <a:pathLst>
                  <a:path w="92" h="163">
                    <a:moveTo>
                      <a:pt x="0" y="0"/>
                    </a:moveTo>
                    <a:lnTo>
                      <a:pt x="42" y="163"/>
                    </a:lnTo>
                    <a:lnTo>
                      <a:pt x="92" y="0"/>
                    </a:lnTo>
                    <a:lnTo>
                      <a:pt x="42"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7" name="Line 42">
                <a:extLst>
                  <a:ext uri="{FF2B5EF4-FFF2-40B4-BE49-F238E27FC236}">
                    <a16:creationId xmlns:a16="http://schemas.microsoft.com/office/drawing/2014/main" id="{811A54F4-8E30-4BE4-97EB-39014BBB6176}"/>
                  </a:ext>
                </a:extLst>
              </p:cNvPr>
              <p:cNvSpPr>
                <a:spLocks noChangeShapeType="1"/>
              </p:cNvSpPr>
              <p:nvPr/>
            </p:nvSpPr>
            <p:spPr bwMode="auto">
              <a:xfrm>
                <a:off x="5696" y="258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8" name="Freeform 43">
                <a:extLst>
                  <a:ext uri="{FF2B5EF4-FFF2-40B4-BE49-F238E27FC236}">
                    <a16:creationId xmlns:a16="http://schemas.microsoft.com/office/drawing/2014/main" id="{BA73955D-FAE8-443D-A392-6777EDF96663}"/>
                  </a:ext>
                </a:extLst>
              </p:cNvPr>
              <p:cNvSpPr>
                <a:spLocks/>
              </p:cNvSpPr>
              <p:nvPr/>
            </p:nvSpPr>
            <p:spPr bwMode="auto">
              <a:xfrm>
                <a:off x="5653" y="2704"/>
                <a:ext cx="92" cy="163"/>
              </a:xfrm>
              <a:custGeom>
                <a:avLst/>
                <a:gdLst>
                  <a:gd name="T0" fmla="*/ 0 w 92"/>
                  <a:gd name="T1" fmla="*/ 0 h 163"/>
                  <a:gd name="T2" fmla="*/ 43 w 92"/>
                  <a:gd name="T3" fmla="*/ 163 h 163"/>
                  <a:gd name="T4" fmla="*/ 92 w 92"/>
                  <a:gd name="T5" fmla="*/ 0 h 163"/>
                  <a:gd name="T6" fmla="*/ 43 w 92"/>
                  <a:gd name="T7" fmla="*/ 52 h 163"/>
                  <a:gd name="T8" fmla="*/ 0 w 92"/>
                  <a:gd name="T9" fmla="*/ 0 h 163"/>
                  <a:gd name="T10" fmla="*/ 0 60000 65536"/>
                  <a:gd name="T11" fmla="*/ 0 60000 65536"/>
                  <a:gd name="T12" fmla="*/ 0 60000 65536"/>
                  <a:gd name="T13" fmla="*/ 0 60000 65536"/>
                  <a:gd name="T14" fmla="*/ 0 60000 65536"/>
                  <a:gd name="T15" fmla="*/ 0 w 92"/>
                  <a:gd name="T16" fmla="*/ 0 h 163"/>
                  <a:gd name="T17" fmla="*/ 92 w 92"/>
                  <a:gd name="T18" fmla="*/ 163 h 163"/>
                </a:gdLst>
                <a:ahLst/>
                <a:cxnLst>
                  <a:cxn ang="T10">
                    <a:pos x="T0" y="T1"/>
                  </a:cxn>
                  <a:cxn ang="T11">
                    <a:pos x="T2" y="T3"/>
                  </a:cxn>
                  <a:cxn ang="T12">
                    <a:pos x="T4" y="T5"/>
                  </a:cxn>
                  <a:cxn ang="T13">
                    <a:pos x="T6" y="T7"/>
                  </a:cxn>
                  <a:cxn ang="T14">
                    <a:pos x="T8" y="T9"/>
                  </a:cxn>
                </a:cxnLst>
                <a:rect l="T15" t="T16" r="T17" b="T18"/>
                <a:pathLst>
                  <a:path w="92" h="163">
                    <a:moveTo>
                      <a:pt x="0" y="0"/>
                    </a:moveTo>
                    <a:lnTo>
                      <a:pt x="43" y="163"/>
                    </a:lnTo>
                    <a:lnTo>
                      <a:pt x="92" y="0"/>
                    </a:lnTo>
                    <a:lnTo>
                      <a:pt x="43"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09" name="Line 44">
                <a:extLst>
                  <a:ext uri="{FF2B5EF4-FFF2-40B4-BE49-F238E27FC236}">
                    <a16:creationId xmlns:a16="http://schemas.microsoft.com/office/drawing/2014/main" id="{41CB5C97-CCDE-4277-8846-8CBF66EF7B12}"/>
                  </a:ext>
                </a:extLst>
              </p:cNvPr>
              <p:cNvSpPr>
                <a:spLocks noChangeShapeType="1"/>
              </p:cNvSpPr>
              <p:nvPr/>
            </p:nvSpPr>
            <p:spPr bwMode="auto">
              <a:xfrm>
                <a:off x="4193" y="2771"/>
                <a:ext cx="1" cy="176"/>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0" name="Freeform 45">
                <a:extLst>
                  <a:ext uri="{FF2B5EF4-FFF2-40B4-BE49-F238E27FC236}">
                    <a16:creationId xmlns:a16="http://schemas.microsoft.com/office/drawing/2014/main" id="{333484DF-3F1C-4B58-BC25-7DBFE5007A3F}"/>
                  </a:ext>
                </a:extLst>
              </p:cNvPr>
              <p:cNvSpPr>
                <a:spLocks/>
              </p:cNvSpPr>
              <p:nvPr/>
            </p:nvSpPr>
            <p:spPr bwMode="auto">
              <a:xfrm>
                <a:off x="4150" y="2882"/>
                <a:ext cx="92" cy="161"/>
              </a:xfrm>
              <a:custGeom>
                <a:avLst/>
                <a:gdLst>
                  <a:gd name="T0" fmla="*/ 0 w 92"/>
                  <a:gd name="T1" fmla="*/ 0 h 161"/>
                  <a:gd name="T2" fmla="*/ 50 w 92"/>
                  <a:gd name="T3" fmla="*/ 161 h 161"/>
                  <a:gd name="T4" fmla="*/ 92 w 92"/>
                  <a:gd name="T5" fmla="*/ 0 h 161"/>
                  <a:gd name="T6" fmla="*/ 50 w 92"/>
                  <a:gd name="T7" fmla="*/ 50 h 161"/>
                  <a:gd name="T8" fmla="*/ 0 w 92"/>
                  <a:gd name="T9" fmla="*/ 0 h 161"/>
                  <a:gd name="T10" fmla="*/ 0 60000 65536"/>
                  <a:gd name="T11" fmla="*/ 0 60000 65536"/>
                  <a:gd name="T12" fmla="*/ 0 60000 65536"/>
                  <a:gd name="T13" fmla="*/ 0 60000 65536"/>
                  <a:gd name="T14" fmla="*/ 0 60000 65536"/>
                  <a:gd name="T15" fmla="*/ 0 w 92"/>
                  <a:gd name="T16" fmla="*/ 0 h 161"/>
                  <a:gd name="T17" fmla="*/ 92 w 92"/>
                  <a:gd name="T18" fmla="*/ 161 h 161"/>
                </a:gdLst>
                <a:ahLst/>
                <a:cxnLst>
                  <a:cxn ang="T10">
                    <a:pos x="T0" y="T1"/>
                  </a:cxn>
                  <a:cxn ang="T11">
                    <a:pos x="T2" y="T3"/>
                  </a:cxn>
                  <a:cxn ang="T12">
                    <a:pos x="T4" y="T5"/>
                  </a:cxn>
                  <a:cxn ang="T13">
                    <a:pos x="T6" y="T7"/>
                  </a:cxn>
                  <a:cxn ang="T14">
                    <a:pos x="T8" y="T9"/>
                  </a:cxn>
                </a:cxnLst>
                <a:rect l="T15" t="T16" r="T17" b="T18"/>
                <a:pathLst>
                  <a:path w="92" h="161">
                    <a:moveTo>
                      <a:pt x="0" y="0"/>
                    </a:moveTo>
                    <a:lnTo>
                      <a:pt x="50" y="161"/>
                    </a:lnTo>
                    <a:lnTo>
                      <a:pt x="92" y="0"/>
                    </a:lnTo>
                    <a:lnTo>
                      <a:pt x="50"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1" name="Line 46">
                <a:extLst>
                  <a:ext uri="{FF2B5EF4-FFF2-40B4-BE49-F238E27FC236}">
                    <a16:creationId xmlns:a16="http://schemas.microsoft.com/office/drawing/2014/main" id="{BF37539E-82F1-446F-98C0-C1DD29845DF8}"/>
                  </a:ext>
                </a:extLst>
              </p:cNvPr>
              <p:cNvSpPr>
                <a:spLocks noChangeShapeType="1"/>
              </p:cNvSpPr>
              <p:nvPr/>
            </p:nvSpPr>
            <p:spPr bwMode="auto">
              <a:xfrm>
                <a:off x="4757" y="2771"/>
                <a:ext cx="1" cy="176"/>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2" name="Freeform 47">
                <a:extLst>
                  <a:ext uri="{FF2B5EF4-FFF2-40B4-BE49-F238E27FC236}">
                    <a16:creationId xmlns:a16="http://schemas.microsoft.com/office/drawing/2014/main" id="{3154F41C-0131-44B5-BB0D-52B01E0003B4}"/>
                  </a:ext>
                </a:extLst>
              </p:cNvPr>
              <p:cNvSpPr>
                <a:spLocks/>
              </p:cNvSpPr>
              <p:nvPr/>
            </p:nvSpPr>
            <p:spPr bwMode="auto">
              <a:xfrm>
                <a:off x="4715" y="2882"/>
                <a:ext cx="92" cy="161"/>
              </a:xfrm>
              <a:custGeom>
                <a:avLst/>
                <a:gdLst>
                  <a:gd name="T0" fmla="*/ 0 w 92"/>
                  <a:gd name="T1" fmla="*/ 0 h 161"/>
                  <a:gd name="T2" fmla="*/ 50 w 92"/>
                  <a:gd name="T3" fmla="*/ 161 h 161"/>
                  <a:gd name="T4" fmla="*/ 92 w 92"/>
                  <a:gd name="T5" fmla="*/ 0 h 161"/>
                  <a:gd name="T6" fmla="*/ 50 w 92"/>
                  <a:gd name="T7" fmla="*/ 50 h 161"/>
                  <a:gd name="T8" fmla="*/ 0 w 92"/>
                  <a:gd name="T9" fmla="*/ 0 h 161"/>
                  <a:gd name="T10" fmla="*/ 0 60000 65536"/>
                  <a:gd name="T11" fmla="*/ 0 60000 65536"/>
                  <a:gd name="T12" fmla="*/ 0 60000 65536"/>
                  <a:gd name="T13" fmla="*/ 0 60000 65536"/>
                  <a:gd name="T14" fmla="*/ 0 60000 65536"/>
                  <a:gd name="T15" fmla="*/ 0 w 92"/>
                  <a:gd name="T16" fmla="*/ 0 h 161"/>
                  <a:gd name="T17" fmla="*/ 92 w 92"/>
                  <a:gd name="T18" fmla="*/ 161 h 161"/>
                </a:gdLst>
                <a:ahLst/>
                <a:cxnLst>
                  <a:cxn ang="T10">
                    <a:pos x="T0" y="T1"/>
                  </a:cxn>
                  <a:cxn ang="T11">
                    <a:pos x="T2" y="T3"/>
                  </a:cxn>
                  <a:cxn ang="T12">
                    <a:pos x="T4" y="T5"/>
                  </a:cxn>
                  <a:cxn ang="T13">
                    <a:pos x="T6" y="T7"/>
                  </a:cxn>
                  <a:cxn ang="T14">
                    <a:pos x="T8" y="T9"/>
                  </a:cxn>
                </a:cxnLst>
                <a:rect l="T15" t="T16" r="T17" b="T18"/>
                <a:pathLst>
                  <a:path w="92" h="161">
                    <a:moveTo>
                      <a:pt x="0" y="0"/>
                    </a:moveTo>
                    <a:lnTo>
                      <a:pt x="50" y="161"/>
                    </a:lnTo>
                    <a:lnTo>
                      <a:pt x="92" y="0"/>
                    </a:lnTo>
                    <a:lnTo>
                      <a:pt x="50"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3" name="Line 48">
                <a:extLst>
                  <a:ext uri="{FF2B5EF4-FFF2-40B4-BE49-F238E27FC236}">
                    <a16:creationId xmlns:a16="http://schemas.microsoft.com/office/drawing/2014/main" id="{2DC06366-9BAC-4AA7-BA7D-8D300ADAFE40}"/>
                  </a:ext>
                </a:extLst>
              </p:cNvPr>
              <p:cNvSpPr>
                <a:spLocks noChangeShapeType="1"/>
              </p:cNvSpPr>
              <p:nvPr/>
            </p:nvSpPr>
            <p:spPr bwMode="auto">
              <a:xfrm>
                <a:off x="4475" y="2771"/>
                <a:ext cx="1" cy="176"/>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4" name="Freeform 49">
                <a:extLst>
                  <a:ext uri="{FF2B5EF4-FFF2-40B4-BE49-F238E27FC236}">
                    <a16:creationId xmlns:a16="http://schemas.microsoft.com/office/drawing/2014/main" id="{3BD02E66-9D07-4035-8104-0DDD3480E780}"/>
                  </a:ext>
                </a:extLst>
              </p:cNvPr>
              <p:cNvSpPr>
                <a:spLocks/>
              </p:cNvSpPr>
              <p:nvPr/>
            </p:nvSpPr>
            <p:spPr bwMode="auto">
              <a:xfrm>
                <a:off x="4433" y="2882"/>
                <a:ext cx="92" cy="161"/>
              </a:xfrm>
              <a:custGeom>
                <a:avLst/>
                <a:gdLst>
                  <a:gd name="T0" fmla="*/ 0 w 92"/>
                  <a:gd name="T1" fmla="*/ 0 h 161"/>
                  <a:gd name="T2" fmla="*/ 49 w 92"/>
                  <a:gd name="T3" fmla="*/ 161 h 161"/>
                  <a:gd name="T4" fmla="*/ 92 w 92"/>
                  <a:gd name="T5" fmla="*/ 0 h 161"/>
                  <a:gd name="T6" fmla="*/ 49 w 92"/>
                  <a:gd name="T7" fmla="*/ 50 h 161"/>
                  <a:gd name="T8" fmla="*/ 0 w 92"/>
                  <a:gd name="T9" fmla="*/ 0 h 161"/>
                  <a:gd name="T10" fmla="*/ 0 60000 65536"/>
                  <a:gd name="T11" fmla="*/ 0 60000 65536"/>
                  <a:gd name="T12" fmla="*/ 0 60000 65536"/>
                  <a:gd name="T13" fmla="*/ 0 60000 65536"/>
                  <a:gd name="T14" fmla="*/ 0 60000 65536"/>
                  <a:gd name="T15" fmla="*/ 0 w 92"/>
                  <a:gd name="T16" fmla="*/ 0 h 161"/>
                  <a:gd name="T17" fmla="*/ 92 w 92"/>
                  <a:gd name="T18" fmla="*/ 161 h 161"/>
                </a:gdLst>
                <a:ahLst/>
                <a:cxnLst>
                  <a:cxn ang="T10">
                    <a:pos x="T0" y="T1"/>
                  </a:cxn>
                  <a:cxn ang="T11">
                    <a:pos x="T2" y="T3"/>
                  </a:cxn>
                  <a:cxn ang="T12">
                    <a:pos x="T4" y="T5"/>
                  </a:cxn>
                  <a:cxn ang="T13">
                    <a:pos x="T6" y="T7"/>
                  </a:cxn>
                  <a:cxn ang="T14">
                    <a:pos x="T8" y="T9"/>
                  </a:cxn>
                </a:cxnLst>
                <a:rect l="T15" t="T16" r="T17" b="T18"/>
                <a:pathLst>
                  <a:path w="92" h="161">
                    <a:moveTo>
                      <a:pt x="0" y="0"/>
                    </a:moveTo>
                    <a:lnTo>
                      <a:pt x="49" y="161"/>
                    </a:lnTo>
                    <a:lnTo>
                      <a:pt x="92" y="0"/>
                    </a:lnTo>
                    <a:lnTo>
                      <a:pt x="49"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5" name="Line 50">
                <a:extLst>
                  <a:ext uri="{FF2B5EF4-FFF2-40B4-BE49-F238E27FC236}">
                    <a16:creationId xmlns:a16="http://schemas.microsoft.com/office/drawing/2014/main" id="{B0B7300F-DA7E-44B8-9888-F8F836E60B06}"/>
                  </a:ext>
                </a:extLst>
              </p:cNvPr>
              <p:cNvSpPr>
                <a:spLocks noChangeShapeType="1"/>
              </p:cNvSpPr>
              <p:nvPr/>
            </p:nvSpPr>
            <p:spPr bwMode="auto">
              <a:xfrm>
                <a:off x="5039" y="2771"/>
                <a:ext cx="1" cy="176"/>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6" name="Freeform 51">
                <a:extLst>
                  <a:ext uri="{FF2B5EF4-FFF2-40B4-BE49-F238E27FC236}">
                    <a16:creationId xmlns:a16="http://schemas.microsoft.com/office/drawing/2014/main" id="{7534D227-FCDB-49A4-86F7-58AEC11FBEBF}"/>
                  </a:ext>
                </a:extLst>
              </p:cNvPr>
              <p:cNvSpPr>
                <a:spLocks/>
              </p:cNvSpPr>
              <p:nvPr/>
            </p:nvSpPr>
            <p:spPr bwMode="auto">
              <a:xfrm>
                <a:off x="4997" y="2882"/>
                <a:ext cx="92" cy="161"/>
              </a:xfrm>
              <a:custGeom>
                <a:avLst/>
                <a:gdLst>
                  <a:gd name="T0" fmla="*/ 0 w 92"/>
                  <a:gd name="T1" fmla="*/ 0 h 161"/>
                  <a:gd name="T2" fmla="*/ 50 w 92"/>
                  <a:gd name="T3" fmla="*/ 161 h 161"/>
                  <a:gd name="T4" fmla="*/ 92 w 92"/>
                  <a:gd name="T5" fmla="*/ 0 h 161"/>
                  <a:gd name="T6" fmla="*/ 50 w 92"/>
                  <a:gd name="T7" fmla="*/ 50 h 161"/>
                  <a:gd name="T8" fmla="*/ 0 w 92"/>
                  <a:gd name="T9" fmla="*/ 0 h 161"/>
                  <a:gd name="T10" fmla="*/ 0 60000 65536"/>
                  <a:gd name="T11" fmla="*/ 0 60000 65536"/>
                  <a:gd name="T12" fmla="*/ 0 60000 65536"/>
                  <a:gd name="T13" fmla="*/ 0 60000 65536"/>
                  <a:gd name="T14" fmla="*/ 0 60000 65536"/>
                  <a:gd name="T15" fmla="*/ 0 w 92"/>
                  <a:gd name="T16" fmla="*/ 0 h 161"/>
                  <a:gd name="T17" fmla="*/ 92 w 92"/>
                  <a:gd name="T18" fmla="*/ 161 h 161"/>
                </a:gdLst>
                <a:ahLst/>
                <a:cxnLst>
                  <a:cxn ang="T10">
                    <a:pos x="T0" y="T1"/>
                  </a:cxn>
                  <a:cxn ang="T11">
                    <a:pos x="T2" y="T3"/>
                  </a:cxn>
                  <a:cxn ang="T12">
                    <a:pos x="T4" y="T5"/>
                  </a:cxn>
                  <a:cxn ang="T13">
                    <a:pos x="T6" y="T7"/>
                  </a:cxn>
                  <a:cxn ang="T14">
                    <a:pos x="T8" y="T9"/>
                  </a:cxn>
                </a:cxnLst>
                <a:rect l="T15" t="T16" r="T17" b="T18"/>
                <a:pathLst>
                  <a:path w="92" h="161">
                    <a:moveTo>
                      <a:pt x="0" y="0"/>
                    </a:moveTo>
                    <a:lnTo>
                      <a:pt x="50" y="161"/>
                    </a:lnTo>
                    <a:lnTo>
                      <a:pt x="92" y="0"/>
                    </a:lnTo>
                    <a:lnTo>
                      <a:pt x="50"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7" name="Line 52">
                <a:extLst>
                  <a:ext uri="{FF2B5EF4-FFF2-40B4-BE49-F238E27FC236}">
                    <a16:creationId xmlns:a16="http://schemas.microsoft.com/office/drawing/2014/main" id="{62BF17E9-24AB-4E3B-89FD-1E8CCA973D56}"/>
                  </a:ext>
                </a:extLst>
              </p:cNvPr>
              <p:cNvSpPr>
                <a:spLocks noChangeShapeType="1"/>
              </p:cNvSpPr>
              <p:nvPr/>
            </p:nvSpPr>
            <p:spPr bwMode="auto">
              <a:xfrm>
                <a:off x="5322" y="2771"/>
                <a:ext cx="1" cy="176"/>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8" name="Freeform 53">
                <a:extLst>
                  <a:ext uri="{FF2B5EF4-FFF2-40B4-BE49-F238E27FC236}">
                    <a16:creationId xmlns:a16="http://schemas.microsoft.com/office/drawing/2014/main" id="{8A8FD9A0-2893-4633-8FB2-C76CAF9A6D9F}"/>
                  </a:ext>
                </a:extLst>
              </p:cNvPr>
              <p:cNvSpPr>
                <a:spLocks/>
              </p:cNvSpPr>
              <p:nvPr/>
            </p:nvSpPr>
            <p:spPr bwMode="auto">
              <a:xfrm>
                <a:off x="5279" y="2882"/>
                <a:ext cx="92" cy="161"/>
              </a:xfrm>
              <a:custGeom>
                <a:avLst/>
                <a:gdLst>
                  <a:gd name="T0" fmla="*/ 0 w 92"/>
                  <a:gd name="T1" fmla="*/ 0 h 161"/>
                  <a:gd name="T2" fmla="*/ 50 w 92"/>
                  <a:gd name="T3" fmla="*/ 161 h 161"/>
                  <a:gd name="T4" fmla="*/ 92 w 92"/>
                  <a:gd name="T5" fmla="*/ 0 h 161"/>
                  <a:gd name="T6" fmla="*/ 50 w 92"/>
                  <a:gd name="T7" fmla="*/ 50 h 161"/>
                  <a:gd name="T8" fmla="*/ 0 w 92"/>
                  <a:gd name="T9" fmla="*/ 0 h 161"/>
                  <a:gd name="T10" fmla="*/ 0 60000 65536"/>
                  <a:gd name="T11" fmla="*/ 0 60000 65536"/>
                  <a:gd name="T12" fmla="*/ 0 60000 65536"/>
                  <a:gd name="T13" fmla="*/ 0 60000 65536"/>
                  <a:gd name="T14" fmla="*/ 0 60000 65536"/>
                  <a:gd name="T15" fmla="*/ 0 w 92"/>
                  <a:gd name="T16" fmla="*/ 0 h 161"/>
                  <a:gd name="T17" fmla="*/ 92 w 92"/>
                  <a:gd name="T18" fmla="*/ 161 h 161"/>
                </a:gdLst>
                <a:ahLst/>
                <a:cxnLst>
                  <a:cxn ang="T10">
                    <a:pos x="T0" y="T1"/>
                  </a:cxn>
                  <a:cxn ang="T11">
                    <a:pos x="T2" y="T3"/>
                  </a:cxn>
                  <a:cxn ang="T12">
                    <a:pos x="T4" y="T5"/>
                  </a:cxn>
                  <a:cxn ang="T13">
                    <a:pos x="T6" y="T7"/>
                  </a:cxn>
                  <a:cxn ang="T14">
                    <a:pos x="T8" y="T9"/>
                  </a:cxn>
                </a:cxnLst>
                <a:rect l="T15" t="T16" r="T17" b="T18"/>
                <a:pathLst>
                  <a:path w="92" h="161">
                    <a:moveTo>
                      <a:pt x="0" y="0"/>
                    </a:moveTo>
                    <a:lnTo>
                      <a:pt x="50" y="161"/>
                    </a:lnTo>
                    <a:lnTo>
                      <a:pt x="92" y="0"/>
                    </a:lnTo>
                    <a:lnTo>
                      <a:pt x="50"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9" name="Line 54">
                <a:extLst>
                  <a:ext uri="{FF2B5EF4-FFF2-40B4-BE49-F238E27FC236}">
                    <a16:creationId xmlns:a16="http://schemas.microsoft.com/office/drawing/2014/main" id="{7EF80CDB-892E-471E-9A00-81D8B8C59D26}"/>
                  </a:ext>
                </a:extLst>
              </p:cNvPr>
              <p:cNvSpPr>
                <a:spLocks noChangeShapeType="1"/>
              </p:cNvSpPr>
              <p:nvPr/>
            </p:nvSpPr>
            <p:spPr bwMode="auto">
              <a:xfrm>
                <a:off x="5605" y="2771"/>
                <a:ext cx="1" cy="176"/>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20" name="Freeform 55">
                <a:extLst>
                  <a:ext uri="{FF2B5EF4-FFF2-40B4-BE49-F238E27FC236}">
                    <a16:creationId xmlns:a16="http://schemas.microsoft.com/office/drawing/2014/main" id="{9EB53FAB-9DD0-4532-9B5E-C0FE167AC516}"/>
                  </a:ext>
                </a:extLst>
              </p:cNvPr>
              <p:cNvSpPr>
                <a:spLocks/>
              </p:cNvSpPr>
              <p:nvPr/>
            </p:nvSpPr>
            <p:spPr bwMode="auto">
              <a:xfrm>
                <a:off x="5562" y="2882"/>
                <a:ext cx="91" cy="161"/>
              </a:xfrm>
              <a:custGeom>
                <a:avLst/>
                <a:gdLst>
                  <a:gd name="T0" fmla="*/ 0 w 91"/>
                  <a:gd name="T1" fmla="*/ 0 h 161"/>
                  <a:gd name="T2" fmla="*/ 49 w 91"/>
                  <a:gd name="T3" fmla="*/ 161 h 161"/>
                  <a:gd name="T4" fmla="*/ 91 w 91"/>
                  <a:gd name="T5" fmla="*/ 0 h 161"/>
                  <a:gd name="T6" fmla="*/ 49 w 91"/>
                  <a:gd name="T7" fmla="*/ 50 h 161"/>
                  <a:gd name="T8" fmla="*/ 0 w 91"/>
                  <a:gd name="T9" fmla="*/ 0 h 161"/>
                  <a:gd name="T10" fmla="*/ 0 60000 65536"/>
                  <a:gd name="T11" fmla="*/ 0 60000 65536"/>
                  <a:gd name="T12" fmla="*/ 0 60000 65536"/>
                  <a:gd name="T13" fmla="*/ 0 60000 65536"/>
                  <a:gd name="T14" fmla="*/ 0 60000 65536"/>
                  <a:gd name="T15" fmla="*/ 0 w 91"/>
                  <a:gd name="T16" fmla="*/ 0 h 161"/>
                  <a:gd name="T17" fmla="*/ 91 w 91"/>
                  <a:gd name="T18" fmla="*/ 161 h 161"/>
                </a:gdLst>
                <a:ahLst/>
                <a:cxnLst>
                  <a:cxn ang="T10">
                    <a:pos x="T0" y="T1"/>
                  </a:cxn>
                  <a:cxn ang="T11">
                    <a:pos x="T2" y="T3"/>
                  </a:cxn>
                  <a:cxn ang="T12">
                    <a:pos x="T4" y="T5"/>
                  </a:cxn>
                  <a:cxn ang="T13">
                    <a:pos x="T6" y="T7"/>
                  </a:cxn>
                  <a:cxn ang="T14">
                    <a:pos x="T8" y="T9"/>
                  </a:cxn>
                </a:cxnLst>
                <a:rect l="T15" t="T16" r="T17" b="T18"/>
                <a:pathLst>
                  <a:path w="91" h="161">
                    <a:moveTo>
                      <a:pt x="0" y="0"/>
                    </a:moveTo>
                    <a:lnTo>
                      <a:pt x="49" y="161"/>
                    </a:lnTo>
                    <a:lnTo>
                      <a:pt x="91" y="0"/>
                    </a:lnTo>
                    <a:lnTo>
                      <a:pt x="49"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1" name="Line 56">
                <a:extLst>
                  <a:ext uri="{FF2B5EF4-FFF2-40B4-BE49-F238E27FC236}">
                    <a16:creationId xmlns:a16="http://schemas.microsoft.com/office/drawing/2014/main" id="{D39534DE-4F8F-442B-996D-F73B44A77C3E}"/>
                  </a:ext>
                </a:extLst>
              </p:cNvPr>
              <p:cNvSpPr>
                <a:spLocks noChangeShapeType="1"/>
              </p:cNvSpPr>
              <p:nvPr/>
            </p:nvSpPr>
            <p:spPr bwMode="auto">
              <a:xfrm>
                <a:off x="5887" y="2771"/>
                <a:ext cx="1" cy="176"/>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22" name="Freeform 57">
                <a:extLst>
                  <a:ext uri="{FF2B5EF4-FFF2-40B4-BE49-F238E27FC236}">
                    <a16:creationId xmlns:a16="http://schemas.microsoft.com/office/drawing/2014/main" id="{8F7241B8-9444-4B99-BEE0-B7FF97AFD8DC}"/>
                  </a:ext>
                </a:extLst>
              </p:cNvPr>
              <p:cNvSpPr>
                <a:spLocks/>
              </p:cNvSpPr>
              <p:nvPr/>
            </p:nvSpPr>
            <p:spPr bwMode="auto">
              <a:xfrm>
                <a:off x="5845" y="2882"/>
                <a:ext cx="91" cy="161"/>
              </a:xfrm>
              <a:custGeom>
                <a:avLst/>
                <a:gdLst>
                  <a:gd name="T0" fmla="*/ 0 w 91"/>
                  <a:gd name="T1" fmla="*/ 0 h 161"/>
                  <a:gd name="T2" fmla="*/ 49 w 91"/>
                  <a:gd name="T3" fmla="*/ 161 h 161"/>
                  <a:gd name="T4" fmla="*/ 91 w 91"/>
                  <a:gd name="T5" fmla="*/ 0 h 161"/>
                  <a:gd name="T6" fmla="*/ 49 w 91"/>
                  <a:gd name="T7" fmla="*/ 50 h 161"/>
                  <a:gd name="T8" fmla="*/ 0 w 91"/>
                  <a:gd name="T9" fmla="*/ 0 h 161"/>
                  <a:gd name="T10" fmla="*/ 0 60000 65536"/>
                  <a:gd name="T11" fmla="*/ 0 60000 65536"/>
                  <a:gd name="T12" fmla="*/ 0 60000 65536"/>
                  <a:gd name="T13" fmla="*/ 0 60000 65536"/>
                  <a:gd name="T14" fmla="*/ 0 60000 65536"/>
                  <a:gd name="T15" fmla="*/ 0 w 91"/>
                  <a:gd name="T16" fmla="*/ 0 h 161"/>
                  <a:gd name="T17" fmla="*/ 91 w 91"/>
                  <a:gd name="T18" fmla="*/ 161 h 161"/>
                </a:gdLst>
                <a:ahLst/>
                <a:cxnLst>
                  <a:cxn ang="T10">
                    <a:pos x="T0" y="T1"/>
                  </a:cxn>
                  <a:cxn ang="T11">
                    <a:pos x="T2" y="T3"/>
                  </a:cxn>
                  <a:cxn ang="T12">
                    <a:pos x="T4" y="T5"/>
                  </a:cxn>
                  <a:cxn ang="T13">
                    <a:pos x="T6" y="T7"/>
                  </a:cxn>
                  <a:cxn ang="T14">
                    <a:pos x="T8" y="T9"/>
                  </a:cxn>
                </a:cxnLst>
                <a:rect l="T15" t="T16" r="T17" b="T18"/>
                <a:pathLst>
                  <a:path w="91" h="161">
                    <a:moveTo>
                      <a:pt x="0" y="0"/>
                    </a:moveTo>
                    <a:lnTo>
                      <a:pt x="49" y="161"/>
                    </a:lnTo>
                    <a:lnTo>
                      <a:pt x="91" y="0"/>
                    </a:lnTo>
                    <a:lnTo>
                      <a:pt x="49"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3" name="Line 58">
                <a:extLst>
                  <a:ext uri="{FF2B5EF4-FFF2-40B4-BE49-F238E27FC236}">
                    <a16:creationId xmlns:a16="http://schemas.microsoft.com/office/drawing/2014/main" id="{C4D87235-06A7-4630-94D3-53D6BC1039D6}"/>
                  </a:ext>
                </a:extLst>
              </p:cNvPr>
              <p:cNvSpPr>
                <a:spLocks noChangeShapeType="1"/>
              </p:cNvSpPr>
              <p:nvPr/>
            </p:nvSpPr>
            <p:spPr bwMode="auto">
              <a:xfrm>
                <a:off x="4369" y="294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24" name="Freeform 59">
                <a:extLst>
                  <a:ext uri="{FF2B5EF4-FFF2-40B4-BE49-F238E27FC236}">
                    <a16:creationId xmlns:a16="http://schemas.microsoft.com/office/drawing/2014/main" id="{83288BE3-97E5-49AF-8198-127BA3789CD7}"/>
                  </a:ext>
                </a:extLst>
              </p:cNvPr>
              <p:cNvSpPr>
                <a:spLocks/>
              </p:cNvSpPr>
              <p:nvPr/>
            </p:nvSpPr>
            <p:spPr bwMode="auto">
              <a:xfrm>
                <a:off x="4327" y="3064"/>
                <a:ext cx="92" cy="170"/>
              </a:xfrm>
              <a:custGeom>
                <a:avLst/>
                <a:gdLst>
                  <a:gd name="T0" fmla="*/ 0 w 92"/>
                  <a:gd name="T1" fmla="*/ 0 h 170"/>
                  <a:gd name="T2" fmla="*/ 42 w 92"/>
                  <a:gd name="T3" fmla="*/ 170 h 170"/>
                  <a:gd name="T4" fmla="*/ 92 w 92"/>
                  <a:gd name="T5" fmla="*/ 0 h 170"/>
                  <a:gd name="T6" fmla="*/ 42 w 92"/>
                  <a:gd name="T7" fmla="*/ 52 h 170"/>
                  <a:gd name="T8" fmla="*/ 0 w 92"/>
                  <a:gd name="T9" fmla="*/ 0 h 170"/>
                  <a:gd name="T10" fmla="*/ 0 60000 65536"/>
                  <a:gd name="T11" fmla="*/ 0 60000 65536"/>
                  <a:gd name="T12" fmla="*/ 0 60000 65536"/>
                  <a:gd name="T13" fmla="*/ 0 60000 65536"/>
                  <a:gd name="T14" fmla="*/ 0 60000 65536"/>
                  <a:gd name="T15" fmla="*/ 0 w 92"/>
                  <a:gd name="T16" fmla="*/ 0 h 170"/>
                  <a:gd name="T17" fmla="*/ 92 w 92"/>
                  <a:gd name="T18" fmla="*/ 170 h 170"/>
                </a:gdLst>
                <a:ahLst/>
                <a:cxnLst>
                  <a:cxn ang="T10">
                    <a:pos x="T0" y="T1"/>
                  </a:cxn>
                  <a:cxn ang="T11">
                    <a:pos x="T2" y="T3"/>
                  </a:cxn>
                  <a:cxn ang="T12">
                    <a:pos x="T4" y="T5"/>
                  </a:cxn>
                  <a:cxn ang="T13">
                    <a:pos x="T6" y="T7"/>
                  </a:cxn>
                  <a:cxn ang="T14">
                    <a:pos x="T8" y="T9"/>
                  </a:cxn>
                </a:cxnLst>
                <a:rect l="T15" t="T16" r="T17" b="T18"/>
                <a:pathLst>
                  <a:path w="92" h="170">
                    <a:moveTo>
                      <a:pt x="0" y="0"/>
                    </a:moveTo>
                    <a:lnTo>
                      <a:pt x="42" y="170"/>
                    </a:lnTo>
                    <a:lnTo>
                      <a:pt x="92" y="0"/>
                    </a:lnTo>
                    <a:lnTo>
                      <a:pt x="42"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5" name="Line 60">
                <a:extLst>
                  <a:ext uri="{FF2B5EF4-FFF2-40B4-BE49-F238E27FC236}">
                    <a16:creationId xmlns:a16="http://schemas.microsoft.com/office/drawing/2014/main" id="{00FC8D54-95CD-4C68-9B13-BA98DEA532BC}"/>
                  </a:ext>
                </a:extLst>
              </p:cNvPr>
              <p:cNvSpPr>
                <a:spLocks noChangeShapeType="1"/>
              </p:cNvSpPr>
              <p:nvPr/>
            </p:nvSpPr>
            <p:spPr bwMode="auto">
              <a:xfrm>
                <a:off x="4933" y="2947"/>
                <a:ext cx="8"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26" name="Freeform 61">
                <a:extLst>
                  <a:ext uri="{FF2B5EF4-FFF2-40B4-BE49-F238E27FC236}">
                    <a16:creationId xmlns:a16="http://schemas.microsoft.com/office/drawing/2014/main" id="{BAB7C06C-46F0-4AB5-8D07-17E2E8A22AC1}"/>
                  </a:ext>
                </a:extLst>
              </p:cNvPr>
              <p:cNvSpPr>
                <a:spLocks/>
              </p:cNvSpPr>
              <p:nvPr/>
            </p:nvSpPr>
            <p:spPr bwMode="auto">
              <a:xfrm>
                <a:off x="4899" y="3064"/>
                <a:ext cx="92" cy="170"/>
              </a:xfrm>
              <a:custGeom>
                <a:avLst/>
                <a:gdLst>
                  <a:gd name="T0" fmla="*/ 0 w 92"/>
                  <a:gd name="T1" fmla="*/ 0 h 170"/>
                  <a:gd name="T2" fmla="*/ 49 w 92"/>
                  <a:gd name="T3" fmla="*/ 170 h 170"/>
                  <a:gd name="T4" fmla="*/ 92 w 92"/>
                  <a:gd name="T5" fmla="*/ 0 h 170"/>
                  <a:gd name="T6" fmla="*/ 49 w 92"/>
                  <a:gd name="T7" fmla="*/ 52 h 170"/>
                  <a:gd name="T8" fmla="*/ 0 w 92"/>
                  <a:gd name="T9" fmla="*/ 0 h 170"/>
                  <a:gd name="T10" fmla="*/ 0 60000 65536"/>
                  <a:gd name="T11" fmla="*/ 0 60000 65536"/>
                  <a:gd name="T12" fmla="*/ 0 60000 65536"/>
                  <a:gd name="T13" fmla="*/ 0 60000 65536"/>
                  <a:gd name="T14" fmla="*/ 0 60000 65536"/>
                  <a:gd name="T15" fmla="*/ 0 w 92"/>
                  <a:gd name="T16" fmla="*/ 0 h 170"/>
                  <a:gd name="T17" fmla="*/ 92 w 92"/>
                  <a:gd name="T18" fmla="*/ 170 h 170"/>
                </a:gdLst>
                <a:ahLst/>
                <a:cxnLst>
                  <a:cxn ang="T10">
                    <a:pos x="T0" y="T1"/>
                  </a:cxn>
                  <a:cxn ang="T11">
                    <a:pos x="T2" y="T3"/>
                  </a:cxn>
                  <a:cxn ang="T12">
                    <a:pos x="T4" y="T5"/>
                  </a:cxn>
                  <a:cxn ang="T13">
                    <a:pos x="T6" y="T7"/>
                  </a:cxn>
                  <a:cxn ang="T14">
                    <a:pos x="T8" y="T9"/>
                  </a:cxn>
                </a:cxnLst>
                <a:rect l="T15" t="T16" r="T17" b="T18"/>
                <a:pathLst>
                  <a:path w="92" h="170">
                    <a:moveTo>
                      <a:pt x="0" y="0"/>
                    </a:moveTo>
                    <a:lnTo>
                      <a:pt x="49" y="170"/>
                    </a:lnTo>
                    <a:lnTo>
                      <a:pt x="92" y="0"/>
                    </a:lnTo>
                    <a:lnTo>
                      <a:pt x="49"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7" name="Line 62">
                <a:extLst>
                  <a:ext uri="{FF2B5EF4-FFF2-40B4-BE49-F238E27FC236}">
                    <a16:creationId xmlns:a16="http://schemas.microsoft.com/office/drawing/2014/main" id="{195FE842-EAED-4636-B53F-B6847D4C04E1}"/>
                  </a:ext>
                </a:extLst>
              </p:cNvPr>
              <p:cNvSpPr>
                <a:spLocks noChangeShapeType="1"/>
              </p:cNvSpPr>
              <p:nvPr/>
            </p:nvSpPr>
            <p:spPr bwMode="auto">
              <a:xfrm>
                <a:off x="4651" y="294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28" name="Freeform 63">
                <a:extLst>
                  <a:ext uri="{FF2B5EF4-FFF2-40B4-BE49-F238E27FC236}">
                    <a16:creationId xmlns:a16="http://schemas.microsoft.com/office/drawing/2014/main" id="{8FF8F371-1979-4290-A1A9-86E9EE148802}"/>
                  </a:ext>
                </a:extLst>
              </p:cNvPr>
              <p:cNvSpPr>
                <a:spLocks/>
              </p:cNvSpPr>
              <p:nvPr/>
            </p:nvSpPr>
            <p:spPr bwMode="auto">
              <a:xfrm>
                <a:off x="4609" y="3064"/>
                <a:ext cx="92" cy="170"/>
              </a:xfrm>
              <a:custGeom>
                <a:avLst/>
                <a:gdLst>
                  <a:gd name="T0" fmla="*/ 0 w 92"/>
                  <a:gd name="T1" fmla="*/ 0 h 170"/>
                  <a:gd name="T2" fmla="*/ 42 w 92"/>
                  <a:gd name="T3" fmla="*/ 170 h 170"/>
                  <a:gd name="T4" fmla="*/ 92 w 92"/>
                  <a:gd name="T5" fmla="*/ 0 h 170"/>
                  <a:gd name="T6" fmla="*/ 42 w 92"/>
                  <a:gd name="T7" fmla="*/ 52 h 170"/>
                  <a:gd name="T8" fmla="*/ 0 w 92"/>
                  <a:gd name="T9" fmla="*/ 0 h 170"/>
                  <a:gd name="T10" fmla="*/ 0 60000 65536"/>
                  <a:gd name="T11" fmla="*/ 0 60000 65536"/>
                  <a:gd name="T12" fmla="*/ 0 60000 65536"/>
                  <a:gd name="T13" fmla="*/ 0 60000 65536"/>
                  <a:gd name="T14" fmla="*/ 0 60000 65536"/>
                  <a:gd name="T15" fmla="*/ 0 w 92"/>
                  <a:gd name="T16" fmla="*/ 0 h 170"/>
                  <a:gd name="T17" fmla="*/ 92 w 92"/>
                  <a:gd name="T18" fmla="*/ 170 h 170"/>
                </a:gdLst>
                <a:ahLst/>
                <a:cxnLst>
                  <a:cxn ang="T10">
                    <a:pos x="T0" y="T1"/>
                  </a:cxn>
                  <a:cxn ang="T11">
                    <a:pos x="T2" y="T3"/>
                  </a:cxn>
                  <a:cxn ang="T12">
                    <a:pos x="T4" y="T5"/>
                  </a:cxn>
                  <a:cxn ang="T13">
                    <a:pos x="T6" y="T7"/>
                  </a:cxn>
                  <a:cxn ang="T14">
                    <a:pos x="T8" y="T9"/>
                  </a:cxn>
                </a:cxnLst>
                <a:rect l="T15" t="T16" r="T17" b="T18"/>
                <a:pathLst>
                  <a:path w="92" h="170">
                    <a:moveTo>
                      <a:pt x="0" y="0"/>
                    </a:moveTo>
                    <a:lnTo>
                      <a:pt x="42" y="170"/>
                    </a:lnTo>
                    <a:lnTo>
                      <a:pt x="92" y="0"/>
                    </a:lnTo>
                    <a:lnTo>
                      <a:pt x="42"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9" name="Line 64">
                <a:extLst>
                  <a:ext uri="{FF2B5EF4-FFF2-40B4-BE49-F238E27FC236}">
                    <a16:creationId xmlns:a16="http://schemas.microsoft.com/office/drawing/2014/main" id="{C9628068-286A-414D-8E9D-B1E2E8F0EBFA}"/>
                  </a:ext>
                </a:extLst>
              </p:cNvPr>
              <p:cNvSpPr>
                <a:spLocks noChangeShapeType="1"/>
              </p:cNvSpPr>
              <p:nvPr/>
            </p:nvSpPr>
            <p:spPr bwMode="auto">
              <a:xfrm>
                <a:off x="5223" y="294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30" name="Freeform 65">
                <a:extLst>
                  <a:ext uri="{FF2B5EF4-FFF2-40B4-BE49-F238E27FC236}">
                    <a16:creationId xmlns:a16="http://schemas.microsoft.com/office/drawing/2014/main" id="{E3358E2A-0E47-4A5B-A4DD-51980FEE4471}"/>
                  </a:ext>
                </a:extLst>
              </p:cNvPr>
              <p:cNvSpPr>
                <a:spLocks/>
              </p:cNvSpPr>
              <p:nvPr/>
            </p:nvSpPr>
            <p:spPr bwMode="auto">
              <a:xfrm>
                <a:off x="5181" y="3064"/>
                <a:ext cx="92" cy="170"/>
              </a:xfrm>
              <a:custGeom>
                <a:avLst/>
                <a:gdLst>
                  <a:gd name="T0" fmla="*/ 0 w 92"/>
                  <a:gd name="T1" fmla="*/ 0 h 170"/>
                  <a:gd name="T2" fmla="*/ 50 w 92"/>
                  <a:gd name="T3" fmla="*/ 170 h 170"/>
                  <a:gd name="T4" fmla="*/ 92 w 92"/>
                  <a:gd name="T5" fmla="*/ 0 h 170"/>
                  <a:gd name="T6" fmla="*/ 50 w 92"/>
                  <a:gd name="T7" fmla="*/ 52 h 170"/>
                  <a:gd name="T8" fmla="*/ 0 w 92"/>
                  <a:gd name="T9" fmla="*/ 0 h 170"/>
                  <a:gd name="T10" fmla="*/ 0 60000 65536"/>
                  <a:gd name="T11" fmla="*/ 0 60000 65536"/>
                  <a:gd name="T12" fmla="*/ 0 60000 65536"/>
                  <a:gd name="T13" fmla="*/ 0 60000 65536"/>
                  <a:gd name="T14" fmla="*/ 0 60000 65536"/>
                  <a:gd name="T15" fmla="*/ 0 w 92"/>
                  <a:gd name="T16" fmla="*/ 0 h 170"/>
                  <a:gd name="T17" fmla="*/ 92 w 92"/>
                  <a:gd name="T18" fmla="*/ 170 h 170"/>
                </a:gdLst>
                <a:ahLst/>
                <a:cxnLst>
                  <a:cxn ang="T10">
                    <a:pos x="T0" y="T1"/>
                  </a:cxn>
                  <a:cxn ang="T11">
                    <a:pos x="T2" y="T3"/>
                  </a:cxn>
                  <a:cxn ang="T12">
                    <a:pos x="T4" y="T5"/>
                  </a:cxn>
                  <a:cxn ang="T13">
                    <a:pos x="T6" y="T7"/>
                  </a:cxn>
                  <a:cxn ang="T14">
                    <a:pos x="T8" y="T9"/>
                  </a:cxn>
                </a:cxnLst>
                <a:rect l="T15" t="T16" r="T17" b="T18"/>
                <a:pathLst>
                  <a:path w="92" h="170">
                    <a:moveTo>
                      <a:pt x="0" y="0"/>
                    </a:moveTo>
                    <a:lnTo>
                      <a:pt x="50" y="170"/>
                    </a:lnTo>
                    <a:lnTo>
                      <a:pt x="92" y="0"/>
                    </a:lnTo>
                    <a:lnTo>
                      <a:pt x="50"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1" name="Line 66">
                <a:extLst>
                  <a:ext uri="{FF2B5EF4-FFF2-40B4-BE49-F238E27FC236}">
                    <a16:creationId xmlns:a16="http://schemas.microsoft.com/office/drawing/2014/main" id="{C39FF3D1-606C-40B0-B2D8-133193E7F557}"/>
                  </a:ext>
                </a:extLst>
              </p:cNvPr>
              <p:cNvSpPr>
                <a:spLocks noChangeShapeType="1"/>
              </p:cNvSpPr>
              <p:nvPr/>
            </p:nvSpPr>
            <p:spPr bwMode="auto">
              <a:xfrm>
                <a:off x="5505" y="294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32" name="Freeform 67">
                <a:extLst>
                  <a:ext uri="{FF2B5EF4-FFF2-40B4-BE49-F238E27FC236}">
                    <a16:creationId xmlns:a16="http://schemas.microsoft.com/office/drawing/2014/main" id="{6CD5A003-6C02-4A1C-8F3A-E9ED590D3A3B}"/>
                  </a:ext>
                </a:extLst>
              </p:cNvPr>
              <p:cNvSpPr>
                <a:spLocks/>
              </p:cNvSpPr>
              <p:nvPr/>
            </p:nvSpPr>
            <p:spPr bwMode="auto">
              <a:xfrm>
                <a:off x="5463" y="3064"/>
                <a:ext cx="92" cy="170"/>
              </a:xfrm>
              <a:custGeom>
                <a:avLst/>
                <a:gdLst>
                  <a:gd name="T0" fmla="*/ 0 w 92"/>
                  <a:gd name="T1" fmla="*/ 0 h 170"/>
                  <a:gd name="T2" fmla="*/ 50 w 92"/>
                  <a:gd name="T3" fmla="*/ 170 h 170"/>
                  <a:gd name="T4" fmla="*/ 92 w 92"/>
                  <a:gd name="T5" fmla="*/ 0 h 170"/>
                  <a:gd name="T6" fmla="*/ 50 w 92"/>
                  <a:gd name="T7" fmla="*/ 52 h 170"/>
                  <a:gd name="T8" fmla="*/ 0 w 92"/>
                  <a:gd name="T9" fmla="*/ 0 h 170"/>
                  <a:gd name="T10" fmla="*/ 0 60000 65536"/>
                  <a:gd name="T11" fmla="*/ 0 60000 65536"/>
                  <a:gd name="T12" fmla="*/ 0 60000 65536"/>
                  <a:gd name="T13" fmla="*/ 0 60000 65536"/>
                  <a:gd name="T14" fmla="*/ 0 60000 65536"/>
                  <a:gd name="T15" fmla="*/ 0 w 92"/>
                  <a:gd name="T16" fmla="*/ 0 h 170"/>
                  <a:gd name="T17" fmla="*/ 92 w 92"/>
                  <a:gd name="T18" fmla="*/ 170 h 170"/>
                </a:gdLst>
                <a:ahLst/>
                <a:cxnLst>
                  <a:cxn ang="T10">
                    <a:pos x="T0" y="T1"/>
                  </a:cxn>
                  <a:cxn ang="T11">
                    <a:pos x="T2" y="T3"/>
                  </a:cxn>
                  <a:cxn ang="T12">
                    <a:pos x="T4" y="T5"/>
                  </a:cxn>
                  <a:cxn ang="T13">
                    <a:pos x="T6" y="T7"/>
                  </a:cxn>
                  <a:cxn ang="T14">
                    <a:pos x="T8" y="T9"/>
                  </a:cxn>
                </a:cxnLst>
                <a:rect l="T15" t="T16" r="T17" b="T18"/>
                <a:pathLst>
                  <a:path w="92" h="170">
                    <a:moveTo>
                      <a:pt x="0" y="0"/>
                    </a:moveTo>
                    <a:lnTo>
                      <a:pt x="50" y="170"/>
                    </a:lnTo>
                    <a:lnTo>
                      <a:pt x="92" y="0"/>
                    </a:lnTo>
                    <a:lnTo>
                      <a:pt x="50"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3" name="Line 68">
                <a:extLst>
                  <a:ext uri="{FF2B5EF4-FFF2-40B4-BE49-F238E27FC236}">
                    <a16:creationId xmlns:a16="http://schemas.microsoft.com/office/drawing/2014/main" id="{D1315A0E-AD56-4C90-8AD1-9E60BC82B97F}"/>
                  </a:ext>
                </a:extLst>
              </p:cNvPr>
              <p:cNvSpPr>
                <a:spLocks noChangeShapeType="1"/>
              </p:cNvSpPr>
              <p:nvPr/>
            </p:nvSpPr>
            <p:spPr bwMode="auto">
              <a:xfrm>
                <a:off x="5788" y="294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34" name="Freeform 69">
                <a:extLst>
                  <a:ext uri="{FF2B5EF4-FFF2-40B4-BE49-F238E27FC236}">
                    <a16:creationId xmlns:a16="http://schemas.microsoft.com/office/drawing/2014/main" id="{59F5B8FD-84D9-45B1-9FCD-E6EAA0B98638}"/>
                  </a:ext>
                </a:extLst>
              </p:cNvPr>
              <p:cNvSpPr>
                <a:spLocks/>
              </p:cNvSpPr>
              <p:nvPr/>
            </p:nvSpPr>
            <p:spPr bwMode="auto">
              <a:xfrm>
                <a:off x="5745" y="3064"/>
                <a:ext cx="92" cy="170"/>
              </a:xfrm>
              <a:custGeom>
                <a:avLst/>
                <a:gdLst>
                  <a:gd name="T0" fmla="*/ 0 w 92"/>
                  <a:gd name="T1" fmla="*/ 0 h 170"/>
                  <a:gd name="T2" fmla="*/ 50 w 92"/>
                  <a:gd name="T3" fmla="*/ 170 h 170"/>
                  <a:gd name="T4" fmla="*/ 92 w 92"/>
                  <a:gd name="T5" fmla="*/ 0 h 170"/>
                  <a:gd name="T6" fmla="*/ 50 w 92"/>
                  <a:gd name="T7" fmla="*/ 52 h 170"/>
                  <a:gd name="T8" fmla="*/ 0 w 92"/>
                  <a:gd name="T9" fmla="*/ 0 h 170"/>
                  <a:gd name="T10" fmla="*/ 0 60000 65536"/>
                  <a:gd name="T11" fmla="*/ 0 60000 65536"/>
                  <a:gd name="T12" fmla="*/ 0 60000 65536"/>
                  <a:gd name="T13" fmla="*/ 0 60000 65536"/>
                  <a:gd name="T14" fmla="*/ 0 60000 65536"/>
                  <a:gd name="T15" fmla="*/ 0 w 92"/>
                  <a:gd name="T16" fmla="*/ 0 h 170"/>
                  <a:gd name="T17" fmla="*/ 92 w 92"/>
                  <a:gd name="T18" fmla="*/ 170 h 170"/>
                </a:gdLst>
                <a:ahLst/>
                <a:cxnLst>
                  <a:cxn ang="T10">
                    <a:pos x="T0" y="T1"/>
                  </a:cxn>
                  <a:cxn ang="T11">
                    <a:pos x="T2" y="T3"/>
                  </a:cxn>
                  <a:cxn ang="T12">
                    <a:pos x="T4" y="T5"/>
                  </a:cxn>
                  <a:cxn ang="T13">
                    <a:pos x="T6" y="T7"/>
                  </a:cxn>
                  <a:cxn ang="T14">
                    <a:pos x="T8" y="T9"/>
                  </a:cxn>
                </a:cxnLst>
                <a:rect l="T15" t="T16" r="T17" b="T18"/>
                <a:pathLst>
                  <a:path w="92" h="170">
                    <a:moveTo>
                      <a:pt x="0" y="0"/>
                    </a:moveTo>
                    <a:lnTo>
                      <a:pt x="50" y="170"/>
                    </a:lnTo>
                    <a:lnTo>
                      <a:pt x="92" y="0"/>
                    </a:lnTo>
                    <a:lnTo>
                      <a:pt x="50"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5" name="Line 70">
                <a:extLst>
                  <a:ext uri="{FF2B5EF4-FFF2-40B4-BE49-F238E27FC236}">
                    <a16:creationId xmlns:a16="http://schemas.microsoft.com/office/drawing/2014/main" id="{4A3F2F95-7A76-4002-A3F4-EF66CF11EECB}"/>
                  </a:ext>
                </a:extLst>
              </p:cNvPr>
              <p:cNvSpPr>
                <a:spLocks noChangeShapeType="1"/>
              </p:cNvSpPr>
              <p:nvPr/>
            </p:nvSpPr>
            <p:spPr bwMode="auto">
              <a:xfrm>
                <a:off x="6070" y="2947"/>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36" name="Freeform 71">
                <a:extLst>
                  <a:ext uri="{FF2B5EF4-FFF2-40B4-BE49-F238E27FC236}">
                    <a16:creationId xmlns:a16="http://schemas.microsoft.com/office/drawing/2014/main" id="{94A04CBF-1246-40C5-A741-1E1FDF17BF6C}"/>
                  </a:ext>
                </a:extLst>
              </p:cNvPr>
              <p:cNvSpPr>
                <a:spLocks/>
              </p:cNvSpPr>
              <p:nvPr/>
            </p:nvSpPr>
            <p:spPr bwMode="auto">
              <a:xfrm>
                <a:off x="6028" y="3064"/>
                <a:ext cx="91" cy="170"/>
              </a:xfrm>
              <a:custGeom>
                <a:avLst/>
                <a:gdLst>
                  <a:gd name="T0" fmla="*/ 0 w 91"/>
                  <a:gd name="T1" fmla="*/ 0 h 170"/>
                  <a:gd name="T2" fmla="*/ 49 w 91"/>
                  <a:gd name="T3" fmla="*/ 170 h 170"/>
                  <a:gd name="T4" fmla="*/ 91 w 91"/>
                  <a:gd name="T5" fmla="*/ 0 h 170"/>
                  <a:gd name="T6" fmla="*/ 49 w 91"/>
                  <a:gd name="T7" fmla="*/ 52 h 170"/>
                  <a:gd name="T8" fmla="*/ 0 w 91"/>
                  <a:gd name="T9" fmla="*/ 0 h 170"/>
                  <a:gd name="T10" fmla="*/ 0 60000 65536"/>
                  <a:gd name="T11" fmla="*/ 0 60000 65536"/>
                  <a:gd name="T12" fmla="*/ 0 60000 65536"/>
                  <a:gd name="T13" fmla="*/ 0 60000 65536"/>
                  <a:gd name="T14" fmla="*/ 0 60000 65536"/>
                  <a:gd name="T15" fmla="*/ 0 w 91"/>
                  <a:gd name="T16" fmla="*/ 0 h 170"/>
                  <a:gd name="T17" fmla="*/ 91 w 91"/>
                  <a:gd name="T18" fmla="*/ 170 h 170"/>
                </a:gdLst>
                <a:ahLst/>
                <a:cxnLst>
                  <a:cxn ang="T10">
                    <a:pos x="T0" y="T1"/>
                  </a:cxn>
                  <a:cxn ang="T11">
                    <a:pos x="T2" y="T3"/>
                  </a:cxn>
                  <a:cxn ang="T12">
                    <a:pos x="T4" y="T5"/>
                  </a:cxn>
                  <a:cxn ang="T13">
                    <a:pos x="T6" y="T7"/>
                  </a:cxn>
                  <a:cxn ang="T14">
                    <a:pos x="T8" y="T9"/>
                  </a:cxn>
                </a:cxnLst>
                <a:rect l="T15" t="T16" r="T17" b="T18"/>
                <a:pathLst>
                  <a:path w="91" h="170">
                    <a:moveTo>
                      <a:pt x="0" y="0"/>
                    </a:moveTo>
                    <a:lnTo>
                      <a:pt x="49" y="170"/>
                    </a:lnTo>
                    <a:lnTo>
                      <a:pt x="91" y="0"/>
                    </a:lnTo>
                    <a:lnTo>
                      <a:pt x="49"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7" name="Line 72">
                <a:extLst>
                  <a:ext uri="{FF2B5EF4-FFF2-40B4-BE49-F238E27FC236}">
                    <a16:creationId xmlns:a16="http://schemas.microsoft.com/office/drawing/2014/main" id="{E85C0F25-92C5-4473-8C57-76F3B206C7EB}"/>
                  </a:ext>
                </a:extLst>
              </p:cNvPr>
              <p:cNvSpPr>
                <a:spLocks noChangeShapeType="1"/>
              </p:cNvSpPr>
              <p:nvPr/>
            </p:nvSpPr>
            <p:spPr bwMode="auto">
              <a:xfrm>
                <a:off x="4567" y="3131"/>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38" name="Freeform 73">
                <a:extLst>
                  <a:ext uri="{FF2B5EF4-FFF2-40B4-BE49-F238E27FC236}">
                    <a16:creationId xmlns:a16="http://schemas.microsoft.com/office/drawing/2014/main" id="{135BE945-6A26-47E9-8C86-9C920291C7CF}"/>
                  </a:ext>
                </a:extLst>
              </p:cNvPr>
              <p:cNvSpPr>
                <a:spLocks/>
              </p:cNvSpPr>
              <p:nvPr/>
            </p:nvSpPr>
            <p:spPr bwMode="auto">
              <a:xfrm>
                <a:off x="4525" y="3248"/>
                <a:ext cx="91" cy="162"/>
              </a:xfrm>
              <a:custGeom>
                <a:avLst/>
                <a:gdLst>
                  <a:gd name="T0" fmla="*/ 0 w 91"/>
                  <a:gd name="T1" fmla="*/ 0 h 162"/>
                  <a:gd name="T2" fmla="*/ 42 w 91"/>
                  <a:gd name="T3" fmla="*/ 162 h 162"/>
                  <a:gd name="T4" fmla="*/ 91 w 91"/>
                  <a:gd name="T5" fmla="*/ 0 h 162"/>
                  <a:gd name="T6" fmla="*/ 42 w 91"/>
                  <a:gd name="T7" fmla="*/ 52 h 162"/>
                  <a:gd name="T8" fmla="*/ 0 w 91"/>
                  <a:gd name="T9" fmla="*/ 0 h 162"/>
                  <a:gd name="T10" fmla="*/ 0 60000 65536"/>
                  <a:gd name="T11" fmla="*/ 0 60000 65536"/>
                  <a:gd name="T12" fmla="*/ 0 60000 65536"/>
                  <a:gd name="T13" fmla="*/ 0 60000 65536"/>
                  <a:gd name="T14" fmla="*/ 0 60000 65536"/>
                  <a:gd name="T15" fmla="*/ 0 w 91"/>
                  <a:gd name="T16" fmla="*/ 0 h 162"/>
                  <a:gd name="T17" fmla="*/ 91 w 91"/>
                  <a:gd name="T18" fmla="*/ 162 h 162"/>
                </a:gdLst>
                <a:ahLst/>
                <a:cxnLst>
                  <a:cxn ang="T10">
                    <a:pos x="T0" y="T1"/>
                  </a:cxn>
                  <a:cxn ang="T11">
                    <a:pos x="T2" y="T3"/>
                  </a:cxn>
                  <a:cxn ang="T12">
                    <a:pos x="T4" y="T5"/>
                  </a:cxn>
                  <a:cxn ang="T13">
                    <a:pos x="T6" y="T7"/>
                  </a:cxn>
                  <a:cxn ang="T14">
                    <a:pos x="T8" y="T9"/>
                  </a:cxn>
                </a:cxnLst>
                <a:rect l="T15" t="T16" r="T17" b="T18"/>
                <a:pathLst>
                  <a:path w="91" h="162">
                    <a:moveTo>
                      <a:pt x="0" y="0"/>
                    </a:moveTo>
                    <a:lnTo>
                      <a:pt x="42" y="162"/>
                    </a:lnTo>
                    <a:lnTo>
                      <a:pt x="91" y="0"/>
                    </a:lnTo>
                    <a:lnTo>
                      <a:pt x="42"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9" name="Line 74">
                <a:extLst>
                  <a:ext uri="{FF2B5EF4-FFF2-40B4-BE49-F238E27FC236}">
                    <a16:creationId xmlns:a16="http://schemas.microsoft.com/office/drawing/2014/main" id="{BE5F4A37-0EC3-44E1-8AB5-1BC7B0C58B65}"/>
                  </a:ext>
                </a:extLst>
              </p:cNvPr>
              <p:cNvSpPr>
                <a:spLocks noChangeShapeType="1"/>
              </p:cNvSpPr>
              <p:nvPr/>
            </p:nvSpPr>
            <p:spPr bwMode="auto">
              <a:xfrm>
                <a:off x="5131" y="3131"/>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40" name="Freeform 75">
                <a:extLst>
                  <a:ext uri="{FF2B5EF4-FFF2-40B4-BE49-F238E27FC236}">
                    <a16:creationId xmlns:a16="http://schemas.microsoft.com/office/drawing/2014/main" id="{18FBB1E5-718F-41C3-A9C9-4AD4F66FC8A5}"/>
                  </a:ext>
                </a:extLst>
              </p:cNvPr>
              <p:cNvSpPr>
                <a:spLocks/>
              </p:cNvSpPr>
              <p:nvPr/>
            </p:nvSpPr>
            <p:spPr bwMode="auto">
              <a:xfrm>
                <a:off x="5089" y="3248"/>
                <a:ext cx="92" cy="162"/>
              </a:xfrm>
              <a:custGeom>
                <a:avLst/>
                <a:gdLst>
                  <a:gd name="T0" fmla="*/ 0 w 92"/>
                  <a:gd name="T1" fmla="*/ 0 h 162"/>
                  <a:gd name="T2" fmla="*/ 42 w 92"/>
                  <a:gd name="T3" fmla="*/ 162 h 162"/>
                  <a:gd name="T4" fmla="*/ 92 w 92"/>
                  <a:gd name="T5" fmla="*/ 0 h 162"/>
                  <a:gd name="T6" fmla="*/ 42 w 92"/>
                  <a:gd name="T7" fmla="*/ 52 h 162"/>
                  <a:gd name="T8" fmla="*/ 0 w 92"/>
                  <a:gd name="T9" fmla="*/ 0 h 162"/>
                  <a:gd name="T10" fmla="*/ 0 60000 65536"/>
                  <a:gd name="T11" fmla="*/ 0 60000 65536"/>
                  <a:gd name="T12" fmla="*/ 0 60000 65536"/>
                  <a:gd name="T13" fmla="*/ 0 60000 65536"/>
                  <a:gd name="T14" fmla="*/ 0 60000 65536"/>
                  <a:gd name="T15" fmla="*/ 0 w 92"/>
                  <a:gd name="T16" fmla="*/ 0 h 162"/>
                  <a:gd name="T17" fmla="*/ 92 w 92"/>
                  <a:gd name="T18" fmla="*/ 162 h 162"/>
                </a:gdLst>
                <a:ahLst/>
                <a:cxnLst>
                  <a:cxn ang="T10">
                    <a:pos x="T0" y="T1"/>
                  </a:cxn>
                  <a:cxn ang="T11">
                    <a:pos x="T2" y="T3"/>
                  </a:cxn>
                  <a:cxn ang="T12">
                    <a:pos x="T4" y="T5"/>
                  </a:cxn>
                  <a:cxn ang="T13">
                    <a:pos x="T6" y="T7"/>
                  </a:cxn>
                  <a:cxn ang="T14">
                    <a:pos x="T8" y="T9"/>
                  </a:cxn>
                </a:cxnLst>
                <a:rect l="T15" t="T16" r="T17" b="T18"/>
                <a:pathLst>
                  <a:path w="92" h="162">
                    <a:moveTo>
                      <a:pt x="0" y="0"/>
                    </a:moveTo>
                    <a:lnTo>
                      <a:pt x="42" y="162"/>
                    </a:lnTo>
                    <a:lnTo>
                      <a:pt x="92" y="0"/>
                    </a:lnTo>
                    <a:lnTo>
                      <a:pt x="42"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1" name="Line 76">
                <a:extLst>
                  <a:ext uri="{FF2B5EF4-FFF2-40B4-BE49-F238E27FC236}">
                    <a16:creationId xmlns:a16="http://schemas.microsoft.com/office/drawing/2014/main" id="{1CC461E6-2793-4D64-8BF0-0B8D0D0D2CA7}"/>
                  </a:ext>
                </a:extLst>
              </p:cNvPr>
              <p:cNvSpPr>
                <a:spLocks noChangeShapeType="1"/>
              </p:cNvSpPr>
              <p:nvPr/>
            </p:nvSpPr>
            <p:spPr bwMode="auto">
              <a:xfrm>
                <a:off x="4849" y="3131"/>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42" name="Freeform 77">
                <a:extLst>
                  <a:ext uri="{FF2B5EF4-FFF2-40B4-BE49-F238E27FC236}">
                    <a16:creationId xmlns:a16="http://schemas.microsoft.com/office/drawing/2014/main" id="{9B3BD377-FF4C-46A7-99B9-16C313C7A354}"/>
                  </a:ext>
                </a:extLst>
              </p:cNvPr>
              <p:cNvSpPr>
                <a:spLocks/>
              </p:cNvSpPr>
              <p:nvPr/>
            </p:nvSpPr>
            <p:spPr bwMode="auto">
              <a:xfrm>
                <a:off x="4807" y="3248"/>
                <a:ext cx="92" cy="162"/>
              </a:xfrm>
              <a:custGeom>
                <a:avLst/>
                <a:gdLst>
                  <a:gd name="T0" fmla="*/ 0 w 92"/>
                  <a:gd name="T1" fmla="*/ 0 h 162"/>
                  <a:gd name="T2" fmla="*/ 42 w 92"/>
                  <a:gd name="T3" fmla="*/ 162 h 162"/>
                  <a:gd name="T4" fmla="*/ 92 w 92"/>
                  <a:gd name="T5" fmla="*/ 0 h 162"/>
                  <a:gd name="T6" fmla="*/ 42 w 92"/>
                  <a:gd name="T7" fmla="*/ 52 h 162"/>
                  <a:gd name="T8" fmla="*/ 0 w 92"/>
                  <a:gd name="T9" fmla="*/ 0 h 162"/>
                  <a:gd name="T10" fmla="*/ 0 60000 65536"/>
                  <a:gd name="T11" fmla="*/ 0 60000 65536"/>
                  <a:gd name="T12" fmla="*/ 0 60000 65536"/>
                  <a:gd name="T13" fmla="*/ 0 60000 65536"/>
                  <a:gd name="T14" fmla="*/ 0 60000 65536"/>
                  <a:gd name="T15" fmla="*/ 0 w 92"/>
                  <a:gd name="T16" fmla="*/ 0 h 162"/>
                  <a:gd name="T17" fmla="*/ 92 w 92"/>
                  <a:gd name="T18" fmla="*/ 162 h 162"/>
                </a:gdLst>
                <a:ahLst/>
                <a:cxnLst>
                  <a:cxn ang="T10">
                    <a:pos x="T0" y="T1"/>
                  </a:cxn>
                  <a:cxn ang="T11">
                    <a:pos x="T2" y="T3"/>
                  </a:cxn>
                  <a:cxn ang="T12">
                    <a:pos x="T4" y="T5"/>
                  </a:cxn>
                  <a:cxn ang="T13">
                    <a:pos x="T6" y="T7"/>
                  </a:cxn>
                  <a:cxn ang="T14">
                    <a:pos x="T8" y="T9"/>
                  </a:cxn>
                </a:cxnLst>
                <a:rect l="T15" t="T16" r="T17" b="T18"/>
                <a:pathLst>
                  <a:path w="92" h="162">
                    <a:moveTo>
                      <a:pt x="0" y="0"/>
                    </a:moveTo>
                    <a:lnTo>
                      <a:pt x="42" y="162"/>
                    </a:lnTo>
                    <a:lnTo>
                      <a:pt x="92" y="0"/>
                    </a:lnTo>
                    <a:lnTo>
                      <a:pt x="42"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3" name="Line 78">
                <a:extLst>
                  <a:ext uri="{FF2B5EF4-FFF2-40B4-BE49-F238E27FC236}">
                    <a16:creationId xmlns:a16="http://schemas.microsoft.com/office/drawing/2014/main" id="{2C286679-1B45-4FB0-B786-A22727CBEC96}"/>
                  </a:ext>
                </a:extLst>
              </p:cNvPr>
              <p:cNvSpPr>
                <a:spLocks noChangeShapeType="1"/>
              </p:cNvSpPr>
              <p:nvPr/>
            </p:nvSpPr>
            <p:spPr bwMode="auto">
              <a:xfrm>
                <a:off x="5413" y="3131"/>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44" name="Freeform 79">
                <a:extLst>
                  <a:ext uri="{FF2B5EF4-FFF2-40B4-BE49-F238E27FC236}">
                    <a16:creationId xmlns:a16="http://schemas.microsoft.com/office/drawing/2014/main" id="{ECF38D65-47B8-43BD-AAAA-E09F6582123A}"/>
                  </a:ext>
                </a:extLst>
              </p:cNvPr>
              <p:cNvSpPr>
                <a:spLocks/>
              </p:cNvSpPr>
              <p:nvPr/>
            </p:nvSpPr>
            <p:spPr bwMode="auto">
              <a:xfrm>
                <a:off x="5371" y="3248"/>
                <a:ext cx="92" cy="162"/>
              </a:xfrm>
              <a:custGeom>
                <a:avLst/>
                <a:gdLst>
                  <a:gd name="T0" fmla="*/ 0 w 92"/>
                  <a:gd name="T1" fmla="*/ 0 h 162"/>
                  <a:gd name="T2" fmla="*/ 42 w 92"/>
                  <a:gd name="T3" fmla="*/ 162 h 162"/>
                  <a:gd name="T4" fmla="*/ 92 w 92"/>
                  <a:gd name="T5" fmla="*/ 0 h 162"/>
                  <a:gd name="T6" fmla="*/ 42 w 92"/>
                  <a:gd name="T7" fmla="*/ 52 h 162"/>
                  <a:gd name="T8" fmla="*/ 0 w 92"/>
                  <a:gd name="T9" fmla="*/ 0 h 162"/>
                  <a:gd name="T10" fmla="*/ 0 60000 65536"/>
                  <a:gd name="T11" fmla="*/ 0 60000 65536"/>
                  <a:gd name="T12" fmla="*/ 0 60000 65536"/>
                  <a:gd name="T13" fmla="*/ 0 60000 65536"/>
                  <a:gd name="T14" fmla="*/ 0 60000 65536"/>
                  <a:gd name="T15" fmla="*/ 0 w 92"/>
                  <a:gd name="T16" fmla="*/ 0 h 162"/>
                  <a:gd name="T17" fmla="*/ 92 w 92"/>
                  <a:gd name="T18" fmla="*/ 162 h 162"/>
                </a:gdLst>
                <a:ahLst/>
                <a:cxnLst>
                  <a:cxn ang="T10">
                    <a:pos x="T0" y="T1"/>
                  </a:cxn>
                  <a:cxn ang="T11">
                    <a:pos x="T2" y="T3"/>
                  </a:cxn>
                  <a:cxn ang="T12">
                    <a:pos x="T4" y="T5"/>
                  </a:cxn>
                  <a:cxn ang="T13">
                    <a:pos x="T6" y="T7"/>
                  </a:cxn>
                  <a:cxn ang="T14">
                    <a:pos x="T8" y="T9"/>
                  </a:cxn>
                </a:cxnLst>
                <a:rect l="T15" t="T16" r="T17" b="T18"/>
                <a:pathLst>
                  <a:path w="92" h="162">
                    <a:moveTo>
                      <a:pt x="0" y="0"/>
                    </a:moveTo>
                    <a:lnTo>
                      <a:pt x="42" y="162"/>
                    </a:lnTo>
                    <a:lnTo>
                      <a:pt x="92" y="0"/>
                    </a:lnTo>
                    <a:lnTo>
                      <a:pt x="42"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5" name="Line 80">
                <a:extLst>
                  <a:ext uri="{FF2B5EF4-FFF2-40B4-BE49-F238E27FC236}">
                    <a16:creationId xmlns:a16="http://schemas.microsoft.com/office/drawing/2014/main" id="{CADAE646-5A6E-43B0-8ADB-5FC3D0B46F8D}"/>
                  </a:ext>
                </a:extLst>
              </p:cNvPr>
              <p:cNvSpPr>
                <a:spLocks noChangeShapeType="1"/>
              </p:cNvSpPr>
              <p:nvPr/>
            </p:nvSpPr>
            <p:spPr bwMode="auto">
              <a:xfrm>
                <a:off x="5696" y="3131"/>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46" name="Freeform 81">
                <a:extLst>
                  <a:ext uri="{FF2B5EF4-FFF2-40B4-BE49-F238E27FC236}">
                    <a16:creationId xmlns:a16="http://schemas.microsoft.com/office/drawing/2014/main" id="{A7A3713A-CC41-4161-B237-CDA210682DE0}"/>
                  </a:ext>
                </a:extLst>
              </p:cNvPr>
              <p:cNvSpPr>
                <a:spLocks/>
              </p:cNvSpPr>
              <p:nvPr/>
            </p:nvSpPr>
            <p:spPr bwMode="auto">
              <a:xfrm>
                <a:off x="5653" y="3248"/>
                <a:ext cx="92" cy="162"/>
              </a:xfrm>
              <a:custGeom>
                <a:avLst/>
                <a:gdLst>
                  <a:gd name="T0" fmla="*/ 0 w 92"/>
                  <a:gd name="T1" fmla="*/ 0 h 162"/>
                  <a:gd name="T2" fmla="*/ 43 w 92"/>
                  <a:gd name="T3" fmla="*/ 162 h 162"/>
                  <a:gd name="T4" fmla="*/ 92 w 92"/>
                  <a:gd name="T5" fmla="*/ 0 h 162"/>
                  <a:gd name="T6" fmla="*/ 43 w 92"/>
                  <a:gd name="T7" fmla="*/ 52 h 162"/>
                  <a:gd name="T8" fmla="*/ 0 w 92"/>
                  <a:gd name="T9" fmla="*/ 0 h 162"/>
                  <a:gd name="T10" fmla="*/ 0 60000 65536"/>
                  <a:gd name="T11" fmla="*/ 0 60000 65536"/>
                  <a:gd name="T12" fmla="*/ 0 60000 65536"/>
                  <a:gd name="T13" fmla="*/ 0 60000 65536"/>
                  <a:gd name="T14" fmla="*/ 0 60000 65536"/>
                  <a:gd name="T15" fmla="*/ 0 w 92"/>
                  <a:gd name="T16" fmla="*/ 0 h 162"/>
                  <a:gd name="T17" fmla="*/ 92 w 92"/>
                  <a:gd name="T18" fmla="*/ 162 h 162"/>
                </a:gdLst>
                <a:ahLst/>
                <a:cxnLst>
                  <a:cxn ang="T10">
                    <a:pos x="T0" y="T1"/>
                  </a:cxn>
                  <a:cxn ang="T11">
                    <a:pos x="T2" y="T3"/>
                  </a:cxn>
                  <a:cxn ang="T12">
                    <a:pos x="T4" y="T5"/>
                  </a:cxn>
                  <a:cxn ang="T13">
                    <a:pos x="T6" y="T7"/>
                  </a:cxn>
                  <a:cxn ang="T14">
                    <a:pos x="T8" y="T9"/>
                  </a:cxn>
                </a:cxnLst>
                <a:rect l="T15" t="T16" r="T17" b="T18"/>
                <a:pathLst>
                  <a:path w="92" h="162">
                    <a:moveTo>
                      <a:pt x="0" y="0"/>
                    </a:moveTo>
                    <a:lnTo>
                      <a:pt x="43" y="162"/>
                    </a:lnTo>
                    <a:lnTo>
                      <a:pt x="92" y="0"/>
                    </a:lnTo>
                    <a:lnTo>
                      <a:pt x="43"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7" name="Line 82">
                <a:extLst>
                  <a:ext uri="{FF2B5EF4-FFF2-40B4-BE49-F238E27FC236}">
                    <a16:creationId xmlns:a16="http://schemas.microsoft.com/office/drawing/2014/main" id="{0E3B1C8E-108E-4DEE-AF98-7B114910D5DF}"/>
                  </a:ext>
                </a:extLst>
              </p:cNvPr>
              <p:cNvSpPr>
                <a:spLocks noChangeShapeType="1"/>
              </p:cNvSpPr>
              <p:nvPr/>
            </p:nvSpPr>
            <p:spPr bwMode="auto">
              <a:xfrm>
                <a:off x="5979" y="3131"/>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48" name="Freeform 83">
                <a:extLst>
                  <a:ext uri="{FF2B5EF4-FFF2-40B4-BE49-F238E27FC236}">
                    <a16:creationId xmlns:a16="http://schemas.microsoft.com/office/drawing/2014/main" id="{845AF2F5-48B1-4E63-B0EC-AA87AFBC45DB}"/>
                  </a:ext>
                </a:extLst>
              </p:cNvPr>
              <p:cNvSpPr>
                <a:spLocks/>
              </p:cNvSpPr>
              <p:nvPr/>
            </p:nvSpPr>
            <p:spPr bwMode="auto">
              <a:xfrm>
                <a:off x="5936" y="3248"/>
                <a:ext cx="92" cy="162"/>
              </a:xfrm>
              <a:custGeom>
                <a:avLst/>
                <a:gdLst>
                  <a:gd name="T0" fmla="*/ 0 w 92"/>
                  <a:gd name="T1" fmla="*/ 0 h 162"/>
                  <a:gd name="T2" fmla="*/ 43 w 92"/>
                  <a:gd name="T3" fmla="*/ 162 h 162"/>
                  <a:gd name="T4" fmla="*/ 92 w 92"/>
                  <a:gd name="T5" fmla="*/ 0 h 162"/>
                  <a:gd name="T6" fmla="*/ 43 w 92"/>
                  <a:gd name="T7" fmla="*/ 52 h 162"/>
                  <a:gd name="T8" fmla="*/ 0 w 92"/>
                  <a:gd name="T9" fmla="*/ 0 h 162"/>
                  <a:gd name="T10" fmla="*/ 0 60000 65536"/>
                  <a:gd name="T11" fmla="*/ 0 60000 65536"/>
                  <a:gd name="T12" fmla="*/ 0 60000 65536"/>
                  <a:gd name="T13" fmla="*/ 0 60000 65536"/>
                  <a:gd name="T14" fmla="*/ 0 60000 65536"/>
                  <a:gd name="T15" fmla="*/ 0 w 92"/>
                  <a:gd name="T16" fmla="*/ 0 h 162"/>
                  <a:gd name="T17" fmla="*/ 92 w 92"/>
                  <a:gd name="T18" fmla="*/ 162 h 162"/>
                </a:gdLst>
                <a:ahLst/>
                <a:cxnLst>
                  <a:cxn ang="T10">
                    <a:pos x="T0" y="T1"/>
                  </a:cxn>
                  <a:cxn ang="T11">
                    <a:pos x="T2" y="T3"/>
                  </a:cxn>
                  <a:cxn ang="T12">
                    <a:pos x="T4" y="T5"/>
                  </a:cxn>
                  <a:cxn ang="T13">
                    <a:pos x="T6" y="T7"/>
                  </a:cxn>
                  <a:cxn ang="T14">
                    <a:pos x="T8" y="T9"/>
                  </a:cxn>
                </a:cxnLst>
                <a:rect l="T15" t="T16" r="T17" b="T18"/>
                <a:pathLst>
                  <a:path w="92" h="162">
                    <a:moveTo>
                      <a:pt x="0" y="0"/>
                    </a:moveTo>
                    <a:lnTo>
                      <a:pt x="43" y="162"/>
                    </a:lnTo>
                    <a:lnTo>
                      <a:pt x="92" y="0"/>
                    </a:lnTo>
                    <a:lnTo>
                      <a:pt x="43"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9" name="Line 84">
                <a:extLst>
                  <a:ext uri="{FF2B5EF4-FFF2-40B4-BE49-F238E27FC236}">
                    <a16:creationId xmlns:a16="http://schemas.microsoft.com/office/drawing/2014/main" id="{DA05E623-FAE7-4AF3-A98C-B44402FD5003}"/>
                  </a:ext>
                </a:extLst>
              </p:cNvPr>
              <p:cNvSpPr>
                <a:spLocks noChangeShapeType="1"/>
              </p:cNvSpPr>
              <p:nvPr/>
            </p:nvSpPr>
            <p:spPr bwMode="auto">
              <a:xfrm>
                <a:off x="6261" y="3131"/>
                <a:ext cx="1" cy="184"/>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50" name="Freeform 85">
                <a:extLst>
                  <a:ext uri="{FF2B5EF4-FFF2-40B4-BE49-F238E27FC236}">
                    <a16:creationId xmlns:a16="http://schemas.microsoft.com/office/drawing/2014/main" id="{76933140-FC4A-4913-82AE-6E1D080243FF}"/>
                  </a:ext>
                </a:extLst>
              </p:cNvPr>
              <p:cNvSpPr>
                <a:spLocks/>
              </p:cNvSpPr>
              <p:nvPr/>
            </p:nvSpPr>
            <p:spPr bwMode="auto">
              <a:xfrm>
                <a:off x="6218" y="3248"/>
                <a:ext cx="92" cy="162"/>
              </a:xfrm>
              <a:custGeom>
                <a:avLst/>
                <a:gdLst>
                  <a:gd name="T0" fmla="*/ 0 w 92"/>
                  <a:gd name="T1" fmla="*/ 0 h 162"/>
                  <a:gd name="T2" fmla="*/ 43 w 92"/>
                  <a:gd name="T3" fmla="*/ 162 h 162"/>
                  <a:gd name="T4" fmla="*/ 92 w 92"/>
                  <a:gd name="T5" fmla="*/ 0 h 162"/>
                  <a:gd name="T6" fmla="*/ 43 w 92"/>
                  <a:gd name="T7" fmla="*/ 52 h 162"/>
                  <a:gd name="T8" fmla="*/ 0 w 92"/>
                  <a:gd name="T9" fmla="*/ 0 h 162"/>
                  <a:gd name="T10" fmla="*/ 0 60000 65536"/>
                  <a:gd name="T11" fmla="*/ 0 60000 65536"/>
                  <a:gd name="T12" fmla="*/ 0 60000 65536"/>
                  <a:gd name="T13" fmla="*/ 0 60000 65536"/>
                  <a:gd name="T14" fmla="*/ 0 60000 65536"/>
                  <a:gd name="T15" fmla="*/ 0 w 92"/>
                  <a:gd name="T16" fmla="*/ 0 h 162"/>
                  <a:gd name="T17" fmla="*/ 92 w 92"/>
                  <a:gd name="T18" fmla="*/ 162 h 162"/>
                </a:gdLst>
                <a:ahLst/>
                <a:cxnLst>
                  <a:cxn ang="T10">
                    <a:pos x="T0" y="T1"/>
                  </a:cxn>
                  <a:cxn ang="T11">
                    <a:pos x="T2" y="T3"/>
                  </a:cxn>
                  <a:cxn ang="T12">
                    <a:pos x="T4" y="T5"/>
                  </a:cxn>
                  <a:cxn ang="T13">
                    <a:pos x="T6" y="T7"/>
                  </a:cxn>
                  <a:cxn ang="T14">
                    <a:pos x="T8" y="T9"/>
                  </a:cxn>
                </a:cxnLst>
                <a:rect l="T15" t="T16" r="T17" b="T18"/>
                <a:pathLst>
                  <a:path w="92" h="162">
                    <a:moveTo>
                      <a:pt x="0" y="0"/>
                    </a:moveTo>
                    <a:lnTo>
                      <a:pt x="43" y="162"/>
                    </a:lnTo>
                    <a:lnTo>
                      <a:pt x="92" y="0"/>
                    </a:lnTo>
                    <a:lnTo>
                      <a:pt x="43"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1" name="Freeform 86">
                <a:extLst>
                  <a:ext uri="{FF2B5EF4-FFF2-40B4-BE49-F238E27FC236}">
                    <a16:creationId xmlns:a16="http://schemas.microsoft.com/office/drawing/2014/main" id="{1988663E-3C1B-4899-A30B-1C31F6530817}"/>
                  </a:ext>
                </a:extLst>
              </p:cNvPr>
              <p:cNvSpPr>
                <a:spLocks/>
              </p:cNvSpPr>
              <p:nvPr/>
            </p:nvSpPr>
            <p:spPr bwMode="auto">
              <a:xfrm>
                <a:off x="4877" y="3696"/>
                <a:ext cx="586" cy="199"/>
              </a:xfrm>
              <a:custGeom>
                <a:avLst/>
                <a:gdLst>
                  <a:gd name="T0" fmla="*/ 8 w 586"/>
                  <a:gd name="T1" fmla="*/ 0 h 199"/>
                  <a:gd name="T2" fmla="*/ 8 w 586"/>
                  <a:gd name="T3" fmla="*/ 96 h 199"/>
                  <a:gd name="T4" fmla="*/ 36 w 586"/>
                  <a:gd name="T5" fmla="*/ 163 h 199"/>
                  <a:gd name="T6" fmla="*/ 92 w 586"/>
                  <a:gd name="T7" fmla="*/ 192 h 199"/>
                  <a:gd name="T8" fmla="*/ 184 w 586"/>
                  <a:gd name="T9" fmla="*/ 199 h 199"/>
                  <a:gd name="T10" fmla="*/ 424 w 586"/>
                  <a:gd name="T11" fmla="*/ 199 h 199"/>
                  <a:gd name="T12" fmla="*/ 586 w 586"/>
                  <a:gd name="T13" fmla="*/ 199 h 199"/>
                  <a:gd name="T14" fmla="*/ 0 60000 65536"/>
                  <a:gd name="T15" fmla="*/ 0 60000 65536"/>
                  <a:gd name="T16" fmla="*/ 0 60000 65536"/>
                  <a:gd name="T17" fmla="*/ 0 60000 65536"/>
                  <a:gd name="T18" fmla="*/ 0 60000 65536"/>
                  <a:gd name="T19" fmla="*/ 0 60000 65536"/>
                  <a:gd name="T20" fmla="*/ 0 60000 65536"/>
                  <a:gd name="T21" fmla="*/ 0 w 586"/>
                  <a:gd name="T22" fmla="*/ 0 h 199"/>
                  <a:gd name="T23" fmla="*/ 586 w 586"/>
                  <a:gd name="T24" fmla="*/ 199 h 19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6" h="199">
                    <a:moveTo>
                      <a:pt x="8" y="0"/>
                    </a:moveTo>
                    <a:cubicBezTo>
                      <a:pt x="0" y="30"/>
                      <a:pt x="0" y="67"/>
                      <a:pt x="8" y="96"/>
                    </a:cubicBezTo>
                    <a:cubicBezTo>
                      <a:pt x="8" y="126"/>
                      <a:pt x="22" y="148"/>
                      <a:pt x="36" y="163"/>
                    </a:cubicBezTo>
                    <a:cubicBezTo>
                      <a:pt x="50" y="177"/>
                      <a:pt x="71" y="184"/>
                      <a:pt x="92" y="192"/>
                    </a:cubicBezTo>
                    <a:cubicBezTo>
                      <a:pt x="120" y="199"/>
                      <a:pt x="128" y="199"/>
                      <a:pt x="184" y="199"/>
                    </a:cubicBezTo>
                    <a:cubicBezTo>
                      <a:pt x="240" y="199"/>
                      <a:pt x="360" y="199"/>
                      <a:pt x="424" y="199"/>
                    </a:cubicBezTo>
                    <a:cubicBezTo>
                      <a:pt x="494" y="199"/>
                      <a:pt x="536" y="199"/>
                      <a:pt x="586" y="199"/>
                    </a:cubicBezTo>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2" name="Freeform 87">
                <a:extLst>
                  <a:ext uri="{FF2B5EF4-FFF2-40B4-BE49-F238E27FC236}">
                    <a16:creationId xmlns:a16="http://schemas.microsoft.com/office/drawing/2014/main" id="{3F236E71-1A2D-443E-9A46-349FFA0D20D9}"/>
                  </a:ext>
                </a:extLst>
              </p:cNvPr>
              <p:cNvSpPr>
                <a:spLocks/>
              </p:cNvSpPr>
              <p:nvPr/>
            </p:nvSpPr>
            <p:spPr bwMode="auto">
              <a:xfrm>
                <a:off x="5421" y="3689"/>
                <a:ext cx="586" cy="206"/>
              </a:xfrm>
              <a:custGeom>
                <a:avLst/>
                <a:gdLst>
                  <a:gd name="T0" fmla="*/ 578 w 586"/>
                  <a:gd name="T1" fmla="*/ 0 h 206"/>
                  <a:gd name="T2" fmla="*/ 578 w 586"/>
                  <a:gd name="T3" fmla="*/ 103 h 206"/>
                  <a:gd name="T4" fmla="*/ 550 w 586"/>
                  <a:gd name="T5" fmla="*/ 170 h 206"/>
                  <a:gd name="T6" fmla="*/ 487 w 586"/>
                  <a:gd name="T7" fmla="*/ 199 h 206"/>
                  <a:gd name="T8" fmla="*/ 402 w 586"/>
                  <a:gd name="T9" fmla="*/ 206 h 206"/>
                  <a:gd name="T10" fmla="*/ 162 w 586"/>
                  <a:gd name="T11" fmla="*/ 206 h 206"/>
                  <a:gd name="T12" fmla="*/ 0 w 586"/>
                  <a:gd name="T13" fmla="*/ 206 h 206"/>
                  <a:gd name="T14" fmla="*/ 0 60000 65536"/>
                  <a:gd name="T15" fmla="*/ 0 60000 65536"/>
                  <a:gd name="T16" fmla="*/ 0 60000 65536"/>
                  <a:gd name="T17" fmla="*/ 0 60000 65536"/>
                  <a:gd name="T18" fmla="*/ 0 60000 65536"/>
                  <a:gd name="T19" fmla="*/ 0 60000 65536"/>
                  <a:gd name="T20" fmla="*/ 0 60000 65536"/>
                  <a:gd name="T21" fmla="*/ 0 w 586"/>
                  <a:gd name="T22" fmla="*/ 0 h 206"/>
                  <a:gd name="T23" fmla="*/ 586 w 58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6" h="206">
                    <a:moveTo>
                      <a:pt x="578" y="0"/>
                    </a:moveTo>
                    <a:cubicBezTo>
                      <a:pt x="586" y="37"/>
                      <a:pt x="586" y="74"/>
                      <a:pt x="578" y="103"/>
                    </a:cubicBezTo>
                    <a:cubicBezTo>
                      <a:pt x="572" y="133"/>
                      <a:pt x="564" y="155"/>
                      <a:pt x="550" y="170"/>
                    </a:cubicBezTo>
                    <a:cubicBezTo>
                      <a:pt x="536" y="184"/>
                      <a:pt x="515" y="191"/>
                      <a:pt x="487" y="199"/>
                    </a:cubicBezTo>
                    <a:cubicBezTo>
                      <a:pt x="466" y="206"/>
                      <a:pt x="452" y="206"/>
                      <a:pt x="402" y="206"/>
                    </a:cubicBezTo>
                    <a:cubicBezTo>
                      <a:pt x="346" y="206"/>
                      <a:pt x="226" y="206"/>
                      <a:pt x="162" y="206"/>
                    </a:cubicBezTo>
                    <a:cubicBezTo>
                      <a:pt x="92" y="206"/>
                      <a:pt x="50" y="206"/>
                      <a:pt x="0" y="206"/>
                    </a:cubicBezTo>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53" name="Rectangle 88">
                <a:extLst>
                  <a:ext uri="{FF2B5EF4-FFF2-40B4-BE49-F238E27FC236}">
                    <a16:creationId xmlns:a16="http://schemas.microsoft.com/office/drawing/2014/main" id="{E5E46228-5164-451D-9B71-E3931B07D330}"/>
                  </a:ext>
                </a:extLst>
              </p:cNvPr>
              <p:cNvSpPr>
                <a:spLocks noChangeArrowheads="1"/>
              </p:cNvSpPr>
              <p:nvPr/>
            </p:nvSpPr>
            <p:spPr bwMode="auto">
              <a:xfrm>
                <a:off x="5229" y="3716"/>
                <a:ext cx="12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900">
                    <a:solidFill>
                      <a:srgbClr val="000000"/>
                    </a:solidFill>
                    <a:latin typeface="Times New Roman" panose="02020603050405020304" pitchFamily="18" charset="0"/>
                  </a:rPr>
                  <a:t>P </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7254" name="Rectangle 89">
                <a:extLst>
                  <a:ext uri="{FF2B5EF4-FFF2-40B4-BE49-F238E27FC236}">
                    <a16:creationId xmlns:a16="http://schemas.microsoft.com/office/drawing/2014/main" id="{165437F0-D74E-413E-AD06-C464EC1C8C89}"/>
                  </a:ext>
                </a:extLst>
              </p:cNvPr>
              <p:cNvSpPr>
                <a:spLocks noChangeArrowheads="1"/>
              </p:cNvSpPr>
              <p:nvPr/>
            </p:nvSpPr>
            <p:spPr bwMode="auto">
              <a:xfrm>
                <a:off x="5335" y="3687"/>
                <a:ext cx="8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900">
                    <a:solidFill>
                      <a:srgbClr val="000000"/>
                    </a:solidFill>
                    <a:latin typeface="Symbol" panose="05050102010706020507" pitchFamily="18" charset="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7255" name="Rectangle 90">
                <a:extLst>
                  <a:ext uri="{FF2B5EF4-FFF2-40B4-BE49-F238E27FC236}">
                    <a16:creationId xmlns:a16="http://schemas.microsoft.com/office/drawing/2014/main" id="{CB76C05E-5CEE-4543-B5C7-9E5BA2496057}"/>
                  </a:ext>
                </a:extLst>
              </p:cNvPr>
              <p:cNvSpPr>
                <a:spLocks noChangeArrowheads="1"/>
              </p:cNvSpPr>
              <p:nvPr/>
            </p:nvSpPr>
            <p:spPr bwMode="auto">
              <a:xfrm>
                <a:off x="5440" y="3716"/>
                <a:ext cx="168"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zh-CN" altLang="en-US" sz="900">
                    <a:solidFill>
                      <a:srgbClr val="000000"/>
                    </a:solidFill>
                    <a:latin typeface="Times New Roman" panose="02020603050405020304" pitchFamily="18" charset="0"/>
                  </a:rPr>
                  <a:t> </a:t>
                </a:r>
                <a:r>
                  <a:rPr kumimoji="0" lang="en-US" altLang="zh-CN" sz="900">
                    <a:solidFill>
                      <a:srgbClr val="000000"/>
                    </a:solidFill>
                    <a:latin typeface="Times New Roman" panose="02020603050405020304" pitchFamily="18" charset="0"/>
                  </a:rPr>
                  <a:t>Si</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7256" name="Rectangle 91">
                <a:extLst>
                  <a:ext uri="{FF2B5EF4-FFF2-40B4-BE49-F238E27FC236}">
                    <a16:creationId xmlns:a16="http://schemas.microsoft.com/office/drawing/2014/main" id="{F01F5B69-3DE5-4C6F-B44A-CCB6F548266C}"/>
                  </a:ext>
                </a:extLst>
              </p:cNvPr>
              <p:cNvSpPr>
                <a:spLocks noChangeArrowheads="1"/>
              </p:cNvSpPr>
              <p:nvPr/>
            </p:nvSpPr>
            <p:spPr bwMode="auto">
              <a:xfrm>
                <a:off x="6056" y="3985"/>
                <a:ext cx="15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900">
                    <a:solidFill>
                      <a:srgbClr val="000000"/>
                    </a:solidFill>
                    <a:latin typeface="Times New Roman" panose="02020603050405020304" pitchFamily="18" charset="0"/>
                  </a:rPr>
                  <a:t>N </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7257" name="Rectangle 92">
                <a:extLst>
                  <a:ext uri="{FF2B5EF4-FFF2-40B4-BE49-F238E27FC236}">
                    <a16:creationId xmlns:a16="http://schemas.microsoft.com/office/drawing/2014/main" id="{C058A92E-7FEE-480B-8AC9-C60EB5D7D410}"/>
                  </a:ext>
                </a:extLst>
              </p:cNvPr>
              <p:cNvSpPr>
                <a:spLocks noChangeArrowheads="1"/>
              </p:cNvSpPr>
              <p:nvPr/>
            </p:nvSpPr>
            <p:spPr bwMode="auto">
              <a:xfrm>
                <a:off x="6189" y="3956"/>
                <a:ext cx="8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900">
                    <a:solidFill>
                      <a:srgbClr val="000000"/>
                    </a:solidFill>
                    <a:latin typeface="Symbol" panose="05050102010706020507" pitchFamily="18" charset="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7258" name="Rectangle 93">
                <a:extLst>
                  <a:ext uri="{FF2B5EF4-FFF2-40B4-BE49-F238E27FC236}">
                    <a16:creationId xmlns:a16="http://schemas.microsoft.com/office/drawing/2014/main" id="{8F3980FE-9CB8-40EE-91F8-D91D39DB1ED8}"/>
                  </a:ext>
                </a:extLst>
              </p:cNvPr>
              <p:cNvSpPr>
                <a:spLocks noChangeArrowheads="1"/>
              </p:cNvSpPr>
              <p:nvPr/>
            </p:nvSpPr>
            <p:spPr bwMode="auto">
              <a:xfrm>
                <a:off x="6310" y="3985"/>
                <a:ext cx="167"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zh-CN" altLang="en-US" sz="900">
                    <a:solidFill>
                      <a:srgbClr val="000000"/>
                    </a:solidFill>
                    <a:latin typeface="Times New Roman" panose="02020603050405020304" pitchFamily="18" charset="0"/>
                  </a:rPr>
                  <a:t> </a:t>
                </a:r>
                <a:r>
                  <a:rPr kumimoji="0" lang="en-US" altLang="zh-CN" sz="900">
                    <a:solidFill>
                      <a:srgbClr val="000000"/>
                    </a:solidFill>
                    <a:latin typeface="Times New Roman" panose="02020603050405020304" pitchFamily="18" charset="0"/>
                  </a:rPr>
                  <a:t>Si</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7259" name="Rectangle 94">
                <a:extLst>
                  <a:ext uri="{FF2B5EF4-FFF2-40B4-BE49-F238E27FC236}">
                    <a16:creationId xmlns:a16="http://schemas.microsoft.com/office/drawing/2014/main" id="{E07B5B98-88ED-4CE0-88EB-0CFC709AB1B5}"/>
                  </a:ext>
                </a:extLst>
              </p:cNvPr>
              <p:cNvSpPr>
                <a:spLocks noChangeArrowheads="1"/>
              </p:cNvSpPr>
              <p:nvPr/>
            </p:nvSpPr>
            <p:spPr bwMode="auto">
              <a:xfrm>
                <a:off x="6041" y="3566"/>
                <a:ext cx="21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800">
                    <a:solidFill>
                      <a:srgbClr val="000000"/>
                    </a:solidFill>
                    <a:latin typeface="Times New Roman" panose="02020603050405020304" pitchFamily="18" charset="0"/>
                  </a:rPr>
                  <a:t>SiO</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7260" name="Rectangle 95">
                <a:extLst>
                  <a:ext uri="{FF2B5EF4-FFF2-40B4-BE49-F238E27FC236}">
                    <a16:creationId xmlns:a16="http://schemas.microsoft.com/office/drawing/2014/main" id="{092E888D-7440-4CD7-87B0-DF6DA8611AE3}"/>
                  </a:ext>
                </a:extLst>
              </p:cNvPr>
              <p:cNvSpPr>
                <a:spLocks noChangeArrowheads="1"/>
              </p:cNvSpPr>
              <p:nvPr/>
            </p:nvSpPr>
            <p:spPr bwMode="auto">
              <a:xfrm>
                <a:off x="6249" y="3625"/>
                <a:ext cx="43"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500">
                    <a:solidFill>
                      <a:srgbClr val="000000"/>
                    </a:solidFill>
                    <a:latin typeface="Times New Roman" panose="02020603050405020304" pitchFamily="18" charset="0"/>
                  </a:rPr>
                  <a:t>2</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7261" name="Freeform 96">
                <a:extLst>
                  <a:ext uri="{FF2B5EF4-FFF2-40B4-BE49-F238E27FC236}">
                    <a16:creationId xmlns:a16="http://schemas.microsoft.com/office/drawing/2014/main" id="{FB95C22C-F699-4B32-93A3-CD5B8D32CB07}"/>
                  </a:ext>
                </a:extLst>
              </p:cNvPr>
              <p:cNvSpPr>
                <a:spLocks/>
              </p:cNvSpPr>
              <p:nvPr/>
            </p:nvSpPr>
            <p:spPr bwMode="auto">
              <a:xfrm>
                <a:off x="3605" y="3485"/>
                <a:ext cx="2965" cy="860"/>
              </a:xfrm>
              <a:custGeom>
                <a:avLst/>
                <a:gdLst>
                  <a:gd name="T0" fmla="*/ 0 w 2965"/>
                  <a:gd name="T1" fmla="*/ 148 h 860"/>
                  <a:gd name="T2" fmla="*/ 697 w 2965"/>
                  <a:gd name="T3" fmla="*/ 860 h 860"/>
                  <a:gd name="T4" fmla="*/ 2965 w 2965"/>
                  <a:gd name="T5" fmla="*/ 860 h 860"/>
                  <a:gd name="T6" fmla="*/ 2965 w 2965"/>
                  <a:gd name="T7" fmla="*/ 691 h 860"/>
                  <a:gd name="T8" fmla="*/ 697 w 2965"/>
                  <a:gd name="T9" fmla="*/ 691 h 860"/>
                  <a:gd name="T10" fmla="*/ 0 w 2965"/>
                  <a:gd name="T11" fmla="*/ 0 h 860"/>
                  <a:gd name="T12" fmla="*/ 0 w 2965"/>
                  <a:gd name="T13" fmla="*/ 148 h 860"/>
                  <a:gd name="T14" fmla="*/ 0 w 2965"/>
                  <a:gd name="T15" fmla="*/ 148 h 860"/>
                  <a:gd name="T16" fmla="*/ 0 60000 65536"/>
                  <a:gd name="T17" fmla="*/ 0 60000 65536"/>
                  <a:gd name="T18" fmla="*/ 0 60000 65536"/>
                  <a:gd name="T19" fmla="*/ 0 60000 65536"/>
                  <a:gd name="T20" fmla="*/ 0 60000 65536"/>
                  <a:gd name="T21" fmla="*/ 0 60000 65536"/>
                  <a:gd name="T22" fmla="*/ 0 60000 65536"/>
                  <a:gd name="T23" fmla="*/ 0 60000 65536"/>
                  <a:gd name="T24" fmla="*/ 0 w 2965"/>
                  <a:gd name="T25" fmla="*/ 0 h 860"/>
                  <a:gd name="T26" fmla="*/ 2965 w 2965"/>
                  <a:gd name="T27" fmla="*/ 860 h 8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65" h="860">
                    <a:moveTo>
                      <a:pt x="0" y="148"/>
                    </a:moveTo>
                    <a:lnTo>
                      <a:pt x="697" y="860"/>
                    </a:lnTo>
                    <a:lnTo>
                      <a:pt x="2965" y="860"/>
                    </a:lnTo>
                    <a:lnTo>
                      <a:pt x="2965" y="691"/>
                    </a:lnTo>
                    <a:lnTo>
                      <a:pt x="697" y="691"/>
                    </a:lnTo>
                    <a:lnTo>
                      <a:pt x="0" y="0"/>
                    </a:lnTo>
                    <a:lnTo>
                      <a:pt x="0" y="148"/>
                    </a:lnTo>
                    <a:close/>
                  </a:path>
                </a:pathLst>
              </a:custGeom>
              <a:noFill/>
              <a:ln w="889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62" name="Line 97">
                <a:extLst>
                  <a:ext uri="{FF2B5EF4-FFF2-40B4-BE49-F238E27FC236}">
                    <a16:creationId xmlns:a16="http://schemas.microsoft.com/office/drawing/2014/main" id="{7E86B3C2-862E-432A-8877-D5CBEC5171F9}"/>
                  </a:ext>
                </a:extLst>
              </p:cNvPr>
              <p:cNvSpPr>
                <a:spLocks noChangeShapeType="1"/>
              </p:cNvSpPr>
              <p:nvPr/>
            </p:nvSpPr>
            <p:spPr bwMode="auto">
              <a:xfrm flipH="1" flipV="1">
                <a:off x="4313" y="4163"/>
                <a:ext cx="2" cy="182"/>
              </a:xfrm>
              <a:prstGeom prst="line">
                <a:avLst/>
              </a:prstGeom>
              <a:noFill/>
              <a:ln w="889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63" name="Rectangle 98">
                <a:extLst>
                  <a:ext uri="{FF2B5EF4-FFF2-40B4-BE49-F238E27FC236}">
                    <a16:creationId xmlns:a16="http://schemas.microsoft.com/office/drawing/2014/main" id="{CF8EE491-FA47-4CD2-AF70-2E2AEB7968BB}"/>
                  </a:ext>
                </a:extLst>
              </p:cNvPr>
              <p:cNvSpPr>
                <a:spLocks noChangeArrowheads="1"/>
              </p:cNvSpPr>
              <p:nvPr/>
            </p:nvSpPr>
            <p:spPr bwMode="auto">
              <a:xfrm>
                <a:off x="5425" y="4195"/>
                <a:ext cx="99"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800">
                    <a:solidFill>
                      <a:srgbClr val="000000"/>
                    </a:solidFill>
                    <a:latin typeface="Times New Roman" panose="02020603050405020304" pitchFamily="18" charset="0"/>
                  </a:rPr>
                  <a:t>N</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7264" name="Rectangle 99">
                <a:extLst>
                  <a:ext uri="{FF2B5EF4-FFF2-40B4-BE49-F238E27FC236}">
                    <a16:creationId xmlns:a16="http://schemas.microsoft.com/office/drawing/2014/main" id="{CA170D6C-ECD4-4666-8FF0-DEC37ADF08A5}"/>
                  </a:ext>
                </a:extLst>
              </p:cNvPr>
              <p:cNvSpPr>
                <a:spLocks noChangeArrowheads="1"/>
              </p:cNvSpPr>
              <p:nvPr/>
            </p:nvSpPr>
            <p:spPr bwMode="auto">
              <a:xfrm>
                <a:off x="5546" y="4181"/>
                <a:ext cx="49"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latinLnBrk="0" hangingPunct="1"/>
                <a:r>
                  <a:rPr kumimoji="0" lang="en-US" altLang="zh-CN" sz="500">
                    <a:solidFill>
                      <a:srgbClr val="000000"/>
                    </a:solidFill>
                    <a:latin typeface="Times New Roman" panose="02020603050405020304" pitchFamily="18" charset="0"/>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grpSp>
      </p:grpSp>
    </p:spTree>
    <p:extLst>
      <p:ext uri="{BB962C8B-B14F-4D97-AF65-F5344CB8AC3E}">
        <p14:creationId xmlns:p14="http://schemas.microsoft.com/office/powerpoint/2010/main" val="23117972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a:extLst>
              <a:ext uri="{FF2B5EF4-FFF2-40B4-BE49-F238E27FC236}">
                <a16:creationId xmlns:a16="http://schemas.microsoft.com/office/drawing/2014/main" id="{9B56055C-0B4C-453E-9569-DAEF57265201}"/>
              </a:ext>
            </a:extLst>
          </p:cNvPr>
          <p:cNvGraphicFramePr>
            <a:graphicFrameLocks noChangeAspect="1"/>
          </p:cNvGraphicFramePr>
          <p:nvPr>
            <p:extLst>
              <p:ext uri="{D42A27DB-BD31-4B8C-83A1-F6EECF244321}">
                <p14:modId xmlns:p14="http://schemas.microsoft.com/office/powerpoint/2010/main" val="105376814"/>
              </p:ext>
            </p:extLst>
          </p:nvPr>
        </p:nvGraphicFramePr>
        <p:xfrm>
          <a:off x="1638351" y="1988592"/>
          <a:ext cx="2363788" cy="2316162"/>
        </p:xfrm>
        <a:graphic>
          <a:graphicData uri="http://schemas.openxmlformats.org/presentationml/2006/ole">
            <mc:AlternateContent xmlns:mc="http://schemas.openxmlformats.org/markup-compatibility/2006">
              <mc:Choice xmlns:v="urn:schemas-microsoft-com:vml" Requires="v">
                <p:oleObj spid="_x0000_s111090" name="Visio" r:id="rId3" imgW="2580115" imgH="2527253" progId="Visio.Drawing.11">
                  <p:embed/>
                </p:oleObj>
              </mc:Choice>
              <mc:Fallback>
                <p:oleObj name="Visio" r:id="rId3" imgW="2580115" imgH="2527253" progId="Visio.Drawing.11">
                  <p:embed/>
                  <p:pic>
                    <p:nvPicPr>
                      <p:cNvPr id="530435" name="Object 3">
                        <a:extLst>
                          <a:ext uri="{FF2B5EF4-FFF2-40B4-BE49-F238E27FC236}">
                            <a16:creationId xmlns:a16="http://schemas.microsoft.com/office/drawing/2014/main" id="{1AA511C0-B6FF-49FC-9F2E-C7A4CD6F0CE1}"/>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8351" y="1988592"/>
                        <a:ext cx="2363788" cy="231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4">
            <a:extLst>
              <a:ext uri="{FF2B5EF4-FFF2-40B4-BE49-F238E27FC236}">
                <a16:creationId xmlns:a16="http://schemas.microsoft.com/office/drawing/2014/main" id="{52B026D4-B93D-4E83-83A6-28AD376AF378}"/>
              </a:ext>
            </a:extLst>
          </p:cNvPr>
          <p:cNvSpPr>
            <a:spLocks noChangeArrowheads="1"/>
          </p:cNvSpPr>
          <p:nvPr/>
        </p:nvSpPr>
        <p:spPr bwMode="auto">
          <a:xfrm>
            <a:off x="323528" y="705828"/>
            <a:ext cx="55996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b="1" dirty="0">
                <a:solidFill>
                  <a:srgbClr val="FF0000"/>
                </a:solidFill>
              </a:rPr>
              <a:t>突变结与线性缓变结 （两种计算模型）</a:t>
            </a:r>
          </a:p>
        </p:txBody>
      </p:sp>
      <p:sp>
        <p:nvSpPr>
          <p:cNvPr id="4" name="Rectangle 5">
            <a:extLst>
              <a:ext uri="{FF2B5EF4-FFF2-40B4-BE49-F238E27FC236}">
                <a16:creationId xmlns:a16="http://schemas.microsoft.com/office/drawing/2014/main" id="{CBF339DB-304A-44E4-A6FD-3B85562C9C54}"/>
              </a:ext>
            </a:extLst>
          </p:cNvPr>
          <p:cNvSpPr>
            <a:spLocks noChangeArrowheads="1"/>
          </p:cNvSpPr>
          <p:nvPr/>
        </p:nvSpPr>
        <p:spPr bwMode="auto">
          <a:xfrm>
            <a:off x="703314" y="1483767"/>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b="1"/>
              <a:t> </a:t>
            </a:r>
            <a:r>
              <a:rPr kumimoji="0" lang="en-US" altLang="zh-CN" b="1"/>
              <a:t>1)</a:t>
            </a:r>
            <a:r>
              <a:rPr lang="zh-CN" altLang="en-US" b="1">
                <a:solidFill>
                  <a:srgbClr val="000066"/>
                </a:solidFill>
              </a:rPr>
              <a:t>突变结：</a:t>
            </a:r>
            <a:r>
              <a:rPr lang="zh-CN" altLang="en-US" b="1"/>
              <a:t> </a:t>
            </a:r>
          </a:p>
        </p:txBody>
      </p:sp>
      <p:graphicFrame>
        <p:nvGraphicFramePr>
          <p:cNvPr id="5" name="Object 3">
            <a:extLst>
              <a:ext uri="{FF2B5EF4-FFF2-40B4-BE49-F238E27FC236}">
                <a16:creationId xmlns:a16="http://schemas.microsoft.com/office/drawing/2014/main" id="{3EDB1D4A-E01F-43D7-965D-1E55115B3F9A}"/>
              </a:ext>
            </a:extLst>
          </p:cNvPr>
          <p:cNvGraphicFramePr>
            <a:graphicFrameLocks noChangeAspect="1"/>
          </p:cNvGraphicFramePr>
          <p:nvPr>
            <p:extLst>
              <p:ext uri="{D42A27DB-BD31-4B8C-83A1-F6EECF244321}">
                <p14:modId xmlns:p14="http://schemas.microsoft.com/office/powerpoint/2010/main" val="1426105520"/>
              </p:ext>
            </p:extLst>
          </p:nvPr>
        </p:nvGraphicFramePr>
        <p:xfrm>
          <a:off x="6075414" y="4365079"/>
          <a:ext cx="3116262" cy="946150"/>
        </p:xfrm>
        <a:graphic>
          <a:graphicData uri="http://schemas.openxmlformats.org/presentationml/2006/ole">
            <mc:AlternateContent xmlns:mc="http://schemas.openxmlformats.org/markup-compatibility/2006">
              <mc:Choice xmlns:v="urn:schemas-microsoft-com:vml" Requires="v">
                <p:oleObj spid="_x0000_s111091" name="Equation" r:id="rId5" imgW="1397000" imgH="457200" progId="Equation.DSMT4">
                  <p:embed/>
                </p:oleObj>
              </mc:Choice>
              <mc:Fallback>
                <p:oleObj name="Equation" r:id="rId5" imgW="1397000" imgH="457200" progId="Equation.DSMT4">
                  <p:embed/>
                  <p:pic>
                    <p:nvPicPr>
                      <p:cNvPr id="530438" name="Object 3">
                        <a:extLst>
                          <a:ext uri="{FF2B5EF4-FFF2-40B4-BE49-F238E27FC236}">
                            <a16:creationId xmlns:a16="http://schemas.microsoft.com/office/drawing/2014/main" id="{5FCE0681-961D-4C8B-98E6-37786F3A54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5414" y="4365079"/>
                        <a:ext cx="31162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7">
            <a:extLst>
              <a:ext uri="{FF2B5EF4-FFF2-40B4-BE49-F238E27FC236}">
                <a16:creationId xmlns:a16="http://schemas.microsoft.com/office/drawing/2014/main" id="{C81FF25D-E492-426F-AB36-ABA63E075FA0}"/>
              </a:ext>
            </a:extLst>
          </p:cNvPr>
          <p:cNvSpPr>
            <a:spLocks noChangeArrowheads="1"/>
          </p:cNvSpPr>
          <p:nvPr/>
        </p:nvSpPr>
        <p:spPr bwMode="auto">
          <a:xfrm>
            <a:off x="2430514" y="1556792"/>
            <a:ext cx="3240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en-US" altLang="zh-CN" sz="2000" b="1">
                <a:solidFill>
                  <a:srgbClr val="16165D"/>
                </a:solidFill>
              </a:rPr>
              <a:t>P</a:t>
            </a:r>
            <a:r>
              <a:rPr kumimoji="0" lang="zh-CN" altLang="en-US" sz="2000" b="1">
                <a:solidFill>
                  <a:srgbClr val="16165D"/>
                </a:solidFill>
              </a:rPr>
              <a:t>区和</a:t>
            </a:r>
            <a:r>
              <a:rPr kumimoji="0" lang="en-US" altLang="zh-CN" sz="2000" b="1">
                <a:solidFill>
                  <a:srgbClr val="16165D"/>
                </a:solidFill>
              </a:rPr>
              <a:t>N</a:t>
            </a:r>
            <a:r>
              <a:rPr kumimoji="0" lang="zh-CN" altLang="en-US" sz="2000" b="1">
                <a:solidFill>
                  <a:srgbClr val="16165D"/>
                </a:solidFill>
              </a:rPr>
              <a:t>区杂质过渡陡峭</a:t>
            </a:r>
          </a:p>
        </p:txBody>
      </p:sp>
      <p:sp>
        <p:nvSpPr>
          <p:cNvPr id="7" name="Rectangle 8">
            <a:extLst>
              <a:ext uri="{FF2B5EF4-FFF2-40B4-BE49-F238E27FC236}">
                <a16:creationId xmlns:a16="http://schemas.microsoft.com/office/drawing/2014/main" id="{8956EDD4-24BA-481D-91EA-7C2D400683C3}"/>
              </a:ext>
            </a:extLst>
          </p:cNvPr>
          <p:cNvSpPr>
            <a:spLocks noChangeArrowheads="1"/>
          </p:cNvSpPr>
          <p:nvPr/>
        </p:nvSpPr>
        <p:spPr bwMode="auto">
          <a:xfrm>
            <a:off x="19101" y="5444579"/>
            <a:ext cx="802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单边突变结（一侧的杂质浓度远远大于另一侧的质浓度的突变结）</a:t>
            </a:r>
          </a:p>
        </p:txBody>
      </p:sp>
      <p:grpSp>
        <p:nvGrpSpPr>
          <p:cNvPr id="8" name="Group 9">
            <a:extLst>
              <a:ext uri="{FF2B5EF4-FFF2-40B4-BE49-F238E27FC236}">
                <a16:creationId xmlns:a16="http://schemas.microsoft.com/office/drawing/2014/main" id="{3EA19055-0C5D-41E3-B49C-0F5544FD9099}"/>
              </a:ext>
            </a:extLst>
          </p:cNvPr>
          <p:cNvGrpSpPr>
            <a:grpSpLocks/>
          </p:cNvGrpSpPr>
          <p:nvPr/>
        </p:nvGrpSpPr>
        <p:grpSpPr bwMode="auto">
          <a:xfrm>
            <a:off x="6030964" y="2204492"/>
            <a:ext cx="2427287" cy="2093912"/>
            <a:chOff x="3696" y="329"/>
            <a:chExt cx="1756" cy="1591"/>
          </a:xfrm>
        </p:grpSpPr>
        <p:sp>
          <p:nvSpPr>
            <p:cNvPr id="9" name="Line 10">
              <a:extLst>
                <a:ext uri="{FF2B5EF4-FFF2-40B4-BE49-F238E27FC236}">
                  <a16:creationId xmlns:a16="http://schemas.microsoft.com/office/drawing/2014/main" id="{A3EE3895-C4DF-47C3-AD2D-7C014354AD89}"/>
                </a:ext>
              </a:extLst>
            </p:cNvPr>
            <p:cNvSpPr>
              <a:spLocks noChangeShapeType="1"/>
            </p:cNvSpPr>
            <p:nvPr/>
          </p:nvSpPr>
          <p:spPr bwMode="auto">
            <a:xfrm flipV="1">
              <a:off x="3696" y="1248"/>
              <a:ext cx="1536" cy="0"/>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 name="Line 11">
              <a:extLst>
                <a:ext uri="{FF2B5EF4-FFF2-40B4-BE49-F238E27FC236}">
                  <a16:creationId xmlns:a16="http://schemas.microsoft.com/office/drawing/2014/main" id="{62C4B513-FF14-484C-A49B-1A339ADCB74D}"/>
                </a:ext>
              </a:extLst>
            </p:cNvPr>
            <p:cNvSpPr>
              <a:spLocks noChangeShapeType="1"/>
            </p:cNvSpPr>
            <p:nvPr/>
          </p:nvSpPr>
          <p:spPr bwMode="auto">
            <a:xfrm flipV="1">
              <a:off x="4464" y="480"/>
              <a:ext cx="0" cy="1440"/>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Line 12">
              <a:extLst>
                <a:ext uri="{FF2B5EF4-FFF2-40B4-BE49-F238E27FC236}">
                  <a16:creationId xmlns:a16="http://schemas.microsoft.com/office/drawing/2014/main" id="{393EC4FC-6683-4A9B-9A04-2E5D515330F9}"/>
                </a:ext>
              </a:extLst>
            </p:cNvPr>
            <p:cNvSpPr>
              <a:spLocks noChangeShapeType="1"/>
            </p:cNvSpPr>
            <p:nvPr/>
          </p:nvSpPr>
          <p:spPr bwMode="auto">
            <a:xfrm>
              <a:off x="4464" y="864"/>
              <a:ext cx="6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3">
              <a:extLst>
                <a:ext uri="{FF2B5EF4-FFF2-40B4-BE49-F238E27FC236}">
                  <a16:creationId xmlns:a16="http://schemas.microsoft.com/office/drawing/2014/main" id="{681268CF-961D-413C-92A0-EF161B7F2913}"/>
                </a:ext>
              </a:extLst>
            </p:cNvPr>
            <p:cNvSpPr>
              <a:spLocks noChangeShapeType="1"/>
            </p:cNvSpPr>
            <p:nvPr/>
          </p:nvSpPr>
          <p:spPr bwMode="auto">
            <a:xfrm>
              <a:off x="3744" y="1680"/>
              <a:ext cx="72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 name="Object 14">
              <a:extLst>
                <a:ext uri="{FF2B5EF4-FFF2-40B4-BE49-F238E27FC236}">
                  <a16:creationId xmlns:a16="http://schemas.microsoft.com/office/drawing/2014/main" id="{4D432958-AF1F-406F-BE7E-50CB3C8A40F4}"/>
                </a:ext>
              </a:extLst>
            </p:cNvPr>
            <p:cNvGraphicFramePr>
              <a:graphicFrameLocks noChangeAspect="1"/>
            </p:cNvGraphicFramePr>
            <p:nvPr/>
          </p:nvGraphicFramePr>
          <p:xfrm>
            <a:off x="4533" y="329"/>
            <a:ext cx="637" cy="262"/>
          </p:xfrm>
          <a:graphic>
            <a:graphicData uri="http://schemas.openxmlformats.org/presentationml/2006/ole">
              <mc:AlternateContent xmlns:mc="http://schemas.openxmlformats.org/markup-compatibility/2006">
                <mc:Choice xmlns:v="urn:schemas-microsoft-com:vml" Requires="v">
                  <p:oleObj spid="_x0000_s111092" name="Equation" r:id="rId7" imgW="558800" imgH="228600" progId="Equation.DSMT4">
                    <p:embed/>
                  </p:oleObj>
                </mc:Choice>
                <mc:Fallback>
                  <p:oleObj name="Equation" r:id="rId7" imgW="558800" imgH="228600" progId="Equation.DSMT4">
                    <p:embed/>
                    <p:pic>
                      <p:nvPicPr>
                        <p:cNvPr id="8207" name="Object 14">
                          <a:extLst>
                            <a:ext uri="{FF2B5EF4-FFF2-40B4-BE49-F238E27FC236}">
                              <a16:creationId xmlns:a16="http://schemas.microsoft.com/office/drawing/2014/main" id="{3D95891F-B5B5-4745-9993-D440A3AC871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3" y="329"/>
                          <a:ext cx="63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5">
              <a:extLst>
                <a:ext uri="{FF2B5EF4-FFF2-40B4-BE49-F238E27FC236}">
                  <a16:creationId xmlns:a16="http://schemas.microsoft.com/office/drawing/2014/main" id="{772B17B7-DD3F-47B4-BC69-0286862820D6}"/>
                </a:ext>
              </a:extLst>
            </p:cNvPr>
            <p:cNvGraphicFramePr>
              <a:graphicFrameLocks noChangeAspect="1"/>
            </p:cNvGraphicFramePr>
            <p:nvPr/>
          </p:nvGraphicFramePr>
          <p:xfrm>
            <a:off x="4135" y="713"/>
            <a:ext cx="258" cy="266"/>
          </p:xfrm>
          <a:graphic>
            <a:graphicData uri="http://schemas.openxmlformats.org/presentationml/2006/ole">
              <mc:AlternateContent xmlns:mc="http://schemas.openxmlformats.org/markup-compatibility/2006">
                <mc:Choice xmlns:v="urn:schemas-microsoft-com:vml" Requires="v">
                  <p:oleObj spid="_x0000_s111093" name="Equation" r:id="rId9" imgW="228600" imgH="228600" progId="Equation.DSMT4">
                    <p:embed/>
                  </p:oleObj>
                </mc:Choice>
                <mc:Fallback>
                  <p:oleObj name="Equation" r:id="rId9" imgW="228600" imgH="228600" progId="Equation.DSMT4">
                    <p:embed/>
                    <p:pic>
                      <p:nvPicPr>
                        <p:cNvPr id="8208" name="Object 15">
                          <a:extLst>
                            <a:ext uri="{FF2B5EF4-FFF2-40B4-BE49-F238E27FC236}">
                              <a16:creationId xmlns:a16="http://schemas.microsoft.com/office/drawing/2014/main" id="{05A002B0-BB55-4D5C-A913-BAF124432B1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35" y="713"/>
                          <a:ext cx="25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6">
              <a:extLst>
                <a:ext uri="{FF2B5EF4-FFF2-40B4-BE49-F238E27FC236}">
                  <a16:creationId xmlns:a16="http://schemas.microsoft.com/office/drawing/2014/main" id="{BE244723-41D0-4702-AF77-84C069F7732F}"/>
                </a:ext>
              </a:extLst>
            </p:cNvPr>
            <p:cNvGraphicFramePr>
              <a:graphicFrameLocks noChangeAspect="1"/>
            </p:cNvGraphicFramePr>
            <p:nvPr/>
          </p:nvGraphicFramePr>
          <p:xfrm>
            <a:off x="4526" y="1529"/>
            <a:ext cx="361" cy="264"/>
          </p:xfrm>
          <a:graphic>
            <a:graphicData uri="http://schemas.openxmlformats.org/presentationml/2006/ole">
              <mc:AlternateContent xmlns:mc="http://schemas.openxmlformats.org/markup-compatibility/2006">
                <mc:Choice xmlns:v="urn:schemas-microsoft-com:vml" Requires="v">
                  <p:oleObj spid="_x0000_s111094" name="Equation" r:id="rId11" imgW="317362" imgH="228501" progId="Equation.DSMT4">
                    <p:embed/>
                  </p:oleObj>
                </mc:Choice>
                <mc:Fallback>
                  <p:oleObj name="Equation" r:id="rId11" imgW="317362" imgH="228501" progId="Equation.DSMT4">
                    <p:embed/>
                    <p:pic>
                      <p:nvPicPr>
                        <p:cNvPr id="8209" name="Object 16">
                          <a:extLst>
                            <a:ext uri="{FF2B5EF4-FFF2-40B4-BE49-F238E27FC236}">
                              <a16:creationId xmlns:a16="http://schemas.microsoft.com/office/drawing/2014/main" id="{2A143392-6B9A-4421-901E-440613802BA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26" y="1529"/>
                          <a:ext cx="361"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7">
              <a:extLst>
                <a:ext uri="{FF2B5EF4-FFF2-40B4-BE49-F238E27FC236}">
                  <a16:creationId xmlns:a16="http://schemas.microsoft.com/office/drawing/2014/main" id="{913EB937-CE95-420D-A4E1-2133E71E40B9}"/>
                </a:ext>
              </a:extLst>
            </p:cNvPr>
            <p:cNvGraphicFramePr>
              <a:graphicFrameLocks noChangeAspect="1"/>
            </p:cNvGraphicFramePr>
            <p:nvPr/>
          </p:nvGraphicFramePr>
          <p:xfrm>
            <a:off x="5280" y="1152"/>
            <a:ext cx="172" cy="199"/>
          </p:xfrm>
          <a:graphic>
            <a:graphicData uri="http://schemas.openxmlformats.org/presentationml/2006/ole">
              <mc:AlternateContent xmlns:mc="http://schemas.openxmlformats.org/markup-compatibility/2006">
                <mc:Choice xmlns:v="urn:schemas-microsoft-com:vml" Requires="v">
                  <p:oleObj spid="_x0000_s111095" r:id="rId13" imgW="126835" imgH="139518" progId="Equation.3">
                    <p:embed/>
                  </p:oleObj>
                </mc:Choice>
                <mc:Fallback>
                  <p:oleObj r:id="rId13" imgW="126835" imgH="139518" progId="Equation.3">
                    <p:embed/>
                    <p:pic>
                      <p:nvPicPr>
                        <p:cNvPr id="8210" name="Object 17">
                          <a:extLst>
                            <a:ext uri="{FF2B5EF4-FFF2-40B4-BE49-F238E27FC236}">
                              <a16:creationId xmlns:a16="http://schemas.microsoft.com/office/drawing/2014/main" id="{65A75AAF-C91D-43F4-ADF7-AC654F74E50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80" y="1152"/>
                          <a:ext cx="17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8">
              <a:extLst>
                <a:ext uri="{FF2B5EF4-FFF2-40B4-BE49-F238E27FC236}">
                  <a16:creationId xmlns:a16="http://schemas.microsoft.com/office/drawing/2014/main" id="{806CB1C1-EBDD-43D0-AE06-6D4FF79480BC}"/>
                </a:ext>
              </a:extLst>
            </p:cNvPr>
            <p:cNvGraphicFramePr>
              <a:graphicFrameLocks noChangeAspect="1"/>
            </p:cNvGraphicFramePr>
            <p:nvPr/>
          </p:nvGraphicFramePr>
          <p:xfrm>
            <a:off x="4512" y="1248"/>
            <a:ext cx="141" cy="205"/>
          </p:xfrm>
          <a:graphic>
            <a:graphicData uri="http://schemas.openxmlformats.org/presentationml/2006/ole">
              <mc:AlternateContent xmlns:mc="http://schemas.openxmlformats.org/markup-compatibility/2006">
                <mc:Choice xmlns:v="urn:schemas-microsoft-com:vml" Requires="v">
                  <p:oleObj spid="_x0000_s111096" r:id="rId15" imgW="126725" imgH="177415" progId="Equation.3">
                    <p:embed/>
                  </p:oleObj>
                </mc:Choice>
                <mc:Fallback>
                  <p:oleObj r:id="rId15" imgW="126725" imgH="177415" progId="Equation.3">
                    <p:embed/>
                    <p:pic>
                      <p:nvPicPr>
                        <p:cNvPr id="8211" name="Object 18">
                          <a:extLst>
                            <a:ext uri="{FF2B5EF4-FFF2-40B4-BE49-F238E27FC236}">
                              <a16:creationId xmlns:a16="http://schemas.microsoft.com/office/drawing/2014/main" id="{5ADF64DC-53FE-4651-A3A1-0FA226B2A2B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12" y="1248"/>
                          <a:ext cx="141"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8" name="Object 19">
            <a:extLst>
              <a:ext uri="{FF2B5EF4-FFF2-40B4-BE49-F238E27FC236}">
                <a16:creationId xmlns:a16="http://schemas.microsoft.com/office/drawing/2014/main" id="{B177299F-F896-4433-B493-92ABCC7AB65D}"/>
              </a:ext>
            </a:extLst>
          </p:cNvPr>
          <p:cNvGraphicFramePr>
            <a:graphicFrameLocks noChangeAspect="1"/>
          </p:cNvGraphicFramePr>
          <p:nvPr>
            <p:extLst>
              <p:ext uri="{D42A27DB-BD31-4B8C-83A1-F6EECF244321}">
                <p14:modId xmlns:p14="http://schemas.microsoft.com/office/powerpoint/2010/main" val="358208494"/>
              </p:ext>
            </p:extLst>
          </p:nvPr>
        </p:nvGraphicFramePr>
        <p:xfrm>
          <a:off x="1422451" y="4514304"/>
          <a:ext cx="2668588" cy="889000"/>
        </p:xfrm>
        <a:graphic>
          <a:graphicData uri="http://schemas.openxmlformats.org/presentationml/2006/ole">
            <mc:AlternateContent xmlns:mc="http://schemas.openxmlformats.org/markup-compatibility/2006">
              <mc:Choice xmlns:v="urn:schemas-microsoft-com:vml" Requires="v">
                <p:oleObj spid="_x0000_s111097" name="Equation" r:id="rId17" imgW="1447172" imgH="482391" progId="Equation.DSMT4">
                  <p:embed/>
                </p:oleObj>
              </mc:Choice>
              <mc:Fallback>
                <p:oleObj name="Equation" r:id="rId17" imgW="1447172" imgH="482391" progId="Equation.DSMT4">
                  <p:embed/>
                  <p:pic>
                    <p:nvPicPr>
                      <p:cNvPr id="530451" name="Object 19">
                        <a:extLst>
                          <a:ext uri="{FF2B5EF4-FFF2-40B4-BE49-F238E27FC236}">
                            <a16:creationId xmlns:a16="http://schemas.microsoft.com/office/drawing/2014/main" id="{044B33EA-BBEE-4B4F-9D22-58335233625F}"/>
                          </a:ext>
                        </a:extLst>
                      </p:cNvPr>
                      <p:cNvPicPr>
                        <a:picLocks noGrp="1"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22451" y="4514304"/>
                        <a:ext cx="2668588"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57944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par>
                                <p:cTn id="23" presetID="3" presetClass="entr" presetSubtype="1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linds(horizontal)">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linds(horizontal)">
                                      <p:cBhvr>
                                        <p:cTn id="30" dur="500"/>
                                        <p:tgtEl>
                                          <p:spTgt spid="8"/>
                                        </p:tgtEl>
                                      </p:cBhvr>
                                    </p:animEffect>
                                  </p:childTnLst>
                                </p:cTn>
                              </p:par>
                              <p:par>
                                <p:cTn id="31" presetID="3" presetClass="entr" presetSubtype="1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blinds(horizontal)">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linds(horizontal)">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6">
            <a:extLst>
              <a:ext uri="{FF2B5EF4-FFF2-40B4-BE49-F238E27FC236}">
                <a16:creationId xmlns:a16="http://schemas.microsoft.com/office/drawing/2014/main" id="{89B77A60-EF46-44FF-883B-42E50C0972CF}"/>
              </a:ext>
            </a:extLst>
          </p:cNvPr>
          <p:cNvGraphicFramePr>
            <a:graphicFrameLocks noChangeAspect="1"/>
          </p:cNvGraphicFramePr>
          <p:nvPr/>
        </p:nvGraphicFramePr>
        <p:xfrm>
          <a:off x="971550" y="2492375"/>
          <a:ext cx="2689225" cy="2809875"/>
        </p:xfrm>
        <a:graphic>
          <a:graphicData uri="http://schemas.openxmlformats.org/presentationml/2006/ole">
            <mc:AlternateContent xmlns:mc="http://schemas.openxmlformats.org/markup-compatibility/2006">
              <mc:Choice xmlns:v="urn:schemas-microsoft-com:vml" Requires="v">
                <p:oleObj spid="_x0000_s112052" name="Visio" r:id="rId3" imgW="2690338" imgH="2810683" progId="">
                  <p:embed/>
                </p:oleObj>
              </mc:Choice>
              <mc:Fallback>
                <p:oleObj name="Visio" r:id="rId3" imgW="2690338" imgH="2810683" progId="">
                  <p:embed/>
                  <p:pic>
                    <p:nvPicPr>
                      <p:cNvPr id="531459" name="Object 6">
                        <a:extLst>
                          <a:ext uri="{FF2B5EF4-FFF2-40B4-BE49-F238E27FC236}">
                            <a16:creationId xmlns:a16="http://schemas.microsoft.com/office/drawing/2014/main" id="{D3D75ECE-9DFB-4427-9396-6E0F53AB3FA0}"/>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492375"/>
                        <a:ext cx="2689225"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5">
            <a:extLst>
              <a:ext uri="{FF2B5EF4-FFF2-40B4-BE49-F238E27FC236}">
                <a16:creationId xmlns:a16="http://schemas.microsoft.com/office/drawing/2014/main" id="{D2B8875D-F024-4232-B22A-6959EE7ADF5A}"/>
              </a:ext>
            </a:extLst>
          </p:cNvPr>
          <p:cNvSpPr>
            <a:spLocks noChangeArrowheads="1"/>
          </p:cNvSpPr>
          <p:nvPr/>
        </p:nvSpPr>
        <p:spPr bwMode="auto">
          <a:xfrm>
            <a:off x="684213" y="1916113"/>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b="1"/>
              <a:t> </a:t>
            </a:r>
            <a:r>
              <a:rPr kumimoji="0" lang="en-US" altLang="zh-CN" b="1"/>
              <a:t>2)</a:t>
            </a:r>
            <a:r>
              <a:rPr lang="zh-CN" altLang="en-US" b="1">
                <a:solidFill>
                  <a:srgbClr val="000066"/>
                </a:solidFill>
              </a:rPr>
              <a:t>线性缓变结：</a:t>
            </a:r>
            <a:r>
              <a:rPr lang="zh-CN" altLang="en-US" b="1"/>
              <a:t> </a:t>
            </a:r>
          </a:p>
        </p:txBody>
      </p:sp>
      <p:sp>
        <p:nvSpPr>
          <p:cNvPr id="4" name="Rectangle 6">
            <a:extLst>
              <a:ext uri="{FF2B5EF4-FFF2-40B4-BE49-F238E27FC236}">
                <a16:creationId xmlns:a16="http://schemas.microsoft.com/office/drawing/2014/main" id="{FE10C259-44C9-4218-BBFF-87E38DBF7A6E}"/>
              </a:ext>
            </a:extLst>
          </p:cNvPr>
          <p:cNvSpPr>
            <a:spLocks noChangeArrowheads="1"/>
          </p:cNvSpPr>
          <p:nvPr/>
        </p:nvSpPr>
        <p:spPr bwMode="auto">
          <a:xfrm>
            <a:off x="971550" y="5300663"/>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dirty="0">
                <a:solidFill>
                  <a:srgbClr val="000066"/>
                </a:solidFill>
              </a:rPr>
              <a:t>在线性区：</a:t>
            </a:r>
          </a:p>
        </p:txBody>
      </p:sp>
      <p:graphicFrame>
        <p:nvGraphicFramePr>
          <p:cNvPr id="5" name="Object 7">
            <a:extLst>
              <a:ext uri="{FF2B5EF4-FFF2-40B4-BE49-F238E27FC236}">
                <a16:creationId xmlns:a16="http://schemas.microsoft.com/office/drawing/2014/main" id="{D6564E7F-0C8E-4890-92A3-FDA84D6C724E}"/>
              </a:ext>
            </a:extLst>
          </p:cNvPr>
          <p:cNvGraphicFramePr>
            <a:graphicFrameLocks noChangeAspect="1"/>
          </p:cNvGraphicFramePr>
          <p:nvPr>
            <p:extLst>
              <p:ext uri="{D42A27DB-BD31-4B8C-83A1-F6EECF244321}">
                <p14:modId xmlns:p14="http://schemas.microsoft.com/office/powerpoint/2010/main" val="1717621418"/>
              </p:ext>
            </p:extLst>
          </p:nvPr>
        </p:nvGraphicFramePr>
        <p:xfrm>
          <a:off x="2531770" y="5259388"/>
          <a:ext cx="2544763" cy="544512"/>
        </p:xfrm>
        <a:graphic>
          <a:graphicData uri="http://schemas.openxmlformats.org/presentationml/2006/ole">
            <mc:AlternateContent xmlns:mc="http://schemas.openxmlformats.org/markup-compatibility/2006">
              <mc:Choice xmlns:v="urn:schemas-microsoft-com:vml" Requires="v">
                <p:oleObj spid="_x0000_s112053" name="Equation" r:id="rId5" imgW="1129810" imgH="241195" progId="Equation.DSMT4">
                  <p:embed/>
                </p:oleObj>
              </mc:Choice>
              <mc:Fallback>
                <p:oleObj name="Equation" r:id="rId5" imgW="1129810" imgH="241195" progId="Equation.DSMT4">
                  <p:embed/>
                  <p:pic>
                    <p:nvPicPr>
                      <p:cNvPr id="531463" name="Object 7">
                        <a:extLst>
                          <a:ext uri="{FF2B5EF4-FFF2-40B4-BE49-F238E27FC236}">
                            <a16:creationId xmlns:a16="http://schemas.microsoft.com/office/drawing/2014/main" id="{64EDEFDB-603F-403E-90C2-2731B0F515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1770" y="5259388"/>
                        <a:ext cx="2544763"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8">
            <a:extLst>
              <a:ext uri="{FF2B5EF4-FFF2-40B4-BE49-F238E27FC236}">
                <a16:creationId xmlns:a16="http://schemas.microsoft.com/office/drawing/2014/main" id="{9A878423-2696-40A2-A371-2F51B579A2D3}"/>
              </a:ext>
            </a:extLst>
          </p:cNvPr>
          <p:cNvSpPr>
            <a:spLocks noChangeArrowheads="1"/>
          </p:cNvSpPr>
          <p:nvPr/>
        </p:nvSpPr>
        <p:spPr bwMode="auto">
          <a:xfrm>
            <a:off x="3276600" y="1989138"/>
            <a:ext cx="325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两区之间杂质过渡是渐变的</a:t>
            </a:r>
          </a:p>
        </p:txBody>
      </p:sp>
      <p:grpSp>
        <p:nvGrpSpPr>
          <p:cNvPr id="7" name="Group 9">
            <a:extLst>
              <a:ext uri="{FF2B5EF4-FFF2-40B4-BE49-F238E27FC236}">
                <a16:creationId xmlns:a16="http://schemas.microsoft.com/office/drawing/2014/main" id="{7339DFF1-5772-424C-9A2D-2492B8BAC2CF}"/>
              </a:ext>
            </a:extLst>
          </p:cNvPr>
          <p:cNvGrpSpPr>
            <a:grpSpLocks/>
          </p:cNvGrpSpPr>
          <p:nvPr/>
        </p:nvGrpSpPr>
        <p:grpSpPr bwMode="auto">
          <a:xfrm>
            <a:off x="6516688" y="2708275"/>
            <a:ext cx="2355850" cy="2093913"/>
            <a:chOff x="4004" y="1238"/>
            <a:chExt cx="1756" cy="1591"/>
          </a:xfrm>
        </p:grpSpPr>
        <p:sp>
          <p:nvSpPr>
            <p:cNvPr id="8" name="Line 10">
              <a:extLst>
                <a:ext uri="{FF2B5EF4-FFF2-40B4-BE49-F238E27FC236}">
                  <a16:creationId xmlns:a16="http://schemas.microsoft.com/office/drawing/2014/main" id="{5031BB34-652D-465D-92D0-133637F248F5}"/>
                </a:ext>
              </a:extLst>
            </p:cNvPr>
            <p:cNvSpPr>
              <a:spLocks noChangeShapeType="1"/>
            </p:cNvSpPr>
            <p:nvPr/>
          </p:nvSpPr>
          <p:spPr bwMode="auto">
            <a:xfrm>
              <a:off x="4004" y="2109"/>
              <a:ext cx="1536" cy="0"/>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 name="Line 11">
              <a:extLst>
                <a:ext uri="{FF2B5EF4-FFF2-40B4-BE49-F238E27FC236}">
                  <a16:creationId xmlns:a16="http://schemas.microsoft.com/office/drawing/2014/main" id="{33775E5F-0DA7-453A-9C32-8E3701DA7DC0}"/>
                </a:ext>
              </a:extLst>
            </p:cNvPr>
            <p:cNvSpPr>
              <a:spLocks noChangeShapeType="1"/>
            </p:cNvSpPr>
            <p:nvPr/>
          </p:nvSpPr>
          <p:spPr bwMode="auto">
            <a:xfrm flipV="1">
              <a:off x="4771" y="1389"/>
              <a:ext cx="0" cy="1440"/>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 name="Line 12">
              <a:extLst>
                <a:ext uri="{FF2B5EF4-FFF2-40B4-BE49-F238E27FC236}">
                  <a16:creationId xmlns:a16="http://schemas.microsoft.com/office/drawing/2014/main" id="{0F704FCE-652C-4DD9-99C0-EFCC3D78D9CB}"/>
                </a:ext>
              </a:extLst>
            </p:cNvPr>
            <p:cNvSpPr>
              <a:spLocks noChangeShapeType="1"/>
            </p:cNvSpPr>
            <p:nvPr/>
          </p:nvSpPr>
          <p:spPr bwMode="auto">
            <a:xfrm flipV="1">
              <a:off x="4377" y="1706"/>
              <a:ext cx="816" cy="7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1" name="Object 13">
              <a:extLst>
                <a:ext uri="{FF2B5EF4-FFF2-40B4-BE49-F238E27FC236}">
                  <a16:creationId xmlns:a16="http://schemas.microsoft.com/office/drawing/2014/main" id="{35EA523C-C57C-4570-8F6F-37223803A7F5}"/>
                </a:ext>
              </a:extLst>
            </p:cNvPr>
            <p:cNvGraphicFramePr>
              <a:graphicFrameLocks noChangeAspect="1"/>
            </p:cNvGraphicFramePr>
            <p:nvPr/>
          </p:nvGraphicFramePr>
          <p:xfrm>
            <a:off x="4841" y="1238"/>
            <a:ext cx="637" cy="264"/>
          </p:xfrm>
          <a:graphic>
            <a:graphicData uri="http://schemas.openxmlformats.org/presentationml/2006/ole">
              <mc:AlternateContent xmlns:mc="http://schemas.openxmlformats.org/markup-compatibility/2006">
                <mc:Choice xmlns:v="urn:schemas-microsoft-com:vml" Requires="v">
                  <p:oleObj spid="_x0000_s112054" name="Equation" r:id="rId7" imgW="558800" imgH="228600" progId="Equation.DSMT4">
                    <p:embed/>
                  </p:oleObj>
                </mc:Choice>
                <mc:Fallback>
                  <p:oleObj name="Equation" r:id="rId7" imgW="558800" imgH="228600" progId="Equation.DSMT4">
                    <p:embed/>
                    <p:pic>
                      <p:nvPicPr>
                        <p:cNvPr id="9231" name="Object 13">
                          <a:extLst>
                            <a:ext uri="{FF2B5EF4-FFF2-40B4-BE49-F238E27FC236}">
                              <a16:creationId xmlns:a16="http://schemas.microsoft.com/office/drawing/2014/main" id="{6B2E192D-5B24-459A-A49E-8A514E8036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1" y="1238"/>
                          <a:ext cx="63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4">
              <a:extLst>
                <a:ext uri="{FF2B5EF4-FFF2-40B4-BE49-F238E27FC236}">
                  <a16:creationId xmlns:a16="http://schemas.microsoft.com/office/drawing/2014/main" id="{C02A383E-EEAF-40BE-BC68-C3CE95F52D16}"/>
                </a:ext>
              </a:extLst>
            </p:cNvPr>
            <p:cNvGraphicFramePr>
              <a:graphicFrameLocks noChangeAspect="1"/>
            </p:cNvGraphicFramePr>
            <p:nvPr/>
          </p:nvGraphicFramePr>
          <p:xfrm>
            <a:off x="5588" y="2013"/>
            <a:ext cx="172" cy="199"/>
          </p:xfrm>
          <a:graphic>
            <a:graphicData uri="http://schemas.openxmlformats.org/presentationml/2006/ole">
              <mc:AlternateContent xmlns:mc="http://schemas.openxmlformats.org/markup-compatibility/2006">
                <mc:Choice xmlns:v="urn:schemas-microsoft-com:vml" Requires="v">
                  <p:oleObj spid="_x0000_s112055" r:id="rId9" imgW="126835" imgH="139518" progId="Equation.3">
                    <p:embed/>
                  </p:oleObj>
                </mc:Choice>
                <mc:Fallback>
                  <p:oleObj r:id="rId9" imgW="126835" imgH="139518" progId="Equation.3">
                    <p:embed/>
                    <p:pic>
                      <p:nvPicPr>
                        <p:cNvPr id="9232" name="Object 14">
                          <a:extLst>
                            <a:ext uri="{FF2B5EF4-FFF2-40B4-BE49-F238E27FC236}">
                              <a16:creationId xmlns:a16="http://schemas.microsoft.com/office/drawing/2014/main" id="{90DAE6A7-1ECD-4E73-A592-EA57E366C0B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88" y="2013"/>
                          <a:ext cx="17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5">
              <a:extLst>
                <a:ext uri="{FF2B5EF4-FFF2-40B4-BE49-F238E27FC236}">
                  <a16:creationId xmlns:a16="http://schemas.microsoft.com/office/drawing/2014/main" id="{930B94E0-24B3-4E17-82FE-60061823B64D}"/>
                </a:ext>
              </a:extLst>
            </p:cNvPr>
            <p:cNvGraphicFramePr>
              <a:graphicFrameLocks noChangeAspect="1"/>
            </p:cNvGraphicFramePr>
            <p:nvPr/>
          </p:nvGraphicFramePr>
          <p:xfrm>
            <a:off x="4820" y="2109"/>
            <a:ext cx="141" cy="205"/>
          </p:xfrm>
          <a:graphic>
            <a:graphicData uri="http://schemas.openxmlformats.org/presentationml/2006/ole">
              <mc:AlternateContent xmlns:mc="http://schemas.openxmlformats.org/markup-compatibility/2006">
                <mc:Choice xmlns:v="urn:schemas-microsoft-com:vml" Requires="v">
                  <p:oleObj spid="_x0000_s112056" r:id="rId11" imgW="126725" imgH="177415" progId="Equation.3">
                    <p:embed/>
                  </p:oleObj>
                </mc:Choice>
                <mc:Fallback>
                  <p:oleObj r:id="rId11" imgW="126725" imgH="177415" progId="Equation.3">
                    <p:embed/>
                    <p:pic>
                      <p:nvPicPr>
                        <p:cNvPr id="9233" name="Object 15">
                          <a:extLst>
                            <a:ext uri="{FF2B5EF4-FFF2-40B4-BE49-F238E27FC236}">
                              <a16:creationId xmlns:a16="http://schemas.microsoft.com/office/drawing/2014/main" id="{F19ED655-8A74-454F-95F5-1F8556DDFB7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20" y="2109"/>
                          <a:ext cx="141"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Line 16">
              <a:extLst>
                <a:ext uri="{FF2B5EF4-FFF2-40B4-BE49-F238E27FC236}">
                  <a16:creationId xmlns:a16="http://schemas.microsoft.com/office/drawing/2014/main" id="{CE2C8FB9-9EEA-42FC-88BA-51D8606419EE}"/>
                </a:ext>
              </a:extLst>
            </p:cNvPr>
            <p:cNvSpPr>
              <a:spLocks noChangeShapeType="1"/>
            </p:cNvSpPr>
            <p:nvPr/>
          </p:nvSpPr>
          <p:spPr bwMode="auto">
            <a:xfrm>
              <a:off x="4014" y="2478"/>
              <a:ext cx="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7">
              <a:extLst>
                <a:ext uri="{FF2B5EF4-FFF2-40B4-BE49-F238E27FC236}">
                  <a16:creationId xmlns:a16="http://schemas.microsoft.com/office/drawing/2014/main" id="{973F65FE-724B-47A7-B1CF-CB4BEF0D75CE}"/>
                </a:ext>
              </a:extLst>
            </p:cNvPr>
            <p:cNvSpPr>
              <a:spLocks noChangeShapeType="1"/>
            </p:cNvSpPr>
            <p:nvPr/>
          </p:nvSpPr>
          <p:spPr bwMode="auto">
            <a:xfrm>
              <a:off x="5193" y="1706"/>
              <a:ext cx="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6" name="Object 18">
            <a:extLst>
              <a:ext uri="{FF2B5EF4-FFF2-40B4-BE49-F238E27FC236}">
                <a16:creationId xmlns:a16="http://schemas.microsoft.com/office/drawing/2014/main" id="{1E938313-801C-4806-B16A-7160C5782402}"/>
              </a:ext>
            </a:extLst>
          </p:cNvPr>
          <p:cNvGraphicFramePr>
            <a:graphicFrameLocks noChangeAspect="1"/>
          </p:cNvGraphicFramePr>
          <p:nvPr/>
        </p:nvGraphicFramePr>
        <p:xfrm>
          <a:off x="3635375" y="2781300"/>
          <a:ext cx="2449513" cy="692150"/>
        </p:xfrm>
        <a:graphic>
          <a:graphicData uri="http://schemas.openxmlformats.org/presentationml/2006/ole">
            <mc:AlternateContent xmlns:mc="http://schemas.openxmlformats.org/markup-compatibility/2006">
              <mc:Choice xmlns:v="urn:schemas-microsoft-com:vml" Requires="v">
                <p:oleObj spid="_x0000_s112057" name="Equation" r:id="rId13" imgW="1485967" imgH="409597" progId="Equation.DSMT4">
                  <p:embed/>
                </p:oleObj>
              </mc:Choice>
              <mc:Fallback>
                <p:oleObj name="Equation" r:id="rId13" imgW="1485967" imgH="409597" progId="Equation.DSMT4">
                  <p:embed/>
                  <p:pic>
                    <p:nvPicPr>
                      <p:cNvPr id="531474" name="Object 18">
                        <a:extLst>
                          <a:ext uri="{FF2B5EF4-FFF2-40B4-BE49-F238E27FC236}">
                            <a16:creationId xmlns:a16="http://schemas.microsoft.com/office/drawing/2014/main" id="{DD3D7EE1-7A65-4CEC-BBFD-1756112D49D1}"/>
                          </a:ext>
                        </a:extLst>
                      </p:cNvPr>
                      <p:cNvPicPr>
                        <a:picLocks noChangeAspect="1" noChangeArrowheads="1"/>
                      </p:cNvPicPr>
                      <p:nvPr/>
                    </p:nvPicPr>
                    <p:blipFill>
                      <a:blip r:embed="rId14">
                        <a:lum bright="-100000"/>
                        <a:extLst>
                          <a:ext uri="{28A0092B-C50C-407E-A947-70E740481C1C}">
                            <a14:useLocalDpi xmlns:a14="http://schemas.microsoft.com/office/drawing/2010/main" val="0"/>
                          </a:ext>
                        </a:extLst>
                      </a:blip>
                      <a:srcRect/>
                      <a:stretch>
                        <a:fillRect/>
                      </a:stretch>
                    </p:blipFill>
                    <p:spPr bwMode="auto">
                      <a:xfrm>
                        <a:off x="3635375" y="2781300"/>
                        <a:ext cx="244951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9">
            <a:extLst>
              <a:ext uri="{FF2B5EF4-FFF2-40B4-BE49-F238E27FC236}">
                <a16:creationId xmlns:a16="http://schemas.microsoft.com/office/drawing/2014/main" id="{AF0FAE16-E6F2-4632-875A-EC8F43095F63}"/>
              </a:ext>
            </a:extLst>
          </p:cNvPr>
          <p:cNvGraphicFramePr>
            <a:graphicFrameLocks noChangeAspect="1"/>
          </p:cNvGraphicFramePr>
          <p:nvPr/>
        </p:nvGraphicFramePr>
        <p:xfrm>
          <a:off x="6877050" y="5300663"/>
          <a:ext cx="1501775" cy="461962"/>
        </p:xfrm>
        <a:graphic>
          <a:graphicData uri="http://schemas.openxmlformats.org/presentationml/2006/ole">
            <mc:AlternateContent xmlns:mc="http://schemas.openxmlformats.org/markup-compatibility/2006">
              <mc:Choice xmlns:v="urn:schemas-microsoft-com:vml" Requires="v">
                <p:oleObj spid="_x0000_s112058" name="Equation" r:id="rId15" imgW="660113" imgH="203112" progId="Equation.DSMT4">
                  <p:embed/>
                </p:oleObj>
              </mc:Choice>
              <mc:Fallback>
                <p:oleObj name="Equation" r:id="rId15" imgW="660113" imgH="203112" progId="Equation.DSMT4">
                  <p:embed/>
                  <p:pic>
                    <p:nvPicPr>
                      <p:cNvPr id="531475" name="Object 19">
                        <a:extLst>
                          <a:ext uri="{FF2B5EF4-FFF2-40B4-BE49-F238E27FC236}">
                            <a16:creationId xmlns:a16="http://schemas.microsoft.com/office/drawing/2014/main" id="{FD54A875-A660-4946-A1D1-2891BE7C90D3}"/>
                          </a:ext>
                        </a:extLst>
                      </p:cNvPr>
                      <p:cNvPicPr>
                        <a:picLocks noGrp="1"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77050" y="5300663"/>
                        <a:ext cx="15017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8707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par>
                                <p:cTn id="19" presetID="3" presetClass="entr" presetSubtype="1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1000" fill="hold"/>
                                        <p:tgtEl>
                                          <p:spTgt spid="16"/>
                                        </p:tgtEl>
                                        <p:attrNameLst>
                                          <p:attrName>ppt_x</p:attrName>
                                        </p:attrNameLst>
                                      </p:cBhvr>
                                      <p:tavLst>
                                        <p:tav tm="0">
                                          <p:val>
                                            <p:strVal val="0-#ppt_w/2"/>
                                          </p:val>
                                        </p:tav>
                                        <p:tav tm="100000">
                                          <p:val>
                                            <p:strVal val="#ppt_x"/>
                                          </p:val>
                                        </p:tav>
                                      </p:tavLst>
                                    </p:anim>
                                    <p:anim calcmode="lin" valueType="num">
                                      <p:cBhvr additive="base">
                                        <p:cTn id="27" dur="10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par>
                                <p:cTn id="33" presetID="3" presetClass="entr" presetSubtype="1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blinds(horizontal)">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C5D6C84-2199-4387-9F92-E67FAD2E7560}"/>
              </a:ext>
            </a:extLst>
          </p:cNvPr>
          <p:cNvSpPr>
            <a:spLocks noGrp="1" noChangeArrowheads="1"/>
          </p:cNvSpPr>
          <p:nvPr>
            <p:ph type="title"/>
          </p:nvPr>
        </p:nvSpPr>
        <p:spPr>
          <a:xfrm>
            <a:off x="107504" y="0"/>
            <a:ext cx="5959574" cy="1325563"/>
          </a:xfrm>
        </p:spPr>
        <p:txBody>
          <a:bodyPr/>
          <a:lstStyle/>
          <a:p>
            <a:pPr>
              <a:lnSpc>
                <a:spcPct val="110000"/>
              </a:lnSpc>
              <a:spcBef>
                <a:spcPts val="0"/>
              </a:spcBef>
            </a:pPr>
            <a:r>
              <a:rPr lang="en-US" altLang="zh-CN" sz="3200" dirty="0">
                <a:latin typeface="Times New Roman" panose="02020603050405020304" pitchFamily="18" charset="0"/>
                <a:ea typeface="宋体" panose="02010600030101010101" pitchFamily="2" charset="-122"/>
              </a:rPr>
              <a:t>2.1.2 </a:t>
            </a:r>
            <a:r>
              <a:rPr lang="zh-CN" altLang="en-US" sz="3200" dirty="0">
                <a:latin typeface="Times New Roman" panose="02020603050405020304" pitchFamily="18" charset="0"/>
                <a:ea typeface="宋体" panose="02010600030101010101" pitchFamily="2" charset="-122"/>
              </a:rPr>
              <a:t>平衡</a:t>
            </a:r>
            <a:r>
              <a:rPr lang="en-US" altLang="zh-CN" sz="3200" dirty="0">
                <a:latin typeface="Times New Roman" panose="02020603050405020304" pitchFamily="18" charset="0"/>
                <a:ea typeface="宋体" panose="02010600030101010101" pitchFamily="2" charset="-122"/>
              </a:rPr>
              <a:t>PN</a:t>
            </a:r>
            <a:r>
              <a:rPr lang="zh-CN" altLang="en-US" sz="3200" dirty="0">
                <a:latin typeface="Times New Roman" panose="02020603050405020304" pitchFamily="18" charset="0"/>
                <a:ea typeface="宋体" panose="02010600030101010101" pitchFamily="2" charset="-122"/>
              </a:rPr>
              <a:t>结形成与能带</a:t>
            </a:r>
          </a:p>
        </p:txBody>
      </p:sp>
      <p:sp>
        <p:nvSpPr>
          <p:cNvPr id="30723" name="Rectangle 3">
            <a:extLst>
              <a:ext uri="{FF2B5EF4-FFF2-40B4-BE49-F238E27FC236}">
                <a16:creationId xmlns:a16="http://schemas.microsoft.com/office/drawing/2014/main" id="{896B0344-5B52-4949-A87C-4E31E1B2AA16}"/>
              </a:ext>
            </a:extLst>
          </p:cNvPr>
          <p:cNvSpPr>
            <a:spLocks noGrp="1" noChangeArrowheads="1"/>
          </p:cNvSpPr>
          <p:nvPr>
            <p:ph idx="1"/>
          </p:nvPr>
        </p:nvSpPr>
        <p:spPr>
          <a:xfrm>
            <a:off x="251520" y="1016000"/>
            <a:ext cx="3821112" cy="619125"/>
          </a:xfrm>
        </p:spPr>
        <p:txBody>
          <a:bodyPr/>
          <a:lstStyle/>
          <a:p>
            <a:pPr>
              <a:lnSpc>
                <a:spcPct val="110000"/>
              </a:lnSpc>
              <a:spcBef>
                <a:spcPts val="0"/>
              </a:spcBef>
            </a:pPr>
            <a:r>
              <a:rPr lang="en-US" altLang="zh-CN" sz="2400" dirty="0">
                <a:latin typeface="Times New Roman" panose="02020603050405020304" pitchFamily="18" charset="0"/>
                <a:ea typeface="宋体" panose="02010600030101010101" pitchFamily="2" charset="-122"/>
              </a:rPr>
              <a:t>1 </a:t>
            </a:r>
            <a:r>
              <a:rPr lang="zh-CN" altLang="en-US" sz="2400" dirty="0">
                <a:latin typeface="Times New Roman" panose="02020603050405020304" pitchFamily="18" charset="0"/>
                <a:ea typeface="宋体" panose="02010600030101010101" pitchFamily="2" charset="-122"/>
              </a:rPr>
              <a:t>平衡</a:t>
            </a:r>
            <a:r>
              <a:rPr lang="en-US" altLang="zh-CN" sz="2400" dirty="0">
                <a:latin typeface="Times New Roman" panose="02020603050405020304" pitchFamily="18" charset="0"/>
                <a:ea typeface="宋体" panose="02010600030101010101" pitchFamily="2" charset="-122"/>
              </a:rPr>
              <a:t>PN</a:t>
            </a:r>
            <a:r>
              <a:rPr lang="zh-CN" altLang="en-US" sz="2400" dirty="0">
                <a:latin typeface="Times New Roman" panose="02020603050405020304" pitchFamily="18" charset="0"/>
                <a:ea typeface="宋体" panose="02010600030101010101" pitchFamily="2" charset="-122"/>
              </a:rPr>
              <a:t>结形成</a:t>
            </a:r>
          </a:p>
        </p:txBody>
      </p:sp>
      <p:sp>
        <p:nvSpPr>
          <p:cNvPr id="8" name="Rectangle 30">
            <a:extLst>
              <a:ext uri="{FF2B5EF4-FFF2-40B4-BE49-F238E27FC236}">
                <a16:creationId xmlns:a16="http://schemas.microsoft.com/office/drawing/2014/main" id="{0ECC4B59-93F8-49FD-8CDA-68FE4525B925}"/>
              </a:ext>
            </a:extLst>
          </p:cNvPr>
          <p:cNvSpPr>
            <a:spLocks noChangeArrowheads="1"/>
          </p:cNvSpPr>
          <p:nvPr/>
        </p:nvSpPr>
        <p:spPr bwMode="auto">
          <a:xfrm>
            <a:off x="4050804" y="1604184"/>
            <a:ext cx="4724400"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68288" indent="-268288">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dirty="0">
                <a:solidFill>
                  <a:srgbClr val="FF3300"/>
                </a:solidFill>
              </a:rPr>
              <a:t>空间电荷区的形成过程</a:t>
            </a:r>
          </a:p>
          <a:p>
            <a:pPr eaLnBrk="1" hangingPunct="1">
              <a:lnSpc>
                <a:spcPct val="130000"/>
              </a:lnSpc>
              <a:spcBef>
                <a:spcPct val="0"/>
              </a:spcBef>
              <a:buClrTx/>
              <a:buFont typeface="Wingdings" panose="05000000000000000000" pitchFamily="2" charset="2"/>
              <a:buChar char="Ø"/>
            </a:pPr>
            <a:r>
              <a:rPr lang="zh-CN" altLang="en-US" dirty="0">
                <a:solidFill>
                  <a:schemeClr val="tx1"/>
                </a:solidFill>
              </a:rPr>
              <a:t>电子和空穴将分别由</a:t>
            </a:r>
            <a:r>
              <a:rPr lang="en-US" altLang="zh-CN" dirty="0">
                <a:solidFill>
                  <a:schemeClr val="tx1"/>
                </a:solidFill>
              </a:rPr>
              <a:t>N</a:t>
            </a:r>
            <a:r>
              <a:rPr lang="zh-CN" altLang="en-US" dirty="0">
                <a:solidFill>
                  <a:schemeClr val="tx1"/>
                </a:solidFill>
              </a:rPr>
              <a:t>区和</a:t>
            </a:r>
            <a:r>
              <a:rPr lang="en-US" altLang="zh-CN" dirty="0">
                <a:solidFill>
                  <a:schemeClr val="tx1"/>
                </a:solidFill>
              </a:rPr>
              <a:t>P</a:t>
            </a:r>
            <a:r>
              <a:rPr lang="zh-CN" altLang="en-US" dirty="0">
                <a:solidFill>
                  <a:schemeClr val="tx1"/>
                </a:solidFill>
              </a:rPr>
              <a:t>区向对方区域</a:t>
            </a:r>
            <a:r>
              <a:rPr lang="zh-CN" altLang="en-US" dirty="0">
                <a:solidFill>
                  <a:srgbClr val="FF3300"/>
                </a:solidFill>
              </a:rPr>
              <a:t>扩散</a:t>
            </a:r>
            <a:r>
              <a:rPr lang="zh-CN" altLang="en-US" dirty="0">
                <a:solidFill>
                  <a:schemeClr val="tx1"/>
                </a:solidFill>
              </a:rPr>
              <a:t>，留下固定的电离施主</a:t>
            </a:r>
            <a:r>
              <a:rPr lang="en-US" altLang="zh-CN" dirty="0">
                <a:solidFill>
                  <a:schemeClr val="tx1"/>
                </a:solidFill>
              </a:rPr>
              <a:t>/</a:t>
            </a:r>
            <a:r>
              <a:rPr lang="zh-CN" altLang="en-US" dirty="0">
                <a:solidFill>
                  <a:schemeClr val="tx1"/>
                </a:solidFill>
              </a:rPr>
              <a:t>受主（空间电荷）随着自由电子和空穴的离开，电离施主</a:t>
            </a:r>
            <a:r>
              <a:rPr lang="en-US" altLang="zh-CN" dirty="0">
                <a:solidFill>
                  <a:schemeClr val="tx1"/>
                </a:solidFill>
              </a:rPr>
              <a:t>/</a:t>
            </a:r>
            <a:r>
              <a:rPr lang="zh-CN" altLang="en-US" dirty="0">
                <a:solidFill>
                  <a:schemeClr val="tx1"/>
                </a:solidFill>
              </a:rPr>
              <a:t>受主形成</a:t>
            </a:r>
            <a:r>
              <a:rPr lang="zh-CN" altLang="en-US" dirty="0">
                <a:solidFill>
                  <a:srgbClr val="FF3300"/>
                </a:solidFill>
              </a:rPr>
              <a:t>内建电场，方向由</a:t>
            </a:r>
            <a:r>
              <a:rPr lang="en-US" altLang="zh-CN" dirty="0">
                <a:solidFill>
                  <a:srgbClr val="FF3300"/>
                </a:solidFill>
              </a:rPr>
              <a:t>N</a:t>
            </a:r>
            <a:r>
              <a:rPr lang="zh-CN" altLang="en-US" dirty="0">
                <a:solidFill>
                  <a:srgbClr val="FF3300"/>
                </a:solidFill>
              </a:rPr>
              <a:t>指向</a:t>
            </a:r>
            <a:r>
              <a:rPr lang="en-US" altLang="zh-CN" dirty="0">
                <a:solidFill>
                  <a:srgbClr val="FF3300"/>
                </a:solidFill>
              </a:rPr>
              <a:t>P</a:t>
            </a:r>
          </a:p>
          <a:p>
            <a:pPr eaLnBrk="1" hangingPunct="1">
              <a:lnSpc>
                <a:spcPct val="130000"/>
              </a:lnSpc>
              <a:spcBef>
                <a:spcPct val="0"/>
              </a:spcBef>
              <a:buClrTx/>
              <a:buFont typeface="Wingdings" panose="05000000000000000000" pitchFamily="2" charset="2"/>
              <a:buChar char="Ø"/>
            </a:pPr>
            <a:r>
              <a:rPr lang="zh-CN" altLang="en-US" dirty="0">
                <a:solidFill>
                  <a:srgbClr val="FF3300"/>
                </a:solidFill>
              </a:rPr>
              <a:t>内建电场</a:t>
            </a:r>
            <a:r>
              <a:rPr lang="zh-CN" altLang="en-US" dirty="0">
                <a:solidFill>
                  <a:schemeClr val="tx1"/>
                </a:solidFill>
              </a:rPr>
              <a:t>引起载流子的</a:t>
            </a:r>
            <a:r>
              <a:rPr lang="zh-CN" altLang="en-US" dirty="0">
                <a:solidFill>
                  <a:srgbClr val="FF3300"/>
                </a:solidFill>
              </a:rPr>
              <a:t>漂移</a:t>
            </a:r>
            <a:r>
              <a:rPr lang="zh-CN" altLang="en-US" dirty="0">
                <a:solidFill>
                  <a:schemeClr val="tx1"/>
                </a:solidFill>
              </a:rPr>
              <a:t>，漂移与扩散方向相反，最后达到动态平衡。</a:t>
            </a:r>
          </a:p>
          <a:p>
            <a:pPr eaLnBrk="1" hangingPunct="1">
              <a:lnSpc>
                <a:spcPct val="130000"/>
              </a:lnSpc>
              <a:spcBef>
                <a:spcPct val="0"/>
              </a:spcBef>
              <a:buClrTx/>
              <a:buFont typeface="Wingdings" panose="05000000000000000000" pitchFamily="2" charset="2"/>
              <a:buChar char="Ø"/>
            </a:pPr>
            <a:r>
              <a:rPr lang="zh-CN" altLang="en-US" dirty="0">
                <a:solidFill>
                  <a:schemeClr val="tx1"/>
                </a:solidFill>
              </a:rPr>
              <a:t>空间电荷区内，与电离杂质浓度相比，净自由载流子浓度可以忽略（耗尽近似），形成</a:t>
            </a:r>
            <a:r>
              <a:rPr lang="zh-CN" altLang="en-US" dirty="0">
                <a:solidFill>
                  <a:srgbClr val="FF3300"/>
                </a:solidFill>
              </a:rPr>
              <a:t>耗尽区</a:t>
            </a:r>
            <a:r>
              <a:rPr lang="zh-CN" altLang="en-US" dirty="0">
                <a:solidFill>
                  <a:schemeClr val="tx1"/>
                </a:solidFill>
              </a:rPr>
              <a:t>。</a:t>
            </a:r>
          </a:p>
        </p:txBody>
      </p:sp>
      <p:pic>
        <p:nvPicPr>
          <p:cNvPr id="9" name="Picture 31" descr="图片3">
            <a:extLst>
              <a:ext uri="{FF2B5EF4-FFF2-40B4-BE49-F238E27FC236}">
                <a16:creationId xmlns:a16="http://schemas.microsoft.com/office/drawing/2014/main" id="{91FB9846-60B3-4028-9108-0E402C1763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973" y="1536529"/>
            <a:ext cx="3176588"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593B2F9C-6BF6-451F-B49C-C73CB1C4C169}"/>
              </a:ext>
            </a:extLst>
          </p:cNvPr>
          <p:cNvSpPr>
            <a:spLocks noGrp="1" noChangeArrowheads="1"/>
          </p:cNvSpPr>
          <p:nvPr>
            <p:ph idx="1"/>
          </p:nvPr>
        </p:nvSpPr>
        <p:spPr>
          <a:xfrm>
            <a:off x="647564" y="980728"/>
            <a:ext cx="8172908" cy="4896544"/>
          </a:xfrm>
        </p:spPr>
        <p:txBody>
          <a:bodyPr>
            <a:noAutofit/>
          </a:bodyPr>
          <a:lstStyle/>
          <a:p>
            <a:pPr marL="609600" indent="-609600">
              <a:lnSpc>
                <a:spcPct val="130000"/>
              </a:lnSpc>
              <a:spcBef>
                <a:spcPts val="0"/>
              </a:spcBef>
              <a:buFont typeface="Wingdings" panose="05000000000000000000" pitchFamily="2" charset="2"/>
              <a:buNone/>
            </a:pPr>
            <a:r>
              <a:rPr lang="zh-CN" altLang="en-US" dirty="0">
                <a:solidFill>
                  <a:srgbClr val="FF0000"/>
                </a:solidFill>
                <a:latin typeface="Times New Roman" panose="02020603050405020304" pitchFamily="18" charset="0"/>
                <a:ea typeface="宋体" panose="02010600030101010101" pitchFamily="2" charset="-122"/>
              </a:rPr>
              <a:t>平衡</a:t>
            </a:r>
            <a:r>
              <a:rPr lang="en-US" altLang="zh-CN" dirty="0">
                <a:solidFill>
                  <a:srgbClr val="FF0000"/>
                </a:solidFill>
                <a:latin typeface="Times New Roman" panose="02020603050405020304" pitchFamily="18" charset="0"/>
                <a:ea typeface="宋体" panose="02010600030101010101" pitchFamily="2" charset="-122"/>
              </a:rPr>
              <a:t>PN</a:t>
            </a:r>
            <a:r>
              <a:rPr lang="zh-CN" altLang="en-US" dirty="0">
                <a:solidFill>
                  <a:srgbClr val="FF0000"/>
                </a:solidFill>
                <a:latin typeface="Times New Roman" panose="02020603050405020304" pitchFamily="18" charset="0"/>
                <a:ea typeface="宋体" panose="02010600030101010101" pitchFamily="2" charset="-122"/>
              </a:rPr>
              <a:t>结表现出来的主要特征：</a:t>
            </a:r>
            <a:endParaRPr lang="en-US" altLang="zh-CN" dirty="0">
              <a:solidFill>
                <a:srgbClr val="FF0000"/>
              </a:solidFill>
              <a:latin typeface="Times New Roman" panose="02020603050405020304" pitchFamily="18" charset="0"/>
              <a:ea typeface="宋体" panose="02010600030101010101" pitchFamily="2" charset="-122"/>
            </a:endParaRPr>
          </a:p>
          <a:p>
            <a:pPr marL="609600" indent="-609600">
              <a:lnSpc>
                <a:spcPct val="130000"/>
              </a:lnSpc>
              <a:spcBef>
                <a:spcPts val="0"/>
              </a:spcBef>
              <a:buFont typeface="Wingdings" panose="05000000000000000000" pitchFamily="2" charset="2"/>
              <a:buNone/>
            </a:pPr>
            <a:endParaRPr lang="zh-CN" altLang="en-US" dirty="0">
              <a:solidFill>
                <a:srgbClr val="FF0000"/>
              </a:solidFill>
              <a:latin typeface="Times New Roman" panose="02020603050405020304" pitchFamily="18" charset="0"/>
              <a:ea typeface="宋体" panose="02010600030101010101" pitchFamily="2" charset="-122"/>
            </a:endParaRPr>
          </a:p>
          <a:p>
            <a:pPr marL="180975" indent="-180975">
              <a:lnSpc>
                <a:spcPct val="130000"/>
              </a:lnSpc>
              <a:spcBef>
                <a:spcPts val="0"/>
              </a:spcBef>
              <a:buNone/>
            </a:pP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dirty="0">
                <a:latin typeface="Times New Roman" panose="02020603050405020304" pitchFamily="18" charset="0"/>
                <a:ea typeface="宋体" panose="02010600030101010101" pitchFamily="2" charset="-122"/>
                <a:cs typeface="Times New Roman" panose="02020603050405020304" pitchFamily="18" charset="0"/>
              </a:rPr>
              <a:t>通过平衡</a:t>
            </a:r>
            <a:r>
              <a:rPr lang="en-US" altLang="zh-CN"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dirty="0">
                <a:latin typeface="Times New Roman" panose="02020603050405020304" pitchFamily="18" charset="0"/>
                <a:ea typeface="宋体" panose="02010600030101010101" pitchFamily="2" charset="-122"/>
                <a:cs typeface="Times New Roman" panose="02020603050405020304" pitchFamily="18" charset="0"/>
              </a:rPr>
              <a:t>结的净电流为零；</a:t>
            </a:r>
          </a:p>
          <a:p>
            <a:pPr marL="180975" indent="-180975">
              <a:lnSpc>
                <a:spcPct val="130000"/>
              </a:lnSpc>
              <a:spcBef>
                <a:spcPts val="0"/>
              </a:spcBef>
              <a:buFont typeface="Wingdings" panose="05000000000000000000" pitchFamily="2" charset="2"/>
              <a:buNone/>
            </a:pPr>
            <a:r>
              <a:rPr lang="en-US" altLang="zh-CN"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在空间电荷区，两侧正负空间电荷数量相等</a:t>
            </a:r>
            <a:r>
              <a:rPr lang="en-US" altLang="zh-CN"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dirty="0">
                <a:latin typeface="Times New Roman" panose="02020603050405020304" pitchFamily="18" charset="0"/>
                <a:ea typeface="宋体" panose="02010600030101010101" pitchFamily="2" charset="-122"/>
                <a:cs typeface="Times New Roman" panose="02020603050405020304" pitchFamily="18" charset="0"/>
              </a:rPr>
              <a:t>结特性主要由空间电荷区决定 ；</a:t>
            </a:r>
          </a:p>
          <a:p>
            <a:pPr marL="180975" indent="-180975">
              <a:lnSpc>
                <a:spcPct val="130000"/>
              </a:lnSpc>
              <a:spcBef>
                <a:spcPts val="0"/>
              </a:spcBef>
              <a:buFont typeface="Wingdings" panose="05000000000000000000" pitchFamily="2" charset="2"/>
              <a:buNone/>
            </a:pPr>
            <a:r>
              <a:rPr lang="en-US" altLang="zh-CN"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dirty="0">
                <a:latin typeface="Times New Roman" panose="02020603050405020304" pitchFamily="18" charset="0"/>
                <a:ea typeface="宋体" panose="02010600030101010101" pitchFamily="2" charset="-122"/>
                <a:cs typeface="Times New Roman" panose="02020603050405020304" pitchFamily="18" charset="0"/>
              </a:rPr>
              <a:t>空间电荷区以外的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dirty="0">
                <a:latin typeface="Times New Roman" panose="02020603050405020304" pitchFamily="18" charset="0"/>
                <a:ea typeface="宋体" panose="02010600030101010101" pitchFamily="2" charset="-122"/>
                <a:cs typeface="Times New Roman" panose="02020603050405020304" pitchFamily="18" charset="0"/>
              </a:rPr>
              <a:t>型区和</a:t>
            </a:r>
            <a:r>
              <a:rPr lang="en-US" altLang="zh-CN" dirty="0">
                <a:latin typeface="Times New Roman" panose="02020603050405020304" pitchFamily="18" charset="0"/>
                <a:ea typeface="宋体" panose="02010600030101010101" pitchFamily="2" charset="-122"/>
                <a:cs typeface="Times New Roman" panose="02020603050405020304" pitchFamily="18" charset="0"/>
              </a:rPr>
              <a:t>P</a:t>
            </a:r>
            <a:r>
              <a:rPr lang="zh-CN" altLang="en-US" dirty="0">
                <a:latin typeface="Times New Roman" panose="02020603050405020304" pitchFamily="18" charset="0"/>
                <a:ea typeface="宋体" panose="02010600030101010101" pitchFamily="2" charset="-122"/>
                <a:cs typeface="Times New Roman" panose="02020603050405020304" pitchFamily="18" charset="0"/>
              </a:rPr>
              <a:t>型区仍是电中性的，与独立的掺杂半导体性质相同。</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241550" indent="-2241550">
              <a:lnSpc>
                <a:spcPct val="130000"/>
              </a:lnSpc>
              <a:spcBef>
                <a:spcPct val="0"/>
              </a:spcBef>
              <a:buNone/>
            </a:pPr>
            <a:r>
              <a:rPr lang="en-US" altLang="zh-CN" dirty="0">
                <a:latin typeface="Times New Roman" panose="02020603050405020304" pitchFamily="18" charset="0"/>
                <a:ea typeface="宋体" panose="02010600030101010101" pitchFamily="2" charset="-122"/>
                <a:cs typeface="Times New Roman" panose="02020603050405020304" pitchFamily="18" charset="0"/>
              </a:rPr>
              <a:t>4)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在平衡</a:t>
            </a:r>
            <a:r>
              <a:rPr lang="en-US" altLang="zh-CN"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dirty="0">
                <a:latin typeface="Times New Roman" panose="02020603050405020304" pitchFamily="18" charset="0"/>
                <a:ea typeface="宋体" panose="02010600030101010101" pitchFamily="2" charset="-122"/>
                <a:cs typeface="Times New Roman" panose="02020603050405020304" pitchFamily="18" charset="0"/>
              </a:rPr>
              <a:t>结的任何区域（包括空间电荷区）；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i="1" baseline="30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rPr>
              <a:t>成立；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a:extLst>
              <a:ext uri="{FF2B5EF4-FFF2-40B4-BE49-F238E27FC236}">
                <a16:creationId xmlns:a16="http://schemas.microsoft.com/office/drawing/2014/main" id="{09961307-D414-4DD9-AD25-8A9F6CFD7C8A}"/>
              </a:ext>
            </a:extLst>
          </p:cNvPr>
          <p:cNvSpPr>
            <a:spLocks noGrp="1" noChangeArrowheads="1"/>
          </p:cNvSpPr>
          <p:nvPr>
            <p:ph idx="1"/>
          </p:nvPr>
        </p:nvSpPr>
        <p:spPr>
          <a:xfrm>
            <a:off x="251520" y="476672"/>
            <a:ext cx="4397375" cy="547688"/>
          </a:xfrm>
        </p:spPr>
        <p:txBody>
          <a:bodyPr/>
          <a:lstStyle/>
          <a:p>
            <a:pPr>
              <a:lnSpc>
                <a:spcPct val="110000"/>
              </a:lnSpc>
              <a:spcBef>
                <a:spcPts val="0"/>
              </a:spcBef>
            </a:pPr>
            <a:r>
              <a:rPr lang="en-US" altLang="zh-CN" sz="2400">
                <a:latin typeface="Times New Roman" panose="02020603050405020304" pitchFamily="18" charset="0"/>
                <a:ea typeface="宋体" panose="02010600030101010101" pitchFamily="2" charset="-122"/>
              </a:rPr>
              <a:t>2 </a:t>
            </a:r>
            <a:r>
              <a:rPr lang="zh-CN" altLang="en-US" sz="2400">
                <a:latin typeface="Times New Roman" panose="02020603050405020304" pitchFamily="18" charset="0"/>
                <a:ea typeface="宋体" panose="02010600030101010101" pitchFamily="2" charset="-122"/>
              </a:rPr>
              <a:t>平衡</a:t>
            </a:r>
            <a:r>
              <a:rPr lang="en-US" altLang="zh-CN" sz="2400">
                <a:latin typeface="Times New Roman" panose="02020603050405020304" pitchFamily="18" charset="0"/>
                <a:ea typeface="宋体" panose="02010600030101010101" pitchFamily="2" charset="-122"/>
              </a:rPr>
              <a:t>PN</a:t>
            </a:r>
            <a:r>
              <a:rPr lang="zh-CN" altLang="en-US" sz="2400">
                <a:latin typeface="Times New Roman" panose="02020603050405020304" pitchFamily="18" charset="0"/>
                <a:ea typeface="宋体" panose="02010600030101010101" pitchFamily="2" charset="-122"/>
              </a:rPr>
              <a:t>结的能带图</a:t>
            </a:r>
          </a:p>
        </p:txBody>
      </p:sp>
      <p:pic>
        <p:nvPicPr>
          <p:cNvPr id="32772" name="Picture 4" descr="0208">
            <a:extLst>
              <a:ext uri="{FF2B5EF4-FFF2-40B4-BE49-F238E27FC236}">
                <a16:creationId xmlns:a16="http://schemas.microsoft.com/office/drawing/2014/main" id="{52B2D216-AD3E-493D-9C2E-9C3C842A3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562" y="1073193"/>
            <a:ext cx="5329572" cy="2871197"/>
          </a:xfrm>
          <a:prstGeom prst="rect">
            <a:avLst/>
          </a:prstGeom>
          <a:noFill/>
          <a:extLst>
            <a:ext uri="{909E8E84-426E-40DD-AFC4-6F175D3DCCD1}">
              <a14:hiddenFill xmlns:a14="http://schemas.microsoft.com/office/drawing/2010/main">
                <a:solidFill>
                  <a:srgbClr val="FFFFFF"/>
                </a:solidFill>
              </a14:hiddenFill>
            </a:ext>
          </a:extLst>
        </p:spPr>
      </p:pic>
      <p:sp>
        <p:nvSpPr>
          <p:cNvPr id="32773" name="Text Box 5">
            <a:extLst>
              <a:ext uri="{FF2B5EF4-FFF2-40B4-BE49-F238E27FC236}">
                <a16:creationId xmlns:a16="http://schemas.microsoft.com/office/drawing/2014/main" id="{292406DB-9F42-42EF-8F21-DAC7A100C3FA}"/>
              </a:ext>
            </a:extLst>
          </p:cNvPr>
          <p:cNvSpPr txBox="1">
            <a:spLocks noChangeArrowheads="1"/>
          </p:cNvSpPr>
          <p:nvPr/>
        </p:nvSpPr>
        <p:spPr bwMode="auto">
          <a:xfrm>
            <a:off x="1403648" y="3543676"/>
            <a:ext cx="6121400" cy="676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dirty="0">
                <a:latin typeface="Times New Roman" panose="02020603050405020304" pitchFamily="18" charset="0"/>
                <a:ea typeface="宋体" panose="02010600030101010101" pitchFamily="2" charset="-122"/>
              </a:rPr>
              <a:t>平衡</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结的能带图</a:t>
            </a:r>
          </a:p>
          <a:p>
            <a:pPr algn="ctr">
              <a:lnSpc>
                <a:spcPct val="110000"/>
              </a:lnSpc>
            </a:pP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型、</a:t>
            </a:r>
            <a:r>
              <a:rPr lang="en-US" altLang="zh-CN" dirty="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型半导体的能带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）平衡</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结的能带</a:t>
            </a:r>
          </a:p>
        </p:txBody>
      </p:sp>
      <p:sp>
        <p:nvSpPr>
          <p:cNvPr id="7" name="Rectangle 4">
            <a:extLst>
              <a:ext uri="{FF2B5EF4-FFF2-40B4-BE49-F238E27FC236}">
                <a16:creationId xmlns:a16="http://schemas.microsoft.com/office/drawing/2014/main" id="{2D43EAB7-AA2C-43FF-86E4-89729C892C8A}"/>
              </a:ext>
            </a:extLst>
          </p:cNvPr>
          <p:cNvSpPr>
            <a:spLocks noChangeArrowheads="1"/>
          </p:cNvSpPr>
          <p:nvPr/>
        </p:nvSpPr>
        <p:spPr bwMode="auto">
          <a:xfrm>
            <a:off x="422871" y="4149080"/>
            <a:ext cx="8452048" cy="257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marL="268288" indent="-268288">
              <a:spcBef>
                <a:spcPct val="20000"/>
              </a:spcBef>
              <a:buClr>
                <a:srgbClr val="000000"/>
              </a:buClr>
              <a:buFont typeface="Verdana" panose="020B0604030504040204" pitchFamily="34" charset="0"/>
              <a:buChar char="−"/>
              <a:tabLst>
                <a:tab pos="446088" algn="l"/>
              </a:tabLst>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tabLst>
                <a:tab pos="446088" algn="l"/>
              </a:tabLst>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tabLst>
                <a:tab pos="446088" algn="l"/>
              </a:tabLst>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tabLst>
                <a:tab pos="446088" algn="l"/>
              </a:tabLst>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tabLst>
                <a:tab pos="446088" algn="l"/>
              </a:tabLst>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446088" algn="l"/>
              </a:tabLst>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446088" algn="l"/>
              </a:tabLst>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446088" algn="l"/>
              </a:tabLst>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446088" algn="l"/>
              </a:tabLst>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en-US" altLang="zh-CN" dirty="0">
                <a:solidFill>
                  <a:srgbClr val="FF3300"/>
                </a:solidFill>
              </a:rPr>
              <a:t>PN</a:t>
            </a:r>
            <a:r>
              <a:rPr lang="zh-CN" altLang="en-US" dirty="0">
                <a:solidFill>
                  <a:srgbClr val="FF3300"/>
                </a:solidFill>
              </a:rPr>
              <a:t>结的能带</a:t>
            </a:r>
          </a:p>
          <a:p>
            <a:pPr eaLnBrk="1" hangingPunct="1">
              <a:lnSpc>
                <a:spcPct val="130000"/>
              </a:lnSpc>
              <a:spcBef>
                <a:spcPct val="0"/>
              </a:spcBef>
              <a:buClrTx/>
              <a:buFontTx/>
              <a:buNone/>
            </a:pPr>
            <a:r>
              <a:rPr lang="en-US" altLang="zh-CN" dirty="0">
                <a:solidFill>
                  <a:schemeClr val="tx1"/>
                </a:solidFill>
              </a:rPr>
              <a:t>1</a:t>
            </a:r>
            <a:r>
              <a:rPr lang="zh-CN" altLang="en-US" dirty="0">
                <a:solidFill>
                  <a:schemeClr val="tx1"/>
                </a:solidFill>
              </a:rPr>
              <a:t>）从能量角度，两区接触后，电子要从高</a:t>
            </a:r>
            <a:r>
              <a:rPr lang="en-US" altLang="zh-CN" i="1" dirty="0">
                <a:solidFill>
                  <a:schemeClr val="tx1"/>
                </a:solidFill>
              </a:rPr>
              <a:t>E</a:t>
            </a:r>
            <a:r>
              <a:rPr lang="en-US" altLang="zh-CN" i="1" baseline="-25000" dirty="0">
                <a:solidFill>
                  <a:schemeClr val="tx1"/>
                </a:solidFill>
              </a:rPr>
              <a:t>F</a:t>
            </a:r>
            <a:r>
              <a:rPr lang="zh-CN" altLang="en-US" dirty="0">
                <a:solidFill>
                  <a:schemeClr val="tx1"/>
                </a:solidFill>
              </a:rPr>
              <a:t>的</a:t>
            </a:r>
            <a:r>
              <a:rPr lang="en-US" altLang="zh-CN" dirty="0">
                <a:solidFill>
                  <a:schemeClr val="tx1"/>
                </a:solidFill>
              </a:rPr>
              <a:t>N</a:t>
            </a:r>
            <a:r>
              <a:rPr lang="zh-CN" altLang="en-US" dirty="0">
                <a:solidFill>
                  <a:schemeClr val="tx1"/>
                </a:solidFill>
              </a:rPr>
              <a:t>区流向低</a:t>
            </a:r>
            <a:r>
              <a:rPr lang="en-US" altLang="zh-CN" i="1" dirty="0">
                <a:solidFill>
                  <a:schemeClr val="tx1"/>
                </a:solidFill>
              </a:rPr>
              <a:t>E</a:t>
            </a:r>
            <a:r>
              <a:rPr lang="en-US" altLang="zh-CN" i="1" baseline="-25000" dirty="0">
                <a:solidFill>
                  <a:schemeClr val="tx1"/>
                </a:solidFill>
              </a:rPr>
              <a:t>F</a:t>
            </a:r>
            <a:r>
              <a:rPr lang="zh-CN" altLang="en-US" dirty="0">
                <a:solidFill>
                  <a:schemeClr val="tx1"/>
                </a:solidFill>
              </a:rPr>
              <a:t>的</a:t>
            </a:r>
            <a:r>
              <a:rPr lang="en-US" altLang="zh-CN" dirty="0">
                <a:solidFill>
                  <a:schemeClr val="tx1"/>
                </a:solidFill>
              </a:rPr>
              <a:t>P</a:t>
            </a:r>
            <a:r>
              <a:rPr lang="zh-CN" altLang="en-US" dirty="0">
                <a:solidFill>
                  <a:schemeClr val="tx1"/>
                </a:solidFill>
              </a:rPr>
              <a:t>区</a:t>
            </a:r>
          </a:p>
          <a:p>
            <a:pPr eaLnBrk="1" hangingPunct="1">
              <a:lnSpc>
                <a:spcPct val="130000"/>
              </a:lnSpc>
              <a:spcBef>
                <a:spcPct val="0"/>
              </a:spcBef>
              <a:buClrTx/>
              <a:buFontTx/>
              <a:buNone/>
            </a:pPr>
            <a:r>
              <a:rPr lang="zh-CN" altLang="en-US" dirty="0">
                <a:solidFill>
                  <a:schemeClr val="tx1"/>
                </a:solidFill>
              </a:rPr>
              <a:t>（</a:t>
            </a:r>
            <a:r>
              <a:rPr lang="en-US" altLang="zh-CN" i="1" dirty="0">
                <a:solidFill>
                  <a:schemeClr val="tx1"/>
                </a:solidFill>
              </a:rPr>
              <a:t>E</a:t>
            </a:r>
            <a:r>
              <a:rPr lang="en-US" altLang="zh-CN" i="1" baseline="-25000" dirty="0">
                <a:solidFill>
                  <a:schemeClr val="tx1"/>
                </a:solidFill>
              </a:rPr>
              <a:t>F</a:t>
            </a:r>
            <a:r>
              <a:rPr lang="zh-CN" altLang="en-US" dirty="0">
                <a:solidFill>
                  <a:schemeClr val="tx1"/>
                </a:solidFill>
              </a:rPr>
              <a:t>是电子填充能级水平的标志）</a:t>
            </a:r>
          </a:p>
          <a:p>
            <a:pPr>
              <a:lnSpc>
                <a:spcPct val="130000"/>
              </a:lnSpc>
              <a:spcBef>
                <a:spcPct val="0"/>
              </a:spcBef>
              <a:buClrTx/>
              <a:buNone/>
            </a:pPr>
            <a:r>
              <a:rPr lang="en-US" altLang="zh-CN" dirty="0">
                <a:solidFill>
                  <a:schemeClr val="tx1"/>
                </a:solidFill>
              </a:rPr>
              <a:t>2</a:t>
            </a:r>
            <a:r>
              <a:rPr lang="zh-CN" altLang="en-US" dirty="0">
                <a:solidFill>
                  <a:schemeClr val="tx1"/>
                </a:solidFill>
              </a:rPr>
              <a:t>）热平衡</a:t>
            </a:r>
            <a:r>
              <a:rPr lang="en-US" altLang="zh-CN" dirty="0">
                <a:solidFill>
                  <a:schemeClr val="tx1"/>
                </a:solidFill>
              </a:rPr>
              <a:t>PN</a:t>
            </a:r>
            <a:r>
              <a:rPr lang="zh-CN" altLang="en-US" dirty="0">
                <a:solidFill>
                  <a:schemeClr val="tx1"/>
                </a:solidFill>
              </a:rPr>
              <a:t>结两侧具有统一的</a:t>
            </a:r>
            <a:r>
              <a:rPr lang="en-US" altLang="zh-CN" i="1" dirty="0">
                <a:solidFill>
                  <a:schemeClr val="tx1"/>
                </a:solidFill>
              </a:rPr>
              <a:t>E</a:t>
            </a:r>
            <a:r>
              <a:rPr lang="en-US" altLang="zh-CN" i="1" baseline="-25000" dirty="0">
                <a:solidFill>
                  <a:schemeClr val="tx1"/>
                </a:solidFill>
              </a:rPr>
              <a:t>F</a:t>
            </a:r>
            <a:r>
              <a:rPr lang="zh-CN" altLang="en-US" dirty="0"/>
              <a:t> （证明见教材）</a:t>
            </a:r>
            <a:endParaRPr lang="en-US" altLang="zh-CN" dirty="0">
              <a:solidFill>
                <a:schemeClr val="tx1"/>
              </a:solidFill>
            </a:endParaRPr>
          </a:p>
          <a:p>
            <a:pPr eaLnBrk="1" hangingPunct="1">
              <a:lnSpc>
                <a:spcPct val="130000"/>
              </a:lnSpc>
              <a:spcBef>
                <a:spcPct val="0"/>
              </a:spcBef>
              <a:buClrTx/>
              <a:buFontTx/>
              <a:buNone/>
            </a:pPr>
            <a:r>
              <a:rPr lang="en-US" altLang="zh-CN" dirty="0">
                <a:solidFill>
                  <a:schemeClr val="tx1"/>
                </a:solidFill>
              </a:rPr>
              <a:t>3</a:t>
            </a:r>
            <a:r>
              <a:rPr lang="zh-CN" altLang="en-US" dirty="0">
                <a:solidFill>
                  <a:schemeClr val="tx1"/>
                </a:solidFill>
              </a:rPr>
              <a:t>）电子的移动使得</a:t>
            </a:r>
            <a:r>
              <a:rPr lang="en-US" altLang="zh-CN" dirty="0">
                <a:solidFill>
                  <a:schemeClr val="tx1"/>
                </a:solidFill>
              </a:rPr>
              <a:t>N</a:t>
            </a:r>
            <a:r>
              <a:rPr lang="zh-CN" altLang="en-US" dirty="0">
                <a:solidFill>
                  <a:schemeClr val="tx1"/>
                </a:solidFill>
              </a:rPr>
              <a:t>侧其他的能级相对</a:t>
            </a:r>
            <a:r>
              <a:rPr lang="en-US" altLang="zh-CN" dirty="0">
                <a:solidFill>
                  <a:schemeClr val="tx1"/>
                </a:solidFill>
              </a:rPr>
              <a:t>P</a:t>
            </a:r>
            <a:r>
              <a:rPr lang="zh-CN" altLang="en-US" dirty="0">
                <a:solidFill>
                  <a:schemeClr val="tx1"/>
                </a:solidFill>
              </a:rPr>
              <a:t>侧平行向下移动</a:t>
            </a:r>
          </a:p>
          <a:p>
            <a:pPr>
              <a:lnSpc>
                <a:spcPct val="130000"/>
              </a:lnSpc>
              <a:spcBef>
                <a:spcPct val="0"/>
              </a:spcBef>
              <a:buClrTx/>
              <a:buNone/>
            </a:pPr>
            <a:r>
              <a:rPr lang="zh-CN" altLang="en-US" i="1" dirty="0">
                <a:solidFill>
                  <a:schemeClr val="tx1"/>
                </a:solidFill>
              </a:rPr>
              <a:t>             </a:t>
            </a:r>
            <a:r>
              <a:rPr lang="en-US" altLang="zh-CN" i="1" dirty="0" err="1">
                <a:solidFill>
                  <a:schemeClr val="tx1"/>
                </a:solidFill>
              </a:rPr>
              <a:t>E</a:t>
            </a:r>
            <a:r>
              <a:rPr lang="en-US" altLang="zh-CN" i="1" baseline="-25000" dirty="0" err="1">
                <a:solidFill>
                  <a:schemeClr val="tx1"/>
                </a:solidFill>
              </a:rPr>
              <a:t>Fn</a:t>
            </a:r>
            <a:r>
              <a:rPr lang="en-US" altLang="zh-CN" i="1" dirty="0" err="1">
                <a:solidFill>
                  <a:schemeClr val="tx1"/>
                </a:solidFill>
              </a:rPr>
              <a:t>-E</a:t>
            </a:r>
            <a:r>
              <a:rPr lang="en-US" altLang="zh-CN" i="1" baseline="-25000" dirty="0" err="1">
                <a:solidFill>
                  <a:schemeClr val="tx1"/>
                </a:solidFill>
              </a:rPr>
              <a:t>Fp</a:t>
            </a:r>
            <a:r>
              <a:rPr lang="en-US" altLang="zh-CN" i="1" dirty="0">
                <a:solidFill>
                  <a:schemeClr val="tx1"/>
                </a:solidFill>
              </a:rPr>
              <a:t>= qψ</a:t>
            </a:r>
            <a:r>
              <a:rPr lang="en-US" altLang="zh-CN" i="1" baseline="-25000" dirty="0">
                <a:solidFill>
                  <a:schemeClr val="tx1"/>
                </a:solidFill>
              </a:rPr>
              <a:t>0                                       </a:t>
            </a:r>
            <a:r>
              <a:rPr lang="zh-CN" altLang="en-US" i="1" dirty="0">
                <a:solidFill>
                  <a:schemeClr val="tx1"/>
                </a:solidFill>
              </a:rPr>
              <a:t> </a:t>
            </a:r>
            <a:r>
              <a:rPr lang="zh-CN" altLang="en-US" dirty="0">
                <a:solidFill>
                  <a:schemeClr val="tx1"/>
                </a:solidFill>
              </a:rPr>
              <a:t>教材：</a:t>
            </a:r>
            <a:r>
              <a:rPr lang="en-US" altLang="zh-CN" i="1" dirty="0" err="1">
                <a:solidFill>
                  <a:schemeClr val="tx1"/>
                </a:solidFill>
              </a:rPr>
              <a:t>E</a:t>
            </a:r>
            <a:r>
              <a:rPr lang="en-US" altLang="zh-CN" i="1" baseline="-25000" dirty="0" err="1">
                <a:solidFill>
                  <a:schemeClr val="tx1"/>
                </a:solidFill>
              </a:rPr>
              <a:t>Fn</a:t>
            </a:r>
            <a:r>
              <a:rPr lang="en-US" altLang="zh-CN" i="1" dirty="0" err="1">
                <a:solidFill>
                  <a:schemeClr val="tx1"/>
                </a:solidFill>
              </a:rPr>
              <a:t>-E</a:t>
            </a:r>
            <a:r>
              <a:rPr lang="en-US" altLang="zh-CN" i="1" baseline="-25000" dirty="0" err="1">
                <a:solidFill>
                  <a:schemeClr val="tx1"/>
                </a:solidFill>
              </a:rPr>
              <a:t>Fp</a:t>
            </a:r>
            <a:r>
              <a:rPr lang="en-US" altLang="zh-CN" i="1" dirty="0">
                <a:solidFill>
                  <a:schemeClr val="tx1"/>
                </a:solidFill>
              </a:rPr>
              <a:t>= </a:t>
            </a:r>
            <a:r>
              <a:rPr lang="en-US" altLang="zh-CN" i="1" dirty="0" err="1">
                <a:solidFill>
                  <a:schemeClr val="tx1"/>
                </a:solidFill>
              </a:rPr>
              <a:t>qU</a:t>
            </a:r>
            <a:r>
              <a:rPr lang="en-US" altLang="zh-CN" i="1" baseline="-25000" dirty="0" err="1">
                <a:solidFill>
                  <a:schemeClr val="tx1"/>
                </a:solidFill>
              </a:rPr>
              <a:t>D</a:t>
            </a:r>
            <a:endParaRPr lang="en-US" altLang="zh-CN"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A76B55F-C52C-46C6-B250-41DD539B70E6}"/>
              </a:ext>
            </a:extLst>
          </p:cNvPr>
          <p:cNvSpPr>
            <a:spLocks noChangeArrowheads="1"/>
          </p:cNvSpPr>
          <p:nvPr/>
        </p:nvSpPr>
        <p:spPr bwMode="auto">
          <a:xfrm>
            <a:off x="215516" y="3921056"/>
            <a:ext cx="788487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marL="342900" indent="-342900">
              <a:lnSpc>
                <a:spcPct val="120000"/>
              </a:lnSpc>
              <a:spcBef>
                <a:spcPct val="0"/>
              </a:spcBef>
              <a:buClrTx/>
              <a:buFont typeface="Wingdings" panose="05000000000000000000" pitchFamily="2" charset="2"/>
              <a:buChar char="Ø"/>
            </a:pPr>
            <a:r>
              <a:rPr lang="zh-CN" altLang="en-US" dirty="0">
                <a:solidFill>
                  <a:schemeClr val="tx1"/>
                </a:solidFill>
              </a:rPr>
              <a:t>从能带图看，空间电荷区形成后，</a:t>
            </a:r>
            <a:r>
              <a:rPr lang="en-US" altLang="zh-CN" dirty="0">
                <a:solidFill>
                  <a:schemeClr val="tx1"/>
                </a:solidFill>
              </a:rPr>
              <a:t>N</a:t>
            </a:r>
            <a:r>
              <a:rPr lang="zh-CN" altLang="en-US" dirty="0">
                <a:solidFill>
                  <a:schemeClr val="tx1"/>
                </a:solidFill>
              </a:rPr>
              <a:t>区导带电子如果要移动到</a:t>
            </a:r>
            <a:r>
              <a:rPr lang="en-US" altLang="zh-CN" dirty="0">
                <a:solidFill>
                  <a:schemeClr val="tx1"/>
                </a:solidFill>
              </a:rPr>
              <a:t>P</a:t>
            </a:r>
            <a:r>
              <a:rPr lang="zh-CN" altLang="en-US" dirty="0">
                <a:solidFill>
                  <a:schemeClr val="tx1"/>
                </a:solidFill>
              </a:rPr>
              <a:t>区，必须克服内建电场（</a:t>
            </a:r>
            <a:r>
              <a:rPr lang="en-US" altLang="zh-CN" dirty="0">
                <a:solidFill>
                  <a:schemeClr val="tx1"/>
                </a:solidFill>
              </a:rPr>
              <a:t>N→P</a:t>
            </a:r>
            <a:r>
              <a:rPr lang="zh-CN" altLang="en-US" dirty="0">
                <a:solidFill>
                  <a:schemeClr val="tx1"/>
                </a:solidFill>
              </a:rPr>
              <a:t>）的作用</a:t>
            </a:r>
          </a:p>
          <a:p>
            <a:pPr marL="342900" indent="-342900">
              <a:lnSpc>
                <a:spcPct val="120000"/>
              </a:lnSpc>
              <a:spcBef>
                <a:spcPct val="0"/>
              </a:spcBef>
              <a:buClrTx/>
              <a:buFont typeface="Wingdings" panose="05000000000000000000" pitchFamily="2" charset="2"/>
              <a:buChar char="Ø"/>
            </a:pPr>
            <a:r>
              <a:rPr lang="zh-CN" altLang="en-US" dirty="0">
                <a:solidFill>
                  <a:schemeClr val="tx1"/>
                </a:solidFill>
              </a:rPr>
              <a:t>从能量角度讲，电子需要克服由内建电场形成的静电势垒</a:t>
            </a:r>
            <a:r>
              <a:rPr lang="en-US" altLang="zh-CN" i="1" dirty="0">
                <a:solidFill>
                  <a:schemeClr val="tx1"/>
                </a:solidFill>
              </a:rPr>
              <a:t>qφ</a:t>
            </a:r>
            <a:r>
              <a:rPr lang="en-US" altLang="zh-CN" i="1" baseline="-25000" dirty="0">
                <a:solidFill>
                  <a:schemeClr val="tx1"/>
                </a:solidFill>
              </a:rPr>
              <a:t>0</a:t>
            </a:r>
            <a:r>
              <a:rPr lang="en-US" altLang="zh-CN" i="1" dirty="0">
                <a:solidFill>
                  <a:schemeClr val="tx1"/>
                </a:solidFill>
              </a:rPr>
              <a:t> </a:t>
            </a:r>
            <a:r>
              <a:rPr lang="zh-CN" altLang="en-US" dirty="0">
                <a:solidFill>
                  <a:schemeClr val="tx1"/>
                </a:solidFill>
              </a:rPr>
              <a:t>（</a:t>
            </a:r>
            <a:r>
              <a:rPr lang="en-US" altLang="zh-CN" i="1" dirty="0" err="1">
                <a:solidFill>
                  <a:schemeClr val="tx1"/>
                </a:solidFill>
              </a:rPr>
              <a:t>qU</a:t>
            </a:r>
            <a:r>
              <a:rPr lang="en-US" altLang="zh-CN" i="1" baseline="-25000" dirty="0" err="1">
                <a:solidFill>
                  <a:schemeClr val="tx1"/>
                </a:solidFill>
              </a:rPr>
              <a:t>D</a:t>
            </a:r>
            <a:r>
              <a:rPr lang="zh-CN" altLang="en-US" dirty="0">
                <a:solidFill>
                  <a:schemeClr val="tx1"/>
                </a:solidFill>
              </a:rPr>
              <a:t>）价带空穴的从</a:t>
            </a:r>
            <a:r>
              <a:rPr lang="en-US" altLang="zh-CN" dirty="0">
                <a:solidFill>
                  <a:schemeClr val="tx1"/>
                </a:solidFill>
              </a:rPr>
              <a:t>P</a:t>
            </a:r>
            <a:r>
              <a:rPr lang="zh-CN" altLang="en-US" dirty="0">
                <a:solidFill>
                  <a:schemeClr val="tx1"/>
                </a:solidFill>
              </a:rPr>
              <a:t>区到</a:t>
            </a:r>
            <a:r>
              <a:rPr lang="en-US" altLang="zh-CN" dirty="0">
                <a:solidFill>
                  <a:schemeClr val="tx1"/>
                </a:solidFill>
              </a:rPr>
              <a:t>N</a:t>
            </a:r>
            <a:r>
              <a:rPr lang="zh-CN" altLang="en-US" dirty="0">
                <a:solidFill>
                  <a:schemeClr val="tx1"/>
                </a:solidFill>
              </a:rPr>
              <a:t>区，也要克服这一势垒</a:t>
            </a:r>
          </a:p>
          <a:p>
            <a:pPr marL="342900" indent="-342900">
              <a:lnSpc>
                <a:spcPct val="120000"/>
              </a:lnSpc>
              <a:spcBef>
                <a:spcPct val="0"/>
              </a:spcBef>
              <a:buClrTx/>
              <a:buFont typeface="Wingdings" panose="05000000000000000000" pitchFamily="2" charset="2"/>
              <a:buChar char="Ø"/>
            </a:pPr>
            <a:r>
              <a:rPr lang="zh-CN" altLang="en-US" dirty="0">
                <a:solidFill>
                  <a:srgbClr val="FF3300"/>
                </a:solidFill>
              </a:rPr>
              <a:t>内建电势差</a:t>
            </a:r>
            <a:r>
              <a:rPr lang="zh-CN" altLang="en-US" dirty="0">
                <a:solidFill>
                  <a:schemeClr val="tx1"/>
                </a:solidFill>
              </a:rPr>
              <a:t>（</a:t>
            </a:r>
            <a:r>
              <a:rPr lang="en-US" altLang="zh-CN" i="1" dirty="0">
                <a:solidFill>
                  <a:schemeClr val="tx1"/>
                </a:solidFill>
              </a:rPr>
              <a:t>U</a:t>
            </a:r>
            <a:r>
              <a:rPr lang="en-US" altLang="zh-CN" i="1" baseline="-25000" dirty="0">
                <a:solidFill>
                  <a:schemeClr val="tx1"/>
                </a:solidFill>
              </a:rPr>
              <a:t>D</a:t>
            </a:r>
            <a:r>
              <a:rPr lang="zh-CN" altLang="en-US" dirty="0">
                <a:solidFill>
                  <a:schemeClr val="tx1"/>
                </a:solidFill>
              </a:rPr>
              <a:t>） </a:t>
            </a:r>
            <a:r>
              <a:rPr lang="en-US" altLang="zh-CN" i="1" dirty="0">
                <a:solidFill>
                  <a:srgbClr val="FF3300"/>
                </a:solidFill>
              </a:rPr>
              <a:t>φ</a:t>
            </a:r>
            <a:r>
              <a:rPr lang="en-US" altLang="zh-CN" i="1" baseline="-25000" dirty="0">
                <a:solidFill>
                  <a:srgbClr val="FF3300"/>
                </a:solidFill>
              </a:rPr>
              <a:t>0</a:t>
            </a:r>
            <a:r>
              <a:rPr lang="zh-CN" altLang="en-US" dirty="0">
                <a:solidFill>
                  <a:schemeClr val="tx1"/>
                </a:solidFill>
              </a:rPr>
              <a:t>：空间电荷区两侧由于内建电场产生的电势差</a:t>
            </a:r>
          </a:p>
        </p:txBody>
      </p:sp>
      <p:pic>
        <p:nvPicPr>
          <p:cNvPr id="6" name="Picture 7" descr="图片6">
            <a:extLst>
              <a:ext uri="{FF2B5EF4-FFF2-40B4-BE49-F238E27FC236}">
                <a16:creationId xmlns:a16="http://schemas.microsoft.com/office/drawing/2014/main" id="{B1D7AC00-90FC-44E4-AB1E-E92FA7711F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5284"/>
          <a:stretch>
            <a:fillRect/>
          </a:stretch>
        </p:blipFill>
        <p:spPr bwMode="auto">
          <a:xfrm>
            <a:off x="1513090" y="836712"/>
            <a:ext cx="5289727" cy="2923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E69DA83-7BB4-4000-8099-BF53FBC730B6}"/>
              </a:ext>
            </a:extLst>
          </p:cNvPr>
          <p:cNvSpPr/>
          <p:nvPr/>
        </p:nvSpPr>
        <p:spPr>
          <a:xfrm>
            <a:off x="109520" y="1769336"/>
            <a:ext cx="8733481" cy="1323439"/>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从费米能级恒定的观点来看，热平衡</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PN</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结具有统一的费米能级。形成</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PN</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结之前</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N</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区费米能级比</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P</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区费米能级高。形成</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PN</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结之后，费米能级恒定要求</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N</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区费米能级相对</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P</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区费米能级下降，则原费米电势差</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 </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即</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PN</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结中</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N</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型与</a:t>
            </a:r>
            <a:r>
              <a:rPr kumimoji="0" lang="en-US" altLang="zh-CN"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P</a:t>
            </a:r>
            <a:r>
              <a:rPr kumimoji="0" lang="zh-CN" altLang="en-US" sz="2000" b="1" i="0" u="none" strike="noStrike" kern="0" cap="none" spc="0" normalizeH="0" baseline="0" noProof="0" dirty="0">
                <a:ln>
                  <a:noFill/>
                </a:ln>
                <a:solidFill>
                  <a:srgbClr val="16165D"/>
                </a:solidFill>
                <a:effectLst/>
                <a:uLnTx/>
                <a:uFillTx/>
                <a:latin typeface="宋体" panose="02010600030101010101" pitchFamily="2" charset="-122"/>
                <a:ea typeface="宋体" panose="02010600030101010101" pitchFamily="2" charset="-122"/>
              </a:rPr>
              <a:t>型中性区间电势差</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7" name="Rectangle 2">
            <a:extLst>
              <a:ext uri="{FF2B5EF4-FFF2-40B4-BE49-F238E27FC236}">
                <a16:creationId xmlns:a16="http://schemas.microsoft.com/office/drawing/2014/main" id="{2E3E925E-587F-4CEF-8EC2-D6E14A82926F}"/>
              </a:ext>
            </a:extLst>
          </p:cNvPr>
          <p:cNvSpPr>
            <a:spLocks noGrp="1" noChangeArrowheads="1"/>
          </p:cNvSpPr>
          <p:nvPr>
            <p:ph type="title"/>
          </p:nvPr>
        </p:nvSpPr>
        <p:spPr>
          <a:xfrm>
            <a:off x="1655106" y="14246"/>
            <a:ext cx="5976664" cy="1462087"/>
          </a:xfrm>
        </p:spPr>
        <p:txBody>
          <a:bodyPr/>
          <a:lstStyle/>
          <a:p>
            <a:pPr>
              <a:lnSpc>
                <a:spcPct val="110000"/>
              </a:lnSpc>
              <a:spcBef>
                <a:spcPts val="0"/>
              </a:spcBef>
            </a:pPr>
            <a:r>
              <a:rPr lang="en-US" altLang="zh-CN" sz="3200" dirty="0">
                <a:latin typeface="Times New Roman" panose="02020603050405020304" pitchFamily="18" charset="0"/>
                <a:ea typeface="宋体" panose="02010600030101010101" pitchFamily="2" charset="-122"/>
              </a:rPr>
              <a:t>2.1.3 </a:t>
            </a:r>
            <a:r>
              <a:rPr lang="zh-CN" altLang="en-US" sz="3200" dirty="0">
                <a:latin typeface="Times New Roman" panose="02020603050405020304" pitchFamily="18" charset="0"/>
                <a:ea typeface="宋体" panose="02010600030101010101" pitchFamily="2" charset="-122"/>
              </a:rPr>
              <a:t>平衡</a:t>
            </a:r>
            <a:r>
              <a:rPr lang="en-US" altLang="zh-CN" sz="3200" dirty="0">
                <a:latin typeface="Times New Roman" panose="02020603050405020304" pitchFamily="18" charset="0"/>
                <a:ea typeface="宋体" panose="02010600030101010101" pitchFamily="2" charset="-122"/>
              </a:rPr>
              <a:t>PN</a:t>
            </a:r>
            <a:r>
              <a:rPr lang="zh-CN" altLang="en-US" sz="3200" dirty="0">
                <a:latin typeface="Times New Roman" panose="02020603050405020304" pitchFamily="18" charset="0"/>
                <a:ea typeface="宋体" panose="02010600030101010101" pitchFamily="2" charset="-122"/>
              </a:rPr>
              <a:t>结的接触电势差</a:t>
            </a:r>
          </a:p>
        </p:txBody>
      </p:sp>
      <p:sp>
        <p:nvSpPr>
          <p:cNvPr id="8" name="Rectangle 3">
            <a:extLst>
              <a:ext uri="{FF2B5EF4-FFF2-40B4-BE49-F238E27FC236}">
                <a16:creationId xmlns:a16="http://schemas.microsoft.com/office/drawing/2014/main" id="{BA7C6E36-7BFB-4406-9E8C-B381AE6E640C}"/>
              </a:ext>
            </a:extLst>
          </p:cNvPr>
          <p:cNvSpPr>
            <a:spLocks noGrp="1" noChangeArrowheads="1"/>
          </p:cNvSpPr>
          <p:nvPr>
            <p:ph type="body" sz="half" idx="1"/>
          </p:nvPr>
        </p:nvSpPr>
        <p:spPr>
          <a:xfrm>
            <a:off x="74737" y="992482"/>
            <a:ext cx="8985001" cy="1015663"/>
          </a:xfrm>
        </p:spPr>
        <p:txBody>
          <a:bodyPr wrap="square">
            <a:spAutoFit/>
          </a:bodyPr>
          <a:lstStyle/>
          <a:p>
            <a:pPr marL="0" indent="0">
              <a:lnSpc>
                <a:spcPct val="100000"/>
              </a:lnSpc>
              <a:spcBef>
                <a:spcPts val="0"/>
              </a:spcBef>
              <a:buNone/>
            </a:pPr>
            <a:r>
              <a:rPr lang="zh-CN" altLang="en-US" sz="2000" b="1" kern="0" dirty="0">
                <a:solidFill>
                  <a:srgbClr val="16165D"/>
                </a:solidFill>
                <a:latin typeface="宋体" panose="02010600030101010101" pitchFamily="2" charset="-122"/>
                <a:ea typeface="宋体" panose="02010600030101010101" pitchFamily="2" charset="-122"/>
              </a:rPr>
              <a:t>由于平衡</a:t>
            </a:r>
            <a:r>
              <a:rPr lang="en-US" altLang="zh-CN" sz="2000" b="1" kern="0" dirty="0">
                <a:solidFill>
                  <a:srgbClr val="16165D"/>
                </a:solidFill>
                <a:latin typeface="宋体" panose="02010600030101010101" pitchFamily="2" charset="-122"/>
                <a:ea typeface="宋体" panose="02010600030101010101" pitchFamily="2" charset="-122"/>
              </a:rPr>
              <a:t>PN</a:t>
            </a:r>
            <a:r>
              <a:rPr lang="zh-CN" altLang="en-US" sz="2000" b="1" kern="0" dirty="0">
                <a:solidFill>
                  <a:srgbClr val="16165D"/>
                </a:solidFill>
                <a:latin typeface="宋体" panose="02010600030101010101" pitchFamily="2" charset="-122"/>
                <a:ea typeface="宋体" panose="02010600030101010101" pitchFamily="2" charset="-122"/>
              </a:rPr>
              <a:t>结空间电荷区内存在自建电场，使得</a:t>
            </a:r>
            <a:r>
              <a:rPr lang="en-US" altLang="zh-CN" sz="2000" b="1" kern="0" dirty="0">
                <a:solidFill>
                  <a:srgbClr val="16165D"/>
                </a:solidFill>
                <a:latin typeface="宋体" panose="02010600030101010101" pitchFamily="2" charset="-122"/>
                <a:ea typeface="宋体" panose="02010600030101010101" pitchFamily="2" charset="-122"/>
              </a:rPr>
              <a:t>N</a:t>
            </a:r>
            <a:r>
              <a:rPr lang="zh-CN" altLang="en-US" sz="2000" b="1" kern="0" dirty="0">
                <a:solidFill>
                  <a:srgbClr val="16165D"/>
                </a:solidFill>
                <a:latin typeface="宋体" panose="02010600030101010101" pitchFamily="2" charset="-122"/>
                <a:ea typeface="宋体" panose="02010600030101010101" pitchFamily="2" charset="-122"/>
              </a:rPr>
              <a:t>区和</a:t>
            </a:r>
            <a:r>
              <a:rPr lang="en-US" altLang="zh-CN" sz="2000" b="1" kern="0" dirty="0">
                <a:solidFill>
                  <a:srgbClr val="16165D"/>
                </a:solidFill>
                <a:latin typeface="宋体" panose="02010600030101010101" pitchFamily="2" charset="-122"/>
                <a:ea typeface="宋体" panose="02010600030101010101" pitchFamily="2" charset="-122"/>
              </a:rPr>
              <a:t>P</a:t>
            </a:r>
            <a:r>
              <a:rPr lang="zh-CN" altLang="en-US" sz="2000" b="1" kern="0" dirty="0">
                <a:solidFill>
                  <a:srgbClr val="16165D"/>
                </a:solidFill>
                <a:latin typeface="宋体" panose="02010600030101010101" pitchFamily="2" charset="-122"/>
                <a:ea typeface="宋体" panose="02010600030101010101" pitchFamily="2" charset="-122"/>
              </a:rPr>
              <a:t>区之间存在电势差，把这个电势差称为</a:t>
            </a:r>
            <a:r>
              <a:rPr lang="en-US" altLang="zh-CN" sz="2000" b="1" kern="0" dirty="0">
                <a:solidFill>
                  <a:srgbClr val="16165D"/>
                </a:solidFill>
                <a:latin typeface="宋体" panose="02010600030101010101" pitchFamily="2" charset="-122"/>
                <a:ea typeface="宋体" panose="02010600030101010101" pitchFamily="2" charset="-122"/>
              </a:rPr>
              <a:t>PN</a:t>
            </a:r>
            <a:r>
              <a:rPr lang="zh-CN" altLang="en-US" sz="2000" b="1" kern="0" dirty="0">
                <a:solidFill>
                  <a:srgbClr val="16165D"/>
                </a:solidFill>
                <a:latin typeface="宋体" panose="02010600030101010101" pitchFamily="2" charset="-122"/>
                <a:ea typeface="宋体" panose="02010600030101010101" pitchFamily="2" charset="-122"/>
              </a:rPr>
              <a:t>结的接触电势差，用</a:t>
            </a:r>
            <a:r>
              <a:rPr lang="en-US" altLang="zh-CN" sz="2000" b="1" kern="0" dirty="0">
                <a:solidFill>
                  <a:srgbClr val="16165D"/>
                </a:solidFill>
                <a:latin typeface="宋体" panose="02010600030101010101" pitchFamily="2" charset="-122"/>
                <a:ea typeface="宋体" panose="02010600030101010101" pitchFamily="2" charset="-122"/>
              </a:rPr>
              <a:t>U</a:t>
            </a:r>
            <a:r>
              <a:rPr lang="en-US" altLang="zh-CN" sz="2000" b="1" kern="0" baseline="-25000" dirty="0">
                <a:solidFill>
                  <a:srgbClr val="16165D"/>
                </a:solidFill>
                <a:latin typeface="宋体" panose="02010600030101010101" pitchFamily="2" charset="-122"/>
                <a:ea typeface="宋体" panose="02010600030101010101" pitchFamily="2" charset="-122"/>
              </a:rPr>
              <a:t>D</a:t>
            </a:r>
            <a:r>
              <a:rPr lang="zh-CN" altLang="en-US" sz="2000" b="1" kern="0" dirty="0">
                <a:solidFill>
                  <a:srgbClr val="16165D"/>
                </a:solidFill>
                <a:latin typeface="宋体" panose="02010600030101010101" pitchFamily="2" charset="-122"/>
                <a:ea typeface="宋体" panose="02010600030101010101" pitchFamily="2" charset="-122"/>
              </a:rPr>
              <a:t>表示。</a:t>
            </a:r>
            <a:endParaRPr lang="en-US" altLang="zh-CN" sz="2000" b="1" kern="0" dirty="0">
              <a:solidFill>
                <a:srgbClr val="16165D"/>
              </a:solidFill>
              <a:latin typeface="宋体" panose="02010600030101010101" pitchFamily="2" charset="-122"/>
              <a:ea typeface="宋体" panose="02010600030101010101" pitchFamily="2" charset="-122"/>
            </a:endParaRPr>
          </a:p>
          <a:p>
            <a:pPr marL="0" indent="0">
              <a:lnSpc>
                <a:spcPct val="100000"/>
              </a:lnSpc>
              <a:spcBef>
                <a:spcPts val="0"/>
              </a:spcBef>
              <a:buNone/>
            </a:pPr>
            <a:endParaRPr lang="zh-CN" altLang="en-US" sz="2000" b="1" kern="0" dirty="0">
              <a:solidFill>
                <a:srgbClr val="16165D"/>
              </a:solidFill>
              <a:latin typeface="宋体" panose="02010600030101010101" pitchFamily="2" charset="-122"/>
              <a:ea typeface="宋体" panose="02010600030101010101" pitchFamily="2" charset="-122"/>
            </a:endParaRPr>
          </a:p>
        </p:txBody>
      </p:sp>
      <p:sp>
        <p:nvSpPr>
          <p:cNvPr id="9" name="Rectangle 7">
            <a:extLst>
              <a:ext uri="{FF2B5EF4-FFF2-40B4-BE49-F238E27FC236}">
                <a16:creationId xmlns:a16="http://schemas.microsoft.com/office/drawing/2014/main" id="{8B8E2C0F-7E09-4D00-B0FD-E0C9A4664AAE}"/>
              </a:ext>
            </a:extLst>
          </p:cNvPr>
          <p:cNvSpPr>
            <a:spLocks noChangeArrowheads="1"/>
          </p:cNvSpPr>
          <p:nvPr/>
        </p:nvSpPr>
        <p:spPr bwMode="auto">
          <a:xfrm>
            <a:off x="395288" y="3336925"/>
            <a:ext cx="632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未形成</a:t>
            </a:r>
            <a:r>
              <a:rPr kumimoji="0" lang="en-US" altLang="zh-CN" sz="2000" b="1">
                <a:solidFill>
                  <a:srgbClr val="16165D"/>
                </a:solidFill>
              </a:rPr>
              <a:t>PN</a:t>
            </a:r>
            <a:r>
              <a:rPr kumimoji="0" lang="zh-CN" altLang="en-US" sz="2000" b="1">
                <a:solidFill>
                  <a:srgbClr val="16165D"/>
                </a:solidFill>
              </a:rPr>
              <a:t>结之前的</a:t>
            </a:r>
            <a:r>
              <a:rPr kumimoji="0" lang="en-US" altLang="zh-CN" sz="2000" b="1">
                <a:solidFill>
                  <a:srgbClr val="16165D"/>
                </a:solidFill>
              </a:rPr>
              <a:t>N</a:t>
            </a:r>
            <a:r>
              <a:rPr kumimoji="0" lang="zh-CN" altLang="en-US" sz="2000" b="1">
                <a:solidFill>
                  <a:srgbClr val="16165D"/>
                </a:solidFill>
              </a:rPr>
              <a:t>区（</a:t>
            </a:r>
            <a:r>
              <a:rPr kumimoji="0" lang="en-US" altLang="zh-CN" sz="2000" b="1">
                <a:solidFill>
                  <a:srgbClr val="16165D"/>
                </a:solidFill>
              </a:rPr>
              <a:t>P</a:t>
            </a:r>
            <a:r>
              <a:rPr kumimoji="0" lang="zh-CN" altLang="en-US" sz="2000" b="1">
                <a:solidFill>
                  <a:srgbClr val="16165D"/>
                </a:solidFill>
              </a:rPr>
              <a:t>区）的电子（空穴）浓度为：</a:t>
            </a:r>
          </a:p>
        </p:txBody>
      </p:sp>
      <p:pic>
        <p:nvPicPr>
          <p:cNvPr id="10" name="Picture 4">
            <a:extLst>
              <a:ext uri="{FF2B5EF4-FFF2-40B4-BE49-F238E27FC236}">
                <a16:creationId xmlns:a16="http://schemas.microsoft.com/office/drawing/2014/main" id="{5E4A3B22-CB48-4D0D-AA9C-44EED98B5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3860800"/>
            <a:ext cx="2665412"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9">
            <a:extLst>
              <a:ext uri="{FF2B5EF4-FFF2-40B4-BE49-F238E27FC236}">
                <a16:creationId xmlns:a16="http://schemas.microsoft.com/office/drawing/2014/main" id="{E89C4EFE-8FFB-40F8-8EEC-54FB3AE67974}"/>
              </a:ext>
            </a:extLst>
          </p:cNvPr>
          <p:cNvSpPr>
            <a:spLocks noChangeArrowheads="1"/>
          </p:cNvSpPr>
          <p:nvPr/>
        </p:nvSpPr>
        <p:spPr bwMode="auto">
          <a:xfrm>
            <a:off x="395288" y="4418013"/>
            <a:ext cx="3506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可以得到分别的费米能级为：</a:t>
            </a:r>
          </a:p>
        </p:txBody>
      </p:sp>
      <p:pic>
        <p:nvPicPr>
          <p:cNvPr id="12" name="Picture 5">
            <a:extLst>
              <a:ext uri="{FF2B5EF4-FFF2-40B4-BE49-F238E27FC236}">
                <a16:creationId xmlns:a16="http://schemas.microsoft.com/office/drawing/2014/main" id="{EDFDEE4A-3EA2-44A2-984E-E9BF14A4B1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6738" y="4797425"/>
            <a:ext cx="21590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1">
            <a:extLst>
              <a:ext uri="{FF2B5EF4-FFF2-40B4-BE49-F238E27FC236}">
                <a16:creationId xmlns:a16="http://schemas.microsoft.com/office/drawing/2014/main" id="{46EA0D6C-6052-412C-B009-5D637B78A0EE}"/>
              </a:ext>
            </a:extLst>
          </p:cNvPr>
          <p:cNvSpPr>
            <a:spLocks noChangeArrowheads="1"/>
          </p:cNvSpPr>
          <p:nvPr/>
        </p:nvSpPr>
        <p:spPr bwMode="auto">
          <a:xfrm>
            <a:off x="168050" y="5981611"/>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再由热电势</a:t>
            </a:r>
          </a:p>
        </p:txBody>
      </p:sp>
      <p:pic>
        <p:nvPicPr>
          <p:cNvPr id="14" name="Picture 8">
            <a:extLst>
              <a:ext uri="{FF2B5EF4-FFF2-40B4-BE49-F238E27FC236}">
                <a16:creationId xmlns:a16="http://schemas.microsoft.com/office/drawing/2014/main" id="{5D36D6AC-E53D-4CEE-8AC0-8B92AE3D6A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1300" y="5837149"/>
            <a:ext cx="1079500"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3">
            <a:extLst>
              <a:ext uri="{FF2B5EF4-FFF2-40B4-BE49-F238E27FC236}">
                <a16:creationId xmlns:a16="http://schemas.microsoft.com/office/drawing/2014/main" id="{85ED448E-B38B-4DAD-955A-7E46787D0A16}"/>
              </a:ext>
            </a:extLst>
          </p:cNvPr>
          <p:cNvSpPr>
            <a:spLocks noChangeArrowheads="1"/>
          </p:cNvSpPr>
          <p:nvPr/>
        </p:nvSpPr>
        <p:spPr bwMode="auto">
          <a:xfrm>
            <a:off x="3120800" y="5960974"/>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，得：</a:t>
            </a:r>
          </a:p>
        </p:txBody>
      </p:sp>
      <p:graphicFrame>
        <p:nvGraphicFramePr>
          <p:cNvPr id="17" name="Object 6">
            <a:extLst>
              <a:ext uri="{FF2B5EF4-FFF2-40B4-BE49-F238E27FC236}">
                <a16:creationId xmlns:a16="http://schemas.microsoft.com/office/drawing/2014/main" id="{E427ED89-6EF9-406F-86E1-D1F9833344E7}"/>
              </a:ext>
            </a:extLst>
          </p:cNvPr>
          <p:cNvGraphicFramePr>
            <a:graphicFrameLocks noChangeAspect="1"/>
          </p:cNvGraphicFramePr>
          <p:nvPr/>
        </p:nvGraphicFramePr>
        <p:xfrm>
          <a:off x="4643438" y="4672013"/>
          <a:ext cx="2222500" cy="755650"/>
        </p:xfrm>
        <a:graphic>
          <a:graphicData uri="http://schemas.openxmlformats.org/presentationml/2006/ole">
            <mc:AlternateContent xmlns:mc="http://schemas.openxmlformats.org/markup-compatibility/2006">
              <mc:Choice xmlns:v="urn:schemas-microsoft-com:vml" Requires="v">
                <p:oleObj spid="_x0000_s123050" name="Equation" r:id="rId6" imgW="1269449" imgH="431613" progId="Equation.DSMT4">
                  <p:embed/>
                </p:oleObj>
              </mc:Choice>
              <mc:Fallback>
                <p:oleObj name="Equation" r:id="rId6" imgW="1269449" imgH="431613" progId="Equation.DSMT4">
                  <p:embed/>
                  <p:pic>
                    <p:nvPicPr>
                      <p:cNvPr id="537615" name="Object 6">
                        <a:extLst>
                          <a:ext uri="{FF2B5EF4-FFF2-40B4-BE49-F238E27FC236}">
                            <a16:creationId xmlns:a16="http://schemas.microsoft.com/office/drawing/2014/main" id="{C69A8819-8AB8-4B59-B98C-F7599DDAD6D0}"/>
                          </a:ext>
                        </a:extLst>
                      </p:cNvPr>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4672013"/>
                        <a:ext cx="22225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6">
            <a:extLst>
              <a:ext uri="{FF2B5EF4-FFF2-40B4-BE49-F238E27FC236}">
                <a16:creationId xmlns:a16="http://schemas.microsoft.com/office/drawing/2014/main" id="{D3D11E13-5AF1-4379-BA5E-CEDBA8FC63B0}"/>
              </a:ext>
            </a:extLst>
          </p:cNvPr>
          <p:cNvGraphicFramePr>
            <a:graphicFrameLocks noChangeAspect="1"/>
          </p:cNvGraphicFramePr>
          <p:nvPr>
            <p:extLst>
              <p:ext uri="{D42A27DB-BD31-4B8C-83A1-F6EECF244321}">
                <p14:modId xmlns:p14="http://schemas.microsoft.com/office/powerpoint/2010/main" val="541970852"/>
              </p:ext>
            </p:extLst>
          </p:nvPr>
        </p:nvGraphicFramePr>
        <p:xfrm>
          <a:off x="4468550" y="3775941"/>
          <a:ext cx="2312987" cy="468313"/>
        </p:xfrm>
        <a:graphic>
          <a:graphicData uri="http://schemas.openxmlformats.org/presentationml/2006/ole">
            <mc:AlternateContent xmlns:mc="http://schemas.openxmlformats.org/markup-compatibility/2006">
              <mc:Choice xmlns:v="urn:schemas-microsoft-com:vml" Requires="v">
                <p:oleObj spid="_x0000_s123051" name="Equation" r:id="rId8" imgW="1256755" imgH="253890" progId="Equation.DSMT4">
                  <p:embed/>
                </p:oleObj>
              </mc:Choice>
              <mc:Fallback>
                <p:oleObj name="Equation" r:id="rId8" imgW="1256755" imgH="253890" progId="Equation.DSMT4">
                  <p:embed/>
                  <p:pic>
                    <p:nvPicPr>
                      <p:cNvPr id="537616" name="Object 16">
                        <a:extLst>
                          <a:ext uri="{FF2B5EF4-FFF2-40B4-BE49-F238E27FC236}">
                            <a16:creationId xmlns:a16="http://schemas.microsoft.com/office/drawing/2014/main" id="{385F3218-8016-4BC3-BE47-CFD92E86EED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68550" y="3775941"/>
                        <a:ext cx="2312987"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4">
            <a:extLst>
              <a:ext uri="{FF2B5EF4-FFF2-40B4-BE49-F238E27FC236}">
                <a16:creationId xmlns:a16="http://schemas.microsoft.com/office/drawing/2014/main" id="{F45A3F73-E42D-4E82-97B4-314099CE7AB3}"/>
              </a:ext>
            </a:extLst>
          </p:cNvPr>
          <p:cNvGraphicFramePr>
            <a:graphicFrameLocks noGrp="1" noChangeAspect="1"/>
          </p:cNvGraphicFramePr>
          <p:nvPr>
            <p:ph sz="half" idx="2"/>
            <p:extLst>
              <p:ext uri="{D42A27DB-BD31-4B8C-83A1-F6EECF244321}">
                <p14:modId xmlns:p14="http://schemas.microsoft.com/office/powerpoint/2010/main" val="3759300072"/>
              </p:ext>
            </p:extLst>
          </p:nvPr>
        </p:nvGraphicFramePr>
        <p:xfrm>
          <a:off x="4152755" y="5789433"/>
          <a:ext cx="3671402" cy="781230"/>
        </p:xfrm>
        <a:graphic>
          <a:graphicData uri="http://schemas.openxmlformats.org/presentationml/2006/ole">
            <mc:AlternateContent xmlns:mc="http://schemas.openxmlformats.org/markup-compatibility/2006">
              <mc:Choice xmlns:v="urn:schemas-microsoft-com:vml" Requires="v">
                <p:oleObj spid="_x0000_s123052" name="Equation" r:id="rId10" imgW="2031840" imgH="431640" progId="Equation.DSMT4">
                  <p:embed/>
                </p:oleObj>
              </mc:Choice>
              <mc:Fallback>
                <p:oleObj name="Equation" r:id="rId10" imgW="2031840" imgH="431640" progId="Equation.DSMT4">
                  <p:embed/>
                  <p:pic>
                    <p:nvPicPr>
                      <p:cNvPr id="5" name="Object 4">
                        <a:extLst>
                          <a:ext uri="{FF2B5EF4-FFF2-40B4-BE49-F238E27FC236}">
                            <a16:creationId xmlns:a16="http://schemas.microsoft.com/office/drawing/2014/main" id="{604982BD-B32B-4D29-BDE8-186A9B885702}"/>
                          </a:ext>
                        </a:extLst>
                      </p:cNvPr>
                      <p:cNvPicPr>
                        <a:picLocks noChangeAspect="1" noChangeArrowheads="1"/>
                      </p:cNvPicPr>
                      <p:nvPr/>
                    </p:nvPicPr>
                    <p:blipFill>
                      <a:blip r:embed="rId11"/>
                      <a:srcRect/>
                      <a:stretch>
                        <a:fillRect/>
                      </a:stretch>
                    </p:blipFill>
                    <p:spPr bwMode="auto">
                      <a:xfrm>
                        <a:off x="4152755" y="5789433"/>
                        <a:ext cx="3671402" cy="781230"/>
                      </a:xfrm>
                      <a:prstGeom prst="rect">
                        <a:avLst/>
                      </a:prstGeom>
                      <a:noFill/>
                      <a:ln>
                        <a:noFill/>
                      </a:ln>
                      <a:effectLst/>
                      <a:extLst/>
                    </p:spPr>
                  </p:pic>
                </p:oleObj>
              </mc:Fallback>
            </mc:AlternateContent>
          </a:graphicData>
        </a:graphic>
      </p:graphicFrame>
      <p:pic>
        <p:nvPicPr>
          <p:cNvPr id="20" name="Picture 8">
            <a:extLst>
              <a:ext uri="{FF2B5EF4-FFF2-40B4-BE49-F238E27FC236}">
                <a16:creationId xmlns:a16="http://schemas.microsoft.com/office/drawing/2014/main" id="{459A2557-B9EE-4553-B15B-CD2CAF28BF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5573" y="5837149"/>
            <a:ext cx="934583" cy="65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21" name="Object 4">
                <a:extLst>
                  <a:ext uri="{FF2B5EF4-FFF2-40B4-BE49-F238E27FC236}">
                    <a16:creationId xmlns:a16="http://schemas.microsoft.com/office/drawing/2014/main" id="{84D024C4-E550-4B02-8F2E-4C94E642DC3D}"/>
                  </a:ext>
                </a:extLst>
              </p:cNvPr>
              <p:cNvSpPr txBox="1"/>
              <p:nvPr/>
            </p:nvSpPr>
            <p:spPr bwMode="auto">
              <a:xfrm>
                <a:off x="3303588" y="2860675"/>
                <a:ext cx="2060500" cy="611512"/>
              </a:xfrm>
              <a:prstGeom prst="rect">
                <a:avLst/>
              </a:prstGeom>
              <a:noFill/>
              <a:ln>
                <a:noFill/>
              </a:ln>
              <a:effectLst/>
              <a:ex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𝑈</m:t>
                          </m:r>
                        </m:e>
                        <m:sub>
                          <m:r>
                            <a:rPr lang="zh-CN" altLang="en-US" i="1">
                              <a:solidFill>
                                <a:srgbClr val="000000"/>
                              </a:solidFill>
                              <a:latin typeface="Cambria Math" panose="02040503050406030204" pitchFamily="18" charset="0"/>
                            </a:rPr>
                            <m:t>𝐷</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𝐹𝑛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𝐸</m:t>
                          </m:r>
                        </m:e>
                        <m:sub>
                          <m:r>
                            <a:rPr lang="zh-CN" altLang="en-US" i="1">
                              <a:solidFill>
                                <a:srgbClr val="000000"/>
                              </a:solidFill>
                              <a:latin typeface="Cambria Math" panose="02040503050406030204" pitchFamily="18" charset="0"/>
                            </a:rPr>
                            <m:t>𝐹𝑝</m:t>
                          </m:r>
                        </m:sub>
                      </m:sSub>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𝑞</m:t>
                      </m:r>
                    </m:oMath>
                  </m:oMathPara>
                </a14:m>
                <a:endParaRPr lang="zh-CN" altLang="en-US" dirty="0"/>
              </a:p>
            </p:txBody>
          </p:sp>
        </mc:Choice>
        <mc:Fallback>
          <p:sp>
            <p:nvSpPr>
              <p:cNvPr id="21" name="Object 4">
                <a:extLst>
                  <a:ext uri="{FF2B5EF4-FFF2-40B4-BE49-F238E27FC236}">
                    <a16:creationId xmlns:a16="http://schemas.microsoft.com/office/drawing/2014/main" id="{84D024C4-E550-4B02-8F2E-4C94E642DC3D}"/>
                  </a:ext>
                </a:extLst>
              </p:cNvPr>
              <p:cNvSpPr txBox="1">
                <a:spLocks noRot="1" noChangeAspect="1" noMove="1" noResize="1" noEditPoints="1" noAdjustHandles="1" noChangeArrowheads="1" noChangeShapeType="1" noTextEdit="1"/>
              </p:cNvSpPr>
              <p:nvPr/>
            </p:nvSpPr>
            <p:spPr bwMode="auto">
              <a:xfrm>
                <a:off x="3303588" y="2860675"/>
                <a:ext cx="2060500" cy="611512"/>
              </a:xfrm>
              <a:prstGeom prst="rect">
                <a:avLst/>
              </a:prstGeom>
              <a:blipFill>
                <a:blip r:embed="rId12"/>
                <a:stretch>
                  <a:fillRect/>
                </a:stretch>
              </a:blipFill>
              <a:ln>
                <a:noFill/>
              </a:ln>
              <a:effectLst/>
              <a:extLst/>
            </p:spPr>
            <p:txBody>
              <a:bodyPr/>
              <a:lstStyle/>
              <a:p>
                <a:r>
                  <a:rPr lang="zh-CN" altLang="en-US">
                    <a:noFill/>
                  </a:rPr>
                  <a:t> </a:t>
                </a:r>
              </a:p>
            </p:txBody>
          </p:sp>
        </mc:Fallback>
      </mc:AlternateContent>
    </p:spTree>
    <p:extLst>
      <p:ext uri="{BB962C8B-B14F-4D97-AF65-F5344CB8AC3E}">
        <p14:creationId xmlns:p14="http://schemas.microsoft.com/office/powerpoint/2010/main" val="53037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par>
                                <p:cTn id="38" presetID="3" presetClass="entr" presetSubtype="1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blinds(horizontal)">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blinds(horizontal)">
                                      <p:cBhvr>
                                        <p:cTn id="45" dur="500"/>
                                        <p:tgtEl>
                                          <p:spTgt spid="15"/>
                                        </p:tgtEl>
                                      </p:cBhvr>
                                    </p:animEffect>
                                  </p:childTnLst>
                                </p:cTn>
                              </p:par>
                              <p:par>
                                <p:cTn id="46" presetID="3" presetClass="entr" presetSubtype="1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blinds(horizontal)">
                                      <p:cBhvr>
                                        <p:cTn id="4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BCD6961D-FE48-443A-921F-DAA1D5B78514}"/>
              </a:ext>
            </a:extLst>
          </p:cNvPr>
          <p:cNvSpPr/>
          <p:nvPr/>
        </p:nvSpPr>
        <p:spPr>
          <a:xfrm>
            <a:off x="575556" y="3284984"/>
            <a:ext cx="7992888" cy="1200329"/>
          </a:xfrm>
          <a:prstGeom prst="rect">
            <a:avLst/>
          </a:prstGeom>
        </p:spPr>
        <p:txBody>
          <a:bodyPr wrap="square">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该式表明接触电势差与结两边的掺杂浓度、温度及材料的禁带宽度有关。</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dirty="0">
                <a:latin typeface="Times New Roman" panose="02020603050405020304" pitchFamily="18" charset="0"/>
                <a:ea typeface="宋体" panose="02010600030101010101" pitchFamily="2" charset="-122"/>
                <a:cs typeface="Times New Roman" panose="02020603050405020304" pitchFamily="18" charset="0"/>
              </a:rPr>
              <a:t>在一定的温度下．掺杂浓度越高、</a:t>
            </a:r>
            <a:r>
              <a:rPr lang="en-US" altLang="zh-CN" dirty="0">
                <a:latin typeface="Times New Roman" panose="02020603050405020304" pitchFamily="18" charset="0"/>
                <a:ea typeface="宋体" panose="02010600030101010101" pitchFamily="2" charset="-122"/>
                <a:cs typeface="Times New Roman" panose="02020603050405020304" pitchFamily="18" charset="0"/>
              </a:rPr>
              <a:t>U</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dirty="0">
                <a:latin typeface="Times New Roman" panose="02020603050405020304" pitchFamily="18" charset="0"/>
                <a:ea typeface="宋体" panose="02010600030101010101" pitchFamily="2" charset="-122"/>
                <a:cs typeface="Times New Roman" panose="02020603050405020304" pitchFamily="18" charset="0"/>
              </a:rPr>
              <a:t>越大；</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dirty="0">
                <a:latin typeface="Times New Roman" panose="02020603050405020304" pitchFamily="18" charset="0"/>
                <a:ea typeface="宋体" panose="02010600030101010101" pitchFamily="2" charset="-122"/>
                <a:cs typeface="Times New Roman" panose="02020603050405020304" pitchFamily="18" charset="0"/>
              </a:rPr>
              <a:t>禁带宽度越宽，</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baseline="-25000" dirty="0" err="1">
                <a:latin typeface="Times New Roman" panose="02020603050405020304" pitchFamily="18" charset="0"/>
                <a:ea typeface="宋体" panose="02010600030101010101" pitchFamily="2" charset="-122"/>
                <a:cs typeface="Times New Roman" panose="02020603050405020304" pitchFamily="18" charset="0"/>
              </a:rPr>
              <a:t>i</a:t>
            </a:r>
            <a:r>
              <a:rPr lang="zh-CN" altLang="en-US" dirty="0">
                <a:latin typeface="Times New Roman" panose="02020603050405020304" pitchFamily="18" charset="0"/>
                <a:ea typeface="宋体" panose="02010600030101010101" pitchFamily="2" charset="-122"/>
                <a:cs typeface="Times New Roman" panose="02020603050405020304" pitchFamily="18" charset="0"/>
              </a:rPr>
              <a:t>越小，则</a:t>
            </a:r>
            <a:r>
              <a:rPr lang="en-US" altLang="zh-CN" dirty="0">
                <a:latin typeface="Times New Roman" panose="02020603050405020304" pitchFamily="18" charset="0"/>
                <a:ea typeface="宋体" panose="02010600030101010101" pitchFamily="2" charset="-122"/>
                <a:cs typeface="Times New Roman" panose="02020603050405020304" pitchFamily="18" charset="0"/>
              </a:rPr>
              <a:t>U</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dirty="0">
                <a:latin typeface="Times New Roman" panose="02020603050405020304" pitchFamily="18" charset="0"/>
                <a:ea typeface="宋体" panose="02010600030101010101" pitchFamily="2" charset="-122"/>
                <a:cs typeface="Times New Roman" panose="02020603050405020304" pitchFamily="18" charset="0"/>
              </a:rPr>
              <a:t>越大。</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dirty="0">
                <a:latin typeface="Times New Roman" panose="02020603050405020304" pitchFamily="18" charset="0"/>
                <a:ea typeface="宋体" panose="02010600030101010101" pitchFamily="2" charset="-122"/>
                <a:cs typeface="Times New Roman" panose="02020603050405020304" pitchFamily="18" charset="0"/>
              </a:rPr>
              <a:t>若</a:t>
            </a:r>
            <a:r>
              <a:rPr lang="en-US" altLang="zh-CN"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的温度升高，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baseline="-25000" dirty="0" err="1">
                <a:latin typeface="Times New Roman" panose="02020603050405020304" pitchFamily="18" charset="0"/>
                <a:ea typeface="宋体" panose="02010600030101010101" pitchFamily="2" charset="-122"/>
                <a:cs typeface="Times New Roman" panose="02020603050405020304" pitchFamily="18" charset="0"/>
              </a:rPr>
              <a:t>i</a:t>
            </a:r>
            <a:r>
              <a:rPr lang="zh-CN" altLang="en-US" dirty="0">
                <a:latin typeface="Times New Roman" panose="02020603050405020304" pitchFamily="18" charset="0"/>
                <a:ea typeface="宋体" panose="02010600030101010101" pitchFamily="2" charset="-122"/>
                <a:cs typeface="Times New Roman" panose="02020603050405020304" pitchFamily="18" charset="0"/>
              </a:rPr>
              <a:t>增大，所以</a:t>
            </a:r>
            <a:r>
              <a:rPr lang="en-US" altLang="zh-CN" dirty="0">
                <a:latin typeface="Times New Roman" panose="02020603050405020304" pitchFamily="18" charset="0"/>
                <a:ea typeface="宋体" panose="02010600030101010101" pitchFamily="2" charset="-122"/>
                <a:cs typeface="Times New Roman" panose="02020603050405020304" pitchFamily="18" charset="0"/>
              </a:rPr>
              <a:t>U</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变小。</a:t>
            </a:r>
          </a:p>
        </p:txBody>
      </p:sp>
      <p:graphicFrame>
        <p:nvGraphicFramePr>
          <p:cNvPr id="11" name="Object 4">
            <a:extLst>
              <a:ext uri="{FF2B5EF4-FFF2-40B4-BE49-F238E27FC236}">
                <a16:creationId xmlns:a16="http://schemas.microsoft.com/office/drawing/2014/main" id="{1DEB0954-FE8B-4143-A5E1-BF93CCB20DE4}"/>
              </a:ext>
            </a:extLst>
          </p:cNvPr>
          <p:cNvGraphicFramePr>
            <a:graphicFrameLocks noGrp="1" noChangeAspect="1"/>
          </p:cNvGraphicFramePr>
          <p:nvPr>
            <p:ph sz="half" idx="2"/>
            <p:extLst>
              <p:ext uri="{D42A27DB-BD31-4B8C-83A1-F6EECF244321}">
                <p14:modId xmlns:p14="http://schemas.microsoft.com/office/powerpoint/2010/main" val="599384853"/>
              </p:ext>
            </p:extLst>
          </p:nvPr>
        </p:nvGraphicFramePr>
        <p:xfrm>
          <a:off x="2250336" y="2252945"/>
          <a:ext cx="3671402" cy="781230"/>
        </p:xfrm>
        <a:graphic>
          <a:graphicData uri="http://schemas.openxmlformats.org/presentationml/2006/ole">
            <mc:AlternateContent xmlns:mc="http://schemas.openxmlformats.org/markup-compatibility/2006">
              <mc:Choice xmlns:v="urn:schemas-microsoft-com:vml" Requires="v">
                <p:oleObj spid="_x0000_s123953" name="Equation" r:id="rId3" imgW="2031840" imgH="431640" progId="Equation.DSMT4">
                  <p:embed/>
                </p:oleObj>
              </mc:Choice>
              <mc:Fallback>
                <p:oleObj name="Equation" r:id="rId3" imgW="2031840" imgH="431640" progId="Equation.DSMT4">
                  <p:embed/>
                  <p:pic>
                    <p:nvPicPr>
                      <p:cNvPr id="19" name="Object 4">
                        <a:extLst>
                          <a:ext uri="{FF2B5EF4-FFF2-40B4-BE49-F238E27FC236}">
                            <a16:creationId xmlns:a16="http://schemas.microsoft.com/office/drawing/2014/main" id="{F45A3F73-E42D-4E82-97B4-314099CE7AB3}"/>
                          </a:ext>
                        </a:extLst>
                      </p:cNvPr>
                      <p:cNvPicPr>
                        <a:picLocks noChangeAspect="1" noChangeArrowheads="1"/>
                      </p:cNvPicPr>
                      <p:nvPr/>
                    </p:nvPicPr>
                    <p:blipFill>
                      <a:blip r:embed="rId4"/>
                      <a:srcRect/>
                      <a:stretch>
                        <a:fillRect/>
                      </a:stretch>
                    </p:blipFill>
                    <p:spPr bwMode="auto">
                      <a:xfrm>
                        <a:off x="2250336" y="2252945"/>
                        <a:ext cx="3671402" cy="78123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042527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5C43596-B83E-4628-8AC2-F88FB25BEAB5}"/>
              </a:ext>
            </a:extLst>
          </p:cNvPr>
          <p:cNvSpPr>
            <a:spLocks noGrp="1" noChangeArrowheads="1"/>
          </p:cNvSpPr>
          <p:nvPr>
            <p:ph type="title"/>
          </p:nvPr>
        </p:nvSpPr>
        <p:spPr/>
        <p:txBody>
          <a:bodyPr/>
          <a:lstStyle/>
          <a:p>
            <a:pPr>
              <a:lnSpc>
                <a:spcPct val="110000"/>
              </a:lnSpc>
              <a:spcBef>
                <a:spcPts val="0"/>
              </a:spcBef>
            </a:pPr>
            <a:r>
              <a:rPr lang="en-US" altLang="zh-CN" sz="3200">
                <a:latin typeface="Times New Roman" panose="02020603050405020304" pitchFamily="18" charset="0"/>
                <a:ea typeface="宋体" panose="02010600030101010101" pitchFamily="2" charset="-122"/>
              </a:rPr>
              <a:t>2.1.4 </a:t>
            </a:r>
            <a:r>
              <a:rPr lang="zh-CN" altLang="en-US" sz="3200">
                <a:latin typeface="Times New Roman" panose="02020603050405020304" pitchFamily="18" charset="0"/>
                <a:ea typeface="宋体" panose="02010600030101010101" pitchFamily="2" charset="-122"/>
              </a:rPr>
              <a:t>平衡</a:t>
            </a:r>
            <a:r>
              <a:rPr lang="en-US" altLang="zh-CN" sz="3200">
                <a:latin typeface="Times New Roman" panose="02020603050405020304" pitchFamily="18" charset="0"/>
                <a:ea typeface="宋体" panose="02010600030101010101" pitchFamily="2" charset="-122"/>
              </a:rPr>
              <a:t>PN</a:t>
            </a:r>
            <a:r>
              <a:rPr lang="zh-CN" altLang="en-US" sz="3200">
                <a:latin typeface="Times New Roman" panose="02020603050405020304" pitchFamily="18" charset="0"/>
                <a:ea typeface="宋体" panose="02010600030101010101" pitchFamily="2" charset="-122"/>
              </a:rPr>
              <a:t>结的载流子浓度分布</a:t>
            </a:r>
          </a:p>
        </p:txBody>
      </p:sp>
      <p:sp>
        <p:nvSpPr>
          <p:cNvPr id="36870" name="Rectangle 6">
            <a:extLst>
              <a:ext uri="{FF2B5EF4-FFF2-40B4-BE49-F238E27FC236}">
                <a16:creationId xmlns:a16="http://schemas.microsoft.com/office/drawing/2014/main" id="{EEFF5ACE-2BA7-4897-A999-A74A1D435C9F}"/>
              </a:ext>
            </a:extLst>
          </p:cNvPr>
          <p:cNvSpPr>
            <a:spLocks noGrp="1" noChangeArrowheads="1"/>
          </p:cNvSpPr>
          <p:nvPr>
            <p:ph idx="1"/>
          </p:nvPr>
        </p:nvSpPr>
        <p:spPr>
          <a:xfrm>
            <a:off x="3830029" y="1844824"/>
            <a:ext cx="4824536" cy="3485711"/>
          </a:xfrm>
        </p:spPr>
        <p:txBody>
          <a:bodyPr>
            <a:normAutofit/>
          </a:bodyPr>
          <a:lstStyle/>
          <a:p>
            <a:pPr>
              <a:lnSpc>
                <a:spcPct val="110000"/>
              </a:lnSpc>
              <a:spcBef>
                <a:spcPts val="0"/>
              </a:spcBef>
            </a:pPr>
            <a:r>
              <a:rPr lang="zh-CN" altLang="en-US" sz="2000" dirty="0">
                <a:latin typeface="Times New Roman" panose="02020603050405020304" pitchFamily="18" charset="0"/>
                <a:ea typeface="宋体" panose="02010600030101010101" pitchFamily="2" charset="-122"/>
              </a:rPr>
              <a:t>在空间电荷区靠</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边界</a:t>
            </a:r>
            <a:r>
              <a:rPr lang="en-US" altLang="zh-CN" sz="2000" dirty="0">
                <a:latin typeface="Times New Roman" panose="02020603050405020304" pitchFamily="18" charset="0"/>
                <a:ea typeface="宋体" panose="02010600030101010101" pitchFamily="2" charset="-122"/>
              </a:rPr>
              <a:t>X</a:t>
            </a:r>
            <a:r>
              <a:rPr lang="en-US" altLang="zh-CN" sz="2000" baseline="-25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处，电子浓度等于</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区的平衡少子浓度</a:t>
            </a:r>
            <a:r>
              <a:rPr lang="en-US" altLang="zh-CN" sz="2000" dirty="0">
                <a:latin typeface="Times New Roman" panose="02020603050405020304" pitchFamily="18" charset="0"/>
                <a:ea typeface="宋体" panose="02010600030101010101" pitchFamily="2" charset="-122"/>
              </a:rPr>
              <a:t>n</a:t>
            </a:r>
            <a:r>
              <a:rPr lang="en-US" altLang="zh-CN" sz="2000" baseline="-25000" dirty="0">
                <a:latin typeface="Times New Roman" panose="02020603050405020304" pitchFamily="18" charset="0"/>
                <a:ea typeface="宋体" panose="02010600030101010101" pitchFamily="2" charset="-122"/>
              </a:rPr>
              <a:t>P0</a:t>
            </a:r>
            <a:r>
              <a:rPr lang="zh-CN" altLang="en-US" sz="2000" dirty="0">
                <a:latin typeface="Times New Roman" panose="02020603050405020304" pitchFamily="18" charset="0"/>
                <a:ea typeface="宋体" panose="02010600030101010101" pitchFamily="2" charset="-122"/>
              </a:rPr>
              <a:t>；空穴浓度等于</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区的平衡多子浓度</a:t>
            </a:r>
            <a:r>
              <a:rPr lang="en-US" altLang="zh-CN" sz="2000" dirty="0">
                <a:latin typeface="Times New Roman" panose="02020603050405020304" pitchFamily="18" charset="0"/>
                <a:ea typeface="宋体" panose="02010600030101010101" pitchFamily="2" charset="-122"/>
              </a:rPr>
              <a:t>P</a:t>
            </a:r>
            <a:r>
              <a:rPr lang="en-US" altLang="zh-CN" sz="2000" baseline="-25000" dirty="0">
                <a:latin typeface="Times New Roman" panose="02020603050405020304" pitchFamily="18" charset="0"/>
                <a:ea typeface="宋体" panose="02010600030101010101" pitchFamily="2" charset="-122"/>
              </a:rPr>
              <a:t>P0</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a:lnSpc>
                <a:spcPct val="110000"/>
              </a:lnSpc>
              <a:spcBef>
                <a:spcPts val="0"/>
              </a:spcBef>
            </a:pPr>
            <a:r>
              <a:rPr lang="zh-CN" altLang="en-US" sz="2000" dirty="0">
                <a:latin typeface="Times New Roman" panose="02020603050405020304" pitchFamily="18" charset="0"/>
                <a:ea typeface="宋体" panose="02010600030101010101" pitchFamily="2" charset="-122"/>
              </a:rPr>
              <a:t>在空间电荷区靠</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边界</a:t>
            </a:r>
            <a:r>
              <a:rPr lang="en-US" altLang="zh-CN" sz="2000" dirty="0">
                <a:latin typeface="Times New Roman" panose="02020603050405020304" pitchFamily="18" charset="0"/>
                <a:ea typeface="宋体" panose="02010600030101010101" pitchFamily="2" charset="-122"/>
              </a:rPr>
              <a:t>X</a:t>
            </a:r>
            <a:r>
              <a:rPr lang="en-US" altLang="zh-CN" sz="2000" baseline="-25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处，空穴浓度等于</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区的平衡少子浓度</a:t>
            </a:r>
            <a:r>
              <a:rPr lang="en-US" altLang="zh-CN" sz="2000" dirty="0">
                <a:latin typeface="Times New Roman" panose="02020603050405020304" pitchFamily="18" charset="0"/>
                <a:ea typeface="宋体" panose="02010600030101010101" pitchFamily="2" charset="-122"/>
              </a:rPr>
              <a:t>P</a:t>
            </a:r>
            <a:r>
              <a:rPr lang="en-US" altLang="zh-CN" sz="2000" baseline="-25000" dirty="0">
                <a:latin typeface="Times New Roman" panose="02020603050405020304" pitchFamily="18" charset="0"/>
                <a:ea typeface="宋体" panose="02010600030101010101" pitchFamily="2" charset="-122"/>
              </a:rPr>
              <a:t>N0</a:t>
            </a:r>
            <a:r>
              <a:rPr lang="zh-CN" altLang="en-US" sz="2000" dirty="0">
                <a:latin typeface="Times New Roman" panose="02020603050405020304" pitchFamily="18" charset="0"/>
                <a:ea typeface="宋体" panose="02010600030101010101" pitchFamily="2" charset="-122"/>
              </a:rPr>
              <a:t>，而电子浓度等于</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区的平衡多子浓度</a:t>
            </a:r>
            <a:r>
              <a:rPr lang="en-US" altLang="zh-CN" sz="2000" dirty="0">
                <a:latin typeface="Times New Roman" panose="02020603050405020304" pitchFamily="18" charset="0"/>
                <a:ea typeface="宋体" panose="02010600030101010101" pitchFamily="2" charset="-122"/>
              </a:rPr>
              <a:t>n</a:t>
            </a:r>
            <a:r>
              <a:rPr lang="en-US" altLang="zh-CN" sz="2000" baseline="-25000" dirty="0">
                <a:latin typeface="Times New Roman" panose="02020603050405020304" pitchFamily="18" charset="0"/>
                <a:ea typeface="宋体" panose="02010600030101010101" pitchFamily="2" charset="-122"/>
              </a:rPr>
              <a:t>N0</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a:lnSpc>
                <a:spcPct val="110000"/>
              </a:lnSpc>
              <a:spcBef>
                <a:spcPts val="0"/>
              </a:spcBef>
            </a:pPr>
            <a:r>
              <a:rPr lang="zh-CN" altLang="en-US" sz="2000" dirty="0">
                <a:solidFill>
                  <a:srgbClr val="FF0000"/>
                </a:solidFill>
                <a:latin typeface="Times New Roman" panose="02020603050405020304" pitchFamily="18" charset="0"/>
                <a:ea typeface="宋体" panose="02010600030101010101" pitchFamily="2" charset="-122"/>
              </a:rPr>
              <a:t>在空间电荷区之内，空穴浓度从</a:t>
            </a:r>
            <a:r>
              <a:rPr lang="en-US" altLang="zh-CN" sz="2000" dirty="0">
                <a:solidFill>
                  <a:srgbClr val="FF0000"/>
                </a:solidFill>
                <a:latin typeface="Times New Roman" panose="02020603050405020304" pitchFamily="18" charset="0"/>
                <a:ea typeface="宋体" panose="02010600030101010101" pitchFamily="2" charset="-122"/>
              </a:rPr>
              <a:t>X</a:t>
            </a:r>
            <a:r>
              <a:rPr lang="en-US" altLang="zh-CN" sz="2000" baseline="-25000" dirty="0">
                <a:solidFill>
                  <a:srgbClr val="FF0000"/>
                </a:solidFill>
                <a:latin typeface="Times New Roman" panose="02020603050405020304" pitchFamily="18" charset="0"/>
                <a:ea typeface="宋体" panose="02010600030101010101" pitchFamily="2" charset="-122"/>
              </a:rPr>
              <a:t>P</a:t>
            </a:r>
            <a:r>
              <a:rPr lang="zh-CN" altLang="en-US" sz="2000" dirty="0">
                <a:solidFill>
                  <a:srgbClr val="FF0000"/>
                </a:solidFill>
                <a:latin typeface="Times New Roman" panose="02020603050405020304" pitchFamily="18" charset="0"/>
                <a:ea typeface="宋体" panose="02010600030101010101" pitchFamily="2" charset="-122"/>
              </a:rPr>
              <a:t>处的</a:t>
            </a:r>
            <a:r>
              <a:rPr lang="en-US" altLang="zh-CN" sz="2000" dirty="0">
                <a:solidFill>
                  <a:srgbClr val="FF0000"/>
                </a:solidFill>
                <a:latin typeface="Times New Roman" panose="02020603050405020304" pitchFamily="18" charset="0"/>
                <a:ea typeface="宋体" panose="02010600030101010101" pitchFamily="2" charset="-122"/>
              </a:rPr>
              <a:t>p</a:t>
            </a:r>
            <a:r>
              <a:rPr lang="en-US" altLang="zh-CN" sz="2000" baseline="-25000" dirty="0">
                <a:solidFill>
                  <a:srgbClr val="FF0000"/>
                </a:solidFill>
                <a:latin typeface="Times New Roman" panose="02020603050405020304" pitchFamily="18" charset="0"/>
                <a:ea typeface="宋体" panose="02010600030101010101" pitchFamily="2" charset="-122"/>
              </a:rPr>
              <a:t>P0</a:t>
            </a:r>
            <a:r>
              <a:rPr lang="zh-CN" altLang="en-US" sz="2000" dirty="0">
                <a:solidFill>
                  <a:srgbClr val="FF0000"/>
                </a:solidFill>
                <a:latin typeface="Times New Roman" panose="02020603050405020304" pitchFamily="18" charset="0"/>
                <a:ea typeface="宋体" panose="02010600030101010101" pitchFamily="2" charset="-122"/>
              </a:rPr>
              <a:t>减小到</a:t>
            </a:r>
            <a:r>
              <a:rPr lang="en-US" altLang="zh-CN" sz="2000" dirty="0">
                <a:solidFill>
                  <a:srgbClr val="FF0000"/>
                </a:solidFill>
                <a:latin typeface="Times New Roman" panose="02020603050405020304" pitchFamily="18" charset="0"/>
                <a:ea typeface="宋体" panose="02010600030101010101" pitchFamily="2" charset="-122"/>
              </a:rPr>
              <a:t>X</a:t>
            </a:r>
            <a:r>
              <a:rPr lang="en-US" altLang="zh-CN" sz="2000" baseline="-25000" dirty="0">
                <a:solidFill>
                  <a:srgbClr val="FF0000"/>
                </a:solidFill>
                <a:latin typeface="Times New Roman" panose="02020603050405020304" pitchFamily="18" charset="0"/>
                <a:ea typeface="宋体" panose="02010600030101010101" pitchFamily="2" charset="-122"/>
              </a:rPr>
              <a:t>N</a:t>
            </a:r>
            <a:r>
              <a:rPr lang="zh-CN" altLang="en-US" sz="2000" dirty="0">
                <a:solidFill>
                  <a:srgbClr val="FF0000"/>
                </a:solidFill>
                <a:latin typeface="Times New Roman" panose="02020603050405020304" pitchFamily="18" charset="0"/>
                <a:ea typeface="宋体" panose="02010600030101010101" pitchFamily="2" charset="-122"/>
              </a:rPr>
              <a:t>处的</a:t>
            </a:r>
            <a:r>
              <a:rPr lang="en-US" altLang="zh-CN" sz="2000" dirty="0">
                <a:solidFill>
                  <a:srgbClr val="FF0000"/>
                </a:solidFill>
                <a:latin typeface="Times New Roman" panose="02020603050405020304" pitchFamily="18" charset="0"/>
                <a:ea typeface="宋体" panose="02010600030101010101" pitchFamily="2" charset="-122"/>
              </a:rPr>
              <a:t>p</a:t>
            </a:r>
            <a:r>
              <a:rPr lang="en-US" altLang="zh-CN" sz="2000" baseline="-25000" dirty="0">
                <a:solidFill>
                  <a:srgbClr val="FF0000"/>
                </a:solidFill>
                <a:latin typeface="Times New Roman" panose="02020603050405020304" pitchFamily="18" charset="0"/>
                <a:ea typeface="宋体" panose="02010600030101010101" pitchFamily="2" charset="-122"/>
              </a:rPr>
              <a:t>N0</a:t>
            </a:r>
            <a:r>
              <a:rPr lang="zh-CN" altLang="en-US" sz="2000" dirty="0">
                <a:solidFill>
                  <a:srgbClr val="FF0000"/>
                </a:solidFill>
                <a:latin typeface="Times New Roman" panose="02020603050405020304" pitchFamily="18" charset="0"/>
                <a:ea typeface="宋体" panose="02010600030101010101" pitchFamily="2" charset="-122"/>
              </a:rPr>
              <a:t>，电子浓度从</a:t>
            </a:r>
            <a:r>
              <a:rPr lang="en-US" altLang="zh-CN" sz="2000" dirty="0">
                <a:solidFill>
                  <a:srgbClr val="FF0000"/>
                </a:solidFill>
                <a:latin typeface="Times New Roman" panose="02020603050405020304" pitchFamily="18" charset="0"/>
                <a:ea typeface="宋体" panose="02010600030101010101" pitchFamily="2" charset="-122"/>
              </a:rPr>
              <a:t>X</a:t>
            </a:r>
            <a:r>
              <a:rPr lang="en-US" altLang="zh-CN" sz="2000" baseline="-25000" dirty="0">
                <a:solidFill>
                  <a:srgbClr val="FF0000"/>
                </a:solidFill>
                <a:latin typeface="Times New Roman" panose="02020603050405020304" pitchFamily="18" charset="0"/>
                <a:ea typeface="宋体" panose="02010600030101010101" pitchFamily="2" charset="-122"/>
              </a:rPr>
              <a:t>N</a:t>
            </a:r>
            <a:r>
              <a:rPr lang="zh-CN" altLang="en-US" sz="2000" dirty="0">
                <a:solidFill>
                  <a:srgbClr val="FF0000"/>
                </a:solidFill>
                <a:latin typeface="Times New Roman" panose="02020603050405020304" pitchFamily="18" charset="0"/>
                <a:ea typeface="宋体" panose="02010600030101010101" pitchFamily="2" charset="-122"/>
              </a:rPr>
              <a:t>处的</a:t>
            </a:r>
            <a:r>
              <a:rPr lang="en-US" altLang="zh-CN" sz="2000" dirty="0">
                <a:solidFill>
                  <a:srgbClr val="FF0000"/>
                </a:solidFill>
                <a:latin typeface="Times New Roman" panose="02020603050405020304" pitchFamily="18" charset="0"/>
                <a:ea typeface="宋体" panose="02010600030101010101" pitchFamily="2" charset="-122"/>
              </a:rPr>
              <a:t>n</a:t>
            </a:r>
            <a:r>
              <a:rPr lang="en-US" altLang="zh-CN" sz="2000" baseline="-25000" dirty="0">
                <a:solidFill>
                  <a:srgbClr val="FF0000"/>
                </a:solidFill>
                <a:latin typeface="Times New Roman" panose="02020603050405020304" pitchFamily="18" charset="0"/>
                <a:ea typeface="宋体" panose="02010600030101010101" pitchFamily="2" charset="-122"/>
              </a:rPr>
              <a:t>N0</a:t>
            </a:r>
            <a:r>
              <a:rPr lang="zh-CN" altLang="en-US" sz="2000" dirty="0">
                <a:solidFill>
                  <a:srgbClr val="FF0000"/>
                </a:solidFill>
                <a:latin typeface="Times New Roman" panose="02020603050405020304" pitchFamily="18" charset="0"/>
                <a:ea typeface="宋体" panose="02010600030101010101" pitchFamily="2" charset="-122"/>
              </a:rPr>
              <a:t>减小到</a:t>
            </a:r>
            <a:r>
              <a:rPr lang="en-US" altLang="zh-CN" sz="2000" dirty="0">
                <a:solidFill>
                  <a:srgbClr val="FF0000"/>
                </a:solidFill>
                <a:latin typeface="Times New Roman" panose="02020603050405020304" pitchFamily="18" charset="0"/>
                <a:ea typeface="宋体" panose="02010600030101010101" pitchFamily="2" charset="-122"/>
              </a:rPr>
              <a:t>X</a:t>
            </a:r>
            <a:r>
              <a:rPr lang="en-US" altLang="zh-CN" sz="2000" baseline="-25000" dirty="0">
                <a:solidFill>
                  <a:srgbClr val="FF0000"/>
                </a:solidFill>
                <a:latin typeface="Times New Roman" panose="02020603050405020304" pitchFamily="18" charset="0"/>
                <a:ea typeface="宋体" panose="02010600030101010101" pitchFamily="2" charset="-122"/>
              </a:rPr>
              <a:t>P</a:t>
            </a:r>
            <a:r>
              <a:rPr lang="zh-CN" altLang="en-US" sz="2000" dirty="0">
                <a:solidFill>
                  <a:srgbClr val="FF0000"/>
                </a:solidFill>
                <a:latin typeface="Times New Roman" panose="02020603050405020304" pitchFamily="18" charset="0"/>
                <a:ea typeface="宋体" panose="02010600030101010101" pitchFamily="2" charset="-122"/>
              </a:rPr>
              <a:t>处的</a:t>
            </a:r>
            <a:r>
              <a:rPr lang="en-US" altLang="zh-CN" sz="2000" dirty="0">
                <a:solidFill>
                  <a:srgbClr val="FF0000"/>
                </a:solidFill>
                <a:latin typeface="Times New Roman" panose="02020603050405020304" pitchFamily="18" charset="0"/>
                <a:ea typeface="宋体" panose="02010600030101010101" pitchFamily="2" charset="-122"/>
              </a:rPr>
              <a:t>n</a:t>
            </a:r>
            <a:r>
              <a:rPr lang="en-US" altLang="zh-CN" sz="2000" baseline="-25000" dirty="0">
                <a:solidFill>
                  <a:srgbClr val="FF0000"/>
                </a:solidFill>
                <a:latin typeface="Times New Roman" panose="02020603050405020304" pitchFamily="18" charset="0"/>
                <a:ea typeface="宋体" panose="02010600030101010101" pitchFamily="2" charset="-122"/>
              </a:rPr>
              <a:t>P0</a:t>
            </a:r>
            <a:r>
              <a:rPr lang="zh-CN" altLang="en-US" sz="2000" dirty="0">
                <a:solidFill>
                  <a:srgbClr val="FF0000"/>
                </a:solidFill>
                <a:latin typeface="Times New Roman" panose="02020603050405020304" pitchFamily="18" charset="0"/>
                <a:ea typeface="宋体" panose="02010600030101010101" pitchFamily="2" charset="-122"/>
              </a:rPr>
              <a:t>。</a:t>
            </a:r>
          </a:p>
        </p:txBody>
      </p:sp>
      <p:sp>
        <p:nvSpPr>
          <p:cNvPr id="2" name="矩形 1">
            <a:extLst>
              <a:ext uri="{FF2B5EF4-FFF2-40B4-BE49-F238E27FC236}">
                <a16:creationId xmlns:a16="http://schemas.microsoft.com/office/drawing/2014/main" id="{E5C89854-6E99-4409-89B6-F1C5E7EA0FF9}"/>
              </a:ext>
            </a:extLst>
          </p:cNvPr>
          <p:cNvSpPr/>
          <p:nvPr/>
        </p:nvSpPr>
        <p:spPr>
          <a:xfrm>
            <a:off x="107504" y="4509120"/>
            <a:ext cx="3480440" cy="369332"/>
          </a:xfrm>
          <a:prstGeom prst="rect">
            <a:avLst/>
          </a:prstGeom>
        </p:spPr>
        <p:txBody>
          <a:bodyPr wrap="none">
            <a:spAutoFit/>
          </a:bodyPr>
          <a:lstStyle/>
          <a:p>
            <a:r>
              <a:rPr lang="zh-CN" altLang="en-US" dirty="0">
                <a:latin typeface="Times New Roman" panose="02020603050405020304" pitchFamily="18" charset="0"/>
                <a:ea typeface="宋体" panose="02010600030101010101" pitchFamily="2" charset="-122"/>
              </a:rPr>
              <a:t>平衡</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结的载流子浓度分布如图</a:t>
            </a:r>
            <a:endParaRPr lang="zh-CN" altLang="en-US" dirty="0"/>
          </a:p>
        </p:txBody>
      </p:sp>
      <p:pic>
        <p:nvPicPr>
          <p:cNvPr id="6" name="Picture 4" descr="0210">
            <a:extLst>
              <a:ext uri="{FF2B5EF4-FFF2-40B4-BE49-F238E27FC236}">
                <a16:creationId xmlns:a16="http://schemas.microsoft.com/office/drawing/2014/main" id="{DAC525FD-EA6F-42A5-B3B7-2D358049F1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293"/>
          <a:stretch/>
        </p:blipFill>
        <p:spPr bwMode="auto">
          <a:xfrm>
            <a:off x="187280" y="1690689"/>
            <a:ext cx="3656012" cy="244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0" name="Picture 4" descr="0210">
            <a:extLst>
              <a:ext uri="{FF2B5EF4-FFF2-40B4-BE49-F238E27FC236}">
                <a16:creationId xmlns:a16="http://schemas.microsoft.com/office/drawing/2014/main" id="{75332910-A554-4EA0-8732-08FB9DAC77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94456"/>
            <a:ext cx="3656012" cy="666908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5DD7CD69-151B-4FCA-9339-40D4C8746ED3}"/>
              </a:ext>
            </a:extLst>
          </p:cNvPr>
          <p:cNvSpPr/>
          <p:nvPr/>
        </p:nvSpPr>
        <p:spPr>
          <a:xfrm>
            <a:off x="3870394" y="1861015"/>
            <a:ext cx="1569660" cy="369332"/>
          </a:xfrm>
          <a:prstGeom prst="rect">
            <a:avLst/>
          </a:prstGeom>
        </p:spPr>
        <p:txBody>
          <a:bodyPr wrap="none">
            <a:spAutoFit/>
          </a:bodyPr>
          <a:lstStyle/>
          <a:p>
            <a:r>
              <a:rPr lang="zh-CN" altLang="en-US" dirty="0">
                <a:latin typeface="宋体" panose="02010600030101010101" pitchFamily="2" charset="-122"/>
                <a:ea typeface="宋体" panose="02010600030101010101" pitchFamily="2" charset="-122"/>
              </a:rPr>
              <a:t>空间电荷区内</a:t>
            </a:r>
          </a:p>
        </p:txBody>
      </p:sp>
      <p:pic>
        <p:nvPicPr>
          <p:cNvPr id="3" name="图片 2">
            <a:extLst>
              <a:ext uri="{FF2B5EF4-FFF2-40B4-BE49-F238E27FC236}">
                <a16:creationId xmlns:a16="http://schemas.microsoft.com/office/drawing/2014/main" id="{1E97E6D8-ADC7-4FE9-9A09-3DC2A9C7AC4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90000"/>
                    </a14:imgEffect>
                  </a14:imgLayer>
                </a14:imgProps>
              </a:ext>
            </a:extLst>
          </a:blip>
          <a:stretch>
            <a:fillRect/>
          </a:stretch>
        </p:blipFill>
        <p:spPr>
          <a:xfrm>
            <a:off x="5391307" y="1528274"/>
            <a:ext cx="3228237" cy="1269875"/>
          </a:xfrm>
          <a:prstGeom prst="rect">
            <a:avLst/>
          </a:prstGeom>
        </p:spPr>
      </p:pic>
      <p:sp>
        <p:nvSpPr>
          <p:cNvPr id="4" name="矩形 3">
            <a:extLst>
              <a:ext uri="{FF2B5EF4-FFF2-40B4-BE49-F238E27FC236}">
                <a16:creationId xmlns:a16="http://schemas.microsoft.com/office/drawing/2014/main" id="{19FB6676-1209-4E2D-85B9-EF65547BC0B6}"/>
              </a:ext>
            </a:extLst>
          </p:cNvPr>
          <p:cNvSpPr/>
          <p:nvPr/>
        </p:nvSpPr>
        <p:spPr>
          <a:xfrm>
            <a:off x="3835524" y="645364"/>
            <a:ext cx="1569660" cy="369332"/>
          </a:xfrm>
          <a:prstGeom prst="rect">
            <a:avLst/>
          </a:prstGeom>
        </p:spPr>
        <p:txBody>
          <a:bodyPr wrap="none">
            <a:spAutoFit/>
          </a:bodyPr>
          <a:lstStyle/>
          <a:p>
            <a:r>
              <a:rPr lang="zh-CN" altLang="en-US" dirty="0">
                <a:latin typeface="宋体" panose="02010600030101010101" pitchFamily="2" charset="-122"/>
                <a:ea typeface="宋体" panose="02010600030101010101" pitchFamily="2" charset="-122"/>
              </a:rPr>
              <a:t>本征费米能级</a:t>
            </a:r>
          </a:p>
        </p:txBody>
      </p:sp>
      <p:pic>
        <p:nvPicPr>
          <p:cNvPr id="5" name="图片 4">
            <a:extLst>
              <a:ext uri="{FF2B5EF4-FFF2-40B4-BE49-F238E27FC236}">
                <a16:creationId xmlns:a16="http://schemas.microsoft.com/office/drawing/2014/main" id="{9D434C00-126B-423F-8FDE-B6296B1077B5}"/>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100000"/>
                    </a14:imgEffect>
                    <a14:imgEffect>
                      <a14:brightnessContrast contrast="-15000"/>
                    </a14:imgEffect>
                  </a14:imgLayer>
                </a14:imgProps>
              </a:ext>
            </a:extLst>
          </a:blip>
          <a:stretch>
            <a:fillRect/>
          </a:stretch>
        </p:blipFill>
        <p:spPr>
          <a:xfrm>
            <a:off x="5720107" y="349986"/>
            <a:ext cx="2668317" cy="588177"/>
          </a:xfrm>
          <a:prstGeom prst="rect">
            <a:avLst/>
          </a:prstGeom>
        </p:spPr>
      </p:pic>
      <p:pic>
        <p:nvPicPr>
          <p:cNvPr id="7" name="图片 6">
            <a:extLst>
              <a:ext uri="{FF2B5EF4-FFF2-40B4-BE49-F238E27FC236}">
                <a16:creationId xmlns:a16="http://schemas.microsoft.com/office/drawing/2014/main" id="{DDD304D0-387C-4EFD-800D-60530E12CD43}"/>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90000"/>
                    </a14:imgEffect>
                  </a14:imgLayer>
                </a14:imgProps>
              </a:ext>
            </a:extLst>
          </a:blip>
          <a:stretch>
            <a:fillRect/>
          </a:stretch>
        </p:blipFill>
        <p:spPr>
          <a:xfrm>
            <a:off x="5673436" y="2879678"/>
            <a:ext cx="2552413" cy="1053377"/>
          </a:xfrm>
          <a:prstGeom prst="rect">
            <a:avLst/>
          </a:prstGeom>
        </p:spPr>
      </p:pic>
      <p:sp>
        <p:nvSpPr>
          <p:cNvPr id="10" name="矩形 9">
            <a:extLst>
              <a:ext uri="{FF2B5EF4-FFF2-40B4-BE49-F238E27FC236}">
                <a16:creationId xmlns:a16="http://schemas.microsoft.com/office/drawing/2014/main" id="{34D47AC1-F9FE-4B2E-98F2-6AF2D8CB3105}"/>
              </a:ext>
            </a:extLst>
          </p:cNvPr>
          <p:cNvSpPr/>
          <p:nvPr/>
        </p:nvSpPr>
        <p:spPr>
          <a:xfrm>
            <a:off x="4200482" y="3244334"/>
            <a:ext cx="1107996" cy="369332"/>
          </a:xfrm>
          <a:prstGeom prst="rect">
            <a:avLst/>
          </a:prstGeom>
        </p:spPr>
        <p:txBody>
          <a:bodyPr wrap="none">
            <a:spAutoFit/>
          </a:bodyPr>
          <a:lstStyle/>
          <a:p>
            <a:r>
              <a:rPr lang="zh-CN" altLang="en-US" dirty="0">
                <a:latin typeface="宋体" panose="02010600030101010101" pitchFamily="2" charset="-122"/>
                <a:ea typeface="宋体" panose="02010600030101010101" pitchFamily="2" charset="-122"/>
              </a:rPr>
              <a:t>代入得到</a:t>
            </a:r>
          </a:p>
        </p:txBody>
      </p:sp>
      <p:sp>
        <p:nvSpPr>
          <p:cNvPr id="8" name="矩形 7">
            <a:extLst>
              <a:ext uri="{FF2B5EF4-FFF2-40B4-BE49-F238E27FC236}">
                <a16:creationId xmlns:a16="http://schemas.microsoft.com/office/drawing/2014/main" id="{D2778666-EBFA-43BA-9526-0DCA35BA909F}"/>
              </a:ext>
            </a:extLst>
          </p:cNvPr>
          <p:cNvSpPr/>
          <p:nvPr/>
        </p:nvSpPr>
        <p:spPr>
          <a:xfrm>
            <a:off x="3835524" y="4261982"/>
            <a:ext cx="5094313" cy="923330"/>
          </a:xfrm>
          <a:prstGeom prst="rect">
            <a:avLst/>
          </a:prstGeom>
        </p:spPr>
        <p:txBody>
          <a:bodyPr wrap="square">
            <a:spAutoFit/>
          </a:bodyPr>
          <a:lstStyle/>
          <a:p>
            <a:r>
              <a:rPr lang="zh-CN" altLang="en-US" dirty="0">
                <a:latin typeface="宋体" panose="02010600030101010101" pitchFamily="2" charset="-122"/>
                <a:ea typeface="宋体" panose="02010600030101010101" pitchFamily="2" charset="-122"/>
              </a:rPr>
              <a:t>平衡</a:t>
            </a:r>
            <a:r>
              <a:rPr lang="en-US" altLang="zh-CN" dirty="0">
                <a:latin typeface="宋体" panose="02010600030101010101" pitchFamily="2" charset="-122"/>
                <a:ea typeface="宋体" panose="02010600030101010101" pitchFamily="2" charset="-122"/>
              </a:rPr>
              <a:t>PN</a:t>
            </a:r>
            <a:r>
              <a:rPr lang="zh-CN" altLang="en-US" dirty="0">
                <a:latin typeface="宋体" panose="02010600030101010101" pitchFamily="2" charset="-122"/>
                <a:ea typeface="宋体" panose="02010600030101010101" pitchFamily="2" charset="-122"/>
              </a:rPr>
              <a:t>结空间电荷区内载流子的分布按指数规律变化，其浓度的变化非常显著，绝大部分区域裁流于浓度远小于电离杂质浓度</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耗尽区近似。</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A7E946A2-CA77-42C2-880F-181BCE9A1EA6}"/>
              </a:ext>
            </a:extLst>
          </p:cNvPr>
          <p:cNvSpPr>
            <a:spLocks noChangeArrowheads="1"/>
          </p:cNvSpPr>
          <p:nvPr/>
        </p:nvSpPr>
        <p:spPr bwMode="auto">
          <a:xfrm>
            <a:off x="558862" y="1772816"/>
            <a:ext cx="784969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dirty="0">
                <a:solidFill>
                  <a:srgbClr val="FF3300"/>
                </a:solidFill>
              </a:rPr>
              <a:t>耗尽近似：</a:t>
            </a:r>
            <a:r>
              <a:rPr kumimoji="0" lang="zh-CN" altLang="en-US" sz="1800" b="1" dirty="0"/>
              <a:t>在空间电荷区，与电离杂质浓度相比，自由载流子浓度可以忽略，这种近似称为耗尽近似。因此空间电荷区也称为耗尽区（又称为耗尽层）。在完全耗尽的区域，自由载流子密度为零。</a:t>
            </a:r>
          </a:p>
        </p:txBody>
      </p:sp>
      <p:sp>
        <p:nvSpPr>
          <p:cNvPr id="6" name="Rectangle 6">
            <a:extLst>
              <a:ext uri="{FF2B5EF4-FFF2-40B4-BE49-F238E27FC236}">
                <a16:creationId xmlns:a16="http://schemas.microsoft.com/office/drawing/2014/main" id="{44C54B8E-5761-42F0-A1BE-5438DD933A3C}"/>
              </a:ext>
            </a:extLst>
          </p:cNvPr>
          <p:cNvSpPr>
            <a:spLocks noChangeArrowheads="1"/>
          </p:cNvSpPr>
          <p:nvPr/>
        </p:nvSpPr>
        <p:spPr bwMode="auto">
          <a:xfrm>
            <a:off x="500063" y="4572000"/>
            <a:ext cx="812335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dirty="0">
                <a:solidFill>
                  <a:srgbClr val="FF3300"/>
                </a:solidFill>
              </a:rPr>
              <a:t>内建电势差：</a:t>
            </a:r>
            <a:r>
              <a:rPr kumimoji="0" lang="zh-CN" altLang="en-US" sz="1800" b="1" dirty="0"/>
              <a:t>由于内建电场，空间电荷区两侧存在电势差，这个电势差叫做内建电势差</a:t>
            </a:r>
          </a:p>
        </p:txBody>
      </p:sp>
      <p:sp>
        <p:nvSpPr>
          <p:cNvPr id="8" name="Rectangle 8">
            <a:extLst>
              <a:ext uri="{FF2B5EF4-FFF2-40B4-BE49-F238E27FC236}">
                <a16:creationId xmlns:a16="http://schemas.microsoft.com/office/drawing/2014/main" id="{713AA03E-2669-455F-B415-EF12DBA89472}"/>
              </a:ext>
            </a:extLst>
          </p:cNvPr>
          <p:cNvSpPr>
            <a:spLocks noChangeArrowheads="1"/>
          </p:cNvSpPr>
          <p:nvPr/>
        </p:nvSpPr>
        <p:spPr bwMode="auto">
          <a:xfrm>
            <a:off x="468313" y="5373688"/>
            <a:ext cx="7940240"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a:solidFill>
                  <a:srgbClr val="FF3300"/>
                </a:solidFill>
              </a:rPr>
              <a:t>势垒区：</a:t>
            </a:r>
            <a:r>
              <a:rPr kumimoji="0" lang="en-US" altLang="zh-CN" sz="1800" b="1"/>
              <a:t>N</a:t>
            </a:r>
            <a:r>
              <a:rPr kumimoji="0" lang="zh-CN" altLang="en-US" sz="1800" b="1"/>
              <a:t>区电子进入</a:t>
            </a:r>
            <a:r>
              <a:rPr kumimoji="0" lang="en-US" altLang="zh-CN" sz="1800" b="1"/>
              <a:t>P</a:t>
            </a:r>
            <a:r>
              <a:rPr kumimoji="0" lang="zh-CN" altLang="en-US" sz="1800" b="1"/>
              <a:t>区需要克服势垒，</a:t>
            </a:r>
            <a:r>
              <a:rPr kumimoji="0" lang="en-US" altLang="zh-CN" sz="1800" b="1"/>
              <a:t>P</a:t>
            </a:r>
            <a:r>
              <a:rPr kumimoji="0" lang="zh-CN" altLang="en-US" sz="1800" b="1"/>
              <a:t>区空穴进入</a:t>
            </a:r>
            <a:r>
              <a:rPr kumimoji="0" lang="en-US" altLang="zh-CN" sz="1800" b="1"/>
              <a:t>N</a:t>
            </a:r>
            <a:r>
              <a:rPr kumimoji="0" lang="zh-CN" altLang="en-US" sz="1800" b="1"/>
              <a:t>区也需要克服势垒。于是空间电荷区又叫做势垒区。</a:t>
            </a:r>
          </a:p>
        </p:txBody>
      </p:sp>
      <p:sp>
        <p:nvSpPr>
          <p:cNvPr id="9" name="Rectangle 9">
            <a:extLst>
              <a:ext uri="{FF2B5EF4-FFF2-40B4-BE49-F238E27FC236}">
                <a16:creationId xmlns:a16="http://schemas.microsoft.com/office/drawing/2014/main" id="{E4D1B376-394D-48EB-BE8C-7A7419FCFB13}"/>
              </a:ext>
            </a:extLst>
          </p:cNvPr>
          <p:cNvSpPr>
            <a:spLocks noChangeArrowheads="1"/>
          </p:cNvSpPr>
          <p:nvPr/>
        </p:nvSpPr>
        <p:spPr bwMode="auto">
          <a:xfrm>
            <a:off x="468313" y="3213100"/>
            <a:ext cx="794024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a:solidFill>
                  <a:srgbClr val="FF3300"/>
                </a:solidFill>
              </a:rPr>
              <a:t>中性近似：</a:t>
            </a:r>
            <a:r>
              <a:rPr kumimoji="0" lang="zh-CN" altLang="en-US" sz="1800" b="1"/>
              <a:t>假设耗尽区以外，在杂质饱和电离情况下，多子浓度等于电离杂质浓度 ，因而保持电中性，因此</a:t>
            </a:r>
            <a:r>
              <a:rPr kumimoji="0" lang="en-US" altLang="zh-CN" sz="1800" b="1"/>
              <a:t>PN</a:t>
            </a:r>
            <a:r>
              <a:rPr kumimoji="0" lang="zh-CN" altLang="en-US" sz="1800" b="1"/>
              <a:t>结空间电荷区外部区域常称为中性区。中性区自由载流子浓度与杂质浓度相等，不存在电场。</a:t>
            </a:r>
          </a:p>
        </p:txBody>
      </p:sp>
      <p:sp>
        <p:nvSpPr>
          <p:cNvPr id="10" name="文本框 9">
            <a:extLst>
              <a:ext uri="{FF2B5EF4-FFF2-40B4-BE49-F238E27FC236}">
                <a16:creationId xmlns:a16="http://schemas.microsoft.com/office/drawing/2014/main" id="{051B28B0-7CD6-4C66-AB95-3F16502BB89B}"/>
              </a:ext>
            </a:extLst>
          </p:cNvPr>
          <p:cNvSpPr txBox="1"/>
          <p:nvPr/>
        </p:nvSpPr>
        <p:spPr>
          <a:xfrm>
            <a:off x="3203848" y="829961"/>
            <a:ext cx="1620957" cy="523220"/>
          </a:xfrm>
          <a:prstGeom prst="rect">
            <a:avLst/>
          </a:prstGeom>
          <a:noFill/>
        </p:spPr>
        <p:txBody>
          <a:bodyPr wrap="none" rtlCol="0">
            <a:spAutoFit/>
          </a:bodyPr>
          <a:lstStyle/>
          <a:p>
            <a:r>
              <a:rPr lang="zh-CN" altLang="en-US" sz="2800" dirty="0">
                <a:solidFill>
                  <a:srgbClr val="FF0000"/>
                </a:solidFill>
              </a:rPr>
              <a:t>重要概念</a:t>
            </a:r>
          </a:p>
        </p:txBody>
      </p:sp>
    </p:spTree>
    <p:extLst>
      <p:ext uri="{BB962C8B-B14F-4D97-AF65-F5344CB8AC3E}">
        <p14:creationId xmlns:p14="http://schemas.microsoft.com/office/powerpoint/2010/main" val="264498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3925156-84BE-40A0-AB19-2B58DCAABF48}"/>
              </a:ext>
            </a:extLst>
          </p:cNvPr>
          <p:cNvSpPr>
            <a:spLocks noGrp="1" noChangeArrowheads="1"/>
          </p:cNvSpPr>
          <p:nvPr>
            <p:ph type="title"/>
          </p:nvPr>
        </p:nvSpPr>
        <p:spPr>
          <a:xfrm>
            <a:off x="539552" y="151263"/>
            <a:ext cx="7886700" cy="1325563"/>
          </a:xfrm>
        </p:spPr>
        <p:txBody>
          <a:bodyPr>
            <a:noAutofit/>
          </a:bodyPr>
          <a:lstStyle/>
          <a:p>
            <a:pPr>
              <a:lnSpc>
                <a:spcPct val="110000"/>
              </a:lnSpc>
              <a:spcBef>
                <a:spcPts val="0"/>
              </a:spcBef>
            </a:pPr>
            <a:r>
              <a:rPr lang="en-US" altLang="zh-CN" sz="3600" dirty="0">
                <a:latin typeface="Times New Roman" panose="02020603050405020304" pitchFamily="18" charset="0"/>
                <a:ea typeface="宋体" panose="02010600030101010101" pitchFamily="2" charset="-122"/>
              </a:rPr>
              <a:t>2.4 PN</a:t>
            </a:r>
            <a:r>
              <a:rPr lang="zh-CN" altLang="en-US" sz="3600" dirty="0">
                <a:latin typeface="Times New Roman" panose="02020603050405020304" pitchFamily="18" charset="0"/>
                <a:ea typeface="宋体" panose="02010600030101010101" pitchFamily="2" charset="-122"/>
              </a:rPr>
              <a:t>结空间电荷区的电场、点位分布和宽度（提前）</a:t>
            </a:r>
            <a:endParaRPr lang="zh-CN" altLang="en-US" sz="3200" dirty="0">
              <a:latin typeface="Times New Roman" panose="02020603050405020304" pitchFamily="18" charset="0"/>
              <a:ea typeface="宋体" panose="02010600030101010101" pitchFamily="2" charset="-122"/>
            </a:endParaRPr>
          </a:p>
        </p:txBody>
      </p:sp>
      <p:sp>
        <p:nvSpPr>
          <p:cNvPr id="10" name="Rectangle 3">
            <a:extLst>
              <a:ext uri="{FF2B5EF4-FFF2-40B4-BE49-F238E27FC236}">
                <a16:creationId xmlns:a16="http://schemas.microsoft.com/office/drawing/2014/main" id="{93CB3595-409E-44FD-9876-7CCF04AB92F3}"/>
              </a:ext>
            </a:extLst>
          </p:cNvPr>
          <p:cNvSpPr>
            <a:spLocks noChangeArrowheads="1"/>
          </p:cNvSpPr>
          <p:nvPr/>
        </p:nvSpPr>
        <p:spPr bwMode="auto">
          <a:xfrm>
            <a:off x="755576" y="1474351"/>
            <a:ext cx="72728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b="1" dirty="0">
                <a:solidFill>
                  <a:srgbClr val="993300"/>
                </a:solidFill>
                <a:latin typeface="Times New Roman" panose="02020603050405020304" pitchFamily="18" charset="0"/>
                <a:cs typeface="Times New Roman" panose="02020603050405020304" pitchFamily="18" charset="0"/>
              </a:rPr>
              <a:t>利用</a:t>
            </a:r>
            <a:r>
              <a:rPr lang="en-US" altLang="ko-KR" b="1" dirty="0">
                <a:solidFill>
                  <a:srgbClr val="993300"/>
                </a:solidFill>
                <a:latin typeface="Times New Roman" panose="02020603050405020304" pitchFamily="18" charset="0"/>
                <a:cs typeface="Times New Roman" panose="02020603050405020304" pitchFamily="18" charset="0"/>
              </a:rPr>
              <a:t>Poisson</a:t>
            </a:r>
            <a:r>
              <a:rPr lang="ko-KR" altLang="en-US" b="1" dirty="0">
                <a:solidFill>
                  <a:srgbClr val="993300"/>
                </a:solidFill>
                <a:latin typeface="Times New Roman" panose="02020603050405020304" pitchFamily="18" charset="0"/>
                <a:cs typeface="Times New Roman" panose="02020603050405020304" pitchFamily="18" charset="0"/>
              </a:rPr>
              <a:t>方程求解单边突变结 </a:t>
            </a:r>
            <a:r>
              <a:rPr lang="en-US" altLang="zh-CN" b="1" dirty="0">
                <a:solidFill>
                  <a:srgbClr val="993300"/>
                </a:solidFill>
                <a:latin typeface="Times New Roman" panose="02020603050405020304" pitchFamily="18" charset="0"/>
                <a:cs typeface="Times New Roman" panose="02020603050405020304" pitchFamily="18" charset="0"/>
              </a:rPr>
              <a:t>(P</a:t>
            </a:r>
            <a:r>
              <a:rPr lang="en-US" altLang="zh-CN" b="1" baseline="30000" dirty="0">
                <a:solidFill>
                  <a:srgbClr val="993300"/>
                </a:solidFill>
                <a:latin typeface="Times New Roman" panose="02020603050405020304" pitchFamily="18" charset="0"/>
                <a:cs typeface="Times New Roman" panose="02020603050405020304" pitchFamily="18" charset="0"/>
              </a:rPr>
              <a:t>+</a:t>
            </a:r>
            <a:r>
              <a:rPr lang="en-US" altLang="zh-CN" b="1" dirty="0">
                <a:solidFill>
                  <a:srgbClr val="993300"/>
                </a:solidFill>
                <a:latin typeface="Times New Roman" panose="02020603050405020304" pitchFamily="18" charset="0"/>
                <a:cs typeface="Times New Roman" panose="02020603050405020304" pitchFamily="18" charset="0"/>
              </a:rPr>
              <a:t>N) </a:t>
            </a:r>
            <a:r>
              <a:rPr lang="ko-KR" altLang="en-US" b="1" dirty="0">
                <a:solidFill>
                  <a:srgbClr val="993300"/>
                </a:solidFill>
                <a:latin typeface="Times New Roman" panose="02020603050405020304" pitchFamily="18" charset="0"/>
                <a:cs typeface="Times New Roman" panose="02020603050405020304" pitchFamily="18" charset="0"/>
              </a:rPr>
              <a:t>内建电场、内建电势、内建电势差和耗尽层宽度</a:t>
            </a:r>
            <a:endParaRPr lang="zh-CN" altLang="en-US" b="1" dirty="0">
              <a:solidFill>
                <a:srgbClr val="993300"/>
              </a:solidFill>
              <a:latin typeface="Times New Roman" panose="02020603050405020304" pitchFamily="18" charset="0"/>
              <a:cs typeface="Times New Roman" panose="02020603050405020304" pitchFamily="18" charset="0"/>
            </a:endParaRPr>
          </a:p>
        </p:txBody>
      </p:sp>
      <p:sp>
        <p:nvSpPr>
          <p:cNvPr id="11" name="Rectangle 4">
            <a:extLst>
              <a:ext uri="{FF2B5EF4-FFF2-40B4-BE49-F238E27FC236}">
                <a16:creationId xmlns:a16="http://schemas.microsoft.com/office/drawing/2014/main" id="{FB7AA1F7-8E82-4491-B9BA-32775FE2D445}"/>
              </a:ext>
            </a:extLst>
          </p:cNvPr>
          <p:cNvSpPr>
            <a:spLocks noChangeArrowheads="1"/>
          </p:cNvSpPr>
          <p:nvPr/>
        </p:nvSpPr>
        <p:spPr bwMode="auto">
          <a:xfrm>
            <a:off x="540799" y="2799914"/>
            <a:ext cx="23796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1800" b="1">
                <a:solidFill>
                  <a:srgbClr val="000066"/>
                </a:solidFill>
                <a:latin typeface="Times New Roman" panose="02020603050405020304" pitchFamily="18" charset="0"/>
                <a:cs typeface="Times New Roman" panose="02020603050405020304" pitchFamily="18" charset="0"/>
              </a:rPr>
              <a:t>N</a:t>
            </a:r>
            <a:r>
              <a:rPr lang="zh-CN" altLang="en-US" sz="1800" b="1">
                <a:solidFill>
                  <a:srgbClr val="000066"/>
                </a:solidFill>
                <a:latin typeface="Times New Roman" panose="02020603050405020304" pitchFamily="18" charset="0"/>
                <a:cs typeface="Times New Roman" panose="02020603050405020304" pitchFamily="18" charset="0"/>
              </a:rPr>
              <a:t>侧</a:t>
            </a:r>
            <a:r>
              <a:rPr lang="en-US" altLang="zh-CN" sz="1800" b="1">
                <a:solidFill>
                  <a:srgbClr val="000066"/>
                </a:solidFill>
                <a:latin typeface="Times New Roman" panose="02020603050405020304" pitchFamily="18" charset="0"/>
                <a:cs typeface="Times New Roman" panose="02020603050405020304" pitchFamily="18" charset="0"/>
              </a:rPr>
              <a:t>Poisson</a:t>
            </a:r>
            <a:r>
              <a:rPr lang="ko-KR" altLang="en-US" sz="1800" b="1">
                <a:solidFill>
                  <a:srgbClr val="000066"/>
                </a:solidFill>
                <a:latin typeface="Times New Roman" panose="02020603050405020304" pitchFamily="18" charset="0"/>
                <a:cs typeface="Times New Roman" panose="02020603050405020304" pitchFamily="18" charset="0"/>
              </a:rPr>
              <a:t>方程</a:t>
            </a:r>
            <a:r>
              <a:rPr lang="zh-CN" altLang="en-US" sz="1800" b="1">
                <a:solidFill>
                  <a:srgbClr val="000066"/>
                </a:solidFill>
                <a:latin typeface="Times New Roman" panose="02020603050405020304" pitchFamily="18" charset="0"/>
                <a:cs typeface="Times New Roman" panose="02020603050405020304" pitchFamily="18" charset="0"/>
              </a:rPr>
              <a:t>：</a:t>
            </a:r>
          </a:p>
        </p:txBody>
      </p:sp>
      <p:graphicFrame>
        <p:nvGraphicFramePr>
          <p:cNvPr id="12" name="Object 24">
            <a:extLst>
              <a:ext uri="{FF2B5EF4-FFF2-40B4-BE49-F238E27FC236}">
                <a16:creationId xmlns:a16="http://schemas.microsoft.com/office/drawing/2014/main" id="{2BA5E1E8-DBB9-4255-B0C8-8AF1C31801F4}"/>
              </a:ext>
            </a:extLst>
          </p:cNvPr>
          <p:cNvGraphicFramePr>
            <a:graphicFrameLocks noChangeAspect="1"/>
          </p:cNvGraphicFramePr>
          <p:nvPr>
            <p:extLst>
              <p:ext uri="{D42A27DB-BD31-4B8C-83A1-F6EECF244321}">
                <p14:modId xmlns:p14="http://schemas.microsoft.com/office/powerpoint/2010/main" val="4041376824"/>
              </p:ext>
            </p:extLst>
          </p:nvPr>
        </p:nvGraphicFramePr>
        <p:xfrm>
          <a:off x="2536825" y="2508250"/>
          <a:ext cx="1619250" cy="782638"/>
        </p:xfrm>
        <a:graphic>
          <a:graphicData uri="http://schemas.openxmlformats.org/presentationml/2006/ole">
            <mc:AlternateContent xmlns:mc="http://schemas.openxmlformats.org/markup-compatibility/2006">
              <mc:Choice xmlns:v="urn:schemas-microsoft-com:vml" Requires="v">
                <p:oleObj spid="_x0000_s84492" name="Equation" r:id="rId3" imgW="876240" imgH="457200" progId="Equation.DSMT4">
                  <p:embed/>
                </p:oleObj>
              </mc:Choice>
              <mc:Fallback>
                <p:oleObj name="Equation" r:id="rId3" imgW="876240" imgH="457200" progId="Equation.DSMT4">
                  <p:embed/>
                  <p:pic>
                    <p:nvPicPr>
                      <p:cNvPr id="539653" name="Object 24">
                        <a:extLst>
                          <a:ext uri="{FF2B5EF4-FFF2-40B4-BE49-F238E27FC236}">
                            <a16:creationId xmlns:a16="http://schemas.microsoft.com/office/drawing/2014/main" id="{63552E95-12F1-426D-890D-DB6AB572781D}"/>
                          </a:ext>
                        </a:extLst>
                      </p:cNvPr>
                      <p:cNvPicPr>
                        <a:picLocks noChangeAspect="1" noChangeArrowheads="1"/>
                      </p:cNvPicPr>
                      <p:nvPr/>
                    </p:nvPicPr>
                    <p:blipFill>
                      <a:blip r:embed="rId4"/>
                      <a:srcRect/>
                      <a:stretch>
                        <a:fillRect/>
                      </a:stretch>
                    </p:blipFill>
                    <p:spPr bwMode="auto">
                      <a:xfrm>
                        <a:off x="2536825" y="2508250"/>
                        <a:ext cx="1619250"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6">
            <a:extLst>
              <a:ext uri="{FF2B5EF4-FFF2-40B4-BE49-F238E27FC236}">
                <a16:creationId xmlns:a16="http://schemas.microsoft.com/office/drawing/2014/main" id="{826C5E0A-F252-44A4-A5F4-992EC03BA725}"/>
              </a:ext>
            </a:extLst>
          </p:cNvPr>
          <p:cNvSpPr>
            <a:spLocks noChangeArrowheads="1"/>
          </p:cNvSpPr>
          <p:nvPr/>
        </p:nvSpPr>
        <p:spPr bwMode="auto">
          <a:xfrm>
            <a:off x="540799" y="3592076"/>
            <a:ext cx="24018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1800" b="1">
                <a:solidFill>
                  <a:srgbClr val="000066"/>
                </a:solidFill>
                <a:latin typeface="Times New Roman" panose="02020603050405020304" pitchFamily="18" charset="0"/>
                <a:cs typeface="Times New Roman" panose="02020603050405020304" pitchFamily="18" charset="0"/>
              </a:rPr>
              <a:t>P</a:t>
            </a:r>
            <a:r>
              <a:rPr lang="zh-CN" altLang="en-US" sz="1800" b="1">
                <a:solidFill>
                  <a:srgbClr val="000066"/>
                </a:solidFill>
                <a:latin typeface="Times New Roman" panose="02020603050405020304" pitchFamily="18" charset="0"/>
                <a:cs typeface="Times New Roman" panose="02020603050405020304" pitchFamily="18" charset="0"/>
              </a:rPr>
              <a:t>侧</a:t>
            </a:r>
            <a:r>
              <a:rPr lang="en-US" altLang="zh-CN" sz="1800" b="1">
                <a:solidFill>
                  <a:srgbClr val="000066"/>
                </a:solidFill>
                <a:latin typeface="Times New Roman" panose="02020603050405020304" pitchFamily="18" charset="0"/>
                <a:cs typeface="Times New Roman" panose="02020603050405020304" pitchFamily="18" charset="0"/>
              </a:rPr>
              <a:t>Poisson</a:t>
            </a:r>
            <a:r>
              <a:rPr lang="ko-KR" altLang="en-US" sz="1800" b="1">
                <a:solidFill>
                  <a:srgbClr val="000066"/>
                </a:solidFill>
                <a:latin typeface="Times New Roman" panose="02020603050405020304" pitchFamily="18" charset="0"/>
                <a:cs typeface="Times New Roman" panose="02020603050405020304" pitchFamily="18" charset="0"/>
              </a:rPr>
              <a:t>方程</a:t>
            </a:r>
            <a:r>
              <a:rPr lang="zh-CN" altLang="en-US" sz="1800" b="1">
                <a:solidFill>
                  <a:srgbClr val="000066"/>
                </a:solidFill>
                <a:latin typeface="Times New Roman" panose="02020603050405020304" pitchFamily="18" charset="0"/>
                <a:cs typeface="Times New Roman" panose="02020603050405020304" pitchFamily="18" charset="0"/>
              </a:rPr>
              <a:t>：</a:t>
            </a:r>
          </a:p>
        </p:txBody>
      </p:sp>
      <p:graphicFrame>
        <p:nvGraphicFramePr>
          <p:cNvPr id="14" name="Object 7">
            <a:extLst>
              <a:ext uri="{FF2B5EF4-FFF2-40B4-BE49-F238E27FC236}">
                <a16:creationId xmlns:a16="http://schemas.microsoft.com/office/drawing/2014/main" id="{E84635DB-BC68-4692-A216-6A703EB9CD99}"/>
              </a:ext>
            </a:extLst>
          </p:cNvPr>
          <p:cNvGraphicFramePr>
            <a:graphicFrameLocks noChangeAspect="1"/>
          </p:cNvGraphicFramePr>
          <p:nvPr>
            <p:extLst>
              <p:ext uri="{D42A27DB-BD31-4B8C-83A1-F6EECF244321}">
                <p14:modId xmlns:p14="http://schemas.microsoft.com/office/powerpoint/2010/main" val="42468227"/>
              </p:ext>
            </p:extLst>
          </p:nvPr>
        </p:nvGraphicFramePr>
        <p:xfrm>
          <a:off x="2586038" y="3321050"/>
          <a:ext cx="1377950" cy="815975"/>
        </p:xfrm>
        <a:graphic>
          <a:graphicData uri="http://schemas.openxmlformats.org/presentationml/2006/ole">
            <mc:AlternateContent xmlns:mc="http://schemas.openxmlformats.org/markup-compatibility/2006">
              <mc:Choice xmlns:v="urn:schemas-microsoft-com:vml" Requires="v">
                <p:oleObj spid="_x0000_s84493" name="Equation" r:id="rId5" imgW="761760" imgH="457200" progId="Equation.DSMT4">
                  <p:embed/>
                </p:oleObj>
              </mc:Choice>
              <mc:Fallback>
                <p:oleObj name="Equation" r:id="rId5" imgW="761760" imgH="457200" progId="Equation.DSMT4">
                  <p:embed/>
                  <p:pic>
                    <p:nvPicPr>
                      <p:cNvPr id="539655" name="Object 7">
                        <a:extLst>
                          <a:ext uri="{FF2B5EF4-FFF2-40B4-BE49-F238E27FC236}">
                            <a16:creationId xmlns:a16="http://schemas.microsoft.com/office/drawing/2014/main" id="{FEB7C4A0-5B27-41BE-A60D-8737944CA8A3}"/>
                          </a:ext>
                        </a:extLst>
                      </p:cNvPr>
                      <p:cNvPicPr>
                        <a:picLocks noChangeAspect="1" noChangeArrowheads="1"/>
                      </p:cNvPicPr>
                      <p:nvPr/>
                    </p:nvPicPr>
                    <p:blipFill>
                      <a:blip r:embed="rId6"/>
                      <a:srcRect/>
                      <a:stretch>
                        <a:fillRect/>
                      </a:stretch>
                    </p:blipFill>
                    <p:spPr bwMode="auto">
                      <a:xfrm>
                        <a:off x="2586038" y="3321050"/>
                        <a:ext cx="137795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9">
            <a:extLst>
              <a:ext uri="{FF2B5EF4-FFF2-40B4-BE49-F238E27FC236}">
                <a16:creationId xmlns:a16="http://schemas.microsoft.com/office/drawing/2014/main" id="{FDD6EF62-402C-4EFB-BB5E-DA36031CD693}"/>
              </a:ext>
            </a:extLst>
          </p:cNvPr>
          <p:cNvGraphicFramePr>
            <a:graphicFrameLocks noChangeAspect="1"/>
          </p:cNvGraphicFramePr>
          <p:nvPr>
            <p:extLst>
              <p:ext uri="{D42A27DB-BD31-4B8C-83A1-F6EECF244321}">
                <p14:modId xmlns:p14="http://schemas.microsoft.com/office/powerpoint/2010/main" val="1814585136"/>
              </p:ext>
            </p:extLst>
          </p:nvPr>
        </p:nvGraphicFramePr>
        <p:xfrm>
          <a:off x="4296824" y="2699703"/>
          <a:ext cx="1236662" cy="419100"/>
        </p:xfrm>
        <a:graphic>
          <a:graphicData uri="http://schemas.openxmlformats.org/presentationml/2006/ole">
            <mc:AlternateContent xmlns:mc="http://schemas.openxmlformats.org/markup-compatibility/2006">
              <mc:Choice xmlns:v="urn:schemas-microsoft-com:vml" Requires="v">
                <p:oleObj spid="_x0000_s84494" name="Equation" r:id="rId7" imgW="622030" imgH="228501" progId="Equation.DSMT4">
                  <p:embed/>
                </p:oleObj>
              </mc:Choice>
              <mc:Fallback>
                <p:oleObj name="Equation" r:id="rId7" imgW="622030" imgH="228501" progId="Equation.DSMT4">
                  <p:embed/>
                  <p:pic>
                    <p:nvPicPr>
                      <p:cNvPr id="539657" name="Object 9">
                        <a:extLst>
                          <a:ext uri="{FF2B5EF4-FFF2-40B4-BE49-F238E27FC236}">
                            <a16:creationId xmlns:a16="http://schemas.microsoft.com/office/drawing/2014/main" id="{D03B583A-580C-4386-BCDF-F18A421FD5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6824" y="2699703"/>
                        <a:ext cx="12366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0">
            <a:extLst>
              <a:ext uri="{FF2B5EF4-FFF2-40B4-BE49-F238E27FC236}">
                <a16:creationId xmlns:a16="http://schemas.microsoft.com/office/drawing/2014/main" id="{30620AC5-F456-465F-9996-4915C3A962BA}"/>
              </a:ext>
            </a:extLst>
          </p:cNvPr>
          <p:cNvGraphicFramePr>
            <a:graphicFrameLocks noChangeAspect="1"/>
          </p:cNvGraphicFramePr>
          <p:nvPr>
            <p:extLst>
              <p:ext uri="{D42A27DB-BD31-4B8C-83A1-F6EECF244321}">
                <p14:modId xmlns:p14="http://schemas.microsoft.com/office/powerpoint/2010/main" val="3005827893"/>
              </p:ext>
            </p:extLst>
          </p:nvPr>
        </p:nvGraphicFramePr>
        <p:xfrm>
          <a:off x="4256088" y="3531879"/>
          <a:ext cx="1463675" cy="442912"/>
        </p:xfrm>
        <a:graphic>
          <a:graphicData uri="http://schemas.openxmlformats.org/presentationml/2006/ole">
            <mc:AlternateContent xmlns:mc="http://schemas.openxmlformats.org/markup-compatibility/2006">
              <mc:Choice xmlns:v="urn:schemas-microsoft-com:vml" Requires="v">
                <p:oleObj spid="_x0000_s84495" name="Equation" r:id="rId9" imgW="736600" imgH="241300" progId="Equation.DSMT4">
                  <p:embed/>
                </p:oleObj>
              </mc:Choice>
              <mc:Fallback>
                <p:oleObj name="Equation" r:id="rId9" imgW="736600" imgH="241300" progId="Equation.DSMT4">
                  <p:embed/>
                  <p:pic>
                    <p:nvPicPr>
                      <p:cNvPr id="539658" name="Object 10">
                        <a:extLst>
                          <a:ext uri="{FF2B5EF4-FFF2-40B4-BE49-F238E27FC236}">
                            <a16:creationId xmlns:a16="http://schemas.microsoft.com/office/drawing/2014/main" id="{A2563447-43C4-41D5-B34B-C2388154C3A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56088" y="3531879"/>
                        <a:ext cx="1463675"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11">
            <a:extLst>
              <a:ext uri="{FF2B5EF4-FFF2-40B4-BE49-F238E27FC236}">
                <a16:creationId xmlns:a16="http://schemas.microsoft.com/office/drawing/2014/main" id="{39BB9CEB-38DA-4302-9A87-82AAC75C7A8E}"/>
              </a:ext>
            </a:extLst>
          </p:cNvPr>
          <p:cNvSpPr>
            <a:spLocks noChangeArrowheads="1"/>
          </p:cNvSpPr>
          <p:nvPr/>
        </p:nvSpPr>
        <p:spPr bwMode="auto">
          <a:xfrm>
            <a:off x="540799" y="4311214"/>
            <a:ext cx="260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1800" b="1">
                <a:solidFill>
                  <a:srgbClr val="000066"/>
                </a:solidFill>
                <a:latin typeface="Times New Roman" panose="02020603050405020304" pitchFamily="18" charset="0"/>
                <a:cs typeface="Times New Roman" panose="02020603050405020304" pitchFamily="18" charset="0"/>
              </a:rPr>
              <a:t>空间电荷的电中性：</a:t>
            </a:r>
          </a:p>
        </p:txBody>
      </p:sp>
      <p:graphicFrame>
        <p:nvGraphicFramePr>
          <p:cNvPr id="18" name="Object 12">
            <a:extLst>
              <a:ext uri="{FF2B5EF4-FFF2-40B4-BE49-F238E27FC236}">
                <a16:creationId xmlns:a16="http://schemas.microsoft.com/office/drawing/2014/main" id="{5F1E1C38-A43F-4841-BC88-BA8AE79D3577}"/>
              </a:ext>
            </a:extLst>
          </p:cNvPr>
          <p:cNvGraphicFramePr>
            <a:graphicFrameLocks noChangeAspect="1"/>
          </p:cNvGraphicFramePr>
          <p:nvPr>
            <p:extLst>
              <p:ext uri="{D42A27DB-BD31-4B8C-83A1-F6EECF244321}">
                <p14:modId xmlns:p14="http://schemas.microsoft.com/office/powerpoint/2010/main" val="2607334213"/>
              </p:ext>
            </p:extLst>
          </p:nvPr>
        </p:nvGraphicFramePr>
        <p:xfrm>
          <a:off x="2565391" y="4298515"/>
          <a:ext cx="1614488" cy="442912"/>
        </p:xfrm>
        <a:graphic>
          <a:graphicData uri="http://schemas.openxmlformats.org/presentationml/2006/ole">
            <mc:AlternateContent xmlns:mc="http://schemas.openxmlformats.org/markup-compatibility/2006">
              <mc:Choice xmlns:v="urn:schemas-microsoft-com:vml" Requires="v">
                <p:oleObj spid="_x0000_s84496" name="Equation" r:id="rId11" imgW="812447" imgH="241195" progId="Equation.DSMT4">
                  <p:embed/>
                </p:oleObj>
              </mc:Choice>
              <mc:Fallback>
                <p:oleObj name="Equation" r:id="rId11" imgW="812447" imgH="241195" progId="Equation.DSMT4">
                  <p:embed/>
                  <p:pic>
                    <p:nvPicPr>
                      <p:cNvPr id="539660" name="Object 12">
                        <a:extLst>
                          <a:ext uri="{FF2B5EF4-FFF2-40B4-BE49-F238E27FC236}">
                            <a16:creationId xmlns:a16="http://schemas.microsoft.com/office/drawing/2014/main" id="{8F9650E2-230C-4A73-980F-C1E0CC948B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65391" y="4298515"/>
                        <a:ext cx="1614488"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13">
            <a:extLst>
              <a:ext uri="{FF2B5EF4-FFF2-40B4-BE49-F238E27FC236}">
                <a16:creationId xmlns:a16="http://schemas.microsoft.com/office/drawing/2014/main" id="{BCCDD84F-DEE9-4703-A9CB-CE0F3574A73D}"/>
              </a:ext>
            </a:extLst>
          </p:cNvPr>
          <p:cNvSpPr>
            <a:spLocks noChangeArrowheads="1"/>
          </p:cNvSpPr>
          <p:nvPr/>
        </p:nvSpPr>
        <p:spPr bwMode="auto">
          <a:xfrm>
            <a:off x="540799" y="4958914"/>
            <a:ext cx="23733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1800" b="1">
                <a:solidFill>
                  <a:srgbClr val="000066"/>
                </a:solidFill>
                <a:latin typeface="Times New Roman" panose="02020603050405020304" pitchFamily="18" charset="0"/>
                <a:cs typeface="Times New Roman" panose="02020603050405020304" pitchFamily="18" charset="0"/>
              </a:rPr>
              <a:t>空间电荷层宽度：</a:t>
            </a:r>
          </a:p>
        </p:txBody>
      </p:sp>
      <p:graphicFrame>
        <p:nvGraphicFramePr>
          <p:cNvPr id="20" name="Object 14">
            <a:extLst>
              <a:ext uri="{FF2B5EF4-FFF2-40B4-BE49-F238E27FC236}">
                <a16:creationId xmlns:a16="http://schemas.microsoft.com/office/drawing/2014/main" id="{D371CEDC-56BA-4641-BFB6-FFFB0B1F7297}"/>
              </a:ext>
            </a:extLst>
          </p:cNvPr>
          <p:cNvGraphicFramePr>
            <a:graphicFrameLocks noChangeAspect="1"/>
          </p:cNvGraphicFramePr>
          <p:nvPr>
            <p:extLst>
              <p:ext uri="{D42A27DB-BD31-4B8C-83A1-F6EECF244321}">
                <p14:modId xmlns:p14="http://schemas.microsoft.com/office/powerpoint/2010/main" val="1473403937"/>
              </p:ext>
            </p:extLst>
          </p:nvPr>
        </p:nvGraphicFramePr>
        <p:xfrm>
          <a:off x="2675987" y="4966295"/>
          <a:ext cx="1463675" cy="442913"/>
        </p:xfrm>
        <a:graphic>
          <a:graphicData uri="http://schemas.openxmlformats.org/presentationml/2006/ole">
            <mc:AlternateContent xmlns:mc="http://schemas.openxmlformats.org/markup-compatibility/2006">
              <mc:Choice xmlns:v="urn:schemas-microsoft-com:vml" Requires="v">
                <p:oleObj spid="_x0000_s84497" name="Equation" r:id="rId13" imgW="736600" imgH="241300" progId="Equation.DSMT4">
                  <p:embed/>
                </p:oleObj>
              </mc:Choice>
              <mc:Fallback>
                <p:oleObj name="Equation" r:id="rId13" imgW="736600" imgH="241300" progId="Equation.DSMT4">
                  <p:embed/>
                  <p:pic>
                    <p:nvPicPr>
                      <p:cNvPr id="539662" name="Object 14">
                        <a:extLst>
                          <a:ext uri="{FF2B5EF4-FFF2-40B4-BE49-F238E27FC236}">
                            <a16:creationId xmlns:a16="http://schemas.microsoft.com/office/drawing/2014/main" id="{D5946EC8-3ACA-4DC7-A1C1-27DEC882D1F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75987" y="4966295"/>
                        <a:ext cx="14636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15">
            <a:extLst>
              <a:ext uri="{FF2B5EF4-FFF2-40B4-BE49-F238E27FC236}">
                <a16:creationId xmlns:a16="http://schemas.microsoft.com/office/drawing/2014/main" id="{95C9EF86-21C0-4483-B425-E56BCB9E11CD}"/>
              </a:ext>
            </a:extLst>
          </p:cNvPr>
          <p:cNvSpPr>
            <a:spLocks noChangeArrowheads="1"/>
          </p:cNvSpPr>
          <p:nvPr/>
        </p:nvSpPr>
        <p:spPr bwMode="auto">
          <a:xfrm>
            <a:off x="540799" y="5608201"/>
            <a:ext cx="23733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1800" b="1" dirty="0">
                <a:solidFill>
                  <a:srgbClr val="000066"/>
                </a:solidFill>
                <a:latin typeface="Times New Roman" panose="02020603050405020304" pitchFamily="18" charset="0"/>
                <a:cs typeface="Times New Roman" panose="02020603050405020304" pitchFamily="18" charset="0"/>
              </a:rPr>
              <a:t>对于单边突变结：</a:t>
            </a:r>
          </a:p>
        </p:txBody>
      </p:sp>
      <p:graphicFrame>
        <p:nvGraphicFramePr>
          <p:cNvPr id="22" name="Object 18">
            <a:extLst>
              <a:ext uri="{FF2B5EF4-FFF2-40B4-BE49-F238E27FC236}">
                <a16:creationId xmlns:a16="http://schemas.microsoft.com/office/drawing/2014/main" id="{4617D55D-8F39-4FFD-A67C-3263921E570A}"/>
              </a:ext>
            </a:extLst>
          </p:cNvPr>
          <p:cNvGraphicFramePr>
            <a:graphicFrameLocks noChangeAspect="1"/>
          </p:cNvGraphicFramePr>
          <p:nvPr>
            <p:extLst>
              <p:ext uri="{D42A27DB-BD31-4B8C-83A1-F6EECF244321}">
                <p14:modId xmlns:p14="http://schemas.microsoft.com/office/powerpoint/2010/main" val="719118890"/>
              </p:ext>
            </p:extLst>
          </p:nvPr>
        </p:nvGraphicFramePr>
        <p:xfrm>
          <a:off x="2704792" y="5990075"/>
          <a:ext cx="2044700" cy="442913"/>
        </p:xfrm>
        <a:graphic>
          <a:graphicData uri="http://schemas.openxmlformats.org/presentationml/2006/ole">
            <mc:AlternateContent xmlns:mc="http://schemas.openxmlformats.org/markup-compatibility/2006">
              <mc:Choice xmlns:v="urn:schemas-microsoft-com:vml" Requires="v">
                <p:oleObj spid="_x0000_s84498" name="Equation" r:id="rId15" imgW="1028254" imgH="241195" progId="Equation.DSMT4">
                  <p:embed/>
                </p:oleObj>
              </mc:Choice>
              <mc:Fallback>
                <p:oleObj name="Equation" r:id="rId15" imgW="1028254" imgH="241195" progId="Equation.DSMT4">
                  <p:embed/>
                  <p:pic>
                    <p:nvPicPr>
                      <p:cNvPr id="539666" name="Object 18">
                        <a:extLst>
                          <a:ext uri="{FF2B5EF4-FFF2-40B4-BE49-F238E27FC236}">
                            <a16:creationId xmlns:a16="http://schemas.microsoft.com/office/drawing/2014/main" id="{74BEA0A4-2758-452A-A5E7-6A5F5E404FF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04792" y="5990075"/>
                        <a:ext cx="20447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20">
            <a:extLst>
              <a:ext uri="{FF2B5EF4-FFF2-40B4-BE49-F238E27FC236}">
                <a16:creationId xmlns:a16="http://schemas.microsoft.com/office/drawing/2014/main" id="{3690D06F-FDD7-4DC5-B60E-C85E37DADB39}"/>
              </a:ext>
            </a:extLst>
          </p:cNvPr>
          <p:cNvGraphicFramePr>
            <a:graphicFrameLocks noChangeAspect="1"/>
          </p:cNvGraphicFramePr>
          <p:nvPr>
            <p:extLst>
              <p:ext uri="{D42A27DB-BD31-4B8C-83A1-F6EECF244321}">
                <p14:modId xmlns:p14="http://schemas.microsoft.com/office/powerpoint/2010/main" val="2656030066"/>
              </p:ext>
            </p:extLst>
          </p:nvPr>
        </p:nvGraphicFramePr>
        <p:xfrm>
          <a:off x="2646618" y="5438632"/>
          <a:ext cx="1008062" cy="442913"/>
        </p:xfrm>
        <a:graphic>
          <a:graphicData uri="http://schemas.openxmlformats.org/presentationml/2006/ole">
            <mc:AlternateContent xmlns:mc="http://schemas.openxmlformats.org/markup-compatibility/2006">
              <mc:Choice xmlns:v="urn:schemas-microsoft-com:vml" Requires="v">
                <p:oleObj spid="_x0000_s84499" name="公式" r:id="rId17" imgW="520700" imgH="228600" progId="Equation.3">
                  <p:embed/>
                </p:oleObj>
              </mc:Choice>
              <mc:Fallback>
                <p:oleObj name="公式" r:id="rId17" imgW="520700" imgH="228600" progId="Equation.3">
                  <p:embed/>
                  <p:pic>
                    <p:nvPicPr>
                      <p:cNvPr id="20498" name="Object 20">
                        <a:extLst>
                          <a:ext uri="{FF2B5EF4-FFF2-40B4-BE49-F238E27FC236}">
                            <a16:creationId xmlns:a16="http://schemas.microsoft.com/office/drawing/2014/main" id="{A85A00E1-BCA8-4D55-8484-0DFF380C30A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46618" y="5438632"/>
                        <a:ext cx="1008062"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21">
            <a:extLst>
              <a:ext uri="{FF2B5EF4-FFF2-40B4-BE49-F238E27FC236}">
                <a16:creationId xmlns:a16="http://schemas.microsoft.com/office/drawing/2014/main" id="{43233CBF-7613-4D61-B57E-AE6DA1E1118C}"/>
              </a:ext>
            </a:extLst>
          </p:cNvPr>
          <p:cNvGraphicFramePr>
            <a:graphicFrameLocks noChangeAspect="1"/>
          </p:cNvGraphicFramePr>
          <p:nvPr>
            <p:extLst>
              <p:ext uri="{D42A27DB-BD31-4B8C-83A1-F6EECF244321}">
                <p14:modId xmlns:p14="http://schemas.microsoft.com/office/powerpoint/2010/main" val="124187710"/>
              </p:ext>
            </p:extLst>
          </p:nvPr>
        </p:nvGraphicFramePr>
        <p:xfrm>
          <a:off x="3706274" y="5416589"/>
          <a:ext cx="1071563" cy="598487"/>
        </p:xfrm>
        <a:graphic>
          <a:graphicData uri="http://schemas.openxmlformats.org/presentationml/2006/ole">
            <mc:AlternateContent xmlns:mc="http://schemas.openxmlformats.org/markup-compatibility/2006">
              <mc:Choice xmlns:v="urn:schemas-microsoft-com:vml" Requires="v">
                <p:oleObj spid="_x0000_s84500" name="公式" r:id="rId19" imgW="431613" imgH="241195" progId="Equation.3">
                  <p:embed/>
                </p:oleObj>
              </mc:Choice>
              <mc:Fallback>
                <p:oleObj name="公式" r:id="rId19" imgW="431613" imgH="241195" progId="Equation.3">
                  <p:embed/>
                  <p:pic>
                    <p:nvPicPr>
                      <p:cNvPr id="20499" name="Object 21">
                        <a:extLst>
                          <a:ext uri="{FF2B5EF4-FFF2-40B4-BE49-F238E27FC236}">
                            <a16:creationId xmlns:a16="http://schemas.microsoft.com/office/drawing/2014/main" id="{BCE4ED67-76DA-4FE8-BA1F-595E316F954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06274" y="5416589"/>
                        <a:ext cx="1071563" cy="598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3">
            <a:extLst>
              <a:ext uri="{FF2B5EF4-FFF2-40B4-BE49-F238E27FC236}">
                <a16:creationId xmlns:a16="http://schemas.microsoft.com/office/drawing/2014/main" id="{3DA481F7-92A6-462D-9996-26FF77F0B5A3}"/>
              </a:ext>
            </a:extLst>
          </p:cNvPr>
          <p:cNvGraphicFramePr>
            <a:graphicFrameLocks noGrp="1" noChangeAspect="1"/>
          </p:cNvGraphicFramePr>
          <p:nvPr>
            <p:ph idx="1"/>
            <p:extLst>
              <p:ext uri="{D42A27DB-BD31-4B8C-83A1-F6EECF244321}">
                <p14:modId xmlns:p14="http://schemas.microsoft.com/office/powerpoint/2010/main" val="2158455076"/>
              </p:ext>
            </p:extLst>
          </p:nvPr>
        </p:nvGraphicFramePr>
        <p:xfrm>
          <a:off x="5841485" y="2002650"/>
          <a:ext cx="2761716" cy="4704087"/>
        </p:xfrm>
        <a:graphic>
          <a:graphicData uri="http://schemas.openxmlformats.org/presentationml/2006/ole">
            <mc:AlternateContent xmlns:mc="http://schemas.openxmlformats.org/markup-compatibility/2006">
              <mc:Choice xmlns:v="urn:schemas-microsoft-com:vml" Requires="v">
                <p:oleObj spid="_x0000_s84501" name="Visio" r:id="rId21" imgW="2977142" imgH="5890176" progId="">
                  <p:embed/>
                </p:oleObj>
              </mc:Choice>
              <mc:Fallback>
                <p:oleObj name="Visio" r:id="rId21" imgW="2977142" imgH="5890176" progId="">
                  <p:embed/>
                  <p:pic>
                    <p:nvPicPr>
                      <p:cNvPr id="20488" name="Object 3">
                        <a:extLst>
                          <a:ext uri="{FF2B5EF4-FFF2-40B4-BE49-F238E27FC236}">
                            <a16:creationId xmlns:a16="http://schemas.microsoft.com/office/drawing/2014/main" id="{3C5703E9-F768-4597-83F3-0798C9EA0FBB}"/>
                          </a:ext>
                        </a:extLst>
                      </p:cNvPr>
                      <p:cNvPicPr>
                        <a:picLocks noGrp="1"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841485" y="2002650"/>
                        <a:ext cx="2761716" cy="4704087"/>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par>
                                <p:cTn id="13" presetID="3" presetClass="entr" presetSubtype="1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linds(horizontal)">
                                      <p:cBhvr>
                                        <p:cTn id="25" dur="500"/>
                                        <p:tgtEl>
                                          <p:spTgt spid="14"/>
                                        </p:tgtEl>
                                      </p:cBhvr>
                                    </p:animEffect>
                                  </p:childTnLst>
                                </p:cTn>
                              </p:par>
                              <p:par>
                                <p:cTn id="26" presetID="3" presetClass="entr" presetSubtype="1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linds(horizontal)">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animEffect transition="in" filter="blinds(horizontal)">
                                      <p:cBhvr>
                                        <p:cTn id="33" dur="500"/>
                                        <p:tgtEl>
                                          <p:spTgt spid="17">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blinds(horizontal)">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blinds(horizontal)">
                                      <p:cBhvr>
                                        <p:cTn id="43" dur="500"/>
                                        <p:tgtEl>
                                          <p:spTgt spid="19"/>
                                        </p:tgtEl>
                                      </p:cBhvr>
                                    </p:animEffect>
                                  </p:childTnLst>
                                </p:cTn>
                              </p:par>
                              <p:par>
                                <p:cTn id="44" presetID="3" presetClass="entr" presetSubtype="1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blinds(horizontal)">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blinds(horizontal)">
                                      <p:cBhvr>
                                        <p:cTn id="51" dur="500"/>
                                        <p:tgtEl>
                                          <p:spTgt spid="21"/>
                                        </p:tgtEl>
                                      </p:cBhvr>
                                    </p:animEffect>
                                  </p:childTnLst>
                                </p:cTn>
                              </p:par>
                              <p:par>
                                <p:cTn id="52" presetID="3" presetClass="entr" presetSubtype="1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blinds(horizontal)">
                                      <p:cBhvr>
                                        <p:cTn id="5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9"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23D0F56-2D7F-4340-AF81-406D432D5CA1}"/>
              </a:ext>
            </a:extLst>
          </p:cNvPr>
          <p:cNvSpPr>
            <a:spLocks noChangeArrowheads="1"/>
          </p:cNvSpPr>
          <p:nvPr/>
        </p:nvSpPr>
        <p:spPr bwMode="auto">
          <a:xfrm>
            <a:off x="395536" y="980728"/>
            <a:ext cx="25225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cs typeface="Times New Roman" panose="02020603050405020304" pitchFamily="18" charset="0"/>
              </a:rPr>
              <a:t>对</a:t>
            </a:r>
            <a:r>
              <a:rPr lang="en-US" altLang="zh-CN" sz="2000" b="1">
                <a:solidFill>
                  <a:srgbClr val="000066"/>
                </a:solidFill>
                <a:latin typeface="Times New Roman" panose="02020603050405020304" pitchFamily="18" charset="0"/>
                <a:cs typeface="Times New Roman" panose="02020603050405020304" pitchFamily="18" charset="0"/>
              </a:rPr>
              <a:t>N</a:t>
            </a:r>
            <a:r>
              <a:rPr lang="zh-CN" altLang="en-US" sz="2000" b="1">
                <a:solidFill>
                  <a:srgbClr val="000066"/>
                </a:solidFill>
                <a:latin typeface="Times New Roman" panose="02020603050405020304" pitchFamily="18" charset="0"/>
                <a:cs typeface="Times New Roman" panose="02020603050405020304" pitchFamily="18" charset="0"/>
              </a:rPr>
              <a:t>侧</a:t>
            </a:r>
            <a:r>
              <a:rPr lang="en-US" altLang="zh-CN" sz="2000" b="1">
                <a:solidFill>
                  <a:srgbClr val="000066"/>
                </a:solidFill>
                <a:latin typeface="Times New Roman" panose="02020603050405020304" pitchFamily="18" charset="0"/>
                <a:cs typeface="Times New Roman" panose="02020603050405020304" pitchFamily="18" charset="0"/>
              </a:rPr>
              <a:t>Poisson</a:t>
            </a:r>
            <a:r>
              <a:rPr lang="ko-KR" altLang="en-US" sz="2000" b="1">
                <a:solidFill>
                  <a:srgbClr val="000066"/>
                </a:solidFill>
                <a:latin typeface="Times New Roman" panose="02020603050405020304" pitchFamily="18" charset="0"/>
                <a:cs typeface="Times New Roman" panose="02020603050405020304" pitchFamily="18" charset="0"/>
              </a:rPr>
              <a:t>方程</a:t>
            </a:r>
            <a:endParaRPr lang="zh-CN" altLang="en-US" sz="2000" b="1">
              <a:solidFill>
                <a:srgbClr val="000066"/>
              </a:solidFill>
              <a:latin typeface="Times New Roman" panose="02020603050405020304" pitchFamily="18" charset="0"/>
              <a:cs typeface="Times New Roman" panose="02020603050405020304" pitchFamily="18" charset="0"/>
            </a:endParaRPr>
          </a:p>
        </p:txBody>
      </p:sp>
      <p:graphicFrame>
        <p:nvGraphicFramePr>
          <p:cNvPr id="3" name="Object 24">
            <a:extLst>
              <a:ext uri="{FF2B5EF4-FFF2-40B4-BE49-F238E27FC236}">
                <a16:creationId xmlns:a16="http://schemas.microsoft.com/office/drawing/2014/main" id="{F776110D-C4DE-46C0-AD1D-81B0560A4C2F}"/>
              </a:ext>
            </a:extLst>
          </p:cNvPr>
          <p:cNvGraphicFramePr>
            <a:graphicFrameLocks noChangeAspect="1"/>
          </p:cNvGraphicFramePr>
          <p:nvPr>
            <p:extLst>
              <p:ext uri="{D42A27DB-BD31-4B8C-83A1-F6EECF244321}">
                <p14:modId xmlns:p14="http://schemas.microsoft.com/office/powerpoint/2010/main" val="2029318884"/>
              </p:ext>
            </p:extLst>
          </p:nvPr>
        </p:nvGraphicFramePr>
        <p:xfrm>
          <a:off x="2832100" y="857250"/>
          <a:ext cx="1620838" cy="782638"/>
        </p:xfrm>
        <a:graphic>
          <a:graphicData uri="http://schemas.openxmlformats.org/presentationml/2006/ole">
            <mc:AlternateContent xmlns:mc="http://schemas.openxmlformats.org/markup-compatibility/2006">
              <mc:Choice xmlns:v="urn:schemas-microsoft-com:vml" Requires="v">
                <p:oleObj spid="_x0000_s122386" name="Equation" r:id="rId3" imgW="876240" imgH="457200" progId="Equation.DSMT4">
                  <p:embed/>
                </p:oleObj>
              </mc:Choice>
              <mc:Fallback>
                <p:oleObj name="Equation" r:id="rId3" imgW="876240" imgH="457200" progId="Equation.DSMT4">
                  <p:embed/>
                  <p:pic>
                    <p:nvPicPr>
                      <p:cNvPr id="540676" name="Object 24">
                        <a:extLst>
                          <a:ext uri="{FF2B5EF4-FFF2-40B4-BE49-F238E27FC236}">
                            <a16:creationId xmlns:a16="http://schemas.microsoft.com/office/drawing/2014/main" id="{280411BB-C490-4893-B882-438FF1E47EB1}"/>
                          </a:ext>
                        </a:extLst>
                      </p:cNvPr>
                      <p:cNvPicPr>
                        <a:picLocks noChangeAspect="1" noChangeArrowheads="1"/>
                      </p:cNvPicPr>
                      <p:nvPr/>
                    </p:nvPicPr>
                    <p:blipFill>
                      <a:blip r:embed="rId4"/>
                      <a:srcRect/>
                      <a:stretch>
                        <a:fillRect/>
                      </a:stretch>
                    </p:blipFill>
                    <p:spPr bwMode="auto">
                      <a:xfrm>
                        <a:off x="2832100" y="857250"/>
                        <a:ext cx="1620838"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a:extLst>
              <a:ext uri="{FF2B5EF4-FFF2-40B4-BE49-F238E27FC236}">
                <a16:creationId xmlns:a16="http://schemas.microsoft.com/office/drawing/2014/main" id="{187FED37-A24D-41EE-AA33-271208B61724}"/>
              </a:ext>
            </a:extLst>
          </p:cNvPr>
          <p:cNvGraphicFramePr>
            <a:graphicFrameLocks noChangeAspect="1"/>
          </p:cNvGraphicFramePr>
          <p:nvPr>
            <p:extLst>
              <p:ext uri="{D42A27DB-BD31-4B8C-83A1-F6EECF244321}">
                <p14:modId xmlns:p14="http://schemas.microsoft.com/office/powerpoint/2010/main" val="3717210333"/>
              </p:ext>
            </p:extLst>
          </p:nvPr>
        </p:nvGraphicFramePr>
        <p:xfrm>
          <a:off x="5991248" y="542413"/>
          <a:ext cx="3078456" cy="5837871"/>
        </p:xfrm>
        <a:graphic>
          <a:graphicData uri="http://schemas.openxmlformats.org/presentationml/2006/ole">
            <mc:AlternateContent xmlns:mc="http://schemas.openxmlformats.org/markup-compatibility/2006">
              <mc:Choice xmlns:v="urn:schemas-microsoft-com:vml" Requires="v">
                <p:oleObj spid="_x0000_s122387" name="Visio" r:id="rId5" imgW="2977142" imgH="5890176" progId="">
                  <p:embed/>
                </p:oleObj>
              </mc:Choice>
              <mc:Fallback>
                <p:oleObj name="Visio" r:id="rId5" imgW="2977142" imgH="5890176" progId="">
                  <p:embed/>
                  <p:pic>
                    <p:nvPicPr>
                      <p:cNvPr id="21509" name="Object 3">
                        <a:extLst>
                          <a:ext uri="{FF2B5EF4-FFF2-40B4-BE49-F238E27FC236}">
                            <a16:creationId xmlns:a16="http://schemas.microsoft.com/office/drawing/2014/main" id="{5BB47A35-140A-4644-89CC-33A822C00915}"/>
                          </a:ext>
                        </a:extLst>
                      </p:cNvPr>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1248" y="542413"/>
                        <a:ext cx="3078456" cy="5837871"/>
                      </a:xfrm>
                      <a:prstGeom prst="rect">
                        <a:avLst/>
                      </a:prstGeom>
                      <a:noFill/>
                      <a:ln>
                        <a:noFill/>
                      </a:ln>
                      <a:effectLst/>
                      <a:extLst/>
                    </p:spPr>
                  </p:pic>
                </p:oleObj>
              </mc:Fallback>
            </mc:AlternateContent>
          </a:graphicData>
        </a:graphic>
      </p:graphicFrame>
      <p:sp>
        <p:nvSpPr>
          <p:cNvPr id="5" name="Rectangle 6">
            <a:extLst>
              <a:ext uri="{FF2B5EF4-FFF2-40B4-BE49-F238E27FC236}">
                <a16:creationId xmlns:a16="http://schemas.microsoft.com/office/drawing/2014/main" id="{E8766DE8-C818-46FC-9C58-E1822837A314}"/>
              </a:ext>
            </a:extLst>
          </p:cNvPr>
          <p:cNvSpPr>
            <a:spLocks noChangeArrowheads="1"/>
          </p:cNvSpPr>
          <p:nvPr/>
        </p:nvSpPr>
        <p:spPr bwMode="auto">
          <a:xfrm>
            <a:off x="395536" y="2222153"/>
            <a:ext cx="1762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dirty="0">
                <a:solidFill>
                  <a:srgbClr val="000066"/>
                </a:solidFill>
                <a:latin typeface="Times New Roman" panose="02020603050405020304" pitchFamily="18" charset="0"/>
                <a:cs typeface="Times New Roman" panose="02020603050405020304" pitchFamily="18" charset="0"/>
              </a:rPr>
              <a:t>边界条件：</a:t>
            </a:r>
          </a:p>
        </p:txBody>
      </p:sp>
      <p:sp>
        <p:nvSpPr>
          <p:cNvPr id="6" name="Rectangle 7">
            <a:extLst>
              <a:ext uri="{FF2B5EF4-FFF2-40B4-BE49-F238E27FC236}">
                <a16:creationId xmlns:a16="http://schemas.microsoft.com/office/drawing/2014/main" id="{9474B48D-CAAE-4B9A-8DFB-2170A10AC3DA}"/>
              </a:ext>
            </a:extLst>
          </p:cNvPr>
          <p:cNvSpPr>
            <a:spLocks noChangeArrowheads="1"/>
          </p:cNvSpPr>
          <p:nvPr/>
        </p:nvSpPr>
        <p:spPr bwMode="auto">
          <a:xfrm>
            <a:off x="539999" y="2942878"/>
            <a:ext cx="887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cs typeface="Times New Roman" panose="02020603050405020304" pitchFamily="18" charset="0"/>
              </a:rPr>
              <a:t>应用</a:t>
            </a:r>
          </a:p>
        </p:txBody>
      </p:sp>
      <p:sp>
        <p:nvSpPr>
          <p:cNvPr id="7" name="Rectangle 8">
            <a:extLst>
              <a:ext uri="{FF2B5EF4-FFF2-40B4-BE49-F238E27FC236}">
                <a16:creationId xmlns:a16="http://schemas.microsoft.com/office/drawing/2014/main" id="{58383080-B707-433C-BA93-2235DBE041CB}"/>
              </a:ext>
            </a:extLst>
          </p:cNvPr>
          <p:cNvSpPr>
            <a:spLocks noChangeArrowheads="1"/>
          </p:cNvSpPr>
          <p:nvPr/>
        </p:nvSpPr>
        <p:spPr bwMode="auto">
          <a:xfrm>
            <a:off x="4859586" y="980728"/>
            <a:ext cx="19446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cs typeface="Times New Roman" panose="02020603050405020304" pitchFamily="18" charset="0"/>
              </a:rPr>
              <a:t>做一次积分：</a:t>
            </a:r>
          </a:p>
        </p:txBody>
      </p:sp>
      <p:graphicFrame>
        <p:nvGraphicFramePr>
          <p:cNvPr id="8" name="Object 9">
            <a:extLst>
              <a:ext uri="{FF2B5EF4-FFF2-40B4-BE49-F238E27FC236}">
                <a16:creationId xmlns:a16="http://schemas.microsoft.com/office/drawing/2014/main" id="{4A637D7A-2ABB-4907-89C6-BC991891FBCD}"/>
              </a:ext>
            </a:extLst>
          </p:cNvPr>
          <p:cNvGraphicFramePr>
            <a:graphicFrameLocks noChangeAspect="1"/>
          </p:cNvGraphicFramePr>
          <p:nvPr>
            <p:extLst>
              <p:ext uri="{D42A27DB-BD31-4B8C-83A1-F6EECF244321}">
                <p14:modId xmlns:p14="http://schemas.microsoft.com/office/powerpoint/2010/main" val="2402150888"/>
              </p:ext>
            </p:extLst>
          </p:nvPr>
        </p:nvGraphicFramePr>
        <p:xfrm>
          <a:off x="1475036" y="1433166"/>
          <a:ext cx="2320925" cy="769937"/>
        </p:xfrm>
        <a:graphic>
          <a:graphicData uri="http://schemas.openxmlformats.org/presentationml/2006/ole">
            <mc:AlternateContent xmlns:mc="http://schemas.openxmlformats.org/markup-compatibility/2006">
              <mc:Choice xmlns:v="urn:schemas-microsoft-com:vml" Requires="v">
                <p:oleObj spid="_x0000_s122388" name="Equation" r:id="rId7" imgW="1282680" imgH="431640" progId="Equation.DSMT4">
                  <p:embed/>
                </p:oleObj>
              </mc:Choice>
              <mc:Fallback>
                <p:oleObj name="Equation" r:id="rId7" imgW="1282680" imgH="431640" progId="Equation.DSMT4">
                  <p:embed/>
                  <p:pic>
                    <p:nvPicPr>
                      <p:cNvPr id="540681" name="Object 9">
                        <a:extLst>
                          <a:ext uri="{FF2B5EF4-FFF2-40B4-BE49-F238E27FC236}">
                            <a16:creationId xmlns:a16="http://schemas.microsoft.com/office/drawing/2014/main" id="{8EBFA88B-3951-4642-9B6E-81CDEBCF2825}"/>
                          </a:ext>
                        </a:extLst>
                      </p:cNvPr>
                      <p:cNvPicPr>
                        <a:picLocks noChangeAspect="1" noChangeArrowheads="1"/>
                      </p:cNvPicPr>
                      <p:nvPr/>
                    </p:nvPicPr>
                    <p:blipFill>
                      <a:blip r:embed="rId8"/>
                      <a:srcRect/>
                      <a:stretch>
                        <a:fillRect/>
                      </a:stretch>
                    </p:blipFill>
                    <p:spPr bwMode="auto">
                      <a:xfrm>
                        <a:off x="1475036" y="1433166"/>
                        <a:ext cx="232092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0">
            <a:extLst>
              <a:ext uri="{FF2B5EF4-FFF2-40B4-BE49-F238E27FC236}">
                <a16:creationId xmlns:a16="http://schemas.microsoft.com/office/drawing/2014/main" id="{FBC819F0-FB3E-48E5-8743-86338A8BA8C5}"/>
              </a:ext>
            </a:extLst>
          </p:cNvPr>
          <p:cNvGraphicFramePr>
            <a:graphicFrameLocks noChangeAspect="1"/>
          </p:cNvGraphicFramePr>
          <p:nvPr>
            <p:extLst>
              <p:ext uri="{D42A27DB-BD31-4B8C-83A1-F6EECF244321}">
                <p14:modId xmlns:p14="http://schemas.microsoft.com/office/powerpoint/2010/main" val="1824226003"/>
              </p:ext>
            </p:extLst>
          </p:nvPr>
        </p:nvGraphicFramePr>
        <p:xfrm>
          <a:off x="2195761" y="2242791"/>
          <a:ext cx="884238" cy="420687"/>
        </p:xfrm>
        <a:graphic>
          <a:graphicData uri="http://schemas.openxmlformats.org/presentationml/2006/ole">
            <mc:AlternateContent xmlns:mc="http://schemas.openxmlformats.org/markup-compatibility/2006">
              <mc:Choice xmlns:v="urn:schemas-microsoft-com:vml" Requires="v">
                <p:oleObj spid="_x0000_s122389" name="Equation" r:id="rId9" imgW="444307" imgH="228501" progId="Equation.DSMT4">
                  <p:embed/>
                </p:oleObj>
              </mc:Choice>
              <mc:Fallback>
                <p:oleObj name="Equation" r:id="rId9" imgW="444307" imgH="228501" progId="Equation.DSMT4">
                  <p:embed/>
                  <p:pic>
                    <p:nvPicPr>
                      <p:cNvPr id="540682" name="Object 10">
                        <a:extLst>
                          <a:ext uri="{FF2B5EF4-FFF2-40B4-BE49-F238E27FC236}">
                            <a16:creationId xmlns:a16="http://schemas.microsoft.com/office/drawing/2014/main" id="{286B2939-BBEF-4B41-A2B9-41A5B47AE28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761" y="2242791"/>
                        <a:ext cx="88423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1">
            <a:extLst>
              <a:ext uri="{FF2B5EF4-FFF2-40B4-BE49-F238E27FC236}">
                <a16:creationId xmlns:a16="http://schemas.microsoft.com/office/drawing/2014/main" id="{F8210502-46FE-470B-9333-CBA7357C096A}"/>
              </a:ext>
            </a:extLst>
          </p:cNvPr>
          <p:cNvGraphicFramePr>
            <a:graphicFrameLocks noChangeAspect="1"/>
          </p:cNvGraphicFramePr>
          <p:nvPr>
            <p:extLst>
              <p:ext uri="{D42A27DB-BD31-4B8C-83A1-F6EECF244321}">
                <p14:modId xmlns:p14="http://schemas.microsoft.com/office/powerpoint/2010/main" val="1647178906"/>
              </p:ext>
            </p:extLst>
          </p:nvPr>
        </p:nvGraphicFramePr>
        <p:xfrm>
          <a:off x="4314448" y="2101502"/>
          <a:ext cx="919162" cy="703263"/>
        </p:xfrm>
        <a:graphic>
          <a:graphicData uri="http://schemas.openxmlformats.org/presentationml/2006/ole">
            <mc:AlternateContent xmlns:mc="http://schemas.openxmlformats.org/markup-compatibility/2006">
              <mc:Choice xmlns:v="urn:schemas-microsoft-com:vml" Requires="v">
                <p:oleObj spid="_x0000_s122390" name="Equation" r:id="rId11" imgW="507960" imgH="393480" progId="Equation.DSMT4">
                  <p:embed/>
                </p:oleObj>
              </mc:Choice>
              <mc:Fallback>
                <p:oleObj name="Equation" r:id="rId11" imgW="507960" imgH="393480" progId="Equation.DSMT4">
                  <p:embed/>
                  <p:pic>
                    <p:nvPicPr>
                      <p:cNvPr id="540683" name="Object 11">
                        <a:extLst>
                          <a:ext uri="{FF2B5EF4-FFF2-40B4-BE49-F238E27FC236}">
                            <a16:creationId xmlns:a16="http://schemas.microsoft.com/office/drawing/2014/main" id="{A1234693-0DFB-48A9-9DFA-B5A86D8DFB36}"/>
                          </a:ext>
                        </a:extLst>
                      </p:cNvPr>
                      <p:cNvPicPr>
                        <a:picLocks noChangeAspect="1" noChangeArrowheads="1"/>
                      </p:cNvPicPr>
                      <p:nvPr/>
                    </p:nvPicPr>
                    <p:blipFill>
                      <a:blip r:embed="rId12"/>
                      <a:srcRect/>
                      <a:stretch>
                        <a:fillRect/>
                      </a:stretch>
                    </p:blipFill>
                    <p:spPr bwMode="auto">
                      <a:xfrm>
                        <a:off x="4314448" y="2101502"/>
                        <a:ext cx="919162"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2">
            <a:extLst>
              <a:ext uri="{FF2B5EF4-FFF2-40B4-BE49-F238E27FC236}">
                <a16:creationId xmlns:a16="http://schemas.microsoft.com/office/drawing/2014/main" id="{C075FEB9-07EF-47B1-94E9-42CE8F7996DE}"/>
              </a:ext>
            </a:extLst>
          </p:cNvPr>
          <p:cNvGraphicFramePr>
            <a:graphicFrameLocks noChangeAspect="1"/>
          </p:cNvGraphicFramePr>
          <p:nvPr>
            <p:extLst>
              <p:ext uri="{D42A27DB-BD31-4B8C-83A1-F6EECF244321}">
                <p14:modId xmlns:p14="http://schemas.microsoft.com/office/powerpoint/2010/main" val="3261944184"/>
              </p:ext>
            </p:extLst>
          </p:nvPr>
        </p:nvGraphicFramePr>
        <p:xfrm>
          <a:off x="1485900" y="2817813"/>
          <a:ext cx="1123950" cy="703262"/>
        </p:xfrm>
        <a:graphic>
          <a:graphicData uri="http://schemas.openxmlformats.org/presentationml/2006/ole">
            <mc:AlternateContent xmlns:mc="http://schemas.openxmlformats.org/markup-compatibility/2006">
              <mc:Choice xmlns:v="urn:schemas-microsoft-com:vml" Requires="v">
                <p:oleObj spid="_x0000_s122391" name="Equation" r:id="rId13" imgW="622080" imgH="393480" progId="Equation.DSMT4">
                  <p:embed/>
                </p:oleObj>
              </mc:Choice>
              <mc:Fallback>
                <p:oleObj name="Equation" r:id="rId13" imgW="622080" imgH="393480" progId="Equation.DSMT4">
                  <p:embed/>
                  <p:pic>
                    <p:nvPicPr>
                      <p:cNvPr id="540684" name="Object 12">
                        <a:extLst>
                          <a:ext uri="{FF2B5EF4-FFF2-40B4-BE49-F238E27FC236}">
                            <a16:creationId xmlns:a16="http://schemas.microsoft.com/office/drawing/2014/main" id="{F409127F-A02B-4B7F-A8DC-C62B98489BF7}"/>
                          </a:ext>
                        </a:extLst>
                      </p:cNvPr>
                      <p:cNvPicPr>
                        <a:picLocks noChangeAspect="1" noChangeArrowheads="1"/>
                      </p:cNvPicPr>
                      <p:nvPr/>
                    </p:nvPicPr>
                    <p:blipFill>
                      <a:blip r:embed="rId14"/>
                      <a:srcRect/>
                      <a:stretch>
                        <a:fillRect/>
                      </a:stretch>
                    </p:blipFill>
                    <p:spPr bwMode="auto">
                      <a:xfrm>
                        <a:off x="1485900" y="2817813"/>
                        <a:ext cx="1123950"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13">
            <a:extLst>
              <a:ext uri="{FF2B5EF4-FFF2-40B4-BE49-F238E27FC236}">
                <a16:creationId xmlns:a16="http://schemas.microsoft.com/office/drawing/2014/main" id="{DB86291E-804C-4662-90E5-832A8382B477}"/>
              </a:ext>
            </a:extLst>
          </p:cNvPr>
          <p:cNvSpPr>
            <a:spLocks noChangeArrowheads="1"/>
          </p:cNvSpPr>
          <p:nvPr/>
        </p:nvSpPr>
        <p:spPr bwMode="auto">
          <a:xfrm>
            <a:off x="2627561" y="2942878"/>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cs typeface="Times New Roman" panose="02020603050405020304" pitchFamily="18" charset="0"/>
              </a:rPr>
              <a:t>得：</a:t>
            </a:r>
          </a:p>
        </p:txBody>
      </p:sp>
      <p:graphicFrame>
        <p:nvGraphicFramePr>
          <p:cNvPr id="13" name="Object 14">
            <a:extLst>
              <a:ext uri="{FF2B5EF4-FFF2-40B4-BE49-F238E27FC236}">
                <a16:creationId xmlns:a16="http://schemas.microsoft.com/office/drawing/2014/main" id="{C918F37D-B5B7-457F-AACB-E668F52813A3}"/>
              </a:ext>
            </a:extLst>
          </p:cNvPr>
          <p:cNvGraphicFramePr>
            <a:graphicFrameLocks noChangeAspect="1"/>
          </p:cNvGraphicFramePr>
          <p:nvPr>
            <p:extLst>
              <p:ext uri="{D42A27DB-BD31-4B8C-83A1-F6EECF244321}">
                <p14:modId xmlns:p14="http://schemas.microsoft.com/office/powerpoint/2010/main" val="3600413161"/>
              </p:ext>
            </p:extLst>
          </p:nvPr>
        </p:nvGraphicFramePr>
        <p:xfrm>
          <a:off x="3164136" y="2757809"/>
          <a:ext cx="1698625" cy="862012"/>
        </p:xfrm>
        <a:graphic>
          <a:graphicData uri="http://schemas.openxmlformats.org/presentationml/2006/ole">
            <mc:AlternateContent xmlns:mc="http://schemas.openxmlformats.org/markup-compatibility/2006">
              <mc:Choice xmlns:v="urn:schemas-microsoft-com:vml" Requires="v">
                <p:oleObj spid="_x0000_s122392" name="Equation" r:id="rId15" imgW="939392" imgH="482391" progId="Equation.DSMT4">
                  <p:embed/>
                </p:oleObj>
              </mc:Choice>
              <mc:Fallback>
                <p:oleObj name="Equation" r:id="rId15" imgW="939392" imgH="482391" progId="Equation.DSMT4">
                  <p:embed/>
                  <p:pic>
                    <p:nvPicPr>
                      <p:cNvPr id="540686" name="Object 14">
                        <a:extLst>
                          <a:ext uri="{FF2B5EF4-FFF2-40B4-BE49-F238E27FC236}">
                            <a16:creationId xmlns:a16="http://schemas.microsoft.com/office/drawing/2014/main" id="{5BDFD8C0-DEE2-4990-AEA0-8E6EACE7F1E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64136" y="2757809"/>
                        <a:ext cx="1698625"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5">
            <a:extLst>
              <a:ext uri="{FF2B5EF4-FFF2-40B4-BE49-F238E27FC236}">
                <a16:creationId xmlns:a16="http://schemas.microsoft.com/office/drawing/2014/main" id="{2E92510A-5AD1-472E-AC67-7B83280C4FDF}"/>
              </a:ext>
            </a:extLst>
          </p:cNvPr>
          <p:cNvGraphicFramePr>
            <a:graphicFrameLocks noChangeAspect="1"/>
          </p:cNvGraphicFramePr>
          <p:nvPr>
            <p:extLst>
              <p:ext uri="{D42A27DB-BD31-4B8C-83A1-F6EECF244321}">
                <p14:modId xmlns:p14="http://schemas.microsoft.com/office/powerpoint/2010/main" val="2249064475"/>
              </p:ext>
            </p:extLst>
          </p:nvPr>
        </p:nvGraphicFramePr>
        <p:xfrm>
          <a:off x="2132103" y="3800475"/>
          <a:ext cx="1560512" cy="771525"/>
        </p:xfrm>
        <a:graphic>
          <a:graphicData uri="http://schemas.openxmlformats.org/presentationml/2006/ole">
            <mc:AlternateContent xmlns:mc="http://schemas.openxmlformats.org/markup-compatibility/2006">
              <mc:Choice xmlns:v="urn:schemas-microsoft-com:vml" Requires="v">
                <p:oleObj spid="_x0000_s122393" name="Equation" r:id="rId17" imgW="863225" imgH="431613" progId="Equation.DSMT4">
                  <p:embed/>
                </p:oleObj>
              </mc:Choice>
              <mc:Fallback>
                <p:oleObj name="Equation" r:id="rId17" imgW="863225" imgH="431613" progId="Equation.DSMT4">
                  <p:embed/>
                  <p:pic>
                    <p:nvPicPr>
                      <p:cNvPr id="540687" name="Object 15">
                        <a:extLst>
                          <a:ext uri="{FF2B5EF4-FFF2-40B4-BE49-F238E27FC236}">
                            <a16:creationId xmlns:a16="http://schemas.microsoft.com/office/drawing/2014/main" id="{C853A440-D0F7-4609-A6F5-6032BDCE332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32103" y="3800475"/>
                        <a:ext cx="1560512"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6">
            <a:extLst>
              <a:ext uri="{FF2B5EF4-FFF2-40B4-BE49-F238E27FC236}">
                <a16:creationId xmlns:a16="http://schemas.microsoft.com/office/drawing/2014/main" id="{9E2155BF-A733-4415-8C02-AED379CFAFEF}"/>
              </a:ext>
            </a:extLst>
          </p:cNvPr>
          <p:cNvGraphicFramePr>
            <a:graphicFrameLocks noChangeAspect="1"/>
          </p:cNvGraphicFramePr>
          <p:nvPr>
            <p:extLst>
              <p:ext uri="{D42A27DB-BD31-4B8C-83A1-F6EECF244321}">
                <p14:modId xmlns:p14="http://schemas.microsoft.com/office/powerpoint/2010/main" val="2774122263"/>
              </p:ext>
            </p:extLst>
          </p:nvPr>
        </p:nvGraphicFramePr>
        <p:xfrm>
          <a:off x="2303462" y="4888259"/>
          <a:ext cx="2525713" cy="906463"/>
        </p:xfrm>
        <a:graphic>
          <a:graphicData uri="http://schemas.openxmlformats.org/presentationml/2006/ole">
            <mc:AlternateContent xmlns:mc="http://schemas.openxmlformats.org/markup-compatibility/2006">
              <mc:Choice xmlns:v="urn:schemas-microsoft-com:vml" Requires="v">
                <p:oleObj spid="_x0000_s122394" name="Equation" r:id="rId19" imgW="1396800" imgH="507960" progId="Equation.DSMT4">
                  <p:embed/>
                </p:oleObj>
              </mc:Choice>
              <mc:Fallback>
                <p:oleObj name="Equation" r:id="rId19" imgW="1396800" imgH="507960" progId="Equation.DSMT4">
                  <p:embed/>
                  <p:pic>
                    <p:nvPicPr>
                      <p:cNvPr id="540688" name="Object 16">
                        <a:extLst>
                          <a:ext uri="{FF2B5EF4-FFF2-40B4-BE49-F238E27FC236}">
                            <a16:creationId xmlns:a16="http://schemas.microsoft.com/office/drawing/2014/main" id="{701300A8-2A1B-41CE-BD16-6F9EF6DFE974}"/>
                          </a:ext>
                        </a:extLst>
                      </p:cNvPr>
                      <p:cNvPicPr>
                        <a:picLocks noChangeAspect="1" noChangeArrowheads="1"/>
                      </p:cNvPicPr>
                      <p:nvPr/>
                    </p:nvPicPr>
                    <p:blipFill>
                      <a:blip r:embed="rId20"/>
                      <a:srcRect/>
                      <a:stretch>
                        <a:fillRect/>
                      </a:stretch>
                    </p:blipFill>
                    <p:spPr bwMode="auto">
                      <a:xfrm>
                        <a:off x="2303462" y="4888259"/>
                        <a:ext cx="2525713"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7">
            <a:extLst>
              <a:ext uri="{FF2B5EF4-FFF2-40B4-BE49-F238E27FC236}">
                <a16:creationId xmlns:a16="http://schemas.microsoft.com/office/drawing/2014/main" id="{23C4BEAA-2834-45FD-9404-EA86538409E8}"/>
              </a:ext>
            </a:extLst>
          </p:cNvPr>
          <p:cNvSpPr>
            <a:spLocks noChangeArrowheads="1"/>
          </p:cNvSpPr>
          <p:nvPr/>
        </p:nvSpPr>
        <p:spPr bwMode="auto">
          <a:xfrm>
            <a:off x="586036" y="5775325"/>
            <a:ext cx="16779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cs typeface="Times New Roman" panose="02020603050405020304" pitchFamily="18" charset="0"/>
              </a:rPr>
              <a:t>边界条件：</a:t>
            </a:r>
          </a:p>
        </p:txBody>
      </p:sp>
      <p:graphicFrame>
        <p:nvGraphicFramePr>
          <p:cNvPr id="17" name="Object 18">
            <a:extLst>
              <a:ext uri="{FF2B5EF4-FFF2-40B4-BE49-F238E27FC236}">
                <a16:creationId xmlns:a16="http://schemas.microsoft.com/office/drawing/2014/main" id="{9A4914E9-54CC-4C82-980D-065B95133FD0}"/>
              </a:ext>
            </a:extLst>
          </p:cNvPr>
          <p:cNvGraphicFramePr>
            <a:graphicFrameLocks noChangeAspect="1"/>
          </p:cNvGraphicFramePr>
          <p:nvPr>
            <p:extLst>
              <p:ext uri="{D42A27DB-BD31-4B8C-83A1-F6EECF244321}">
                <p14:modId xmlns:p14="http://schemas.microsoft.com/office/powerpoint/2010/main" val="3447384545"/>
              </p:ext>
            </p:extLst>
          </p:nvPr>
        </p:nvGraphicFramePr>
        <p:xfrm>
          <a:off x="2335461" y="5795962"/>
          <a:ext cx="884237" cy="419100"/>
        </p:xfrm>
        <a:graphic>
          <a:graphicData uri="http://schemas.openxmlformats.org/presentationml/2006/ole">
            <mc:AlternateContent xmlns:mc="http://schemas.openxmlformats.org/markup-compatibility/2006">
              <mc:Choice xmlns:v="urn:schemas-microsoft-com:vml" Requires="v">
                <p:oleObj spid="_x0000_s122395" name="Equation" r:id="rId21" imgW="444307" imgH="228501" progId="Equation.DSMT4">
                  <p:embed/>
                </p:oleObj>
              </mc:Choice>
              <mc:Fallback>
                <p:oleObj name="Equation" r:id="rId21" imgW="444307" imgH="228501" progId="Equation.DSMT4">
                  <p:embed/>
                  <p:pic>
                    <p:nvPicPr>
                      <p:cNvPr id="540690" name="Object 18">
                        <a:extLst>
                          <a:ext uri="{FF2B5EF4-FFF2-40B4-BE49-F238E27FC236}">
                            <a16:creationId xmlns:a16="http://schemas.microsoft.com/office/drawing/2014/main" id="{14BD6422-C164-4D87-8BD3-001CB9E8AAB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35461" y="5795962"/>
                        <a:ext cx="88423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9">
            <a:extLst>
              <a:ext uri="{FF2B5EF4-FFF2-40B4-BE49-F238E27FC236}">
                <a16:creationId xmlns:a16="http://schemas.microsoft.com/office/drawing/2014/main" id="{A0E0BA48-AC4A-44D2-BE79-4F351CDC9CB1}"/>
              </a:ext>
            </a:extLst>
          </p:cNvPr>
          <p:cNvGraphicFramePr>
            <a:graphicFrameLocks noChangeAspect="1"/>
          </p:cNvGraphicFramePr>
          <p:nvPr>
            <p:extLst>
              <p:ext uri="{D42A27DB-BD31-4B8C-83A1-F6EECF244321}">
                <p14:modId xmlns:p14="http://schemas.microsoft.com/office/powerpoint/2010/main" val="1471772671"/>
              </p:ext>
            </p:extLst>
          </p:nvPr>
        </p:nvGraphicFramePr>
        <p:xfrm>
          <a:off x="3238500" y="5842000"/>
          <a:ext cx="714375" cy="315913"/>
        </p:xfrm>
        <a:graphic>
          <a:graphicData uri="http://schemas.openxmlformats.org/presentationml/2006/ole">
            <mc:AlternateContent xmlns:mc="http://schemas.openxmlformats.org/markup-compatibility/2006">
              <mc:Choice xmlns:v="urn:schemas-microsoft-com:vml" Requires="v">
                <p:oleObj spid="_x0000_s122396" name="Equation" r:id="rId23" imgW="393480" imgH="177480" progId="Equation.DSMT4">
                  <p:embed/>
                </p:oleObj>
              </mc:Choice>
              <mc:Fallback>
                <p:oleObj name="Equation" r:id="rId23" imgW="393480" imgH="177480" progId="Equation.DSMT4">
                  <p:embed/>
                  <p:pic>
                    <p:nvPicPr>
                      <p:cNvPr id="540691" name="Object 19">
                        <a:extLst>
                          <a:ext uri="{FF2B5EF4-FFF2-40B4-BE49-F238E27FC236}">
                            <a16:creationId xmlns:a16="http://schemas.microsoft.com/office/drawing/2014/main" id="{C6694A2B-7E37-4BC7-8C67-0C36917774C7}"/>
                          </a:ext>
                        </a:extLst>
                      </p:cNvPr>
                      <p:cNvPicPr>
                        <a:picLocks noChangeAspect="1" noChangeArrowheads="1"/>
                      </p:cNvPicPr>
                      <p:nvPr/>
                    </p:nvPicPr>
                    <p:blipFill>
                      <a:blip r:embed="rId24"/>
                      <a:srcRect/>
                      <a:stretch>
                        <a:fillRect/>
                      </a:stretch>
                    </p:blipFill>
                    <p:spPr bwMode="auto">
                      <a:xfrm>
                        <a:off x="3238500" y="5842000"/>
                        <a:ext cx="71437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20">
            <a:extLst>
              <a:ext uri="{FF2B5EF4-FFF2-40B4-BE49-F238E27FC236}">
                <a16:creationId xmlns:a16="http://schemas.microsoft.com/office/drawing/2014/main" id="{4CBEFCBB-7FCA-4C22-82D7-B744A89DC614}"/>
              </a:ext>
            </a:extLst>
          </p:cNvPr>
          <p:cNvSpPr>
            <a:spLocks noChangeArrowheads="1"/>
          </p:cNvSpPr>
          <p:nvPr/>
        </p:nvSpPr>
        <p:spPr bwMode="auto">
          <a:xfrm>
            <a:off x="586036" y="5126037"/>
            <a:ext cx="16779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cs typeface="Times New Roman" panose="02020603050405020304" pitchFamily="18" charset="0"/>
              </a:rPr>
              <a:t>再次积分：</a:t>
            </a:r>
          </a:p>
        </p:txBody>
      </p:sp>
      <p:sp>
        <p:nvSpPr>
          <p:cNvPr id="20" name="文本框 19">
            <a:extLst>
              <a:ext uri="{FF2B5EF4-FFF2-40B4-BE49-F238E27FC236}">
                <a16:creationId xmlns:a16="http://schemas.microsoft.com/office/drawing/2014/main" id="{EC845FFE-ED06-492F-8ACC-8580D2E5F4EB}"/>
              </a:ext>
            </a:extLst>
          </p:cNvPr>
          <p:cNvSpPr txBox="1"/>
          <p:nvPr/>
        </p:nvSpPr>
        <p:spPr>
          <a:xfrm>
            <a:off x="3445544" y="2236373"/>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defPPr>
              <a:defRPr lang="en-US"/>
            </a:defPPr>
            <a:lvl1pPr>
              <a:defRPr kumimoji="1" sz="2000" b="1">
                <a:solidFill>
                  <a:srgbClr val="000066"/>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eaLnBrk="0" hangingPunct="0">
              <a:defRPr kumimoji="1" sz="2400">
                <a:latin typeface="宋体" panose="02010600030101010101" pitchFamily="2" charset="-122"/>
                <a:ea typeface="宋体" panose="02010600030101010101" pitchFamily="2" charset="-122"/>
              </a:defRPr>
            </a:lvl2pPr>
            <a:lvl3pPr marL="1143000" indent="-228600" eaLnBrk="0" hangingPunct="0">
              <a:defRPr kumimoji="1" sz="2400">
                <a:latin typeface="宋体" panose="02010600030101010101" pitchFamily="2" charset="-122"/>
                <a:ea typeface="宋体" panose="02010600030101010101" pitchFamily="2" charset="-122"/>
              </a:defRPr>
            </a:lvl3pPr>
            <a:lvl4pPr marL="1600200" indent="-228600" eaLnBrk="0" hangingPunct="0">
              <a:defRPr kumimoji="1" sz="2400">
                <a:latin typeface="宋体" panose="02010600030101010101" pitchFamily="2" charset="-122"/>
                <a:ea typeface="宋体" panose="02010600030101010101" pitchFamily="2" charset="-122"/>
              </a:defRPr>
            </a:lvl4pPr>
            <a:lvl5pPr marL="2057400" indent="-228600" eaLnBrk="0" hangingPunct="0">
              <a:defRPr kumimoji="1" sz="2400">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latin typeface="宋体" panose="02010600030101010101" pitchFamily="2" charset="-122"/>
                <a:ea typeface="宋体" panose="02010600030101010101" pitchFamily="2" charset="-122"/>
              </a:defRPr>
            </a:lvl9pPr>
          </a:lstStyle>
          <a:p>
            <a:r>
              <a:rPr lang="zh-CN" altLang="en-US" dirty="0"/>
              <a:t>电场</a:t>
            </a:r>
          </a:p>
        </p:txBody>
      </p:sp>
    </p:spTree>
    <p:extLst>
      <p:ext uri="{BB962C8B-B14F-4D97-AF65-F5344CB8AC3E}">
        <p14:creationId xmlns:p14="http://schemas.microsoft.com/office/powerpoint/2010/main" val="297155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par>
                                <p:cTn id="24" presetID="3" presetClass="entr" presetSubtype="1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par>
                                <p:cTn id="27" presetID="3" presetClass="entr" presetSubtype="1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horizontal)">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linds(horizontal)">
                                      <p:cBhvr>
                                        <p:cTn id="34" dur="500"/>
                                        <p:tgtEl>
                                          <p:spTgt spid="6"/>
                                        </p:tgtEl>
                                      </p:cBhvr>
                                    </p:animEffect>
                                  </p:childTnLst>
                                </p:cTn>
                              </p:par>
                              <p:par>
                                <p:cTn id="35" presetID="3" presetClass="entr" presetSubtype="1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blinds(horizontal)">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blinds(horizontal)">
                                      <p:cBhvr>
                                        <p:cTn id="45" dur="500"/>
                                        <p:tgtEl>
                                          <p:spTgt spid="13"/>
                                        </p:tgtEl>
                                      </p:cBhvr>
                                    </p:animEffect>
                                  </p:childTnLst>
                                </p:cTn>
                              </p:par>
                              <p:par>
                                <p:cTn id="46" presetID="3" presetClass="entr" presetSubtype="10" fill="hold"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blinds(horizontal)">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blinds(horizontal)">
                                      <p:cBhvr>
                                        <p:cTn id="53" dur="500"/>
                                        <p:tgtEl>
                                          <p:spTgt spid="19"/>
                                        </p:tgtEl>
                                      </p:cBhvr>
                                    </p:animEffect>
                                  </p:childTnLst>
                                </p:cTn>
                              </p:par>
                              <p:par>
                                <p:cTn id="54" presetID="3" presetClass="entr" presetSubtype="10"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blinds(horizontal)">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blinds(horizontal)">
                                      <p:cBhvr>
                                        <p:cTn id="61" dur="500"/>
                                        <p:tgtEl>
                                          <p:spTgt spid="16"/>
                                        </p:tgtEl>
                                      </p:cBhvr>
                                    </p:animEffect>
                                  </p:childTnLst>
                                </p:cTn>
                              </p:par>
                              <p:par>
                                <p:cTn id="62" presetID="3" presetClass="entr" presetSubtype="10"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blinds(horizontal)">
                                      <p:cBhvr>
                                        <p:cTn id="64" dur="500"/>
                                        <p:tgtEl>
                                          <p:spTgt spid="17"/>
                                        </p:tgtEl>
                                      </p:cBhvr>
                                    </p:animEffect>
                                  </p:childTnLst>
                                </p:cTn>
                              </p:par>
                              <p:par>
                                <p:cTn id="65" presetID="3" presetClass="entr" presetSubtype="10"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blinds(horizontal)">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12" grpId="0"/>
      <p:bldP spid="16"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a:extLst>
              <a:ext uri="{FF2B5EF4-FFF2-40B4-BE49-F238E27FC236}">
                <a16:creationId xmlns:a16="http://schemas.microsoft.com/office/drawing/2014/main" id="{9B7F2644-3F8B-4502-9105-8D3121212679}"/>
              </a:ext>
            </a:extLst>
          </p:cNvPr>
          <p:cNvGraphicFramePr>
            <a:graphicFrameLocks noChangeAspect="1"/>
          </p:cNvGraphicFramePr>
          <p:nvPr>
            <p:extLst>
              <p:ext uri="{D42A27DB-BD31-4B8C-83A1-F6EECF244321}">
                <p14:modId xmlns:p14="http://schemas.microsoft.com/office/powerpoint/2010/main" val="3487337014"/>
              </p:ext>
            </p:extLst>
          </p:nvPr>
        </p:nvGraphicFramePr>
        <p:xfrm>
          <a:off x="5861842" y="443803"/>
          <a:ext cx="3109918" cy="5897535"/>
        </p:xfrm>
        <a:graphic>
          <a:graphicData uri="http://schemas.openxmlformats.org/presentationml/2006/ole">
            <mc:AlternateContent xmlns:mc="http://schemas.openxmlformats.org/markup-compatibility/2006">
              <mc:Choice xmlns:v="urn:schemas-microsoft-com:vml" Requires="v">
                <p:oleObj spid="_x0000_s125314" name="Visio" r:id="rId3" imgW="2977142" imgH="5890176" progId="">
                  <p:embed/>
                </p:oleObj>
              </mc:Choice>
              <mc:Fallback>
                <p:oleObj name="Visio" r:id="rId3" imgW="2977142" imgH="5890176" progId="">
                  <p:embed/>
                  <p:pic>
                    <p:nvPicPr>
                      <p:cNvPr id="22531" name="Object 3">
                        <a:extLst>
                          <a:ext uri="{FF2B5EF4-FFF2-40B4-BE49-F238E27FC236}">
                            <a16:creationId xmlns:a16="http://schemas.microsoft.com/office/drawing/2014/main" id="{3F2CCFDD-6B6E-4CC5-8025-298B444C618C}"/>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1842" y="443803"/>
                        <a:ext cx="3109918" cy="5897535"/>
                      </a:xfrm>
                      <a:prstGeom prst="rect">
                        <a:avLst/>
                      </a:prstGeom>
                      <a:noFill/>
                      <a:ln>
                        <a:noFill/>
                      </a:ln>
                      <a:effectLst/>
                      <a:extLst/>
                    </p:spPr>
                  </p:pic>
                </p:oleObj>
              </mc:Fallback>
            </mc:AlternateContent>
          </a:graphicData>
        </a:graphic>
      </p:graphicFrame>
      <p:sp>
        <p:nvSpPr>
          <p:cNvPr id="3" name="Rectangle 4">
            <a:extLst>
              <a:ext uri="{FF2B5EF4-FFF2-40B4-BE49-F238E27FC236}">
                <a16:creationId xmlns:a16="http://schemas.microsoft.com/office/drawing/2014/main" id="{5A30B12D-DBF2-4726-A796-947D8F156044}"/>
              </a:ext>
            </a:extLst>
          </p:cNvPr>
          <p:cNvSpPr>
            <a:spLocks noChangeArrowheads="1"/>
          </p:cNvSpPr>
          <p:nvPr/>
        </p:nvSpPr>
        <p:spPr bwMode="auto">
          <a:xfrm>
            <a:off x="982652" y="1624719"/>
            <a:ext cx="3384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rPr>
              <a:t>很小，由电势连续性，</a:t>
            </a:r>
          </a:p>
        </p:txBody>
      </p:sp>
      <p:sp>
        <p:nvSpPr>
          <p:cNvPr id="4" name="Rectangle 6">
            <a:extLst>
              <a:ext uri="{FF2B5EF4-FFF2-40B4-BE49-F238E27FC236}">
                <a16:creationId xmlns:a16="http://schemas.microsoft.com/office/drawing/2014/main" id="{4B869BB0-0516-4B19-AE6E-A2AD6A227BC5}"/>
              </a:ext>
            </a:extLst>
          </p:cNvPr>
          <p:cNvSpPr>
            <a:spLocks noChangeArrowheads="1"/>
          </p:cNvSpPr>
          <p:nvPr/>
        </p:nvSpPr>
        <p:spPr bwMode="auto">
          <a:xfrm>
            <a:off x="372528" y="772468"/>
            <a:ext cx="193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rPr>
              <a:t>内建电势差：</a:t>
            </a:r>
          </a:p>
        </p:txBody>
      </p:sp>
      <p:graphicFrame>
        <p:nvGraphicFramePr>
          <p:cNvPr id="5" name="Object 7">
            <a:extLst>
              <a:ext uri="{FF2B5EF4-FFF2-40B4-BE49-F238E27FC236}">
                <a16:creationId xmlns:a16="http://schemas.microsoft.com/office/drawing/2014/main" id="{616F19CF-8BCA-494C-9756-D7D78CA196AF}"/>
              </a:ext>
            </a:extLst>
          </p:cNvPr>
          <p:cNvGraphicFramePr>
            <a:graphicFrameLocks noChangeAspect="1"/>
          </p:cNvGraphicFramePr>
          <p:nvPr>
            <p:extLst>
              <p:ext uri="{D42A27DB-BD31-4B8C-83A1-F6EECF244321}">
                <p14:modId xmlns:p14="http://schemas.microsoft.com/office/powerpoint/2010/main" val="2519375619"/>
              </p:ext>
            </p:extLst>
          </p:nvPr>
        </p:nvGraphicFramePr>
        <p:xfrm>
          <a:off x="695315" y="1589794"/>
          <a:ext cx="352425" cy="444500"/>
        </p:xfrm>
        <a:graphic>
          <a:graphicData uri="http://schemas.openxmlformats.org/presentationml/2006/ole">
            <mc:AlternateContent xmlns:mc="http://schemas.openxmlformats.org/markup-compatibility/2006">
              <mc:Choice xmlns:v="urn:schemas-microsoft-com:vml" Requires="v">
                <p:oleObj spid="_x0000_s125315" name="Equation" r:id="rId5" imgW="177646" imgH="241091" progId="Equation.DSMT4">
                  <p:embed/>
                </p:oleObj>
              </mc:Choice>
              <mc:Fallback>
                <p:oleObj name="Equation" r:id="rId5" imgW="177646" imgH="241091" progId="Equation.DSMT4">
                  <p:embed/>
                  <p:pic>
                    <p:nvPicPr>
                      <p:cNvPr id="541703" name="Object 7">
                        <a:extLst>
                          <a:ext uri="{FF2B5EF4-FFF2-40B4-BE49-F238E27FC236}">
                            <a16:creationId xmlns:a16="http://schemas.microsoft.com/office/drawing/2014/main" id="{3A561ED1-0FAF-455E-AFAB-C385655DAC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315" y="1589794"/>
                        <a:ext cx="35242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8">
            <a:extLst>
              <a:ext uri="{FF2B5EF4-FFF2-40B4-BE49-F238E27FC236}">
                <a16:creationId xmlns:a16="http://schemas.microsoft.com/office/drawing/2014/main" id="{509CDB8F-485C-43B9-963E-5DC3DBE64780}"/>
              </a:ext>
            </a:extLst>
          </p:cNvPr>
          <p:cNvGraphicFramePr>
            <a:graphicFrameLocks noChangeAspect="1"/>
          </p:cNvGraphicFramePr>
          <p:nvPr>
            <p:extLst>
              <p:ext uri="{D42A27DB-BD31-4B8C-83A1-F6EECF244321}">
                <p14:modId xmlns:p14="http://schemas.microsoft.com/office/powerpoint/2010/main" val="3660979240"/>
              </p:ext>
            </p:extLst>
          </p:nvPr>
        </p:nvGraphicFramePr>
        <p:xfrm>
          <a:off x="1909759" y="771997"/>
          <a:ext cx="2439988" cy="430212"/>
        </p:xfrm>
        <a:graphic>
          <a:graphicData uri="http://schemas.openxmlformats.org/presentationml/2006/ole">
            <mc:AlternateContent xmlns:mc="http://schemas.openxmlformats.org/markup-compatibility/2006">
              <mc:Choice xmlns:v="urn:schemas-microsoft-com:vml" Requires="v">
                <p:oleObj spid="_x0000_s125316" name="Equation" r:id="rId7" imgW="1346040" imgH="241200" progId="Equation.DSMT4">
                  <p:embed/>
                </p:oleObj>
              </mc:Choice>
              <mc:Fallback>
                <p:oleObj name="Equation" r:id="rId7" imgW="1346040" imgH="241200" progId="Equation.DSMT4">
                  <p:embed/>
                  <p:pic>
                    <p:nvPicPr>
                      <p:cNvPr id="541704" name="Object 8">
                        <a:extLst>
                          <a:ext uri="{FF2B5EF4-FFF2-40B4-BE49-F238E27FC236}">
                            <a16:creationId xmlns:a16="http://schemas.microsoft.com/office/drawing/2014/main" id="{936084D7-8991-484D-8C53-A1077C732D7F}"/>
                          </a:ext>
                        </a:extLst>
                      </p:cNvPr>
                      <p:cNvPicPr>
                        <a:picLocks noChangeAspect="1" noChangeArrowheads="1"/>
                      </p:cNvPicPr>
                      <p:nvPr/>
                    </p:nvPicPr>
                    <p:blipFill>
                      <a:blip r:embed="rId8"/>
                      <a:srcRect/>
                      <a:stretch>
                        <a:fillRect/>
                      </a:stretch>
                    </p:blipFill>
                    <p:spPr bwMode="auto">
                      <a:xfrm>
                        <a:off x="1909759" y="771997"/>
                        <a:ext cx="243998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9">
            <a:extLst>
              <a:ext uri="{FF2B5EF4-FFF2-40B4-BE49-F238E27FC236}">
                <a16:creationId xmlns:a16="http://schemas.microsoft.com/office/drawing/2014/main" id="{287607D3-E498-4FBE-8EE1-4763A072FA0B}"/>
              </a:ext>
            </a:extLst>
          </p:cNvPr>
          <p:cNvGraphicFramePr>
            <a:graphicFrameLocks noChangeAspect="1"/>
          </p:cNvGraphicFramePr>
          <p:nvPr>
            <p:extLst>
              <p:ext uri="{D42A27DB-BD31-4B8C-83A1-F6EECF244321}">
                <p14:modId xmlns:p14="http://schemas.microsoft.com/office/powerpoint/2010/main" val="1619201654"/>
              </p:ext>
            </p:extLst>
          </p:nvPr>
        </p:nvGraphicFramePr>
        <p:xfrm>
          <a:off x="3635896" y="1589323"/>
          <a:ext cx="1727200" cy="430212"/>
        </p:xfrm>
        <a:graphic>
          <a:graphicData uri="http://schemas.openxmlformats.org/presentationml/2006/ole">
            <mc:AlternateContent xmlns:mc="http://schemas.openxmlformats.org/markup-compatibility/2006">
              <mc:Choice xmlns:v="urn:schemas-microsoft-com:vml" Requires="v">
                <p:oleObj spid="_x0000_s125317" name="Equation" r:id="rId9" imgW="952200" imgH="241200" progId="Equation.DSMT4">
                  <p:embed/>
                </p:oleObj>
              </mc:Choice>
              <mc:Fallback>
                <p:oleObj name="Equation" r:id="rId9" imgW="952200" imgH="241200" progId="Equation.DSMT4">
                  <p:embed/>
                  <p:pic>
                    <p:nvPicPr>
                      <p:cNvPr id="541705" name="Object 9">
                        <a:extLst>
                          <a:ext uri="{FF2B5EF4-FFF2-40B4-BE49-F238E27FC236}">
                            <a16:creationId xmlns:a16="http://schemas.microsoft.com/office/drawing/2014/main" id="{D1DE8068-03F4-4276-B7FC-36EB50376357}"/>
                          </a:ext>
                        </a:extLst>
                      </p:cNvPr>
                      <p:cNvPicPr>
                        <a:picLocks noChangeAspect="1" noChangeArrowheads="1"/>
                      </p:cNvPicPr>
                      <p:nvPr/>
                    </p:nvPicPr>
                    <p:blipFill>
                      <a:blip r:embed="rId10"/>
                      <a:srcRect/>
                      <a:stretch>
                        <a:fillRect/>
                      </a:stretch>
                    </p:blipFill>
                    <p:spPr bwMode="auto">
                      <a:xfrm>
                        <a:off x="3635896" y="1589323"/>
                        <a:ext cx="17272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a:extLst>
              <a:ext uri="{FF2B5EF4-FFF2-40B4-BE49-F238E27FC236}">
                <a16:creationId xmlns:a16="http://schemas.microsoft.com/office/drawing/2014/main" id="{567A9D9A-1E87-4594-88EB-CA55D447621E}"/>
              </a:ext>
            </a:extLst>
          </p:cNvPr>
          <p:cNvGraphicFramePr>
            <a:graphicFrameLocks noChangeAspect="1"/>
          </p:cNvGraphicFramePr>
          <p:nvPr>
            <p:extLst>
              <p:ext uri="{D42A27DB-BD31-4B8C-83A1-F6EECF244321}">
                <p14:modId xmlns:p14="http://schemas.microsoft.com/office/powerpoint/2010/main" val="3597570549"/>
              </p:ext>
            </p:extLst>
          </p:nvPr>
        </p:nvGraphicFramePr>
        <p:xfrm>
          <a:off x="2373835" y="2178999"/>
          <a:ext cx="1401763" cy="815975"/>
        </p:xfrm>
        <a:graphic>
          <a:graphicData uri="http://schemas.openxmlformats.org/presentationml/2006/ole">
            <mc:AlternateContent xmlns:mc="http://schemas.openxmlformats.org/markup-compatibility/2006">
              <mc:Choice xmlns:v="urn:schemas-microsoft-com:vml" Requires="v">
                <p:oleObj spid="_x0000_s125318" name="Equation" r:id="rId11" imgW="774360" imgH="457200" progId="Equation.DSMT4">
                  <p:embed/>
                </p:oleObj>
              </mc:Choice>
              <mc:Fallback>
                <p:oleObj name="Equation" r:id="rId11" imgW="774360" imgH="457200" progId="Equation.DSMT4">
                  <p:embed/>
                  <p:pic>
                    <p:nvPicPr>
                      <p:cNvPr id="541706" name="Object 10">
                        <a:extLst>
                          <a:ext uri="{FF2B5EF4-FFF2-40B4-BE49-F238E27FC236}">
                            <a16:creationId xmlns:a16="http://schemas.microsoft.com/office/drawing/2014/main" id="{354D877A-3DCD-4284-BCE0-24EECE604EDC}"/>
                          </a:ext>
                        </a:extLst>
                      </p:cNvPr>
                      <p:cNvPicPr>
                        <a:picLocks noChangeAspect="1" noChangeArrowheads="1"/>
                      </p:cNvPicPr>
                      <p:nvPr/>
                    </p:nvPicPr>
                    <p:blipFill>
                      <a:blip r:embed="rId12"/>
                      <a:srcRect/>
                      <a:stretch>
                        <a:fillRect/>
                      </a:stretch>
                    </p:blipFill>
                    <p:spPr bwMode="auto">
                      <a:xfrm>
                        <a:off x="2373835" y="2178999"/>
                        <a:ext cx="1401763"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1">
            <a:extLst>
              <a:ext uri="{FF2B5EF4-FFF2-40B4-BE49-F238E27FC236}">
                <a16:creationId xmlns:a16="http://schemas.microsoft.com/office/drawing/2014/main" id="{6C449145-3978-4D25-82F0-02A50F417BF1}"/>
              </a:ext>
            </a:extLst>
          </p:cNvPr>
          <p:cNvGraphicFramePr>
            <a:graphicFrameLocks noChangeAspect="1"/>
          </p:cNvGraphicFramePr>
          <p:nvPr>
            <p:extLst>
              <p:ext uri="{D42A27DB-BD31-4B8C-83A1-F6EECF244321}">
                <p14:modId xmlns:p14="http://schemas.microsoft.com/office/powerpoint/2010/main" val="516152742"/>
              </p:ext>
            </p:extLst>
          </p:nvPr>
        </p:nvGraphicFramePr>
        <p:xfrm>
          <a:off x="846138" y="3068638"/>
          <a:ext cx="412750" cy="407987"/>
        </p:xfrm>
        <a:graphic>
          <a:graphicData uri="http://schemas.openxmlformats.org/presentationml/2006/ole">
            <mc:AlternateContent xmlns:mc="http://schemas.openxmlformats.org/markup-compatibility/2006">
              <mc:Choice xmlns:v="urn:schemas-microsoft-com:vml" Requires="v">
                <p:oleObj spid="_x0000_s125319" name="Equation" r:id="rId13" imgW="228600" imgH="228600" progId="Equation.DSMT4">
                  <p:embed/>
                </p:oleObj>
              </mc:Choice>
              <mc:Fallback>
                <p:oleObj name="Equation" r:id="rId13" imgW="228600" imgH="228600" progId="Equation.DSMT4">
                  <p:embed/>
                  <p:pic>
                    <p:nvPicPr>
                      <p:cNvPr id="541707" name="Object 11">
                        <a:extLst>
                          <a:ext uri="{FF2B5EF4-FFF2-40B4-BE49-F238E27FC236}">
                            <a16:creationId xmlns:a16="http://schemas.microsoft.com/office/drawing/2014/main" id="{E404DF38-01CC-41B3-91AF-FB3A1941C96E}"/>
                          </a:ext>
                        </a:extLst>
                      </p:cNvPr>
                      <p:cNvPicPr>
                        <a:picLocks noChangeAspect="1" noChangeArrowheads="1"/>
                      </p:cNvPicPr>
                      <p:nvPr/>
                    </p:nvPicPr>
                    <p:blipFill>
                      <a:blip r:embed="rId14"/>
                      <a:srcRect/>
                      <a:stretch>
                        <a:fillRect/>
                      </a:stretch>
                    </p:blipFill>
                    <p:spPr bwMode="auto">
                      <a:xfrm>
                        <a:off x="846138" y="3068638"/>
                        <a:ext cx="412750"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12">
            <a:extLst>
              <a:ext uri="{FF2B5EF4-FFF2-40B4-BE49-F238E27FC236}">
                <a16:creationId xmlns:a16="http://schemas.microsoft.com/office/drawing/2014/main" id="{73E4E830-C30C-4A46-B433-1D2877572E25}"/>
              </a:ext>
            </a:extLst>
          </p:cNvPr>
          <p:cNvSpPr>
            <a:spLocks noChangeArrowheads="1"/>
          </p:cNvSpPr>
          <p:nvPr/>
        </p:nvSpPr>
        <p:spPr bwMode="auto">
          <a:xfrm>
            <a:off x="1237719" y="3140546"/>
            <a:ext cx="46815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dirty="0">
                <a:solidFill>
                  <a:srgbClr val="000066"/>
                </a:solidFill>
              </a:rPr>
              <a:t>——</a:t>
            </a:r>
            <a:r>
              <a:rPr lang="zh-CN" altLang="en-US" sz="2000" b="1" dirty="0">
                <a:solidFill>
                  <a:srgbClr val="000066"/>
                </a:solidFill>
              </a:rPr>
              <a:t>扩散电势或自建电势</a:t>
            </a:r>
          </a:p>
        </p:txBody>
      </p:sp>
      <p:graphicFrame>
        <p:nvGraphicFramePr>
          <p:cNvPr id="11" name="Object 13">
            <a:extLst>
              <a:ext uri="{FF2B5EF4-FFF2-40B4-BE49-F238E27FC236}">
                <a16:creationId xmlns:a16="http://schemas.microsoft.com/office/drawing/2014/main" id="{80894A41-06B7-4368-9458-133ADE8EA84C}"/>
              </a:ext>
            </a:extLst>
          </p:cNvPr>
          <p:cNvGraphicFramePr>
            <a:graphicFrameLocks noChangeAspect="1"/>
          </p:cNvGraphicFramePr>
          <p:nvPr>
            <p:extLst>
              <p:ext uri="{D42A27DB-BD31-4B8C-83A1-F6EECF244321}">
                <p14:modId xmlns:p14="http://schemas.microsoft.com/office/powerpoint/2010/main" val="338573835"/>
              </p:ext>
            </p:extLst>
          </p:nvPr>
        </p:nvGraphicFramePr>
        <p:xfrm>
          <a:off x="766763" y="3584575"/>
          <a:ext cx="574675" cy="407988"/>
        </p:xfrm>
        <a:graphic>
          <a:graphicData uri="http://schemas.openxmlformats.org/presentationml/2006/ole">
            <mc:AlternateContent xmlns:mc="http://schemas.openxmlformats.org/markup-compatibility/2006">
              <mc:Choice xmlns:v="urn:schemas-microsoft-com:vml" Requires="v">
                <p:oleObj spid="_x0000_s125320" name="Equation" r:id="rId15" imgW="317160" imgH="228600" progId="Equation.DSMT4">
                  <p:embed/>
                </p:oleObj>
              </mc:Choice>
              <mc:Fallback>
                <p:oleObj name="Equation" r:id="rId15" imgW="317160" imgH="228600" progId="Equation.DSMT4">
                  <p:embed/>
                  <p:pic>
                    <p:nvPicPr>
                      <p:cNvPr id="541709" name="Object 13">
                        <a:extLst>
                          <a:ext uri="{FF2B5EF4-FFF2-40B4-BE49-F238E27FC236}">
                            <a16:creationId xmlns:a16="http://schemas.microsoft.com/office/drawing/2014/main" id="{60351662-DCCB-4268-8732-A7ED80A4F45C}"/>
                          </a:ext>
                        </a:extLst>
                      </p:cNvPr>
                      <p:cNvPicPr>
                        <a:picLocks noChangeAspect="1" noChangeArrowheads="1"/>
                      </p:cNvPicPr>
                      <p:nvPr/>
                    </p:nvPicPr>
                    <p:blipFill>
                      <a:blip r:embed="rId16"/>
                      <a:srcRect/>
                      <a:stretch>
                        <a:fillRect/>
                      </a:stretch>
                    </p:blipFill>
                    <p:spPr bwMode="auto">
                      <a:xfrm>
                        <a:off x="766763" y="3584575"/>
                        <a:ext cx="57467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14">
            <a:extLst>
              <a:ext uri="{FF2B5EF4-FFF2-40B4-BE49-F238E27FC236}">
                <a16:creationId xmlns:a16="http://schemas.microsoft.com/office/drawing/2014/main" id="{6B20F6B4-FE58-47FB-99BC-955956CD31D1}"/>
              </a:ext>
            </a:extLst>
          </p:cNvPr>
          <p:cNvSpPr>
            <a:spLocks noChangeArrowheads="1"/>
          </p:cNvSpPr>
          <p:nvPr/>
        </p:nvSpPr>
        <p:spPr bwMode="auto">
          <a:xfrm>
            <a:off x="1237719" y="3572346"/>
            <a:ext cx="46815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66"/>
                </a:solidFill>
              </a:rPr>
              <a:t>——</a:t>
            </a:r>
            <a:r>
              <a:rPr lang="zh-CN" altLang="en-US" sz="2000" b="1">
                <a:solidFill>
                  <a:srgbClr val="000066"/>
                </a:solidFill>
              </a:rPr>
              <a:t>热平衡下的势垒高度</a:t>
            </a:r>
          </a:p>
        </p:txBody>
      </p:sp>
      <p:sp>
        <p:nvSpPr>
          <p:cNvPr id="13" name="Rectangle 15">
            <a:extLst>
              <a:ext uri="{FF2B5EF4-FFF2-40B4-BE49-F238E27FC236}">
                <a16:creationId xmlns:a16="http://schemas.microsoft.com/office/drawing/2014/main" id="{AF9EA067-7441-4825-894A-83CDC21DB459}"/>
              </a:ext>
            </a:extLst>
          </p:cNvPr>
          <p:cNvSpPr>
            <a:spLocks noChangeArrowheads="1"/>
          </p:cNvSpPr>
          <p:nvPr/>
        </p:nvSpPr>
        <p:spPr bwMode="auto">
          <a:xfrm>
            <a:off x="728443" y="4890930"/>
            <a:ext cx="193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rPr>
              <a:t>耗尽层宽度：</a:t>
            </a:r>
          </a:p>
        </p:txBody>
      </p:sp>
      <p:graphicFrame>
        <p:nvGraphicFramePr>
          <p:cNvPr id="14" name="Object 16">
            <a:extLst>
              <a:ext uri="{FF2B5EF4-FFF2-40B4-BE49-F238E27FC236}">
                <a16:creationId xmlns:a16="http://schemas.microsoft.com/office/drawing/2014/main" id="{3223569A-7033-4339-B714-8384D422AD40}"/>
              </a:ext>
            </a:extLst>
          </p:cNvPr>
          <p:cNvGraphicFramePr>
            <a:graphicFrameLocks noChangeAspect="1"/>
          </p:cNvGraphicFramePr>
          <p:nvPr>
            <p:extLst>
              <p:ext uri="{D42A27DB-BD31-4B8C-83A1-F6EECF244321}">
                <p14:modId xmlns:p14="http://schemas.microsoft.com/office/powerpoint/2010/main" val="1552052408"/>
              </p:ext>
            </p:extLst>
          </p:nvPr>
        </p:nvGraphicFramePr>
        <p:xfrm>
          <a:off x="2578412" y="4674559"/>
          <a:ext cx="2387600" cy="928688"/>
        </p:xfrm>
        <a:graphic>
          <a:graphicData uri="http://schemas.openxmlformats.org/presentationml/2006/ole">
            <mc:AlternateContent xmlns:mc="http://schemas.openxmlformats.org/markup-compatibility/2006">
              <mc:Choice xmlns:v="urn:schemas-microsoft-com:vml" Requires="v">
                <p:oleObj spid="_x0000_s125321" name="Equation" r:id="rId17" imgW="1320480" imgH="520560" progId="Equation.DSMT4">
                  <p:embed/>
                </p:oleObj>
              </mc:Choice>
              <mc:Fallback>
                <p:oleObj name="Equation" r:id="rId17" imgW="1320480" imgH="520560" progId="Equation.DSMT4">
                  <p:embed/>
                  <p:pic>
                    <p:nvPicPr>
                      <p:cNvPr id="541712" name="Object 16">
                        <a:extLst>
                          <a:ext uri="{FF2B5EF4-FFF2-40B4-BE49-F238E27FC236}">
                            <a16:creationId xmlns:a16="http://schemas.microsoft.com/office/drawing/2014/main" id="{AC3D25E8-ECFB-4FD9-9EF5-6BA54C78C716}"/>
                          </a:ext>
                        </a:extLst>
                      </p:cNvPr>
                      <p:cNvPicPr>
                        <a:picLocks noChangeAspect="1" noChangeArrowheads="1"/>
                      </p:cNvPicPr>
                      <p:nvPr/>
                    </p:nvPicPr>
                    <p:blipFill>
                      <a:blip r:embed="rId18"/>
                      <a:srcRect/>
                      <a:stretch>
                        <a:fillRect/>
                      </a:stretch>
                    </p:blipFill>
                    <p:spPr bwMode="auto">
                      <a:xfrm>
                        <a:off x="2578412" y="4674559"/>
                        <a:ext cx="238760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15">
            <a:extLst>
              <a:ext uri="{FF2B5EF4-FFF2-40B4-BE49-F238E27FC236}">
                <a16:creationId xmlns:a16="http://schemas.microsoft.com/office/drawing/2014/main" id="{F08C6DF0-8A47-43C7-99CE-64DFB3D9089F}"/>
              </a:ext>
            </a:extLst>
          </p:cNvPr>
          <p:cNvSpPr>
            <a:spLocks noChangeArrowheads="1"/>
          </p:cNvSpPr>
          <p:nvPr/>
        </p:nvSpPr>
        <p:spPr bwMode="auto">
          <a:xfrm>
            <a:off x="362478" y="1219991"/>
            <a:ext cx="2373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dirty="0">
                <a:solidFill>
                  <a:srgbClr val="000066"/>
                </a:solidFill>
                <a:latin typeface="Times New Roman" panose="02020603050405020304" pitchFamily="18" charset="0"/>
                <a:cs typeface="Times New Roman" panose="02020603050405020304" pitchFamily="18" charset="0"/>
              </a:rPr>
              <a:t>对于单边突变结：</a:t>
            </a:r>
          </a:p>
        </p:txBody>
      </p:sp>
      <p:sp>
        <p:nvSpPr>
          <p:cNvPr id="16" name="Rectangle 15">
            <a:extLst>
              <a:ext uri="{FF2B5EF4-FFF2-40B4-BE49-F238E27FC236}">
                <a16:creationId xmlns:a16="http://schemas.microsoft.com/office/drawing/2014/main" id="{A394E668-FB09-475C-B636-5E0B87653D39}"/>
              </a:ext>
            </a:extLst>
          </p:cNvPr>
          <p:cNvSpPr>
            <a:spLocks noChangeArrowheads="1"/>
          </p:cNvSpPr>
          <p:nvPr/>
        </p:nvSpPr>
        <p:spPr bwMode="auto">
          <a:xfrm>
            <a:off x="4836896" y="5014623"/>
            <a:ext cx="2373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dirty="0">
                <a:solidFill>
                  <a:srgbClr val="000066"/>
                </a:solidFill>
                <a:latin typeface="Times New Roman" panose="02020603050405020304" pitchFamily="18" charset="0"/>
                <a:cs typeface="Times New Roman" panose="02020603050405020304" pitchFamily="18" charset="0"/>
              </a:rPr>
              <a:t>单边突变结</a:t>
            </a:r>
          </a:p>
        </p:txBody>
      </p:sp>
    </p:spTree>
    <p:extLst>
      <p:ext uri="{BB962C8B-B14F-4D97-AF65-F5344CB8AC3E}">
        <p14:creationId xmlns:p14="http://schemas.microsoft.com/office/powerpoint/2010/main" val="238722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linds(horizontal)">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linds(horizontal)">
                                      <p:cBhvr>
                                        <p:cTn id="31" dur="500"/>
                                        <p:tgtEl>
                                          <p:spTgt spid="9"/>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linds(horizontal)">
                                      <p:cBhvr>
                                        <p:cTn id="39" dur="500"/>
                                        <p:tgtEl>
                                          <p:spTgt spid="11"/>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linds(horizontal)">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blinds(horizontal)">
                                      <p:cBhvr>
                                        <p:cTn id="47" dur="500"/>
                                        <p:tgtEl>
                                          <p:spTgt spid="13"/>
                                        </p:tgtEl>
                                      </p:cBhvr>
                                    </p:animEffect>
                                  </p:childTnLst>
                                </p:cTn>
                              </p:par>
                              <p:par>
                                <p:cTn id="48" presetID="3" presetClass="entr" presetSubtype="1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linds(horizontal)">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blinds(horizontal)">
                                      <p:cBhvr>
                                        <p:cTn id="55" dur="50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blinds(horizontal)">
                                      <p:cBhvr>
                                        <p:cTn id="6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 grpId="0"/>
      <p:bldP spid="12" grpId="0"/>
      <p:bldP spid="13" grpId="0"/>
      <p:bldP spid="15"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3" descr="C:\Documents and Settings\Administrator\桌面\2012应用物理-半导体物理与器件\PPT\半导体物理例题\2-3a.jpg">
            <a:extLst>
              <a:ext uri="{FF2B5EF4-FFF2-40B4-BE49-F238E27FC236}">
                <a16:creationId xmlns:a16="http://schemas.microsoft.com/office/drawing/2014/main" id="{56BD0D0B-921A-4D62-B3CB-31EBFB49E3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853" r="8167" b="64539"/>
          <a:stretch>
            <a:fillRect/>
          </a:stretch>
        </p:blipFill>
        <p:spPr bwMode="auto">
          <a:xfrm>
            <a:off x="0" y="36513"/>
            <a:ext cx="9144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3" name="Picture 4" descr="C:\Documents and Settings\Administrator\桌面\2012应用物理-半导体物理与器件\PPT\半导体物理例题\2-3b.jpg">
            <a:extLst>
              <a:ext uri="{FF2B5EF4-FFF2-40B4-BE49-F238E27FC236}">
                <a16:creationId xmlns:a16="http://schemas.microsoft.com/office/drawing/2014/main" id="{0D4067E5-A6BD-4294-9B82-D67952FD5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54" t="1666" r="16205" b="68513"/>
          <a:stretch>
            <a:fillRect/>
          </a:stretch>
        </p:blipFill>
        <p:spPr bwMode="auto">
          <a:xfrm>
            <a:off x="533400" y="2971800"/>
            <a:ext cx="79819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3" descr="C:\Documents and Settings\Administrator\桌面\2012应用物理-半导体物理与器件\PPT\半导体物理例题\2-3a.jpg">
            <a:extLst>
              <a:ext uri="{FF2B5EF4-FFF2-40B4-BE49-F238E27FC236}">
                <a16:creationId xmlns:a16="http://schemas.microsoft.com/office/drawing/2014/main" id="{7EBDA91B-E633-4AE6-B1E3-7DE396C5F3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1308" t="38583" r="18904" b="28767"/>
          <a:stretch>
            <a:fillRect/>
          </a:stretch>
        </p:blipFill>
        <p:spPr bwMode="auto">
          <a:xfrm>
            <a:off x="304800" y="1981200"/>
            <a:ext cx="80772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8661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descr="C:\Documents and Settings\Administrator\桌面\2012应用物理-半导体物理与器件\PPT\半导体物理例题\2-3b.jpg">
            <a:extLst>
              <a:ext uri="{FF2B5EF4-FFF2-40B4-BE49-F238E27FC236}">
                <a16:creationId xmlns:a16="http://schemas.microsoft.com/office/drawing/2014/main" id="{6E8C51B6-E417-490A-82EA-846B700C0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54" t="35417" r="27187" b="27083"/>
          <a:stretch>
            <a:fillRect/>
          </a:stretch>
        </p:blipFill>
        <p:spPr bwMode="auto">
          <a:xfrm>
            <a:off x="1143000" y="0"/>
            <a:ext cx="602932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4" descr="C:\Documents and Settings\Administrator\桌面\2012应用物理-半导体物理与器件\PPT\半导体物理例题\2-3b.jpg">
            <a:extLst>
              <a:ext uri="{FF2B5EF4-FFF2-40B4-BE49-F238E27FC236}">
                <a16:creationId xmlns:a16="http://schemas.microsoft.com/office/drawing/2014/main" id="{28685DE5-9F4B-4573-B264-0958568A55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54" t="71667" r="16205" b="3333"/>
          <a:stretch>
            <a:fillRect/>
          </a:stretch>
        </p:blipFill>
        <p:spPr bwMode="auto">
          <a:xfrm>
            <a:off x="1143000" y="4267200"/>
            <a:ext cx="601980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Box 3">
            <a:extLst>
              <a:ext uri="{FF2B5EF4-FFF2-40B4-BE49-F238E27FC236}">
                <a16:creationId xmlns:a16="http://schemas.microsoft.com/office/drawing/2014/main" id="{0A51B966-F692-4DF2-A333-B546420E51AC}"/>
              </a:ext>
            </a:extLst>
          </p:cNvPr>
          <p:cNvSpPr txBox="1">
            <a:spLocks noChangeArrowheads="1"/>
          </p:cNvSpPr>
          <p:nvPr/>
        </p:nvSpPr>
        <p:spPr bwMode="auto">
          <a:xfrm>
            <a:off x="2209800" y="4572000"/>
            <a:ext cx="108267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zh-CN" altLang="en-US" sz="1400">
                <a:solidFill>
                  <a:schemeClr val="tx1"/>
                </a:solidFill>
              </a:rPr>
              <a:t>内建电势差</a:t>
            </a:r>
          </a:p>
        </p:txBody>
      </p:sp>
    </p:spTree>
    <p:extLst>
      <p:ext uri="{BB962C8B-B14F-4D97-AF65-F5344CB8AC3E}">
        <p14:creationId xmlns:p14="http://schemas.microsoft.com/office/powerpoint/2010/main" val="3158220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2" name="Picture 4" descr="0238">
            <a:extLst>
              <a:ext uri="{FF2B5EF4-FFF2-40B4-BE49-F238E27FC236}">
                <a16:creationId xmlns:a16="http://schemas.microsoft.com/office/drawing/2014/main" id="{D45EAEE5-EA29-40A9-AE35-858767077C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052513"/>
            <a:ext cx="2843212" cy="4033837"/>
          </a:xfrm>
          <a:prstGeom prst="rect">
            <a:avLst/>
          </a:prstGeom>
          <a:noFill/>
          <a:extLst>
            <a:ext uri="{909E8E84-426E-40DD-AFC4-6F175D3DCCD1}">
              <a14:hiddenFill xmlns:a14="http://schemas.microsoft.com/office/drawing/2010/main">
                <a:solidFill>
                  <a:srgbClr val="FFFFFF"/>
                </a:solidFill>
              </a14:hiddenFill>
            </a:ext>
          </a:extLst>
        </p:spPr>
      </p:pic>
      <p:pic>
        <p:nvPicPr>
          <p:cNvPr id="94213" name="Picture 5" descr="0239">
            <a:extLst>
              <a:ext uri="{FF2B5EF4-FFF2-40B4-BE49-F238E27FC236}">
                <a16:creationId xmlns:a16="http://schemas.microsoft.com/office/drawing/2014/main" id="{AF2977FB-5A58-440C-85F5-15803C21F7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1052513"/>
            <a:ext cx="2800350" cy="4537075"/>
          </a:xfrm>
          <a:prstGeom prst="rect">
            <a:avLst/>
          </a:prstGeom>
          <a:noFill/>
          <a:extLst>
            <a:ext uri="{909E8E84-426E-40DD-AFC4-6F175D3DCCD1}">
              <a14:hiddenFill xmlns:a14="http://schemas.microsoft.com/office/drawing/2010/main">
                <a:solidFill>
                  <a:srgbClr val="FFFFFF"/>
                </a:solidFill>
              </a14:hiddenFill>
            </a:ext>
          </a:extLst>
        </p:spPr>
      </p:pic>
      <p:sp>
        <p:nvSpPr>
          <p:cNvPr id="94214" name="Text Box 6">
            <a:extLst>
              <a:ext uri="{FF2B5EF4-FFF2-40B4-BE49-F238E27FC236}">
                <a16:creationId xmlns:a16="http://schemas.microsoft.com/office/drawing/2014/main" id="{337AAACC-E7A7-444F-82D7-D0504F6072C0}"/>
              </a:ext>
            </a:extLst>
          </p:cNvPr>
          <p:cNvSpPr txBox="1">
            <a:spLocks noChangeArrowheads="1"/>
          </p:cNvSpPr>
          <p:nvPr/>
        </p:nvSpPr>
        <p:spPr bwMode="auto">
          <a:xfrm>
            <a:off x="468313" y="5949950"/>
            <a:ext cx="4103687"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a:latin typeface="Times New Roman" panose="02020603050405020304" pitchFamily="18" charset="0"/>
                <a:ea typeface="宋体" panose="02010600030101010101" pitchFamily="2" charset="-122"/>
              </a:rPr>
              <a:t>线性缓变杂质分布示意图</a:t>
            </a:r>
          </a:p>
        </p:txBody>
      </p:sp>
      <p:sp>
        <p:nvSpPr>
          <p:cNvPr id="94216" name="Text Box 8">
            <a:extLst>
              <a:ext uri="{FF2B5EF4-FFF2-40B4-BE49-F238E27FC236}">
                <a16:creationId xmlns:a16="http://schemas.microsoft.com/office/drawing/2014/main" id="{500D1E47-E331-4612-B6CA-4A8546C07CD8}"/>
              </a:ext>
            </a:extLst>
          </p:cNvPr>
          <p:cNvSpPr txBox="1">
            <a:spLocks noChangeArrowheads="1"/>
          </p:cNvSpPr>
          <p:nvPr/>
        </p:nvSpPr>
        <p:spPr bwMode="auto">
          <a:xfrm>
            <a:off x="4859338" y="5589588"/>
            <a:ext cx="3600450" cy="981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a:latin typeface="Times New Roman" panose="02020603050405020304" pitchFamily="18" charset="0"/>
                <a:ea typeface="宋体" panose="02010600030101010101" pitchFamily="2" charset="-122"/>
              </a:rPr>
              <a:t>线性缓变结中的电荷电场、点位分布</a:t>
            </a:r>
          </a:p>
          <a:p>
            <a:pPr algn="ctr">
              <a:lnSpc>
                <a:spcPct val="110000"/>
              </a:lnSpc>
            </a:pP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电荷 </a:t>
            </a:r>
            <a:r>
              <a:rPr lang="en-US" altLang="zh-CN">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电场 </a:t>
            </a:r>
            <a:r>
              <a:rPr lang="en-US" altLang="zh-CN">
                <a:latin typeface="Times New Roman" panose="02020603050405020304" pitchFamily="18" charset="0"/>
                <a:ea typeface="宋体" panose="02010600030101010101" pitchFamily="2" charset="-122"/>
              </a:rPr>
              <a:t>c)</a:t>
            </a:r>
            <a:r>
              <a:rPr lang="zh-CN" altLang="en-US">
                <a:latin typeface="Times New Roman" panose="02020603050405020304" pitchFamily="18" charset="0"/>
                <a:ea typeface="宋体" panose="02010600030101010101" pitchFamily="2" charset="-122"/>
              </a:rPr>
              <a:t>点位</a:t>
            </a:r>
          </a:p>
        </p:txBody>
      </p:sp>
    </p:spTree>
    <p:extLst>
      <p:ext uri="{BB962C8B-B14F-4D97-AF65-F5344CB8AC3E}">
        <p14:creationId xmlns:p14="http://schemas.microsoft.com/office/powerpoint/2010/main" val="4257842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50D16627-C6A5-4A98-BF9D-184A6B73014B}"/>
              </a:ext>
            </a:extLst>
          </p:cNvPr>
          <p:cNvSpPr>
            <a:spLocks noChangeArrowheads="1"/>
          </p:cNvSpPr>
          <p:nvPr/>
        </p:nvSpPr>
        <p:spPr bwMode="auto">
          <a:xfrm>
            <a:off x="251520" y="583713"/>
            <a:ext cx="4248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dirty="0">
                <a:solidFill>
                  <a:srgbClr val="993300"/>
                </a:solidFill>
              </a:rPr>
              <a:t>2.1 </a:t>
            </a:r>
            <a:r>
              <a:rPr lang="zh-CN" altLang="en-US" b="1" dirty="0">
                <a:solidFill>
                  <a:srgbClr val="993300"/>
                </a:solidFill>
              </a:rPr>
              <a:t>学习要求</a:t>
            </a:r>
          </a:p>
        </p:txBody>
      </p:sp>
      <p:sp>
        <p:nvSpPr>
          <p:cNvPr id="542724" name="Rectangle 4">
            <a:extLst>
              <a:ext uri="{FF2B5EF4-FFF2-40B4-BE49-F238E27FC236}">
                <a16:creationId xmlns:a16="http://schemas.microsoft.com/office/drawing/2014/main" id="{F76B762D-D784-4AA8-9951-93346EE4B8F5}"/>
              </a:ext>
            </a:extLst>
          </p:cNvPr>
          <p:cNvSpPr>
            <a:spLocks noChangeArrowheads="1"/>
          </p:cNvSpPr>
          <p:nvPr/>
        </p:nvSpPr>
        <p:spPr bwMode="auto">
          <a:xfrm>
            <a:off x="323850" y="1280319"/>
            <a:ext cx="18646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lang="en-US" altLang="zh-CN" sz="2000" b="1" dirty="0">
                <a:solidFill>
                  <a:srgbClr val="000066"/>
                </a:solidFill>
              </a:rPr>
              <a:t>1)</a:t>
            </a:r>
            <a:r>
              <a:rPr lang="ko-KR" altLang="en-US" sz="2000" b="1" dirty="0">
                <a:solidFill>
                  <a:srgbClr val="000066"/>
                </a:solidFill>
              </a:rPr>
              <a:t> 基本概念：</a:t>
            </a:r>
            <a:endParaRPr lang="zh-CN" altLang="en-US" sz="2000" b="1" dirty="0">
              <a:solidFill>
                <a:srgbClr val="000066"/>
              </a:solidFill>
            </a:endParaRPr>
          </a:p>
        </p:txBody>
      </p:sp>
      <p:sp>
        <p:nvSpPr>
          <p:cNvPr id="542725" name="Rectangle 5">
            <a:extLst>
              <a:ext uri="{FF2B5EF4-FFF2-40B4-BE49-F238E27FC236}">
                <a16:creationId xmlns:a16="http://schemas.microsoft.com/office/drawing/2014/main" id="{1142BA6A-0F6B-4DF1-8BC6-98196E469BCA}"/>
              </a:ext>
            </a:extLst>
          </p:cNvPr>
          <p:cNvSpPr>
            <a:spLocks noChangeArrowheads="1"/>
          </p:cNvSpPr>
          <p:nvPr/>
        </p:nvSpPr>
        <p:spPr bwMode="auto">
          <a:xfrm>
            <a:off x="491099" y="1856582"/>
            <a:ext cx="8329374"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ko-KR" sz="2000" b="1" dirty="0">
                <a:solidFill>
                  <a:srgbClr val="000066"/>
                </a:solidFill>
              </a:rPr>
              <a:t>PN</a:t>
            </a:r>
            <a:r>
              <a:rPr lang="ko-KR" altLang="en-US" sz="2000" b="1" dirty="0">
                <a:solidFill>
                  <a:srgbClr val="000066"/>
                </a:solidFill>
              </a:rPr>
              <a:t>结、突变结、空间电荷区、耗尽近似、中性区、内建电场、内建电势差、势垒。</a:t>
            </a:r>
            <a:endParaRPr lang="zh-CN" altLang="en-US" sz="2000" b="1" dirty="0">
              <a:solidFill>
                <a:srgbClr val="000066"/>
              </a:solidFill>
            </a:endParaRPr>
          </a:p>
        </p:txBody>
      </p:sp>
      <p:sp>
        <p:nvSpPr>
          <p:cNvPr id="542726" name="Rectangle 6">
            <a:extLst>
              <a:ext uri="{FF2B5EF4-FFF2-40B4-BE49-F238E27FC236}">
                <a16:creationId xmlns:a16="http://schemas.microsoft.com/office/drawing/2014/main" id="{082D3FC8-A85C-4B69-BAB2-763B9533869D}"/>
              </a:ext>
            </a:extLst>
          </p:cNvPr>
          <p:cNvSpPr>
            <a:spLocks noChangeArrowheads="1"/>
          </p:cNvSpPr>
          <p:nvPr/>
        </p:nvSpPr>
        <p:spPr bwMode="auto">
          <a:xfrm>
            <a:off x="251519" y="2636837"/>
            <a:ext cx="86756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lang="en-US" altLang="zh-CN" sz="2000" b="1" dirty="0">
                <a:solidFill>
                  <a:srgbClr val="000066"/>
                </a:solidFill>
              </a:rPr>
              <a:t>2)</a:t>
            </a:r>
            <a:r>
              <a:rPr lang="ko-KR" altLang="en-US" sz="2000" b="1" dirty="0">
                <a:solidFill>
                  <a:srgbClr val="000066"/>
                </a:solidFill>
              </a:rPr>
              <a:t>分别采用费米能级和载流子漂移与扩散的观点解释</a:t>
            </a:r>
            <a:r>
              <a:rPr lang="en-US" altLang="ko-KR" sz="2000" b="1" dirty="0">
                <a:solidFill>
                  <a:srgbClr val="000066"/>
                </a:solidFill>
              </a:rPr>
              <a:t>PN</a:t>
            </a:r>
            <a:r>
              <a:rPr lang="ko-KR" altLang="en-US" sz="2000" b="1" dirty="0">
                <a:solidFill>
                  <a:srgbClr val="000066"/>
                </a:solidFill>
              </a:rPr>
              <a:t>结空间电荷区的形成</a:t>
            </a:r>
            <a:endParaRPr lang="zh-CN" altLang="en-US" sz="2000" b="1" dirty="0">
              <a:solidFill>
                <a:srgbClr val="000066"/>
              </a:solidFill>
            </a:endParaRPr>
          </a:p>
        </p:txBody>
      </p:sp>
      <p:sp>
        <p:nvSpPr>
          <p:cNvPr id="542727" name="Rectangle 7">
            <a:extLst>
              <a:ext uri="{FF2B5EF4-FFF2-40B4-BE49-F238E27FC236}">
                <a16:creationId xmlns:a16="http://schemas.microsoft.com/office/drawing/2014/main" id="{05798426-6738-4A49-8742-9BA9917294A2}"/>
              </a:ext>
            </a:extLst>
          </p:cNvPr>
          <p:cNvSpPr>
            <a:spLocks noChangeArrowheads="1"/>
          </p:cNvSpPr>
          <p:nvPr/>
        </p:nvSpPr>
        <p:spPr bwMode="auto">
          <a:xfrm>
            <a:off x="251519" y="3322697"/>
            <a:ext cx="5975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lang="en-US" altLang="zh-CN" sz="2000" b="1" dirty="0">
                <a:solidFill>
                  <a:srgbClr val="000066"/>
                </a:solidFill>
              </a:rPr>
              <a:t>3)</a:t>
            </a:r>
            <a:r>
              <a:rPr lang="ko-KR" altLang="en-US" sz="2000" b="1" dirty="0">
                <a:solidFill>
                  <a:srgbClr val="000066"/>
                </a:solidFill>
              </a:rPr>
              <a:t> 热平衡</a:t>
            </a:r>
            <a:r>
              <a:rPr lang="en-US" altLang="ko-KR" sz="2000" b="1" dirty="0">
                <a:solidFill>
                  <a:srgbClr val="000066"/>
                </a:solidFill>
              </a:rPr>
              <a:t>PN </a:t>
            </a:r>
            <a:r>
              <a:rPr lang="ko-KR" altLang="en-US" sz="2000" b="1" dirty="0">
                <a:solidFill>
                  <a:srgbClr val="000066"/>
                </a:solidFill>
              </a:rPr>
              <a:t>结的能带图</a:t>
            </a:r>
            <a:endParaRPr lang="zh-CN" altLang="en-US" sz="2000" b="1" dirty="0">
              <a:solidFill>
                <a:srgbClr val="000066"/>
              </a:solidFill>
            </a:endParaRPr>
          </a:p>
        </p:txBody>
      </p:sp>
      <p:sp>
        <p:nvSpPr>
          <p:cNvPr id="542728" name="Rectangle 8">
            <a:extLst>
              <a:ext uri="{FF2B5EF4-FFF2-40B4-BE49-F238E27FC236}">
                <a16:creationId xmlns:a16="http://schemas.microsoft.com/office/drawing/2014/main" id="{96FBC498-F733-4FCE-9702-5AC1BE538210}"/>
              </a:ext>
            </a:extLst>
          </p:cNvPr>
          <p:cNvSpPr>
            <a:spLocks noChangeArrowheads="1"/>
          </p:cNvSpPr>
          <p:nvPr/>
        </p:nvSpPr>
        <p:spPr bwMode="auto">
          <a:xfrm>
            <a:off x="299271" y="3996590"/>
            <a:ext cx="7134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lang="en-US" altLang="zh-CN" sz="2000" b="1" dirty="0">
                <a:solidFill>
                  <a:srgbClr val="000066"/>
                </a:solidFill>
              </a:rPr>
              <a:t>4)</a:t>
            </a:r>
            <a:r>
              <a:rPr lang="ko-KR" altLang="en-US" sz="2000" b="1" dirty="0">
                <a:solidFill>
                  <a:srgbClr val="000066"/>
                </a:solidFill>
              </a:rPr>
              <a:t> 导出空间电荷区</a:t>
            </a:r>
            <a:r>
              <a:rPr lang="zh-CN" altLang="en-US" sz="2000" b="1" dirty="0">
                <a:solidFill>
                  <a:srgbClr val="000066"/>
                </a:solidFill>
              </a:rPr>
              <a:t>电场、电势分布</a:t>
            </a:r>
            <a:r>
              <a:rPr lang="ko-KR" altLang="en-US" sz="2000" b="1" dirty="0">
                <a:solidFill>
                  <a:srgbClr val="000066"/>
                </a:solidFill>
              </a:rPr>
              <a:t>：</a:t>
            </a:r>
            <a:endParaRPr lang="zh-CN" altLang="en-US" sz="2000" b="1" dirty="0">
              <a:solidFill>
                <a:srgbClr val="000066"/>
              </a:solidFill>
            </a:endParaRPr>
          </a:p>
        </p:txBody>
      </p:sp>
      <p:sp>
        <p:nvSpPr>
          <p:cNvPr id="542730" name="Rectangle 10">
            <a:extLst>
              <a:ext uri="{FF2B5EF4-FFF2-40B4-BE49-F238E27FC236}">
                <a16:creationId xmlns:a16="http://schemas.microsoft.com/office/drawing/2014/main" id="{79D28B65-0655-4692-AAB1-D7576D3146FB}"/>
              </a:ext>
            </a:extLst>
          </p:cNvPr>
          <p:cNvSpPr>
            <a:spLocks noChangeArrowheads="1"/>
          </p:cNvSpPr>
          <p:nvPr/>
        </p:nvSpPr>
        <p:spPr bwMode="auto">
          <a:xfrm>
            <a:off x="277742" y="4603470"/>
            <a:ext cx="71342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lang="en-US" altLang="zh-CN" sz="2000" b="1" dirty="0">
                <a:solidFill>
                  <a:srgbClr val="000066"/>
                </a:solidFill>
              </a:rPr>
              <a:t>5)</a:t>
            </a:r>
            <a:r>
              <a:rPr lang="ko-KR" altLang="en-US" sz="2000" b="1" dirty="0">
                <a:solidFill>
                  <a:srgbClr val="000066"/>
                </a:solidFill>
              </a:rPr>
              <a:t>解</a:t>
            </a:r>
            <a:r>
              <a:rPr lang="en-US" altLang="ko-KR" sz="2000" b="1" dirty="0">
                <a:solidFill>
                  <a:srgbClr val="000066"/>
                </a:solidFill>
              </a:rPr>
              <a:t>Poisson</a:t>
            </a:r>
            <a:r>
              <a:rPr lang="ko-KR" altLang="en-US" sz="2000" b="1" dirty="0">
                <a:solidFill>
                  <a:srgbClr val="000066"/>
                </a:solidFill>
              </a:rPr>
              <a:t>方程求解单边突变结内建电场、内建电势、内建电势差和耗尽层宽度。</a:t>
            </a:r>
            <a:endParaRPr lang="zh-CN" altLang="en-US" sz="2000" b="1" dirty="0">
              <a:solidFill>
                <a:srgbClr val="000066"/>
              </a:solidFill>
            </a:endParaRPr>
          </a:p>
        </p:txBody>
      </p:sp>
    </p:spTree>
    <p:extLst>
      <p:ext uri="{BB962C8B-B14F-4D97-AF65-F5344CB8AC3E}">
        <p14:creationId xmlns:p14="http://schemas.microsoft.com/office/powerpoint/2010/main" val="5210213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2724"/>
                                        </p:tgtEl>
                                        <p:attrNameLst>
                                          <p:attrName>style.visibility</p:attrName>
                                        </p:attrNameLst>
                                      </p:cBhvr>
                                      <p:to>
                                        <p:strVal val="visible"/>
                                      </p:to>
                                    </p:set>
                                    <p:animEffect transition="in" filter="blinds(horizontal)">
                                      <p:cBhvr>
                                        <p:cTn id="7" dur="500"/>
                                        <p:tgtEl>
                                          <p:spTgt spid="5427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42725"/>
                                        </p:tgtEl>
                                        <p:attrNameLst>
                                          <p:attrName>style.visibility</p:attrName>
                                        </p:attrNameLst>
                                      </p:cBhvr>
                                      <p:to>
                                        <p:strVal val="visible"/>
                                      </p:to>
                                    </p:set>
                                    <p:animEffect transition="in" filter="blinds(horizontal)">
                                      <p:cBhvr>
                                        <p:cTn id="12" dur="500"/>
                                        <p:tgtEl>
                                          <p:spTgt spid="5427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42726"/>
                                        </p:tgtEl>
                                        <p:attrNameLst>
                                          <p:attrName>style.visibility</p:attrName>
                                        </p:attrNameLst>
                                      </p:cBhvr>
                                      <p:to>
                                        <p:strVal val="visible"/>
                                      </p:to>
                                    </p:set>
                                    <p:animEffect transition="in" filter="blinds(horizontal)">
                                      <p:cBhvr>
                                        <p:cTn id="17" dur="500"/>
                                        <p:tgtEl>
                                          <p:spTgt spid="5427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42727"/>
                                        </p:tgtEl>
                                        <p:attrNameLst>
                                          <p:attrName>style.visibility</p:attrName>
                                        </p:attrNameLst>
                                      </p:cBhvr>
                                      <p:to>
                                        <p:strVal val="visible"/>
                                      </p:to>
                                    </p:set>
                                    <p:animEffect transition="in" filter="blinds(horizontal)">
                                      <p:cBhvr>
                                        <p:cTn id="22" dur="500"/>
                                        <p:tgtEl>
                                          <p:spTgt spid="5427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42728"/>
                                        </p:tgtEl>
                                        <p:attrNameLst>
                                          <p:attrName>style.visibility</p:attrName>
                                        </p:attrNameLst>
                                      </p:cBhvr>
                                      <p:to>
                                        <p:strVal val="visible"/>
                                      </p:to>
                                    </p:set>
                                    <p:animEffect transition="in" filter="blinds(horizontal)">
                                      <p:cBhvr>
                                        <p:cTn id="27" dur="500"/>
                                        <p:tgtEl>
                                          <p:spTgt spid="5427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42730"/>
                                        </p:tgtEl>
                                        <p:attrNameLst>
                                          <p:attrName>style.visibility</p:attrName>
                                        </p:attrNameLst>
                                      </p:cBhvr>
                                      <p:to>
                                        <p:strVal val="visible"/>
                                      </p:to>
                                    </p:set>
                                    <p:animEffect transition="in" filter="blinds(horizontal)">
                                      <p:cBhvr>
                                        <p:cTn id="32" dur="500"/>
                                        <p:tgtEl>
                                          <p:spTgt spid="542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4" grpId="0"/>
      <p:bldP spid="542725" grpId="0"/>
      <p:bldP spid="542726" grpId="0"/>
      <p:bldP spid="542727" grpId="0"/>
      <p:bldP spid="542728" grpId="0"/>
      <p:bldP spid="5427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C5C5A83-6CF7-43AB-A375-FFCD0D286F39}"/>
              </a:ext>
            </a:extLst>
          </p:cNvPr>
          <p:cNvSpPr>
            <a:spLocks noGrp="1" noChangeArrowheads="1"/>
          </p:cNvSpPr>
          <p:nvPr>
            <p:ph type="title"/>
          </p:nvPr>
        </p:nvSpPr>
        <p:spPr>
          <a:xfrm>
            <a:off x="1475656" y="476672"/>
            <a:ext cx="6463630" cy="1325563"/>
          </a:xfrm>
        </p:spPr>
        <p:txBody>
          <a:bodyPr/>
          <a:lstStyle/>
          <a:p>
            <a:pPr>
              <a:lnSpc>
                <a:spcPct val="110000"/>
              </a:lnSpc>
              <a:spcBef>
                <a:spcPts val="0"/>
              </a:spcBef>
            </a:pPr>
            <a:r>
              <a:rPr lang="zh-CN" altLang="en-US" dirty="0">
                <a:latin typeface="Times New Roman" panose="02020603050405020304" pitchFamily="18" charset="0"/>
                <a:ea typeface="宋体" panose="02010600030101010101" pitchFamily="2" charset="-122"/>
              </a:rPr>
              <a:t>第二章 </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结机理与特性</a:t>
            </a:r>
          </a:p>
        </p:txBody>
      </p:sp>
      <p:sp>
        <p:nvSpPr>
          <p:cNvPr id="2" name="矩形 1">
            <a:extLst>
              <a:ext uri="{FF2B5EF4-FFF2-40B4-BE49-F238E27FC236}">
                <a16:creationId xmlns:a16="http://schemas.microsoft.com/office/drawing/2014/main" id="{37D91D68-6D10-40B3-A612-ED5B19B13D12}"/>
              </a:ext>
            </a:extLst>
          </p:cNvPr>
          <p:cNvSpPr/>
          <p:nvPr/>
        </p:nvSpPr>
        <p:spPr>
          <a:xfrm>
            <a:off x="827584" y="2276872"/>
            <a:ext cx="7627869" cy="3970318"/>
          </a:xfrm>
          <a:prstGeom prst="rect">
            <a:avLst/>
          </a:prstGeom>
        </p:spPr>
        <p:txBody>
          <a:bodyPr wrap="square">
            <a:spAutoFit/>
          </a:bodyPr>
          <a:lstStyle/>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2.1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平衡</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2.2  </a:t>
            </a:r>
            <a:r>
              <a:rPr lang="zh-CN" altLang="en-US"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正向</a:t>
            </a:r>
            <a:r>
              <a:rPr lang="en-US" altLang="zh-CN"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结机理与特性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2.3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反向</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2.4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结空间电荷区的电场、位分布和宽度</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2.5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结击穿机理与击穿特性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2.6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结的电容特性</a:t>
            </a:r>
          </a:p>
        </p:txBody>
      </p:sp>
    </p:spTree>
    <p:extLst>
      <p:ext uri="{BB962C8B-B14F-4D97-AF65-F5344CB8AC3E}">
        <p14:creationId xmlns:p14="http://schemas.microsoft.com/office/powerpoint/2010/main" val="2232344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9190818-D9BF-423D-935F-036DB364B26B}"/>
              </a:ext>
            </a:extLst>
          </p:cNvPr>
          <p:cNvSpPr>
            <a:spLocks noGrp="1" noChangeArrowheads="1"/>
          </p:cNvSpPr>
          <p:nvPr>
            <p:ph type="title"/>
          </p:nvPr>
        </p:nvSpPr>
        <p:spPr>
          <a:xfrm>
            <a:off x="395536" y="121492"/>
            <a:ext cx="7886700" cy="1325563"/>
          </a:xfrm>
        </p:spPr>
        <p:txBody>
          <a:bodyPr>
            <a:normAutofit/>
          </a:bodyPr>
          <a:lstStyle/>
          <a:p>
            <a:pPr>
              <a:lnSpc>
                <a:spcPct val="110000"/>
              </a:lnSpc>
              <a:spcBef>
                <a:spcPts val="0"/>
              </a:spcBef>
            </a:pPr>
            <a:r>
              <a:rPr lang="en-US" altLang="zh-CN" dirty="0">
                <a:latin typeface="Times New Roman" panose="02020603050405020304" pitchFamily="18" charset="0"/>
                <a:ea typeface="宋体" panose="02010600030101010101" pitchFamily="2" charset="-122"/>
              </a:rPr>
              <a:t>2.2 </a:t>
            </a:r>
            <a:r>
              <a:rPr lang="zh-CN" altLang="en-US" dirty="0">
                <a:latin typeface="Times New Roman" panose="02020603050405020304" pitchFamily="18" charset="0"/>
                <a:ea typeface="宋体" panose="02010600030101010101" pitchFamily="2" charset="-122"/>
              </a:rPr>
              <a:t>正向</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结机理与特性</a:t>
            </a:r>
            <a:br>
              <a:rPr lang="zh-CN" altLang="en-US" dirty="0">
                <a:latin typeface="Times New Roman" panose="02020603050405020304" pitchFamily="18" charset="0"/>
                <a:ea typeface="宋体" panose="02010600030101010101" pitchFamily="2" charset="-122"/>
              </a:rPr>
            </a:br>
            <a:r>
              <a:rPr lang="en-US" altLang="zh-CN" sz="3200" dirty="0">
                <a:latin typeface="Times New Roman" panose="02020603050405020304" pitchFamily="18" charset="0"/>
                <a:ea typeface="宋体" panose="02010600030101010101" pitchFamily="2" charset="-122"/>
              </a:rPr>
              <a:t>2.2.1 </a:t>
            </a:r>
            <a:r>
              <a:rPr lang="zh-CN" altLang="en-US" sz="3200" dirty="0">
                <a:latin typeface="Times New Roman" panose="02020603050405020304" pitchFamily="18" charset="0"/>
                <a:ea typeface="宋体" panose="02010600030101010101" pitchFamily="2" charset="-122"/>
              </a:rPr>
              <a:t>正向偏置与正向注入效应</a:t>
            </a:r>
            <a:endParaRPr lang="zh-CN" altLang="en-US" dirty="0">
              <a:latin typeface="Times New Roman" panose="02020603050405020304" pitchFamily="18" charset="0"/>
              <a:ea typeface="宋体" panose="02010600030101010101" pitchFamily="2" charset="-122"/>
            </a:endParaRPr>
          </a:p>
        </p:txBody>
      </p:sp>
      <p:pic>
        <p:nvPicPr>
          <p:cNvPr id="40964" name="Picture 4" descr="0211">
            <a:extLst>
              <a:ext uri="{FF2B5EF4-FFF2-40B4-BE49-F238E27FC236}">
                <a16:creationId xmlns:a16="http://schemas.microsoft.com/office/drawing/2014/main" id="{2B029C68-814A-4CBE-AF4E-766A97E6B4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858169"/>
            <a:ext cx="3096344" cy="2500813"/>
          </a:xfrm>
          <a:prstGeom prst="rect">
            <a:avLst/>
          </a:prstGeom>
          <a:noFill/>
          <a:extLst>
            <a:ext uri="{909E8E84-426E-40DD-AFC4-6F175D3DCCD1}">
              <a14:hiddenFill xmlns:a14="http://schemas.microsoft.com/office/drawing/2010/main">
                <a:solidFill>
                  <a:srgbClr val="FFFFFF"/>
                </a:solidFill>
              </a14:hiddenFill>
            </a:ext>
          </a:extLst>
        </p:spPr>
      </p:pic>
      <p:sp>
        <p:nvSpPr>
          <p:cNvPr id="40965" name="Text Box 5">
            <a:extLst>
              <a:ext uri="{FF2B5EF4-FFF2-40B4-BE49-F238E27FC236}">
                <a16:creationId xmlns:a16="http://schemas.microsoft.com/office/drawing/2014/main" id="{524670E0-BDF9-4363-8468-B4D82840A9CA}"/>
              </a:ext>
            </a:extLst>
          </p:cNvPr>
          <p:cNvSpPr txBox="1">
            <a:spLocks noChangeArrowheads="1"/>
          </p:cNvSpPr>
          <p:nvPr/>
        </p:nvSpPr>
        <p:spPr bwMode="auto">
          <a:xfrm>
            <a:off x="-1116632" y="4770096"/>
            <a:ext cx="6624637"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dirty="0">
                <a:latin typeface="Times New Roman" panose="02020603050405020304" pitchFamily="18" charset="0"/>
                <a:ea typeface="宋体" panose="02010600030101010101" pitchFamily="2" charset="-122"/>
              </a:rPr>
              <a:t>正向偏置时</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结势垒变化及其能带图</a:t>
            </a:r>
          </a:p>
        </p:txBody>
      </p:sp>
      <p:sp>
        <p:nvSpPr>
          <p:cNvPr id="5" name="Rectangle 7">
            <a:extLst>
              <a:ext uri="{FF2B5EF4-FFF2-40B4-BE49-F238E27FC236}">
                <a16:creationId xmlns:a16="http://schemas.microsoft.com/office/drawing/2014/main" id="{0C050B09-B9FB-4892-9D54-B4871C15FC41}"/>
              </a:ext>
            </a:extLst>
          </p:cNvPr>
          <p:cNvSpPr>
            <a:spLocks noChangeArrowheads="1"/>
          </p:cNvSpPr>
          <p:nvPr/>
        </p:nvSpPr>
        <p:spPr bwMode="auto">
          <a:xfrm>
            <a:off x="4067944" y="1475771"/>
            <a:ext cx="4800600" cy="51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68288" indent="-268288">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nSpc>
                <a:spcPct val="130000"/>
              </a:lnSpc>
              <a:spcBef>
                <a:spcPct val="0"/>
              </a:spcBef>
              <a:buClrTx/>
              <a:buFont typeface="Wingdings" panose="05000000000000000000" pitchFamily="2" charset="2"/>
              <a:buChar char="Ø"/>
            </a:pPr>
            <a:r>
              <a:rPr lang="zh-CN" altLang="en-US" sz="1800" dirty="0">
                <a:solidFill>
                  <a:schemeClr val="tx1"/>
                </a:solidFill>
              </a:rPr>
              <a:t>正偏压</a:t>
            </a:r>
            <a:r>
              <a:rPr lang="en-US" altLang="zh-CN" sz="1800" dirty="0">
                <a:solidFill>
                  <a:schemeClr val="tx1"/>
                </a:solidFill>
              </a:rPr>
              <a:t>U</a:t>
            </a:r>
            <a:r>
              <a:rPr lang="zh-CN" altLang="en-US" sz="1800" dirty="0">
                <a:solidFill>
                  <a:schemeClr val="tx1"/>
                </a:solidFill>
              </a:rPr>
              <a:t>，</a:t>
            </a:r>
            <a:r>
              <a:rPr lang="zh-CN" altLang="en-US" sz="1800" dirty="0">
                <a:solidFill>
                  <a:srgbClr val="FF3300"/>
                </a:solidFill>
              </a:rPr>
              <a:t>外电场与内建电场方向相反</a:t>
            </a:r>
            <a:r>
              <a:rPr lang="en-US" altLang="zh-CN" sz="1800" dirty="0">
                <a:solidFill>
                  <a:schemeClr val="tx1"/>
                </a:solidFill>
              </a:rPr>
              <a:t>P→N</a:t>
            </a:r>
          </a:p>
          <a:p>
            <a:pPr>
              <a:lnSpc>
                <a:spcPct val="130000"/>
              </a:lnSpc>
              <a:spcBef>
                <a:spcPct val="0"/>
              </a:spcBef>
              <a:buClrTx/>
              <a:buFont typeface="Wingdings" panose="05000000000000000000" pitchFamily="2" charset="2"/>
              <a:buChar char="Ø"/>
            </a:pPr>
            <a:r>
              <a:rPr lang="zh-CN" altLang="en-US" sz="1800" dirty="0">
                <a:solidFill>
                  <a:schemeClr val="tx1"/>
                </a:solidFill>
              </a:rPr>
              <a:t>空间电荷区</a:t>
            </a:r>
            <a:r>
              <a:rPr lang="zh-CN" altLang="en-US" sz="1800" dirty="0">
                <a:solidFill>
                  <a:srgbClr val="FF3300"/>
                </a:solidFill>
              </a:rPr>
              <a:t>内建电势差</a:t>
            </a:r>
            <a:r>
              <a:rPr lang="zh-CN" altLang="en-US" sz="1800" dirty="0">
                <a:solidFill>
                  <a:schemeClr val="tx1"/>
                </a:solidFill>
              </a:rPr>
              <a:t>：</a:t>
            </a:r>
            <a:r>
              <a:rPr lang="en-US" altLang="zh-CN" sz="1800" dirty="0">
                <a:solidFill>
                  <a:schemeClr val="tx1"/>
                </a:solidFill>
              </a:rPr>
              <a:t>U</a:t>
            </a:r>
            <a:r>
              <a:rPr lang="en-US" altLang="zh-CN" sz="1800" baseline="-30000" dirty="0">
                <a:solidFill>
                  <a:schemeClr val="tx1"/>
                </a:solidFill>
              </a:rPr>
              <a:t>D</a:t>
            </a:r>
            <a:r>
              <a:rPr lang="zh-CN" altLang="en-US" sz="1800" dirty="0">
                <a:solidFill>
                  <a:srgbClr val="FF3300"/>
                </a:solidFill>
              </a:rPr>
              <a:t>下降</a:t>
            </a:r>
            <a:r>
              <a:rPr lang="zh-CN" altLang="en-US" sz="1800" dirty="0">
                <a:solidFill>
                  <a:schemeClr val="tx1"/>
                </a:solidFill>
              </a:rPr>
              <a:t>到</a:t>
            </a:r>
            <a:r>
              <a:rPr lang="en-US" altLang="zh-CN" sz="1800" dirty="0">
                <a:solidFill>
                  <a:schemeClr val="tx1"/>
                </a:solidFill>
              </a:rPr>
              <a:t>U</a:t>
            </a:r>
            <a:r>
              <a:rPr lang="en-US" altLang="zh-CN" sz="1800" baseline="-30000" dirty="0">
                <a:solidFill>
                  <a:schemeClr val="tx1"/>
                </a:solidFill>
              </a:rPr>
              <a:t>D </a:t>
            </a:r>
            <a:r>
              <a:rPr lang="en-US" altLang="zh-CN" sz="1800" dirty="0">
                <a:solidFill>
                  <a:schemeClr val="tx1"/>
                </a:solidFill>
              </a:rPr>
              <a:t>-U</a:t>
            </a:r>
          </a:p>
          <a:p>
            <a:pPr>
              <a:lnSpc>
                <a:spcPct val="130000"/>
              </a:lnSpc>
              <a:spcBef>
                <a:spcPct val="0"/>
              </a:spcBef>
              <a:buClrTx/>
              <a:buFont typeface="Wingdings" panose="05000000000000000000" pitchFamily="2" charset="2"/>
              <a:buChar char="Ø"/>
            </a:pPr>
            <a:r>
              <a:rPr lang="zh-CN" altLang="en-US" sz="1800" dirty="0">
                <a:solidFill>
                  <a:srgbClr val="FF3300"/>
                </a:solidFill>
              </a:rPr>
              <a:t>势垒降低</a:t>
            </a:r>
            <a:r>
              <a:rPr lang="zh-CN" altLang="en-US" sz="1800" dirty="0">
                <a:solidFill>
                  <a:schemeClr val="tx1"/>
                </a:solidFill>
              </a:rPr>
              <a:t>（电场减弱）：</a:t>
            </a:r>
          </a:p>
          <a:p>
            <a:pPr>
              <a:lnSpc>
                <a:spcPct val="130000"/>
              </a:lnSpc>
              <a:spcBef>
                <a:spcPct val="0"/>
              </a:spcBef>
              <a:buClrTx/>
              <a:buFont typeface="Wingdings" panose="05000000000000000000" pitchFamily="2" charset="2"/>
              <a:buNone/>
            </a:pPr>
            <a:r>
              <a:rPr lang="zh-CN" altLang="en-US" sz="1800" dirty="0">
                <a:solidFill>
                  <a:schemeClr val="tx1"/>
                </a:solidFill>
              </a:rPr>
              <a:t>             </a:t>
            </a:r>
            <a:r>
              <a:rPr lang="zh-CN" altLang="en-US" sz="1800" dirty="0">
                <a:solidFill>
                  <a:srgbClr val="FF3300"/>
                </a:solidFill>
              </a:rPr>
              <a:t>载流子扩散</a:t>
            </a:r>
            <a:r>
              <a:rPr lang="en-US" altLang="zh-CN" sz="1800" dirty="0">
                <a:solidFill>
                  <a:srgbClr val="FF3300"/>
                </a:solidFill>
              </a:rPr>
              <a:t>&gt;</a:t>
            </a:r>
            <a:r>
              <a:rPr lang="zh-CN" altLang="en-US" sz="1800" dirty="0">
                <a:solidFill>
                  <a:srgbClr val="FF3300"/>
                </a:solidFill>
              </a:rPr>
              <a:t>载流子漂移</a:t>
            </a:r>
          </a:p>
          <a:p>
            <a:pPr>
              <a:lnSpc>
                <a:spcPct val="130000"/>
              </a:lnSpc>
              <a:spcBef>
                <a:spcPct val="0"/>
              </a:spcBef>
              <a:buClrTx/>
              <a:buFont typeface="Wingdings" panose="05000000000000000000" pitchFamily="2" charset="2"/>
              <a:buChar char="Ø"/>
            </a:pPr>
            <a:r>
              <a:rPr lang="zh-CN" altLang="en-US" sz="1800" dirty="0">
                <a:solidFill>
                  <a:schemeClr val="tx1"/>
                </a:solidFill>
              </a:rPr>
              <a:t>载流子的</a:t>
            </a:r>
            <a:r>
              <a:rPr lang="zh-CN" altLang="en-US" sz="1800" dirty="0">
                <a:solidFill>
                  <a:srgbClr val="FF3300"/>
                </a:solidFill>
              </a:rPr>
              <a:t>净扩散流</a:t>
            </a:r>
            <a:r>
              <a:rPr lang="zh-CN" altLang="en-US" sz="1800" dirty="0">
                <a:solidFill>
                  <a:schemeClr val="tx1"/>
                </a:solidFill>
              </a:rPr>
              <a:t>：</a:t>
            </a:r>
            <a:r>
              <a:rPr lang="en-US" altLang="zh-CN" sz="1800" dirty="0">
                <a:solidFill>
                  <a:schemeClr val="tx1"/>
                </a:solidFill>
              </a:rPr>
              <a:t>N</a:t>
            </a:r>
            <a:r>
              <a:rPr lang="zh-CN" altLang="en-US" sz="1800" dirty="0">
                <a:solidFill>
                  <a:schemeClr val="tx1"/>
                </a:solidFill>
              </a:rPr>
              <a:t>区电子通过耗尽层后向</a:t>
            </a:r>
            <a:r>
              <a:rPr lang="en-US" altLang="zh-CN" sz="1800" dirty="0">
                <a:solidFill>
                  <a:schemeClr val="tx1"/>
                </a:solidFill>
              </a:rPr>
              <a:t>P</a:t>
            </a:r>
            <a:r>
              <a:rPr lang="zh-CN" altLang="en-US" sz="1800" dirty="0">
                <a:solidFill>
                  <a:schemeClr val="tx1"/>
                </a:solidFill>
              </a:rPr>
              <a:t>区扩散，</a:t>
            </a:r>
            <a:r>
              <a:rPr lang="en-US" altLang="zh-CN" sz="1800" dirty="0">
                <a:solidFill>
                  <a:schemeClr val="tx1"/>
                </a:solidFill>
              </a:rPr>
              <a:t>P</a:t>
            </a:r>
            <a:r>
              <a:rPr lang="zh-CN" altLang="en-US" sz="1800" dirty="0">
                <a:solidFill>
                  <a:schemeClr val="tx1"/>
                </a:solidFill>
              </a:rPr>
              <a:t>区空穴向</a:t>
            </a:r>
            <a:r>
              <a:rPr lang="en-US" altLang="zh-CN" sz="1800" dirty="0">
                <a:solidFill>
                  <a:schemeClr val="tx1"/>
                </a:solidFill>
              </a:rPr>
              <a:t>N</a:t>
            </a:r>
            <a:r>
              <a:rPr lang="zh-CN" altLang="en-US" sz="1800" dirty="0">
                <a:solidFill>
                  <a:schemeClr val="tx1"/>
                </a:solidFill>
              </a:rPr>
              <a:t>区扩散</a:t>
            </a:r>
          </a:p>
          <a:p>
            <a:pPr>
              <a:lnSpc>
                <a:spcPct val="130000"/>
              </a:lnSpc>
              <a:spcBef>
                <a:spcPct val="0"/>
              </a:spcBef>
              <a:buClrTx/>
              <a:buFont typeface="Wingdings" panose="05000000000000000000" pitchFamily="2" charset="2"/>
              <a:buChar char="Ø"/>
            </a:pPr>
            <a:r>
              <a:rPr lang="zh-CN" altLang="en-US" sz="1800" dirty="0">
                <a:solidFill>
                  <a:schemeClr val="tx1"/>
                </a:solidFill>
              </a:rPr>
              <a:t>空间电荷区的两侧边界产生了</a:t>
            </a:r>
            <a:r>
              <a:rPr lang="zh-CN" altLang="en-US" sz="1800" dirty="0">
                <a:solidFill>
                  <a:srgbClr val="FF3300"/>
                </a:solidFill>
              </a:rPr>
              <a:t>过剩载流子</a:t>
            </a:r>
          </a:p>
          <a:p>
            <a:pPr>
              <a:lnSpc>
                <a:spcPct val="130000"/>
              </a:lnSpc>
              <a:spcBef>
                <a:spcPct val="0"/>
              </a:spcBef>
              <a:buClrTx/>
              <a:buFont typeface="Wingdings" panose="05000000000000000000" pitchFamily="2" charset="2"/>
              <a:buChar char="Ø"/>
            </a:pPr>
            <a:r>
              <a:rPr lang="zh-CN" altLang="en-US" sz="1800" dirty="0">
                <a:solidFill>
                  <a:srgbClr val="FF3300"/>
                </a:solidFill>
              </a:rPr>
              <a:t>少子注入</a:t>
            </a:r>
            <a:r>
              <a:rPr lang="zh-CN" altLang="en-US" sz="1800" dirty="0">
                <a:solidFill>
                  <a:schemeClr val="tx1"/>
                </a:solidFill>
              </a:rPr>
              <a:t>：进入</a:t>
            </a:r>
            <a:r>
              <a:rPr lang="en-US" altLang="zh-CN" sz="1800" dirty="0">
                <a:solidFill>
                  <a:schemeClr val="tx1"/>
                </a:solidFill>
              </a:rPr>
              <a:t>P</a:t>
            </a:r>
            <a:r>
              <a:rPr lang="zh-CN" altLang="en-US" sz="1800" dirty="0">
                <a:solidFill>
                  <a:schemeClr val="tx1"/>
                </a:solidFill>
              </a:rPr>
              <a:t>区的是电子，进入</a:t>
            </a:r>
            <a:r>
              <a:rPr lang="en-US" altLang="zh-CN" sz="1800" dirty="0">
                <a:solidFill>
                  <a:schemeClr val="tx1"/>
                </a:solidFill>
              </a:rPr>
              <a:t>N</a:t>
            </a:r>
            <a:r>
              <a:rPr lang="zh-CN" altLang="en-US" sz="1800" dirty="0">
                <a:solidFill>
                  <a:schemeClr val="tx1"/>
                </a:solidFill>
              </a:rPr>
              <a:t>区的是空穴。注入的载流子对它进入的区域来说都是少子。</a:t>
            </a:r>
          </a:p>
          <a:p>
            <a:pPr>
              <a:lnSpc>
                <a:spcPct val="130000"/>
              </a:lnSpc>
              <a:spcBef>
                <a:spcPct val="0"/>
              </a:spcBef>
              <a:buClrTx/>
              <a:buFont typeface="Wingdings" panose="05000000000000000000" pitchFamily="2" charset="2"/>
              <a:buChar char="Ø"/>
            </a:pPr>
            <a:r>
              <a:rPr lang="zh-CN" altLang="en-US" sz="1800" dirty="0">
                <a:solidFill>
                  <a:schemeClr val="tx1"/>
                </a:solidFill>
              </a:rPr>
              <a:t>边界上注入的过剩载流子，不断向体内扩散，产生</a:t>
            </a:r>
            <a:r>
              <a:rPr lang="zh-CN" altLang="en-US" sz="1800" dirty="0">
                <a:solidFill>
                  <a:srgbClr val="FF3300"/>
                </a:solidFill>
              </a:rPr>
              <a:t>扩散电流（</a:t>
            </a:r>
            <a:r>
              <a:rPr lang="en-US" altLang="zh-CN" sz="1800" dirty="0">
                <a:solidFill>
                  <a:srgbClr val="FF3300"/>
                </a:solidFill>
              </a:rPr>
              <a:t>P→N</a:t>
            </a:r>
            <a:r>
              <a:rPr lang="zh-CN" altLang="en-US" sz="1800" dirty="0">
                <a:solidFill>
                  <a:srgbClr val="FF3300"/>
                </a:solidFill>
              </a:rPr>
              <a:t>），</a:t>
            </a:r>
            <a:r>
              <a:rPr lang="zh-CN" altLang="en-US" sz="1800" dirty="0">
                <a:solidFill>
                  <a:schemeClr val="tx1"/>
                </a:solidFill>
              </a:rPr>
              <a:t>经过大约几个扩散长度后，又恢复到平衡值。</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04358F5-15DC-4820-B2F1-8179D09FC2C0}"/>
              </a:ext>
            </a:extLst>
          </p:cNvPr>
          <p:cNvSpPr>
            <a:spLocks noGrp="1" noChangeArrowheads="1"/>
          </p:cNvSpPr>
          <p:nvPr>
            <p:ph type="title"/>
          </p:nvPr>
        </p:nvSpPr>
        <p:spPr>
          <a:xfrm>
            <a:off x="395536" y="82706"/>
            <a:ext cx="8191822" cy="1325563"/>
          </a:xfrm>
        </p:spPr>
        <p:txBody>
          <a:bodyPr/>
          <a:lstStyle/>
          <a:p>
            <a:pPr>
              <a:lnSpc>
                <a:spcPct val="110000"/>
              </a:lnSpc>
              <a:spcBef>
                <a:spcPts val="0"/>
              </a:spcBef>
            </a:pPr>
            <a:r>
              <a:rPr lang="en-US" altLang="zh-CN" sz="3200" dirty="0">
                <a:latin typeface="Times New Roman" panose="02020603050405020304" pitchFamily="18" charset="0"/>
                <a:ea typeface="宋体" panose="02010600030101010101" pitchFamily="2" charset="-122"/>
              </a:rPr>
              <a:t>2.2.2 </a:t>
            </a:r>
            <a:r>
              <a:rPr lang="zh-CN" altLang="en-US" sz="3200" dirty="0">
                <a:latin typeface="Times New Roman" panose="02020603050405020304" pitchFamily="18" charset="0"/>
                <a:ea typeface="宋体" panose="02010600030101010101" pitchFamily="2" charset="-122"/>
              </a:rPr>
              <a:t>正向</a:t>
            </a:r>
            <a:r>
              <a:rPr lang="en-US" altLang="zh-CN" sz="3200" dirty="0">
                <a:latin typeface="Times New Roman" panose="02020603050405020304" pitchFamily="18" charset="0"/>
                <a:ea typeface="宋体" panose="02010600030101010101" pitchFamily="2" charset="-122"/>
              </a:rPr>
              <a:t>PN</a:t>
            </a:r>
            <a:r>
              <a:rPr lang="zh-CN" altLang="en-US" sz="3200" dirty="0">
                <a:latin typeface="Times New Roman" panose="02020603050405020304" pitchFamily="18" charset="0"/>
                <a:ea typeface="宋体" panose="02010600030101010101" pitchFamily="2" charset="-122"/>
              </a:rPr>
              <a:t>结边界少子浓度和少子浓度分布</a:t>
            </a:r>
          </a:p>
        </p:txBody>
      </p:sp>
      <p:pic>
        <p:nvPicPr>
          <p:cNvPr id="41988" name="Picture 4" descr="0212">
            <a:extLst>
              <a:ext uri="{FF2B5EF4-FFF2-40B4-BE49-F238E27FC236}">
                <a16:creationId xmlns:a16="http://schemas.microsoft.com/office/drawing/2014/main" id="{AA6182B8-5E58-4BC9-B9C7-D54E44C97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271541"/>
            <a:ext cx="4133057" cy="2787700"/>
          </a:xfrm>
          <a:prstGeom prst="rect">
            <a:avLst/>
          </a:prstGeom>
          <a:noFill/>
          <a:extLst>
            <a:ext uri="{909E8E84-426E-40DD-AFC4-6F175D3DCCD1}">
              <a14:hiddenFill xmlns:a14="http://schemas.microsoft.com/office/drawing/2010/main">
                <a:solidFill>
                  <a:srgbClr val="FFFFFF"/>
                </a:solidFill>
              </a14:hiddenFill>
            </a:ext>
          </a:extLst>
        </p:spPr>
      </p:pic>
      <p:sp>
        <p:nvSpPr>
          <p:cNvPr id="41989" name="Text Box 5">
            <a:extLst>
              <a:ext uri="{FF2B5EF4-FFF2-40B4-BE49-F238E27FC236}">
                <a16:creationId xmlns:a16="http://schemas.microsoft.com/office/drawing/2014/main" id="{3E3D26C6-C22C-4BB9-B3C8-30994B6F5EA3}"/>
              </a:ext>
            </a:extLst>
          </p:cNvPr>
          <p:cNvSpPr txBox="1">
            <a:spLocks noChangeArrowheads="1"/>
          </p:cNvSpPr>
          <p:nvPr/>
        </p:nvSpPr>
        <p:spPr bwMode="auto">
          <a:xfrm>
            <a:off x="0" y="5639740"/>
            <a:ext cx="604837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a:latin typeface="Times New Roman" panose="02020603050405020304" pitchFamily="18" charset="0"/>
                <a:ea typeface="宋体" panose="02010600030101010101" pitchFamily="2" charset="-122"/>
              </a:rPr>
              <a:t>正向</a:t>
            </a:r>
            <a:r>
              <a:rPr lang="en-US" altLang="zh-CN">
                <a:latin typeface="Times New Roman" panose="02020603050405020304" pitchFamily="18" charset="0"/>
                <a:ea typeface="宋体" panose="02010600030101010101" pitchFamily="2" charset="-122"/>
              </a:rPr>
              <a:t>PN</a:t>
            </a:r>
            <a:r>
              <a:rPr lang="zh-CN" altLang="en-US">
                <a:latin typeface="Times New Roman" panose="02020603050405020304" pitchFamily="18" charset="0"/>
                <a:ea typeface="宋体" panose="02010600030101010101" pitchFamily="2" charset="-122"/>
              </a:rPr>
              <a:t>结少子浓度分布示意图</a:t>
            </a:r>
          </a:p>
        </p:txBody>
      </p:sp>
      <p:sp>
        <p:nvSpPr>
          <p:cNvPr id="41990" name="Text Box 6">
            <a:extLst>
              <a:ext uri="{FF2B5EF4-FFF2-40B4-BE49-F238E27FC236}">
                <a16:creationId xmlns:a16="http://schemas.microsoft.com/office/drawing/2014/main" id="{CBD6814F-1E49-4493-BAAE-40D286395789}"/>
              </a:ext>
            </a:extLst>
          </p:cNvPr>
          <p:cNvSpPr txBox="1">
            <a:spLocks noChangeArrowheads="1"/>
          </p:cNvSpPr>
          <p:nvPr/>
        </p:nvSpPr>
        <p:spPr bwMode="auto">
          <a:xfrm>
            <a:off x="482510" y="1225594"/>
            <a:ext cx="6697662"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4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边界少子浓度</a:t>
            </a:r>
          </a:p>
        </p:txBody>
      </p:sp>
      <p:sp>
        <p:nvSpPr>
          <p:cNvPr id="2" name="文本框 1">
            <a:extLst>
              <a:ext uri="{FF2B5EF4-FFF2-40B4-BE49-F238E27FC236}">
                <a16:creationId xmlns:a16="http://schemas.microsoft.com/office/drawing/2014/main" id="{7BBE2510-E486-45FB-859D-CC7D703ADD86}"/>
              </a:ext>
            </a:extLst>
          </p:cNvPr>
          <p:cNvSpPr txBox="1"/>
          <p:nvPr/>
        </p:nvSpPr>
        <p:spPr>
          <a:xfrm>
            <a:off x="5079251" y="2464598"/>
            <a:ext cx="3453189" cy="369332"/>
          </a:xfrm>
          <a:prstGeom prst="rect">
            <a:avLst/>
          </a:prstGeom>
          <a:noFill/>
        </p:spPr>
        <p:txBody>
          <a:bodyPr wrap="none" rtlCol="0">
            <a:spAutoFit/>
          </a:bodyPr>
          <a:lstStyle/>
          <a:p>
            <a:r>
              <a:rPr lang="zh-CN" altLang="en-US" dirty="0">
                <a:latin typeface="宋体" panose="02010600030101010101" pitchFamily="2" charset="-122"/>
                <a:ea typeface="宋体" panose="02010600030101010101" pitchFamily="2" charset="-122"/>
              </a:rPr>
              <a:t>长</a:t>
            </a:r>
            <a:r>
              <a:rPr lang="en-US" altLang="zh-CN" dirty="0">
                <a:latin typeface="宋体" panose="02010600030101010101" pitchFamily="2" charset="-122"/>
                <a:ea typeface="宋体" panose="02010600030101010101" pitchFamily="2" charset="-122"/>
              </a:rPr>
              <a:t>PN</a:t>
            </a:r>
            <a:r>
              <a:rPr lang="zh-CN" altLang="en-US" dirty="0">
                <a:latin typeface="宋体" panose="02010600030101010101" pitchFamily="2" charset="-122"/>
                <a:ea typeface="宋体" panose="02010600030101010101" pitchFamily="2" charset="-122"/>
              </a:rPr>
              <a:t>结假设，小注入，一维扩散</a:t>
            </a:r>
          </a:p>
        </p:txBody>
      </p:sp>
      <p:sp>
        <p:nvSpPr>
          <p:cNvPr id="7" name="TextBox 9">
            <a:extLst>
              <a:ext uri="{FF2B5EF4-FFF2-40B4-BE49-F238E27FC236}">
                <a16:creationId xmlns:a16="http://schemas.microsoft.com/office/drawing/2014/main" id="{F5D34EF2-08FC-468A-869F-AC33EC3C5D48}"/>
              </a:ext>
            </a:extLst>
          </p:cNvPr>
          <p:cNvSpPr txBox="1">
            <a:spLocks noChangeArrowheads="1"/>
          </p:cNvSpPr>
          <p:nvPr/>
        </p:nvSpPr>
        <p:spPr bwMode="auto">
          <a:xfrm>
            <a:off x="611560" y="1826150"/>
            <a:ext cx="37941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zh-CN" altLang="en-US" dirty="0">
                <a:solidFill>
                  <a:schemeClr val="tx1"/>
                </a:solidFill>
              </a:rPr>
              <a:t>目的：求</a:t>
            </a:r>
            <a:r>
              <a:rPr lang="en-US" altLang="zh-CN" dirty="0">
                <a:solidFill>
                  <a:schemeClr val="tx1"/>
                </a:solidFill>
              </a:rPr>
              <a:t>P-N</a:t>
            </a:r>
            <a:r>
              <a:rPr lang="zh-CN" altLang="en-US" dirty="0">
                <a:solidFill>
                  <a:schemeClr val="tx1"/>
                </a:solidFill>
              </a:rPr>
              <a:t>结的电压</a:t>
            </a:r>
            <a:r>
              <a:rPr lang="en-US" altLang="zh-CN" dirty="0">
                <a:solidFill>
                  <a:schemeClr val="tx1"/>
                </a:solidFill>
              </a:rPr>
              <a:t>-</a:t>
            </a:r>
            <a:r>
              <a:rPr lang="zh-CN" altLang="en-US" dirty="0">
                <a:solidFill>
                  <a:schemeClr val="tx1"/>
                </a:solidFill>
              </a:rPr>
              <a:t>电流特性</a:t>
            </a:r>
          </a:p>
        </p:txBody>
      </p:sp>
      <p:sp>
        <p:nvSpPr>
          <p:cNvPr id="8" name="Rectangle 5">
            <a:extLst>
              <a:ext uri="{FF2B5EF4-FFF2-40B4-BE49-F238E27FC236}">
                <a16:creationId xmlns:a16="http://schemas.microsoft.com/office/drawing/2014/main" id="{07B6137E-B000-48A1-A437-E4A5CFA32204}"/>
              </a:ext>
            </a:extLst>
          </p:cNvPr>
          <p:cNvSpPr>
            <a:spLocks noGrp="1" noChangeArrowheads="1"/>
          </p:cNvSpPr>
          <p:nvPr>
            <p:ph idx="1"/>
          </p:nvPr>
        </p:nvSpPr>
        <p:spPr>
          <a:xfrm>
            <a:off x="4942182" y="3407832"/>
            <a:ext cx="3727326" cy="2787700"/>
          </a:xfrm>
        </p:spPr>
        <p:txBody>
          <a:bodyPr>
            <a:noAutofit/>
          </a:bodyPr>
          <a:lstStyle/>
          <a:p>
            <a:pPr>
              <a:lnSpc>
                <a:spcPct val="110000"/>
              </a:lnSpc>
              <a:spcBef>
                <a:spcPts val="0"/>
              </a:spcBef>
            </a:pPr>
            <a:r>
              <a:rPr lang="zh-CN" altLang="en-US" sz="2000" dirty="0">
                <a:latin typeface="Times New Roman" panose="02020603050405020304" pitchFamily="18" charset="0"/>
                <a:ea typeface="宋体" panose="02010600030101010101" pitchFamily="2" charset="-122"/>
              </a:rPr>
              <a:t>边界少子浓度是指在空间电荷区靠</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区边界</a:t>
            </a:r>
            <a:r>
              <a:rPr lang="en-US" altLang="zh-CN" sz="2000" dirty="0">
                <a:latin typeface="Times New Roman" panose="02020603050405020304" pitchFamily="18" charset="0"/>
                <a:ea typeface="宋体" panose="02010600030101010101" pitchFamily="2" charset="-122"/>
              </a:rPr>
              <a:t>X</a:t>
            </a:r>
            <a:r>
              <a:rPr lang="en-US" altLang="zh-CN" sz="2000" baseline="-25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处的空穴浓度</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X</a:t>
            </a:r>
            <a:r>
              <a:rPr lang="en-US" altLang="zh-CN" sz="2000" baseline="-25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）和靠近</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区边界</a:t>
            </a:r>
            <a:r>
              <a:rPr lang="en-US" altLang="zh-CN" sz="2000" dirty="0">
                <a:latin typeface="Times New Roman" panose="02020603050405020304" pitchFamily="18" charset="0"/>
                <a:ea typeface="宋体" panose="02010600030101010101" pitchFamily="2" charset="-122"/>
              </a:rPr>
              <a:t>X</a:t>
            </a:r>
            <a:r>
              <a:rPr lang="en-US" altLang="zh-CN" sz="2000" baseline="-25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处的电子浓度</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X</a:t>
            </a:r>
            <a:r>
              <a:rPr lang="en-US" altLang="zh-CN" sz="2000" baseline="-25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a:lnSpc>
                <a:spcPct val="110000"/>
              </a:lnSpc>
              <a:spcBef>
                <a:spcPts val="0"/>
              </a:spcBef>
            </a:pPr>
            <a:r>
              <a:rPr lang="zh-CN" altLang="en-US" sz="2000" dirty="0">
                <a:solidFill>
                  <a:srgbClr val="FF0000"/>
                </a:solidFill>
                <a:latin typeface="Times New Roman" panose="02020603050405020304" pitchFamily="18" charset="0"/>
                <a:ea typeface="宋体" panose="02010600030101010101" pitchFamily="2" charset="-122"/>
              </a:rPr>
              <a:t>边界少子浓度是解扩散方程的边界条件</a:t>
            </a:r>
          </a:p>
          <a:p>
            <a:pPr>
              <a:lnSpc>
                <a:spcPct val="110000"/>
              </a:lnSpc>
              <a:spcBef>
                <a:spcPts val="0"/>
              </a:spcBef>
            </a:pPr>
            <a:endParaRPr lang="en-US" altLang="zh-CN" sz="2000" dirty="0">
              <a:latin typeface="Times New Roman" panose="02020603050405020304" pitchFamily="18"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7F2F1C4-FD03-46F7-8669-F7A63AB6A3A0}"/>
              </a:ext>
            </a:extLst>
          </p:cNvPr>
          <p:cNvSpPr txBox="1"/>
          <p:nvPr/>
        </p:nvSpPr>
        <p:spPr>
          <a:xfrm>
            <a:off x="1403648" y="58830"/>
            <a:ext cx="6676828" cy="523220"/>
          </a:xfrm>
          <a:prstGeom prst="rect">
            <a:avLst/>
          </a:prstGeom>
          <a:noFill/>
        </p:spPr>
        <p:txBody>
          <a:bodyPr wrap="none" rtlCol="0">
            <a:spAutoFit/>
          </a:bodyPr>
          <a:lstStyle/>
          <a:p>
            <a:r>
              <a:rPr lang="zh-CN" altLang="en-US" sz="2800" b="1" dirty="0">
                <a:solidFill>
                  <a:srgbClr val="FF0000"/>
                </a:solidFill>
                <a:latin typeface="宋体" panose="02010600030101010101" pitchFamily="2" charset="-122"/>
                <a:ea typeface="宋体" panose="02010600030101010101" pitchFamily="2" charset="-122"/>
              </a:rPr>
              <a:t>方法：借助准费米能级（非平衡载流子）</a:t>
            </a:r>
          </a:p>
        </p:txBody>
      </p:sp>
      <p:pic>
        <p:nvPicPr>
          <p:cNvPr id="4" name="图片 3">
            <a:extLst>
              <a:ext uri="{FF2B5EF4-FFF2-40B4-BE49-F238E27FC236}">
                <a16:creationId xmlns:a16="http://schemas.microsoft.com/office/drawing/2014/main" id="{C57B4AD2-0E3F-4BB3-AEEC-98CF855802F4}"/>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75000"/>
                    </a14:imgEffect>
                  </a14:imgLayer>
                </a14:imgProps>
              </a:ext>
            </a:extLst>
          </a:blip>
          <a:srcRect l="4478"/>
          <a:stretch/>
        </p:blipFill>
        <p:spPr>
          <a:xfrm>
            <a:off x="248804" y="1716168"/>
            <a:ext cx="4733894" cy="3459095"/>
          </a:xfrm>
          <a:prstGeom prst="rect">
            <a:avLst/>
          </a:prstGeom>
        </p:spPr>
      </p:pic>
      <p:sp>
        <p:nvSpPr>
          <p:cNvPr id="13" name="Text Box 7">
            <a:extLst>
              <a:ext uri="{FF2B5EF4-FFF2-40B4-BE49-F238E27FC236}">
                <a16:creationId xmlns:a16="http://schemas.microsoft.com/office/drawing/2014/main" id="{EFAF31F8-4CBA-44E7-ADBD-1B7FE23FE077}"/>
              </a:ext>
            </a:extLst>
          </p:cNvPr>
          <p:cNvSpPr txBox="1">
            <a:spLocks noChangeArrowheads="1"/>
          </p:cNvSpPr>
          <p:nvPr/>
        </p:nvSpPr>
        <p:spPr bwMode="auto">
          <a:xfrm>
            <a:off x="5075384" y="4973504"/>
            <a:ext cx="936774"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zh-CN" altLang="en-US" dirty="0">
                <a:latin typeface="Times New Roman" panose="02020603050405020304" pitchFamily="18" charset="0"/>
                <a:ea typeface="宋体" panose="02010600030101010101" pitchFamily="2" charset="-122"/>
              </a:rPr>
              <a:t>乘积</a:t>
            </a:r>
          </a:p>
        </p:txBody>
      </p:sp>
      <p:sp>
        <p:nvSpPr>
          <p:cNvPr id="14" name="文本框 13">
            <a:extLst>
              <a:ext uri="{FF2B5EF4-FFF2-40B4-BE49-F238E27FC236}">
                <a16:creationId xmlns:a16="http://schemas.microsoft.com/office/drawing/2014/main" id="{E8A6E59E-DD14-49A8-BE9F-E831F7B8103B}"/>
              </a:ext>
            </a:extLst>
          </p:cNvPr>
          <p:cNvSpPr txBox="1"/>
          <p:nvPr/>
        </p:nvSpPr>
        <p:spPr>
          <a:xfrm>
            <a:off x="5112115" y="653072"/>
            <a:ext cx="3672408" cy="1938992"/>
          </a:xfrm>
          <a:prstGeom prst="rect">
            <a:avLst/>
          </a:prstGeom>
          <a:noFill/>
        </p:spPr>
        <p:txBody>
          <a:bodyPr wrap="square" rtlCol="0">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）少子费米能级变化大，多子费米能级基本不变</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区内：</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rPr>
              <a:t>FN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变化大，主要在扩散区范围</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）用准费米能级描述非平衡条件下载流子浓度</a:t>
            </a:r>
          </a:p>
        </p:txBody>
      </p:sp>
      <p:sp>
        <p:nvSpPr>
          <p:cNvPr id="16" name="Text Box 7">
            <a:extLst>
              <a:ext uri="{FF2B5EF4-FFF2-40B4-BE49-F238E27FC236}">
                <a16:creationId xmlns:a16="http://schemas.microsoft.com/office/drawing/2014/main" id="{0A705C3C-BA99-4191-9026-C8656ACBC3A4}"/>
              </a:ext>
            </a:extLst>
          </p:cNvPr>
          <p:cNvSpPr txBox="1">
            <a:spLocks noChangeArrowheads="1"/>
          </p:cNvSpPr>
          <p:nvPr/>
        </p:nvSpPr>
        <p:spPr bwMode="auto">
          <a:xfrm>
            <a:off x="5218449" y="3777859"/>
            <a:ext cx="1587421"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zh-CN" altLang="en-US" dirty="0">
                <a:latin typeface="Times New Roman" panose="02020603050405020304" pitchFamily="18" charset="0"/>
                <a:ea typeface="宋体" panose="02010600030101010101" pitchFamily="2" charset="-122"/>
              </a:rPr>
              <a:t>又从图看到</a:t>
            </a:r>
          </a:p>
        </p:txBody>
      </p:sp>
      <p:sp>
        <p:nvSpPr>
          <p:cNvPr id="17" name="Text Box 7">
            <a:extLst>
              <a:ext uri="{FF2B5EF4-FFF2-40B4-BE49-F238E27FC236}">
                <a16:creationId xmlns:a16="http://schemas.microsoft.com/office/drawing/2014/main" id="{EAD5CFF0-13A3-4B6E-983D-6E1AC3E0D2B8}"/>
              </a:ext>
            </a:extLst>
          </p:cNvPr>
          <p:cNvSpPr txBox="1">
            <a:spLocks noChangeArrowheads="1"/>
          </p:cNvSpPr>
          <p:nvPr/>
        </p:nvSpPr>
        <p:spPr bwMode="auto">
          <a:xfrm>
            <a:off x="3039314" y="5873060"/>
            <a:ext cx="2859337"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zh-CN" altLang="en-US" dirty="0">
                <a:latin typeface="Times New Roman" panose="02020603050405020304" pitchFamily="18" charset="0"/>
                <a:ea typeface="宋体" panose="02010600030101010101" pitchFamily="2" charset="-122"/>
              </a:rPr>
              <a:t>空间电荷区边界</a:t>
            </a:r>
            <a:r>
              <a:rPr lang="en-US" altLang="zh-CN"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处少子</a:t>
            </a:r>
          </a:p>
        </p:txBody>
      </p:sp>
      <p:graphicFrame>
        <p:nvGraphicFramePr>
          <p:cNvPr id="18" name="对象 17">
            <a:hlinkClick r:id="" action="ppaction://ole?verb=0"/>
            <a:extLst>
              <a:ext uri="{FF2B5EF4-FFF2-40B4-BE49-F238E27FC236}">
                <a16:creationId xmlns:a16="http://schemas.microsoft.com/office/drawing/2014/main" id="{57620FCD-DEA1-4A25-B0A2-04757E8DB7E0}"/>
              </a:ext>
            </a:extLst>
          </p:cNvPr>
          <p:cNvGraphicFramePr>
            <a:graphicFrameLocks noChangeAspect="1"/>
          </p:cNvGraphicFramePr>
          <p:nvPr>
            <p:extLst>
              <p:ext uri="{D42A27DB-BD31-4B8C-83A1-F6EECF244321}">
                <p14:modId xmlns:p14="http://schemas.microsoft.com/office/powerpoint/2010/main" val="1441561579"/>
              </p:ext>
            </p:extLst>
          </p:nvPr>
        </p:nvGraphicFramePr>
        <p:xfrm>
          <a:off x="5365517" y="2543725"/>
          <a:ext cx="3183255" cy="1042035"/>
        </p:xfrm>
        <a:graphic>
          <a:graphicData uri="http://schemas.openxmlformats.org/presentationml/2006/ole">
            <mc:AlternateContent xmlns:mc="http://schemas.openxmlformats.org/markup-compatibility/2006">
              <mc:Choice xmlns:v="urn:schemas-microsoft-com:vml" Requires="v">
                <p:oleObj spid="_x0000_s138288" r:id="rId5" imgW="1422400" imgH="533400" progId="Equation.KSEE3">
                  <p:embed/>
                </p:oleObj>
              </mc:Choice>
              <mc:Fallback>
                <p:oleObj r:id="rId5" imgW="1422400" imgH="533400" progId="Equation.KSEE3">
                  <p:embed/>
                  <p:pic>
                    <p:nvPicPr>
                      <p:cNvPr id="11" name="对象 10">
                        <a:hlinkClick r:id="" action="ppaction://ole?verb=0"/>
                      </p:cNvPr>
                      <p:cNvPicPr/>
                      <p:nvPr/>
                    </p:nvPicPr>
                    <p:blipFill>
                      <a:blip r:embed="rId6"/>
                      <a:stretch>
                        <a:fillRect/>
                      </a:stretch>
                    </p:blipFill>
                    <p:spPr>
                      <a:xfrm>
                        <a:off x="5365517" y="2543725"/>
                        <a:ext cx="3183255" cy="1042035"/>
                      </a:xfrm>
                      <a:prstGeom prst="rect">
                        <a:avLst/>
                      </a:prstGeom>
                    </p:spPr>
                  </p:pic>
                </p:oleObj>
              </mc:Fallback>
            </mc:AlternateContent>
          </a:graphicData>
        </a:graphic>
      </p:graphicFrame>
      <p:graphicFrame>
        <p:nvGraphicFramePr>
          <p:cNvPr id="20" name="对象 19">
            <a:hlinkClick r:id="" action="ppaction://ole?verb=0"/>
            <a:extLst>
              <a:ext uri="{FF2B5EF4-FFF2-40B4-BE49-F238E27FC236}">
                <a16:creationId xmlns:a16="http://schemas.microsoft.com/office/drawing/2014/main" id="{454AEFEB-D392-4784-B97E-50785BAF9FCB}"/>
              </a:ext>
            </a:extLst>
          </p:cNvPr>
          <p:cNvGraphicFramePr>
            <a:graphicFrameLocks noChangeAspect="1"/>
          </p:cNvGraphicFramePr>
          <p:nvPr>
            <p:extLst>
              <p:ext uri="{D42A27DB-BD31-4B8C-83A1-F6EECF244321}">
                <p14:modId xmlns:p14="http://schemas.microsoft.com/office/powerpoint/2010/main" val="3627974071"/>
              </p:ext>
            </p:extLst>
          </p:nvPr>
        </p:nvGraphicFramePr>
        <p:xfrm>
          <a:off x="6012158" y="4276503"/>
          <a:ext cx="2376265" cy="2156667"/>
        </p:xfrm>
        <a:graphic>
          <a:graphicData uri="http://schemas.openxmlformats.org/presentationml/2006/ole">
            <mc:AlternateContent xmlns:mc="http://schemas.openxmlformats.org/markup-compatibility/2006">
              <mc:Choice xmlns:v="urn:schemas-microsoft-com:vml" Requires="v">
                <p:oleObj spid="_x0000_s138289" r:id="rId7" imgW="1473200" imgH="1219200" progId="Equation.KSEE3">
                  <p:embed/>
                </p:oleObj>
              </mc:Choice>
              <mc:Fallback>
                <p:oleObj r:id="rId7" imgW="1473200" imgH="1219200" progId="Equation.KSEE3">
                  <p:embed/>
                  <p:pic>
                    <p:nvPicPr>
                      <p:cNvPr id="17" name="对象 16">
                        <a:hlinkClick r:id="" action="ppaction://ole?verb=0"/>
                      </p:cNvPr>
                      <p:cNvPicPr/>
                      <p:nvPr/>
                    </p:nvPicPr>
                    <p:blipFill>
                      <a:blip r:embed="rId8"/>
                      <a:stretch>
                        <a:fillRect/>
                      </a:stretch>
                    </p:blipFill>
                    <p:spPr>
                      <a:xfrm>
                        <a:off x="6012158" y="4276503"/>
                        <a:ext cx="2376265" cy="2156667"/>
                      </a:xfrm>
                      <a:prstGeom prst="rect">
                        <a:avLst/>
                      </a:prstGeom>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8" name="Object 4">
            <a:extLst>
              <a:ext uri="{FF2B5EF4-FFF2-40B4-BE49-F238E27FC236}">
                <a16:creationId xmlns:a16="http://schemas.microsoft.com/office/drawing/2014/main" id="{3B9C10A7-E55A-44F3-8646-D9E955108ADA}"/>
              </a:ext>
            </a:extLst>
          </p:cNvPr>
          <p:cNvGraphicFramePr>
            <a:graphicFrameLocks noChangeAspect="1"/>
          </p:cNvGraphicFramePr>
          <p:nvPr>
            <p:extLst>
              <p:ext uri="{D42A27DB-BD31-4B8C-83A1-F6EECF244321}">
                <p14:modId xmlns:p14="http://schemas.microsoft.com/office/powerpoint/2010/main" val="3803113768"/>
              </p:ext>
            </p:extLst>
          </p:nvPr>
        </p:nvGraphicFramePr>
        <p:xfrm>
          <a:off x="1036638" y="1954213"/>
          <a:ext cx="3471862" cy="773112"/>
        </p:xfrm>
        <a:graphic>
          <a:graphicData uri="http://schemas.openxmlformats.org/presentationml/2006/ole">
            <mc:AlternateContent xmlns:mc="http://schemas.openxmlformats.org/markup-compatibility/2006">
              <mc:Choice xmlns:v="urn:schemas-microsoft-com:vml" Requires="v">
                <p:oleObj spid="_x0000_s47297" name="Equation" r:id="rId3" imgW="2057400" imgH="457200" progId="Equation.DSMT4">
                  <p:embed/>
                </p:oleObj>
              </mc:Choice>
              <mc:Fallback>
                <p:oleObj name="Equation" r:id="rId3" imgW="2057400" imgH="457200" progId="Equation.DSMT4">
                  <p:embed/>
                  <p:pic>
                    <p:nvPicPr>
                      <p:cNvPr id="0" name="Object 4"/>
                      <p:cNvPicPr>
                        <a:picLocks noChangeAspect="1" noChangeArrowheads="1"/>
                      </p:cNvPicPr>
                      <p:nvPr/>
                    </p:nvPicPr>
                    <p:blipFill>
                      <a:blip r:embed="rId4"/>
                      <a:srcRect/>
                      <a:stretch>
                        <a:fillRect/>
                      </a:stretch>
                    </p:blipFill>
                    <p:spPr bwMode="auto">
                      <a:xfrm>
                        <a:off x="1036638" y="1954213"/>
                        <a:ext cx="3471862" cy="773112"/>
                      </a:xfrm>
                      <a:prstGeom prst="rect">
                        <a:avLst/>
                      </a:prstGeom>
                      <a:noFill/>
                      <a:ln>
                        <a:noFill/>
                      </a:ln>
                      <a:effectLst/>
                      <a:extLst/>
                    </p:spPr>
                  </p:pic>
                </p:oleObj>
              </mc:Fallback>
            </mc:AlternateContent>
          </a:graphicData>
        </a:graphic>
      </p:graphicFrame>
      <mc:AlternateContent xmlns:mc="http://schemas.openxmlformats.org/markup-compatibility/2006">
        <mc:Choice xmlns:a14="http://schemas.microsoft.com/office/drawing/2010/main" Requires="a14">
          <p:sp>
            <p:nvSpPr>
              <p:cNvPr id="47109" name="Object 5">
                <a:extLst>
                  <a:ext uri="{FF2B5EF4-FFF2-40B4-BE49-F238E27FC236}">
                    <a16:creationId xmlns:a16="http://schemas.microsoft.com/office/drawing/2014/main" id="{C471433C-4F5E-40B1-9AF7-83F88AA5DFB9}"/>
                  </a:ext>
                </a:extLst>
              </p:cNvPr>
              <p:cNvSpPr txBox="1"/>
              <p:nvPr/>
            </p:nvSpPr>
            <p:spPr bwMode="auto">
              <a:xfrm>
                <a:off x="1187624" y="4076200"/>
                <a:ext cx="4320480" cy="689354"/>
              </a:xfrm>
              <a:prstGeom prst="rect">
                <a:avLst/>
              </a:prstGeom>
              <a:noFill/>
              <a:ln>
                <a:noFill/>
              </a:ln>
              <a:effectLst/>
              <a:ex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𝑁</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0</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𝑞𝑢</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𝜅</m:t>
                          </m:r>
                          <m:r>
                            <a:rPr lang="zh-CN" altLang="en-US" i="1">
                              <a:solidFill>
                                <a:srgbClr val="000000"/>
                              </a:solidFill>
                              <a:latin typeface="Cambria Math" panose="02040503050406030204" pitchFamily="18" charset="0"/>
                            </a:rPr>
                            <m:t>𝑇</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𝑒</m:t>
                          </m:r>
                        </m:e>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𝑈</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𝑇</m:t>
                                  </m:r>
                                </m:sub>
                              </m:sSub>
                            </m:den>
                          </m:f>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𝑇</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𝜅</m:t>
                      </m:r>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𝑞</m:t>
                      </m:r>
                    </m:oMath>
                  </m:oMathPara>
                </a14:m>
                <a:endParaRPr lang="zh-CN" altLang="en-US" dirty="0"/>
              </a:p>
            </p:txBody>
          </p:sp>
        </mc:Choice>
        <mc:Fallback>
          <p:sp>
            <p:nvSpPr>
              <p:cNvPr id="47109" name="Object 5">
                <a:extLst>
                  <a:ext uri="{FF2B5EF4-FFF2-40B4-BE49-F238E27FC236}">
                    <a16:creationId xmlns:a16="http://schemas.microsoft.com/office/drawing/2014/main" id="{C471433C-4F5E-40B1-9AF7-83F88AA5DFB9}"/>
                  </a:ext>
                </a:extLst>
              </p:cNvPr>
              <p:cNvSpPr txBox="1">
                <a:spLocks noRot="1" noChangeAspect="1" noMove="1" noResize="1" noEditPoints="1" noAdjustHandles="1" noChangeArrowheads="1" noChangeShapeType="1" noTextEdit="1"/>
              </p:cNvSpPr>
              <p:nvPr/>
            </p:nvSpPr>
            <p:spPr bwMode="auto">
              <a:xfrm>
                <a:off x="1187624" y="4076200"/>
                <a:ext cx="4320480" cy="689354"/>
              </a:xfrm>
              <a:prstGeom prst="rect">
                <a:avLst/>
              </a:prstGeom>
              <a:blipFill>
                <a:blip r:embed="rId5"/>
                <a:stretch>
                  <a:fillRect/>
                </a:stretch>
              </a:blipFill>
              <a:ln>
                <a:noFill/>
              </a:ln>
              <a:effectLst/>
              <a:extLst/>
            </p:spPr>
            <p:txBody>
              <a:bodyPr/>
              <a:lstStyle/>
              <a:p>
                <a:r>
                  <a:rPr lang="zh-CN" altLang="en-US">
                    <a:noFill/>
                  </a:rPr>
                  <a:t> </a:t>
                </a:r>
              </a:p>
            </p:txBody>
          </p:sp>
        </mc:Fallback>
      </mc:AlternateContent>
      <p:sp>
        <p:nvSpPr>
          <p:cNvPr id="47110" name="Text Box 6">
            <a:extLst>
              <a:ext uri="{FF2B5EF4-FFF2-40B4-BE49-F238E27FC236}">
                <a16:creationId xmlns:a16="http://schemas.microsoft.com/office/drawing/2014/main" id="{8D1BCB28-F2A5-4297-AEA7-8EE81C2FC91E}"/>
              </a:ext>
            </a:extLst>
          </p:cNvPr>
          <p:cNvSpPr txBox="1">
            <a:spLocks noChangeArrowheads="1"/>
          </p:cNvSpPr>
          <p:nvPr/>
        </p:nvSpPr>
        <p:spPr bwMode="auto">
          <a:xfrm>
            <a:off x="611560" y="1293653"/>
            <a:ext cx="6696025"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zh-CN" altLang="en-US" sz="2400" dirty="0">
                <a:latin typeface="Times New Roman" panose="02020603050405020304" pitchFamily="18" charset="0"/>
                <a:ea typeface="宋体" panose="02010600030101010101" pitchFamily="2" charset="-122"/>
              </a:rPr>
              <a:t>靠近</a:t>
            </a:r>
            <a:r>
              <a:rPr lang="en-US" altLang="zh-CN" sz="2400" dirty="0">
                <a:latin typeface="Times New Roman" panose="02020603050405020304" pitchFamily="18" charset="0"/>
                <a:ea typeface="宋体" panose="02010600030101010101" pitchFamily="2" charset="-122"/>
              </a:rPr>
              <a:t>P</a:t>
            </a:r>
            <a:r>
              <a:rPr lang="zh-CN" altLang="en-US" sz="2400" dirty="0">
                <a:latin typeface="Times New Roman" panose="02020603050405020304" pitchFamily="18" charset="0"/>
                <a:ea typeface="宋体" panose="02010600030101010101" pitchFamily="2" charset="-122"/>
              </a:rPr>
              <a:t>区边界</a:t>
            </a:r>
            <a:r>
              <a:rPr lang="en-US" altLang="zh-CN" sz="2400" dirty="0" err="1">
                <a:latin typeface="Times New Roman" panose="02020603050405020304" pitchFamily="18" charset="0"/>
                <a:ea typeface="宋体" panose="02010600030101010101" pitchFamily="2" charset="-122"/>
              </a:rPr>
              <a:t>X</a:t>
            </a:r>
            <a:r>
              <a:rPr lang="en-US" altLang="zh-CN" sz="2400" baseline="-25000" dirty="0" err="1">
                <a:latin typeface="Times New Roman" panose="02020603050405020304" pitchFamily="18" charset="0"/>
                <a:ea typeface="宋体" panose="02010600030101010101" pitchFamily="2" charset="-122"/>
              </a:rPr>
              <a:t>p</a:t>
            </a:r>
            <a:r>
              <a:rPr lang="zh-CN" altLang="en-US" sz="2400" dirty="0">
                <a:latin typeface="Times New Roman" panose="02020603050405020304" pitchFamily="18" charset="0"/>
                <a:ea typeface="宋体" panose="02010600030101010101" pitchFamily="2" charset="-122"/>
              </a:rPr>
              <a:t>处的少子电子浓度</a:t>
            </a:r>
            <a:r>
              <a:rPr lang="en-US" altLang="zh-CN" sz="2400" dirty="0">
                <a:latin typeface="Times New Roman" panose="02020603050405020304" pitchFamily="18" charset="0"/>
                <a:ea typeface="宋体" panose="02010600030101010101" pitchFamily="2" charset="-122"/>
              </a:rPr>
              <a:t>n(</a:t>
            </a:r>
            <a:r>
              <a:rPr lang="en-US" altLang="zh-CN" sz="2400" dirty="0" err="1">
                <a:latin typeface="Times New Roman" panose="02020603050405020304" pitchFamily="18" charset="0"/>
                <a:ea typeface="宋体" panose="02010600030101010101" pitchFamily="2" charset="-122"/>
              </a:rPr>
              <a:t>X</a:t>
            </a:r>
            <a:r>
              <a:rPr lang="en-US" altLang="zh-CN" sz="2400" baseline="-25000" dirty="0" err="1">
                <a:latin typeface="Times New Roman" panose="02020603050405020304" pitchFamily="18" charset="0"/>
                <a:ea typeface="宋体" panose="02010600030101010101" pitchFamily="2" charset="-122"/>
              </a:rPr>
              <a:t>p</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为</a:t>
            </a:r>
          </a:p>
        </p:txBody>
      </p:sp>
      <p:sp>
        <p:nvSpPr>
          <p:cNvPr id="47111" name="Text Box 7">
            <a:extLst>
              <a:ext uri="{FF2B5EF4-FFF2-40B4-BE49-F238E27FC236}">
                <a16:creationId xmlns:a16="http://schemas.microsoft.com/office/drawing/2014/main" id="{84CCD1E1-66B2-4A69-9BFC-05249A73FB25}"/>
              </a:ext>
            </a:extLst>
          </p:cNvPr>
          <p:cNvSpPr txBox="1">
            <a:spLocks noChangeArrowheads="1"/>
          </p:cNvSpPr>
          <p:nvPr/>
        </p:nvSpPr>
        <p:spPr bwMode="auto">
          <a:xfrm>
            <a:off x="683568" y="3513390"/>
            <a:ext cx="5616575"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400" dirty="0">
                <a:latin typeface="Times New Roman" panose="02020603050405020304" pitchFamily="18" charset="0"/>
                <a:ea typeface="宋体" panose="02010600030101010101" pitchFamily="2" charset="-122"/>
              </a:rPr>
              <a:t>靠近</a:t>
            </a:r>
            <a:r>
              <a:rPr lang="en-US" altLang="zh-CN" sz="2400" dirty="0">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区边界</a:t>
            </a:r>
            <a:r>
              <a:rPr lang="en-US" altLang="zh-CN" sz="2400" dirty="0">
                <a:latin typeface="Times New Roman" panose="02020603050405020304" pitchFamily="18" charset="0"/>
                <a:ea typeface="宋体" panose="02010600030101010101" pitchFamily="2" charset="-122"/>
              </a:rPr>
              <a:t>XN</a:t>
            </a:r>
            <a:r>
              <a:rPr lang="zh-CN" altLang="en-US" sz="2400" dirty="0">
                <a:latin typeface="Times New Roman" panose="02020603050405020304" pitchFamily="18" charset="0"/>
                <a:ea typeface="宋体" panose="02010600030101010101" pitchFamily="2" charset="-122"/>
              </a:rPr>
              <a:t>处的空穴浓度</a:t>
            </a:r>
            <a:r>
              <a:rPr lang="en-US" altLang="zh-CN" sz="2400" dirty="0">
                <a:latin typeface="Times New Roman" panose="02020603050405020304" pitchFamily="18" charset="0"/>
                <a:ea typeface="宋体" panose="02010600030101010101" pitchFamily="2" charset="-122"/>
              </a:rPr>
              <a:t>p(X</a:t>
            </a:r>
            <a:r>
              <a:rPr lang="en-US" altLang="zh-CN" sz="2400" baseline="-25000"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为</a:t>
            </a:r>
          </a:p>
        </p:txBody>
      </p:sp>
      <p:sp>
        <p:nvSpPr>
          <p:cNvPr id="9" name="Rectangle 13">
            <a:extLst>
              <a:ext uri="{FF2B5EF4-FFF2-40B4-BE49-F238E27FC236}">
                <a16:creationId xmlns:a16="http://schemas.microsoft.com/office/drawing/2014/main" id="{4A3C3A9B-7C58-476D-B74E-6751CA6B790E}"/>
              </a:ext>
            </a:extLst>
          </p:cNvPr>
          <p:cNvSpPr>
            <a:spLocks noChangeArrowheads="1"/>
          </p:cNvSpPr>
          <p:nvPr/>
        </p:nvSpPr>
        <p:spPr bwMode="auto">
          <a:xfrm>
            <a:off x="1036192" y="4686837"/>
            <a:ext cx="7391400" cy="164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68288" indent="-268288">
              <a:spcBef>
                <a:spcPct val="20000"/>
              </a:spcBef>
              <a:buClr>
                <a:srgbClr val="000000"/>
              </a:buClr>
              <a:buFont typeface="Verdana" panose="020B0604030504040204" pitchFamily="34" charset="0"/>
              <a:buChar char="−"/>
              <a:tabLst>
                <a:tab pos="446088" algn="l"/>
              </a:tabLst>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tabLst>
                <a:tab pos="446088" algn="l"/>
              </a:tabLst>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tabLst>
                <a:tab pos="446088" algn="l"/>
              </a:tabLst>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tabLst>
                <a:tab pos="446088" algn="l"/>
              </a:tabLst>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tabLst>
                <a:tab pos="446088" algn="l"/>
              </a:tabLst>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446088" algn="l"/>
              </a:tabLst>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446088" algn="l"/>
              </a:tabLst>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446088" algn="l"/>
              </a:tabLst>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446088" algn="l"/>
              </a:tabLst>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dirty="0">
                <a:solidFill>
                  <a:srgbClr val="FF0000"/>
                </a:solidFill>
              </a:rPr>
              <a:t>注意：</a:t>
            </a:r>
          </a:p>
          <a:p>
            <a:pPr eaLnBrk="1" hangingPunct="1">
              <a:lnSpc>
                <a:spcPct val="130000"/>
              </a:lnSpc>
              <a:spcBef>
                <a:spcPct val="0"/>
              </a:spcBef>
              <a:buClrTx/>
              <a:buFontTx/>
              <a:buNone/>
            </a:pPr>
            <a:r>
              <a:rPr lang="en-US" altLang="zh-CN" dirty="0">
                <a:solidFill>
                  <a:srgbClr val="FF0000"/>
                </a:solidFill>
              </a:rPr>
              <a:t>1</a:t>
            </a:r>
            <a:r>
              <a:rPr lang="zh-CN" altLang="en-US" dirty="0">
                <a:solidFill>
                  <a:srgbClr val="FF0000"/>
                </a:solidFill>
              </a:rPr>
              <a:t>）少子浓度水平（平衡</a:t>
            </a:r>
            <a:r>
              <a:rPr lang="en-US" altLang="zh-CN" dirty="0">
                <a:solidFill>
                  <a:srgbClr val="FF0000"/>
                </a:solidFill>
              </a:rPr>
              <a:t>+</a:t>
            </a:r>
            <a:r>
              <a:rPr lang="zh-CN" altLang="en-US" dirty="0">
                <a:solidFill>
                  <a:srgbClr val="FF0000"/>
                </a:solidFill>
              </a:rPr>
              <a:t>注入）与偏置电压</a:t>
            </a:r>
            <a:r>
              <a:rPr lang="en-US" altLang="zh-CN" dirty="0">
                <a:solidFill>
                  <a:srgbClr val="FF0000"/>
                </a:solidFill>
              </a:rPr>
              <a:t>U</a:t>
            </a:r>
            <a:r>
              <a:rPr lang="zh-CN" altLang="en-US" dirty="0">
                <a:solidFill>
                  <a:srgbClr val="FF0000"/>
                </a:solidFill>
              </a:rPr>
              <a:t>（</a:t>
            </a:r>
            <a:r>
              <a:rPr lang="en-US" altLang="zh-CN" dirty="0">
                <a:solidFill>
                  <a:srgbClr val="FF0000"/>
                </a:solidFill>
              </a:rPr>
              <a:t>V</a:t>
            </a:r>
            <a:r>
              <a:rPr lang="zh-CN" altLang="en-US" dirty="0">
                <a:solidFill>
                  <a:srgbClr val="FF0000"/>
                </a:solidFill>
              </a:rPr>
              <a:t>）有关</a:t>
            </a:r>
          </a:p>
          <a:p>
            <a:pPr eaLnBrk="1" hangingPunct="1">
              <a:lnSpc>
                <a:spcPct val="130000"/>
              </a:lnSpc>
              <a:spcBef>
                <a:spcPct val="0"/>
              </a:spcBef>
              <a:buClrTx/>
              <a:buFontTx/>
              <a:buNone/>
            </a:pPr>
            <a:r>
              <a:rPr lang="en-US" altLang="zh-CN" dirty="0">
                <a:solidFill>
                  <a:srgbClr val="FF0000"/>
                </a:solidFill>
              </a:rPr>
              <a:t>2</a:t>
            </a:r>
            <a:r>
              <a:rPr lang="zh-CN" altLang="en-US" dirty="0">
                <a:solidFill>
                  <a:srgbClr val="FF0000"/>
                </a:solidFill>
              </a:rPr>
              <a:t>）掺杂浓度越大（平衡少子浓度低），注入到这一侧的少子浓度就越小。</a:t>
            </a:r>
          </a:p>
        </p:txBody>
      </p:sp>
      <p:sp>
        <p:nvSpPr>
          <p:cNvPr id="3" name="文本框 2">
            <a:extLst>
              <a:ext uri="{FF2B5EF4-FFF2-40B4-BE49-F238E27FC236}">
                <a16:creationId xmlns:a16="http://schemas.microsoft.com/office/drawing/2014/main" id="{D30B2CC4-B0CF-4E39-97B1-329C4423A0FD}"/>
              </a:ext>
            </a:extLst>
          </p:cNvPr>
          <p:cNvSpPr txBox="1"/>
          <p:nvPr/>
        </p:nvSpPr>
        <p:spPr>
          <a:xfrm>
            <a:off x="6012160" y="4184428"/>
            <a:ext cx="1138453"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V</a:t>
            </a:r>
            <a:r>
              <a:rPr lang="en-US" altLang="zh-CN" baseline="-25000"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热电压</a:t>
            </a:r>
          </a:p>
        </p:txBody>
      </p:sp>
      <p:graphicFrame>
        <p:nvGraphicFramePr>
          <p:cNvPr id="12" name="对象 11">
            <a:hlinkClick r:id="" action="ppaction://ole?verb=0"/>
            <a:extLst>
              <a:ext uri="{FF2B5EF4-FFF2-40B4-BE49-F238E27FC236}">
                <a16:creationId xmlns:a16="http://schemas.microsoft.com/office/drawing/2014/main" id="{D28F857C-D2D1-49E7-8FB2-D8C1487D983D}"/>
              </a:ext>
            </a:extLst>
          </p:cNvPr>
          <p:cNvGraphicFramePr>
            <a:graphicFrameLocks noChangeAspect="1"/>
          </p:cNvGraphicFramePr>
          <p:nvPr>
            <p:extLst>
              <p:ext uri="{D42A27DB-BD31-4B8C-83A1-F6EECF244321}">
                <p14:modId xmlns:p14="http://schemas.microsoft.com/office/powerpoint/2010/main" val="2953739155"/>
              </p:ext>
            </p:extLst>
          </p:nvPr>
        </p:nvGraphicFramePr>
        <p:xfrm>
          <a:off x="5235658" y="1883597"/>
          <a:ext cx="1251295" cy="867410"/>
        </p:xfrm>
        <a:graphic>
          <a:graphicData uri="http://schemas.openxmlformats.org/presentationml/2006/ole">
            <mc:AlternateContent xmlns:mc="http://schemas.openxmlformats.org/markup-compatibility/2006">
              <mc:Choice xmlns:v="urn:schemas-microsoft-com:vml" Requires="v">
                <p:oleObj spid="_x0000_s47298" r:id="rId6" imgW="685800" imgH="457200" progId="Equation.KSEE3">
                  <p:embed/>
                </p:oleObj>
              </mc:Choice>
              <mc:Fallback>
                <p:oleObj r:id="rId6" imgW="685800" imgH="457200" progId="Equation.KSEE3">
                  <p:embed/>
                  <p:pic>
                    <p:nvPicPr>
                      <p:cNvPr id="8" name="对象 7">
                        <a:hlinkClick r:id="" action="ppaction://ole?verb=0"/>
                      </p:cNvPr>
                      <p:cNvPicPr/>
                      <p:nvPr/>
                    </p:nvPicPr>
                    <p:blipFill>
                      <a:blip r:embed="rId7"/>
                      <a:stretch>
                        <a:fillRect/>
                      </a:stretch>
                    </p:blipFill>
                    <p:spPr>
                      <a:xfrm>
                        <a:off x="5235658" y="1883597"/>
                        <a:ext cx="1251295" cy="86741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图片q">
            <a:extLst>
              <a:ext uri="{FF2B5EF4-FFF2-40B4-BE49-F238E27FC236}">
                <a16:creationId xmlns:a16="http://schemas.microsoft.com/office/drawing/2014/main" id="{45E38076-3822-4E17-B30C-3D1F002A8B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479"/>
          <a:stretch>
            <a:fillRect/>
          </a:stretch>
        </p:blipFill>
        <p:spPr bwMode="auto">
          <a:xfrm>
            <a:off x="1676400" y="838200"/>
            <a:ext cx="4900613"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2976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a:extLst>
              <a:ext uri="{FF2B5EF4-FFF2-40B4-BE49-F238E27FC236}">
                <a16:creationId xmlns:a16="http://schemas.microsoft.com/office/drawing/2014/main" id="{0057BCE9-EE76-4C1B-A088-702FE3539942}"/>
              </a:ext>
            </a:extLst>
          </p:cNvPr>
          <p:cNvSpPr txBox="1">
            <a:spLocks noChangeArrowheads="1"/>
          </p:cNvSpPr>
          <p:nvPr/>
        </p:nvSpPr>
        <p:spPr bwMode="auto">
          <a:xfrm>
            <a:off x="611560" y="836712"/>
            <a:ext cx="6697662"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400" dirty="0">
                <a:latin typeface="Times New Roman" panose="02020603050405020304" pitchFamily="18" charset="0"/>
                <a:ea typeface="宋体" panose="02010600030101010101" pitchFamily="2" charset="-122"/>
              </a:rPr>
              <a:t>2.</a:t>
            </a:r>
            <a:r>
              <a:rPr lang="zh-CN" altLang="en-US" sz="2400" dirty="0">
                <a:latin typeface="Times New Roman" panose="02020603050405020304" pitchFamily="18" charset="0"/>
                <a:ea typeface="宋体" panose="02010600030101010101" pitchFamily="2" charset="-122"/>
              </a:rPr>
              <a:t>少子浓度分布（解扩散方程）</a:t>
            </a:r>
          </a:p>
        </p:txBody>
      </p:sp>
      <p:sp>
        <p:nvSpPr>
          <p:cNvPr id="10" name="矩形 9">
            <a:extLst>
              <a:ext uri="{FF2B5EF4-FFF2-40B4-BE49-F238E27FC236}">
                <a16:creationId xmlns:a16="http://schemas.microsoft.com/office/drawing/2014/main" id="{CC7BE0F5-1758-4A43-B773-24BFF0A330B6}"/>
              </a:ext>
            </a:extLst>
          </p:cNvPr>
          <p:cNvSpPr/>
          <p:nvPr/>
        </p:nvSpPr>
        <p:spPr>
          <a:xfrm>
            <a:off x="395536" y="4803800"/>
            <a:ext cx="7920880" cy="954107"/>
          </a:xfrm>
          <a:prstGeom prst="rect">
            <a:avLst/>
          </a:prstGeom>
        </p:spPr>
        <p:txBody>
          <a:bodyPr wrap="square">
            <a:spAutoFit/>
          </a:bodyPr>
          <a:lstStyle/>
          <a:p>
            <a:r>
              <a:rPr lang="zh-CN" altLang="en-US" sz="2800" b="1" dirty="0">
                <a:solidFill>
                  <a:srgbClr val="FF0000"/>
                </a:solidFill>
                <a:latin typeface="宋体" panose="02010600030101010101" pitchFamily="2" charset="-122"/>
                <a:ea typeface="宋体" panose="02010600030101010101" pitchFamily="2" charset="-122"/>
              </a:rPr>
              <a:t>非平衡少子在扩散区内的分布浓度随着距离的增加按指数规律衰减</a:t>
            </a:r>
          </a:p>
        </p:txBody>
      </p:sp>
      <p:graphicFrame>
        <p:nvGraphicFramePr>
          <p:cNvPr id="11" name="对象 10">
            <a:hlinkClick r:id="" action="ppaction://ole?verb=0"/>
            <a:extLst>
              <a:ext uri="{FF2B5EF4-FFF2-40B4-BE49-F238E27FC236}">
                <a16:creationId xmlns:a16="http://schemas.microsoft.com/office/drawing/2014/main" id="{4E9705E7-7117-431A-AE14-448F3A3FD46A}"/>
              </a:ext>
            </a:extLst>
          </p:cNvPr>
          <p:cNvGraphicFramePr>
            <a:graphicFrameLocks noChangeAspect="1"/>
          </p:cNvGraphicFramePr>
          <p:nvPr>
            <p:extLst>
              <p:ext uri="{D42A27DB-BD31-4B8C-83A1-F6EECF244321}">
                <p14:modId xmlns:p14="http://schemas.microsoft.com/office/powerpoint/2010/main" val="1876869987"/>
              </p:ext>
            </p:extLst>
          </p:nvPr>
        </p:nvGraphicFramePr>
        <p:xfrm>
          <a:off x="659525" y="1772250"/>
          <a:ext cx="6764655" cy="2594610"/>
        </p:xfrm>
        <a:graphic>
          <a:graphicData uri="http://schemas.openxmlformats.org/presentationml/2006/ole">
            <mc:AlternateContent xmlns:mc="http://schemas.openxmlformats.org/markup-compatibility/2006">
              <mc:Choice xmlns:v="urn:schemas-microsoft-com:vml" Requires="v">
                <p:oleObj spid="_x0000_s139288" name="Equation" r:id="rId3" imgW="3009900" imgH="1016000" progId="Equation.DSMT4">
                  <p:embed/>
                </p:oleObj>
              </mc:Choice>
              <mc:Fallback>
                <p:oleObj name="Equation" r:id="rId3" imgW="3009900" imgH="1016000" progId="Equation.DSMT4">
                  <p:embed/>
                  <p:pic>
                    <p:nvPicPr>
                      <p:cNvPr id="2" name="对象 1">
                        <a:hlinkClick r:id="" action="ppaction://ole?verb=0"/>
                      </p:cNvPr>
                      <p:cNvPicPr/>
                      <p:nvPr/>
                    </p:nvPicPr>
                    <p:blipFill>
                      <a:blip r:embed="rId4"/>
                      <a:stretch>
                        <a:fillRect/>
                      </a:stretch>
                    </p:blipFill>
                    <p:spPr>
                      <a:xfrm>
                        <a:off x="659525" y="1772250"/>
                        <a:ext cx="6764655" cy="2594610"/>
                      </a:xfrm>
                      <a:prstGeom prst="rect">
                        <a:avLst/>
                      </a:prstGeom>
                    </p:spPr>
                  </p:pic>
                </p:oleObj>
              </mc:Fallback>
            </mc:AlternateContent>
          </a:graphicData>
        </a:graphic>
      </p:graphicFrame>
    </p:spTree>
    <p:extLst>
      <p:ext uri="{BB962C8B-B14F-4D97-AF65-F5344CB8AC3E}">
        <p14:creationId xmlns:p14="http://schemas.microsoft.com/office/powerpoint/2010/main" val="1530868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9B80421-FCAB-4D30-A4FD-56909FD8C1AC}"/>
              </a:ext>
            </a:extLst>
          </p:cNvPr>
          <p:cNvSpPr>
            <a:spLocks noGrp="1" noChangeArrowheads="1"/>
          </p:cNvSpPr>
          <p:nvPr>
            <p:ph type="title"/>
          </p:nvPr>
        </p:nvSpPr>
        <p:spPr>
          <a:xfrm>
            <a:off x="628650" y="93366"/>
            <a:ext cx="7886700" cy="1325563"/>
          </a:xfrm>
        </p:spPr>
        <p:txBody>
          <a:bodyPr/>
          <a:lstStyle/>
          <a:p>
            <a:pPr>
              <a:lnSpc>
                <a:spcPct val="110000"/>
              </a:lnSpc>
              <a:spcBef>
                <a:spcPts val="0"/>
              </a:spcBef>
            </a:pPr>
            <a:r>
              <a:rPr lang="en-US" altLang="zh-CN" sz="3600" dirty="0">
                <a:latin typeface="Times New Roman" panose="02020603050405020304" pitchFamily="18" charset="0"/>
                <a:ea typeface="宋体" panose="02010600030101010101" pitchFamily="2" charset="-122"/>
              </a:rPr>
              <a:t>2.2.3 </a:t>
            </a:r>
            <a:r>
              <a:rPr lang="zh-CN" altLang="en-US" sz="3600" dirty="0">
                <a:latin typeface="Times New Roman" panose="02020603050405020304" pitchFamily="18" charset="0"/>
                <a:ea typeface="宋体" panose="02010600030101010101" pitchFamily="2" charset="-122"/>
              </a:rPr>
              <a:t>正向</a:t>
            </a:r>
            <a:r>
              <a:rPr lang="en-US" altLang="zh-CN" sz="3600" dirty="0">
                <a:latin typeface="Times New Roman" panose="02020603050405020304" pitchFamily="18" charset="0"/>
                <a:ea typeface="宋体" panose="02010600030101010101" pitchFamily="2" charset="-122"/>
              </a:rPr>
              <a:t>PN</a:t>
            </a:r>
            <a:r>
              <a:rPr lang="zh-CN" altLang="en-US" sz="3600" dirty="0">
                <a:latin typeface="Times New Roman" panose="02020603050405020304" pitchFamily="18" charset="0"/>
                <a:ea typeface="宋体" panose="02010600030101010101" pitchFamily="2" charset="-122"/>
              </a:rPr>
              <a:t>结电流</a:t>
            </a:r>
            <a:r>
              <a:rPr lang="en-US" altLang="zh-CN" sz="3600" dirty="0">
                <a:latin typeface="Times New Roman" panose="02020603050405020304" pitchFamily="18" charset="0"/>
                <a:ea typeface="宋体" panose="02010600030101010101" pitchFamily="2" charset="-122"/>
              </a:rPr>
              <a:t>-</a:t>
            </a:r>
            <a:r>
              <a:rPr lang="zh-CN" altLang="en-US" sz="3600" dirty="0">
                <a:latin typeface="Times New Roman" panose="02020603050405020304" pitchFamily="18" charset="0"/>
                <a:ea typeface="宋体" panose="02010600030101010101" pitchFamily="2" charset="-122"/>
              </a:rPr>
              <a:t>电压方程式</a:t>
            </a:r>
          </a:p>
        </p:txBody>
      </p:sp>
      <p:sp>
        <p:nvSpPr>
          <p:cNvPr id="5" name="Rectangle 25">
            <a:extLst>
              <a:ext uri="{FF2B5EF4-FFF2-40B4-BE49-F238E27FC236}">
                <a16:creationId xmlns:a16="http://schemas.microsoft.com/office/drawing/2014/main" id="{A70E90A9-5B20-4398-A143-07F849E9D842}"/>
              </a:ext>
            </a:extLst>
          </p:cNvPr>
          <p:cNvSpPr>
            <a:spLocks noChangeArrowheads="1"/>
          </p:cNvSpPr>
          <p:nvPr/>
        </p:nvSpPr>
        <p:spPr bwMode="auto">
          <a:xfrm>
            <a:off x="328587" y="2133724"/>
            <a:ext cx="6121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dirty="0"/>
              <a:t>1.</a:t>
            </a:r>
            <a:r>
              <a:rPr kumimoji="0" lang="zh-CN" altLang="en-US" sz="2000" b="1" dirty="0"/>
              <a:t>理想的</a:t>
            </a:r>
            <a:r>
              <a:rPr kumimoji="0" lang="en-US" altLang="zh-CN" sz="2000" b="1" dirty="0"/>
              <a:t>P-N</a:t>
            </a:r>
            <a:r>
              <a:rPr kumimoji="0" lang="zh-CN" altLang="en-US" sz="2000" b="1" dirty="0"/>
              <a:t>结的基本假设及其意义</a:t>
            </a:r>
          </a:p>
        </p:txBody>
      </p:sp>
      <p:sp>
        <p:nvSpPr>
          <p:cNvPr id="6" name="Rectangle 26">
            <a:extLst>
              <a:ext uri="{FF2B5EF4-FFF2-40B4-BE49-F238E27FC236}">
                <a16:creationId xmlns:a16="http://schemas.microsoft.com/office/drawing/2014/main" id="{222BE60E-DF6E-450C-A072-9E6678CDB44A}"/>
              </a:ext>
            </a:extLst>
          </p:cNvPr>
          <p:cNvSpPr>
            <a:spLocks noChangeArrowheads="1"/>
          </p:cNvSpPr>
          <p:nvPr/>
        </p:nvSpPr>
        <p:spPr bwMode="auto">
          <a:xfrm>
            <a:off x="761975" y="2708399"/>
            <a:ext cx="8353425" cy="781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buFont typeface="Wingdings" panose="05000000000000000000" pitchFamily="2" charset="2"/>
              <a:buNone/>
            </a:pPr>
            <a:r>
              <a:rPr kumimoji="0" lang="en-US" altLang="zh-CN" sz="2000" b="1" dirty="0"/>
              <a:t>1)</a:t>
            </a:r>
            <a:r>
              <a:rPr kumimoji="0" lang="zh-CN" altLang="en-US" sz="2000" b="1" dirty="0"/>
              <a:t>外加电压全部降落在耗尽区上，耗尽区以外的半导体是电中性的，这意味着忽略中性区的体电阻和接触电阻。</a:t>
            </a:r>
          </a:p>
        </p:txBody>
      </p:sp>
      <p:sp>
        <p:nvSpPr>
          <p:cNvPr id="7" name="Rectangle 27">
            <a:extLst>
              <a:ext uri="{FF2B5EF4-FFF2-40B4-BE49-F238E27FC236}">
                <a16:creationId xmlns:a16="http://schemas.microsoft.com/office/drawing/2014/main" id="{8D161646-3209-47CD-9822-E9D0773B9C8F}"/>
              </a:ext>
            </a:extLst>
          </p:cNvPr>
          <p:cNvSpPr>
            <a:spLocks noChangeArrowheads="1"/>
          </p:cNvSpPr>
          <p:nvPr/>
        </p:nvSpPr>
        <p:spPr bwMode="auto">
          <a:xfrm>
            <a:off x="761975" y="3645024"/>
            <a:ext cx="68405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en-US" altLang="zh-CN" sz="2000" b="1"/>
              <a:t>2)</a:t>
            </a:r>
            <a:r>
              <a:rPr kumimoji="0" lang="zh-CN" altLang="en-US" sz="2000" b="1"/>
              <a:t>均匀掺杂。无内建电场，载流子不作漂移运动。</a:t>
            </a:r>
          </a:p>
        </p:txBody>
      </p:sp>
      <p:sp>
        <p:nvSpPr>
          <p:cNvPr id="8" name="Rectangle 28">
            <a:extLst>
              <a:ext uri="{FF2B5EF4-FFF2-40B4-BE49-F238E27FC236}">
                <a16:creationId xmlns:a16="http://schemas.microsoft.com/office/drawing/2014/main" id="{FE897696-701B-41C3-9AF5-C9D767DD966C}"/>
              </a:ext>
            </a:extLst>
          </p:cNvPr>
          <p:cNvSpPr>
            <a:spLocks noChangeArrowheads="1"/>
          </p:cNvSpPr>
          <p:nvPr/>
        </p:nvSpPr>
        <p:spPr bwMode="auto">
          <a:xfrm>
            <a:off x="761975" y="4149849"/>
            <a:ext cx="53479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en-US" altLang="zh-CN" sz="2000" b="1"/>
              <a:t>3)</a:t>
            </a:r>
            <a:r>
              <a:rPr kumimoji="0" lang="zh-CN" altLang="en-US" sz="2000" b="1"/>
              <a:t>空间电荷区内不存在复合电流和产生电流。</a:t>
            </a:r>
          </a:p>
        </p:txBody>
      </p:sp>
      <p:sp>
        <p:nvSpPr>
          <p:cNvPr id="9" name="Rectangle 29">
            <a:extLst>
              <a:ext uri="{FF2B5EF4-FFF2-40B4-BE49-F238E27FC236}">
                <a16:creationId xmlns:a16="http://schemas.microsoft.com/office/drawing/2014/main" id="{7DDAC4DE-A747-427F-9F08-E9C41959B513}"/>
              </a:ext>
            </a:extLst>
          </p:cNvPr>
          <p:cNvSpPr>
            <a:spLocks noChangeArrowheads="1"/>
          </p:cNvSpPr>
          <p:nvPr/>
        </p:nvSpPr>
        <p:spPr bwMode="auto">
          <a:xfrm>
            <a:off x="761975" y="4726111"/>
            <a:ext cx="17347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en-US" altLang="zh-CN" sz="2000" b="1"/>
              <a:t>4)</a:t>
            </a:r>
            <a:r>
              <a:rPr kumimoji="0" lang="zh-CN" altLang="en-US" sz="2000" b="1"/>
              <a:t>小注入，即</a:t>
            </a:r>
          </a:p>
        </p:txBody>
      </p:sp>
      <p:sp>
        <p:nvSpPr>
          <p:cNvPr id="10" name="Rectangle 36">
            <a:extLst>
              <a:ext uri="{FF2B5EF4-FFF2-40B4-BE49-F238E27FC236}">
                <a16:creationId xmlns:a16="http://schemas.microsoft.com/office/drawing/2014/main" id="{C6398E17-7C5A-4A4F-A8FD-1CB52022BF48}"/>
              </a:ext>
            </a:extLst>
          </p:cNvPr>
          <p:cNvSpPr>
            <a:spLocks noChangeArrowheads="1"/>
          </p:cNvSpPr>
          <p:nvPr/>
        </p:nvSpPr>
        <p:spPr bwMode="auto">
          <a:xfrm>
            <a:off x="722287" y="6129461"/>
            <a:ext cx="2786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en-US" altLang="zh-CN" sz="2000" b="1"/>
              <a:t>5)</a:t>
            </a:r>
            <a:r>
              <a:rPr kumimoji="0" lang="zh-CN" altLang="en-US" sz="2000" b="1"/>
              <a:t>半导体非简并</a:t>
            </a:r>
          </a:p>
        </p:txBody>
      </p:sp>
      <p:graphicFrame>
        <p:nvGraphicFramePr>
          <p:cNvPr id="11" name="Object 13">
            <a:extLst>
              <a:ext uri="{FF2B5EF4-FFF2-40B4-BE49-F238E27FC236}">
                <a16:creationId xmlns:a16="http://schemas.microsoft.com/office/drawing/2014/main" id="{2854062E-70CE-441F-A7BE-50171CBE9C1C}"/>
              </a:ext>
            </a:extLst>
          </p:cNvPr>
          <p:cNvGraphicFramePr>
            <a:graphicFrameLocks noChangeAspect="1"/>
          </p:cNvGraphicFramePr>
          <p:nvPr>
            <p:extLst>
              <p:ext uri="{D42A27DB-BD31-4B8C-83A1-F6EECF244321}">
                <p14:modId xmlns:p14="http://schemas.microsoft.com/office/powerpoint/2010/main" val="697121016"/>
              </p:ext>
            </p:extLst>
          </p:nvPr>
        </p:nvGraphicFramePr>
        <p:xfrm>
          <a:off x="3008287" y="5364286"/>
          <a:ext cx="2428875" cy="644525"/>
        </p:xfrm>
        <a:graphic>
          <a:graphicData uri="http://schemas.openxmlformats.org/presentationml/2006/ole">
            <mc:AlternateContent xmlns:mc="http://schemas.openxmlformats.org/markup-compatibility/2006">
              <mc:Choice xmlns:v="urn:schemas-microsoft-com:vml" Requires="v">
                <p:oleObj spid="_x0000_s112760" name="公式" r:id="rId3" imgW="1244600" imgH="330200" progId="Equation.3">
                  <p:embed/>
                </p:oleObj>
              </mc:Choice>
              <mc:Fallback>
                <p:oleObj name="公式" r:id="rId3" imgW="1244600" imgH="330200" progId="Equation.3">
                  <p:embed/>
                  <p:pic>
                    <p:nvPicPr>
                      <p:cNvPr id="33801" name="Object 13">
                        <a:extLst>
                          <a:ext uri="{FF2B5EF4-FFF2-40B4-BE49-F238E27FC236}">
                            <a16:creationId xmlns:a16="http://schemas.microsoft.com/office/drawing/2014/main" id="{B69D9969-B8F6-479E-AF6E-2DCFA06B72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8287" y="5364286"/>
                        <a:ext cx="2428875"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4">
            <a:extLst>
              <a:ext uri="{FF2B5EF4-FFF2-40B4-BE49-F238E27FC236}">
                <a16:creationId xmlns:a16="http://schemas.microsoft.com/office/drawing/2014/main" id="{24108A43-FA41-4621-B914-F6BF729DD6F9}"/>
              </a:ext>
            </a:extLst>
          </p:cNvPr>
          <p:cNvGraphicFramePr>
            <a:graphicFrameLocks noChangeAspect="1"/>
          </p:cNvGraphicFramePr>
          <p:nvPr>
            <p:extLst>
              <p:ext uri="{D42A27DB-BD31-4B8C-83A1-F6EECF244321}">
                <p14:modId xmlns:p14="http://schemas.microsoft.com/office/powerpoint/2010/main" val="2117130978"/>
              </p:ext>
            </p:extLst>
          </p:nvPr>
        </p:nvGraphicFramePr>
        <p:xfrm>
          <a:off x="2865412" y="4578474"/>
          <a:ext cx="2403475" cy="619125"/>
        </p:xfrm>
        <a:graphic>
          <a:graphicData uri="http://schemas.openxmlformats.org/presentationml/2006/ole">
            <mc:AlternateContent xmlns:mc="http://schemas.openxmlformats.org/markup-compatibility/2006">
              <mc:Choice xmlns:v="urn:schemas-microsoft-com:vml" Requires="v">
                <p:oleObj spid="_x0000_s112761" name="Equation" r:id="rId5" imgW="1231366" imgH="317362" progId="Equation.DSMT4">
                  <p:embed/>
                </p:oleObj>
              </mc:Choice>
              <mc:Fallback>
                <p:oleObj name="Equation" r:id="rId5" imgW="1231366" imgH="317362" progId="Equation.DSMT4">
                  <p:embed/>
                  <p:pic>
                    <p:nvPicPr>
                      <p:cNvPr id="33802" name="Object 14">
                        <a:extLst>
                          <a:ext uri="{FF2B5EF4-FFF2-40B4-BE49-F238E27FC236}">
                            <a16:creationId xmlns:a16="http://schemas.microsoft.com/office/drawing/2014/main" id="{36C7CFCF-E127-48FD-904C-C798267B83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5412" y="4578474"/>
                        <a:ext cx="2403475"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矩形 4">
            <a:extLst>
              <a:ext uri="{FF2B5EF4-FFF2-40B4-BE49-F238E27FC236}">
                <a16:creationId xmlns:a16="http://schemas.microsoft.com/office/drawing/2014/main" id="{C6FE6130-E233-4F12-8387-961E22322AE9}"/>
              </a:ext>
            </a:extLst>
          </p:cNvPr>
          <p:cNvSpPr>
            <a:spLocks noChangeArrowheads="1"/>
          </p:cNvSpPr>
          <p:nvPr/>
        </p:nvSpPr>
        <p:spPr bwMode="auto">
          <a:xfrm>
            <a:off x="546943" y="1487612"/>
            <a:ext cx="6647974" cy="39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zh-CN" altLang="en-US" sz="1800" dirty="0"/>
              <a:t>基本方法：连续性方程</a:t>
            </a:r>
            <a:r>
              <a:rPr lang="en-US" altLang="zh-CN" sz="1800" dirty="0"/>
              <a:t>;              </a:t>
            </a:r>
            <a:r>
              <a:rPr lang="zh-CN" altLang="en-US" sz="1800" dirty="0"/>
              <a:t>已知条件：载流子浓度空间分布</a:t>
            </a:r>
          </a:p>
        </p:txBody>
      </p:sp>
      <p:sp>
        <p:nvSpPr>
          <p:cNvPr id="14" name="Rectangle 16">
            <a:extLst>
              <a:ext uri="{FF2B5EF4-FFF2-40B4-BE49-F238E27FC236}">
                <a16:creationId xmlns:a16="http://schemas.microsoft.com/office/drawing/2014/main" id="{C3D2D179-6BFC-4D22-BF93-03596B804A7E}"/>
              </a:ext>
            </a:extLst>
          </p:cNvPr>
          <p:cNvSpPr>
            <a:spLocks noChangeArrowheads="1"/>
          </p:cNvSpPr>
          <p:nvPr/>
        </p:nvSpPr>
        <p:spPr bwMode="auto">
          <a:xfrm>
            <a:off x="318343" y="954212"/>
            <a:ext cx="81851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zh-CN" altLang="en-US" dirty="0">
                <a:solidFill>
                  <a:srgbClr val="FF3300"/>
                </a:solidFill>
              </a:rPr>
              <a:t>正偏压下的电流是由空间电荷区边界上少子注入并向体内扩散产生的。</a:t>
            </a:r>
            <a:endParaRPr lang="en-US" altLang="zh-CN"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linds(horizontal)">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E54BA72-4A7F-4159-8446-B882516CA4D5}"/>
              </a:ext>
            </a:extLst>
          </p:cNvPr>
          <p:cNvSpPr/>
          <p:nvPr/>
        </p:nvSpPr>
        <p:spPr>
          <a:xfrm>
            <a:off x="395536" y="1484784"/>
            <a:ext cx="4968552" cy="4053417"/>
          </a:xfrm>
          <a:prstGeom prst="rect">
            <a:avLst/>
          </a:prstGeom>
        </p:spPr>
        <p:txBody>
          <a:bodyPr wrap="square">
            <a:spAutoFit/>
          </a:bodyPr>
          <a:lstStyle/>
          <a:p>
            <a:pPr marL="0" marR="0" lvl="0" indent="0" defTabSz="914400" eaLnBrk="0" fontAlgn="base" latinLnBrk="0" hangingPunct="0">
              <a:lnSpc>
                <a:spcPct val="130000"/>
              </a:lnSpc>
              <a:spcBef>
                <a:spcPct val="0"/>
              </a:spcBef>
              <a:spcAft>
                <a:spcPct val="0"/>
              </a:spcAft>
              <a:buClrTx/>
              <a:buSzTx/>
              <a:buFont typeface="Wingdings" panose="05000000000000000000" pitchFamily="2" charset="2"/>
              <a:buChar char="Ø"/>
              <a:tabLst/>
              <a:defRPr/>
            </a:pPr>
            <a:r>
              <a:rPr lang="zh-CN" altLang="en-US" b="1" kern="0" dirty="0">
                <a:solidFill>
                  <a:srgbClr val="FF3300"/>
                </a:solidFill>
                <a:latin typeface="Times New Roman" panose="02020603050405020304" pitchFamily="18" charset="0"/>
                <a:ea typeface="宋体" panose="02010600030101010101" pitchFamily="2" charset="-122"/>
              </a:rPr>
              <a:t>正向偏置下</a:t>
            </a:r>
            <a:r>
              <a:rPr kumimoji="0" lang="zh-CN" altLang="en-US"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势垒降低</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（电场减弱）：</a:t>
            </a:r>
          </a:p>
          <a:p>
            <a:pPr marL="0" marR="0" lvl="0" indent="0" defTabSz="914400" eaLnBrk="0" fontAlgn="base" latinLnBrk="0" hangingPunct="0">
              <a:lnSpc>
                <a:spcPct val="13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0" lang="zh-CN" altLang="en-US"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载流子扩散</a:t>
            </a:r>
            <a:r>
              <a:rPr kumimoji="0" lang="en-US" altLang="zh-CN"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&gt;</a:t>
            </a:r>
            <a:r>
              <a:rPr kumimoji="0" lang="zh-CN" altLang="en-US"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载流子漂移</a:t>
            </a:r>
          </a:p>
          <a:p>
            <a:pPr marL="0" marR="0" lvl="0" indent="0" defTabSz="914400" eaLnBrk="0" fontAlgn="base" latinLnBrk="0" hangingPunct="0">
              <a:lnSpc>
                <a:spcPct val="130000"/>
              </a:lnSpc>
              <a:spcBef>
                <a:spcPct val="0"/>
              </a:spcBef>
              <a:spcAft>
                <a:spcPct val="0"/>
              </a:spcAft>
              <a:buClrTx/>
              <a:buSzTx/>
              <a:buFont typeface="Wingdings" panose="05000000000000000000" pitchFamily="2" charset="2"/>
              <a:buChar char="Ø"/>
              <a:tabLst/>
              <a:defRPr/>
            </a:pP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载流子的</a:t>
            </a:r>
            <a:r>
              <a:rPr kumimoji="0" lang="zh-CN" altLang="en-US"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净扩散流</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N</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区电子通过耗尽层后向</a:t>
            </a: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P</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区扩散，</a:t>
            </a: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P</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区空穴向</a:t>
            </a: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N</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区扩散</a:t>
            </a:r>
          </a:p>
          <a:p>
            <a:pPr marL="0" marR="0" lvl="0" indent="0" defTabSz="914400" eaLnBrk="0" fontAlgn="base" latinLnBrk="0" hangingPunct="0">
              <a:lnSpc>
                <a:spcPct val="130000"/>
              </a:lnSpc>
              <a:spcBef>
                <a:spcPct val="0"/>
              </a:spcBef>
              <a:spcAft>
                <a:spcPct val="0"/>
              </a:spcAft>
              <a:buClrTx/>
              <a:buSzTx/>
              <a:buFont typeface="Wingdings" panose="05000000000000000000" pitchFamily="2" charset="2"/>
              <a:buChar char="Ø"/>
              <a:tabLst/>
              <a:defRPr/>
            </a:pP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空间电荷区的两侧边界产生了</a:t>
            </a:r>
            <a:r>
              <a:rPr kumimoji="0" lang="zh-CN" altLang="en-US"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过剩载流子</a:t>
            </a:r>
          </a:p>
          <a:p>
            <a:pPr marL="0" marR="0" lvl="0" indent="0" defTabSz="914400" eaLnBrk="0" fontAlgn="base" latinLnBrk="0" hangingPunct="0">
              <a:lnSpc>
                <a:spcPct val="130000"/>
              </a:lnSpc>
              <a:spcBef>
                <a:spcPct val="0"/>
              </a:spcBef>
              <a:spcAft>
                <a:spcPct val="0"/>
              </a:spcAft>
              <a:buClrTx/>
              <a:buSzTx/>
              <a:buFont typeface="Wingdings" panose="05000000000000000000" pitchFamily="2" charset="2"/>
              <a:buChar char="Ø"/>
              <a:tabLst/>
              <a:defRPr/>
            </a:pPr>
            <a:r>
              <a:rPr kumimoji="0" lang="zh-CN" altLang="en-US"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少子注入</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：进入</a:t>
            </a: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P</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区的是电子，进入</a:t>
            </a: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N</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区的是空穴。注入的载流子对它进入的区域来说都是少子。</a:t>
            </a:r>
          </a:p>
          <a:p>
            <a:pPr marL="0" marR="0" lvl="0" indent="0" defTabSz="914400" eaLnBrk="0" fontAlgn="base" latinLnBrk="0" hangingPunct="0">
              <a:lnSpc>
                <a:spcPct val="130000"/>
              </a:lnSpc>
              <a:spcBef>
                <a:spcPct val="0"/>
              </a:spcBef>
              <a:spcAft>
                <a:spcPct val="0"/>
              </a:spcAft>
              <a:buClrTx/>
              <a:buSzTx/>
              <a:buFont typeface="Wingdings" panose="05000000000000000000" pitchFamily="2" charset="2"/>
              <a:buChar char="Ø"/>
              <a:tabLst/>
              <a:defRPr/>
            </a:pP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边界上注入的过剩载流子，不断向体内扩散，产生</a:t>
            </a:r>
            <a:r>
              <a:rPr kumimoji="0" lang="zh-CN" altLang="en-US"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扩散电流（</a:t>
            </a:r>
            <a:r>
              <a:rPr kumimoji="0" lang="en-US" altLang="zh-CN"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P→N</a:t>
            </a:r>
            <a:r>
              <a:rPr kumimoji="0" lang="zh-CN" altLang="en-US"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endParaRPr kumimoji="0" lang="en-US" altLang="zh-CN" sz="18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a:p>
            <a:pPr marL="0" marR="0" lvl="0" indent="0" defTabSz="914400" eaLnBrk="0" fontAlgn="base" latinLnBrk="0" hangingPunct="0">
              <a:lnSpc>
                <a:spcPct val="130000"/>
              </a:lnSpc>
              <a:spcBef>
                <a:spcPct val="0"/>
              </a:spcBef>
              <a:spcAft>
                <a:spcPct val="0"/>
              </a:spcAft>
              <a:buClrTx/>
              <a:buSzTx/>
              <a:buFont typeface="Wingdings" panose="05000000000000000000" pitchFamily="2" charset="2"/>
              <a:buChar char="Ø"/>
              <a:tabLst/>
              <a:defRPr/>
            </a:pPr>
            <a:r>
              <a:rPr lang="zh-CN" altLang="en-US" b="1" kern="0" dirty="0">
                <a:solidFill>
                  <a:srgbClr val="FF3300"/>
                </a:solidFill>
                <a:latin typeface="Times New Roman" panose="02020603050405020304" pitchFamily="18" charset="0"/>
                <a:ea typeface="宋体" panose="02010600030101010101" pitchFamily="2" charset="-122"/>
              </a:rPr>
              <a:t>正向电流来源是</a:t>
            </a:r>
            <a:r>
              <a:rPr lang="en-US" altLang="zh-CN" b="1" kern="0" dirty="0">
                <a:solidFill>
                  <a:srgbClr val="FF3300"/>
                </a:solidFill>
                <a:latin typeface="Times New Roman" panose="02020603050405020304" pitchFamily="18" charset="0"/>
                <a:ea typeface="宋体" panose="02010600030101010101" pitchFamily="2" charset="-122"/>
              </a:rPr>
              <a:t>N</a:t>
            </a:r>
            <a:r>
              <a:rPr lang="zh-CN" altLang="en-US" b="1" kern="0" dirty="0">
                <a:solidFill>
                  <a:srgbClr val="FF3300"/>
                </a:solidFill>
                <a:latin typeface="Times New Roman" panose="02020603050405020304" pitchFamily="18" charset="0"/>
                <a:ea typeface="宋体" panose="02010600030101010101" pitchFamily="2" charset="-122"/>
              </a:rPr>
              <a:t>区电子或</a:t>
            </a:r>
            <a:r>
              <a:rPr lang="en-US" altLang="zh-CN" b="1" kern="0" dirty="0">
                <a:solidFill>
                  <a:srgbClr val="FF3300"/>
                </a:solidFill>
                <a:latin typeface="Times New Roman" panose="02020603050405020304" pitchFamily="18" charset="0"/>
                <a:ea typeface="宋体" panose="02010600030101010101" pitchFamily="2" charset="-122"/>
              </a:rPr>
              <a:t>P</a:t>
            </a:r>
            <a:r>
              <a:rPr lang="zh-CN" altLang="en-US" b="1" kern="0" dirty="0">
                <a:solidFill>
                  <a:srgbClr val="FF3300"/>
                </a:solidFill>
                <a:latin typeface="Times New Roman" panose="02020603050405020304" pitchFamily="18" charset="0"/>
                <a:ea typeface="宋体" panose="02010600030101010101" pitchFamily="2" charset="-122"/>
              </a:rPr>
              <a:t>区空穴，电流大</a:t>
            </a:r>
            <a:endParaRPr kumimoji="0" lang="zh-CN" altLang="en-US" sz="1800" b="0" i="0" u="none" strike="noStrike" kern="0" cap="none" spc="0" normalizeH="0" baseline="0" noProof="0" dirty="0">
              <a:ln>
                <a:noFill/>
              </a:ln>
              <a:solidFill>
                <a:sysClr val="windowText" lastClr="000000"/>
              </a:solidFill>
              <a:effectLst/>
              <a:uLnTx/>
              <a:uFillTx/>
            </a:endParaRPr>
          </a:p>
        </p:txBody>
      </p:sp>
      <p:pic>
        <p:nvPicPr>
          <p:cNvPr id="13" name="Picture 10" descr="2t5">
            <a:extLst>
              <a:ext uri="{FF2B5EF4-FFF2-40B4-BE49-F238E27FC236}">
                <a16:creationId xmlns:a16="http://schemas.microsoft.com/office/drawing/2014/main" id="{C39AD829-82E5-46B4-8803-8B64B51AF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9887" b="53285"/>
          <a:stretch>
            <a:fillRect/>
          </a:stretch>
        </p:blipFill>
        <p:spPr bwMode="auto">
          <a:xfrm>
            <a:off x="5076056" y="1772816"/>
            <a:ext cx="3674052"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D3B825EA-3E79-47EF-98A2-A427594BAB18}"/>
              </a:ext>
            </a:extLst>
          </p:cNvPr>
          <p:cNvSpPr>
            <a:spLocks noChangeArrowheads="1"/>
          </p:cNvSpPr>
          <p:nvPr/>
        </p:nvSpPr>
        <p:spPr bwMode="auto">
          <a:xfrm>
            <a:off x="251520" y="476672"/>
            <a:ext cx="842493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914400" fontAlgn="base">
              <a:lnSpc>
                <a:spcPct val="120000"/>
              </a:lnSpc>
              <a:spcBef>
                <a:spcPct val="0"/>
              </a:spcBef>
              <a:spcAft>
                <a:spcPct val="0"/>
              </a:spcAft>
            </a:pPr>
            <a:r>
              <a:rPr kumimoji="1" lang="zh-CN" altLang="en-US" sz="2000" b="1" dirty="0">
                <a:solidFill>
                  <a:srgbClr val="FF0000"/>
                </a:solidFill>
                <a:latin typeface="Times New Roman" panose="02020603050405020304" pitchFamily="18" charset="0"/>
                <a:ea typeface="宋体" panose="02010600030101010101" pitchFamily="2" charset="-122"/>
              </a:rPr>
              <a:t>在</a:t>
            </a:r>
            <a:r>
              <a:rPr kumimoji="1" lang="en-US" altLang="zh-CN" sz="2000" b="1" dirty="0">
                <a:solidFill>
                  <a:srgbClr val="FF0000"/>
                </a:solidFill>
                <a:latin typeface="Times New Roman" panose="02020603050405020304" pitchFamily="18" charset="0"/>
                <a:ea typeface="宋体" panose="02010600030101010101" pitchFamily="2" charset="-122"/>
              </a:rPr>
              <a:t>N</a:t>
            </a:r>
            <a:r>
              <a:rPr kumimoji="1" lang="zh-CN" altLang="en-US" sz="2000" b="1" dirty="0">
                <a:solidFill>
                  <a:srgbClr val="FF0000"/>
                </a:solidFill>
                <a:latin typeface="Times New Roman" panose="02020603050405020304" pitchFamily="18" charset="0"/>
                <a:ea typeface="宋体" panose="02010600030101010101" pitchFamily="2" charset="-122"/>
              </a:rPr>
              <a:t>型区的右侧</a:t>
            </a:r>
            <a:r>
              <a:rPr kumimoji="1" lang="zh-CN" altLang="en-US" sz="2000" b="1" dirty="0">
                <a:solidFill>
                  <a:srgbClr val="000000"/>
                </a:solidFill>
                <a:latin typeface="Times New Roman" panose="02020603050405020304" pitchFamily="18" charset="0"/>
                <a:ea typeface="宋体" panose="02010600030101010101" pitchFamily="2" charset="-122"/>
              </a:rPr>
              <a:t>，由于注入的非平衡少子（空穴）基本复合消失，少子的扩散电流为零，</a:t>
            </a:r>
            <a:r>
              <a:rPr kumimoji="1" lang="zh-CN" altLang="en-US" sz="2000" b="1" dirty="0">
                <a:solidFill>
                  <a:srgbClr val="FF0000"/>
                </a:solidFill>
                <a:latin typeface="Times New Roman" panose="02020603050405020304" pitchFamily="18" charset="0"/>
                <a:ea typeface="宋体" panose="02010600030101010101" pitchFamily="2" charset="-122"/>
              </a:rPr>
              <a:t>流过的电流主要是多子－电子的漂移电流</a:t>
            </a:r>
            <a:r>
              <a:rPr kumimoji="1" lang="zh-CN" altLang="en-US" sz="2000" b="1" dirty="0">
                <a:solidFill>
                  <a:srgbClr val="000000"/>
                </a:solidFill>
                <a:latin typeface="Times New Roman" panose="02020603050405020304" pitchFamily="18" charset="0"/>
                <a:ea typeface="宋体" panose="02010600030101010101" pitchFamily="2" charset="-122"/>
              </a:rPr>
              <a:t>，少子空穴的浓度很低，其漂移电流可忽略不计</a:t>
            </a:r>
          </a:p>
        </p:txBody>
      </p:sp>
      <p:sp>
        <p:nvSpPr>
          <p:cNvPr id="8" name="Rectangle 4">
            <a:extLst>
              <a:ext uri="{FF2B5EF4-FFF2-40B4-BE49-F238E27FC236}">
                <a16:creationId xmlns:a16="http://schemas.microsoft.com/office/drawing/2014/main" id="{8309ED33-CA30-4ED3-B9E5-9FA751FAD740}"/>
              </a:ext>
            </a:extLst>
          </p:cNvPr>
          <p:cNvSpPr>
            <a:spLocks noChangeArrowheads="1"/>
          </p:cNvSpPr>
          <p:nvPr/>
        </p:nvSpPr>
        <p:spPr bwMode="auto">
          <a:xfrm>
            <a:off x="251520" y="1916832"/>
            <a:ext cx="8375848" cy="795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914400" fontAlgn="base">
              <a:lnSpc>
                <a:spcPct val="120000"/>
              </a:lnSpc>
              <a:spcBef>
                <a:spcPct val="50000"/>
              </a:spcBef>
              <a:spcAft>
                <a:spcPct val="0"/>
              </a:spcAft>
            </a:pPr>
            <a:r>
              <a:rPr kumimoji="1" lang="zh-CN" altLang="en-US" sz="2000" b="1" dirty="0">
                <a:solidFill>
                  <a:srgbClr val="FF0000"/>
                </a:solidFill>
                <a:latin typeface="Times New Roman" panose="02020603050405020304" pitchFamily="18" charset="0"/>
                <a:ea typeface="宋体" panose="02010600030101010101" pitchFamily="2" charset="-122"/>
              </a:rPr>
              <a:t>在</a:t>
            </a:r>
            <a:r>
              <a:rPr kumimoji="1" lang="en-US" altLang="zh-CN" sz="2000" b="1" dirty="0">
                <a:solidFill>
                  <a:srgbClr val="FF0000"/>
                </a:solidFill>
                <a:latin typeface="Times New Roman" panose="02020603050405020304" pitchFamily="18" charset="0"/>
                <a:ea typeface="宋体" panose="02010600030101010101" pitchFamily="2" charset="-122"/>
              </a:rPr>
              <a:t>P</a:t>
            </a:r>
            <a:r>
              <a:rPr kumimoji="1" lang="zh-CN" altLang="en-US" sz="2000" b="1" dirty="0">
                <a:solidFill>
                  <a:srgbClr val="FF0000"/>
                </a:solidFill>
                <a:latin typeface="Times New Roman" panose="02020603050405020304" pitchFamily="18" charset="0"/>
                <a:ea typeface="宋体" panose="02010600030101010101" pitchFamily="2" charset="-122"/>
              </a:rPr>
              <a:t>型区的左侧</a:t>
            </a:r>
            <a:r>
              <a:rPr kumimoji="1" lang="zh-CN" altLang="en-US" sz="2000" b="1" dirty="0">
                <a:solidFill>
                  <a:srgbClr val="000000"/>
                </a:solidFill>
                <a:latin typeface="Times New Roman" panose="02020603050405020304" pitchFamily="18" charset="0"/>
                <a:ea typeface="宋体" panose="02010600030101010101" pitchFamily="2" charset="-122"/>
              </a:rPr>
              <a:t>，</a:t>
            </a:r>
            <a:r>
              <a:rPr kumimoji="1" lang="zh-CN" altLang="en-US" sz="2000" b="1" dirty="0">
                <a:solidFill>
                  <a:srgbClr val="FF0000"/>
                </a:solidFill>
                <a:latin typeface="Times New Roman" panose="02020603050405020304" pitchFamily="18" charset="0"/>
                <a:ea typeface="宋体" panose="02010600030101010101" pitchFamily="2" charset="-122"/>
              </a:rPr>
              <a:t>流过的电流主要是多子－空穴的漂移电流</a:t>
            </a:r>
            <a:r>
              <a:rPr kumimoji="1" lang="zh-CN" altLang="en-US" sz="2000" b="1" dirty="0">
                <a:solidFill>
                  <a:srgbClr val="000000"/>
                </a:solidFill>
                <a:latin typeface="Times New Roman" panose="02020603050405020304" pitchFamily="18" charset="0"/>
                <a:ea typeface="宋体" panose="02010600030101010101" pitchFamily="2" charset="-122"/>
              </a:rPr>
              <a:t>，少子（电子）的浓度很低，其漂移电流可忽略不计。</a:t>
            </a:r>
          </a:p>
        </p:txBody>
      </p:sp>
      <p:pic>
        <p:nvPicPr>
          <p:cNvPr id="9" name="图片 8">
            <a:extLst>
              <a:ext uri="{FF2B5EF4-FFF2-40B4-BE49-F238E27FC236}">
                <a16:creationId xmlns:a16="http://schemas.microsoft.com/office/drawing/2014/main" id="{5120872A-EFE1-476B-B3FE-1ED38CC504BD}"/>
              </a:ext>
            </a:extLst>
          </p:cNvPr>
          <p:cNvPicPr>
            <a:picLocks noChangeAspect="1"/>
          </p:cNvPicPr>
          <p:nvPr/>
        </p:nvPicPr>
        <p:blipFill>
          <a:blip r:embed="rId2"/>
          <a:stretch>
            <a:fillRect/>
          </a:stretch>
        </p:blipFill>
        <p:spPr>
          <a:xfrm>
            <a:off x="683568" y="2564904"/>
            <a:ext cx="7328949" cy="3816424"/>
          </a:xfrm>
          <a:prstGeom prst="rect">
            <a:avLst/>
          </a:prstGeom>
        </p:spPr>
      </p:pic>
    </p:spTree>
    <p:extLst>
      <p:ext uri="{BB962C8B-B14F-4D97-AF65-F5344CB8AC3E}">
        <p14:creationId xmlns:p14="http://schemas.microsoft.com/office/powerpoint/2010/main" val="30689011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ABE5092-C6BF-48D9-A234-87BDA74A4467}"/>
              </a:ext>
            </a:extLst>
          </p:cNvPr>
          <p:cNvSpPr>
            <a:spLocks noChangeArrowheads="1"/>
          </p:cNvSpPr>
          <p:nvPr/>
        </p:nvSpPr>
        <p:spPr bwMode="auto">
          <a:xfrm>
            <a:off x="179512" y="404664"/>
            <a:ext cx="8534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defTabSz="914400" fontAlgn="base">
              <a:lnSpc>
                <a:spcPct val="150000"/>
              </a:lnSpc>
              <a:spcBef>
                <a:spcPct val="50000"/>
              </a:spcBef>
              <a:spcAft>
                <a:spcPct val="0"/>
              </a:spcAft>
            </a:pPr>
            <a:r>
              <a:rPr kumimoji="1" lang="en-US" altLang="zh-CN" b="1" dirty="0">
                <a:solidFill>
                  <a:srgbClr val="FF0000"/>
                </a:solidFill>
                <a:latin typeface="Times New Roman" panose="02020603050405020304" pitchFamily="18" charset="0"/>
                <a:ea typeface="宋体" panose="02010600030101010101" pitchFamily="2" charset="-122"/>
              </a:rPr>
              <a:t>N</a:t>
            </a:r>
            <a:r>
              <a:rPr kumimoji="1" lang="zh-CN" altLang="en-US" b="1" dirty="0">
                <a:solidFill>
                  <a:srgbClr val="FF0000"/>
                </a:solidFill>
                <a:latin typeface="Times New Roman" panose="02020603050405020304" pitchFamily="18" charset="0"/>
                <a:ea typeface="宋体" panose="02010600030101010101" pitchFamily="2" charset="-122"/>
              </a:rPr>
              <a:t>区：</a:t>
            </a:r>
            <a:r>
              <a:rPr kumimoji="1" lang="zh-CN" altLang="en-US" b="1" dirty="0">
                <a:solidFill>
                  <a:srgbClr val="000000"/>
                </a:solidFill>
                <a:latin typeface="Times New Roman" panose="02020603050405020304" pitchFamily="18" charset="0"/>
                <a:ea typeface="宋体" panose="02010600030101010101" pitchFamily="2" charset="-122"/>
              </a:rPr>
              <a:t>电子在外加电压的作用下向边界</a:t>
            </a:r>
            <a:r>
              <a:rPr kumimoji="1" lang="en-US" altLang="zh-CN" b="1" i="1" dirty="0" err="1">
                <a:solidFill>
                  <a:srgbClr val="000000"/>
                </a:solidFill>
                <a:latin typeface="Times New Roman" panose="02020603050405020304" pitchFamily="18" charset="0"/>
                <a:ea typeface="宋体" panose="02010600030101010101" pitchFamily="2" charset="-122"/>
              </a:rPr>
              <a:t>X</a:t>
            </a:r>
            <a:r>
              <a:rPr kumimoji="1" lang="en-US" altLang="zh-CN" b="1" i="1" baseline="-25000" dirty="0" err="1">
                <a:solidFill>
                  <a:srgbClr val="000000"/>
                </a:solidFill>
                <a:latin typeface="Times New Roman" panose="02020603050405020304" pitchFamily="18" charset="0"/>
                <a:ea typeface="宋体" panose="02010600030101010101" pitchFamily="2" charset="-122"/>
              </a:rPr>
              <a:t>n</a:t>
            </a:r>
            <a:r>
              <a:rPr kumimoji="1" lang="en-US" altLang="zh-CN" b="1" i="1" baseline="-25000" dirty="0">
                <a:solidFill>
                  <a:srgbClr val="000000"/>
                </a:solidFill>
                <a:latin typeface="Times New Roman" panose="02020603050405020304" pitchFamily="18" charset="0"/>
                <a:ea typeface="宋体" panose="02010600030101010101" pitchFamily="2" charset="-122"/>
              </a:rPr>
              <a:t> </a:t>
            </a:r>
            <a:r>
              <a:rPr kumimoji="1" lang="zh-CN" altLang="en-US" b="1" dirty="0">
                <a:solidFill>
                  <a:srgbClr val="000000"/>
                </a:solidFill>
                <a:latin typeface="Times New Roman" panose="02020603050405020304" pitchFamily="18" charset="0"/>
                <a:ea typeface="宋体" panose="02010600030101010101" pitchFamily="2" charset="-122"/>
              </a:rPr>
              <a:t>漂移，越过空间电荷区，经过边界</a:t>
            </a:r>
            <a:r>
              <a:rPr kumimoji="1" lang="en-US" altLang="zh-CN" b="1" i="1" dirty="0">
                <a:solidFill>
                  <a:srgbClr val="000000"/>
                </a:solidFill>
                <a:latin typeface="Times New Roman" panose="02020603050405020304" pitchFamily="18" charset="0"/>
                <a:ea typeface="宋体" panose="02010600030101010101" pitchFamily="2" charset="-122"/>
              </a:rPr>
              <a:t>X</a:t>
            </a:r>
            <a:r>
              <a:rPr kumimoji="1" lang="en-US" altLang="zh-CN" b="1" i="1" baseline="-25000" dirty="0">
                <a:solidFill>
                  <a:srgbClr val="000000"/>
                </a:solidFill>
                <a:latin typeface="Times New Roman" panose="02020603050405020304" pitchFamily="18" charset="0"/>
                <a:ea typeface="宋体" panose="02010600030101010101" pitchFamily="2" charset="-122"/>
              </a:rPr>
              <a:t>P</a:t>
            </a:r>
            <a:r>
              <a:rPr kumimoji="1" lang="zh-CN" altLang="en-US" b="1" dirty="0">
                <a:solidFill>
                  <a:srgbClr val="000000"/>
                </a:solidFill>
                <a:latin typeface="Times New Roman" panose="02020603050405020304" pitchFamily="18" charset="0"/>
                <a:ea typeface="宋体" panose="02010600030101010101" pitchFamily="2" charset="-122"/>
              </a:rPr>
              <a:t>注入</a:t>
            </a:r>
            <a:r>
              <a:rPr kumimoji="1" lang="en-US" altLang="zh-CN" b="1" dirty="0">
                <a:solidFill>
                  <a:srgbClr val="000000"/>
                </a:solidFill>
                <a:latin typeface="Times New Roman" panose="02020603050405020304" pitchFamily="18" charset="0"/>
                <a:ea typeface="宋体" panose="02010600030101010101" pitchFamily="2" charset="-122"/>
              </a:rPr>
              <a:t>P</a:t>
            </a:r>
            <a:r>
              <a:rPr kumimoji="1" lang="zh-CN" altLang="en-US" b="1" dirty="0">
                <a:solidFill>
                  <a:srgbClr val="000000"/>
                </a:solidFill>
                <a:latin typeface="Times New Roman" panose="02020603050405020304" pitchFamily="18" charset="0"/>
                <a:ea typeface="宋体" panose="02010600030101010101" pitchFamily="2" charset="-122"/>
              </a:rPr>
              <a:t>区，然后向前扩散形成电子扩散电流，但在电子扩散区域内，电子边扩散边复合，不断与从左边漂移过来的空穴复合而转化为空穴的漂移电流，直到</a:t>
            </a:r>
            <a:r>
              <a:rPr kumimoji="1" lang="en-US" altLang="zh-CN" b="1" i="1" dirty="0">
                <a:solidFill>
                  <a:srgbClr val="000000"/>
                </a:solidFill>
                <a:latin typeface="Times New Roman" panose="02020603050405020304" pitchFamily="18" charset="0"/>
                <a:ea typeface="宋体" panose="02010600030101010101" pitchFamily="2" charset="-122"/>
              </a:rPr>
              <a:t>X’</a:t>
            </a:r>
            <a:r>
              <a:rPr kumimoji="1" lang="en-US" altLang="zh-CN" b="1" i="1" baseline="-25000" dirty="0">
                <a:solidFill>
                  <a:srgbClr val="000000"/>
                </a:solidFill>
                <a:latin typeface="Times New Roman" panose="02020603050405020304" pitchFamily="18" charset="0"/>
                <a:ea typeface="宋体" panose="02010600030101010101" pitchFamily="2" charset="-122"/>
              </a:rPr>
              <a:t>P </a:t>
            </a:r>
            <a:r>
              <a:rPr kumimoji="1" lang="zh-CN" altLang="en-US" b="1" dirty="0">
                <a:solidFill>
                  <a:srgbClr val="000000"/>
                </a:solidFill>
                <a:latin typeface="Times New Roman" panose="02020603050405020304" pitchFamily="18" charset="0"/>
                <a:ea typeface="宋体" panose="02010600030101010101" pitchFamily="2" charset="-122"/>
              </a:rPr>
              <a:t>处注入的电子全部复合，电子扩散电流全部转变为空穴的漂移电流。</a:t>
            </a:r>
          </a:p>
        </p:txBody>
      </p:sp>
      <p:sp>
        <p:nvSpPr>
          <p:cNvPr id="7" name="Rectangle 2">
            <a:extLst>
              <a:ext uri="{FF2B5EF4-FFF2-40B4-BE49-F238E27FC236}">
                <a16:creationId xmlns:a16="http://schemas.microsoft.com/office/drawing/2014/main" id="{7FAF325E-28E6-497E-A193-2586A73FCF2F}"/>
              </a:ext>
            </a:extLst>
          </p:cNvPr>
          <p:cNvSpPr>
            <a:spLocks noChangeArrowheads="1"/>
          </p:cNvSpPr>
          <p:nvPr/>
        </p:nvSpPr>
        <p:spPr bwMode="auto">
          <a:xfrm>
            <a:off x="266700" y="2276872"/>
            <a:ext cx="8610600" cy="128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defTabSz="914400" fontAlgn="base">
              <a:lnSpc>
                <a:spcPct val="150000"/>
              </a:lnSpc>
              <a:spcBef>
                <a:spcPct val="50000"/>
              </a:spcBef>
              <a:spcAft>
                <a:spcPct val="0"/>
              </a:spcAft>
            </a:pPr>
            <a:r>
              <a:rPr kumimoji="1" lang="en-US" altLang="zh-CN" b="1" dirty="0">
                <a:solidFill>
                  <a:srgbClr val="FF0000"/>
                </a:solidFill>
                <a:latin typeface="Times New Roman" panose="02020603050405020304" pitchFamily="18" charset="0"/>
                <a:ea typeface="宋体" panose="02010600030101010101" pitchFamily="2" charset="-122"/>
              </a:rPr>
              <a:t>P</a:t>
            </a:r>
            <a:r>
              <a:rPr kumimoji="1" lang="zh-CN" altLang="en-US" b="1" dirty="0">
                <a:solidFill>
                  <a:srgbClr val="FF0000"/>
                </a:solidFill>
                <a:latin typeface="Times New Roman" panose="02020603050405020304" pitchFamily="18" charset="0"/>
                <a:ea typeface="宋体" panose="02010600030101010101" pitchFamily="2" charset="-122"/>
              </a:rPr>
              <a:t>区：</a:t>
            </a:r>
            <a:r>
              <a:rPr kumimoji="1" lang="zh-CN" altLang="en-US" b="1" dirty="0">
                <a:solidFill>
                  <a:srgbClr val="000000"/>
                </a:solidFill>
                <a:latin typeface="Times New Roman" panose="02020603050405020304" pitchFamily="18" charset="0"/>
                <a:ea typeface="宋体" panose="02010600030101010101" pitchFamily="2" charset="-122"/>
              </a:rPr>
              <a:t>空穴在外加电压的作用下向边界</a:t>
            </a:r>
            <a:r>
              <a:rPr kumimoji="1" lang="en-US" altLang="zh-CN" b="1" i="1" dirty="0">
                <a:solidFill>
                  <a:srgbClr val="000000"/>
                </a:solidFill>
                <a:latin typeface="Times New Roman" panose="02020603050405020304" pitchFamily="18" charset="0"/>
                <a:ea typeface="宋体" panose="02010600030101010101" pitchFamily="2" charset="-122"/>
              </a:rPr>
              <a:t>X</a:t>
            </a:r>
            <a:r>
              <a:rPr kumimoji="1" lang="en-US" altLang="zh-CN" b="1" i="1" baseline="-25000" dirty="0">
                <a:solidFill>
                  <a:srgbClr val="000000"/>
                </a:solidFill>
                <a:latin typeface="Times New Roman" panose="02020603050405020304" pitchFamily="18" charset="0"/>
                <a:ea typeface="宋体" panose="02010600030101010101" pitchFamily="2" charset="-122"/>
              </a:rPr>
              <a:t>P </a:t>
            </a:r>
            <a:r>
              <a:rPr kumimoji="1" lang="zh-CN" altLang="en-US" b="1" dirty="0">
                <a:solidFill>
                  <a:srgbClr val="000000"/>
                </a:solidFill>
                <a:latin typeface="Times New Roman" panose="02020603050405020304" pitchFamily="18" charset="0"/>
                <a:ea typeface="宋体" panose="02010600030101010101" pitchFamily="2" charset="-122"/>
              </a:rPr>
              <a:t>漂移，越过空间电荷区，经过边界</a:t>
            </a:r>
            <a:r>
              <a:rPr kumimoji="1" lang="en-US" altLang="zh-CN" b="1" i="1" dirty="0">
                <a:solidFill>
                  <a:srgbClr val="000000"/>
                </a:solidFill>
                <a:latin typeface="Times New Roman" panose="02020603050405020304" pitchFamily="18" charset="0"/>
                <a:ea typeface="宋体" panose="02010600030101010101" pitchFamily="2" charset="-122"/>
              </a:rPr>
              <a:t>X</a:t>
            </a:r>
            <a:r>
              <a:rPr kumimoji="1" lang="en-US" altLang="zh-CN" b="1" i="1" baseline="-25000" dirty="0">
                <a:solidFill>
                  <a:srgbClr val="000000"/>
                </a:solidFill>
                <a:latin typeface="Times New Roman" panose="02020603050405020304" pitchFamily="18" charset="0"/>
                <a:ea typeface="宋体" panose="02010600030101010101" pitchFamily="2" charset="-122"/>
              </a:rPr>
              <a:t>N</a:t>
            </a:r>
            <a:r>
              <a:rPr kumimoji="1" lang="zh-CN" altLang="en-US" b="1" dirty="0">
                <a:solidFill>
                  <a:srgbClr val="000000"/>
                </a:solidFill>
                <a:latin typeface="Times New Roman" panose="02020603050405020304" pitchFamily="18" charset="0"/>
                <a:ea typeface="宋体" panose="02010600030101010101" pitchFamily="2" charset="-122"/>
              </a:rPr>
              <a:t>注入</a:t>
            </a:r>
            <a:r>
              <a:rPr kumimoji="1" lang="en-US" altLang="zh-CN" b="1" dirty="0">
                <a:solidFill>
                  <a:srgbClr val="000000"/>
                </a:solidFill>
                <a:latin typeface="Times New Roman" panose="02020603050405020304" pitchFamily="18" charset="0"/>
                <a:ea typeface="宋体" panose="02010600030101010101" pitchFamily="2" charset="-122"/>
              </a:rPr>
              <a:t>N</a:t>
            </a:r>
            <a:r>
              <a:rPr kumimoji="1" lang="zh-CN" altLang="en-US" b="1" dirty="0">
                <a:solidFill>
                  <a:srgbClr val="000000"/>
                </a:solidFill>
                <a:latin typeface="Times New Roman" panose="02020603050405020304" pitchFamily="18" charset="0"/>
                <a:ea typeface="宋体" panose="02010600030101010101" pitchFamily="2" charset="-122"/>
              </a:rPr>
              <a:t>区，然后向前扩散形成空穴扩散电流，在空穴扩散区域内，空穴扩散电流都通过复合而转化为电子的漂移电流。</a:t>
            </a:r>
          </a:p>
        </p:txBody>
      </p:sp>
      <p:pic>
        <p:nvPicPr>
          <p:cNvPr id="8" name="图片 7">
            <a:extLst>
              <a:ext uri="{FF2B5EF4-FFF2-40B4-BE49-F238E27FC236}">
                <a16:creationId xmlns:a16="http://schemas.microsoft.com/office/drawing/2014/main" id="{36487FD9-B7A3-49B4-9D89-E6BDBBB371E1}"/>
              </a:ext>
            </a:extLst>
          </p:cNvPr>
          <p:cNvPicPr>
            <a:picLocks noChangeAspect="1"/>
          </p:cNvPicPr>
          <p:nvPr/>
        </p:nvPicPr>
        <p:blipFill>
          <a:blip r:embed="rId2"/>
          <a:stretch>
            <a:fillRect/>
          </a:stretch>
        </p:blipFill>
        <p:spPr>
          <a:xfrm>
            <a:off x="179512" y="3440038"/>
            <a:ext cx="6322100" cy="3292125"/>
          </a:xfrm>
          <a:prstGeom prst="rect">
            <a:avLst/>
          </a:prstGeom>
        </p:spPr>
      </p:pic>
      <p:sp>
        <p:nvSpPr>
          <p:cNvPr id="9" name="Rectangle 3">
            <a:extLst>
              <a:ext uri="{FF2B5EF4-FFF2-40B4-BE49-F238E27FC236}">
                <a16:creationId xmlns:a16="http://schemas.microsoft.com/office/drawing/2014/main" id="{D107C0B3-D91C-481A-BB79-75385DC5310E}"/>
              </a:ext>
            </a:extLst>
          </p:cNvPr>
          <p:cNvSpPr>
            <a:spLocks noChangeArrowheads="1"/>
          </p:cNvSpPr>
          <p:nvPr/>
        </p:nvSpPr>
        <p:spPr bwMode="auto">
          <a:xfrm>
            <a:off x="6285300" y="3766070"/>
            <a:ext cx="2808312" cy="870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atinLnBrk="0">
              <a:lnSpc>
                <a:spcPct val="150000"/>
              </a:lnSpc>
              <a:spcBef>
                <a:spcPct val="50000"/>
              </a:spcBef>
            </a:pPr>
            <a:r>
              <a:rPr lang="zh-CN" altLang="en-US" dirty="0">
                <a:solidFill>
                  <a:srgbClr val="FF0000"/>
                </a:solidFill>
                <a:latin typeface="Times New Roman" panose="02020603050405020304" pitchFamily="18" charset="0"/>
                <a:ea typeface="黑体" panose="02010609060101010101" pitchFamily="49" charset="-122"/>
              </a:rPr>
              <a:t>扩散区：</a:t>
            </a:r>
            <a:r>
              <a:rPr lang="zh-CN" altLang="en-US" dirty="0">
                <a:solidFill>
                  <a:srgbClr val="0000FF"/>
                </a:solidFill>
                <a:latin typeface="Times New Roman" panose="02020603050405020304" pitchFamily="18" charset="0"/>
                <a:ea typeface="黑体" panose="02010609060101010101" pitchFamily="49" charset="-122"/>
              </a:rPr>
              <a:t>少子扩散电流向多子漂移电流转换</a:t>
            </a:r>
          </a:p>
        </p:txBody>
      </p:sp>
      <p:sp>
        <p:nvSpPr>
          <p:cNvPr id="10" name="Rectangle 6">
            <a:extLst>
              <a:ext uri="{FF2B5EF4-FFF2-40B4-BE49-F238E27FC236}">
                <a16:creationId xmlns:a16="http://schemas.microsoft.com/office/drawing/2014/main" id="{C652E2F1-C4E0-4C32-85CB-4F5DAD88EB20}"/>
              </a:ext>
            </a:extLst>
          </p:cNvPr>
          <p:cNvSpPr>
            <a:spLocks noChangeArrowheads="1"/>
          </p:cNvSpPr>
          <p:nvPr/>
        </p:nvSpPr>
        <p:spPr bwMode="auto">
          <a:xfrm>
            <a:off x="5740400" y="3482975"/>
            <a:ext cx="9461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0"/>
            <a:r>
              <a:rPr lang="zh-CN" altLang="en-US" sz="1400" dirty="0">
                <a:solidFill>
                  <a:srgbClr val="FF0000"/>
                </a:solidFill>
                <a:latin typeface="Times New Roman" panose="02020603050405020304" pitchFamily="18" charset="0"/>
                <a:ea typeface="黑体" panose="02010609060101010101" pitchFamily="49" charset="-122"/>
              </a:rPr>
              <a:t>扩散区</a:t>
            </a:r>
          </a:p>
        </p:txBody>
      </p:sp>
      <p:sp>
        <p:nvSpPr>
          <p:cNvPr id="11" name="Rectangle 6">
            <a:extLst>
              <a:ext uri="{FF2B5EF4-FFF2-40B4-BE49-F238E27FC236}">
                <a16:creationId xmlns:a16="http://schemas.microsoft.com/office/drawing/2014/main" id="{875283C7-FFE0-418D-A5E9-5779888F7DE3}"/>
              </a:ext>
            </a:extLst>
          </p:cNvPr>
          <p:cNvSpPr>
            <a:spLocks noChangeArrowheads="1"/>
          </p:cNvSpPr>
          <p:nvPr/>
        </p:nvSpPr>
        <p:spPr bwMode="auto">
          <a:xfrm>
            <a:off x="2286256" y="3800153"/>
            <a:ext cx="9461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0"/>
            <a:r>
              <a:rPr lang="zh-CN" altLang="en-US" sz="1400" dirty="0">
                <a:solidFill>
                  <a:srgbClr val="FF0000"/>
                </a:solidFill>
                <a:latin typeface="Times New Roman" panose="02020603050405020304" pitchFamily="18" charset="0"/>
                <a:ea typeface="黑体" panose="02010609060101010101" pitchFamily="49" charset="-122"/>
              </a:rPr>
              <a:t>扩散区</a:t>
            </a:r>
          </a:p>
        </p:txBody>
      </p:sp>
      <p:sp>
        <p:nvSpPr>
          <p:cNvPr id="12" name="Rectangle 6">
            <a:extLst>
              <a:ext uri="{FF2B5EF4-FFF2-40B4-BE49-F238E27FC236}">
                <a16:creationId xmlns:a16="http://schemas.microsoft.com/office/drawing/2014/main" id="{4A2E1DE0-7AD4-4C07-8A17-93ACC939CD98}"/>
              </a:ext>
            </a:extLst>
          </p:cNvPr>
          <p:cNvSpPr>
            <a:spLocks noChangeArrowheads="1"/>
          </p:cNvSpPr>
          <p:nvPr/>
        </p:nvSpPr>
        <p:spPr bwMode="auto">
          <a:xfrm>
            <a:off x="3625850" y="3766070"/>
            <a:ext cx="9461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0"/>
            <a:r>
              <a:rPr lang="zh-CN" altLang="en-US" sz="1400" dirty="0">
                <a:solidFill>
                  <a:srgbClr val="FF0000"/>
                </a:solidFill>
                <a:latin typeface="Times New Roman" panose="02020603050405020304" pitchFamily="18" charset="0"/>
                <a:ea typeface="黑体" panose="02010609060101010101" pitchFamily="49" charset="-122"/>
              </a:rPr>
              <a:t>扩散区</a:t>
            </a:r>
          </a:p>
        </p:txBody>
      </p:sp>
    </p:spTree>
    <p:extLst>
      <p:ext uri="{BB962C8B-B14F-4D97-AF65-F5344CB8AC3E}">
        <p14:creationId xmlns:p14="http://schemas.microsoft.com/office/powerpoint/2010/main" val="9566134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a:extLst>
              <a:ext uri="{FF2B5EF4-FFF2-40B4-BE49-F238E27FC236}">
                <a16:creationId xmlns:a16="http://schemas.microsoft.com/office/drawing/2014/main" id="{F9A6DD7D-7745-4364-95F9-9D49CDFAA8B2}"/>
              </a:ext>
            </a:extLst>
          </p:cNvPr>
          <p:cNvSpPr>
            <a:spLocks noChangeArrowheads="1"/>
          </p:cNvSpPr>
          <p:nvPr/>
        </p:nvSpPr>
        <p:spPr bwMode="auto">
          <a:xfrm>
            <a:off x="258830" y="201118"/>
            <a:ext cx="8308032" cy="1961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914400" fontAlgn="base">
              <a:lnSpc>
                <a:spcPct val="130000"/>
              </a:lnSpc>
              <a:spcBef>
                <a:spcPct val="0"/>
              </a:spcBef>
              <a:spcAft>
                <a:spcPct val="0"/>
              </a:spcAft>
            </a:pPr>
            <a:r>
              <a:rPr kumimoji="1" lang="zh-CN" altLang="en-US" sz="2400" b="1" dirty="0">
                <a:solidFill>
                  <a:srgbClr val="000066"/>
                </a:solidFill>
                <a:latin typeface="Times New Roman" panose="02020603050405020304" pitchFamily="18" charset="0"/>
                <a:ea typeface="宋体" panose="02010600030101010101" pitchFamily="2" charset="-122"/>
              </a:rPr>
              <a:t>各种机制电流的大小在</a:t>
            </a:r>
            <a:r>
              <a:rPr kumimoji="1" lang="en-US" altLang="zh-CN" sz="2400" b="1" dirty="0">
                <a:solidFill>
                  <a:srgbClr val="000066"/>
                </a:solidFill>
                <a:latin typeface="Times New Roman" panose="02020603050405020304" pitchFamily="18" charset="0"/>
                <a:ea typeface="宋体" panose="02010600030101010101" pitchFamily="2" charset="-122"/>
              </a:rPr>
              <a:t>PN</a:t>
            </a:r>
            <a:r>
              <a:rPr kumimoji="1" lang="zh-CN" altLang="en-US" sz="2400" b="1" dirty="0">
                <a:solidFill>
                  <a:srgbClr val="000066"/>
                </a:solidFill>
                <a:latin typeface="Times New Roman" panose="02020603050405020304" pitchFamily="18" charset="0"/>
                <a:ea typeface="宋体" panose="02010600030101010101" pitchFamily="2" charset="-122"/>
              </a:rPr>
              <a:t>结附近扩散区域内的各处是不相等的，但</a:t>
            </a:r>
            <a:r>
              <a:rPr kumimoji="1" lang="zh-CN" altLang="en-US" sz="2400" b="1" dirty="0">
                <a:solidFill>
                  <a:srgbClr val="FF0000"/>
                </a:solidFill>
                <a:latin typeface="Times New Roman" panose="02020603050405020304" pitchFamily="18" charset="0"/>
                <a:ea typeface="宋体" panose="02010600030101010101" pitchFamily="2" charset="-122"/>
              </a:rPr>
              <a:t>其总和始终相等</a:t>
            </a:r>
            <a:r>
              <a:rPr kumimoji="1" lang="zh-CN" altLang="en-US" sz="2400" b="1" dirty="0">
                <a:solidFill>
                  <a:srgbClr val="000066"/>
                </a:solidFill>
                <a:latin typeface="Times New Roman" panose="02020603050405020304" pitchFamily="18" charset="0"/>
                <a:ea typeface="宋体" panose="02010600030101010101" pitchFamily="2" charset="-122"/>
              </a:rPr>
              <a:t>。说明电流转换并非电流的中断，</a:t>
            </a:r>
            <a:r>
              <a:rPr lang="zh-CN" altLang="en-US" sz="2400" b="1" dirty="0">
                <a:solidFill>
                  <a:srgbClr val="000000"/>
                </a:solidFill>
                <a:latin typeface="宋体" panose="02010600030101010101" pitchFamily="2" charset="-122"/>
                <a:ea typeface="宋体" panose="02010600030101010101" pitchFamily="2" charset="-122"/>
              </a:rPr>
              <a:t>而仅仅是电流</a:t>
            </a:r>
            <a:r>
              <a:rPr kumimoji="1" lang="zh-CN" altLang="en-US" sz="2400" b="1" dirty="0">
                <a:solidFill>
                  <a:srgbClr val="FF0000"/>
                </a:solidFill>
                <a:latin typeface="Times New Roman" panose="02020603050405020304" pitchFamily="18" charset="0"/>
                <a:ea typeface="宋体" panose="02010600030101010101" pitchFamily="2" charset="-122"/>
              </a:rPr>
              <a:t>的具体形式和载流子类型的改变</a:t>
            </a:r>
            <a:r>
              <a:rPr kumimoji="1" lang="zh-CN" altLang="en-US" sz="2400" b="1" dirty="0">
                <a:solidFill>
                  <a:srgbClr val="000066"/>
                </a:solidFill>
                <a:latin typeface="Times New Roman" panose="02020603050405020304" pitchFamily="18" charset="0"/>
                <a:ea typeface="宋体" panose="02010600030101010101" pitchFamily="2" charset="-122"/>
              </a:rPr>
              <a:t>，因此，</a:t>
            </a:r>
            <a:r>
              <a:rPr kumimoji="1" lang="en-US" altLang="zh-CN" sz="2400" b="1" dirty="0">
                <a:solidFill>
                  <a:srgbClr val="FF0000"/>
                </a:solidFill>
                <a:latin typeface="Times New Roman" panose="02020603050405020304" pitchFamily="18" charset="0"/>
                <a:ea typeface="宋体" panose="02010600030101010101" pitchFamily="2" charset="-122"/>
              </a:rPr>
              <a:t>PN</a:t>
            </a:r>
            <a:r>
              <a:rPr kumimoji="1" lang="zh-CN" altLang="en-US" sz="2400" b="1" dirty="0">
                <a:solidFill>
                  <a:srgbClr val="FF0000"/>
                </a:solidFill>
                <a:latin typeface="Times New Roman" panose="02020603050405020304" pitchFamily="18" charset="0"/>
                <a:ea typeface="宋体" panose="02010600030101010101" pitchFamily="2" charset="-122"/>
              </a:rPr>
              <a:t>结内的电流是连续的</a:t>
            </a:r>
            <a:r>
              <a:rPr kumimoji="1" lang="zh-CN" altLang="en-US" sz="2400" b="1" dirty="0">
                <a:solidFill>
                  <a:srgbClr val="000066"/>
                </a:solidFill>
                <a:latin typeface="Times New Roman" panose="02020603050405020304" pitchFamily="18" charset="0"/>
                <a:ea typeface="宋体" panose="02010600030101010101" pitchFamily="2" charset="-122"/>
              </a:rPr>
              <a:t>。</a:t>
            </a:r>
          </a:p>
        </p:txBody>
      </p:sp>
      <p:pic>
        <p:nvPicPr>
          <p:cNvPr id="20" name="Picture 3">
            <a:extLst>
              <a:ext uri="{FF2B5EF4-FFF2-40B4-BE49-F238E27FC236}">
                <a16:creationId xmlns:a16="http://schemas.microsoft.com/office/drawing/2014/main" id="{C8589FA3-9148-4DE3-99CB-745E7447E1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909" y="2530570"/>
            <a:ext cx="7216108" cy="125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Rectangle 4">
            <a:extLst>
              <a:ext uri="{FF2B5EF4-FFF2-40B4-BE49-F238E27FC236}">
                <a16:creationId xmlns:a16="http://schemas.microsoft.com/office/drawing/2014/main" id="{BB6EB2B4-45D6-4720-8B0B-EFA9B33DB3A4}"/>
              </a:ext>
            </a:extLst>
          </p:cNvPr>
          <p:cNvSpPr>
            <a:spLocks noChangeArrowheads="1"/>
          </p:cNvSpPr>
          <p:nvPr/>
        </p:nvSpPr>
        <p:spPr bwMode="auto">
          <a:xfrm>
            <a:off x="258830" y="2069692"/>
            <a:ext cx="5570756" cy="57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lnSpc>
                <a:spcPct val="130000"/>
              </a:lnSpc>
              <a:spcBef>
                <a:spcPct val="0"/>
              </a:spcBef>
              <a:spcAft>
                <a:spcPct val="0"/>
              </a:spcAft>
            </a:pPr>
            <a:r>
              <a:rPr kumimoji="1" lang="zh-CN" altLang="en-US" sz="2800" dirty="0">
                <a:solidFill>
                  <a:srgbClr val="0000FF"/>
                </a:solidFill>
                <a:latin typeface="黑体" panose="02010609060101010101" pitchFamily="49" charset="-122"/>
                <a:ea typeface="黑体" panose="02010609060101010101" pitchFamily="49" charset="-122"/>
              </a:rPr>
              <a:t>通过</a:t>
            </a:r>
            <a:r>
              <a:rPr kumimoji="1" lang="en-US" altLang="zh-CN" sz="2800" dirty="0">
                <a:solidFill>
                  <a:srgbClr val="0000FF"/>
                </a:solidFill>
                <a:latin typeface="黑体" panose="02010609060101010101" pitchFamily="49" charset="-122"/>
                <a:ea typeface="黑体" panose="02010609060101010101" pitchFamily="49" charset="-122"/>
              </a:rPr>
              <a:t>PN</a:t>
            </a:r>
            <a:r>
              <a:rPr kumimoji="1" lang="zh-CN" altLang="en-US" sz="2800" dirty="0">
                <a:solidFill>
                  <a:srgbClr val="0000FF"/>
                </a:solidFill>
                <a:latin typeface="黑体" panose="02010609060101010101" pitchFamily="49" charset="-122"/>
                <a:ea typeface="黑体" panose="02010609060101010101" pitchFamily="49" charset="-122"/>
              </a:rPr>
              <a:t>结任意截面的电流都一样：</a:t>
            </a:r>
          </a:p>
        </p:txBody>
      </p:sp>
      <p:grpSp>
        <p:nvGrpSpPr>
          <p:cNvPr id="22" name="Group 5">
            <a:extLst>
              <a:ext uri="{FF2B5EF4-FFF2-40B4-BE49-F238E27FC236}">
                <a16:creationId xmlns:a16="http://schemas.microsoft.com/office/drawing/2014/main" id="{660AA998-642A-44A8-89D1-D17B5F5CD64C}"/>
              </a:ext>
            </a:extLst>
          </p:cNvPr>
          <p:cNvGrpSpPr>
            <a:grpSpLocks/>
          </p:cNvGrpSpPr>
          <p:nvPr/>
        </p:nvGrpSpPr>
        <p:grpSpPr bwMode="auto">
          <a:xfrm>
            <a:off x="1691680" y="3740645"/>
            <a:ext cx="5943600" cy="2916237"/>
            <a:chOff x="1776" y="1680"/>
            <a:chExt cx="3984" cy="2077"/>
          </a:xfrm>
        </p:grpSpPr>
        <p:pic>
          <p:nvPicPr>
            <p:cNvPr id="23" name="Picture 6">
              <a:extLst>
                <a:ext uri="{FF2B5EF4-FFF2-40B4-BE49-F238E27FC236}">
                  <a16:creationId xmlns:a16="http://schemas.microsoft.com/office/drawing/2014/main" id="{631AA5E6-39B8-4C55-A959-DAFDA9ADD4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 y="1680"/>
              <a:ext cx="3984" cy="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Rectangle 7">
              <a:extLst>
                <a:ext uri="{FF2B5EF4-FFF2-40B4-BE49-F238E27FC236}">
                  <a16:creationId xmlns:a16="http://schemas.microsoft.com/office/drawing/2014/main" id="{592486EA-8A6B-45D2-AD86-C99EE6565837}"/>
                </a:ext>
              </a:extLst>
            </p:cNvPr>
            <p:cNvSpPr>
              <a:spLocks noChangeArrowheads="1"/>
            </p:cNvSpPr>
            <p:nvPr/>
          </p:nvSpPr>
          <p:spPr bwMode="auto">
            <a:xfrm>
              <a:off x="2256" y="2976"/>
              <a:ext cx="736"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kumimoji="1" lang="zh-CN" altLang="en-US">
                  <a:solidFill>
                    <a:srgbClr val="FF0000"/>
                  </a:solidFill>
                  <a:latin typeface="Times New Roman" panose="02020603050405020304" pitchFamily="18" charset="0"/>
                  <a:ea typeface="黑体" panose="02010609060101010101" pitchFamily="49" charset="-122"/>
                </a:rPr>
                <a:t>漂移电流</a:t>
              </a:r>
            </a:p>
          </p:txBody>
        </p:sp>
        <p:sp>
          <p:nvSpPr>
            <p:cNvPr id="25" name="Rectangle 8">
              <a:extLst>
                <a:ext uri="{FF2B5EF4-FFF2-40B4-BE49-F238E27FC236}">
                  <a16:creationId xmlns:a16="http://schemas.microsoft.com/office/drawing/2014/main" id="{531AD03E-10A6-48D5-BECD-656D0E0DA4D4}"/>
                </a:ext>
              </a:extLst>
            </p:cNvPr>
            <p:cNvSpPr>
              <a:spLocks noChangeArrowheads="1"/>
            </p:cNvSpPr>
            <p:nvPr/>
          </p:nvSpPr>
          <p:spPr bwMode="auto">
            <a:xfrm>
              <a:off x="4464" y="2640"/>
              <a:ext cx="736"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kumimoji="1" lang="zh-CN" altLang="en-US">
                  <a:solidFill>
                    <a:srgbClr val="FF0000"/>
                  </a:solidFill>
                  <a:latin typeface="Times New Roman" panose="02020603050405020304" pitchFamily="18" charset="0"/>
                  <a:ea typeface="黑体" panose="02010609060101010101" pitchFamily="49" charset="-122"/>
                </a:rPr>
                <a:t>漂移电流</a:t>
              </a:r>
            </a:p>
          </p:txBody>
        </p:sp>
        <p:sp>
          <p:nvSpPr>
            <p:cNvPr id="26" name="Oval 9">
              <a:extLst>
                <a:ext uri="{FF2B5EF4-FFF2-40B4-BE49-F238E27FC236}">
                  <a16:creationId xmlns:a16="http://schemas.microsoft.com/office/drawing/2014/main" id="{467F0AF8-BD83-4A5B-8EA2-0A50FE132594}"/>
                </a:ext>
              </a:extLst>
            </p:cNvPr>
            <p:cNvSpPr>
              <a:spLocks noChangeArrowheads="1"/>
            </p:cNvSpPr>
            <p:nvPr/>
          </p:nvSpPr>
          <p:spPr bwMode="auto">
            <a:xfrm>
              <a:off x="3888" y="3216"/>
              <a:ext cx="192" cy="336"/>
            </a:xfrm>
            <a:prstGeom prst="ellipse">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latinLnBrk="1">
                <a:spcBef>
                  <a:spcPct val="0"/>
                </a:spcBef>
                <a:spcAft>
                  <a:spcPct val="0"/>
                </a:spcAft>
              </a:pPr>
              <a:endParaRPr kumimoji="1" lang="zh-CN" altLang="en-US" sz="2400">
                <a:solidFill>
                  <a:srgbClr val="000000"/>
                </a:solidFill>
                <a:latin typeface="宋体" panose="02010600030101010101" pitchFamily="2" charset="-122"/>
                <a:ea typeface="宋体" panose="02010600030101010101" pitchFamily="2" charset="-122"/>
              </a:endParaRPr>
            </a:p>
          </p:txBody>
        </p:sp>
        <p:sp>
          <p:nvSpPr>
            <p:cNvPr id="27" name="Oval 10">
              <a:extLst>
                <a:ext uri="{FF2B5EF4-FFF2-40B4-BE49-F238E27FC236}">
                  <a16:creationId xmlns:a16="http://schemas.microsoft.com/office/drawing/2014/main" id="{7CB4F204-B1B2-4135-93A6-E2CFB95DED37}"/>
                </a:ext>
              </a:extLst>
            </p:cNvPr>
            <p:cNvSpPr>
              <a:spLocks noChangeArrowheads="1"/>
            </p:cNvSpPr>
            <p:nvPr/>
          </p:nvSpPr>
          <p:spPr bwMode="auto">
            <a:xfrm>
              <a:off x="3408" y="2256"/>
              <a:ext cx="192" cy="384"/>
            </a:xfrm>
            <a:prstGeom prst="ellipse">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latinLnBrk="1">
                <a:spcBef>
                  <a:spcPct val="0"/>
                </a:spcBef>
                <a:spcAft>
                  <a:spcPct val="0"/>
                </a:spcAft>
              </a:pPr>
              <a:endParaRPr kumimoji="1" lang="zh-CN" altLang="en-US" sz="2400">
                <a:solidFill>
                  <a:srgbClr val="000000"/>
                </a:solidFill>
                <a:latin typeface="宋体" panose="02010600030101010101" pitchFamily="2" charset="-122"/>
                <a:ea typeface="宋体" panose="02010600030101010101" pitchFamily="2" charset="-122"/>
              </a:endParaRPr>
            </a:p>
          </p:txBody>
        </p:sp>
        <p:sp>
          <p:nvSpPr>
            <p:cNvPr id="28" name="Oval 11">
              <a:extLst>
                <a:ext uri="{FF2B5EF4-FFF2-40B4-BE49-F238E27FC236}">
                  <a16:creationId xmlns:a16="http://schemas.microsoft.com/office/drawing/2014/main" id="{ECC6FC54-C368-46B0-B8CA-88207942B41C}"/>
                </a:ext>
              </a:extLst>
            </p:cNvPr>
            <p:cNvSpPr>
              <a:spLocks noChangeArrowheads="1"/>
            </p:cNvSpPr>
            <p:nvPr/>
          </p:nvSpPr>
          <p:spPr bwMode="auto">
            <a:xfrm>
              <a:off x="3408" y="3216"/>
              <a:ext cx="192" cy="336"/>
            </a:xfrm>
            <a:prstGeom prst="ellipse">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latinLnBrk="1">
                <a:spcBef>
                  <a:spcPct val="0"/>
                </a:spcBef>
                <a:spcAft>
                  <a:spcPct val="0"/>
                </a:spcAft>
              </a:pPr>
              <a:endParaRPr kumimoji="1" lang="zh-CN" altLang="en-US" sz="2400">
                <a:solidFill>
                  <a:srgbClr val="000000"/>
                </a:solidFill>
                <a:latin typeface="宋体" panose="02010600030101010101" pitchFamily="2" charset="-122"/>
                <a:ea typeface="宋体" panose="02010600030101010101" pitchFamily="2" charset="-122"/>
              </a:endParaRPr>
            </a:p>
          </p:txBody>
        </p:sp>
        <p:sp>
          <p:nvSpPr>
            <p:cNvPr id="29" name="Oval 12">
              <a:extLst>
                <a:ext uri="{FF2B5EF4-FFF2-40B4-BE49-F238E27FC236}">
                  <a16:creationId xmlns:a16="http://schemas.microsoft.com/office/drawing/2014/main" id="{14D9C545-C341-46DA-90C5-220B04753D88}"/>
                </a:ext>
              </a:extLst>
            </p:cNvPr>
            <p:cNvSpPr>
              <a:spLocks noChangeArrowheads="1"/>
            </p:cNvSpPr>
            <p:nvPr/>
          </p:nvSpPr>
          <p:spPr bwMode="auto">
            <a:xfrm>
              <a:off x="3888" y="2256"/>
              <a:ext cx="192" cy="336"/>
            </a:xfrm>
            <a:prstGeom prst="ellipse">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latinLnBrk="1">
                <a:spcBef>
                  <a:spcPct val="0"/>
                </a:spcBef>
                <a:spcAft>
                  <a:spcPct val="0"/>
                </a:spcAft>
              </a:pPr>
              <a:endParaRPr kumimoji="1" lang="zh-CN" altLang="en-US" sz="2400">
                <a:solidFill>
                  <a:srgbClr val="000000"/>
                </a:solidFill>
                <a:latin typeface="宋体" panose="02010600030101010101" pitchFamily="2" charset="-122"/>
                <a:ea typeface="宋体" panose="02010600030101010101" pitchFamily="2" charset="-122"/>
              </a:endParaRPr>
            </a:p>
          </p:txBody>
        </p:sp>
        <p:sp>
          <p:nvSpPr>
            <p:cNvPr id="30" name="Rectangle 13">
              <a:extLst>
                <a:ext uri="{FF2B5EF4-FFF2-40B4-BE49-F238E27FC236}">
                  <a16:creationId xmlns:a16="http://schemas.microsoft.com/office/drawing/2014/main" id="{86BEAC0B-2A67-4DA0-B1A3-9749976D995A}"/>
                </a:ext>
              </a:extLst>
            </p:cNvPr>
            <p:cNvSpPr>
              <a:spLocks noChangeArrowheads="1"/>
            </p:cNvSpPr>
            <p:nvPr/>
          </p:nvSpPr>
          <p:spPr bwMode="auto">
            <a:xfrm>
              <a:off x="2879" y="2304"/>
              <a:ext cx="737"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kumimoji="1" lang="zh-CN" altLang="en-US" dirty="0">
                  <a:solidFill>
                    <a:srgbClr val="0000FF"/>
                  </a:solidFill>
                  <a:latin typeface="Times New Roman" panose="02020603050405020304" pitchFamily="18" charset="0"/>
                  <a:ea typeface="黑体" panose="02010609060101010101" pitchFamily="49" charset="-122"/>
                </a:rPr>
                <a:t>扩散电流</a:t>
              </a:r>
            </a:p>
          </p:txBody>
        </p:sp>
        <p:sp>
          <p:nvSpPr>
            <p:cNvPr id="31" name="Rectangle 14">
              <a:extLst>
                <a:ext uri="{FF2B5EF4-FFF2-40B4-BE49-F238E27FC236}">
                  <a16:creationId xmlns:a16="http://schemas.microsoft.com/office/drawing/2014/main" id="{F41C2AC8-3DD7-4E3C-8CBC-9F383F29B15F}"/>
                </a:ext>
              </a:extLst>
            </p:cNvPr>
            <p:cNvSpPr>
              <a:spLocks noChangeArrowheads="1"/>
            </p:cNvSpPr>
            <p:nvPr/>
          </p:nvSpPr>
          <p:spPr bwMode="auto">
            <a:xfrm>
              <a:off x="3600" y="3168"/>
              <a:ext cx="736"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kumimoji="1" lang="zh-CN" altLang="en-US">
                  <a:solidFill>
                    <a:srgbClr val="0000FF"/>
                  </a:solidFill>
                  <a:latin typeface="Times New Roman" panose="02020603050405020304" pitchFamily="18" charset="0"/>
                  <a:ea typeface="黑体" panose="02010609060101010101" pitchFamily="49" charset="-122"/>
                </a:rPr>
                <a:t>扩散电流</a:t>
              </a:r>
            </a:p>
          </p:txBody>
        </p:sp>
        <p:sp>
          <p:nvSpPr>
            <p:cNvPr id="32" name="Rectangle 15">
              <a:extLst>
                <a:ext uri="{FF2B5EF4-FFF2-40B4-BE49-F238E27FC236}">
                  <a16:creationId xmlns:a16="http://schemas.microsoft.com/office/drawing/2014/main" id="{3F0FA88F-8A33-416A-9E26-E0F6CFA8FCBD}"/>
                </a:ext>
              </a:extLst>
            </p:cNvPr>
            <p:cNvSpPr>
              <a:spLocks noChangeArrowheads="1"/>
            </p:cNvSpPr>
            <p:nvPr/>
          </p:nvSpPr>
          <p:spPr bwMode="auto">
            <a:xfrm>
              <a:off x="3120" y="2784"/>
              <a:ext cx="430"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kumimoji="1" lang="zh-CN" altLang="en-US">
                  <a:solidFill>
                    <a:srgbClr val="0000FF"/>
                  </a:solidFill>
                  <a:latin typeface="Times New Roman" panose="02020603050405020304" pitchFamily="18" charset="0"/>
                  <a:ea typeface="黑体" panose="02010609060101010101" pitchFamily="49" charset="-122"/>
                </a:rPr>
                <a:t>复合</a:t>
              </a:r>
            </a:p>
          </p:txBody>
        </p:sp>
        <p:sp>
          <p:nvSpPr>
            <p:cNvPr id="33" name="Rectangle 16">
              <a:extLst>
                <a:ext uri="{FF2B5EF4-FFF2-40B4-BE49-F238E27FC236}">
                  <a16:creationId xmlns:a16="http://schemas.microsoft.com/office/drawing/2014/main" id="{00CF7663-206C-4251-9EF9-FE1BD32F924C}"/>
                </a:ext>
              </a:extLst>
            </p:cNvPr>
            <p:cNvSpPr>
              <a:spLocks noChangeArrowheads="1"/>
            </p:cNvSpPr>
            <p:nvPr/>
          </p:nvSpPr>
          <p:spPr bwMode="auto">
            <a:xfrm>
              <a:off x="3984" y="2784"/>
              <a:ext cx="430"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kumimoji="1" lang="zh-CN" altLang="en-US">
                  <a:solidFill>
                    <a:srgbClr val="0000FF"/>
                  </a:solidFill>
                  <a:latin typeface="Times New Roman" panose="02020603050405020304" pitchFamily="18" charset="0"/>
                  <a:ea typeface="黑体" panose="02010609060101010101" pitchFamily="49" charset="-122"/>
                </a:rPr>
                <a:t>复合</a:t>
              </a:r>
            </a:p>
          </p:txBody>
        </p:sp>
        <p:sp>
          <p:nvSpPr>
            <p:cNvPr id="34" name="Line 17">
              <a:extLst>
                <a:ext uri="{FF2B5EF4-FFF2-40B4-BE49-F238E27FC236}">
                  <a16:creationId xmlns:a16="http://schemas.microsoft.com/office/drawing/2014/main" id="{66272A85-7678-49E8-8DE6-84054930DE87}"/>
                </a:ext>
              </a:extLst>
            </p:cNvPr>
            <p:cNvSpPr>
              <a:spLocks noChangeShapeType="1"/>
            </p:cNvSpPr>
            <p:nvPr/>
          </p:nvSpPr>
          <p:spPr bwMode="auto">
            <a:xfrm>
              <a:off x="3456" y="2736"/>
              <a:ext cx="288" cy="0"/>
            </a:xfrm>
            <a:prstGeom prst="line">
              <a:avLst/>
            </a:prstGeom>
            <a:noFill/>
            <a:ln w="38100">
              <a:solidFill>
                <a:srgbClr val="FF0000"/>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latinLnBrk="1">
                <a:spcBef>
                  <a:spcPct val="0"/>
                </a:spcBef>
                <a:spcAft>
                  <a:spcPct val="0"/>
                </a:spcAft>
              </a:pPr>
              <a:endParaRPr kumimoji="1" lang="zh-CN" altLang="en-US" sz="2400">
                <a:solidFill>
                  <a:srgbClr val="000000"/>
                </a:solidFill>
                <a:latin typeface="宋体" panose="02010600030101010101" pitchFamily="2" charset="-122"/>
                <a:ea typeface="宋体" panose="02010600030101010101" pitchFamily="2" charset="-122"/>
              </a:endParaRPr>
            </a:p>
          </p:txBody>
        </p:sp>
        <p:sp>
          <p:nvSpPr>
            <p:cNvPr id="35" name="Line 18">
              <a:extLst>
                <a:ext uri="{FF2B5EF4-FFF2-40B4-BE49-F238E27FC236}">
                  <a16:creationId xmlns:a16="http://schemas.microsoft.com/office/drawing/2014/main" id="{3AC2EBF9-06BA-4B35-8136-CCF9DECCFAB6}"/>
                </a:ext>
              </a:extLst>
            </p:cNvPr>
            <p:cNvSpPr>
              <a:spLocks noChangeShapeType="1"/>
            </p:cNvSpPr>
            <p:nvPr/>
          </p:nvSpPr>
          <p:spPr bwMode="auto">
            <a:xfrm>
              <a:off x="3792" y="3072"/>
              <a:ext cx="288" cy="0"/>
            </a:xfrm>
            <a:prstGeom prst="line">
              <a:avLst/>
            </a:prstGeom>
            <a:noFill/>
            <a:ln w="38100">
              <a:solidFill>
                <a:srgbClr val="FF0000"/>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fontAlgn="base" latinLnBrk="1">
                <a:spcBef>
                  <a:spcPct val="0"/>
                </a:spcBef>
                <a:spcAft>
                  <a:spcPct val="0"/>
                </a:spcAft>
              </a:pPr>
              <a:endParaRPr kumimoji="1" lang="zh-CN" altLang="en-US" sz="2400">
                <a:solidFill>
                  <a:srgbClr val="000000"/>
                </a:solidFill>
                <a:latin typeface="宋体" panose="02010600030101010101" pitchFamily="2" charset="-122"/>
                <a:ea typeface="宋体" panose="02010600030101010101" pitchFamily="2" charset="-122"/>
              </a:endParaRPr>
            </a:p>
          </p:txBody>
        </p:sp>
      </p:grpSp>
      <p:sp>
        <p:nvSpPr>
          <p:cNvPr id="2" name="文本框 1">
            <a:extLst>
              <a:ext uri="{FF2B5EF4-FFF2-40B4-BE49-F238E27FC236}">
                <a16:creationId xmlns:a16="http://schemas.microsoft.com/office/drawing/2014/main" id="{C1D795BD-CA2F-451B-BC34-C8BEE6F1A9C2}"/>
              </a:ext>
            </a:extLst>
          </p:cNvPr>
          <p:cNvSpPr txBox="1"/>
          <p:nvPr/>
        </p:nvSpPr>
        <p:spPr>
          <a:xfrm>
            <a:off x="2736389" y="3372436"/>
            <a:ext cx="2249334" cy="400110"/>
          </a:xfrm>
          <a:prstGeom prst="rect">
            <a:avLst/>
          </a:prstGeom>
          <a:noFill/>
        </p:spPr>
        <p:txBody>
          <a:bodyPr wrap="none" rtlCol="0">
            <a:spAutoFit/>
          </a:bodyPr>
          <a:lstStyle/>
          <a:p>
            <a:r>
              <a:rPr lang="zh-CN" altLang="en-US" sz="2000" b="1" dirty="0">
                <a:latin typeface="宋体" panose="02010600030101010101" pitchFamily="2" charset="-122"/>
                <a:ea typeface="宋体" panose="02010600030101010101" pitchFamily="2" charset="-122"/>
              </a:rPr>
              <a:t>（选边界最方便）</a:t>
            </a:r>
          </a:p>
        </p:txBody>
      </p:sp>
    </p:spTree>
    <p:extLst>
      <p:ext uri="{BB962C8B-B14F-4D97-AF65-F5344CB8AC3E}">
        <p14:creationId xmlns:p14="http://schemas.microsoft.com/office/powerpoint/2010/main" val="18815555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4566C9C9-2C11-4443-8EEB-3E8CD3DEE9F5}"/>
              </a:ext>
            </a:extLst>
          </p:cNvPr>
          <p:cNvSpPr>
            <a:spLocks noChangeArrowheads="1"/>
          </p:cNvSpPr>
          <p:nvPr/>
        </p:nvSpPr>
        <p:spPr bwMode="auto">
          <a:xfrm>
            <a:off x="609600" y="1066800"/>
            <a:ext cx="7467600" cy="4694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lnSpc>
                <a:spcPct val="120000"/>
              </a:lnSpc>
              <a:spcBef>
                <a:spcPct val="0"/>
              </a:spcBef>
              <a:spcAft>
                <a:spcPct val="0"/>
              </a:spcAft>
            </a:pPr>
            <a:r>
              <a:rPr lang="zh-CN" altLang="en-US" sz="2800" b="1" dirty="0">
                <a:solidFill>
                  <a:srgbClr val="FF0000"/>
                </a:solidFill>
                <a:latin typeface="Arial" panose="020B0604020202020204" pitchFamily="34" charset="0"/>
                <a:ea typeface="宋体" panose="02010600030101010101" pitchFamily="2" charset="-122"/>
              </a:rPr>
              <a:t>要进一步研究</a:t>
            </a:r>
            <a:r>
              <a:rPr lang="en-US" altLang="zh-CN" sz="2800" b="1" dirty="0">
                <a:solidFill>
                  <a:srgbClr val="FF0000"/>
                </a:solidFill>
                <a:latin typeface="Arial" panose="020B0604020202020204" pitchFamily="34" charset="0"/>
                <a:ea typeface="宋体" panose="02010600030101010101" pitchFamily="2" charset="-122"/>
              </a:rPr>
              <a:t>PN</a:t>
            </a:r>
            <a:r>
              <a:rPr lang="zh-CN" altLang="en-US" sz="2800" b="1" dirty="0">
                <a:solidFill>
                  <a:srgbClr val="FF0000"/>
                </a:solidFill>
                <a:latin typeface="Arial" panose="020B0604020202020204" pitchFamily="34" charset="0"/>
                <a:ea typeface="宋体" panose="02010600030101010101" pitchFamily="2" charset="-122"/>
              </a:rPr>
              <a:t>结的电流输运情况，需要解决以下问题：</a:t>
            </a:r>
            <a:endParaRPr lang="en-US" altLang="zh-CN" sz="2800" b="1" dirty="0">
              <a:solidFill>
                <a:srgbClr val="FF0000"/>
              </a:solidFill>
              <a:latin typeface="Arial" panose="020B0604020202020204" pitchFamily="34" charset="0"/>
              <a:ea typeface="宋体" panose="02010600030101010101" pitchFamily="2" charset="-122"/>
            </a:endParaRPr>
          </a:p>
          <a:p>
            <a:pPr defTabSz="914400" fontAlgn="base">
              <a:lnSpc>
                <a:spcPct val="120000"/>
              </a:lnSpc>
              <a:spcBef>
                <a:spcPct val="0"/>
              </a:spcBef>
              <a:spcAft>
                <a:spcPct val="0"/>
              </a:spcAft>
            </a:pPr>
            <a:endParaRPr lang="zh-CN" altLang="en-US" sz="2800" b="1" dirty="0">
              <a:solidFill>
                <a:srgbClr val="000000"/>
              </a:solidFill>
              <a:latin typeface="Arial" panose="020B0604020202020204" pitchFamily="34" charset="0"/>
              <a:ea typeface="宋体" panose="02010600030101010101" pitchFamily="2" charset="-122"/>
            </a:endParaRPr>
          </a:p>
          <a:p>
            <a:pPr defTabSz="914400" fontAlgn="base">
              <a:lnSpc>
                <a:spcPct val="120000"/>
              </a:lnSpc>
              <a:spcBef>
                <a:spcPct val="0"/>
              </a:spcBef>
              <a:spcAft>
                <a:spcPct val="0"/>
              </a:spcAft>
            </a:pPr>
            <a:r>
              <a:rPr lang="en-US" altLang="zh-CN" sz="2800" b="1" dirty="0">
                <a:solidFill>
                  <a:srgbClr val="000000"/>
                </a:solidFill>
                <a:latin typeface="Arial" panose="020B0604020202020204" pitchFamily="34" charset="0"/>
                <a:ea typeface="宋体" panose="02010600030101010101" pitchFamily="2" charset="-122"/>
              </a:rPr>
              <a:t>1.</a:t>
            </a:r>
            <a:r>
              <a:rPr lang="zh-CN" altLang="en-US" sz="2800" b="1" dirty="0">
                <a:solidFill>
                  <a:srgbClr val="000000"/>
                </a:solidFill>
                <a:latin typeface="Arial" panose="020B0604020202020204" pitchFamily="34" charset="0"/>
                <a:ea typeface="宋体" panose="02010600030101010101" pitchFamily="2" charset="-122"/>
              </a:rPr>
              <a:t>计算空间电荷区边界处的少子浓度</a:t>
            </a:r>
          </a:p>
          <a:p>
            <a:pPr defTabSz="914400" fontAlgn="base">
              <a:lnSpc>
                <a:spcPct val="120000"/>
              </a:lnSpc>
              <a:spcBef>
                <a:spcPct val="0"/>
              </a:spcBef>
              <a:spcAft>
                <a:spcPct val="0"/>
              </a:spcAft>
            </a:pPr>
            <a:r>
              <a:rPr lang="en-US" altLang="zh-CN" sz="2800" b="1" dirty="0">
                <a:solidFill>
                  <a:srgbClr val="000000"/>
                </a:solidFill>
                <a:latin typeface="Arial" panose="020B0604020202020204" pitchFamily="34" charset="0"/>
                <a:ea typeface="宋体" panose="02010600030101010101" pitchFamily="2" charset="-122"/>
              </a:rPr>
              <a:t>2.</a:t>
            </a:r>
            <a:r>
              <a:rPr lang="zh-CN" altLang="en-US" sz="2800" b="1" dirty="0">
                <a:solidFill>
                  <a:srgbClr val="000000"/>
                </a:solidFill>
                <a:latin typeface="Arial" panose="020B0604020202020204" pitchFamily="34" charset="0"/>
                <a:ea typeface="宋体" panose="02010600030101010101" pitchFamily="2" charset="-122"/>
              </a:rPr>
              <a:t>计算中性区（扩散长度内）少子浓度的空间分布</a:t>
            </a:r>
          </a:p>
          <a:p>
            <a:pPr defTabSz="914400" fontAlgn="base">
              <a:lnSpc>
                <a:spcPct val="120000"/>
              </a:lnSpc>
              <a:spcBef>
                <a:spcPct val="0"/>
              </a:spcBef>
              <a:spcAft>
                <a:spcPct val="0"/>
              </a:spcAft>
            </a:pPr>
            <a:r>
              <a:rPr lang="en-US" altLang="zh-CN" sz="2800" b="1" dirty="0">
                <a:solidFill>
                  <a:srgbClr val="000000"/>
                </a:solidFill>
                <a:latin typeface="Arial" panose="020B0604020202020204" pitchFamily="34" charset="0"/>
                <a:ea typeface="宋体" panose="02010600030101010101" pitchFamily="2" charset="-122"/>
              </a:rPr>
              <a:t>3.</a:t>
            </a:r>
            <a:r>
              <a:rPr lang="zh-CN" altLang="en-US" sz="2800" b="1" dirty="0">
                <a:solidFill>
                  <a:srgbClr val="000000"/>
                </a:solidFill>
                <a:latin typeface="Arial" panose="020B0604020202020204" pitchFamily="34" charset="0"/>
                <a:ea typeface="宋体" panose="02010600030101010101" pitchFamily="2" charset="-122"/>
              </a:rPr>
              <a:t>计算空间电荷区边界处的少子扩散电流</a:t>
            </a:r>
          </a:p>
          <a:p>
            <a:pPr defTabSz="914400" fontAlgn="base">
              <a:lnSpc>
                <a:spcPct val="120000"/>
              </a:lnSpc>
              <a:spcBef>
                <a:spcPct val="0"/>
              </a:spcBef>
              <a:spcAft>
                <a:spcPct val="0"/>
              </a:spcAft>
            </a:pPr>
            <a:r>
              <a:rPr lang="en-US" altLang="zh-CN" sz="2800" b="1" dirty="0">
                <a:solidFill>
                  <a:srgbClr val="000000"/>
                </a:solidFill>
                <a:latin typeface="Arial" panose="020B0604020202020204" pitchFamily="34" charset="0"/>
                <a:ea typeface="宋体" panose="02010600030101010101" pitchFamily="2" charset="-122"/>
              </a:rPr>
              <a:t>4.</a:t>
            </a:r>
            <a:r>
              <a:rPr lang="zh-CN" altLang="en-US" sz="2800" b="1" dirty="0">
                <a:solidFill>
                  <a:srgbClr val="000000"/>
                </a:solidFill>
                <a:latin typeface="Arial" panose="020B0604020202020204" pitchFamily="34" charset="0"/>
                <a:ea typeface="宋体" panose="02010600030101010101" pitchFamily="2" charset="-122"/>
              </a:rPr>
              <a:t>空间电荷区的少子电子和少子空穴扩散电流的和可以得出空间电荷区电流</a:t>
            </a:r>
          </a:p>
        </p:txBody>
      </p:sp>
    </p:spTree>
    <p:extLst>
      <p:ext uri="{BB962C8B-B14F-4D97-AF65-F5344CB8AC3E}">
        <p14:creationId xmlns:p14="http://schemas.microsoft.com/office/powerpoint/2010/main" val="1809872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6FD2004C-AFA3-43C4-AA3F-B131F8DACEB1}"/>
              </a:ext>
            </a:extLst>
          </p:cNvPr>
          <p:cNvSpPr>
            <a:spLocks noChangeArrowheads="1"/>
          </p:cNvSpPr>
          <p:nvPr/>
        </p:nvSpPr>
        <p:spPr bwMode="auto">
          <a:xfrm>
            <a:off x="491505" y="2401218"/>
            <a:ext cx="7151688"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lnSpc>
                <a:spcPct val="160000"/>
              </a:lnSpc>
            </a:pPr>
            <a:r>
              <a:rPr lang="zh-CN" altLang="en-US" b="1">
                <a:latin typeface="Tahoma" panose="020B0604030504040204" pitchFamily="34" charset="0"/>
              </a:rPr>
              <a:t>直流情况下             ，又因                  ，故可得</a:t>
            </a:r>
          </a:p>
        </p:txBody>
      </p:sp>
      <p:graphicFrame>
        <p:nvGraphicFramePr>
          <p:cNvPr id="107523" name="Object 3">
            <a:extLst>
              <a:ext uri="{FF2B5EF4-FFF2-40B4-BE49-F238E27FC236}">
                <a16:creationId xmlns:a16="http://schemas.microsoft.com/office/drawing/2014/main" id="{059CB4FB-ADD1-41AF-AA84-3EB276166C40}"/>
              </a:ext>
            </a:extLst>
          </p:cNvPr>
          <p:cNvGraphicFramePr>
            <a:graphicFrameLocks noChangeAspect="1"/>
          </p:cNvGraphicFramePr>
          <p:nvPr>
            <p:extLst>
              <p:ext uri="{D42A27DB-BD31-4B8C-83A1-F6EECF244321}">
                <p14:modId xmlns:p14="http://schemas.microsoft.com/office/powerpoint/2010/main" val="1450983202"/>
              </p:ext>
            </p:extLst>
          </p:nvPr>
        </p:nvGraphicFramePr>
        <p:xfrm>
          <a:off x="3169618" y="1340768"/>
          <a:ext cx="3144837" cy="1009650"/>
        </p:xfrm>
        <a:graphic>
          <a:graphicData uri="http://schemas.openxmlformats.org/presentationml/2006/ole">
            <mc:AlternateContent xmlns:mc="http://schemas.openxmlformats.org/markup-compatibility/2006">
              <mc:Choice xmlns:v="urn:schemas-microsoft-com:vml" Requires="v">
                <p:oleObj spid="_x0000_s113990" name="Equation" r:id="rId3" imgW="1314416" imgH="447743" progId="Equation.DSMT4">
                  <p:embed/>
                </p:oleObj>
              </mc:Choice>
              <mc:Fallback>
                <p:oleObj name="Equation" r:id="rId3" imgW="1314416" imgH="447743" progId="Equation.DSMT4">
                  <p:embed/>
                  <p:pic>
                    <p:nvPicPr>
                      <p:cNvPr id="107523" name="Object 3">
                        <a:extLst>
                          <a:ext uri="{FF2B5EF4-FFF2-40B4-BE49-F238E27FC236}">
                            <a16:creationId xmlns:a16="http://schemas.microsoft.com/office/drawing/2014/main" id="{059CB4FB-ADD1-41AF-AA84-3EB276166C40}"/>
                          </a:ext>
                        </a:extLst>
                      </p:cNvPr>
                      <p:cNvPicPr>
                        <a:picLocks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3169618" y="1340768"/>
                        <a:ext cx="3144837"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04" name="Object 4">
            <a:extLst>
              <a:ext uri="{FF2B5EF4-FFF2-40B4-BE49-F238E27FC236}">
                <a16:creationId xmlns:a16="http://schemas.microsoft.com/office/drawing/2014/main" id="{A31E716C-930D-43F0-8387-8627FEA8B069}"/>
              </a:ext>
            </a:extLst>
          </p:cNvPr>
          <p:cNvGraphicFramePr>
            <a:graphicFrameLocks noChangeAspect="1"/>
          </p:cNvGraphicFramePr>
          <p:nvPr>
            <p:extLst>
              <p:ext uri="{D42A27DB-BD31-4B8C-83A1-F6EECF244321}">
                <p14:modId xmlns:p14="http://schemas.microsoft.com/office/powerpoint/2010/main" val="2322478074"/>
              </p:ext>
            </p:extLst>
          </p:nvPr>
        </p:nvGraphicFramePr>
        <p:xfrm>
          <a:off x="2145680" y="2413918"/>
          <a:ext cx="1127125" cy="817563"/>
        </p:xfrm>
        <a:graphic>
          <a:graphicData uri="http://schemas.openxmlformats.org/presentationml/2006/ole">
            <mc:AlternateContent xmlns:mc="http://schemas.openxmlformats.org/markup-compatibility/2006">
              <mc:Choice xmlns:v="urn:schemas-microsoft-com:vml" Requires="v">
                <p:oleObj spid="_x0000_s113991" name="Equation" r:id="rId5" imgW="485792" imgH="371543" progId="Equation.DSMT4">
                  <p:embed/>
                </p:oleObj>
              </mc:Choice>
              <mc:Fallback>
                <p:oleObj name="Equation" r:id="rId5" imgW="485792" imgH="371543" progId="Equation.DSMT4">
                  <p:embed/>
                  <p:pic>
                    <p:nvPicPr>
                      <p:cNvPr id="76804" name="Object 4">
                        <a:extLst>
                          <a:ext uri="{FF2B5EF4-FFF2-40B4-BE49-F238E27FC236}">
                            <a16:creationId xmlns:a16="http://schemas.microsoft.com/office/drawing/2014/main" id="{A31E716C-930D-43F0-8387-8627FEA8B069}"/>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2145680" y="2413918"/>
                        <a:ext cx="1127125" cy="81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06" name="Object 6">
            <a:extLst>
              <a:ext uri="{FF2B5EF4-FFF2-40B4-BE49-F238E27FC236}">
                <a16:creationId xmlns:a16="http://schemas.microsoft.com/office/drawing/2014/main" id="{391BDD21-DC6C-47E4-9D88-51E4AF8CA033}"/>
              </a:ext>
            </a:extLst>
          </p:cNvPr>
          <p:cNvGraphicFramePr>
            <a:graphicFrameLocks noChangeAspect="1"/>
          </p:cNvGraphicFramePr>
          <p:nvPr>
            <p:extLst>
              <p:ext uri="{D42A27DB-BD31-4B8C-83A1-F6EECF244321}">
                <p14:modId xmlns:p14="http://schemas.microsoft.com/office/powerpoint/2010/main" val="2610404907"/>
              </p:ext>
            </p:extLst>
          </p:nvPr>
        </p:nvGraphicFramePr>
        <p:xfrm>
          <a:off x="4271343" y="2356768"/>
          <a:ext cx="1474787" cy="869950"/>
        </p:xfrm>
        <a:graphic>
          <a:graphicData uri="http://schemas.openxmlformats.org/presentationml/2006/ole">
            <mc:AlternateContent xmlns:mc="http://schemas.openxmlformats.org/markup-compatibility/2006">
              <mc:Choice xmlns:v="urn:schemas-microsoft-com:vml" Requires="v">
                <p:oleObj spid="_x0000_s113992" name="Equation" r:id="rId7" imgW="619041" imgH="400185" progId="Equation.DSMT4">
                  <p:embed/>
                </p:oleObj>
              </mc:Choice>
              <mc:Fallback>
                <p:oleObj name="Equation" r:id="rId7" imgW="619041" imgH="400185" progId="Equation.DSMT4">
                  <p:embed/>
                  <p:pic>
                    <p:nvPicPr>
                      <p:cNvPr id="76806" name="Object 6">
                        <a:extLst>
                          <a:ext uri="{FF2B5EF4-FFF2-40B4-BE49-F238E27FC236}">
                            <a16:creationId xmlns:a16="http://schemas.microsoft.com/office/drawing/2014/main" id="{391BDD21-DC6C-47E4-9D88-51E4AF8CA033}"/>
                          </a:ext>
                        </a:extLst>
                      </p:cNvPr>
                      <p:cNvPicPr>
                        <a:picLocks noChangeAspect="1" noChangeArrowheads="1"/>
                      </p:cNvPicPr>
                      <p:nvPr/>
                    </p:nvPicPr>
                    <p:blipFill>
                      <a:blip r:embed="rId8">
                        <a:lum bright="-100000"/>
                        <a:extLst>
                          <a:ext uri="{28A0092B-C50C-407E-A947-70E740481C1C}">
                            <a14:useLocalDpi xmlns:a14="http://schemas.microsoft.com/office/drawing/2010/main" val="0"/>
                          </a:ext>
                        </a:extLst>
                      </a:blip>
                      <a:srcRect/>
                      <a:stretch>
                        <a:fillRect/>
                      </a:stretch>
                    </p:blipFill>
                    <p:spPr bwMode="auto">
                      <a:xfrm>
                        <a:off x="4271343" y="2356768"/>
                        <a:ext cx="1474787"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26" name="Rectangle 7">
            <a:extLst>
              <a:ext uri="{FF2B5EF4-FFF2-40B4-BE49-F238E27FC236}">
                <a16:creationId xmlns:a16="http://schemas.microsoft.com/office/drawing/2014/main" id="{B19FDC21-1202-4705-B9DA-40F2BFF24FC1}"/>
              </a:ext>
            </a:extLst>
          </p:cNvPr>
          <p:cNvSpPr>
            <a:spLocks noChangeArrowheads="1"/>
          </p:cNvSpPr>
          <p:nvPr/>
        </p:nvSpPr>
        <p:spPr bwMode="auto">
          <a:xfrm>
            <a:off x="478432" y="754633"/>
            <a:ext cx="4030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lang="en-US" altLang="zh-CN" b="1" dirty="0">
                <a:latin typeface="Times New Roman" panose="02020603050405020304" pitchFamily="18" charset="0"/>
              </a:rPr>
              <a:t>N</a:t>
            </a:r>
            <a:r>
              <a:rPr lang="en-US" altLang="zh-CN" sz="1600" b="1" dirty="0">
                <a:latin typeface="Times New Roman" panose="02020603050405020304" pitchFamily="18" charset="0"/>
              </a:rPr>
              <a:t> </a:t>
            </a:r>
            <a:r>
              <a:rPr lang="zh-CN" altLang="en-US" b="1" dirty="0">
                <a:latin typeface="Tahoma" panose="020B0604030504040204" pitchFamily="34" charset="0"/>
              </a:rPr>
              <a:t>区中的空穴扩散方程</a:t>
            </a:r>
            <a:r>
              <a:rPr lang="en-US" altLang="zh-CN" b="1" dirty="0">
                <a:latin typeface="Tahoma" panose="020B0604030504040204" pitchFamily="34" charset="0"/>
              </a:rPr>
              <a:t>:</a:t>
            </a:r>
            <a:endParaRPr lang="zh-CN" altLang="en-US" b="1" dirty="0">
              <a:latin typeface="Tahoma" panose="020B0604030504040204" pitchFamily="34" charset="0"/>
            </a:endParaRPr>
          </a:p>
        </p:txBody>
      </p:sp>
      <p:graphicFrame>
        <p:nvGraphicFramePr>
          <p:cNvPr id="76808" name="Object 8">
            <a:extLst>
              <a:ext uri="{FF2B5EF4-FFF2-40B4-BE49-F238E27FC236}">
                <a16:creationId xmlns:a16="http://schemas.microsoft.com/office/drawing/2014/main" id="{76C3A8C5-9DD9-4F8C-BD9C-76B911D1B0FF}"/>
              </a:ext>
            </a:extLst>
          </p:cNvPr>
          <p:cNvGraphicFramePr>
            <a:graphicFrameLocks noChangeAspect="1"/>
          </p:cNvGraphicFramePr>
          <p:nvPr>
            <p:extLst>
              <p:ext uri="{D42A27DB-BD31-4B8C-83A1-F6EECF244321}">
                <p14:modId xmlns:p14="http://schemas.microsoft.com/office/powerpoint/2010/main" val="1277051278"/>
              </p:ext>
            </p:extLst>
          </p:nvPr>
        </p:nvGraphicFramePr>
        <p:xfrm>
          <a:off x="3299793" y="3428331"/>
          <a:ext cx="2952750" cy="1006475"/>
        </p:xfrm>
        <a:graphic>
          <a:graphicData uri="http://schemas.openxmlformats.org/presentationml/2006/ole">
            <mc:AlternateContent xmlns:mc="http://schemas.openxmlformats.org/markup-compatibility/2006">
              <mc:Choice xmlns:v="urn:schemas-microsoft-com:vml" Requires="v">
                <p:oleObj spid="_x0000_s113993" name="Equation" r:id="rId9" imgW="1228641" imgH="447743" progId="Equation.DSMT4">
                  <p:embed/>
                </p:oleObj>
              </mc:Choice>
              <mc:Fallback>
                <p:oleObj name="Equation" r:id="rId9" imgW="1228641" imgH="447743" progId="Equation.DSMT4">
                  <p:embed/>
                  <p:pic>
                    <p:nvPicPr>
                      <p:cNvPr id="76808" name="Object 8">
                        <a:extLst>
                          <a:ext uri="{FF2B5EF4-FFF2-40B4-BE49-F238E27FC236}">
                            <a16:creationId xmlns:a16="http://schemas.microsoft.com/office/drawing/2014/main" id="{76C3A8C5-9DD9-4F8C-BD9C-76B911D1B0FF}"/>
                          </a:ext>
                        </a:extLst>
                      </p:cNvPr>
                      <p:cNvPicPr>
                        <a:picLocks noChangeAspect="1" noChangeArrowheads="1"/>
                      </p:cNvPicPr>
                      <p:nvPr/>
                    </p:nvPicPr>
                    <p:blipFill>
                      <a:blip r:embed="rId10">
                        <a:lum bright="-100000"/>
                        <a:extLst>
                          <a:ext uri="{28A0092B-C50C-407E-A947-70E740481C1C}">
                            <a14:useLocalDpi xmlns:a14="http://schemas.microsoft.com/office/drawing/2010/main" val="0"/>
                          </a:ext>
                        </a:extLst>
                      </a:blip>
                      <a:srcRect/>
                      <a:stretch>
                        <a:fillRect/>
                      </a:stretch>
                    </p:blipFill>
                    <p:spPr bwMode="auto">
                      <a:xfrm>
                        <a:off x="3299793" y="3428331"/>
                        <a:ext cx="295275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09" name="Object 9">
            <a:extLst>
              <a:ext uri="{FF2B5EF4-FFF2-40B4-BE49-F238E27FC236}">
                <a16:creationId xmlns:a16="http://schemas.microsoft.com/office/drawing/2014/main" id="{275C05E5-BA97-4E41-9074-AEF0F15BDD91}"/>
              </a:ext>
            </a:extLst>
          </p:cNvPr>
          <p:cNvGraphicFramePr>
            <a:graphicFrameLocks noChangeAspect="1"/>
          </p:cNvGraphicFramePr>
          <p:nvPr>
            <p:extLst>
              <p:ext uri="{D42A27DB-BD31-4B8C-83A1-F6EECF244321}">
                <p14:modId xmlns:p14="http://schemas.microsoft.com/office/powerpoint/2010/main" val="2352889784"/>
              </p:ext>
            </p:extLst>
          </p:nvPr>
        </p:nvGraphicFramePr>
        <p:xfrm>
          <a:off x="3660155" y="4580856"/>
          <a:ext cx="2227263" cy="979487"/>
        </p:xfrm>
        <a:graphic>
          <a:graphicData uri="http://schemas.openxmlformats.org/presentationml/2006/ole">
            <mc:AlternateContent xmlns:mc="http://schemas.openxmlformats.org/markup-compatibility/2006">
              <mc:Choice xmlns:v="urn:schemas-microsoft-com:vml" Requires="v">
                <p:oleObj spid="_x0000_s113994" name="Equation" r:id="rId11" imgW="828624" imgH="447743" progId="Equation.DSMT4">
                  <p:embed/>
                </p:oleObj>
              </mc:Choice>
              <mc:Fallback>
                <p:oleObj name="Equation" r:id="rId11" imgW="828624" imgH="447743" progId="Equation.DSMT4">
                  <p:embed/>
                  <p:pic>
                    <p:nvPicPr>
                      <p:cNvPr id="76809" name="Object 9">
                        <a:extLst>
                          <a:ext uri="{FF2B5EF4-FFF2-40B4-BE49-F238E27FC236}">
                            <a16:creationId xmlns:a16="http://schemas.microsoft.com/office/drawing/2014/main" id="{275C05E5-BA97-4E41-9074-AEF0F15BDD91}"/>
                          </a:ext>
                        </a:extLst>
                      </p:cNvPr>
                      <p:cNvPicPr>
                        <a:picLocks noChangeAspect="1" noChangeArrowheads="1"/>
                      </p:cNvPicPr>
                      <p:nvPr/>
                    </p:nvPicPr>
                    <p:blipFill>
                      <a:blip r:embed="rId12">
                        <a:lum bright="-100000"/>
                        <a:extLst>
                          <a:ext uri="{28A0092B-C50C-407E-A947-70E740481C1C}">
                            <a14:useLocalDpi xmlns:a14="http://schemas.microsoft.com/office/drawing/2010/main" val="0"/>
                          </a:ext>
                        </a:extLst>
                      </a:blip>
                      <a:srcRect/>
                      <a:stretch>
                        <a:fillRect/>
                      </a:stretch>
                    </p:blipFill>
                    <p:spPr bwMode="auto">
                      <a:xfrm>
                        <a:off x="3660155" y="4580856"/>
                        <a:ext cx="2227263" cy="979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10" name="Text Box 10">
            <a:extLst>
              <a:ext uri="{FF2B5EF4-FFF2-40B4-BE49-F238E27FC236}">
                <a16:creationId xmlns:a16="http://schemas.microsoft.com/office/drawing/2014/main" id="{606B20D0-FB10-42CD-95FE-2AEBCCD23ADD}"/>
              </a:ext>
            </a:extLst>
          </p:cNvPr>
          <p:cNvSpPr txBox="1">
            <a:spLocks noChangeArrowheads="1"/>
          </p:cNvSpPr>
          <p:nvPr/>
        </p:nvSpPr>
        <p:spPr bwMode="auto">
          <a:xfrm>
            <a:off x="491505" y="5446043"/>
            <a:ext cx="86868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lnSpc>
                <a:spcPct val="150000"/>
              </a:lnSpc>
            </a:pPr>
            <a:r>
              <a:rPr lang="zh-CN" altLang="en-US" b="1">
                <a:latin typeface="Tahoma" panose="020B0604030504040204" pitchFamily="34" charset="0"/>
              </a:rPr>
              <a:t>式中，                 ，称为空穴的</a:t>
            </a:r>
            <a:r>
              <a:rPr lang="zh-CN" altLang="en-US" sz="1200" b="1">
                <a:latin typeface="Times New Roman" panose="02020603050405020304" pitchFamily="18" charset="0"/>
              </a:rPr>
              <a:t> </a:t>
            </a:r>
            <a:r>
              <a:rPr lang="zh-CN" altLang="en-US" b="1">
                <a:effectLst>
                  <a:outerShdw blurRad="38100" dist="38100" dir="2700000" algn="tl">
                    <a:srgbClr val="C0C0C0"/>
                  </a:outerShdw>
                </a:effectLst>
                <a:latin typeface="Tahoma" panose="020B0604030504040204" pitchFamily="34" charset="0"/>
              </a:rPr>
              <a:t>扩散长度</a:t>
            </a:r>
            <a:r>
              <a:rPr lang="zh-CN" altLang="en-US" b="1">
                <a:latin typeface="Tahoma" panose="020B0604030504040204" pitchFamily="34" charset="0"/>
              </a:rPr>
              <a:t>，典型值为</a:t>
            </a:r>
            <a:r>
              <a:rPr lang="zh-CN" altLang="en-US" sz="1200" b="1">
                <a:latin typeface="Times New Roman" panose="02020603050405020304" pitchFamily="18" charset="0"/>
              </a:rPr>
              <a:t> </a:t>
            </a:r>
            <a:r>
              <a:rPr lang="en-US" altLang="zh-CN" b="1">
                <a:latin typeface="Times New Roman" panose="02020603050405020304" pitchFamily="18" charset="0"/>
              </a:rPr>
              <a:t>10</a:t>
            </a:r>
            <a:r>
              <a:rPr lang="en-US" altLang="zh-CN" sz="1200" b="1">
                <a:latin typeface="Times New Roman" panose="02020603050405020304" pitchFamily="18" charset="0"/>
              </a:rPr>
              <a:t> </a:t>
            </a:r>
            <a:r>
              <a:rPr lang="en-US" altLang="zh-CN"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rPr>
              <a:t>m</a:t>
            </a:r>
            <a:r>
              <a:rPr lang="en-US" altLang="zh-CN" b="1" i="1">
                <a:latin typeface="Times New Roman" panose="02020603050405020304" pitchFamily="18" charset="0"/>
              </a:rPr>
              <a:t> </a:t>
            </a:r>
            <a:r>
              <a:rPr lang="zh-CN" altLang="en-US" b="1">
                <a:latin typeface="Tahoma" panose="020B0604030504040204" pitchFamily="34" charset="0"/>
              </a:rPr>
              <a:t>。</a:t>
            </a:r>
          </a:p>
        </p:txBody>
      </p:sp>
      <p:graphicFrame>
        <p:nvGraphicFramePr>
          <p:cNvPr id="76811" name="Object 11">
            <a:extLst>
              <a:ext uri="{FF2B5EF4-FFF2-40B4-BE49-F238E27FC236}">
                <a16:creationId xmlns:a16="http://schemas.microsoft.com/office/drawing/2014/main" id="{D0356CC8-3B6E-4F0B-89EF-D781B418B113}"/>
              </a:ext>
            </a:extLst>
          </p:cNvPr>
          <p:cNvGraphicFramePr>
            <a:graphicFrameLocks noChangeAspect="1"/>
          </p:cNvGraphicFramePr>
          <p:nvPr>
            <p:extLst>
              <p:ext uri="{D42A27DB-BD31-4B8C-83A1-F6EECF244321}">
                <p14:modId xmlns:p14="http://schemas.microsoft.com/office/powerpoint/2010/main" val="3055272149"/>
              </p:ext>
            </p:extLst>
          </p:nvPr>
        </p:nvGraphicFramePr>
        <p:xfrm>
          <a:off x="1450355" y="5685756"/>
          <a:ext cx="1490663" cy="539750"/>
        </p:xfrm>
        <a:graphic>
          <a:graphicData uri="http://schemas.openxmlformats.org/presentationml/2006/ole">
            <mc:AlternateContent xmlns:mc="http://schemas.openxmlformats.org/markup-compatibility/2006">
              <mc:Choice xmlns:v="urn:schemas-microsoft-com:vml" Requires="v">
                <p:oleObj spid="_x0000_s113995" name="Equation" r:id="rId13" imgW="666784" imgH="238057" progId="Equation.DSMT4">
                  <p:embed/>
                </p:oleObj>
              </mc:Choice>
              <mc:Fallback>
                <p:oleObj name="Equation" r:id="rId13" imgW="666784" imgH="238057" progId="Equation.DSMT4">
                  <p:embed/>
                  <p:pic>
                    <p:nvPicPr>
                      <p:cNvPr id="76811" name="Object 11">
                        <a:extLst>
                          <a:ext uri="{FF2B5EF4-FFF2-40B4-BE49-F238E27FC236}">
                            <a16:creationId xmlns:a16="http://schemas.microsoft.com/office/drawing/2014/main" id="{D0356CC8-3B6E-4F0B-89EF-D781B418B113}"/>
                          </a:ext>
                        </a:extLst>
                      </p:cNvPr>
                      <p:cNvPicPr>
                        <a:picLocks noChangeAspect="1" noChangeArrowheads="1"/>
                      </p:cNvPicPr>
                      <p:nvPr/>
                    </p:nvPicPr>
                    <p:blipFill>
                      <a:blip r:embed="rId14">
                        <a:lum bright="-100000"/>
                        <a:extLst>
                          <a:ext uri="{28A0092B-C50C-407E-A947-70E740481C1C}">
                            <a14:useLocalDpi xmlns:a14="http://schemas.microsoft.com/office/drawing/2010/main" val="0"/>
                          </a:ext>
                        </a:extLst>
                      </a:blip>
                      <a:srcRect/>
                      <a:stretch>
                        <a:fillRect/>
                      </a:stretch>
                    </p:blipFill>
                    <p:spPr bwMode="auto">
                      <a:xfrm>
                        <a:off x="1450355" y="5685756"/>
                        <a:ext cx="1490663"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560485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additive="base">
                                        <p:cTn id="7" dur="1000" fill="hold"/>
                                        <p:tgtEl>
                                          <p:spTgt spid="76802"/>
                                        </p:tgtEl>
                                        <p:attrNameLst>
                                          <p:attrName>ppt_x</p:attrName>
                                        </p:attrNameLst>
                                      </p:cBhvr>
                                      <p:tavLst>
                                        <p:tav tm="0">
                                          <p:val>
                                            <p:strVal val="0-#ppt_w/2"/>
                                          </p:val>
                                        </p:tav>
                                        <p:tav tm="100000">
                                          <p:val>
                                            <p:strVal val="#ppt_x"/>
                                          </p:val>
                                        </p:tav>
                                      </p:tavLst>
                                    </p:anim>
                                    <p:anim calcmode="lin" valueType="num">
                                      <p:cBhvr additive="base">
                                        <p:cTn id="8" dur="1000" fill="hold"/>
                                        <p:tgtEl>
                                          <p:spTgt spid="7680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9" presetClass="entr" presetSubtype="0" fill="hold" nodeType="afterEffect">
                                  <p:stCondLst>
                                    <p:cond delay="0"/>
                                  </p:stCondLst>
                                  <p:childTnLst>
                                    <p:set>
                                      <p:cBhvr>
                                        <p:cTn id="11" dur="1" fill="hold">
                                          <p:stCondLst>
                                            <p:cond delay="0"/>
                                          </p:stCondLst>
                                        </p:cTn>
                                        <p:tgtEl>
                                          <p:spTgt spid="76804"/>
                                        </p:tgtEl>
                                        <p:attrNameLst>
                                          <p:attrName>style.visibility</p:attrName>
                                        </p:attrNameLst>
                                      </p:cBhvr>
                                      <p:to>
                                        <p:strVal val="visible"/>
                                      </p:to>
                                    </p:set>
                                    <p:animEffect transition="in" filter="dissolve">
                                      <p:cBhvr>
                                        <p:cTn id="12" dur="500"/>
                                        <p:tgtEl>
                                          <p:spTgt spid="76804"/>
                                        </p:tgtEl>
                                      </p:cBhvr>
                                    </p:animEffect>
                                  </p:childTnLst>
                                </p:cTn>
                              </p:par>
                            </p:childTnLst>
                          </p:cTn>
                        </p:par>
                        <p:par>
                          <p:cTn id="13" fill="hold" nodeType="afterGroup">
                            <p:stCondLst>
                              <p:cond delay="1500"/>
                            </p:stCondLst>
                            <p:childTnLst>
                              <p:par>
                                <p:cTn id="14" presetID="9" presetClass="entr" presetSubtype="0" fill="hold" nodeType="afterEffect">
                                  <p:stCondLst>
                                    <p:cond delay="0"/>
                                  </p:stCondLst>
                                  <p:childTnLst>
                                    <p:set>
                                      <p:cBhvr>
                                        <p:cTn id="15" dur="1" fill="hold">
                                          <p:stCondLst>
                                            <p:cond delay="0"/>
                                          </p:stCondLst>
                                        </p:cTn>
                                        <p:tgtEl>
                                          <p:spTgt spid="76806"/>
                                        </p:tgtEl>
                                        <p:attrNameLst>
                                          <p:attrName>style.visibility</p:attrName>
                                        </p:attrNameLst>
                                      </p:cBhvr>
                                      <p:to>
                                        <p:strVal val="visible"/>
                                      </p:to>
                                    </p:set>
                                    <p:animEffect transition="in" filter="dissolve">
                                      <p:cBhvr>
                                        <p:cTn id="16" dur="500"/>
                                        <p:tgtEl>
                                          <p:spTgt spid="7680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76808"/>
                                        </p:tgtEl>
                                        <p:attrNameLst>
                                          <p:attrName>style.visibility</p:attrName>
                                        </p:attrNameLst>
                                      </p:cBhvr>
                                      <p:to>
                                        <p:strVal val="visible"/>
                                      </p:to>
                                    </p:set>
                                    <p:anim calcmode="lin" valueType="num">
                                      <p:cBhvr additive="base">
                                        <p:cTn id="21" dur="1000" fill="hold"/>
                                        <p:tgtEl>
                                          <p:spTgt spid="76808"/>
                                        </p:tgtEl>
                                        <p:attrNameLst>
                                          <p:attrName>ppt_x</p:attrName>
                                        </p:attrNameLst>
                                      </p:cBhvr>
                                      <p:tavLst>
                                        <p:tav tm="0">
                                          <p:val>
                                            <p:strVal val="0-#ppt_w/2"/>
                                          </p:val>
                                        </p:tav>
                                        <p:tav tm="100000">
                                          <p:val>
                                            <p:strVal val="#ppt_x"/>
                                          </p:val>
                                        </p:tav>
                                      </p:tavLst>
                                    </p:anim>
                                    <p:anim calcmode="lin" valueType="num">
                                      <p:cBhvr additive="base">
                                        <p:cTn id="22" dur="1000" fill="hold"/>
                                        <p:tgtEl>
                                          <p:spTgt spid="76808"/>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76809"/>
                                        </p:tgtEl>
                                        <p:attrNameLst>
                                          <p:attrName>style.visibility</p:attrName>
                                        </p:attrNameLst>
                                      </p:cBhvr>
                                      <p:to>
                                        <p:strVal val="visible"/>
                                      </p:to>
                                    </p:set>
                                    <p:anim calcmode="lin" valueType="num">
                                      <p:cBhvr additive="base">
                                        <p:cTn id="27" dur="1000" fill="hold"/>
                                        <p:tgtEl>
                                          <p:spTgt spid="76809"/>
                                        </p:tgtEl>
                                        <p:attrNameLst>
                                          <p:attrName>ppt_x</p:attrName>
                                        </p:attrNameLst>
                                      </p:cBhvr>
                                      <p:tavLst>
                                        <p:tav tm="0">
                                          <p:val>
                                            <p:strVal val="0-#ppt_w/2"/>
                                          </p:val>
                                        </p:tav>
                                        <p:tav tm="100000">
                                          <p:val>
                                            <p:strVal val="#ppt_x"/>
                                          </p:val>
                                        </p:tav>
                                      </p:tavLst>
                                    </p:anim>
                                    <p:anim calcmode="lin" valueType="num">
                                      <p:cBhvr additive="base">
                                        <p:cTn id="28" dur="1000" fill="hold"/>
                                        <p:tgtEl>
                                          <p:spTgt spid="76809"/>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76810"/>
                                        </p:tgtEl>
                                        <p:attrNameLst>
                                          <p:attrName>style.visibility</p:attrName>
                                        </p:attrNameLst>
                                      </p:cBhvr>
                                      <p:to>
                                        <p:strVal val="visible"/>
                                      </p:to>
                                    </p:set>
                                    <p:anim calcmode="lin" valueType="num">
                                      <p:cBhvr additive="base">
                                        <p:cTn id="33" dur="1000" fill="hold"/>
                                        <p:tgtEl>
                                          <p:spTgt spid="76810"/>
                                        </p:tgtEl>
                                        <p:attrNameLst>
                                          <p:attrName>ppt_x</p:attrName>
                                        </p:attrNameLst>
                                      </p:cBhvr>
                                      <p:tavLst>
                                        <p:tav tm="0">
                                          <p:val>
                                            <p:strVal val="0-#ppt_w/2"/>
                                          </p:val>
                                        </p:tav>
                                        <p:tav tm="100000">
                                          <p:val>
                                            <p:strVal val="#ppt_x"/>
                                          </p:val>
                                        </p:tav>
                                      </p:tavLst>
                                    </p:anim>
                                    <p:anim calcmode="lin" valueType="num">
                                      <p:cBhvr additive="base">
                                        <p:cTn id="34" dur="1000" fill="hold"/>
                                        <p:tgtEl>
                                          <p:spTgt spid="76810"/>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1000"/>
                            </p:stCondLst>
                            <p:childTnLst>
                              <p:par>
                                <p:cTn id="36" presetID="9" presetClass="entr" presetSubtype="0" fill="hold" nodeType="afterEffect">
                                  <p:stCondLst>
                                    <p:cond delay="0"/>
                                  </p:stCondLst>
                                  <p:childTnLst>
                                    <p:set>
                                      <p:cBhvr>
                                        <p:cTn id="37" dur="1" fill="hold">
                                          <p:stCondLst>
                                            <p:cond delay="0"/>
                                          </p:stCondLst>
                                        </p:cTn>
                                        <p:tgtEl>
                                          <p:spTgt spid="76811"/>
                                        </p:tgtEl>
                                        <p:attrNameLst>
                                          <p:attrName>style.visibility</p:attrName>
                                        </p:attrNameLst>
                                      </p:cBhvr>
                                      <p:to>
                                        <p:strVal val="visible"/>
                                      </p:to>
                                    </p:set>
                                    <p:animEffect transition="in" filter="dissolve">
                                      <p:cBhvr>
                                        <p:cTn id="38" dur="500"/>
                                        <p:tgtEl>
                                          <p:spTgt spid="76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utoUpdateAnimBg="0"/>
      <p:bldP spid="76810"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a:extLst>
              <a:ext uri="{FF2B5EF4-FFF2-40B4-BE49-F238E27FC236}">
                <a16:creationId xmlns:a16="http://schemas.microsoft.com/office/drawing/2014/main" id="{C14EF1FB-A3D9-4074-8B0A-A24FF6878B99}"/>
              </a:ext>
            </a:extLst>
          </p:cNvPr>
          <p:cNvSpPr>
            <a:spLocks noChangeArrowheads="1"/>
          </p:cNvSpPr>
          <p:nvPr/>
        </p:nvSpPr>
        <p:spPr bwMode="auto">
          <a:xfrm>
            <a:off x="251520" y="625475"/>
            <a:ext cx="417703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dirty="0">
                <a:solidFill>
                  <a:srgbClr val="993300"/>
                </a:solidFill>
              </a:rPr>
              <a:t>载流子分布</a:t>
            </a:r>
          </a:p>
        </p:txBody>
      </p:sp>
      <p:sp>
        <p:nvSpPr>
          <p:cNvPr id="414724" name="Rectangle 4">
            <a:extLst>
              <a:ext uri="{FF2B5EF4-FFF2-40B4-BE49-F238E27FC236}">
                <a16:creationId xmlns:a16="http://schemas.microsoft.com/office/drawing/2014/main" id="{1B55036F-3EEF-4E45-942B-522538EB7159}"/>
              </a:ext>
            </a:extLst>
          </p:cNvPr>
          <p:cNvSpPr>
            <a:spLocks noChangeArrowheads="1"/>
          </p:cNvSpPr>
          <p:nvPr/>
        </p:nvSpPr>
        <p:spPr bwMode="auto">
          <a:xfrm>
            <a:off x="504093" y="2174083"/>
            <a:ext cx="3671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zh-CN" altLang="en-US" b="1" dirty="0">
                <a:solidFill>
                  <a:srgbClr val="16165D"/>
                </a:solidFill>
              </a:rPr>
              <a:t>满足边界条件</a:t>
            </a:r>
          </a:p>
        </p:txBody>
      </p:sp>
      <p:graphicFrame>
        <p:nvGraphicFramePr>
          <p:cNvPr id="414726" name="Object 9">
            <a:extLst>
              <a:ext uri="{FF2B5EF4-FFF2-40B4-BE49-F238E27FC236}">
                <a16:creationId xmlns:a16="http://schemas.microsoft.com/office/drawing/2014/main" id="{3C86CC76-5B64-4A35-83B1-FE7C50E347F8}"/>
              </a:ext>
            </a:extLst>
          </p:cNvPr>
          <p:cNvGraphicFramePr>
            <a:graphicFrameLocks noChangeAspect="1"/>
          </p:cNvGraphicFramePr>
          <p:nvPr>
            <p:extLst>
              <p:ext uri="{D42A27DB-BD31-4B8C-83A1-F6EECF244321}">
                <p14:modId xmlns:p14="http://schemas.microsoft.com/office/powerpoint/2010/main" val="2146297091"/>
              </p:ext>
            </p:extLst>
          </p:nvPr>
        </p:nvGraphicFramePr>
        <p:xfrm>
          <a:off x="1225253" y="2746078"/>
          <a:ext cx="5040312" cy="1008062"/>
        </p:xfrm>
        <a:graphic>
          <a:graphicData uri="http://schemas.openxmlformats.org/presentationml/2006/ole">
            <mc:AlternateContent xmlns:mc="http://schemas.openxmlformats.org/markup-compatibility/2006">
              <mc:Choice xmlns:v="urn:schemas-microsoft-com:vml" Requires="v">
                <p:oleObj spid="_x0000_s114852" name="Equation" r:id="rId3" imgW="2082800" imgH="482600" progId="Equation.DSMT4">
                  <p:embed/>
                </p:oleObj>
              </mc:Choice>
              <mc:Fallback>
                <p:oleObj name="Equation" r:id="rId3" imgW="2082800" imgH="482600" progId="Equation.DSMT4">
                  <p:embed/>
                  <p:pic>
                    <p:nvPicPr>
                      <p:cNvPr id="414726" name="Object 9">
                        <a:extLst>
                          <a:ext uri="{FF2B5EF4-FFF2-40B4-BE49-F238E27FC236}">
                            <a16:creationId xmlns:a16="http://schemas.microsoft.com/office/drawing/2014/main" id="{3C86CC76-5B64-4A35-83B1-FE7C50E347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253" y="2746078"/>
                        <a:ext cx="5040312"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4727" name="Rectangle 7">
            <a:extLst>
              <a:ext uri="{FF2B5EF4-FFF2-40B4-BE49-F238E27FC236}">
                <a16:creationId xmlns:a16="http://schemas.microsoft.com/office/drawing/2014/main" id="{5D8E0426-F67C-4B86-9759-46220A957CAA}"/>
              </a:ext>
            </a:extLst>
          </p:cNvPr>
          <p:cNvSpPr>
            <a:spLocks noChangeArrowheads="1"/>
          </p:cNvSpPr>
          <p:nvPr/>
        </p:nvSpPr>
        <p:spPr bwMode="auto">
          <a:xfrm>
            <a:off x="395288" y="3933825"/>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a:solidFill>
                  <a:srgbClr val="16165D"/>
                </a:solidFill>
              </a:rPr>
              <a:t>解得</a:t>
            </a:r>
          </a:p>
        </p:txBody>
      </p:sp>
      <p:graphicFrame>
        <p:nvGraphicFramePr>
          <p:cNvPr id="414728" name="Object 8">
            <a:extLst>
              <a:ext uri="{FF2B5EF4-FFF2-40B4-BE49-F238E27FC236}">
                <a16:creationId xmlns:a16="http://schemas.microsoft.com/office/drawing/2014/main" id="{0C373AC6-47BF-448A-BEA8-032F3839851F}"/>
              </a:ext>
            </a:extLst>
          </p:cNvPr>
          <p:cNvGraphicFramePr>
            <a:graphicFrameLocks noChangeAspect="1"/>
          </p:cNvGraphicFramePr>
          <p:nvPr/>
        </p:nvGraphicFramePr>
        <p:xfrm>
          <a:off x="1187450" y="4365625"/>
          <a:ext cx="6985000" cy="1927225"/>
        </p:xfrm>
        <a:graphic>
          <a:graphicData uri="http://schemas.openxmlformats.org/presentationml/2006/ole">
            <mc:AlternateContent xmlns:mc="http://schemas.openxmlformats.org/markup-compatibility/2006">
              <mc:Choice xmlns:v="urn:schemas-microsoft-com:vml" Requires="v">
                <p:oleObj spid="_x0000_s114853" name="Equation" r:id="rId5" imgW="3060700" imgH="990600" progId="Equation.DSMT4">
                  <p:embed/>
                </p:oleObj>
              </mc:Choice>
              <mc:Fallback>
                <p:oleObj name="Equation" r:id="rId5" imgW="3060700" imgH="990600" progId="Equation.DSMT4">
                  <p:embed/>
                  <p:pic>
                    <p:nvPicPr>
                      <p:cNvPr id="414728" name="Object 8">
                        <a:extLst>
                          <a:ext uri="{FF2B5EF4-FFF2-40B4-BE49-F238E27FC236}">
                            <a16:creationId xmlns:a16="http://schemas.microsoft.com/office/drawing/2014/main" id="{0C373AC6-47BF-448A-BEA8-032F383985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4365625"/>
                        <a:ext cx="6985000"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4731" name="Rectangle 11">
            <a:extLst>
              <a:ext uri="{FF2B5EF4-FFF2-40B4-BE49-F238E27FC236}">
                <a16:creationId xmlns:a16="http://schemas.microsoft.com/office/drawing/2014/main" id="{423CDE08-9486-430C-A666-CBB87A01251A}"/>
              </a:ext>
            </a:extLst>
          </p:cNvPr>
          <p:cNvSpPr>
            <a:spLocks noChangeArrowheads="1"/>
          </p:cNvSpPr>
          <p:nvPr/>
        </p:nvSpPr>
        <p:spPr bwMode="auto">
          <a:xfrm>
            <a:off x="281261" y="1298575"/>
            <a:ext cx="3874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dirty="0">
                <a:solidFill>
                  <a:srgbClr val="16165D"/>
                </a:solidFill>
              </a:rPr>
              <a:t>解</a:t>
            </a:r>
            <a:r>
              <a:rPr lang="en-US" altLang="zh-CN" b="1" dirty="0">
                <a:latin typeface="Times New Roman" panose="02020603050405020304" pitchFamily="18" charset="0"/>
              </a:rPr>
              <a:t>N</a:t>
            </a:r>
            <a:r>
              <a:rPr lang="en-US" altLang="zh-CN" sz="2000" b="1" dirty="0">
                <a:latin typeface="Times New Roman" panose="02020603050405020304" pitchFamily="18" charset="0"/>
              </a:rPr>
              <a:t> </a:t>
            </a:r>
            <a:r>
              <a:rPr lang="zh-CN" altLang="en-US" b="1" dirty="0">
                <a:latin typeface="Tahoma" panose="020B0604030504040204" pitchFamily="34" charset="0"/>
              </a:rPr>
              <a:t>区中空穴</a:t>
            </a:r>
            <a:r>
              <a:rPr kumimoji="0" lang="zh-CN" altLang="en-US" b="1" dirty="0">
                <a:solidFill>
                  <a:srgbClr val="16165D"/>
                </a:solidFill>
              </a:rPr>
              <a:t>稳态扩散方程</a:t>
            </a:r>
          </a:p>
        </p:txBody>
      </p:sp>
      <p:graphicFrame>
        <p:nvGraphicFramePr>
          <p:cNvPr id="76809" name="Object 9">
            <a:extLst>
              <a:ext uri="{FF2B5EF4-FFF2-40B4-BE49-F238E27FC236}">
                <a16:creationId xmlns:a16="http://schemas.microsoft.com/office/drawing/2014/main" id="{B353A1DC-A8F7-4F82-88F8-A3487C0B6BED}"/>
              </a:ext>
            </a:extLst>
          </p:cNvPr>
          <p:cNvGraphicFramePr>
            <a:graphicFrameLocks noChangeAspect="1"/>
          </p:cNvGraphicFramePr>
          <p:nvPr>
            <p:extLst>
              <p:ext uri="{D42A27DB-BD31-4B8C-83A1-F6EECF244321}">
                <p14:modId xmlns:p14="http://schemas.microsoft.com/office/powerpoint/2010/main" val="3327179741"/>
              </p:ext>
            </p:extLst>
          </p:nvPr>
        </p:nvGraphicFramePr>
        <p:xfrm>
          <a:off x="4715447" y="1039663"/>
          <a:ext cx="2227262" cy="979488"/>
        </p:xfrm>
        <a:graphic>
          <a:graphicData uri="http://schemas.openxmlformats.org/presentationml/2006/ole">
            <mc:AlternateContent xmlns:mc="http://schemas.openxmlformats.org/markup-compatibility/2006">
              <mc:Choice xmlns:v="urn:schemas-microsoft-com:vml" Requires="v">
                <p:oleObj spid="_x0000_s114854" name="Equation" r:id="rId7" imgW="828624" imgH="447743" progId="Equation.DSMT4">
                  <p:embed/>
                </p:oleObj>
              </mc:Choice>
              <mc:Fallback>
                <p:oleObj name="Equation" r:id="rId7" imgW="828624" imgH="447743" progId="Equation.DSMT4">
                  <p:embed/>
                  <p:pic>
                    <p:nvPicPr>
                      <p:cNvPr id="76809" name="Object 9">
                        <a:extLst>
                          <a:ext uri="{FF2B5EF4-FFF2-40B4-BE49-F238E27FC236}">
                            <a16:creationId xmlns:a16="http://schemas.microsoft.com/office/drawing/2014/main" id="{B353A1DC-A8F7-4F82-88F8-A3487C0B6BED}"/>
                          </a:ext>
                        </a:extLst>
                      </p:cNvPr>
                      <p:cNvPicPr>
                        <a:picLocks noChangeAspect="1" noChangeArrowheads="1"/>
                      </p:cNvPicPr>
                      <p:nvPr/>
                    </p:nvPicPr>
                    <p:blipFill>
                      <a:blip r:embed="rId8">
                        <a:lum bright="-100000"/>
                        <a:extLst>
                          <a:ext uri="{28A0092B-C50C-407E-A947-70E740481C1C}">
                            <a14:useLocalDpi xmlns:a14="http://schemas.microsoft.com/office/drawing/2010/main" val="0"/>
                          </a:ext>
                        </a:extLst>
                      </a:blip>
                      <a:srcRect/>
                      <a:stretch>
                        <a:fillRect/>
                      </a:stretch>
                    </p:blipFill>
                    <p:spPr bwMode="auto">
                      <a:xfrm>
                        <a:off x="4715447" y="1039663"/>
                        <a:ext cx="2227262" cy="979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134747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4731"/>
                                        </p:tgtEl>
                                        <p:attrNameLst>
                                          <p:attrName>style.visibility</p:attrName>
                                        </p:attrNameLst>
                                      </p:cBhvr>
                                      <p:to>
                                        <p:strVal val="visible"/>
                                      </p:to>
                                    </p:set>
                                    <p:animEffect transition="in" filter="blinds(horizontal)">
                                      <p:cBhvr>
                                        <p:cTn id="7" dur="500"/>
                                        <p:tgtEl>
                                          <p:spTgt spid="4147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4724"/>
                                        </p:tgtEl>
                                        <p:attrNameLst>
                                          <p:attrName>style.visibility</p:attrName>
                                        </p:attrNameLst>
                                      </p:cBhvr>
                                      <p:to>
                                        <p:strVal val="visible"/>
                                      </p:to>
                                    </p:set>
                                    <p:animEffect transition="in" filter="blinds(horizontal)">
                                      <p:cBhvr>
                                        <p:cTn id="12" dur="500"/>
                                        <p:tgtEl>
                                          <p:spTgt spid="414724"/>
                                        </p:tgtEl>
                                      </p:cBhvr>
                                    </p:animEffect>
                                  </p:childTnLst>
                                </p:cTn>
                              </p:par>
                              <p:par>
                                <p:cTn id="13" presetID="3" presetClass="entr" presetSubtype="10" fill="hold" nodeType="withEffect">
                                  <p:stCondLst>
                                    <p:cond delay="0"/>
                                  </p:stCondLst>
                                  <p:childTnLst>
                                    <p:set>
                                      <p:cBhvr>
                                        <p:cTn id="14" dur="1" fill="hold">
                                          <p:stCondLst>
                                            <p:cond delay="0"/>
                                          </p:stCondLst>
                                        </p:cTn>
                                        <p:tgtEl>
                                          <p:spTgt spid="414726"/>
                                        </p:tgtEl>
                                        <p:attrNameLst>
                                          <p:attrName>style.visibility</p:attrName>
                                        </p:attrNameLst>
                                      </p:cBhvr>
                                      <p:to>
                                        <p:strVal val="visible"/>
                                      </p:to>
                                    </p:set>
                                    <p:animEffect transition="in" filter="blinds(horizontal)">
                                      <p:cBhvr>
                                        <p:cTn id="15" dur="500"/>
                                        <p:tgtEl>
                                          <p:spTgt spid="41472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14727"/>
                                        </p:tgtEl>
                                        <p:attrNameLst>
                                          <p:attrName>style.visibility</p:attrName>
                                        </p:attrNameLst>
                                      </p:cBhvr>
                                      <p:to>
                                        <p:strVal val="visible"/>
                                      </p:to>
                                    </p:set>
                                    <p:animEffect transition="in" filter="blinds(horizontal)">
                                      <p:cBhvr>
                                        <p:cTn id="20" dur="500"/>
                                        <p:tgtEl>
                                          <p:spTgt spid="41472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414728"/>
                                        </p:tgtEl>
                                        <p:attrNameLst>
                                          <p:attrName>style.visibility</p:attrName>
                                        </p:attrNameLst>
                                      </p:cBhvr>
                                      <p:to>
                                        <p:strVal val="visible"/>
                                      </p:to>
                                    </p:set>
                                    <p:animEffect transition="in" filter="blinds(horizontal)">
                                      <p:cBhvr>
                                        <p:cTn id="25" dur="500"/>
                                        <p:tgtEl>
                                          <p:spTgt spid="41472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76809"/>
                                        </p:tgtEl>
                                        <p:attrNameLst>
                                          <p:attrName>style.visibility</p:attrName>
                                        </p:attrNameLst>
                                      </p:cBhvr>
                                      <p:to>
                                        <p:strVal val="visible"/>
                                      </p:to>
                                    </p:set>
                                    <p:anim calcmode="lin" valueType="num">
                                      <p:cBhvr additive="base">
                                        <p:cTn id="30" dur="1000" fill="hold"/>
                                        <p:tgtEl>
                                          <p:spTgt spid="76809"/>
                                        </p:tgtEl>
                                        <p:attrNameLst>
                                          <p:attrName>ppt_x</p:attrName>
                                        </p:attrNameLst>
                                      </p:cBhvr>
                                      <p:tavLst>
                                        <p:tav tm="0">
                                          <p:val>
                                            <p:strVal val="0-#ppt_w/2"/>
                                          </p:val>
                                        </p:tav>
                                        <p:tav tm="100000">
                                          <p:val>
                                            <p:strVal val="#ppt_x"/>
                                          </p:val>
                                        </p:tav>
                                      </p:tavLst>
                                    </p:anim>
                                    <p:anim calcmode="lin" valueType="num">
                                      <p:cBhvr additive="base">
                                        <p:cTn id="31" dur="1000" fill="hold"/>
                                        <p:tgtEl>
                                          <p:spTgt spid="768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4" grpId="0"/>
      <p:bldP spid="414727" grpId="0"/>
      <p:bldP spid="41473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3705" name="Object 9">
            <a:extLst>
              <a:ext uri="{FF2B5EF4-FFF2-40B4-BE49-F238E27FC236}">
                <a16:creationId xmlns:a16="http://schemas.microsoft.com/office/drawing/2014/main" id="{F5E9D3E3-D1A0-4006-B8A5-BEEBA39E0854}"/>
              </a:ext>
            </a:extLst>
          </p:cNvPr>
          <p:cNvGraphicFramePr>
            <a:graphicFrameLocks noChangeAspect="1"/>
          </p:cNvGraphicFramePr>
          <p:nvPr>
            <p:extLst>
              <p:ext uri="{D42A27DB-BD31-4B8C-83A1-F6EECF244321}">
                <p14:modId xmlns:p14="http://schemas.microsoft.com/office/powerpoint/2010/main" val="399320792"/>
              </p:ext>
            </p:extLst>
          </p:nvPr>
        </p:nvGraphicFramePr>
        <p:xfrm>
          <a:off x="2411785" y="1485106"/>
          <a:ext cx="5637212" cy="542925"/>
        </p:xfrm>
        <a:graphic>
          <a:graphicData uri="http://schemas.openxmlformats.org/presentationml/2006/ole">
            <mc:AlternateContent xmlns:mc="http://schemas.openxmlformats.org/markup-compatibility/2006">
              <mc:Choice xmlns:v="urn:schemas-microsoft-com:vml" Requires="v">
                <p:oleObj spid="_x0000_s115930" name="Equation" r:id="rId3" imgW="2654300" imgH="254000" progId="Equation.DSMT4">
                  <p:embed/>
                </p:oleObj>
              </mc:Choice>
              <mc:Fallback>
                <p:oleObj name="Equation" r:id="rId3" imgW="2654300" imgH="254000" progId="Equation.DSMT4">
                  <p:embed/>
                  <p:pic>
                    <p:nvPicPr>
                      <p:cNvPr id="413705" name="Object 9">
                        <a:extLst>
                          <a:ext uri="{FF2B5EF4-FFF2-40B4-BE49-F238E27FC236}">
                            <a16:creationId xmlns:a16="http://schemas.microsoft.com/office/drawing/2014/main" id="{F5E9D3E3-D1A0-4006-B8A5-BEEBA39E08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785" y="1485106"/>
                        <a:ext cx="5637212"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3712" name="Rectangle 16">
            <a:extLst>
              <a:ext uri="{FF2B5EF4-FFF2-40B4-BE49-F238E27FC236}">
                <a16:creationId xmlns:a16="http://schemas.microsoft.com/office/drawing/2014/main" id="{21C33641-F2F4-4F00-B0E0-57E1883E85A6}"/>
              </a:ext>
            </a:extLst>
          </p:cNvPr>
          <p:cNvSpPr>
            <a:spLocks noChangeArrowheads="1"/>
          </p:cNvSpPr>
          <p:nvPr/>
        </p:nvSpPr>
        <p:spPr bwMode="auto">
          <a:xfrm>
            <a:off x="611560" y="1124744"/>
            <a:ext cx="4151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对于长二极管       ，上式简化为</a:t>
            </a:r>
          </a:p>
        </p:txBody>
      </p:sp>
      <p:sp>
        <p:nvSpPr>
          <p:cNvPr id="413714" name="Rectangle 18">
            <a:extLst>
              <a:ext uri="{FF2B5EF4-FFF2-40B4-BE49-F238E27FC236}">
                <a16:creationId xmlns:a16="http://schemas.microsoft.com/office/drawing/2014/main" id="{A25986A4-475D-473E-96B9-3C58B91B5A5D}"/>
              </a:ext>
            </a:extLst>
          </p:cNvPr>
          <p:cNvSpPr>
            <a:spLocks noChangeArrowheads="1"/>
          </p:cNvSpPr>
          <p:nvPr/>
        </p:nvSpPr>
        <p:spPr bwMode="auto">
          <a:xfrm>
            <a:off x="756022" y="2132806"/>
            <a:ext cx="2614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spcBef>
                <a:spcPct val="20000"/>
              </a:spcBef>
            </a:pPr>
            <a:r>
              <a:rPr kumimoji="0" lang="en-US" altLang="zh-CN" sz="2000" b="1">
                <a:solidFill>
                  <a:srgbClr val="16165D"/>
                </a:solidFill>
              </a:rPr>
              <a:t>PN</a:t>
            </a:r>
            <a:r>
              <a:rPr kumimoji="0" lang="zh-CN" altLang="en-US" sz="2000" b="1">
                <a:solidFill>
                  <a:srgbClr val="16165D"/>
                </a:solidFill>
              </a:rPr>
              <a:t>结</a:t>
            </a:r>
            <a:r>
              <a:rPr kumimoji="0" lang="en-US" altLang="zh-CN" sz="2000" b="1">
                <a:solidFill>
                  <a:srgbClr val="16165D"/>
                </a:solidFill>
              </a:rPr>
              <a:t>P</a:t>
            </a:r>
            <a:r>
              <a:rPr kumimoji="0" lang="zh-CN" altLang="en-US" sz="2000" b="1">
                <a:solidFill>
                  <a:srgbClr val="16165D"/>
                </a:solidFill>
              </a:rPr>
              <a:t>侧的电子分布为</a:t>
            </a:r>
            <a:endParaRPr kumimoji="0" lang="en-US" altLang="zh-CN" sz="2000" b="1">
              <a:solidFill>
                <a:srgbClr val="16165D"/>
              </a:solidFill>
            </a:endParaRPr>
          </a:p>
        </p:txBody>
      </p:sp>
      <p:graphicFrame>
        <p:nvGraphicFramePr>
          <p:cNvPr id="413715" name="Object 19">
            <a:extLst>
              <a:ext uri="{FF2B5EF4-FFF2-40B4-BE49-F238E27FC236}">
                <a16:creationId xmlns:a16="http://schemas.microsoft.com/office/drawing/2014/main" id="{7D297648-953A-4B72-B29D-24934069ABAF}"/>
              </a:ext>
            </a:extLst>
          </p:cNvPr>
          <p:cNvGraphicFramePr>
            <a:graphicFrameLocks noChangeAspect="1"/>
          </p:cNvGraphicFramePr>
          <p:nvPr>
            <p:extLst>
              <p:ext uri="{D42A27DB-BD31-4B8C-83A1-F6EECF244321}">
                <p14:modId xmlns:p14="http://schemas.microsoft.com/office/powerpoint/2010/main" val="2956009929"/>
              </p:ext>
            </p:extLst>
          </p:nvPr>
        </p:nvGraphicFramePr>
        <p:xfrm>
          <a:off x="2484810" y="2493169"/>
          <a:ext cx="5691187" cy="569912"/>
        </p:xfrm>
        <a:graphic>
          <a:graphicData uri="http://schemas.openxmlformats.org/presentationml/2006/ole">
            <mc:AlternateContent xmlns:mc="http://schemas.openxmlformats.org/markup-compatibility/2006">
              <mc:Choice xmlns:v="urn:schemas-microsoft-com:vml" Requires="v">
                <p:oleObj spid="_x0000_s115931" name="Equation" r:id="rId5" imgW="2679700" imgH="266700" progId="Equation.DSMT4">
                  <p:embed/>
                </p:oleObj>
              </mc:Choice>
              <mc:Fallback>
                <p:oleObj name="Equation" r:id="rId5" imgW="2679700" imgH="266700" progId="Equation.DSMT4">
                  <p:embed/>
                  <p:pic>
                    <p:nvPicPr>
                      <p:cNvPr id="413715" name="Object 19">
                        <a:extLst>
                          <a:ext uri="{FF2B5EF4-FFF2-40B4-BE49-F238E27FC236}">
                            <a16:creationId xmlns:a16="http://schemas.microsoft.com/office/drawing/2014/main" id="{7D297648-953A-4B72-B29D-24934069AB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810" y="2493169"/>
                        <a:ext cx="5691187"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3718" name="Object 22">
            <a:extLst>
              <a:ext uri="{FF2B5EF4-FFF2-40B4-BE49-F238E27FC236}">
                <a16:creationId xmlns:a16="http://schemas.microsoft.com/office/drawing/2014/main" id="{20267EDB-7AF2-4C50-9A4B-6C016FC8495E}"/>
              </a:ext>
            </a:extLst>
          </p:cNvPr>
          <p:cNvGraphicFramePr>
            <a:graphicFrameLocks noChangeAspect="1"/>
          </p:cNvGraphicFramePr>
          <p:nvPr>
            <p:extLst>
              <p:ext uri="{D42A27DB-BD31-4B8C-83A1-F6EECF244321}">
                <p14:modId xmlns:p14="http://schemas.microsoft.com/office/powerpoint/2010/main" val="2214030274"/>
              </p:ext>
            </p:extLst>
          </p:nvPr>
        </p:nvGraphicFramePr>
        <p:xfrm>
          <a:off x="3208710" y="3494089"/>
          <a:ext cx="3600450" cy="2517775"/>
        </p:xfrm>
        <a:graphic>
          <a:graphicData uri="http://schemas.openxmlformats.org/presentationml/2006/ole">
            <mc:AlternateContent xmlns:mc="http://schemas.openxmlformats.org/markup-compatibility/2006">
              <mc:Choice xmlns:v="urn:schemas-microsoft-com:vml" Requires="v">
                <p:oleObj spid="_x0000_s115932" name="Visio" r:id="rId7" imgW="2797187" imgH="2126852" progId="Visio.Drawing.11">
                  <p:embed/>
                </p:oleObj>
              </mc:Choice>
              <mc:Fallback>
                <p:oleObj name="Visio" r:id="rId7" imgW="2797187" imgH="2126852" progId="Visio.Drawing.11">
                  <p:embed/>
                  <p:pic>
                    <p:nvPicPr>
                      <p:cNvPr id="413718" name="Object 22">
                        <a:extLst>
                          <a:ext uri="{FF2B5EF4-FFF2-40B4-BE49-F238E27FC236}">
                            <a16:creationId xmlns:a16="http://schemas.microsoft.com/office/drawing/2014/main" id="{20267EDB-7AF2-4C50-9A4B-6C016FC849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8710" y="3494089"/>
                        <a:ext cx="3600450" cy="251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3719" name="Rectangle 23">
            <a:extLst>
              <a:ext uri="{FF2B5EF4-FFF2-40B4-BE49-F238E27FC236}">
                <a16:creationId xmlns:a16="http://schemas.microsoft.com/office/drawing/2014/main" id="{703FA6A6-6F1D-46D0-90D8-43C95B7B4266}"/>
              </a:ext>
            </a:extLst>
          </p:cNvPr>
          <p:cNvSpPr>
            <a:spLocks noChangeArrowheads="1"/>
          </p:cNvSpPr>
          <p:nvPr/>
        </p:nvSpPr>
        <p:spPr bwMode="auto">
          <a:xfrm>
            <a:off x="756022" y="3906293"/>
            <a:ext cx="22621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dirty="0">
                <a:solidFill>
                  <a:srgbClr val="000066"/>
                </a:solidFill>
              </a:rPr>
              <a:t>少数载流子分布</a:t>
            </a:r>
          </a:p>
        </p:txBody>
      </p:sp>
      <p:graphicFrame>
        <p:nvGraphicFramePr>
          <p:cNvPr id="413720" name="Object 24">
            <a:extLst>
              <a:ext uri="{FF2B5EF4-FFF2-40B4-BE49-F238E27FC236}">
                <a16:creationId xmlns:a16="http://schemas.microsoft.com/office/drawing/2014/main" id="{C68E4D90-597C-422E-8C53-2296E4ABD81F}"/>
              </a:ext>
            </a:extLst>
          </p:cNvPr>
          <p:cNvGraphicFramePr>
            <a:graphicFrameLocks noGrp="1" noChangeAspect="1"/>
          </p:cNvGraphicFramePr>
          <p:nvPr>
            <p:ph idx="1"/>
            <p:extLst>
              <p:ext uri="{D42A27DB-BD31-4B8C-83A1-F6EECF244321}">
                <p14:modId xmlns:p14="http://schemas.microsoft.com/office/powerpoint/2010/main" val="1902458092"/>
              </p:ext>
            </p:extLst>
          </p:nvPr>
        </p:nvGraphicFramePr>
        <p:xfrm>
          <a:off x="2302247" y="1208881"/>
          <a:ext cx="906463" cy="366713"/>
        </p:xfrm>
        <a:graphic>
          <a:graphicData uri="http://schemas.openxmlformats.org/presentationml/2006/ole">
            <mc:AlternateContent xmlns:mc="http://schemas.openxmlformats.org/markup-compatibility/2006">
              <mc:Choice xmlns:v="urn:schemas-microsoft-com:vml" Requires="v">
                <p:oleObj spid="_x0000_s115933" name="Equation" r:id="rId9" imgW="596900" imgH="241300" progId="Equation.DSMT4">
                  <p:embed/>
                </p:oleObj>
              </mc:Choice>
              <mc:Fallback>
                <p:oleObj name="Equation" r:id="rId9" imgW="596900" imgH="241300" progId="Equation.DSMT4">
                  <p:embed/>
                  <p:pic>
                    <p:nvPicPr>
                      <p:cNvPr id="413720" name="Object 24">
                        <a:extLst>
                          <a:ext uri="{FF2B5EF4-FFF2-40B4-BE49-F238E27FC236}">
                            <a16:creationId xmlns:a16="http://schemas.microsoft.com/office/drawing/2014/main" id="{C68E4D90-597C-422E-8C53-2296E4ABD81F}"/>
                          </a:ext>
                        </a:extLst>
                      </p:cNvPr>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2247" y="1208881"/>
                        <a:ext cx="9064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388331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3712"/>
                                        </p:tgtEl>
                                        <p:attrNameLst>
                                          <p:attrName>style.visibility</p:attrName>
                                        </p:attrNameLst>
                                      </p:cBhvr>
                                      <p:to>
                                        <p:strVal val="visible"/>
                                      </p:to>
                                    </p:set>
                                    <p:animEffect transition="in" filter="blinds(horizontal)">
                                      <p:cBhvr>
                                        <p:cTn id="7" dur="500"/>
                                        <p:tgtEl>
                                          <p:spTgt spid="413712"/>
                                        </p:tgtEl>
                                      </p:cBhvr>
                                    </p:animEffect>
                                  </p:childTnLst>
                                </p:cTn>
                              </p:par>
                              <p:par>
                                <p:cTn id="8" presetID="3" presetClass="entr" presetSubtype="10" fill="hold" nodeType="withEffect">
                                  <p:stCondLst>
                                    <p:cond delay="0"/>
                                  </p:stCondLst>
                                  <p:childTnLst>
                                    <p:set>
                                      <p:cBhvr>
                                        <p:cTn id="9" dur="1" fill="hold">
                                          <p:stCondLst>
                                            <p:cond delay="0"/>
                                          </p:stCondLst>
                                        </p:cTn>
                                        <p:tgtEl>
                                          <p:spTgt spid="413720"/>
                                        </p:tgtEl>
                                        <p:attrNameLst>
                                          <p:attrName>style.visibility</p:attrName>
                                        </p:attrNameLst>
                                      </p:cBhvr>
                                      <p:to>
                                        <p:strVal val="visible"/>
                                      </p:to>
                                    </p:set>
                                    <p:animEffect transition="in" filter="blinds(horizontal)">
                                      <p:cBhvr>
                                        <p:cTn id="10" dur="500"/>
                                        <p:tgtEl>
                                          <p:spTgt spid="41372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13705"/>
                                        </p:tgtEl>
                                        <p:attrNameLst>
                                          <p:attrName>style.visibility</p:attrName>
                                        </p:attrNameLst>
                                      </p:cBhvr>
                                      <p:to>
                                        <p:strVal val="visible"/>
                                      </p:to>
                                    </p:set>
                                    <p:animEffect transition="in" filter="blinds(horizontal)">
                                      <p:cBhvr>
                                        <p:cTn id="15" dur="500"/>
                                        <p:tgtEl>
                                          <p:spTgt spid="41370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13714"/>
                                        </p:tgtEl>
                                        <p:attrNameLst>
                                          <p:attrName>style.visibility</p:attrName>
                                        </p:attrNameLst>
                                      </p:cBhvr>
                                      <p:to>
                                        <p:strVal val="visible"/>
                                      </p:to>
                                    </p:set>
                                    <p:animEffect transition="in" filter="blinds(horizontal)">
                                      <p:cBhvr>
                                        <p:cTn id="20" dur="500"/>
                                        <p:tgtEl>
                                          <p:spTgt spid="41371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413715"/>
                                        </p:tgtEl>
                                        <p:attrNameLst>
                                          <p:attrName>style.visibility</p:attrName>
                                        </p:attrNameLst>
                                      </p:cBhvr>
                                      <p:to>
                                        <p:strVal val="visible"/>
                                      </p:to>
                                    </p:set>
                                    <p:animEffect transition="in" filter="blinds(horizontal)">
                                      <p:cBhvr>
                                        <p:cTn id="25" dur="500"/>
                                        <p:tgtEl>
                                          <p:spTgt spid="41371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13719"/>
                                        </p:tgtEl>
                                        <p:attrNameLst>
                                          <p:attrName>style.visibility</p:attrName>
                                        </p:attrNameLst>
                                      </p:cBhvr>
                                      <p:to>
                                        <p:strVal val="visible"/>
                                      </p:to>
                                    </p:set>
                                    <p:animEffect transition="in" filter="blinds(horizontal)">
                                      <p:cBhvr>
                                        <p:cTn id="30" dur="500"/>
                                        <p:tgtEl>
                                          <p:spTgt spid="413719"/>
                                        </p:tgtEl>
                                      </p:cBhvr>
                                    </p:animEffect>
                                  </p:childTnLst>
                                </p:cTn>
                              </p:par>
                              <p:par>
                                <p:cTn id="31" presetID="3" presetClass="entr" presetSubtype="10" fill="hold" nodeType="withEffect">
                                  <p:stCondLst>
                                    <p:cond delay="0"/>
                                  </p:stCondLst>
                                  <p:childTnLst>
                                    <p:set>
                                      <p:cBhvr>
                                        <p:cTn id="32" dur="1" fill="hold">
                                          <p:stCondLst>
                                            <p:cond delay="0"/>
                                          </p:stCondLst>
                                        </p:cTn>
                                        <p:tgtEl>
                                          <p:spTgt spid="413718"/>
                                        </p:tgtEl>
                                        <p:attrNameLst>
                                          <p:attrName>style.visibility</p:attrName>
                                        </p:attrNameLst>
                                      </p:cBhvr>
                                      <p:to>
                                        <p:strVal val="visible"/>
                                      </p:to>
                                    </p:set>
                                    <p:animEffect transition="in" filter="blinds(horizontal)">
                                      <p:cBhvr>
                                        <p:cTn id="33" dur="500"/>
                                        <p:tgtEl>
                                          <p:spTgt spid="413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712" grpId="0"/>
      <p:bldP spid="413714" grpId="0"/>
      <p:bldP spid="41371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323" name="Object 27">
            <a:extLst>
              <a:ext uri="{FF2B5EF4-FFF2-40B4-BE49-F238E27FC236}">
                <a16:creationId xmlns:a16="http://schemas.microsoft.com/office/drawing/2014/main" id="{D4294F14-DDDB-4623-A4EE-756787CEB584}"/>
              </a:ext>
            </a:extLst>
          </p:cNvPr>
          <p:cNvGraphicFramePr>
            <a:graphicFrameLocks noChangeAspect="1"/>
          </p:cNvGraphicFramePr>
          <p:nvPr>
            <p:extLst>
              <p:ext uri="{D42A27DB-BD31-4B8C-83A1-F6EECF244321}">
                <p14:modId xmlns:p14="http://schemas.microsoft.com/office/powerpoint/2010/main" val="3920195736"/>
              </p:ext>
            </p:extLst>
          </p:nvPr>
        </p:nvGraphicFramePr>
        <p:xfrm>
          <a:off x="1588293" y="4725144"/>
          <a:ext cx="5646738" cy="1590675"/>
        </p:xfrm>
        <a:graphic>
          <a:graphicData uri="http://schemas.openxmlformats.org/presentationml/2006/ole">
            <mc:AlternateContent xmlns:mc="http://schemas.openxmlformats.org/markup-compatibility/2006">
              <mc:Choice xmlns:v="urn:schemas-microsoft-com:vml" Requires="v">
                <p:oleObj spid="_x0000_s116846" name="Equation" r:id="rId3" imgW="2562208" imgH="743085" progId="Equation.DSMT4">
                  <p:embed/>
                </p:oleObj>
              </mc:Choice>
              <mc:Fallback>
                <p:oleObj name="Equation" r:id="rId3" imgW="2562208" imgH="743085" progId="Equation.DSMT4">
                  <p:embed/>
                  <p:pic>
                    <p:nvPicPr>
                      <p:cNvPr id="55323" name="Object 27">
                        <a:extLst>
                          <a:ext uri="{FF2B5EF4-FFF2-40B4-BE49-F238E27FC236}">
                            <a16:creationId xmlns:a16="http://schemas.microsoft.com/office/drawing/2014/main" id="{D4294F14-DDDB-4623-A4EE-756787CEB584}"/>
                          </a:ext>
                        </a:extLst>
                      </p:cNvPr>
                      <p:cNvPicPr>
                        <a:picLocks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1588293" y="4725144"/>
                        <a:ext cx="5646738"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26" name="Rectangle 30">
            <a:extLst>
              <a:ext uri="{FF2B5EF4-FFF2-40B4-BE49-F238E27FC236}">
                <a16:creationId xmlns:a16="http://schemas.microsoft.com/office/drawing/2014/main" id="{1A310B5C-0C76-4347-AA69-1D0356F402F1}"/>
              </a:ext>
            </a:extLst>
          </p:cNvPr>
          <p:cNvSpPr>
            <a:spLocks noChangeArrowheads="1"/>
          </p:cNvSpPr>
          <p:nvPr/>
        </p:nvSpPr>
        <p:spPr bwMode="auto">
          <a:xfrm>
            <a:off x="611560" y="4149080"/>
            <a:ext cx="7396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lang="en-US" altLang="zh-CN" b="1" dirty="0">
                <a:latin typeface="Times New Roman" panose="02020603050405020304" pitchFamily="18" charset="0"/>
              </a:rPr>
              <a:t>   </a:t>
            </a:r>
            <a:r>
              <a:rPr lang="zh-CN" altLang="en-US" b="1" dirty="0">
                <a:latin typeface="Times New Roman" panose="02020603050405020304" pitchFamily="18" charset="0"/>
              </a:rPr>
              <a:t>同理，</a:t>
            </a:r>
            <a:r>
              <a:rPr lang="en-US" altLang="zh-CN" b="1" dirty="0">
                <a:latin typeface="Times New Roman" panose="02020603050405020304" pitchFamily="18" charset="0"/>
              </a:rPr>
              <a:t>P</a:t>
            </a:r>
            <a:r>
              <a:rPr lang="en-US" altLang="zh-CN" sz="1600" b="1" dirty="0">
                <a:latin typeface="Times New Roman" panose="02020603050405020304" pitchFamily="18" charset="0"/>
              </a:rPr>
              <a:t> </a:t>
            </a:r>
            <a:r>
              <a:rPr lang="zh-CN" altLang="en-US" b="1" dirty="0">
                <a:latin typeface="Tahoma" panose="020B0604030504040204" pitchFamily="34" charset="0"/>
              </a:rPr>
              <a:t>区内的非平衡少子电子</a:t>
            </a:r>
          </a:p>
        </p:txBody>
      </p:sp>
      <p:graphicFrame>
        <p:nvGraphicFramePr>
          <p:cNvPr id="55356" name="Object 60">
            <a:extLst>
              <a:ext uri="{FF2B5EF4-FFF2-40B4-BE49-F238E27FC236}">
                <a16:creationId xmlns:a16="http://schemas.microsoft.com/office/drawing/2014/main" id="{369C71B5-4A4E-4A77-9D25-6DBCF576904D}"/>
              </a:ext>
            </a:extLst>
          </p:cNvPr>
          <p:cNvGraphicFramePr>
            <a:graphicFrameLocks noChangeAspect="1"/>
          </p:cNvGraphicFramePr>
          <p:nvPr>
            <p:extLst>
              <p:ext uri="{D42A27DB-BD31-4B8C-83A1-F6EECF244321}">
                <p14:modId xmlns:p14="http://schemas.microsoft.com/office/powerpoint/2010/main" val="642267762"/>
              </p:ext>
            </p:extLst>
          </p:nvPr>
        </p:nvGraphicFramePr>
        <p:xfrm>
          <a:off x="1588293" y="1915121"/>
          <a:ext cx="5967412" cy="1601787"/>
        </p:xfrm>
        <a:graphic>
          <a:graphicData uri="http://schemas.openxmlformats.org/presentationml/2006/ole">
            <mc:AlternateContent xmlns:mc="http://schemas.openxmlformats.org/markup-compatibility/2006">
              <mc:Choice xmlns:v="urn:schemas-microsoft-com:vml" Requires="v">
                <p:oleObj spid="_x0000_s116847" name="Equation" r:id="rId5" imgW="2686016" imgH="743085" progId="Equation.DSMT4">
                  <p:embed/>
                </p:oleObj>
              </mc:Choice>
              <mc:Fallback>
                <p:oleObj name="Equation" r:id="rId5" imgW="2686016" imgH="743085" progId="Equation.DSMT4">
                  <p:embed/>
                  <p:pic>
                    <p:nvPicPr>
                      <p:cNvPr id="55356" name="Object 60">
                        <a:extLst>
                          <a:ext uri="{FF2B5EF4-FFF2-40B4-BE49-F238E27FC236}">
                            <a16:creationId xmlns:a16="http://schemas.microsoft.com/office/drawing/2014/main" id="{369C71B5-4A4E-4A77-9D25-6DBCF576904D}"/>
                          </a:ext>
                        </a:extLst>
                      </p:cNvPr>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1588293" y="1915121"/>
                        <a:ext cx="5967412" cy="160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59" name="Rectangle 63">
            <a:extLst>
              <a:ext uri="{FF2B5EF4-FFF2-40B4-BE49-F238E27FC236}">
                <a16:creationId xmlns:a16="http://schemas.microsoft.com/office/drawing/2014/main" id="{59234F5A-835A-4916-B907-FDFD1D73FBF5}"/>
              </a:ext>
            </a:extLst>
          </p:cNvPr>
          <p:cNvSpPr>
            <a:spLocks noChangeArrowheads="1"/>
          </p:cNvSpPr>
          <p:nvPr/>
        </p:nvSpPr>
        <p:spPr bwMode="auto">
          <a:xfrm>
            <a:off x="125412" y="620688"/>
            <a:ext cx="889317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lnSpc>
                <a:spcPct val="130000"/>
              </a:lnSpc>
            </a:pPr>
            <a:r>
              <a:rPr lang="en-US" altLang="zh-CN" b="1">
                <a:latin typeface="Tahoma" panose="020B0604030504040204" pitchFamily="34" charset="0"/>
              </a:rPr>
              <a:t>        </a:t>
            </a:r>
            <a:r>
              <a:rPr lang="zh-CN" altLang="en-US" b="1">
                <a:latin typeface="Tahoma" panose="020B0604030504040204" pitchFamily="34" charset="0"/>
              </a:rPr>
              <a:t>当</a:t>
            </a:r>
            <a:r>
              <a:rPr lang="zh-CN" altLang="en-US" sz="1600" b="1">
                <a:latin typeface="Times New Roman" panose="02020603050405020304" pitchFamily="18" charset="0"/>
              </a:rPr>
              <a:t> </a:t>
            </a:r>
            <a:r>
              <a:rPr lang="en-US" altLang="zh-CN" b="1">
                <a:latin typeface="Times New Roman" panose="02020603050405020304" pitchFamily="18" charset="0"/>
              </a:rPr>
              <a:t>N</a:t>
            </a:r>
            <a:r>
              <a:rPr lang="en-US" altLang="zh-CN" sz="1600" b="1">
                <a:latin typeface="Times New Roman" panose="02020603050405020304" pitchFamily="18" charset="0"/>
              </a:rPr>
              <a:t> </a:t>
            </a:r>
            <a:r>
              <a:rPr lang="zh-CN" altLang="en-US" b="1">
                <a:latin typeface="Tahoma" panose="020B0604030504040204" pitchFamily="34" charset="0"/>
              </a:rPr>
              <a:t>区足够长 </a:t>
            </a:r>
            <a:r>
              <a:rPr lang="en-US" altLang="zh-CN" b="1">
                <a:latin typeface="Times New Roman" panose="02020603050405020304" pitchFamily="18" charset="0"/>
              </a:rPr>
              <a:t>( </a:t>
            </a:r>
            <a:r>
              <a:rPr lang="en-US" altLang="zh-CN" sz="1200" b="1">
                <a:latin typeface="Times New Roman" panose="02020603050405020304" pitchFamily="18" charset="0"/>
              </a:rPr>
              <a:t> </a:t>
            </a:r>
            <a:r>
              <a:rPr lang="en-US" altLang="zh-CN" b="1">
                <a:latin typeface="Times New Roman" panose="02020603050405020304" pitchFamily="18" charset="0"/>
              </a:rPr>
              <a:t>&gt;&gt;</a:t>
            </a:r>
            <a:r>
              <a:rPr lang="en-US" altLang="zh-CN" sz="2000" b="1">
                <a:latin typeface="Times New Roman" panose="02020603050405020304" pitchFamily="18" charset="0"/>
              </a:rPr>
              <a:t> </a:t>
            </a:r>
            <a:r>
              <a:rPr lang="en-US" altLang="zh-CN" b="1" i="1">
                <a:latin typeface="Times New Roman" panose="02020603050405020304" pitchFamily="18" charset="0"/>
              </a:rPr>
              <a:t>L</a:t>
            </a:r>
            <a:r>
              <a:rPr lang="en-US" altLang="zh-CN" b="1" baseline="-25000">
                <a:latin typeface="Times New Roman" panose="02020603050405020304" pitchFamily="18" charset="0"/>
              </a:rPr>
              <a:t>p</a:t>
            </a:r>
            <a:r>
              <a:rPr lang="en-US" altLang="zh-CN" b="1" i="1" baseline="-25000">
                <a:latin typeface="Times New Roman" panose="02020603050405020304" pitchFamily="18" charset="0"/>
              </a:rPr>
              <a:t> </a:t>
            </a:r>
            <a:r>
              <a:rPr lang="en-US" altLang="zh-CN" sz="1200" b="1" i="1" baseline="-25000">
                <a:latin typeface="Times New Roman" panose="02020603050405020304" pitchFamily="18" charset="0"/>
              </a:rPr>
              <a:t> </a:t>
            </a:r>
            <a:r>
              <a:rPr lang="en-US" altLang="zh-CN" b="1">
                <a:latin typeface="Times New Roman" panose="02020603050405020304" pitchFamily="18" charset="0"/>
              </a:rPr>
              <a:t>) </a:t>
            </a:r>
            <a:r>
              <a:rPr lang="zh-CN" altLang="en-US" b="1">
                <a:latin typeface="Times New Roman" panose="02020603050405020304" pitchFamily="18" charset="0"/>
              </a:rPr>
              <a:t>时，</a:t>
            </a:r>
            <a:r>
              <a:rPr lang="zh-CN" altLang="en-US" b="1">
                <a:latin typeface="Tahoma" panose="020B0604030504040204" pitchFamily="34" charset="0"/>
              </a:rPr>
              <a:t>利用</a:t>
            </a:r>
            <a:r>
              <a:rPr lang="zh-CN" altLang="en-US" sz="1600" b="1">
                <a:latin typeface="Times New Roman" panose="02020603050405020304" pitchFamily="18" charset="0"/>
              </a:rPr>
              <a:t> </a:t>
            </a:r>
            <a:r>
              <a:rPr lang="zh-CN" altLang="en-US"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sym typeface="Symbol" panose="05050102010706020507" pitchFamily="18" charset="2"/>
              </a:rPr>
              <a:t>p</a:t>
            </a:r>
            <a:r>
              <a:rPr lang="en-US" altLang="zh-CN" b="1" baseline="-25000">
                <a:latin typeface="Times New Roman" panose="02020603050405020304" pitchFamily="18" charset="0"/>
                <a:sym typeface="Symbol" panose="05050102010706020507" pitchFamily="18" charset="2"/>
              </a:rPr>
              <a:t>n</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sym typeface="Symbol" panose="05050102010706020507" pitchFamily="18" charset="2"/>
              </a:rPr>
              <a:t>x</a:t>
            </a:r>
            <a:r>
              <a:rPr lang="en-US" altLang="zh-CN" b="1">
                <a:latin typeface="Times New Roman" panose="02020603050405020304" pitchFamily="18" charset="0"/>
                <a:sym typeface="Symbol" panose="05050102010706020507" pitchFamily="18" charset="2"/>
              </a:rPr>
              <a:t>) </a:t>
            </a:r>
            <a:r>
              <a:rPr lang="zh-CN" altLang="en-US" b="1">
                <a:latin typeface="Tahoma" panose="020B0604030504040204" pitchFamily="34" charset="0"/>
              </a:rPr>
              <a:t>的边界条件可解出系数</a:t>
            </a:r>
            <a:r>
              <a:rPr lang="zh-CN" altLang="en-US" sz="1200" b="1">
                <a:latin typeface="Times New Roman" panose="02020603050405020304" pitchFamily="18" charset="0"/>
              </a:rPr>
              <a:t> </a:t>
            </a:r>
            <a:r>
              <a:rPr lang="en-US" altLang="zh-CN" b="1" i="1">
                <a:latin typeface="Times New Roman" panose="02020603050405020304" pitchFamily="18" charset="0"/>
              </a:rPr>
              <a:t>A</a:t>
            </a:r>
            <a:r>
              <a:rPr lang="zh-CN" altLang="en-US" b="1">
                <a:latin typeface="Times New Roman" panose="02020603050405020304" pitchFamily="18" charset="0"/>
              </a:rPr>
              <a:t>、</a:t>
            </a:r>
            <a:r>
              <a:rPr lang="en-US" altLang="zh-CN" b="1" i="1">
                <a:latin typeface="Times New Roman" panose="02020603050405020304" pitchFamily="18" charset="0"/>
              </a:rPr>
              <a:t>B</a:t>
            </a:r>
            <a:r>
              <a:rPr lang="zh-CN" altLang="en-US" b="1">
                <a:latin typeface="Times New Roman" panose="02020603050405020304" pitchFamily="18" charset="0"/>
              </a:rPr>
              <a:t>，</a:t>
            </a:r>
            <a:r>
              <a:rPr lang="zh-CN" altLang="en-US" b="1">
                <a:latin typeface="Tahoma" panose="020B0604030504040204" pitchFamily="34" charset="0"/>
              </a:rPr>
              <a:t>于是可得</a:t>
            </a:r>
            <a:r>
              <a:rPr lang="zh-CN" altLang="en-US" sz="1600" b="1">
                <a:latin typeface="Times New Roman" panose="02020603050405020304" pitchFamily="18" charset="0"/>
              </a:rPr>
              <a:t> </a:t>
            </a:r>
            <a:r>
              <a:rPr lang="en-US" altLang="zh-CN" b="1">
                <a:latin typeface="Times New Roman" panose="02020603050405020304" pitchFamily="18" charset="0"/>
              </a:rPr>
              <a:t>N</a:t>
            </a:r>
            <a:r>
              <a:rPr lang="en-US" altLang="zh-CN" sz="1600" b="1">
                <a:latin typeface="Times New Roman" panose="02020603050405020304" pitchFamily="18" charset="0"/>
              </a:rPr>
              <a:t> </a:t>
            </a:r>
            <a:r>
              <a:rPr lang="zh-CN" altLang="en-US" b="1">
                <a:latin typeface="Tahoma" panose="020B0604030504040204" pitchFamily="34" charset="0"/>
              </a:rPr>
              <a:t>区内的非平衡少子空穴的分布为</a:t>
            </a:r>
          </a:p>
        </p:txBody>
      </p:sp>
    </p:spTree>
    <p:extLst>
      <p:ext uri="{BB962C8B-B14F-4D97-AF65-F5344CB8AC3E}">
        <p14:creationId xmlns:p14="http://schemas.microsoft.com/office/powerpoint/2010/main" val="6392924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359"/>
                                        </p:tgtEl>
                                        <p:attrNameLst>
                                          <p:attrName>style.visibility</p:attrName>
                                        </p:attrNameLst>
                                      </p:cBhvr>
                                      <p:to>
                                        <p:strVal val="visible"/>
                                      </p:to>
                                    </p:set>
                                    <p:anim calcmode="lin" valueType="num">
                                      <p:cBhvr additive="base">
                                        <p:cTn id="7" dur="1000" fill="hold"/>
                                        <p:tgtEl>
                                          <p:spTgt spid="55359"/>
                                        </p:tgtEl>
                                        <p:attrNameLst>
                                          <p:attrName>ppt_x</p:attrName>
                                        </p:attrNameLst>
                                      </p:cBhvr>
                                      <p:tavLst>
                                        <p:tav tm="0">
                                          <p:val>
                                            <p:strVal val="0-#ppt_w/2"/>
                                          </p:val>
                                        </p:tav>
                                        <p:tav tm="100000">
                                          <p:val>
                                            <p:strVal val="#ppt_x"/>
                                          </p:val>
                                        </p:tav>
                                      </p:tavLst>
                                    </p:anim>
                                    <p:anim calcmode="lin" valueType="num">
                                      <p:cBhvr additive="base">
                                        <p:cTn id="8" dur="1000" fill="hold"/>
                                        <p:tgtEl>
                                          <p:spTgt spid="5535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55356"/>
                                        </p:tgtEl>
                                        <p:attrNameLst>
                                          <p:attrName>style.visibility</p:attrName>
                                        </p:attrNameLst>
                                      </p:cBhvr>
                                      <p:to>
                                        <p:strVal val="visible"/>
                                      </p:to>
                                    </p:set>
                                    <p:anim calcmode="lin" valueType="num">
                                      <p:cBhvr additive="base">
                                        <p:cTn id="13" dur="1000" fill="hold"/>
                                        <p:tgtEl>
                                          <p:spTgt spid="55356"/>
                                        </p:tgtEl>
                                        <p:attrNameLst>
                                          <p:attrName>ppt_x</p:attrName>
                                        </p:attrNameLst>
                                      </p:cBhvr>
                                      <p:tavLst>
                                        <p:tav tm="0">
                                          <p:val>
                                            <p:strVal val="1+#ppt_w/2"/>
                                          </p:val>
                                        </p:tav>
                                        <p:tav tm="100000">
                                          <p:val>
                                            <p:strVal val="#ppt_x"/>
                                          </p:val>
                                        </p:tav>
                                      </p:tavLst>
                                    </p:anim>
                                    <p:anim calcmode="lin" valueType="num">
                                      <p:cBhvr additive="base">
                                        <p:cTn id="14" dur="1000" fill="hold"/>
                                        <p:tgtEl>
                                          <p:spTgt spid="5535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5326"/>
                                        </p:tgtEl>
                                        <p:attrNameLst>
                                          <p:attrName>style.visibility</p:attrName>
                                        </p:attrNameLst>
                                      </p:cBhvr>
                                      <p:to>
                                        <p:strVal val="visible"/>
                                      </p:to>
                                    </p:set>
                                    <p:anim calcmode="lin" valueType="num">
                                      <p:cBhvr additive="base">
                                        <p:cTn id="19" dur="1000" fill="hold"/>
                                        <p:tgtEl>
                                          <p:spTgt spid="55326"/>
                                        </p:tgtEl>
                                        <p:attrNameLst>
                                          <p:attrName>ppt_x</p:attrName>
                                        </p:attrNameLst>
                                      </p:cBhvr>
                                      <p:tavLst>
                                        <p:tav tm="0">
                                          <p:val>
                                            <p:strVal val="0-#ppt_w/2"/>
                                          </p:val>
                                        </p:tav>
                                        <p:tav tm="100000">
                                          <p:val>
                                            <p:strVal val="#ppt_x"/>
                                          </p:val>
                                        </p:tav>
                                      </p:tavLst>
                                    </p:anim>
                                    <p:anim calcmode="lin" valueType="num">
                                      <p:cBhvr additive="base">
                                        <p:cTn id="20" dur="1000" fill="hold"/>
                                        <p:tgtEl>
                                          <p:spTgt spid="55326"/>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1000"/>
                            </p:stCondLst>
                            <p:childTnLst>
                              <p:par>
                                <p:cTn id="22" presetID="2" presetClass="entr" presetSubtype="2" fill="hold" nodeType="afterEffect">
                                  <p:stCondLst>
                                    <p:cond delay="0"/>
                                  </p:stCondLst>
                                  <p:childTnLst>
                                    <p:set>
                                      <p:cBhvr>
                                        <p:cTn id="23" dur="1" fill="hold">
                                          <p:stCondLst>
                                            <p:cond delay="0"/>
                                          </p:stCondLst>
                                        </p:cTn>
                                        <p:tgtEl>
                                          <p:spTgt spid="55323"/>
                                        </p:tgtEl>
                                        <p:attrNameLst>
                                          <p:attrName>style.visibility</p:attrName>
                                        </p:attrNameLst>
                                      </p:cBhvr>
                                      <p:to>
                                        <p:strVal val="visible"/>
                                      </p:to>
                                    </p:set>
                                    <p:anim calcmode="lin" valueType="num">
                                      <p:cBhvr additive="base">
                                        <p:cTn id="24" dur="1000" fill="hold"/>
                                        <p:tgtEl>
                                          <p:spTgt spid="55323"/>
                                        </p:tgtEl>
                                        <p:attrNameLst>
                                          <p:attrName>ppt_x</p:attrName>
                                        </p:attrNameLst>
                                      </p:cBhvr>
                                      <p:tavLst>
                                        <p:tav tm="0">
                                          <p:val>
                                            <p:strVal val="1+#ppt_w/2"/>
                                          </p:val>
                                        </p:tav>
                                        <p:tav tm="100000">
                                          <p:val>
                                            <p:strVal val="#ppt_x"/>
                                          </p:val>
                                        </p:tav>
                                      </p:tavLst>
                                    </p:anim>
                                    <p:anim calcmode="lin" valueType="num">
                                      <p:cBhvr additive="base">
                                        <p:cTn id="25" dur="1000" fill="hold"/>
                                        <p:tgtEl>
                                          <p:spTgt spid="553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26" grpId="0" autoUpdateAnimBg="0"/>
      <p:bldP spid="55359"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8862698D-55F3-401D-9189-51BBE4F392AE}"/>
              </a:ext>
            </a:extLst>
          </p:cNvPr>
          <p:cNvSpPr>
            <a:spLocks noChangeArrowheads="1"/>
          </p:cNvSpPr>
          <p:nvPr/>
        </p:nvSpPr>
        <p:spPr bwMode="auto">
          <a:xfrm>
            <a:off x="323850" y="685007"/>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dirty="0">
                <a:solidFill>
                  <a:srgbClr val="993300"/>
                </a:solidFill>
              </a:rPr>
              <a:t>电流分布</a:t>
            </a:r>
          </a:p>
        </p:txBody>
      </p:sp>
      <p:graphicFrame>
        <p:nvGraphicFramePr>
          <p:cNvPr id="416772" name="Object 9">
            <a:extLst>
              <a:ext uri="{FF2B5EF4-FFF2-40B4-BE49-F238E27FC236}">
                <a16:creationId xmlns:a16="http://schemas.microsoft.com/office/drawing/2014/main" id="{B522E200-DC96-4425-A63F-E13C926577DC}"/>
              </a:ext>
            </a:extLst>
          </p:cNvPr>
          <p:cNvGraphicFramePr>
            <a:graphicFrameLocks noChangeAspect="1"/>
          </p:cNvGraphicFramePr>
          <p:nvPr>
            <p:extLst>
              <p:ext uri="{D42A27DB-BD31-4B8C-83A1-F6EECF244321}">
                <p14:modId xmlns:p14="http://schemas.microsoft.com/office/powerpoint/2010/main" val="1296654415"/>
              </p:ext>
            </p:extLst>
          </p:nvPr>
        </p:nvGraphicFramePr>
        <p:xfrm>
          <a:off x="1426394" y="1848321"/>
          <a:ext cx="7032625" cy="788988"/>
        </p:xfrm>
        <a:graphic>
          <a:graphicData uri="http://schemas.openxmlformats.org/presentationml/2006/ole">
            <mc:AlternateContent xmlns:mc="http://schemas.openxmlformats.org/markup-compatibility/2006">
              <mc:Choice xmlns:v="urn:schemas-microsoft-com:vml" Requires="v">
                <p:oleObj spid="_x0000_s118032" name="Equation" r:id="rId3" imgW="3378200" imgH="469900" progId="Equation.DSMT4">
                  <p:embed/>
                </p:oleObj>
              </mc:Choice>
              <mc:Fallback>
                <p:oleObj name="Equation" r:id="rId3" imgW="3378200" imgH="469900" progId="Equation.DSMT4">
                  <p:embed/>
                  <p:pic>
                    <p:nvPicPr>
                      <p:cNvPr id="416772" name="Object 9">
                        <a:extLst>
                          <a:ext uri="{FF2B5EF4-FFF2-40B4-BE49-F238E27FC236}">
                            <a16:creationId xmlns:a16="http://schemas.microsoft.com/office/drawing/2014/main" id="{B522E200-DC96-4425-A63F-E13C926577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6394" y="1848321"/>
                        <a:ext cx="7032625"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6773" name="Rectangle 5">
            <a:extLst>
              <a:ext uri="{FF2B5EF4-FFF2-40B4-BE49-F238E27FC236}">
                <a16:creationId xmlns:a16="http://schemas.microsoft.com/office/drawing/2014/main" id="{E7334DA0-BDFD-4444-9E50-B98BB7BD664D}"/>
              </a:ext>
            </a:extLst>
          </p:cNvPr>
          <p:cNvSpPr>
            <a:spLocks noChangeArrowheads="1"/>
          </p:cNvSpPr>
          <p:nvPr/>
        </p:nvSpPr>
        <p:spPr bwMode="auto">
          <a:xfrm>
            <a:off x="467544" y="1484784"/>
            <a:ext cx="547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对于长二极管，空穴注入所引起的扩散电流为</a:t>
            </a:r>
          </a:p>
        </p:txBody>
      </p:sp>
      <p:sp>
        <p:nvSpPr>
          <p:cNvPr id="416777" name="Rectangle 9">
            <a:extLst>
              <a:ext uri="{FF2B5EF4-FFF2-40B4-BE49-F238E27FC236}">
                <a16:creationId xmlns:a16="http://schemas.microsoft.com/office/drawing/2014/main" id="{EE451B6B-9BA9-4509-A639-6472169F3EC8}"/>
              </a:ext>
            </a:extLst>
          </p:cNvPr>
          <p:cNvSpPr>
            <a:spLocks noChangeArrowheads="1"/>
          </p:cNvSpPr>
          <p:nvPr/>
        </p:nvSpPr>
        <p:spPr bwMode="auto">
          <a:xfrm>
            <a:off x="533275" y="3739858"/>
            <a:ext cx="2447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dirty="0">
                <a:solidFill>
                  <a:srgbClr val="000066"/>
                </a:solidFill>
              </a:rPr>
              <a:t>在空间电荷层边缘</a:t>
            </a:r>
          </a:p>
        </p:txBody>
      </p:sp>
      <p:graphicFrame>
        <p:nvGraphicFramePr>
          <p:cNvPr id="416778" name="Object 10">
            <a:extLst>
              <a:ext uri="{FF2B5EF4-FFF2-40B4-BE49-F238E27FC236}">
                <a16:creationId xmlns:a16="http://schemas.microsoft.com/office/drawing/2014/main" id="{4D3B0FF8-0CDB-4967-AB2E-0B2F85F7EA14}"/>
              </a:ext>
            </a:extLst>
          </p:cNvPr>
          <p:cNvGraphicFramePr>
            <a:graphicFrameLocks noChangeAspect="1"/>
          </p:cNvGraphicFramePr>
          <p:nvPr>
            <p:extLst>
              <p:ext uri="{D42A27DB-BD31-4B8C-83A1-F6EECF244321}">
                <p14:modId xmlns:p14="http://schemas.microsoft.com/office/powerpoint/2010/main" val="3161309348"/>
              </p:ext>
            </p:extLst>
          </p:nvPr>
        </p:nvGraphicFramePr>
        <p:xfrm>
          <a:off x="1331912" y="2516238"/>
          <a:ext cx="5616575" cy="865188"/>
        </p:xfrm>
        <a:graphic>
          <a:graphicData uri="http://schemas.openxmlformats.org/presentationml/2006/ole">
            <mc:AlternateContent xmlns:mc="http://schemas.openxmlformats.org/markup-compatibility/2006">
              <mc:Choice xmlns:v="urn:schemas-microsoft-com:vml" Requires="v">
                <p:oleObj spid="_x0000_s118033" name="Equation" r:id="rId5" imgW="2692400" imgH="469900" progId="Equation.DSMT4">
                  <p:embed/>
                </p:oleObj>
              </mc:Choice>
              <mc:Fallback>
                <p:oleObj name="Equation" r:id="rId5" imgW="2692400" imgH="469900" progId="Equation.DSMT4">
                  <p:embed/>
                  <p:pic>
                    <p:nvPicPr>
                      <p:cNvPr id="416778" name="Object 10">
                        <a:extLst>
                          <a:ext uri="{FF2B5EF4-FFF2-40B4-BE49-F238E27FC236}">
                            <a16:creationId xmlns:a16="http://schemas.microsoft.com/office/drawing/2014/main" id="{4D3B0FF8-0CDB-4967-AB2E-0B2F85F7EA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2" y="2516238"/>
                        <a:ext cx="56165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6779" name="Rectangle 11">
            <a:extLst>
              <a:ext uri="{FF2B5EF4-FFF2-40B4-BE49-F238E27FC236}">
                <a16:creationId xmlns:a16="http://schemas.microsoft.com/office/drawing/2014/main" id="{21E289E6-CEEB-4299-8E78-9940563A011A}"/>
              </a:ext>
            </a:extLst>
          </p:cNvPr>
          <p:cNvSpPr>
            <a:spLocks noChangeArrowheads="1"/>
          </p:cNvSpPr>
          <p:nvPr/>
        </p:nvSpPr>
        <p:spPr bwMode="auto">
          <a:xfrm>
            <a:off x="5098083" y="4404197"/>
            <a:ext cx="40324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dirty="0">
                <a:solidFill>
                  <a:srgbClr val="000066"/>
                </a:solidFill>
              </a:rPr>
              <a:t>（</a:t>
            </a:r>
            <a:r>
              <a:rPr lang="en-US" altLang="ko-KR" sz="2000" b="1" dirty="0">
                <a:solidFill>
                  <a:srgbClr val="000066"/>
                </a:solidFill>
              </a:rPr>
              <a:t>2-48</a:t>
            </a:r>
            <a:r>
              <a:rPr lang="ko-KR" altLang="en-US" sz="2000" b="1" dirty="0">
                <a:solidFill>
                  <a:srgbClr val="000066"/>
                </a:solidFill>
              </a:rPr>
              <a:t>）</a:t>
            </a:r>
            <a:r>
              <a:rPr lang="zh-CN" altLang="en-US" sz="2000" b="1" dirty="0">
                <a:solidFill>
                  <a:srgbClr val="000066"/>
                </a:solidFill>
              </a:rPr>
              <a:t>书中电流用</a:t>
            </a:r>
            <a:r>
              <a:rPr lang="en-US" altLang="zh-CN" sz="2000" b="1" dirty="0">
                <a:solidFill>
                  <a:srgbClr val="000066"/>
                </a:solidFill>
              </a:rPr>
              <a:t>J</a:t>
            </a:r>
            <a:r>
              <a:rPr lang="zh-CN" altLang="en-US" sz="2000" b="1" dirty="0">
                <a:solidFill>
                  <a:srgbClr val="000066"/>
                </a:solidFill>
              </a:rPr>
              <a:t>，此处为</a:t>
            </a:r>
            <a:r>
              <a:rPr lang="en-US" altLang="zh-CN" sz="2000" b="1" dirty="0">
                <a:solidFill>
                  <a:srgbClr val="000066"/>
                </a:solidFill>
              </a:rPr>
              <a:t>I</a:t>
            </a:r>
            <a:endParaRPr lang="zh-CN" altLang="en-US" sz="2000" b="1" dirty="0">
              <a:solidFill>
                <a:srgbClr val="000066"/>
              </a:solidFill>
            </a:endParaRPr>
          </a:p>
        </p:txBody>
      </p:sp>
      <p:graphicFrame>
        <p:nvGraphicFramePr>
          <p:cNvPr id="416780" name="Object 12">
            <a:extLst>
              <a:ext uri="{FF2B5EF4-FFF2-40B4-BE49-F238E27FC236}">
                <a16:creationId xmlns:a16="http://schemas.microsoft.com/office/drawing/2014/main" id="{D5075385-2C2B-4F95-A4EF-94341090C48D}"/>
              </a:ext>
            </a:extLst>
          </p:cNvPr>
          <p:cNvGraphicFramePr>
            <a:graphicFrameLocks noChangeAspect="1"/>
          </p:cNvGraphicFramePr>
          <p:nvPr>
            <p:extLst>
              <p:ext uri="{D42A27DB-BD31-4B8C-83A1-F6EECF244321}">
                <p14:modId xmlns:p14="http://schemas.microsoft.com/office/powerpoint/2010/main" val="1364506205"/>
              </p:ext>
            </p:extLst>
          </p:nvPr>
        </p:nvGraphicFramePr>
        <p:xfrm>
          <a:off x="2693863" y="3739858"/>
          <a:ext cx="847725" cy="420688"/>
        </p:xfrm>
        <a:graphic>
          <a:graphicData uri="http://schemas.openxmlformats.org/presentationml/2006/ole">
            <mc:AlternateContent xmlns:mc="http://schemas.openxmlformats.org/markup-compatibility/2006">
              <mc:Choice xmlns:v="urn:schemas-microsoft-com:vml" Requires="v">
                <p:oleObj spid="_x0000_s118034" name="Equation" r:id="rId7" imgW="406224" imgH="228501" progId="Equation.DSMT4">
                  <p:embed/>
                </p:oleObj>
              </mc:Choice>
              <mc:Fallback>
                <p:oleObj name="Equation" r:id="rId7" imgW="406224" imgH="228501" progId="Equation.DSMT4">
                  <p:embed/>
                  <p:pic>
                    <p:nvPicPr>
                      <p:cNvPr id="416780" name="Object 12">
                        <a:extLst>
                          <a:ext uri="{FF2B5EF4-FFF2-40B4-BE49-F238E27FC236}">
                            <a16:creationId xmlns:a16="http://schemas.microsoft.com/office/drawing/2014/main" id="{D5075385-2C2B-4F95-A4EF-94341090C4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3863" y="3739858"/>
                        <a:ext cx="84772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6781" name="Rectangle 13">
            <a:extLst>
              <a:ext uri="{FF2B5EF4-FFF2-40B4-BE49-F238E27FC236}">
                <a16:creationId xmlns:a16="http://schemas.microsoft.com/office/drawing/2014/main" id="{0B230B1E-AFF9-4E4F-B6DC-B7EB6656A342}"/>
              </a:ext>
            </a:extLst>
          </p:cNvPr>
          <p:cNvSpPr>
            <a:spLocks noChangeArrowheads="1"/>
          </p:cNvSpPr>
          <p:nvPr/>
        </p:nvSpPr>
        <p:spPr bwMode="auto">
          <a:xfrm>
            <a:off x="3413000" y="3739858"/>
            <a:ext cx="2447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dirty="0">
                <a:solidFill>
                  <a:srgbClr val="000066"/>
                </a:solidFill>
              </a:rPr>
              <a:t>，空穴电流为</a:t>
            </a:r>
          </a:p>
        </p:txBody>
      </p:sp>
      <p:graphicFrame>
        <p:nvGraphicFramePr>
          <p:cNvPr id="416782" name="Object 14">
            <a:extLst>
              <a:ext uri="{FF2B5EF4-FFF2-40B4-BE49-F238E27FC236}">
                <a16:creationId xmlns:a16="http://schemas.microsoft.com/office/drawing/2014/main" id="{DFAEA332-7E70-4986-91E4-4B41CA9A1EFD}"/>
              </a:ext>
            </a:extLst>
          </p:cNvPr>
          <p:cNvGraphicFramePr>
            <a:graphicFrameLocks noChangeAspect="1"/>
          </p:cNvGraphicFramePr>
          <p:nvPr>
            <p:extLst>
              <p:ext uri="{D42A27DB-BD31-4B8C-83A1-F6EECF244321}">
                <p14:modId xmlns:p14="http://schemas.microsoft.com/office/powerpoint/2010/main" val="1144047194"/>
              </p:ext>
            </p:extLst>
          </p:nvPr>
        </p:nvGraphicFramePr>
        <p:xfrm>
          <a:off x="1396875" y="4171658"/>
          <a:ext cx="3630613" cy="865188"/>
        </p:xfrm>
        <a:graphic>
          <a:graphicData uri="http://schemas.openxmlformats.org/presentationml/2006/ole">
            <mc:AlternateContent xmlns:mc="http://schemas.openxmlformats.org/markup-compatibility/2006">
              <mc:Choice xmlns:v="urn:schemas-microsoft-com:vml" Requires="v">
                <p:oleObj spid="_x0000_s118035" name="Equation" r:id="rId9" imgW="1739900" imgH="469900" progId="Equation.DSMT4">
                  <p:embed/>
                </p:oleObj>
              </mc:Choice>
              <mc:Fallback>
                <p:oleObj name="Equation" r:id="rId9" imgW="1739900" imgH="469900" progId="Equation.DSMT4">
                  <p:embed/>
                  <p:pic>
                    <p:nvPicPr>
                      <p:cNvPr id="416782" name="Object 14">
                        <a:extLst>
                          <a:ext uri="{FF2B5EF4-FFF2-40B4-BE49-F238E27FC236}">
                            <a16:creationId xmlns:a16="http://schemas.microsoft.com/office/drawing/2014/main" id="{DFAEA332-7E70-4986-91E4-4B41CA9A1EF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6875" y="4171658"/>
                        <a:ext cx="3630613"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6783" name="Rectangle 15">
            <a:extLst>
              <a:ext uri="{FF2B5EF4-FFF2-40B4-BE49-F238E27FC236}">
                <a16:creationId xmlns:a16="http://schemas.microsoft.com/office/drawing/2014/main" id="{C35F7FD3-32BC-4189-96C8-56ECAA45E5E6}"/>
              </a:ext>
            </a:extLst>
          </p:cNvPr>
          <p:cNvSpPr>
            <a:spLocks noChangeArrowheads="1"/>
          </p:cNvSpPr>
          <p:nvPr/>
        </p:nvSpPr>
        <p:spPr bwMode="auto">
          <a:xfrm>
            <a:off x="604713" y="5036846"/>
            <a:ext cx="2952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空穴电流分布改写为</a:t>
            </a:r>
          </a:p>
        </p:txBody>
      </p:sp>
      <p:graphicFrame>
        <p:nvGraphicFramePr>
          <p:cNvPr id="416785" name="Object 17">
            <a:extLst>
              <a:ext uri="{FF2B5EF4-FFF2-40B4-BE49-F238E27FC236}">
                <a16:creationId xmlns:a16="http://schemas.microsoft.com/office/drawing/2014/main" id="{030F7BF1-AE05-4CA3-8197-E93CD9807C9A}"/>
              </a:ext>
            </a:extLst>
          </p:cNvPr>
          <p:cNvGraphicFramePr>
            <a:graphicFrameLocks noChangeAspect="1"/>
          </p:cNvGraphicFramePr>
          <p:nvPr>
            <p:extLst>
              <p:ext uri="{D42A27DB-BD31-4B8C-83A1-F6EECF244321}">
                <p14:modId xmlns:p14="http://schemas.microsoft.com/office/powerpoint/2010/main" val="137159817"/>
              </p:ext>
            </p:extLst>
          </p:nvPr>
        </p:nvGraphicFramePr>
        <p:xfrm>
          <a:off x="1396875" y="5479758"/>
          <a:ext cx="4000500" cy="565150"/>
        </p:xfrm>
        <a:graphic>
          <a:graphicData uri="http://schemas.openxmlformats.org/presentationml/2006/ole">
            <mc:AlternateContent xmlns:mc="http://schemas.openxmlformats.org/markup-compatibility/2006">
              <mc:Choice xmlns:v="urn:schemas-microsoft-com:vml" Requires="v">
                <p:oleObj spid="_x0000_s118036" name="Equation" r:id="rId11" imgW="1916868" imgH="266584" progId="Equation.DSMT4">
                  <p:embed/>
                </p:oleObj>
              </mc:Choice>
              <mc:Fallback>
                <p:oleObj name="Equation" r:id="rId11" imgW="1916868" imgH="266584" progId="Equation.DSMT4">
                  <p:embed/>
                  <p:pic>
                    <p:nvPicPr>
                      <p:cNvPr id="416785" name="Object 17">
                        <a:extLst>
                          <a:ext uri="{FF2B5EF4-FFF2-40B4-BE49-F238E27FC236}">
                            <a16:creationId xmlns:a16="http://schemas.microsoft.com/office/drawing/2014/main" id="{030F7BF1-AE05-4CA3-8197-E93CD9807C9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96875" y="5479758"/>
                        <a:ext cx="40005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63468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6773"/>
                                        </p:tgtEl>
                                        <p:attrNameLst>
                                          <p:attrName>style.visibility</p:attrName>
                                        </p:attrNameLst>
                                      </p:cBhvr>
                                      <p:to>
                                        <p:strVal val="visible"/>
                                      </p:to>
                                    </p:set>
                                    <p:animEffect transition="in" filter="blinds(horizontal)">
                                      <p:cBhvr>
                                        <p:cTn id="7" dur="500"/>
                                        <p:tgtEl>
                                          <p:spTgt spid="4167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6772"/>
                                        </p:tgtEl>
                                        <p:attrNameLst>
                                          <p:attrName>style.visibility</p:attrName>
                                        </p:attrNameLst>
                                      </p:cBhvr>
                                      <p:to>
                                        <p:strVal val="visible"/>
                                      </p:to>
                                    </p:set>
                                    <p:animEffect transition="in" filter="blinds(horizontal)">
                                      <p:cBhvr>
                                        <p:cTn id="12" dur="500"/>
                                        <p:tgtEl>
                                          <p:spTgt spid="4167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16778"/>
                                        </p:tgtEl>
                                        <p:attrNameLst>
                                          <p:attrName>style.visibility</p:attrName>
                                        </p:attrNameLst>
                                      </p:cBhvr>
                                      <p:to>
                                        <p:strVal val="visible"/>
                                      </p:to>
                                    </p:set>
                                    <p:animEffect transition="in" filter="blinds(horizontal)">
                                      <p:cBhvr>
                                        <p:cTn id="17" dur="500"/>
                                        <p:tgtEl>
                                          <p:spTgt spid="41677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16779"/>
                                        </p:tgtEl>
                                        <p:attrNameLst>
                                          <p:attrName>style.visibility</p:attrName>
                                        </p:attrNameLst>
                                      </p:cBhvr>
                                      <p:to>
                                        <p:strVal val="visible"/>
                                      </p:to>
                                    </p:set>
                                    <p:animEffect transition="in" filter="blinds(horizontal)">
                                      <p:cBhvr>
                                        <p:cTn id="20" dur="500"/>
                                        <p:tgtEl>
                                          <p:spTgt spid="41677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16777"/>
                                        </p:tgtEl>
                                        <p:attrNameLst>
                                          <p:attrName>style.visibility</p:attrName>
                                        </p:attrNameLst>
                                      </p:cBhvr>
                                      <p:to>
                                        <p:strVal val="visible"/>
                                      </p:to>
                                    </p:set>
                                    <p:animEffect transition="in" filter="blinds(horizontal)">
                                      <p:cBhvr>
                                        <p:cTn id="25" dur="500"/>
                                        <p:tgtEl>
                                          <p:spTgt spid="41677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16781"/>
                                        </p:tgtEl>
                                        <p:attrNameLst>
                                          <p:attrName>style.visibility</p:attrName>
                                        </p:attrNameLst>
                                      </p:cBhvr>
                                      <p:to>
                                        <p:strVal val="visible"/>
                                      </p:to>
                                    </p:set>
                                    <p:animEffect transition="in" filter="blinds(horizontal)">
                                      <p:cBhvr>
                                        <p:cTn id="28" dur="500"/>
                                        <p:tgtEl>
                                          <p:spTgt spid="416781"/>
                                        </p:tgtEl>
                                      </p:cBhvr>
                                    </p:animEffect>
                                  </p:childTnLst>
                                </p:cTn>
                              </p:par>
                              <p:par>
                                <p:cTn id="29" presetID="3" presetClass="entr" presetSubtype="10" fill="hold" nodeType="withEffect">
                                  <p:stCondLst>
                                    <p:cond delay="0"/>
                                  </p:stCondLst>
                                  <p:childTnLst>
                                    <p:set>
                                      <p:cBhvr>
                                        <p:cTn id="30" dur="1" fill="hold">
                                          <p:stCondLst>
                                            <p:cond delay="0"/>
                                          </p:stCondLst>
                                        </p:cTn>
                                        <p:tgtEl>
                                          <p:spTgt spid="416780"/>
                                        </p:tgtEl>
                                        <p:attrNameLst>
                                          <p:attrName>style.visibility</p:attrName>
                                        </p:attrNameLst>
                                      </p:cBhvr>
                                      <p:to>
                                        <p:strVal val="visible"/>
                                      </p:to>
                                    </p:set>
                                    <p:animEffect transition="in" filter="blinds(horizontal)">
                                      <p:cBhvr>
                                        <p:cTn id="31" dur="500"/>
                                        <p:tgtEl>
                                          <p:spTgt spid="41678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416782"/>
                                        </p:tgtEl>
                                        <p:attrNameLst>
                                          <p:attrName>style.visibility</p:attrName>
                                        </p:attrNameLst>
                                      </p:cBhvr>
                                      <p:to>
                                        <p:strVal val="visible"/>
                                      </p:to>
                                    </p:set>
                                    <p:animEffect transition="in" filter="blinds(horizontal)">
                                      <p:cBhvr>
                                        <p:cTn id="36" dur="500"/>
                                        <p:tgtEl>
                                          <p:spTgt spid="41678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416783"/>
                                        </p:tgtEl>
                                        <p:attrNameLst>
                                          <p:attrName>style.visibility</p:attrName>
                                        </p:attrNameLst>
                                      </p:cBhvr>
                                      <p:to>
                                        <p:strVal val="visible"/>
                                      </p:to>
                                    </p:set>
                                    <p:animEffect transition="in" filter="blinds(horizontal)">
                                      <p:cBhvr>
                                        <p:cTn id="41" dur="500"/>
                                        <p:tgtEl>
                                          <p:spTgt spid="416783"/>
                                        </p:tgtEl>
                                      </p:cBhvr>
                                    </p:animEffect>
                                  </p:childTnLst>
                                </p:cTn>
                              </p:par>
                              <p:par>
                                <p:cTn id="42" presetID="3" presetClass="entr" presetSubtype="10" fill="hold" nodeType="withEffect">
                                  <p:stCondLst>
                                    <p:cond delay="0"/>
                                  </p:stCondLst>
                                  <p:childTnLst>
                                    <p:set>
                                      <p:cBhvr>
                                        <p:cTn id="43" dur="1" fill="hold">
                                          <p:stCondLst>
                                            <p:cond delay="0"/>
                                          </p:stCondLst>
                                        </p:cTn>
                                        <p:tgtEl>
                                          <p:spTgt spid="416785"/>
                                        </p:tgtEl>
                                        <p:attrNameLst>
                                          <p:attrName>style.visibility</p:attrName>
                                        </p:attrNameLst>
                                      </p:cBhvr>
                                      <p:to>
                                        <p:strVal val="visible"/>
                                      </p:to>
                                    </p:set>
                                    <p:animEffect transition="in" filter="blinds(horizontal)">
                                      <p:cBhvr>
                                        <p:cTn id="44" dur="500"/>
                                        <p:tgtEl>
                                          <p:spTgt spid="416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3" grpId="0"/>
      <p:bldP spid="416777" grpId="0"/>
      <p:bldP spid="416779" grpId="0"/>
      <p:bldP spid="416781" grpId="0"/>
      <p:bldP spid="41678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7803" name="Object 9">
            <a:extLst>
              <a:ext uri="{FF2B5EF4-FFF2-40B4-BE49-F238E27FC236}">
                <a16:creationId xmlns:a16="http://schemas.microsoft.com/office/drawing/2014/main" id="{A00048B9-B8DD-4684-A04A-4B95F7DBC0A9}"/>
              </a:ext>
            </a:extLst>
          </p:cNvPr>
          <p:cNvGraphicFramePr>
            <a:graphicFrameLocks noChangeAspect="1"/>
          </p:cNvGraphicFramePr>
          <p:nvPr>
            <p:extLst>
              <p:ext uri="{D42A27DB-BD31-4B8C-83A1-F6EECF244321}">
                <p14:modId xmlns:p14="http://schemas.microsoft.com/office/powerpoint/2010/main" val="5601873"/>
              </p:ext>
            </p:extLst>
          </p:nvPr>
        </p:nvGraphicFramePr>
        <p:xfrm>
          <a:off x="2571750" y="1264245"/>
          <a:ext cx="3630613" cy="865188"/>
        </p:xfrm>
        <a:graphic>
          <a:graphicData uri="http://schemas.openxmlformats.org/presentationml/2006/ole">
            <mc:AlternateContent xmlns:mc="http://schemas.openxmlformats.org/markup-compatibility/2006">
              <mc:Choice xmlns:v="urn:schemas-microsoft-com:vml" Requires="v">
                <p:oleObj spid="_x0000_s119056" name="Equation" r:id="rId3" imgW="1739900" imgH="469900" progId="Equation.DSMT4">
                  <p:embed/>
                </p:oleObj>
              </mc:Choice>
              <mc:Fallback>
                <p:oleObj name="Equation" r:id="rId3" imgW="1739900" imgH="469900" progId="Equation.DSMT4">
                  <p:embed/>
                  <p:pic>
                    <p:nvPicPr>
                      <p:cNvPr id="417803" name="Object 9">
                        <a:extLst>
                          <a:ext uri="{FF2B5EF4-FFF2-40B4-BE49-F238E27FC236}">
                            <a16:creationId xmlns:a16="http://schemas.microsoft.com/office/drawing/2014/main" id="{A00048B9-B8DD-4684-A04A-4B95F7DBC0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0" y="1264245"/>
                        <a:ext cx="3630613"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7805" name="Object 13">
            <a:extLst>
              <a:ext uri="{FF2B5EF4-FFF2-40B4-BE49-F238E27FC236}">
                <a16:creationId xmlns:a16="http://schemas.microsoft.com/office/drawing/2014/main" id="{EFDADE1E-2285-4BA7-8B08-5977C60B3617}"/>
              </a:ext>
            </a:extLst>
          </p:cNvPr>
          <p:cNvGraphicFramePr>
            <a:graphicFrameLocks noChangeAspect="1"/>
          </p:cNvGraphicFramePr>
          <p:nvPr>
            <p:extLst>
              <p:ext uri="{D42A27DB-BD31-4B8C-83A1-F6EECF244321}">
                <p14:modId xmlns:p14="http://schemas.microsoft.com/office/powerpoint/2010/main" val="230344110"/>
              </p:ext>
            </p:extLst>
          </p:nvPr>
        </p:nvGraphicFramePr>
        <p:xfrm>
          <a:off x="2571750" y="687983"/>
          <a:ext cx="4000500" cy="565150"/>
        </p:xfrm>
        <a:graphic>
          <a:graphicData uri="http://schemas.openxmlformats.org/presentationml/2006/ole">
            <mc:AlternateContent xmlns:mc="http://schemas.openxmlformats.org/markup-compatibility/2006">
              <mc:Choice xmlns:v="urn:schemas-microsoft-com:vml" Requires="v">
                <p:oleObj spid="_x0000_s119057" name="Equation" r:id="rId5" imgW="1916868" imgH="266584" progId="Equation.DSMT4">
                  <p:embed/>
                </p:oleObj>
              </mc:Choice>
              <mc:Fallback>
                <p:oleObj name="Equation" r:id="rId5" imgW="1916868" imgH="266584" progId="Equation.DSMT4">
                  <p:embed/>
                  <p:pic>
                    <p:nvPicPr>
                      <p:cNvPr id="417805" name="Object 13">
                        <a:extLst>
                          <a:ext uri="{FF2B5EF4-FFF2-40B4-BE49-F238E27FC236}">
                            <a16:creationId xmlns:a16="http://schemas.microsoft.com/office/drawing/2014/main" id="{EFDADE1E-2285-4BA7-8B08-5977C60B36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750" y="687983"/>
                        <a:ext cx="40005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7806" name="Rectangle 14">
            <a:extLst>
              <a:ext uri="{FF2B5EF4-FFF2-40B4-BE49-F238E27FC236}">
                <a16:creationId xmlns:a16="http://schemas.microsoft.com/office/drawing/2014/main" id="{1DC43A15-292F-4418-85EE-229CE5106499}"/>
              </a:ext>
            </a:extLst>
          </p:cNvPr>
          <p:cNvSpPr>
            <a:spLocks noChangeArrowheads="1"/>
          </p:cNvSpPr>
          <p:nvPr/>
        </p:nvSpPr>
        <p:spPr bwMode="auto">
          <a:xfrm>
            <a:off x="6643334" y="2998034"/>
            <a:ext cx="1220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dirty="0">
                <a:solidFill>
                  <a:srgbClr val="000066"/>
                </a:solidFill>
              </a:rPr>
              <a:t>（</a:t>
            </a:r>
            <a:r>
              <a:rPr lang="en-US" altLang="ko-KR" sz="2000" b="1" dirty="0">
                <a:solidFill>
                  <a:srgbClr val="000066"/>
                </a:solidFill>
              </a:rPr>
              <a:t>2-</a:t>
            </a:r>
            <a:r>
              <a:rPr lang="en-US" altLang="zh-CN" sz="2000" b="1" dirty="0">
                <a:solidFill>
                  <a:srgbClr val="000066"/>
                </a:solidFill>
              </a:rPr>
              <a:t>49</a:t>
            </a:r>
            <a:r>
              <a:rPr lang="ko-KR" altLang="en-US" sz="2000" b="1" dirty="0">
                <a:solidFill>
                  <a:srgbClr val="000066"/>
                </a:solidFill>
              </a:rPr>
              <a:t>）</a:t>
            </a:r>
            <a:endParaRPr lang="zh-CN" altLang="en-US" sz="2000" b="1" dirty="0">
              <a:solidFill>
                <a:srgbClr val="000066"/>
              </a:solidFill>
            </a:endParaRPr>
          </a:p>
        </p:txBody>
      </p:sp>
      <p:sp>
        <p:nvSpPr>
          <p:cNvPr id="417807" name="Rectangle 15">
            <a:extLst>
              <a:ext uri="{FF2B5EF4-FFF2-40B4-BE49-F238E27FC236}">
                <a16:creationId xmlns:a16="http://schemas.microsoft.com/office/drawing/2014/main" id="{4EC34D8E-B927-423C-90ED-DE8FEE50F4B1}"/>
              </a:ext>
            </a:extLst>
          </p:cNvPr>
          <p:cNvSpPr>
            <a:spLocks noChangeArrowheads="1"/>
          </p:cNvSpPr>
          <p:nvPr/>
        </p:nvSpPr>
        <p:spPr bwMode="auto">
          <a:xfrm>
            <a:off x="195412" y="2232919"/>
            <a:ext cx="2952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dirty="0">
                <a:solidFill>
                  <a:srgbClr val="000066"/>
                </a:solidFill>
              </a:rPr>
              <a:t>类似，电子电流分布为</a:t>
            </a:r>
          </a:p>
        </p:txBody>
      </p:sp>
      <p:sp>
        <p:nvSpPr>
          <p:cNvPr id="417808" name="Rectangle 16">
            <a:extLst>
              <a:ext uri="{FF2B5EF4-FFF2-40B4-BE49-F238E27FC236}">
                <a16:creationId xmlns:a16="http://schemas.microsoft.com/office/drawing/2014/main" id="{F322985C-D057-4D8D-9895-6FF384C02D6B}"/>
              </a:ext>
            </a:extLst>
          </p:cNvPr>
          <p:cNvSpPr>
            <a:spLocks noChangeArrowheads="1"/>
          </p:cNvSpPr>
          <p:nvPr/>
        </p:nvSpPr>
        <p:spPr bwMode="auto">
          <a:xfrm>
            <a:off x="555625" y="759420"/>
            <a:ext cx="2952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空穴电流分布为</a:t>
            </a:r>
          </a:p>
        </p:txBody>
      </p:sp>
      <p:graphicFrame>
        <p:nvGraphicFramePr>
          <p:cNvPr id="417809" name="Object 17">
            <a:extLst>
              <a:ext uri="{FF2B5EF4-FFF2-40B4-BE49-F238E27FC236}">
                <a16:creationId xmlns:a16="http://schemas.microsoft.com/office/drawing/2014/main" id="{4F3603E1-CBDF-452E-B58A-731322196D55}"/>
              </a:ext>
            </a:extLst>
          </p:cNvPr>
          <p:cNvGraphicFramePr>
            <a:graphicFrameLocks noChangeAspect="1"/>
          </p:cNvGraphicFramePr>
          <p:nvPr>
            <p:extLst>
              <p:ext uri="{D42A27DB-BD31-4B8C-83A1-F6EECF244321}">
                <p14:modId xmlns:p14="http://schemas.microsoft.com/office/powerpoint/2010/main" val="3921294729"/>
              </p:ext>
            </p:extLst>
          </p:nvPr>
        </p:nvGraphicFramePr>
        <p:xfrm>
          <a:off x="2987824" y="2159894"/>
          <a:ext cx="4265613" cy="565150"/>
        </p:xfrm>
        <a:graphic>
          <a:graphicData uri="http://schemas.openxmlformats.org/presentationml/2006/ole">
            <mc:AlternateContent xmlns:mc="http://schemas.openxmlformats.org/markup-compatibility/2006">
              <mc:Choice xmlns:v="urn:schemas-microsoft-com:vml" Requires="v">
                <p:oleObj spid="_x0000_s119058" name="Equation" r:id="rId7" imgW="2043813" imgH="266584" progId="Equation.DSMT4">
                  <p:embed/>
                </p:oleObj>
              </mc:Choice>
              <mc:Fallback>
                <p:oleObj name="Equation" r:id="rId7" imgW="2043813" imgH="266584" progId="Equation.DSMT4">
                  <p:embed/>
                  <p:pic>
                    <p:nvPicPr>
                      <p:cNvPr id="417809" name="Object 17">
                        <a:extLst>
                          <a:ext uri="{FF2B5EF4-FFF2-40B4-BE49-F238E27FC236}">
                            <a16:creationId xmlns:a16="http://schemas.microsoft.com/office/drawing/2014/main" id="{4F3603E1-CBDF-452E-B58A-731322196D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7824" y="2159894"/>
                        <a:ext cx="4265613"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7810" name="Object 18">
            <a:extLst>
              <a:ext uri="{FF2B5EF4-FFF2-40B4-BE49-F238E27FC236}">
                <a16:creationId xmlns:a16="http://schemas.microsoft.com/office/drawing/2014/main" id="{83C1D38B-A024-4102-93F7-97E6308318AE}"/>
              </a:ext>
            </a:extLst>
          </p:cNvPr>
          <p:cNvGraphicFramePr>
            <a:graphicFrameLocks noChangeAspect="1"/>
          </p:cNvGraphicFramePr>
          <p:nvPr>
            <p:extLst>
              <p:ext uri="{D42A27DB-BD31-4B8C-83A1-F6EECF244321}">
                <p14:modId xmlns:p14="http://schemas.microsoft.com/office/powerpoint/2010/main" val="2022457465"/>
              </p:ext>
            </p:extLst>
          </p:nvPr>
        </p:nvGraphicFramePr>
        <p:xfrm>
          <a:off x="2986237" y="2844107"/>
          <a:ext cx="3762375" cy="795337"/>
        </p:xfrm>
        <a:graphic>
          <a:graphicData uri="http://schemas.openxmlformats.org/presentationml/2006/ole">
            <mc:AlternateContent xmlns:mc="http://schemas.openxmlformats.org/markup-compatibility/2006">
              <mc:Choice xmlns:v="urn:schemas-microsoft-com:vml" Requires="v">
                <p:oleObj spid="_x0000_s119059" name="Equation" r:id="rId9" imgW="1803400" imgH="431800" progId="Equation.DSMT4">
                  <p:embed/>
                </p:oleObj>
              </mc:Choice>
              <mc:Fallback>
                <p:oleObj name="Equation" r:id="rId9" imgW="1803400" imgH="431800" progId="Equation.DSMT4">
                  <p:embed/>
                  <p:pic>
                    <p:nvPicPr>
                      <p:cNvPr id="417810" name="Object 18">
                        <a:extLst>
                          <a:ext uri="{FF2B5EF4-FFF2-40B4-BE49-F238E27FC236}">
                            <a16:creationId xmlns:a16="http://schemas.microsoft.com/office/drawing/2014/main" id="{83C1D38B-A024-4102-93F7-97E6308318A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6237" y="2844107"/>
                        <a:ext cx="3762375"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7813" name="Object 21">
            <a:extLst>
              <a:ext uri="{FF2B5EF4-FFF2-40B4-BE49-F238E27FC236}">
                <a16:creationId xmlns:a16="http://schemas.microsoft.com/office/drawing/2014/main" id="{04BAF2F4-B80B-47FA-ACF6-63C58E9C8947}"/>
              </a:ext>
            </a:extLst>
          </p:cNvPr>
          <p:cNvGraphicFramePr>
            <a:graphicFrameLocks noChangeAspect="1"/>
          </p:cNvGraphicFramePr>
          <p:nvPr>
            <p:extLst>
              <p:ext uri="{D42A27DB-BD31-4B8C-83A1-F6EECF244321}">
                <p14:modId xmlns:p14="http://schemas.microsoft.com/office/powerpoint/2010/main" val="1494857414"/>
              </p:ext>
            </p:extLst>
          </p:nvPr>
        </p:nvGraphicFramePr>
        <p:xfrm>
          <a:off x="1331640" y="3678835"/>
          <a:ext cx="3924300" cy="2717800"/>
        </p:xfrm>
        <a:graphic>
          <a:graphicData uri="http://schemas.openxmlformats.org/presentationml/2006/ole">
            <mc:AlternateContent xmlns:mc="http://schemas.openxmlformats.org/markup-compatibility/2006">
              <mc:Choice xmlns:v="urn:schemas-microsoft-com:vml" Requires="v">
                <p:oleObj spid="_x0000_s119060" name="Visio" r:id="rId11" imgW="2791563" imgH="1959268" progId="Visio.Drawing.11">
                  <p:embed/>
                </p:oleObj>
              </mc:Choice>
              <mc:Fallback>
                <p:oleObj name="Visio" r:id="rId11" imgW="2791563" imgH="1959268" progId="Visio.Drawing.11">
                  <p:embed/>
                  <p:pic>
                    <p:nvPicPr>
                      <p:cNvPr id="417813" name="Object 21">
                        <a:extLst>
                          <a:ext uri="{FF2B5EF4-FFF2-40B4-BE49-F238E27FC236}">
                            <a16:creationId xmlns:a16="http://schemas.microsoft.com/office/drawing/2014/main" id="{04BAF2F4-B80B-47FA-ACF6-63C58E9C894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1640" y="3678835"/>
                        <a:ext cx="3924300" cy="271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063864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7803"/>
                                        </p:tgtEl>
                                        <p:attrNameLst>
                                          <p:attrName>style.visibility</p:attrName>
                                        </p:attrNameLst>
                                      </p:cBhvr>
                                      <p:to>
                                        <p:strVal val="visible"/>
                                      </p:to>
                                    </p:set>
                                    <p:animEffect transition="in" filter="blinds(horizontal)">
                                      <p:cBhvr>
                                        <p:cTn id="7" dur="500"/>
                                        <p:tgtEl>
                                          <p:spTgt spid="417803"/>
                                        </p:tgtEl>
                                      </p:cBhvr>
                                    </p:animEffect>
                                  </p:childTnLst>
                                </p:cTn>
                              </p:par>
                              <p:par>
                                <p:cTn id="8" presetID="3" presetClass="entr" presetSubtype="10" fill="hold" nodeType="withEffect">
                                  <p:stCondLst>
                                    <p:cond delay="0"/>
                                  </p:stCondLst>
                                  <p:childTnLst>
                                    <p:set>
                                      <p:cBhvr>
                                        <p:cTn id="9" dur="1" fill="hold">
                                          <p:stCondLst>
                                            <p:cond delay="0"/>
                                          </p:stCondLst>
                                        </p:cTn>
                                        <p:tgtEl>
                                          <p:spTgt spid="417805"/>
                                        </p:tgtEl>
                                        <p:attrNameLst>
                                          <p:attrName>style.visibility</p:attrName>
                                        </p:attrNameLst>
                                      </p:cBhvr>
                                      <p:to>
                                        <p:strVal val="visible"/>
                                      </p:to>
                                    </p:set>
                                    <p:animEffect transition="in" filter="blinds(horizontal)">
                                      <p:cBhvr>
                                        <p:cTn id="10" dur="500"/>
                                        <p:tgtEl>
                                          <p:spTgt spid="41780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17808"/>
                                        </p:tgtEl>
                                        <p:attrNameLst>
                                          <p:attrName>style.visibility</p:attrName>
                                        </p:attrNameLst>
                                      </p:cBhvr>
                                      <p:to>
                                        <p:strVal val="visible"/>
                                      </p:to>
                                    </p:set>
                                    <p:animEffect transition="in" filter="blinds(horizontal)">
                                      <p:cBhvr>
                                        <p:cTn id="13" dur="500"/>
                                        <p:tgtEl>
                                          <p:spTgt spid="41780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417807">
                                            <p:txEl>
                                              <p:pRg st="0" end="0"/>
                                            </p:txEl>
                                          </p:spTgt>
                                        </p:tgtEl>
                                        <p:attrNameLst>
                                          <p:attrName>style.visibility</p:attrName>
                                        </p:attrNameLst>
                                      </p:cBhvr>
                                      <p:to>
                                        <p:strVal val="visible"/>
                                      </p:to>
                                    </p:set>
                                    <p:animEffect transition="in" filter="blinds(horizontal)">
                                      <p:cBhvr>
                                        <p:cTn id="18" dur="500"/>
                                        <p:tgtEl>
                                          <p:spTgt spid="417807">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417809"/>
                                        </p:tgtEl>
                                        <p:attrNameLst>
                                          <p:attrName>style.visibility</p:attrName>
                                        </p:attrNameLst>
                                      </p:cBhvr>
                                      <p:to>
                                        <p:strVal val="visible"/>
                                      </p:to>
                                    </p:set>
                                    <p:animEffect transition="in" filter="blinds(horizontal)">
                                      <p:cBhvr>
                                        <p:cTn id="23" dur="500"/>
                                        <p:tgtEl>
                                          <p:spTgt spid="417809"/>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417806"/>
                                        </p:tgtEl>
                                        <p:attrNameLst>
                                          <p:attrName>style.visibility</p:attrName>
                                        </p:attrNameLst>
                                      </p:cBhvr>
                                      <p:to>
                                        <p:strVal val="visible"/>
                                      </p:to>
                                    </p:set>
                                    <p:animEffect transition="in" filter="blinds(horizontal)">
                                      <p:cBhvr>
                                        <p:cTn id="26" dur="500"/>
                                        <p:tgtEl>
                                          <p:spTgt spid="41780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417810"/>
                                        </p:tgtEl>
                                        <p:attrNameLst>
                                          <p:attrName>style.visibility</p:attrName>
                                        </p:attrNameLst>
                                      </p:cBhvr>
                                      <p:to>
                                        <p:strVal val="visible"/>
                                      </p:to>
                                    </p:set>
                                    <p:animEffect transition="in" filter="blinds(horizontal)">
                                      <p:cBhvr>
                                        <p:cTn id="31" dur="500"/>
                                        <p:tgtEl>
                                          <p:spTgt spid="4178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417813"/>
                                        </p:tgtEl>
                                        <p:attrNameLst>
                                          <p:attrName>style.visibility</p:attrName>
                                        </p:attrNameLst>
                                      </p:cBhvr>
                                      <p:to>
                                        <p:strVal val="visible"/>
                                      </p:to>
                                    </p:set>
                                    <p:animEffect transition="in" filter="blinds(horizontal)">
                                      <p:cBhvr>
                                        <p:cTn id="36" dur="500"/>
                                        <p:tgtEl>
                                          <p:spTgt spid="417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806" grpId="0"/>
      <p:bldP spid="41780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2" name="Rectangle 12">
            <a:extLst>
              <a:ext uri="{FF2B5EF4-FFF2-40B4-BE49-F238E27FC236}">
                <a16:creationId xmlns:a16="http://schemas.microsoft.com/office/drawing/2014/main" id="{9C809116-1C4E-4E69-BC43-088D56053AD2}"/>
              </a:ext>
            </a:extLst>
          </p:cNvPr>
          <p:cNvSpPr>
            <a:spLocks noChangeArrowheads="1"/>
          </p:cNvSpPr>
          <p:nvPr/>
        </p:nvSpPr>
        <p:spPr bwMode="auto">
          <a:xfrm>
            <a:off x="215620" y="395003"/>
            <a:ext cx="8353425" cy="189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342900" indent="-342900" eaLnBrk="1" hangingPunct="1">
              <a:lnSpc>
                <a:spcPct val="120000"/>
              </a:lnSpc>
              <a:buFont typeface="Arial" panose="020B0604020202020204" pitchFamily="34" charset="0"/>
              <a:buChar char="•"/>
            </a:pPr>
            <a:r>
              <a:rPr kumimoji="0" lang="zh-CN" altLang="en-US" sz="2000" b="1" dirty="0">
                <a:solidFill>
                  <a:srgbClr val="16165D"/>
                </a:solidFill>
              </a:rPr>
              <a:t>公式（</a:t>
            </a:r>
            <a:r>
              <a:rPr kumimoji="0" lang="en-US" altLang="zh-CN" sz="2000" b="1" dirty="0">
                <a:solidFill>
                  <a:srgbClr val="16165D"/>
                </a:solidFill>
              </a:rPr>
              <a:t>2-48</a:t>
            </a:r>
            <a:r>
              <a:rPr kumimoji="0" lang="zh-CN" altLang="en-US" sz="2000" b="1" dirty="0">
                <a:solidFill>
                  <a:srgbClr val="16165D"/>
                </a:solidFill>
              </a:rPr>
              <a:t>）和（</a:t>
            </a:r>
            <a:r>
              <a:rPr kumimoji="0" lang="en-US" altLang="zh-CN" sz="2000" b="1" dirty="0">
                <a:solidFill>
                  <a:srgbClr val="16165D"/>
                </a:solidFill>
              </a:rPr>
              <a:t>2-49</a:t>
            </a:r>
            <a:r>
              <a:rPr kumimoji="0" lang="zh-CN" altLang="en-US" sz="2000" b="1" dirty="0">
                <a:solidFill>
                  <a:srgbClr val="16165D"/>
                </a:solidFill>
              </a:rPr>
              <a:t>）指出，由于少子电流沿远离</a:t>
            </a:r>
            <a:r>
              <a:rPr kumimoji="0" lang="en-US" altLang="zh-CN" sz="2000" b="1" dirty="0">
                <a:solidFill>
                  <a:srgbClr val="16165D"/>
                </a:solidFill>
              </a:rPr>
              <a:t>PN</a:t>
            </a:r>
            <a:r>
              <a:rPr kumimoji="0" lang="zh-CN" altLang="en-US" sz="2000" b="1" dirty="0">
                <a:solidFill>
                  <a:srgbClr val="16165D"/>
                </a:solidFill>
              </a:rPr>
              <a:t>结的方向而</a:t>
            </a:r>
            <a:r>
              <a:rPr kumimoji="0" lang="en-US" altLang="zh-CN" sz="2000" b="1" i="1" dirty="0">
                <a:solidFill>
                  <a:srgbClr val="16165D"/>
                </a:solidFill>
              </a:rPr>
              <a:t>e</a:t>
            </a:r>
            <a:r>
              <a:rPr kumimoji="0" lang="zh-CN" altLang="en-US" sz="2000" b="1" dirty="0">
                <a:solidFill>
                  <a:srgbClr val="16165D"/>
                </a:solidFill>
              </a:rPr>
              <a:t>指数地减小。</a:t>
            </a:r>
            <a:endParaRPr kumimoji="0" lang="en-US" altLang="zh-CN" sz="2000" b="1" dirty="0">
              <a:solidFill>
                <a:srgbClr val="16165D"/>
              </a:solidFill>
            </a:endParaRPr>
          </a:p>
          <a:p>
            <a:pPr marL="342900" indent="-342900" eaLnBrk="1" hangingPunct="1">
              <a:lnSpc>
                <a:spcPct val="120000"/>
              </a:lnSpc>
              <a:buFont typeface="Arial" panose="020B0604020202020204" pitchFamily="34" charset="0"/>
              <a:buChar char="•"/>
            </a:pPr>
            <a:r>
              <a:rPr kumimoji="0" lang="zh-CN" altLang="en-US" sz="2000" b="1" dirty="0">
                <a:solidFill>
                  <a:srgbClr val="16165D"/>
                </a:solidFill>
              </a:rPr>
              <a:t>总电流相对于</a:t>
            </a:r>
            <a:r>
              <a:rPr kumimoji="0" lang="en-US" altLang="zh-CN" sz="2000" b="1" i="1" dirty="0">
                <a:solidFill>
                  <a:srgbClr val="16165D"/>
                </a:solidFill>
                <a:latin typeface="Times New Roman" panose="02020603050405020304" pitchFamily="18" charset="0"/>
              </a:rPr>
              <a:t>x</a:t>
            </a:r>
            <a:r>
              <a:rPr kumimoji="0" lang="zh-CN" altLang="en-US" sz="2000" b="1" dirty="0">
                <a:solidFill>
                  <a:srgbClr val="16165D"/>
                </a:solidFill>
              </a:rPr>
              <a:t>来说必定不变，才能满足电流连续性。</a:t>
            </a:r>
            <a:endParaRPr kumimoji="0" lang="en-US" altLang="zh-CN" sz="2000" b="1" dirty="0">
              <a:solidFill>
                <a:srgbClr val="16165D"/>
              </a:solidFill>
            </a:endParaRPr>
          </a:p>
          <a:p>
            <a:pPr marL="342900" indent="-342900" eaLnBrk="1" hangingPunct="1">
              <a:lnSpc>
                <a:spcPct val="120000"/>
              </a:lnSpc>
              <a:buFont typeface="Arial" panose="020B0604020202020204" pitchFamily="34" charset="0"/>
              <a:buChar char="•"/>
            </a:pPr>
            <a:r>
              <a:rPr kumimoji="0" lang="zh-CN" altLang="en-US" sz="2000" b="1" dirty="0">
                <a:solidFill>
                  <a:srgbClr val="16165D"/>
                </a:solidFill>
              </a:rPr>
              <a:t>所以多子电流必须随着</a:t>
            </a:r>
            <a:r>
              <a:rPr kumimoji="0" lang="en-US" altLang="zh-CN" sz="2000" b="1" i="1" dirty="0">
                <a:solidFill>
                  <a:srgbClr val="16165D"/>
                </a:solidFill>
                <a:latin typeface="Times New Roman" panose="02020603050405020304" pitchFamily="18" charset="0"/>
              </a:rPr>
              <a:t>x</a:t>
            </a:r>
            <a:r>
              <a:rPr kumimoji="0" lang="zh-CN" altLang="en-US" sz="2000" b="1" dirty="0">
                <a:solidFill>
                  <a:srgbClr val="16165D"/>
                </a:solidFill>
              </a:rPr>
              <a:t>增加而增加，以补偿空穴电流的下降。也就是说，少子电流通过电子</a:t>
            </a:r>
            <a:r>
              <a:rPr kumimoji="0" lang="en-US" altLang="zh-CN" sz="2000" b="1" dirty="0">
                <a:solidFill>
                  <a:srgbClr val="16165D"/>
                </a:solidFill>
                <a:sym typeface="Symbol" panose="05050102010706020507" pitchFamily="18" charset="2"/>
              </a:rPr>
              <a:t></a:t>
            </a:r>
            <a:r>
              <a:rPr kumimoji="0" lang="zh-CN" altLang="en-US" sz="2000" b="1" dirty="0">
                <a:solidFill>
                  <a:srgbClr val="16165D"/>
                </a:solidFill>
              </a:rPr>
              <a:t>空穴对的复合不断地转换为多子电流。</a:t>
            </a:r>
            <a:endParaRPr kumimoji="0" lang="en-US" altLang="zh-CN" sz="2000" b="1" dirty="0">
              <a:solidFill>
                <a:srgbClr val="16165D"/>
              </a:solidFill>
            </a:endParaRPr>
          </a:p>
        </p:txBody>
      </p:sp>
      <p:graphicFrame>
        <p:nvGraphicFramePr>
          <p:cNvPr id="419855" name="Object 15">
            <a:extLst>
              <a:ext uri="{FF2B5EF4-FFF2-40B4-BE49-F238E27FC236}">
                <a16:creationId xmlns:a16="http://schemas.microsoft.com/office/drawing/2014/main" id="{81C23D4A-EF39-43FB-BBAD-ED1D40F56E30}"/>
              </a:ext>
            </a:extLst>
          </p:cNvPr>
          <p:cNvGraphicFramePr>
            <a:graphicFrameLocks noChangeAspect="1"/>
          </p:cNvGraphicFramePr>
          <p:nvPr>
            <p:extLst>
              <p:ext uri="{D42A27DB-BD31-4B8C-83A1-F6EECF244321}">
                <p14:modId xmlns:p14="http://schemas.microsoft.com/office/powerpoint/2010/main" val="2177488222"/>
              </p:ext>
            </p:extLst>
          </p:nvPr>
        </p:nvGraphicFramePr>
        <p:xfrm>
          <a:off x="4681257" y="3782158"/>
          <a:ext cx="3887788" cy="2271712"/>
        </p:xfrm>
        <a:graphic>
          <a:graphicData uri="http://schemas.openxmlformats.org/presentationml/2006/ole">
            <mc:AlternateContent xmlns:mc="http://schemas.openxmlformats.org/markup-compatibility/2006">
              <mc:Choice xmlns:v="urn:schemas-microsoft-com:vml" Requires="v">
                <p:oleObj spid="_x0000_s119960" name="Visio" r:id="rId3" imgW="2792688" imgH="1633098" progId="Visio.Drawing.11">
                  <p:embed/>
                </p:oleObj>
              </mc:Choice>
              <mc:Fallback>
                <p:oleObj name="Visio" r:id="rId3" imgW="2792688" imgH="1633098" progId="Visio.Drawing.11">
                  <p:embed/>
                  <p:pic>
                    <p:nvPicPr>
                      <p:cNvPr id="419855" name="Object 15">
                        <a:extLst>
                          <a:ext uri="{FF2B5EF4-FFF2-40B4-BE49-F238E27FC236}">
                            <a16:creationId xmlns:a16="http://schemas.microsoft.com/office/drawing/2014/main" id="{81C23D4A-EF39-43FB-BBAD-ED1D40F56E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1257" y="3782158"/>
                        <a:ext cx="3887788" cy="227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856" name="Rectangle 16">
            <a:extLst>
              <a:ext uri="{FF2B5EF4-FFF2-40B4-BE49-F238E27FC236}">
                <a16:creationId xmlns:a16="http://schemas.microsoft.com/office/drawing/2014/main" id="{7067937A-68A7-4FDA-A845-56E2C418E228}"/>
              </a:ext>
            </a:extLst>
          </p:cNvPr>
          <p:cNvSpPr>
            <a:spLocks noChangeArrowheads="1"/>
          </p:cNvSpPr>
          <p:nvPr/>
        </p:nvSpPr>
        <p:spPr bwMode="auto">
          <a:xfrm>
            <a:off x="200456" y="2485245"/>
            <a:ext cx="3024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dirty="0">
                <a:solidFill>
                  <a:srgbClr val="000066"/>
                </a:solidFill>
              </a:rPr>
              <a:t>电子电流和空穴电流：</a:t>
            </a:r>
          </a:p>
        </p:txBody>
      </p:sp>
      <p:sp>
        <p:nvSpPr>
          <p:cNvPr id="419857" name="Rectangle 17">
            <a:extLst>
              <a:ext uri="{FF2B5EF4-FFF2-40B4-BE49-F238E27FC236}">
                <a16:creationId xmlns:a16="http://schemas.microsoft.com/office/drawing/2014/main" id="{D8CA732C-4477-4B32-8F67-5BCDD8255157}"/>
              </a:ext>
            </a:extLst>
          </p:cNvPr>
          <p:cNvSpPr>
            <a:spLocks noChangeArrowheads="1"/>
          </p:cNvSpPr>
          <p:nvPr/>
        </p:nvSpPr>
        <p:spPr bwMode="auto">
          <a:xfrm>
            <a:off x="237223" y="3072735"/>
            <a:ext cx="6408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忽略空间电荷区的复合电流和产生电流，得总电流：</a:t>
            </a:r>
          </a:p>
        </p:txBody>
      </p:sp>
      <p:graphicFrame>
        <p:nvGraphicFramePr>
          <p:cNvPr id="419858" name="Object 18">
            <a:extLst>
              <a:ext uri="{FF2B5EF4-FFF2-40B4-BE49-F238E27FC236}">
                <a16:creationId xmlns:a16="http://schemas.microsoft.com/office/drawing/2014/main" id="{503650B6-DACB-4812-B561-46E5F5945C26}"/>
              </a:ext>
            </a:extLst>
          </p:cNvPr>
          <p:cNvGraphicFramePr>
            <a:graphicFrameLocks noChangeAspect="1"/>
          </p:cNvGraphicFramePr>
          <p:nvPr>
            <p:extLst>
              <p:ext uri="{D42A27DB-BD31-4B8C-83A1-F6EECF244321}">
                <p14:modId xmlns:p14="http://schemas.microsoft.com/office/powerpoint/2010/main" val="2551054803"/>
              </p:ext>
            </p:extLst>
          </p:nvPr>
        </p:nvGraphicFramePr>
        <p:xfrm>
          <a:off x="395536" y="4821970"/>
          <a:ext cx="2808287" cy="798512"/>
        </p:xfrm>
        <a:graphic>
          <a:graphicData uri="http://schemas.openxmlformats.org/presentationml/2006/ole">
            <mc:AlternateContent xmlns:mc="http://schemas.openxmlformats.org/markup-compatibility/2006">
              <mc:Choice xmlns:v="urn:schemas-microsoft-com:vml" Requires="v">
                <p:oleObj spid="_x0000_s119961" r:id="rId5" imgW="1638300" imgH="469900" progId="Equation.3">
                  <p:embed/>
                </p:oleObj>
              </mc:Choice>
              <mc:Fallback>
                <p:oleObj r:id="rId5" imgW="1638300" imgH="469900" progId="Equation.3">
                  <p:embed/>
                  <p:pic>
                    <p:nvPicPr>
                      <p:cNvPr id="419858" name="Object 18">
                        <a:extLst>
                          <a:ext uri="{FF2B5EF4-FFF2-40B4-BE49-F238E27FC236}">
                            <a16:creationId xmlns:a16="http://schemas.microsoft.com/office/drawing/2014/main" id="{503650B6-DACB-4812-B561-46E5F5945C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536" y="4821970"/>
                        <a:ext cx="2808287"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859" name="Object 19">
            <a:extLst>
              <a:ext uri="{FF2B5EF4-FFF2-40B4-BE49-F238E27FC236}">
                <a16:creationId xmlns:a16="http://schemas.microsoft.com/office/drawing/2014/main" id="{10F1318D-63B8-4643-A02C-4329915DB512}"/>
              </a:ext>
            </a:extLst>
          </p:cNvPr>
          <p:cNvGraphicFramePr>
            <a:graphicFrameLocks noChangeAspect="1"/>
          </p:cNvGraphicFramePr>
          <p:nvPr>
            <p:extLst>
              <p:ext uri="{D42A27DB-BD31-4B8C-83A1-F6EECF244321}">
                <p14:modId xmlns:p14="http://schemas.microsoft.com/office/powerpoint/2010/main" val="2982794606"/>
              </p:ext>
            </p:extLst>
          </p:nvPr>
        </p:nvGraphicFramePr>
        <p:xfrm>
          <a:off x="395536" y="4234595"/>
          <a:ext cx="3744912" cy="450850"/>
        </p:xfrm>
        <a:graphic>
          <a:graphicData uri="http://schemas.openxmlformats.org/presentationml/2006/ole">
            <mc:AlternateContent xmlns:mc="http://schemas.openxmlformats.org/markup-compatibility/2006">
              <mc:Choice xmlns:v="urn:schemas-microsoft-com:vml" Requires="v">
                <p:oleObj spid="_x0000_s119962" name="Equation" r:id="rId7" imgW="2095500" imgH="254000" progId="Equation.DSMT4">
                  <p:embed/>
                </p:oleObj>
              </mc:Choice>
              <mc:Fallback>
                <p:oleObj name="Equation" r:id="rId7" imgW="2095500" imgH="254000" progId="Equation.DSMT4">
                  <p:embed/>
                  <p:pic>
                    <p:nvPicPr>
                      <p:cNvPr id="419859" name="Object 19">
                        <a:extLst>
                          <a:ext uri="{FF2B5EF4-FFF2-40B4-BE49-F238E27FC236}">
                            <a16:creationId xmlns:a16="http://schemas.microsoft.com/office/drawing/2014/main" id="{10F1318D-63B8-4643-A02C-4329915DB5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536" y="4234595"/>
                        <a:ext cx="374491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60" name="Rectangle 20">
            <a:extLst>
              <a:ext uri="{FF2B5EF4-FFF2-40B4-BE49-F238E27FC236}">
                <a16:creationId xmlns:a16="http://schemas.microsoft.com/office/drawing/2014/main" id="{39C54E97-CE41-4AB4-9CD1-83CFCEE398F8}"/>
              </a:ext>
            </a:extLst>
          </p:cNvPr>
          <p:cNvSpPr>
            <a:spLocks noChangeArrowheads="1"/>
          </p:cNvSpPr>
          <p:nvPr/>
        </p:nvSpPr>
        <p:spPr bwMode="auto">
          <a:xfrm>
            <a:off x="971798" y="5656995"/>
            <a:ext cx="2592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t>——</a:t>
            </a:r>
            <a:r>
              <a:rPr lang="zh-CN" altLang="en-US" sz="2000" b="1"/>
              <a:t>二极管饱和电流</a:t>
            </a:r>
          </a:p>
        </p:txBody>
      </p:sp>
    </p:spTree>
    <p:extLst>
      <p:ext uri="{BB962C8B-B14F-4D97-AF65-F5344CB8AC3E}">
        <p14:creationId xmlns:p14="http://schemas.microsoft.com/office/powerpoint/2010/main" val="17081165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9852"/>
                                        </p:tgtEl>
                                        <p:attrNameLst>
                                          <p:attrName>style.visibility</p:attrName>
                                        </p:attrNameLst>
                                      </p:cBhvr>
                                      <p:to>
                                        <p:strVal val="visible"/>
                                      </p:to>
                                    </p:set>
                                    <p:animEffect transition="in" filter="blinds(horizontal)">
                                      <p:cBhvr>
                                        <p:cTn id="7" dur="500"/>
                                        <p:tgtEl>
                                          <p:spTgt spid="4198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9856"/>
                                        </p:tgtEl>
                                        <p:attrNameLst>
                                          <p:attrName>style.visibility</p:attrName>
                                        </p:attrNameLst>
                                      </p:cBhvr>
                                      <p:to>
                                        <p:strVal val="visible"/>
                                      </p:to>
                                    </p:set>
                                    <p:animEffect transition="in" filter="blinds(horizontal)">
                                      <p:cBhvr>
                                        <p:cTn id="12" dur="500"/>
                                        <p:tgtEl>
                                          <p:spTgt spid="4198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19855"/>
                                        </p:tgtEl>
                                        <p:attrNameLst>
                                          <p:attrName>style.visibility</p:attrName>
                                        </p:attrNameLst>
                                      </p:cBhvr>
                                      <p:to>
                                        <p:strVal val="visible"/>
                                      </p:to>
                                    </p:set>
                                    <p:animEffect transition="in" filter="blinds(horizontal)">
                                      <p:cBhvr>
                                        <p:cTn id="17" dur="500"/>
                                        <p:tgtEl>
                                          <p:spTgt spid="4198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19857"/>
                                        </p:tgtEl>
                                        <p:attrNameLst>
                                          <p:attrName>style.visibility</p:attrName>
                                        </p:attrNameLst>
                                      </p:cBhvr>
                                      <p:to>
                                        <p:strVal val="visible"/>
                                      </p:to>
                                    </p:set>
                                    <p:animEffect transition="in" filter="blinds(horizontal)">
                                      <p:cBhvr>
                                        <p:cTn id="22" dur="500"/>
                                        <p:tgtEl>
                                          <p:spTgt spid="4198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19859"/>
                                        </p:tgtEl>
                                        <p:attrNameLst>
                                          <p:attrName>style.visibility</p:attrName>
                                        </p:attrNameLst>
                                      </p:cBhvr>
                                      <p:to>
                                        <p:strVal val="visible"/>
                                      </p:to>
                                    </p:set>
                                    <p:animEffect transition="in" filter="blinds(horizontal)">
                                      <p:cBhvr>
                                        <p:cTn id="27" dur="500"/>
                                        <p:tgtEl>
                                          <p:spTgt spid="41985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19858"/>
                                        </p:tgtEl>
                                        <p:attrNameLst>
                                          <p:attrName>style.visibility</p:attrName>
                                        </p:attrNameLst>
                                      </p:cBhvr>
                                      <p:to>
                                        <p:strVal val="visible"/>
                                      </p:to>
                                    </p:set>
                                    <p:animEffect transition="in" filter="blinds(horizontal)">
                                      <p:cBhvr>
                                        <p:cTn id="32" dur="500"/>
                                        <p:tgtEl>
                                          <p:spTgt spid="4198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19860"/>
                                        </p:tgtEl>
                                        <p:attrNameLst>
                                          <p:attrName>style.visibility</p:attrName>
                                        </p:attrNameLst>
                                      </p:cBhvr>
                                      <p:to>
                                        <p:strVal val="visible"/>
                                      </p:to>
                                    </p:set>
                                    <p:animEffect transition="in" filter="blinds(horizontal)">
                                      <p:cBhvr>
                                        <p:cTn id="37" dur="500"/>
                                        <p:tgtEl>
                                          <p:spTgt spid="419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52" grpId="0"/>
      <p:bldP spid="419856" grpId="0"/>
      <p:bldP spid="419857" grpId="0"/>
      <p:bldP spid="41986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a:extLst>
              <a:ext uri="{FF2B5EF4-FFF2-40B4-BE49-F238E27FC236}">
                <a16:creationId xmlns:a16="http://schemas.microsoft.com/office/drawing/2014/main" id="{9CA015C4-36B4-4F55-977F-7E8CB215B41F}"/>
              </a:ext>
            </a:extLst>
          </p:cNvPr>
          <p:cNvSpPr>
            <a:spLocks noChangeArrowheads="1"/>
          </p:cNvSpPr>
          <p:nvPr/>
        </p:nvSpPr>
        <p:spPr bwMode="auto">
          <a:xfrm>
            <a:off x="611560" y="714578"/>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en-US" altLang="zh-CN" b="1" dirty="0">
                <a:solidFill>
                  <a:srgbClr val="993300"/>
                </a:solidFill>
              </a:rPr>
              <a:t>PN</a:t>
            </a:r>
            <a:r>
              <a:rPr kumimoji="0" lang="zh-CN" altLang="en-US" b="1" dirty="0">
                <a:solidFill>
                  <a:srgbClr val="993300"/>
                </a:solidFill>
              </a:rPr>
              <a:t>结饱和电流的几种表达方式</a:t>
            </a:r>
            <a:r>
              <a:rPr kumimoji="0" lang="en-US" altLang="zh-CN" b="1" dirty="0">
                <a:solidFill>
                  <a:srgbClr val="993300"/>
                </a:solidFill>
              </a:rPr>
              <a:t>(</a:t>
            </a:r>
            <a:r>
              <a:rPr kumimoji="0" lang="zh-CN" altLang="en-US" b="1" dirty="0">
                <a:solidFill>
                  <a:srgbClr val="993300"/>
                </a:solidFill>
              </a:rPr>
              <a:t>反向饱和电流</a:t>
            </a:r>
            <a:r>
              <a:rPr kumimoji="0" lang="en-US" altLang="zh-CN" b="1" dirty="0">
                <a:solidFill>
                  <a:srgbClr val="993300"/>
                </a:solidFill>
              </a:rPr>
              <a:t>)</a:t>
            </a:r>
          </a:p>
        </p:txBody>
      </p:sp>
      <p:graphicFrame>
        <p:nvGraphicFramePr>
          <p:cNvPr id="425988" name="Object 6">
            <a:extLst>
              <a:ext uri="{FF2B5EF4-FFF2-40B4-BE49-F238E27FC236}">
                <a16:creationId xmlns:a16="http://schemas.microsoft.com/office/drawing/2014/main" id="{873EAD0C-7E0C-4829-8770-C11559F82E4F}"/>
              </a:ext>
            </a:extLst>
          </p:cNvPr>
          <p:cNvGraphicFramePr>
            <a:graphicFrameLocks noChangeAspect="1"/>
          </p:cNvGraphicFramePr>
          <p:nvPr>
            <p:extLst>
              <p:ext uri="{D42A27DB-BD31-4B8C-83A1-F6EECF244321}">
                <p14:modId xmlns:p14="http://schemas.microsoft.com/office/powerpoint/2010/main" val="3350538366"/>
              </p:ext>
            </p:extLst>
          </p:nvPr>
        </p:nvGraphicFramePr>
        <p:xfrm>
          <a:off x="2000251" y="2786063"/>
          <a:ext cx="2312988" cy="692366"/>
        </p:xfrm>
        <a:graphic>
          <a:graphicData uri="http://schemas.openxmlformats.org/presentationml/2006/ole">
            <mc:AlternateContent xmlns:mc="http://schemas.openxmlformats.org/markup-compatibility/2006">
              <mc:Choice xmlns:v="urn:schemas-microsoft-com:vml" Requires="v">
                <p:oleObj spid="_x0000_s121324" r:id="rId3" imgW="1689100" imgH="508000" progId="Equation.3">
                  <p:embed/>
                </p:oleObj>
              </mc:Choice>
              <mc:Fallback>
                <p:oleObj r:id="rId3" imgW="1689100" imgH="508000" progId="Equation.3">
                  <p:embed/>
                  <p:pic>
                    <p:nvPicPr>
                      <p:cNvPr id="425988" name="Object 6">
                        <a:extLst>
                          <a:ext uri="{FF2B5EF4-FFF2-40B4-BE49-F238E27FC236}">
                            <a16:creationId xmlns:a16="http://schemas.microsoft.com/office/drawing/2014/main" id="{873EAD0C-7E0C-4829-8770-C11559F82E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1" y="2786063"/>
                        <a:ext cx="2312988" cy="692366"/>
                      </a:xfrm>
                      <a:prstGeom prst="rect">
                        <a:avLst/>
                      </a:prstGeom>
                      <a:noFill/>
                      <a:ln>
                        <a:noFill/>
                      </a:ln>
                    </p:spPr>
                  </p:pic>
                </p:oleObj>
              </mc:Fallback>
            </mc:AlternateContent>
          </a:graphicData>
        </a:graphic>
      </p:graphicFrame>
      <p:graphicFrame>
        <p:nvGraphicFramePr>
          <p:cNvPr id="425989" name="Object 7">
            <a:extLst>
              <a:ext uri="{FF2B5EF4-FFF2-40B4-BE49-F238E27FC236}">
                <a16:creationId xmlns:a16="http://schemas.microsoft.com/office/drawing/2014/main" id="{5AEB9CB6-E2E8-4444-AD6B-E12DB88E4478}"/>
              </a:ext>
            </a:extLst>
          </p:cNvPr>
          <p:cNvGraphicFramePr>
            <a:graphicFrameLocks noChangeAspect="1"/>
          </p:cNvGraphicFramePr>
          <p:nvPr>
            <p:extLst>
              <p:ext uri="{D42A27DB-BD31-4B8C-83A1-F6EECF244321}">
                <p14:modId xmlns:p14="http://schemas.microsoft.com/office/powerpoint/2010/main" val="3787434214"/>
              </p:ext>
            </p:extLst>
          </p:nvPr>
        </p:nvGraphicFramePr>
        <p:xfrm>
          <a:off x="1826256" y="3860800"/>
          <a:ext cx="3793033" cy="810641"/>
        </p:xfrm>
        <a:graphic>
          <a:graphicData uri="http://schemas.openxmlformats.org/presentationml/2006/ole">
            <mc:AlternateContent xmlns:mc="http://schemas.openxmlformats.org/markup-compatibility/2006">
              <mc:Choice xmlns:v="urn:schemas-microsoft-com:vml" Requires="v">
                <p:oleObj spid="_x0000_s121325" r:id="rId5" imgW="2362200" imgH="508000" progId="Equation.3">
                  <p:embed/>
                </p:oleObj>
              </mc:Choice>
              <mc:Fallback>
                <p:oleObj r:id="rId5" imgW="2362200" imgH="508000" progId="Equation.3">
                  <p:embed/>
                  <p:pic>
                    <p:nvPicPr>
                      <p:cNvPr id="425989" name="Object 7">
                        <a:extLst>
                          <a:ext uri="{FF2B5EF4-FFF2-40B4-BE49-F238E27FC236}">
                            <a16:creationId xmlns:a16="http://schemas.microsoft.com/office/drawing/2014/main" id="{5AEB9CB6-E2E8-4444-AD6B-E12DB88E44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6256" y="3860800"/>
                        <a:ext cx="3793033" cy="810641"/>
                      </a:xfrm>
                      <a:prstGeom prst="rect">
                        <a:avLst/>
                      </a:prstGeom>
                      <a:noFill/>
                      <a:ln>
                        <a:noFill/>
                      </a:ln>
                    </p:spPr>
                  </p:pic>
                </p:oleObj>
              </mc:Fallback>
            </mc:AlternateContent>
          </a:graphicData>
        </a:graphic>
      </p:graphicFrame>
      <p:graphicFrame>
        <p:nvGraphicFramePr>
          <p:cNvPr id="425990" name="Object 8">
            <a:extLst>
              <a:ext uri="{FF2B5EF4-FFF2-40B4-BE49-F238E27FC236}">
                <a16:creationId xmlns:a16="http://schemas.microsoft.com/office/drawing/2014/main" id="{D3A3A971-810C-4632-B1E6-5C2B476F9792}"/>
              </a:ext>
            </a:extLst>
          </p:cNvPr>
          <p:cNvGraphicFramePr>
            <a:graphicFrameLocks noChangeAspect="1"/>
          </p:cNvGraphicFramePr>
          <p:nvPr>
            <p:extLst>
              <p:ext uri="{D42A27DB-BD31-4B8C-83A1-F6EECF244321}">
                <p14:modId xmlns:p14="http://schemas.microsoft.com/office/powerpoint/2010/main" val="1588764408"/>
              </p:ext>
            </p:extLst>
          </p:nvPr>
        </p:nvGraphicFramePr>
        <p:xfrm>
          <a:off x="2116136" y="5148530"/>
          <a:ext cx="2455864" cy="761897"/>
        </p:xfrm>
        <a:graphic>
          <a:graphicData uri="http://schemas.openxmlformats.org/presentationml/2006/ole">
            <mc:AlternateContent xmlns:mc="http://schemas.openxmlformats.org/markup-compatibility/2006">
              <mc:Choice xmlns:v="urn:schemas-microsoft-com:vml" Requires="v">
                <p:oleObj spid="_x0000_s121326" r:id="rId7" imgW="1625600" imgH="508000" progId="Equation.3">
                  <p:embed/>
                </p:oleObj>
              </mc:Choice>
              <mc:Fallback>
                <p:oleObj r:id="rId7" imgW="1625600" imgH="508000" progId="Equation.3">
                  <p:embed/>
                  <p:pic>
                    <p:nvPicPr>
                      <p:cNvPr id="425990" name="Object 8">
                        <a:extLst>
                          <a:ext uri="{FF2B5EF4-FFF2-40B4-BE49-F238E27FC236}">
                            <a16:creationId xmlns:a16="http://schemas.microsoft.com/office/drawing/2014/main" id="{D3A3A971-810C-4632-B1E6-5C2B476F97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6136" y="5148530"/>
                        <a:ext cx="2455864" cy="761897"/>
                      </a:xfrm>
                      <a:prstGeom prst="rect">
                        <a:avLst/>
                      </a:prstGeom>
                      <a:noFill/>
                      <a:ln>
                        <a:noFill/>
                      </a:ln>
                    </p:spPr>
                  </p:pic>
                </p:oleObj>
              </mc:Fallback>
            </mc:AlternateContent>
          </a:graphicData>
        </a:graphic>
      </p:graphicFrame>
      <p:graphicFrame>
        <p:nvGraphicFramePr>
          <p:cNvPr id="425991" name="Object 5">
            <a:extLst>
              <a:ext uri="{FF2B5EF4-FFF2-40B4-BE49-F238E27FC236}">
                <a16:creationId xmlns:a16="http://schemas.microsoft.com/office/drawing/2014/main" id="{7A9B2FFB-75E5-4C25-8A47-0211938DB733}"/>
              </a:ext>
            </a:extLst>
          </p:cNvPr>
          <p:cNvGraphicFramePr>
            <a:graphicFrameLocks noChangeAspect="1"/>
          </p:cNvGraphicFramePr>
          <p:nvPr>
            <p:extLst>
              <p:ext uri="{D42A27DB-BD31-4B8C-83A1-F6EECF244321}">
                <p14:modId xmlns:p14="http://schemas.microsoft.com/office/powerpoint/2010/main" val="345081269"/>
              </p:ext>
            </p:extLst>
          </p:nvPr>
        </p:nvGraphicFramePr>
        <p:xfrm>
          <a:off x="2235201" y="1241094"/>
          <a:ext cx="2336800" cy="653119"/>
        </p:xfrm>
        <a:graphic>
          <a:graphicData uri="http://schemas.openxmlformats.org/presentationml/2006/ole">
            <mc:AlternateContent xmlns:mc="http://schemas.openxmlformats.org/markup-compatibility/2006">
              <mc:Choice xmlns:v="urn:schemas-microsoft-com:vml" Requires="v">
                <p:oleObj spid="_x0000_s121327" r:id="rId9" imgW="1638300" imgH="469900" progId="Equation.3">
                  <p:embed/>
                </p:oleObj>
              </mc:Choice>
              <mc:Fallback>
                <p:oleObj r:id="rId9" imgW="1638300" imgH="469900" progId="Equation.3">
                  <p:embed/>
                  <p:pic>
                    <p:nvPicPr>
                      <p:cNvPr id="425991" name="Object 5">
                        <a:extLst>
                          <a:ext uri="{FF2B5EF4-FFF2-40B4-BE49-F238E27FC236}">
                            <a16:creationId xmlns:a16="http://schemas.microsoft.com/office/drawing/2014/main" id="{7A9B2FFB-75E5-4C25-8A47-0211938DB73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35201" y="1241094"/>
                        <a:ext cx="2336800" cy="653119"/>
                      </a:xfrm>
                      <a:prstGeom prst="rect">
                        <a:avLst/>
                      </a:prstGeom>
                      <a:noFill/>
                      <a:ln>
                        <a:noFill/>
                      </a:ln>
                    </p:spPr>
                  </p:pic>
                </p:oleObj>
              </mc:Fallback>
            </mc:AlternateContent>
          </a:graphicData>
        </a:graphic>
      </p:graphicFrame>
      <p:grpSp>
        <p:nvGrpSpPr>
          <p:cNvPr id="2" name="Group 8">
            <a:extLst>
              <a:ext uri="{FF2B5EF4-FFF2-40B4-BE49-F238E27FC236}">
                <a16:creationId xmlns:a16="http://schemas.microsoft.com/office/drawing/2014/main" id="{32E2FBA6-EC83-46D4-A0F0-3E1E70BA7CEF}"/>
              </a:ext>
            </a:extLst>
          </p:cNvPr>
          <p:cNvGrpSpPr>
            <a:grpSpLocks/>
          </p:cNvGrpSpPr>
          <p:nvPr/>
        </p:nvGrpSpPr>
        <p:grpSpPr bwMode="auto">
          <a:xfrm>
            <a:off x="5357813" y="2928938"/>
            <a:ext cx="3254375" cy="409575"/>
            <a:chOff x="2735" y="1797"/>
            <a:chExt cx="2050" cy="258"/>
          </a:xfrm>
        </p:grpSpPr>
        <p:graphicFrame>
          <p:nvGraphicFramePr>
            <p:cNvPr id="39957" name="Object 9">
              <a:extLst>
                <a:ext uri="{FF2B5EF4-FFF2-40B4-BE49-F238E27FC236}">
                  <a16:creationId xmlns:a16="http://schemas.microsoft.com/office/drawing/2014/main" id="{AF0F9134-2EDE-4AFA-AB56-1A10730F187F}"/>
                </a:ext>
              </a:extLst>
            </p:cNvPr>
            <p:cNvGraphicFramePr>
              <a:graphicFrameLocks noChangeAspect="1"/>
            </p:cNvGraphicFramePr>
            <p:nvPr/>
          </p:nvGraphicFramePr>
          <p:xfrm>
            <a:off x="2735" y="1797"/>
            <a:ext cx="764" cy="258"/>
          </p:xfrm>
          <a:graphic>
            <a:graphicData uri="http://schemas.openxmlformats.org/presentationml/2006/ole">
              <mc:AlternateContent xmlns:mc="http://schemas.openxmlformats.org/markup-compatibility/2006">
                <mc:Choice xmlns:v="urn:schemas-microsoft-com:vml" Requires="v">
                  <p:oleObj spid="_x0000_s121328" name="Equation" r:id="rId11" imgW="710891" imgH="241195" progId="Equation.DSMT4">
                    <p:embed/>
                  </p:oleObj>
                </mc:Choice>
                <mc:Fallback>
                  <p:oleObj name="Equation" r:id="rId11" imgW="710891" imgH="241195" progId="Equation.DSMT4">
                    <p:embed/>
                    <p:pic>
                      <p:nvPicPr>
                        <p:cNvPr id="39957" name="Object 9">
                          <a:extLst>
                            <a:ext uri="{FF2B5EF4-FFF2-40B4-BE49-F238E27FC236}">
                              <a16:creationId xmlns:a16="http://schemas.microsoft.com/office/drawing/2014/main" id="{AF0F9134-2EDE-4AFA-AB56-1A10730F187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35" y="1797"/>
                          <a:ext cx="76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58" name="Object 10">
              <a:extLst>
                <a:ext uri="{FF2B5EF4-FFF2-40B4-BE49-F238E27FC236}">
                  <a16:creationId xmlns:a16="http://schemas.microsoft.com/office/drawing/2014/main" id="{33DA81D3-0D2E-4DF7-92DE-28C7E7109C02}"/>
                </a:ext>
              </a:extLst>
            </p:cNvPr>
            <p:cNvGraphicFramePr>
              <a:graphicFrameLocks noChangeAspect="1"/>
            </p:cNvGraphicFramePr>
            <p:nvPr/>
          </p:nvGraphicFramePr>
          <p:xfrm>
            <a:off x="3497" y="1803"/>
            <a:ext cx="601" cy="245"/>
          </p:xfrm>
          <a:graphic>
            <a:graphicData uri="http://schemas.openxmlformats.org/presentationml/2006/ole">
              <mc:AlternateContent xmlns:mc="http://schemas.openxmlformats.org/markup-compatibility/2006">
                <mc:Choice xmlns:v="urn:schemas-microsoft-com:vml" Requires="v">
                  <p:oleObj spid="_x0000_s121329" name="Equation" r:id="rId13" imgW="558800" imgH="228600" progId="Equation.DSMT4">
                    <p:embed/>
                  </p:oleObj>
                </mc:Choice>
                <mc:Fallback>
                  <p:oleObj name="Equation" r:id="rId13" imgW="558800" imgH="228600" progId="Equation.DSMT4">
                    <p:embed/>
                    <p:pic>
                      <p:nvPicPr>
                        <p:cNvPr id="39958" name="Object 10">
                          <a:extLst>
                            <a:ext uri="{FF2B5EF4-FFF2-40B4-BE49-F238E27FC236}">
                              <a16:creationId xmlns:a16="http://schemas.microsoft.com/office/drawing/2014/main" id="{33DA81D3-0D2E-4DF7-92DE-28C7E7109C0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97" y="1803"/>
                          <a:ext cx="60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59" name="Object 11">
              <a:extLst>
                <a:ext uri="{FF2B5EF4-FFF2-40B4-BE49-F238E27FC236}">
                  <a16:creationId xmlns:a16="http://schemas.microsoft.com/office/drawing/2014/main" id="{06391CDF-EC55-4AA3-9124-C7433CADB666}"/>
                </a:ext>
              </a:extLst>
            </p:cNvPr>
            <p:cNvGraphicFramePr>
              <a:graphicFrameLocks noChangeAspect="1"/>
            </p:cNvGraphicFramePr>
            <p:nvPr/>
          </p:nvGraphicFramePr>
          <p:xfrm>
            <a:off x="4157" y="1797"/>
            <a:ext cx="628" cy="245"/>
          </p:xfrm>
          <a:graphic>
            <a:graphicData uri="http://schemas.openxmlformats.org/presentationml/2006/ole">
              <mc:AlternateContent xmlns:mc="http://schemas.openxmlformats.org/markup-compatibility/2006">
                <mc:Choice xmlns:v="urn:schemas-microsoft-com:vml" Requires="v">
                  <p:oleObj spid="_x0000_s121330" name="Equation" r:id="rId15" imgW="583947" imgH="228501" progId="Equation.DSMT4">
                    <p:embed/>
                  </p:oleObj>
                </mc:Choice>
                <mc:Fallback>
                  <p:oleObj name="Equation" r:id="rId15" imgW="583947" imgH="228501" progId="Equation.DSMT4">
                    <p:embed/>
                    <p:pic>
                      <p:nvPicPr>
                        <p:cNvPr id="39959" name="Object 11">
                          <a:extLst>
                            <a:ext uri="{FF2B5EF4-FFF2-40B4-BE49-F238E27FC236}">
                              <a16:creationId xmlns:a16="http://schemas.microsoft.com/office/drawing/2014/main" id="{06391CDF-EC55-4AA3-9124-C7433CADB66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57" y="1797"/>
                          <a:ext cx="62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25996" name="Object 12">
            <a:extLst>
              <a:ext uri="{FF2B5EF4-FFF2-40B4-BE49-F238E27FC236}">
                <a16:creationId xmlns:a16="http://schemas.microsoft.com/office/drawing/2014/main" id="{665AAC9C-A81C-4756-A6F7-064F51B38CA7}"/>
              </a:ext>
            </a:extLst>
          </p:cNvPr>
          <p:cNvGraphicFramePr>
            <a:graphicFrameLocks noChangeAspect="1"/>
          </p:cNvGraphicFramePr>
          <p:nvPr/>
        </p:nvGraphicFramePr>
        <p:xfrm>
          <a:off x="6000750" y="3929063"/>
          <a:ext cx="2035175" cy="430212"/>
        </p:xfrm>
        <a:graphic>
          <a:graphicData uri="http://schemas.openxmlformats.org/presentationml/2006/ole">
            <mc:AlternateContent xmlns:mc="http://schemas.openxmlformats.org/markup-compatibility/2006">
              <mc:Choice xmlns:v="urn:schemas-microsoft-com:vml" Requires="v">
                <p:oleObj spid="_x0000_s121331" name="Equation" r:id="rId17" imgW="1193800" imgH="254000" progId="Equation.DSMT4">
                  <p:embed/>
                </p:oleObj>
              </mc:Choice>
              <mc:Fallback>
                <p:oleObj name="Equation" r:id="rId17" imgW="1193800" imgH="254000" progId="Equation.DSMT4">
                  <p:embed/>
                  <p:pic>
                    <p:nvPicPr>
                      <p:cNvPr id="425996" name="Object 12">
                        <a:extLst>
                          <a:ext uri="{FF2B5EF4-FFF2-40B4-BE49-F238E27FC236}">
                            <a16:creationId xmlns:a16="http://schemas.microsoft.com/office/drawing/2014/main" id="{665AAC9C-A81C-4756-A6F7-064F51B38CA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00750" y="3929063"/>
                        <a:ext cx="20351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13">
            <a:extLst>
              <a:ext uri="{FF2B5EF4-FFF2-40B4-BE49-F238E27FC236}">
                <a16:creationId xmlns:a16="http://schemas.microsoft.com/office/drawing/2014/main" id="{999D0D95-5053-45D8-B3A9-CFE828604C41}"/>
              </a:ext>
            </a:extLst>
          </p:cNvPr>
          <p:cNvGrpSpPr>
            <a:grpSpLocks/>
          </p:cNvGrpSpPr>
          <p:nvPr/>
        </p:nvGrpSpPr>
        <p:grpSpPr bwMode="auto">
          <a:xfrm>
            <a:off x="5214938" y="5357813"/>
            <a:ext cx="2530475" cy="430212"/>
            <a:chOff x="3424" y="2886"/>
            <a:chExt cx="1594" cy="271"/>
          </a:xfrm>
        </p:grpSpPr>
        <p:graphicFrame>
          <p:nvGraphicFramePr>
            <p:cNvPr id="39955" name="Object 14">
              <a:extLst>
                <a:ext uri="{FF2B5EF4-FFF2-40B4-BE49-F238E27FC236}">
                  <a16:creationId xmlns:a16="http://schemas.microsoft.com/office/drawing/2014/main" id="{407C3DCC-AE78-44CC-AFEB-4165ED0889A3}"/>
                </a:ext>
              </a:extLst>
            </p:cNvPr>
            <p:cNvGraphicFramePr>
              <a:graphicFrameLocks noChangeAspect="1"/>
            </p:cNvGraphicFramePr>
            <p:nvPr/>
          </p:nvGraphicFramePr>
          <p:xfrm>
            <a:off x="3424" y="2886"/>
            <a:ext cx="818" cy="271"/>
          </p:xfrm>
          <a:graphic>
            <a:graphicData uri="http://schemas.openxmlformats.org/presentationml/2006/ole">
              <mc:AlternateContent xmlns:mc="http://schemas.openxmlformats.org/markup-compatibility/2006">
                <mc:Choice xmlns:v="urn:schemas-microsoft-com:vml" Requires="v">
                  <p:oleObj spid="_x0000_s121332" name="Equation" r:id="rId19" imgW="761669" imgH="253890" progId="Equation.DSMT4">
                    <p:embed/>
                  </p:oleObj>
                </mc:Choice>
                <mc:Fallback>
                  <p:oleObj name="Equation" r:id="rId19" imgW="761669" imgH="253890" progId="Equation.DSMT4">
                    <p:embed/>
                    <p:pic>
                      <p:nvPicPr>
                        <p:cNvPr id="39955" name="Object 14">
                          <a:extLst>
                            <a:ext uri="{FF2B5EF4-FFF2-40B4-BE49-F238E27FC236}">
                              <a16:creationId xmlns:a16="http://schemas.microsoft.com/office/drawing/2014/main" id="{407C3DCC-AE78-44CC-AFEB-4165ED0889A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24" y="2886"/>
                          <a:ext cx="81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56" name="Object 15">
              <a:extLst>
                <a:ext uri="{FF2B5EF4-FFF2-40B4-BE49-F238E27FC236}">
                  <a16:creationId xmlns:a16="http://schemas.microsoft.com/office/drawing/2014/main" id="{FD1B56FD-FEE1-43B9-ABCA-ACE6DF889369}"/>
                </a:ext>
              </a:extLst>
            </p:cNvPr>
            <p:cNvGraphicFramePr>
              <a:graphicFrameLocks noChangeAspect="1"/>
            </p:cNvGraphicFramePr>
            <p:nvPr/>
          </p:nvGraphicFramePr>
          <p:xfrm>
            <a:off x="4282" y="2893"/>
            <a:ext cx="736" cy="257"/>
          </p:xfrm>
          <a:graphic>
            <a:graphicData uri="http://schemas.openxmlformats.org/presentationml/2006/ole">
              <mc:AlternateContent xmlns:mc="http://schemas.openxmlformats.org/markup-compatibility/2006">
                <mc:Choice xmlns:v="urn:schemas-microsoft-com:vml" Requires="v">
                  <p:oleObj spid="_x0000_s121333" name="Equation" r:id="rId21" imgW="685800" imgH="241300" progId="Equation.DSMT4">
                    <p:embed/>
                  </p:oleObj>
                </mc:Choice>
                <mc:Fallback>
                  <p:oleObj name="Equation" r:id="rId21" imgW="685800" imgH="241300" progId="Equation.DSMT4">
                    <p:embed/>
                    <p:pic>
                      <p:nvPicPr>
                        <p:cNvPr id="39956" name="Object 15">
                          <a:extLst>
                            <a:ext uri="{FF2B5EF4-FFF2-40B4-BE49-F238E27FC236}">
                              <a16:creationId xmlns:a16="http://schemas.microsoft.com/office/drawing/2014/main" id="{FD1B56FD-FEE1-43B9-ABCA-ACE6DF88936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82" y="2893"/>
                          <a:ext cx="73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26000" name="Rectangle 16">
            <a:extLst>
              <a:ext uri="{FF2B5EF4-FFF2-40B4-BE49-F238E27FC236}">
                <a16:creationId xmlns:a16="http://schemas.microsoft.com/office/drawing/2014/main" id="{96F49FFD-BF7A-47B6-9F6A-252A3BBE47C1}"/>
              </a:ext>
            </a:extLst>
          </p:cNvPr>
          <p:cNvSpPr>
            <a:spLocks noChangeArrowheads="1"/>
          </p:cNvSpPr>
          <p:nvPr/>
        </p:nvSpPr>
        <p:spPr bwMode="auto">
          <a:xfrm>
            <a:off x="1042988" y="5911850"/>
            <a:ext cx="810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理想</a:t>
            </a:r>
            <a:r>
              <a:rPr kumimoji="0" lang="en-US" altLang="zh-CN" sz="2000" b="1">
                <a:solidFill>
                  <a:srgbClr val="16165D"/>
                </a:solidFill>
              </a:rPr>
              <a:t>PN</a:t>
            </a:r>
            <a:r>
              <a:rPr kumimoji="0" lang="zh-CN" altLang="en-US" sz="2000" b="1">
                <a:solidFill>
                  <a:srgbClr val="16165D"/>
                </a:solidFill>
              </a:rPr>
              <a:t>结饱和电流来源于扩散区内产生的非平衡少数载流子。</a:t>
            </a:r>
          </a:p>
        </p:txBody>
      </p:sp>
      <p:sp>
        <p:nvSpPr>
          <p:cNvPr id="426003" name="Rectangle 19">
            <a:extLst>
              <a:ext uri="{FF2B5EF4-FFF2-40B4-BE49-F238E27FC236}">
                <a16:creationId xmlns:a16="http://schemas.microsoft.com/office/drawing/2014/main" id="{D53CFF9A-7960-451B-83F0-26A6AD3FCD2F}"/>
              </a:ext>
            </a:extLst>
          </p:cNvPr>
          <p:cNvSpPr>
            <a:spLocks noChangeArrowheads="1"/>
          </p:cNvSpPr>
          <p:nvPr/>
        </p:nvSpPr>
        <p:spPr bwMode="auto">
          <a:xfrm>
            <a:off x="611560" y="2055294"/>
            <a:ext cx="7326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20000"/>
              </a:spcBef>
            </a:pPr>
            <a:r>
              <a:rPr kumimoji="0" lang="zh-CN" altLang="en-US" sz="2000" b="1" dirty="0">
                <a:solidFill>
                  <a:srgbClr val="16165D"/>
                </a:solidFill>
              </a:rPr>
              <a:t>二极管饱和电流由电子扩散电流和空穴扩散电流两部分构成</a:t>
            </a:r>
          </a:p>
        </p:txBody>
      </p:sp>
      <p:sp>
        <p:nvSpPr>
          <p:cNvPr id="426006" name="Rectangle 22">
            <a:extLst>
              <a:ext uri="{FF2B5EF4-FFF2-40B4-BE49-F238E27FC236}">
                <a16:creationId xmlns:a16="http://schemas.microsoft.com/office/drawing/2014/main" id="{2755541B-05CE-4E4E-A02E-4C9F11BD2761}"/>
              </a:ext>
            </a:extLst>
          </p:cNvPr>
          <p:cNvSpPr>
            <a:spLocks noChangeArrowheads="1"/>
          </p:cNvSpPr>
          <p:nvPr/>
        </p:nvSpPr>
        <p:spPr bwMode="auto">
          <a:xfrm>
            <a:off x="1049338" y="3463925"/>
            <a:ext cx="7699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对于</a:t>
            </a:r>
            <a:r>
              <a:rPr kumimoji="0" lang="en-US" altLang="zh-CN" sz="2000" b="1">
                <a:solidFill>
                  <a:srgbClr val="16165D"/>
                </a:solidFill>
              </a:rPr>
              <a:t>P</a:t>
            </a:r>
            <a:r>
              <a:rPr kumimoji="0" lang="en-US" altLang="zh-CN" sz="2000" b="1" baseline="30000">
                <a:solidFill>
                  <a:srgbClr val="16165D"/>
                </a:solidFill>
              </a:rPr>
              <a:t>+</a:t>
            </a:r>
            <a:r>
              <a:rPr kumimoji="0" lang="en-US" altLang="zh-CN" sz="2000" b="1">
                <a:solidFill>
                  <a:srgbClr val="16165D"/>
                </a:solidFill>
              </a:rPr>
              <a:t>N(N</a:t>
            </a:r>
            <a:r>
              <a:rPr kumimoji="0" lang="en-US" altLang="zh-CN" sz="2000" b="1" baseline="30000">
                <a:solidFill>
                  <a:srgbClr val="16165D"/>
                </a:solidFill>
              </a:rPr>
              <a:t>+</a:t>
            </a:r>
            <a:r>
              <a:rPr kumimoji="0" lang="en-US" altLang="zh-CN" sz="2000" b="1">
                <a:solidFill>
                  <a:srgbClr val="16165D"/>
                </a:solidFill>
              </a:rPr>
              <a:t>P)</a:t>
            </a:r>
            <a:r>
              <a:rPr kumimoji="0" lang="zh-CN" altLang="en-US" sz="2000" b="1">
                <a:solidFill>
                  <a:srgbClr val="16165D"/>
                </a:solidFill>
              </a:rPr>
              <a:t>单边突变结，电子电流（空穴电流）可以忽略</a:t>
            </a:r>
          </a:p>
        </p:txBody>
      </p:sp>
      <p:sp>
        <p:nvSpPr>
          <p:cNvPr id="426007" name="Rectangle 23">
            <a:extLst>
              <a:ext uri="{FF2B5EF4-FFF2-40B4-BE49-F238E27FC236}">
                <a16:creationId xmlns:a16="http://schemas.microsoft.com/office/drawing/2014/main" id="{58301E5E-EEF7-483F-A793-775E2EEC1F6F}"/>
              </a:ext>
            </a:extLst>
          </p:cNvPr>
          <p:cNvSpPr>
            <a:spLocks noChangeArrowheads="1"/>
          </p:cNvSpPr>
          <p:nvPr/>
        </p:nvSpPr>
        <p:spPr bwMode="auto">
          <a:xfrm>
            <a:off x="1085850" y="4687888"/>
            <a:ext cx="805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16165D"/>
                </a:solidFill>
              </a:rPr>
              <a:t>与半导体材料的禁带宽度有密切的关系。禁带宽度大，其值越小。</a:t>
            </a:r>
          </a:p>
        </p:txBody>
      </p:sp>
    </p:spTree>
    <p:extLst>
      <p:ext uri="{BB962C8B-B14F-4D97-AF65-F5344CB8AC3E}">
        <p14:creationId xmlns:p14="http://schemas.microsoft.com/office/powerpoint/2010/main" val="27608264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25991"/>
                                        </p:tgtEl>
                                        <p:attrNameLst>
                                          <p:attrName>style.visibility</p:attrName>
                                        </p:attrNameLst>
                                      </p:cBhvr>
                                      <p:to>
                                        <p:strVal val="visible"/>
                                      </p:to>
                                    </p:set>
                                    <p:animEffect transition="in" filter="blinds(horizontal)">
                                      <p:cBhvr>
                                        <p:cTn id="7" dur="500"/>
                                        <p:tgtEl>
                                          <p:spTgt spid="4259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6003">
                                            <p:txEl>
                                              <p:pRg st="0" end="0"/>
                                            </p:txEl>
                                          </p:spTgt>
                                        </p:tgtEl>
                                        <p:attrNameLst>
                                          <p:attrName>style.visibility</p:attrName>
                                        </p:attrNameLst>
                                      </p:cBhvr>
                                      <p:to>
                                        <p:strVal val="visible"/>
                                      </p:to>
                                    </p:set>
                                    <p:animEffect transition="in" filter="blinds(horizontal)">
                                      <p:cBhvr>
                                        <p:cTn id="12" dur="500"/>
                                        <p:tgtEl>
                                          <p:spTgt spid="426003">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25988"/>
                                        </p:tgtEl>
                                        <p:attrNameLst>
                                          <p:attrName>style.visibility</p:attrName>
                                        </p:attrNameLst>
                                      </p:cBhvr>
                                      <p:to>
                                        <p:strVal val="visible"/>
                                      </p:to>
                                    </p:set>
                                    <p:animEffect transition="in" filter="blinds(horizontal)">
                                      <p:cBhvr>
                                        <p:cTn id="15" dur="500"/>
                                        <p:tgtEl>
                                          <p:spTgt spid="425988"/>
                                        </p:tgtEl>
                                      </p:cBhvr>
                                    </p:animEffect>
                                  </p:childTnLst>
                                </p:cTn>
                              </p:par>
                              <p:par>
                                <p:cTn id="16" presetID="3" presetClass="entr" presetSubtype="1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26006"/>
                                        </p:tgtEl>
                                        <p:attrNameLst>
                                          <p:attrName>style.visibility</p:attrName>
                                        </p:attrNameLst>
                                      </p:cBhvr>
                                      <p:to>
                                        <p:strVal val="visible"/>
                                      </p:to>
                                    </p:set>
                                    <p:animEffect transition="in" filter="blinds(horizontal)">
                                      <p:cBhvr>
                                        <p:cTn id="23" dur="500"/>
                                        <p:tgtEl>
                                          <p:spTgt spid="426006"/>
                                        </p:tgtEl>
                                      </p:cBhvr>
                                    </p:animEffect>
                                  </p:childTnLst>
                                </p:cTn>
                              </p:par>
                              <p:par>
                                <p:cTn id="24" presetID="3" presetClass="entr" presetSubtype="10" fill="hold" nodeType="withEffect">
                                  <p:stCondLst>
                                    <p:cond delay="0"/>
                                  </p:stCondLst>
                                  <p:childTnLst>
                                    <p:set>
                                      <p:cBhvr>
                                        <p:cTn id="25" dur="1" fill="hold">
                                          <p:stCondLst>
                                            <p:cond delay="0"/>
                                          </p:stCondLst>
                                        </p:cTn>
                                        <p:tgtEl>
                                          <p:spTgt spid="425989"/>
                                        </p:tgtEl>
                                        <p:attrNameLst>
                                          <p:attrName>style.visibility</p:attrName>
                                        </p:attrNameLst>
                                      </p:cBhvr>
                                      <p:to>
                                        <p:strVal val="visible"/>
                                      </p:to>
                                    </p:set>
                                    <p:animEffect transition="in" filter="blinds(horizontal)">
                                      <p:cBhvr>
                                        <p:cTn id="26" dur="500"/>
                                        <p:tgtEl>
                                          <p:spTgt spid="425989"/>
                                        </p:tgtEl>
                                      </p:cBhvr>
                                    </p:animEffect>
                                  </p:childTnLst>
                                </p:cTn>
                              </p:par>
                              <p:par>
                                <p:cTn id="27" presetID="3" presetClass="entr" presetSubtype="10" fill="hold" nodeType="withEffect">
                                  <p:stCondLst>
                                    <p:cond delay="0"/>
                                  </p:stCondLst>
                                  <p:childTnLst>
                                    <p:set>
                                      <p:cBhvr>
                                        <p:cTn id="28" dur="1" fill="hold">
                                          <p:stCondLst>
                                            <p:cond delay="0"/>
                                          </p:stCondLst>
                                        </p:cTn>
                                        <p:tgtEl>
                                          <p:spTgt spid="425996"/>
                                        </p:tgtEl>
                                        <p:attrNameLst>
                                          <p:attrName>style.visibility</p:attrName>
                                        </p:attrNameLst>
                                      </p:cBhvr>
                                      <p:to>
                                        <p:strVal val="visible"/>
                                      </p:to>
                                    </p:set>
                                    <p:animEffect transition="in" filter="blinds(horizontal)">
                                      <p:cBhvr>
                                        <p:cTn id="29" dur="500"/>
                                        <p:tgtEl>
                                          <p:spTgt spid="42599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426007"/>
                                        </p:tgtEl>
                                        <p:attrNameLst>
                                          <p:attrName>style.visibility</p:attrName>
                                        </p:attrNameLst>
                                      </p:cBhvr>
                                      <p:to>
                                        <p:strVal val="visible"/>
                                      </p:to>
                                    </p:set>
                                    <p:animEffect transition="in" filter="blinds(horizontal)">
                                      <p:cBhvr>
                                        <p:cTn id="34" dur="500"/>
                                        <p:tgtEl>
                                          <p:spTgt spid="426007"/>
                                        </p:tgtEl>
                                      </p:cBhvr>
                                    </p:animEffect>
                                  </p:childTnLst>
                                </p:cTn>
                              </p:par>
                              <p:par>
                                <p:cTn id="35" presetID="3" presetClass="entr" presetSubtype="10" fill="hold" nodeType="withEffect">
                                  <p:stCondLst>
                                    <p:cond delay="0"/>
                                  </p:stCondLst>
                                  <p:childTnLst>
                                    <p:set>
                                      <p:cBhvr>
                                        <p:cTn id="36" dur="1" fill="hold">
                                          <p:stCondLst>
                                            <p:cond delay="0"/>
                                          </p:stCondLst>
                                        </p:cTn>
                                        <p:tgtEl>
                                          <p:spTgt spid="425990"/>
                                        </p:tgtEl>
                                        <p:attrNameLst>
                                          <p:attrName>style.visibility</p:attrName>
                                        </p:attrNameLst>
                                      </p:cBhvr>
                                      <p:to>
                                        <p:strVal val="visible"/>
                                      </p:to>
                                    </p:set>
                                    <p:animEffect transition="in" filter="blinds(horizontal)">
                                      <p:cBhvr>
                                        <p:cTn id="37" dur="500"/>
                                        <p:tgtEl>
                                          <p:spTgt spid="425990"/>
                                        </p:tgtEl>
                                      </p:cBhvr>
                                    </p:animEffect>
                                  </p:childTnLst>
                                </p:cTn>
                              </p:par>
                              <p:par>
                                <p:cTn id="38" presetID="3" presetClass="entr" presetSubtype="10" fill="hold"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blinds(horizontal)">
                                      <p:cBhvr>
                                        <p:cTn id="40" dur="500"/>
                                        <p:tgtEl>
                                          <p:spTgt spid="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426000"/>
                                        </p:tgtEl>
                                        <p:attrNameLst>
                                          <p:attrName>style.visibility</p:attrName>
                                        </p:attrNameLst>
                                      </p:cBhvr>
                                      <p:to>
                                        <p:strVal val="visible"/>
                                      </p:to>
                                    </p:set>
                                    <p:animEffect transition="in" filter="blinds(horizontal)">
                                      <p:cBhvr>
                                        <p:cTn id="45" dur="500"/>
                                        <p:tgtEl>
                                          <p:spTgt spid="426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6000" grpId="0"/>
      <p:bldP spid="426006" grpId="0"/>
      <p:bldP spid="42600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C5C5A83-6CF7-43AB-A375-FFCD0D286F39}"/>
              </a:ext>
            </a:extLst>
          </p:cNvPr>
          <p:cNvSpPr>
            <a:spLocks noGrp="1" noChangeArrowheads="1"/>
          </p:cNvSpPr>
          <p:nvPr>
            <p:ph type="title"/>
          </p:nvPr>
        </p:nvSpPr>
        <p:spPr>
          <a:xfrm>
            <a:off x="1475656" y="476672"/>
            <a:ext cx="6463630" cy="1325563"/>
          </a:xfrm>
        </p:spPr>
        <p:txBody>
          <a:bodyPr/>
          <a:lstStyle/>
          <a:p>
            <a:pPr>
              <a:lnSpc>
                <a:spcPct val="110000"/>
              </a:lnSpc>
              <a:spcBef>
                <a:spcPts val="0"/>
              </a:spcBef>
            </a:pPr>
            <a:r>
              <a:rPr lang="zh-CN" altLang="en-US" dirty="0">
                <a:latin typeface="Times New Roman" panose="02020603050405020304" pitchFamily="18" charset="0"/>
                <a:ea typeface="宋体" panose="02010600030101010101" pitchFamily="2" charset="-122"/>
              </a:rPr>
              <a:t>第二章 </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结机理与特性</a:t>
            </a:r>
          </a:p>
        </p:txBody>
      </p:sp>
      <p:sp>
        <p:nvSpPr>
          <p:cNvPr id="2" name="矩形 1">
            <a:extLst>
              <a:ext uri="{FF2B5EF4-FFF2-40B4-BE49-F238E27FC236}">
                <a16:creationId xmlns:a16="http://schemas.microsoft.com/office/drawing/2014/main" id="{37D91D68-6D10-40B3-A612-ED5B19B13D12}"/>
              </a:ext>
            </a:extLst>
          </p:cNvPr>
          <p:cNvSpPr/>
          <p:nvPr/>
        </p:nvSpPr>
        <p:spPr>
          <a:xfrm>
            <a:off x="827584" y="2276872"/>
            <a:ext cx="7627869" cy="3970318"/>
          </a:xfrm>
          <a:prstGeom prst="rect">
            <a:avLst/>
          </a:prstGeom>
        </p:spPr>
        <p:txBody>
          <a:bodyPr wrap="square">
            <a:spAutoFit/>
          </a:bodyPr>
          <a:lstStyle/>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2.1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平衡</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2.2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正向</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结机理与特性</a:t>
            </a:r>
          </a:p>
          <a:p>
            <a:pPr>
              <a:lnSpc>
                <a:spcPct val="150000"/>
              </a:lnSpc>
            </a:pPr>
            <a:r>
              <a:rPr lang="en-US" altLang="zh-CN"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2.3  </a:t>
            </a:r>
            <a:r>
              <a:rPr lang="zh-CN" altLang="en-US"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反向</a:t>
            </a:r>
            <a:r>
              <a:rPr lang="en-US" altLang="zh-CN"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2.4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结空间电荷区的电场、位分布和宽度</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2.5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结击穿机理与击穿特性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2.6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结的电容特性</a:t>
            </a:r>
          </a:p>
        </p:txBody>
      </p:sp>
    </p:spTree>
    <p:extLst>
      <p:ext uri="{BB962C8B-B14F-4D97-AF65-F5344CB8AC3E}">
        <p14:creationId xmlns:p14="http://schemas.microsoft.com/office/powerpoint/2010/main" val="36152434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5E75A423-B9E3-43BE-9A36-C0F4B36873CB}"/>
              </a:ext>
            </a:extLst>
          </p:cNvPr>
          <p:cNvSpPr txBox="1">
            <a:spLocks noChangeArrowheads="1"/>
          </p:cNvSpPr>
          <p:nvPr/>
        </p:nvSpPr>
        <p:spPr>
          <a:xfrm>
            <a:off x="628650" y="123825"/>
            <a:ext cx="7886700" cy="1325563"/>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10000"/>
              </a:lnSpc>
              <a:spcBef>
                <a:spcPts val="0"/>
              </a:spcBef>
            </a:pPr>
            <a:r>
              <a:rPr lang="en-US" altLang="zh-CN" dirty="0">
                <a:latin typeface="Times New Roman" panose="02020603050405020304" pitchFamily="18" charset="0"/>
                <a:ea typeface="宋体" panose="02010600030101010101" pitchFamily="2" charset="-122"/>
              </a:rPr>
              <a:t>2.3 </a:t>
            </a:r>
            <a:r>
              <a:rPr lang="zh-CN" altLang="en-US" dirty="0">
                <a:latin typeface="Times New Roman" panose="02020603050405020304" pitchFamily="18" charset="0"/>
                <a:ea typeface="宋体" panose="02010600030101010101" pitchFamily="2" charset="-122"/>
              </a:rPr>
              <a:t>反向</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结的机理与特性</a:t>
            </a:r>
            <a:br>
              <a:rPr lang="zh-CN" altLang="en-US" dirty="0">
                <a:latin typeface="Times New Roman" panose="02020603050405020304" pitchFamily="18" charset="0"/>
                <a:ea typeface="宋体" panose="02010600030101010101" pitchFamily="2" charset="-122"/>
              </a:rPr>
            </a:br>
            <a:r>
              <a:rPr lang="en-US" altLang="zh-CN" sz="3200" dirty="0">
                <a:latin typeface="Times New Roman" panose="02020603050405020304" pitchFamily="18" charset="0"/>
                <a:ea typeface="宋体" panose="02010600030101010101" pitchFamily="2" charset="-122"/>
              </a:rPr>
              <a:t>2.3.1 </a:t>
            </a:r>
            <a:r>
              <a:rPr lang="zh-CN" altLang="en-US" sz="3200" dirty="0">
                <a:latin typeface="Times New Roman" panose="02020603050405020304" pitchFamily="18" charset="0"/>
                <a:ea typeface="宋体" panose="02010600030101010101" pitchFamily="2" charset="-122"/>
              </a:rPr>
              <a:t>反向偏置与反向抽取作用</a:t>
            </a:r>
            <a:endParaRPr lang="zh-CN" altLang="en-US" dirty="0">
              <a:latin typeface="Times New Roman" panose="02020603050405020304" pitchFamily="18" charset="0"/>
              <a:ea typeface="宋体" panose="02010600030101010101" pitchFamily="2" charset="-122"/>
            </a:endParaRPr>
          </a:p>
        </p:txBody>
      </p:sp>
      <p:sp>
        <p:nvSpPr>
          <p:cNvPr id="15" name="Rectangle 6">
            <a:extLst>
              <a:ext uri="{FF2B5EF4-FFF2-40B4-BE49-F238E27FC236}">
                <a16:creationId xmlns:a16="http://schemas.microsoft.com/office/drawing/2014/main" id="{50CB366C-3415-4FFA-9BFB-F59A0B37AE22}"/>
              </a:ext>
            </a:extLst>
          </p:cNvPr>
          <p:cNvSpPr>
            <a:spLocks noChangeArrowheads="1"/>
          </p:cNvSpPr>
          <p:nvPr/>
        </p:nvSpPr>
        <p:spPr bwMode="auto">
          <a:xfrm>
            <a:off x="3995936" y="1723445"/>
            <a:ext cx="4876800" cy="4014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68288" indent="-268288">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nSpc>
                <a:spcPct val="130000"/>
              </a:lnSpc>
              <a:spcBef>
                <a:spcPct val="0"/>
              </a:spcBef>
              <a:buClrTx/>
              <a:buFont typeface="Wingdings" panose="05000000000000000000" pitchFamily="2" charset="2"/>
              <a:buChar char="Ø"/>
            </a:pPr>
            <a:r>
              <a:rPr lang="zh-CN" altLang="en-US" sz="1800" dirty="0">
                <a:solidFill>
                  <a:schemeClr val="tx1"/>
                </a:solidFill>
              </a:rPr>
              <a:t>反偏压</a:t>
            </a:r>
            <a:r>
              <a:rPr lang="en-US" altLang="zh-CN" sz="1800" dirty="0">
                <a:solidFill>
                  <a:schemeClr val="tx1"/>
                </a:solidFill>
              </a:rPr>
              <a:t>-</a:t>
            </a:r>
            <a:r>
              <a:rPr lang="en-US" altLang="zh-CN" sz="1800" i="1" dirty="0">
                <a:solidFill>
                  <a:schemeClr val="tx1"/>
                </a:solidFill>
              </a:rPr>
              <a:t>V</a:t>
            </a:r>
            <a:r>
              <a:rPr lang="en-US" altLang="zh-CN" sz="1800" i="1" baseline="-30000" dirty="0">
                <a:solidFill>
                  <a:schemeClr val="tx1"/>
                </a:solidFill>
              </a:rPr>
              <a:t>R</a:t>
            </a:r>
            <a:r>
              <a:rPr lang="zh-CN" altLang="en-US" sz="1800" dirty="0">
                <a:solidFill>
                  <a:schemeClr val="tx1"/>
                </a:solidFill>
              </a:rPr>
              <a:t>，</a:t>
            </a:r>
            <a:r>
              <a:rPr lang="zh-CN" altLang="en-US" sz="1800" dirty="0">
                <a:solidFill>
                  <a:srgbClr val="FF3300"/>
                </a:solidFill>
              </a:rPr>
              <a:t>外加电场方向与内建电场相同</a:t>
            </a:r>
            <a:r>
              <a:rPr lang="zh-CN" altLang="en-US" sz="1800" dirty="0">
                <a:solidFill>
                  <a:schemeClr val="tx1"/>
                </a:solidFill>
              </a:rPr>
              <a:t>（</a:t>
            </a:r>
            <a:r>
              <a:rPr lang="en-US" altLang="zh-CN" sz="1800" dirty="0">
                <a:solidFill>
                  <a:schemeClr val="tx1"/>
                </a:solidFill>
              </a:rPr>
              <a:t>N→P</a:t>
            </a:r>
            <a:r>
              <a:rPr lang="zh-CN" altLang="en-US" sz="1800" dirty="0">
                <a:solidFill>
                  <a:schemeClr val="tx1"/>
                </a:solidFill>
              </a:rPr>
              <a:t>）</a:t>
            </a:r>
          </a:p>
          <a:p>
            <a:pPr>
              <a:lnSpc>
                <a:spcPct val="130000"/>
              </a:lnSpc>
              <a:spcBef>
                <a:spcPct val="0"/>
              </a:spcBef>
              <a:buClrTx/>
              <a:buFont typeface="Wingdings" panose="05000000000000000000" pitchFamily="2" charset="2"/>
              <a:buChar char="Ø"/>
            </a:pPr>
            <a:r>
              <a:rPr lang="zh-CN" altLang="en-US" sz="1800" dirty="0">
                <a:solidFill>
                  <a:schemeClr val="tx1"/>
                </a:solidFill>
              </a:rPr>
              <a:t>空间电荷区</a:t>
            </a:r>
            <a:r>
              <a:rPr lang="zh-CN" altLang="en-US" sz="1800" dirty="0">
                <a:solidFill>
                  <a:srgbClr val="FF3300"/>
                </a:solidFill>
              </a:rPr>
              <a:t>内建电势差</a:t>
            </a:r>
            <a:r>
              <a:rPr lang="zh-CN" altLang="en-US" sz="1800" dirty="0">
                <a:solidFill>
                  <a:schemeClr val="tx1"/>
                </a:solidFill>
              </a:rPr>
              <a:t>：由</a:t>
            </a:r>
            <a:r>
              <a:rPr lang="en-US" altLang="zh-CN" sz="1800" i="1" dirty="0">
                <a:solidFill>
                  <a:schemeClr val="tx1"/>
                </a:solidFill>
              </a:rPr>
              <a:t>ψ</a:t>
            </a:r>
            <a:r>
              <a:rPr lang="en-US" altLang="zh-CN" sz="1800" i="1" baseline="-30000" dirty="0">
                <a:solidFill>
                  <a:schemeClr val="tx1"/>
                </a:solidFill>
              </a:rPr>
              <a:t>0</a:t>
            </a:r>
            <a:r>
              <a:rPr lang="zh-CN" altLang="en-US" sz="1800" dirty="0">
                <a:solidFill>
                  <a:srgbClr val="FF3300"/>
                </a:solidFill>
              </a:rPr>
              <a:t>上升</a:t>
            </a:r>
            <a:r>
              <a:rPr lang="zh-CN" altLang="en-US" sz="1800" dirty="0">
                <a:solidFill>
                  <a:schemeClr val="tx1"/>
                </a:solidFill>
              </a:rPr>
              <a:t>到</a:t>
            </a:r>
            <a:r>
              <a:rPr lang="en-US" altLang="zh-CN" sz="1800" i="1" dirty="0">
                <a:solidFill>
                  <a:schemeClr val="tx1"/>
                </a:solidFill>
              </a:rPr>
              <a:t>ψ</a:t>
            </a:r>
            <a:r>
              <a:rPr lang="en-US" altLang="zh-CN" sz="1800" i="1" baseline="-30000" dirty="0">
                <a:solidFill>
                  <a:schemeClr val="tx1"/>
                </a:solidFill>
              </a:rPr>
              <a:t>0</a:t>
            </a:r>
            <a:r>
              <a:rPr lang="en-US" altLang="zh-CN" sz="1800" i="1" dirty="0">
                <a:solidFill>
                  <a:schemeClr val="tx1"/>
                </a:solidFill>
              </a:rPr>
              <a:t>+V</a:t>
            </a:r>
            <a:r>
              <a:rPr lang="en-US" altLang="zh-CN" sz="1800" i="1" baseline="-30000" dirty="0">
                <a:solidFill>
                  <a:schemeClr val="tx1"/>
                </a:solidFill>
              </a:rPr>
              <a:t>R</a:t>
            </a:r>
            <a:endParaRPr lang="en-US" altLang="zh-CN" sz="1800" dirty="0">
              <a:solidFill>
                <a:schemeClr val="tx1"/>
              </a:solidFill>
            </a:endParaRPr>
          </a:p>
          <a:p>
            <a:pPr>
              <a:lnSpc>
                <a:spcPct val="130000"/>
              </a:lnSpc>
              <a:spcBef>
                <a:spcPct val="0"/>
              </a:spcBef>
              <a:buClrTx/>
              <a:buFont typeface="Wingdings" panose="05000000000000000000" pitchFamily="2" charset="2"/>
              <a:buChar char="Ø"/>
            </a:pPr>
            <a:r>
              <a:rPr lang="zh-CN" altLang="en-US" sz="1800" dirty="0">
                <a:solidFill>
                  <a:srgbClr val="FF3300"/>
                </a:solidFill>
              </a:rPr>
              <a:t>势垒增高</a:t>
            </a:r>
            <a:r>
              <a:rPr lang="zh-CN" altLang="en-US" sz="1800" dirty="0">
                <a:solidFill>
                  <a:schemeClr val="tx1"/>
                </a:solidFill>
              </a:rPr>
              <a:t>（电场增强）：</a:t>
            </a:r>
          </a:p>
          <a:p>
            <a:pPr>
              <a:lnSpc>
                <a:spcPct val="130000"/>
              </a:lnSpc>
              <a:spcBef>
                <a:spcPct val="0"/>
              </a:spcBef>
              <a:buClrTx/>
              <a:buFont typeface="Wingdings" panose="05000000000000000000" pitchFamily="2" charset="2"/>
              <a:buNone/>
            </a:pPr>
            <a:r>
              <a:rPr lang="zh-CN" altLang="en-US" sz="1800" dirty="0">
                <a:solidFill>
                  <a:schemeClr val="tx1"/>
                </a:solidFill>
              </a:rPr>
              <a:t>              </a:t>
            </a:r>
            <a:r>
              <a:rPr lang="zh-CN" altLang="en-US" sz="1800" dirty="0">
                <a:solidFill>
                  <a:srgbClr val="FF3300"/>
                </a:solidFill>
              </a:rPr>
              <a:t>载流子漂移</a:t>
            </a:r>
            <a:r>
              <a:rPr lang="en-US" altLang="zh-CN" sz="1800" dirty="0">
                <a:solidFill>
                  <a:srgbClr val="FF3300"/>
                </a:solidFill>
              </a:rPr>
              <a:t>&gt;</a:t>
            </a:r>
            <a:r>
              <a:rPr lang="zh-CN" altLang="en-US" sz="1800" dirty="0">
                <a:solidFill>
                  <a:srgbClr val="FF3300"/>
                </a:solidFill>
              </a:rPr>
              <a:t>载流子扩散。</a:t>
            </a:r>
          </a:p>
          <a:p>
            <a:pPr>
              <a:lnSpc>
                <a:spcPct val="130000"/>
              </a:lnSpc>
              <a:spcBef>
                <a:spcPct val="0"/>
              </a:spcBef>
              <a:buClrTx/>
              <a:buFont typeface="Wingdings" panose="05000000000000000000" pitchFamily="2" charset="2"/>
              <a:buChar char="Ø"/>
            </a:pPr>
            <a:r>
              <a:rPr lang="zh-CN" altLang="en-US" sz="1800" dirty="0">
                <a:solidFill>
                  <a:schemeClr val="tx1"/>
                </a:solidFill>
              </a:rPr>
              <a:t>载流子的</a:t>
            </a:r>
            <a:r>
              <a:rPr lang="zh-CN" altLang="en-US" sz="1800" dirty="0">
                <a:solidFill>
                  <a:srgbClr val="FF3300"/>
                </a:solidFill>
              </a:rPr>
              <a:t>净漂移流</a:t>
            </a:r>
            <a:r>
              <a:rPr lang="zh-CN" altLang="en-US" sz="1800" dirty="0">
                <a:solidFill>
                  <a:schemeClr val="tx1"/>
                </a:solidFill>
              </a:rPr>
              <a:t>：</a:t>
            </a:r>
            <a:r>
              <a:rPr lang="en-US" altLang="zh-CN" sz="1800" dirty="0">
                <a:solidFill>
                  <a:schemeClr val="tx1"/>
                </a:solidFill>
              </a:rPr>
              <a:t>N</a:t>
            </a:r>
            <a:r>
              <a:rPr lang="zh-CN" altLang="en-US" sz="1800" dirty="0">
                <a:solidFill>
                  <a:schemeClr val="tx1"/>
                </a:solidFill>
              </a:rPr>
              <a:t>区少子空穴通过耗尽层后向</a:t>
            </a:r>
            <a:r>
              <a:rPr lang="en-US" altLang="zh-CN" sz="1800" dirty="0">
                <a:solidFill>
                  <a:schemeClr val="tx1"/>
                </a:solidFill>
              </a:rPr>
              <a:t>P</a:t>
            </a:r>
            <a:r>
              <a:rPr lang="zh-CN" altLang="en-US" sz="1800" dirty="0">
                <a:solidFill>
                  <a:schemeClr val="tx1"/>
                </a:solidFill>
              </a:rPr>
              <a:t>区漂移；</a:t>
            </a:r>
            <a:r>
              <a:rPr lang="en-US" altLang="zh-CN" sz="1800" dirty="0">
                <a:solidFill>
                  <a:schemeClr val="tx1"/>
                </a:solidFill>
              </a:rPr>
              <a:t>P</a:t>
            </a:r>
            <a:r>
              <a:rPr lang="zh-CN" altLang="en-US" sz="1800" dirty="0">
                <a:solidFill>
                  <a:schemeClr val="tx1"/>
                </a:solidFill>
              </a:rPr>
              <a:t>区少子电子向</a:t>
            </a:r>
            <a:r>
              <a:rPr lang="en-US" altLang="zh-CN" sz="1800" dirty="0">
                <a:solidFill>
                  <a:schemeClr val="tx1"/>
                </a:solidFill>
              </a:rPr>
              <a:t>N</a:t>
            </a:r>
            <a:r>
              <a:rPr lang="zh-CN" altLang="en-US" sz="1800" dirty="0">
                <a:solidFill>
                  <a:schemeClr val="tx1"/>
                </a:solidFill>
              </a:rPr>
              <a:t>区漂移</a:t>
            </a:r>
          </a:p>
          <a:p>
            <a:pPr>
              <a:lnSpc>
                <a:spcPct val="130000"/>
              </a:lnSpc>
              <a:spcBef>
                <a:spcPct val="0"/>
              </a:spcBef>
              <a:buClrTx/>
              <a:buFont typeface="Wingdings" panose="05000000000000000000" pitchFamily="2" charset="2"/>
              <a:buChar char="Ø"/>
            </a:pPr>
            <a:r>
              <a:rPr lang="zh-CN" altLang="en-US" sz="1800" dirty="0">
                <a:solidFill>
                  <a:srgbClr val="FF3300"/>
                </a:solidFill>
              </a:rPr>
              <a:t>漂移电流</a:t>
            </a:r>
            <a:r>
              <a:rPr lang="zh-CN" altLang="en-US" sz="1800" dirty="0">
                <a:solidFill>
                  <a:schemeClr val="tx1"/>
                </a:solidFill>
              </a:rPr>
              <a:t>：方向：反向（</a:t>
            </a:r>
            <a:r>
              <a:rPr lang="en-US" altLang="zh-CN" sz="1800" dirty="0">
                <a:solidFill>
                  <a:schemeClr val="tx1"/>
                </a:solidFill>
              </a:rPr>
              <a:t>N→P</a:t>
            </a:r>
            <a:r>
              <a:rPr lang="zh-CN" altLang="en-US" sz="1800" dirty="0">
                <a:solidFill>
                  <a:schemeClr val="tx1"/>
                </a:solidFill>
              </a:rPr>
              <a:t>）。大小：少子浓度很小，反偏电流很小。</a:t>
            </a:r>
          </a:p>
          <a:p>
            <a:pPr>
              <a:lnSpc>
                <a:spcPct val="130000"/>
              </a:lnSpc>
              <a:spcBef>
                <a:spcPct val="0"/>
              </a:spcBef>
              <a:buClrTx/>
              <a:buFont typeface="Wingdings" panose="05000000000000000000" pitchFamily="2" charset="2"/>
              <a:buChar char="Ø"/>
            </a:pPr>
            <a:r>
              <a:rPr lang="zh-CN" altLang="en-US" sz="1800" dirty="0">
                <a:solidFill>
                  <a:schemeClr val="tx1"/>
                </a:solidFill>
              </a:rPr>
              <a:t>仍满足耗尽层近似，</a:t>
            </a:r>
            <a:r>
              <a:rPr lang="zh-CN" altLang="en-US" sz="1800" dirty="0">
                <a:solidFill>
                  <a:srgbClr val="FF3300"/>
                </a:solidFill>
              </a:rPr>
              <a:t>耗尽层两端电势差宽度增加：</a:t>
            </a:r>
            <a:r>
              <a:rPr lang="en-US" altLang="zh-CN" sz="1800" i="1" dirty="0">
                <a:solidFill>
                  <a:srgbClr val="FF3300"/>
                </a:solidFill>
              </a:rPr>
              <a:t>ψ</a:t>
            </a:r>
            <a:r>
              <a:rPr lang="en-US" altLang="zh-CN" sz="1800" i="1" baseline="-30000" dirty="0">
                <a:solidFill>
                  <a:srgbClr val="FF3300"/>
                </a:solidFill>
              </a:rPr>
              <a:t>0</a:t>
            </a:r>
            <a:r>
              <a:rPr lang="en-US" altLang="zh-CN" sz="1800" i="1" dirty="0">
                <a:solidFill>
                  <a:srgbClr val="FF3300"/>
                </a:solidFill>
              </a:rPr>
              <a:t>+V</a:t>
            </a:r>
            <a:r>
              <a:rPr lang="en-US" altLang="zh-CN" sz="1800" i="1" baseline="-30000" dirty="0">
                <a:solidFill>
                  <a:srgbClr val="FF3300"/>
                </a:solidFill>
              </a:rPr>
              <a:t>R</a:t>
            </a:r>
            <a:r>
              <a:rPr lang="zh-CN" altLang="en-US" sz="1800" dirty="0">
                <a:solidFill>
                  <a:srgbClr val="FF3300"/>
                </a:solidFill>
              </a:rPr>
              <a:t>代替</a:t>
            </a:r>
            <a:r>
              <a:rPr lang="en-US" altLang="zh-CN" sz="1800" i="1" dirty="0">
                <a:solidFill>
                  <a:srgbClr val="FF3300"/>
                </a:solidFill>
              </a:rPr>
              <a:t>ψ</a:t>
            </a:r>
            <a:r>
              <a:rPr lang="en-US" altLang="zh-CN" sz="1800" i="1" baseline="-30000" dirty="0">
                <a:solidFill>
                  <a:srgbClr val="FF3300"/>
                </a:solidFill>
              </a:rPr>
              <a:t>0</a:t>
            </a:r>
          </a:p>
        </p:txBody>
      </p:sp>
      <p:graphicFrame>
        <p:nvGraphicFramePr>
          <p:cNvPr id="16" name="Object 5">
            <a:extLst>
              <a:ext uri="{FF2B5EF4-FFF2-40B4-BE49-F238E27FC236}">
                <a16:creationId xmlns:a16="http://schemas.microsoft.com/office/drawing/2014/main" id="{22CEC04C-9DFF-4BB5-B2D7-E037D0BD4C36}"/>
              </a:ext>
            </a:extLst>
          </p:cNvPr>
          <p:cNvGraphicFramePr>
            <a:graphicFrameLocks noChangeAspect="1"/>
          </p:cNvGraphicFramePr>
          <p:nvPr>
            <p:extLst>
              <p:ext uri="{D42A27DB-BD31-4B8C-83A1-F6EECF244321}">
                <p14:modId xmlns:p14="http://schemas.microsoft.com/office/powerpoint/2010/main" val="2046996134"/>
              </p:ext>
            </p:extLst>
          </p:nvPr>
        </p:nvGraphicFramePr>
        <p:xfrm>
          <a:off x="4638966" y="5860081"/>
          <a:ext cx="1676400" cy="735013"/>
        </p:xfrm>
        <a:graphic>
          <a:graphicData uri="http://schemas.openxmlformats.org/presentationml/2006/ole">
            <mc:AlternateContent xmlns:mc="http://schemas.openxmlformats.org/markup-compatibility/2006">
              <mc:Choice xmlns:v="urn:schemas-microsoft-com:vml" Requires="v">
                <p:oleObj spid="_x0000_s128045" name="Equation" r:id="rId3" imgW="1308100" imgH="571500" progId="Equation.DSMT4">
                  <p:embed/>
                </p:oleObj>
              </mc:Choice>
              <mc:Fallback>
                <p:oleObj name="Equation" r:id="rId3" imgW="1308100" imgH="571500" progId="Equation.DSMT4">
                  <p:embed/>
                  <p:pic>
                    <p:nvPicPr>
                      <p:cNvPr id="19459" name="Object 5">
                        <a:extLst>
                          <a:ext uri="{FF2B5EF4-FFF2-40B4-BE49-F238E27FC236}">
                            <a16:creationId xmlns:a16="http://schemas.microsoft.com/office/drawing/2014/main" id="{1077BF29-A225-4C75-95FC-593FC2BF75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8966" y="5860081"/>
                        <a:ext cx="16764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accent2"/>
                            </a:solidFill>
                            <a:miter lim="800000"/>
                            <a:headEnd/>
                            <a:tailEnd/>
                          </a14:hiddenLine>
                        </a:ext>
                      </a:extLst>
                    </p:spPr>
                  </p:pic>
                </p:oleObj>
              </mc:Fallback>
            </mc:AlternateContent>
          </a:graphicData>
        </a:graphic>
      </p:graphicFrame>
      <p:sp>
        <p:nvSpPr>
          <p:cNvPr id="17" name="Rectangle 7">
            <a:extLst>
              <a:ext uri="{FF2B5EF4-FFF2-40B4-BE49-F238E27FC236}">
                <a16:creationId xmlns:a16="http://schemas.microsoft.com/office/drawing/2014/main" id="{A6AD9968-1EBA-4FC7-AF64-869B9FD79BBC}"/>
              </a:ext>
            </a:extLst>
          </p:cNvPr>
          <p:cNvSpPr>
            <a:spLocks noChangeArrowheads="1"/>
          </p:cNvSpPr>
          <p:nvPr/>
        </p:nvSpPr>
        <p:spPr bwMode="auto">
          <a:xfrm>
            <a:off x="6548821" y="6075187"/>
            <a:ext cx="1019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1400" dirty="0">
                <a:solidFill>
                  <a:schemeClr val="tx1"/>
                </a:solidFill>
              </a:rPr>
              <a:t>（</a:t>
            </a:r>
            <a:r>
              <a:rPr lang="en-US" altLang="zh-CN" sz="1400" dirty="0">
                <a:solidFill>
                  <a:schemeClr val="tx1"/>
                </a:solidFill>
              </a:rPr>
              <a:t>P</a:t>
            </a:r>
            <a:r>
              <a:rPr lang="en-US" altLang="zh-CN" sz="1400" baseline="30000" dirty="0">
                <a:solidFill>
                  <a:schemeClr val="tx1"/>
                </a:solidFill>
              </a:rPr>
              <a:t>+</a:t>
            </a:r>
            <a:r>
              <a:rPr lang="en-US" altLang="zh-CN" sz="1400" dirty="0">
                <a:solidFill>
                  <a:schemeClr val="tx1"/>
                </a:solidFill>
              </a:rPr>
              <a:t>N</a:t>
            </a:r>
            <a:r>
              <a:rPr lang="zh-CN" altLang="en-US" sz="1400" dirty="0">
                <a:solidFill>
                  <a:schemeClr val="tx1"/>
                </a:solidFill>
              </a:rPr>
              <a:t>结）</a:t>
            </a:r>
          </a:p>
        </p:txBody>
      </p:sp>
      <p:pic>
        <p:nvPicPr>
          <p:cNvPr id="18" name="Picture 9" descr="2t5">
            <a:extLst>
              <a:ext uri="{FF2B5EF4-FFF2-40B4-BE49-F238E27FC236}">
                <a16:creationId xmlns:a16="http://schemas.microsoft.com/office/drawing/2014/main" id="{F69FD860-7BE3-412D-8426-64F907D460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3232" b="53285"/>
          <a:stretch>
            <a:fillRect/>
          </a:stretch>
        </p:blipFill>
        <p:spPr bwMode="auto">
          <a:xfrm>
            <a:off x="414536" y="1412246"/>
            <a:ext cx="3048000" cy="225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0" descr="2t5">
            <a:extLst>
              <a:ext uri="{FF2B5EF4-FFF2-40B4-BE49-F238E27FC236}">
                <a16:creationId xmlns:a16="http://schemas.microsoft.com/office/drawing/2014/main" id="{F3B252BC-4C2D-459A-8963-5AB78C010D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6501" t="43796" r="23611"/>
          <a:stretch>
            <a:fillRect/>
          </a:stretch>
        </p:blipFill>
        <p:spPr bwMode="auto">
          <a:xfrm>
            <a:off x="262136" y="4460246"/>
            <a:ext cx="3124200"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9441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9B8EA9D-343C-4352-88EB-658394D22B39}"/>
              </a:ext>
            </a:extLst>
          </p:cNvPr>
          <p:cNvGrpSpPr>
            <a:grpSpLocks/>
          </p:cNvGrpSpPr>
          <p:nvPr/>
        </p:nvGrpSpPr>
        <p:grpSpPr bwMode="auto">
          <a:xfrm>
            <a:off x="1115616" y="1682750"/>
            <a:ext cx="7010400" cy="3492500"/>
            <a:chOff x="720" y="960"/>
            <a:chExt cx="4416" cy="2200"/>
          </a:xfrm>
        </p:grpSpPr>
        <p:pic>
          <p:nvPicPr>
            <p:cNvPr id="3" name="Picture 3">
              <a:extLst>
                <a:ext uri="{FF2B5EF4-FFF2-40B4-BE49-F238E27FC236}">
                  <a16:creationId xmlns:a16="http://schemas.microsoft.com/office/drawing/2014/main" id="{FB385313-1B9B-49E9-B323-7FDFFF353B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 y="960"/>
              <a:ext cx="4416" cy="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Oval 4">
              <a:extLst>
                <a:ext uri="{FF2B5EF4-FFF2-40B4-BE49-F238E27FC236}">
                  <a16:creationId xmlns:a16="http://schemas.microsoft.com/office/drawing/2014/main" id="{CBB3FE3B-AEBF-4AAA-9626-C5E2991EB115}"/>
                </a:ext>
              </a:extLst>
            </p:cNvPr>
            <p:cNvSpPr>
              <a:spLocks noChangeArrowheads="1"/>
            </p:cNvSpPr>
            <p:nvPr/>
          </p:nvSpPr>
          <p:spPr bwMode="auto">
            <a:xfrm>
              <a:off x="2400" y="1200"/>
              <a:ext cx="144" cy="432"/>
            </a:xfrm>
            <a:prstGeom prst="ellipse">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Oval 5">
              <a:extLst>
                <a:ext uri="{FF2B5EF4-FFF2-40B4-BE49-F238E27FC236}">
                  <a16:creationId xmlns:a16="http://schemas.microsoft.com/office/drawing/2014/main" id="{77DF7430-4815-4364-951A-C18935A3399E}"/>
                </a:ext>
              </a:extLst>
            </p:cNvPr>
            <p:cNvSpPr>
              <a:spLocks noChangeArrowheads="1"/>
            </p:cNvSpPr>
            <p:nvPr/>
          </p:nvSpPr>
          <p:spPr bwMode="auto">
            <a:xfrm>
              <a:off x="3312" y="2256"/>
              <a:ext cx="144" cy="432"/>
            </a:xfrm>
            <a:prstGeom prst="ellipse">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a:extLst>
                <a:ext uri="{FF2B5EF4-FFF2-40B4-BE49-F238E27FC236}">
                  <a16:creationId xmlns:a16="http://schemas.microsoft.com/office/drawing/2014/main" id="{8C50E76A-484A-4135-9E97-5C4196BDB071}"/>
                </a:ext>
              </a:extLst>
            </p:cNvPr>
            <p:cNvSpPr>
              <a:spLocks noChangeArrowheads="1"/>
            </p:cNvSpPr>
            <p:nvPr/>
          </p:nvSpPr>
          <p:spPr bwMode="auto">
            <a:xfrm>
              <a:off x="1968" y="1824"/>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0000FF"/>
                  </a:solidFill>
                  <a:latin typeface="Times New Roman" panose="02020603050405020304" pitchFamily="18" charset="0"/>
                  <a:ea typeface="黑体" panose="02010609060101010101" pitchFamily="49" charset="-122"/>
                </a:rPr>
                <a:t>扩散电流</a:t>
              </a:r>
            </a:p>
          </p:txBody>
        </p:sp>
        <p:sp>
          <p:nvSpPr>
            <p:cNvPr id="7" name="Rectangle 7">
              <a:extLst>
                <a:ext uri="{FF2B5EF4-FFF2-40B4-BE49-F238E27FC236}">
                  <a16:creationId xmlns:a16="http://schemas.microsoft.com/office/drawing/2014/main" id="{0B4724DC-B823-4608-A658-3A3CBFF0B366}"/>
                </a:ext>
              </a:extLst>
            </p:cNvPr>
            <p:cNvSpPr>
              <a:spLocks noChangeArrowheads="1"/>
            </p:cNvSpPr>
            <p:nvPr/>
          </p:nvSpPr>
          <p:spPr bwMode="auto">
            <a:xfrm>
              <a:off x="3312" y="1824"/>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0000FF"/>
                  </a:solidFill>
                  <a:latin typeface="Times New Roman" panose="02020603050405020304" pitchFamily="18" charset="0"/>
                  <a:ea typeface="黑体" panose="02010609060101010101" pitchFamily="49" charset="-122"/>
                </a:rPr>
                <a:t>扩散电流</a:t>
              </a:r>
            </a:p>
          </p:txBody>
        </p:sp>
        <p:sp>
          <p:nvSpPr>
            <p:cNvPr id="8" name="Rectangle 8">
              <a:extLst>
                <a:ext uri="{FF2B5EF4-FFF2-40B4-BE49-F238E27FC236}">
                  <a16:creationId xmlns:a16="http://schemas.microsoft.com/office/drawing/2014/main" id="{DDB3CEC3-1B4F-41EF-B088-7667C9298827}"/>
                </a:ext>
              </a:extLst>
            </p:cNvPr>
            <p:cNvSpPr>
              <a:spLocks noChangeArrowheads="1"/>
            </p:cNvSpPr>
            <p:nvPr/>
          </p:nvSpPr>
          <p:spPr bwMode="auto">
            <a:xfrm>
              <a:off x="1248" y="2064"/>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FF0000"/>
                  </a:solidFill>
                  <a:latin typeface="Times New Roman" panose="02020603050405020304" pitchFamily="18" charset="0"/>
                  <a:ea typeface="黑体" panose="02010609060101010101" pitchFamily="49" charset="-122"/>
                </a:rPr>
                <a:t>漂移电流</a:t>
              </a:r>
            </a:p>
          </p:txBody>
        </p:sp>
        <p:sp>
          <p:nvSpPr>
            <p:cNvPr id="9" name="Rectangle 9">
              <a:extLst>
                <a:ext uri="{FF2B5EF4-FFF2-40B4-BE49-F238E27FC236}">
                  <a16:creationId xmlns:a16="http://schemas.microsoft.com/office/drawing/2014/main" id="{42A162DB-E343-4FF5-BF9D-74BD72BC345E}"/>
                </a:ext>
              </a:extLst>
            </p:cNvPr>
            <p:cNvSpPr>
              <a:spLocks noChangeArrowheads="1"/>
            </p:cNvSpPr>
            <p:nvPr/>
          </p:nvSpPr>
          <p:spPr bwMode="auto">
            <a:xfrm>
              <a:off x="3984" y="1536"/>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FF0000"/>
                  </a:solidFill>
                  <a:latin typeface="Times New Roman" panose="02020603050405020304" pitchFamily="18" charset="0"/>
                  <a:ea typeface="黑体" panose="02010609060101010101" pitchFamily="49" charset="-122"/>
                </a:rPr>
                <a:t>漂移电流</a:t>
              </a:r>
            </a:p>
          </p:txBody>
        </p:sp>
        <p:sp>
          <p:nvSpPr>
            <p:cNvPr id="10" name="Line 10">
              <a:extLst>
                <a:ext uri="{FF2B5EF4-FFF2-40B4-BE49-F238E27FC236}">
                  <a16:creationId xmlns:a16="http://schemas.microsoft.com/office/drawing/2014/main" id="{1A37BB56-5374-4BDA-BB48-5A635ECB01CD}"/>
                </a:ext>
              </a:extLst>
            </p:cNvPr>
            <p:cNvSpPr>
              <a:spLocks noChangeShapeType="1"/>
            </p:cNvSpPr>
            <p:nvPr/>
          </p:nvSpPr>
          <p:spPr bwMode="auto">
            <a:xfrm flipH="1">
              <a:off x="2688" y="1584"/>
              <a:ext cx="480" cy="0"/>
            </a:xfrm>
            <a:prstGeom prst="line">
              <a:avLst/>
            </a:prstGeom>
            <a:noFill/>
            <a:ln w="38100">
              <a:solidFill>
                <a:srgbClr val="FF0000"/>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1">
              <a:extLst>
                <a:ext uri="{FF2B5EF4-FFF2-40B4-BE49-F238E27FC236}">
                  <a16:creationId xmlns:a16="http://schemas.microsoft.com/office/drawing/2014/main" id="{06D35070-AC37-4604-BB91-9BBEF80723D0}"/>
                </a:ext>
              </a:extLst>
            </p:cNvPr>
            <p:cNvSpPr>
              <a:spLocks noChangeShapeType="1"/>
            </p:cNvSpPr>
            <p:nvPr/>
          </p:nvSpPr>
          <p:spPr bwMode="auto">
            <a:xfrm flipH="1">
              <a:off x="2688" y="2304"/>
              <a:ext cx="480" cy="0"/>
            </a:xfrm>
            <a:prstGeom prst="line">
              <a:avLst/>
            </a:prstGeom>
            <a:noFill/>
            <a:ln w="38100">
              <a:solidFill>
                <a:srgbClr val="FF0000"/>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2" name="Oval 13">
            <a:extLst>
              <a:ext uri="{FF2B5EF4-FFF2-40B4-BE49-F238E27FC236}">
                <a16:creationId xmlns:a16="http://schemas.microsoft.com/office/drawing/2014/main" id="{47CEA89E-BBAB-4779-92CB-F7593165602C}"/>
              </a:ext>
            </a:extLst>
          </p:cNvPr>
          <p:cNvSpPr>
            <a:spLocks noChangeArrowheads="1"/>
          </p:cNvSpPr>
          <p:nvPr/>
        </p:nvSpPr>
        <p:spPr bwMode="auto">
          <a:xfrm>
            <a:off x="5162804" y="1340768"/>
            <a:ext cx="1098550" cy="2742281"/>
          </a:xfrm>
          <a:prstGeom prst="ellipse">
            <a:avLst/>
          </a:prstGeom>
          <a:noFill/>
          <a:ln w="2857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12">
            <a:extLst>
              <a:ext uri="{FF2B5EF4-FFF2-40B4-BE49-F238E27FC236}">
                <a16:creationId xmlns:a16="http://schemas.microsoft.com/office/drawing/2014/main" id="{DED7DA26-C7CF-4810-8DC8-78C51E7316D5}"/>
              </a:ext>
            </a:extLst>
          </p:cNvPr>
          <p:cNvSpPr>
            <a:spLocks noChangeArrowheads="1"/>
          </p:cNvSpPr>
          <p:nvPr/>
        </p:nvSpPr>
        <p:spPr bwMode="auto">
          <a:xfrm>
            <a:off x="661907" y="5614442"/>
            <a:ext cx="822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0"/>
            <a:r>
              <a:rPr lang="zh-CN" altLang="en-US" b="1" dirty="0">
                <a:solidFill>
                  <a:srgbClr val="000000"/>
                </a:solidFill>
                <a:latin typeface="Times New Roman" panose="02020603050405020304" pitchFamily="18" charset="0"/>
              </a:rPr>
              <a:t>在</a:t>
            </a:r>
            <a:r>
              <a:rPr lang="en-US" altLang="zh-CN" b="1" i="1" dirty="0">
                <a:solidFill>
                  <a:srgbClr val="000000"/>
                </a:solidFill>
                <a:latin typeface="Times New Roman" panose="02020603050405020304" pitchFamily="18" charset="0"/>
              </a:rPr>
              <a:t>X</a:t>
            </a:r>
            <a:r>
              <a:rPr lang="en-US" altLang="zh-CN" b="1" i="1" baseline="-25000" dirty="0">
                <a:solidFill>
                  <a:srgbClr val="000000"/>
                </a:solidFill>
                <a:latin typeface="Times New Roman" panose="02020603050405020304" pitchFamily="18" charset="0"/>
              </a:rPr>
              <a:t>N</a:t>
            </a:r>
            <a:r>
              <a:rPr lang="en-US" altLang="zh-CN" b="1" i="1" dirty="0">
                <a:solidFill>
                  <a:srgbClr val="000000"/>
                </a:solidFill>
                <a:latin typeface="Times New Roman" panose="02020603050405020304" pitchFamily="18" charset="0"/>
              </a:rPr>
              <a:t>~X’</a:t>
            </a:r>
            <a:r>
              <a:rPr lang="en-US" altLang="zh-CN" b="1" i="1" baseline="-25000" dirty="0">
                <a:solidFill>
                  <a:srgbClr val="000000"/>
                </a:solidFill>
                <a:latin typeface="Times New Roman" panose="02020603050405020304" pitchFamily="18" charset="0"/>
              </a:rPr>
              <a:t>N</a:t>
            </a:r>
            <a:r>
              <a:rPr lang="zh-CN" altLang="en-US" b="1" dirty="0">
                <a:solidFill>
                  <a:srgbClr val="000000"/>
                </a:solidFill>
                <a:latin typeface="Times New Roman" panose="02020603050405020304" pitchFamily="18" charset="0"/>
              </a:rPr>
              <a:t>区域净产生的空穴往结区扩散，到达空间电荷区边界</a:t>
            </a:r>
            <a:r>
              <a:rPr lang="en-US" altLang="zh-CN" b="1" i="1" dirty="0">
                <a:solidFill>
                  <a:srgbClr val="000000"/>
                </a:solidFill>
                <a:latin typeface="Times New Roman" panose="02020603050405020304" pitchFamily="18" charset="0"/>
              </a:rPr>
              <a:t>X</a:t>
            </a:r>
            <a:r>
              <a:rPr lang="en-US" altLang="zh-CN" b="1" i="1" baseline="-25000" dirty="0">
                <a:solidFill>
                  <a:srgbClr val="000000"/>
                </a:solidFill>
                <a:latin typeface="Times New Roman" panose="02020603050405020304" pitchFamily="18" charset="0"/>
              </a:rPr>
              <a:t>N</a:t>
            </a:r>
            <a:r>
              <a:rPr lang="zh-CN" altLang="en-US" b="1" dirty="0">
                <a:solidFill>
                  <a:srgbClr val="000000"/>
                </a:solidFill>
                <a:latin typeface="Times New Roman" panose="02020603050405020304" pitchFamily="18" charset="0"/>
              </a:rPr>
              <a:t>处，被电场扫过空间电荷区进入</a:t>
            </a:r>
            <a:r>
              <a:rPr lang="en-US" altLang="zh-CN" b="1" dirty="0">
                <a:solidFill>
                  <a:srgbClr val="000000"/>
                </a:solidFill>
                <a:latin typeface="Times New Roman" panose="02020603050405020304" pitchFamily="18" charset="0"/>
              </a:rPr>
              <a:t>P</a:t>
            </a:r>
            <a:r>
              <a:rPr lang="zh-CN" altLang="en-US" b="1" dirty="0">
                <a:solidFill>
                  <a:srgbClr val="000000"/>
                </a:solidFill>
                <a:latin typeface="Times New Roman" panose="02020603050405020304" pitchFamily="18" charset="0"/>
              </a:rPr>
              <a:t>区，产生的电子以漂移的形式流出</a:t>
            </a:r>
            <a:r>
              <a:rPr lang="en-US" altLang="zh-CN" b="1" i="1" dirty="0" err="1">
                <a:solidFill>
                  <a:srgbClr val="000000"/>
                </a:solidFill>
                <a:latin typeface="Times New Roman" panose="02020603050405020304" pitchFamily="18" charset="0"/>
              </a:rPr>
              <a:t>X</a:t>
            </a:r>
            <a:r>
              <a:rPr lang="en-US" altLang="zh-CN" b="1" i="1" baseline="-25000" dirty="0" err="1">
                <a:solidFill>
                  <a:srgbClr val="000000"/>
                </a:solidFill>
                <a:latin typeface="Times New Roman" panose="02020603050405020304" pitchFamily="18" charset="0"/>
              </a:rPr>
              <a:t>p</a:t>
            </a:r>
            <a:r>
              <a:rPr lang="en-US" altLang="zh-CN" b="1" i="1" dirty="0" err="1">
                <a:solidFill>
                  <a:srgbClr val="000000"/>
                </a:solidFill>
                <a:latin typeface="Times New Roman" panose="02020603050405020304" pitchFamily="18" charset="0"/>
              </a:rPr>
              <a:t>~X’</a:t>
            </a:r>
            <a:r>
              <a:rPr lang="en-US" altLang="zh-CN" b="1" i="1" baseline="-25000" dirty="0" err="1">
                <a:solidFill>
                  <a:srgbClr val="000000"/>
                </a:solidFill>
                <a:latin typeface="Times New Roman" panose="02020603050405020304" pitchFamily="18" charset="0"/>
              </a:rPr>
              <a:t>p</a:t>
            </a:r>
            <a:r>
              <a:rPr lang="zh-CN" altLang="en-US" b="1" dirty="0">
                <a:solidFill>
                  <a:srgbClr val="000000"/>
                </a:solidFill>
                <a:latin typeface="Times New Roman" panose="02020603050405020304" pitchFamily="18" charset="0"/>
              </a:rPr>
              <a:t>区。</a:t>
            </a:r>
          </a:p>
        </p:txBody>
      </p:sp>
    </p:spTree>
    <p:extLst>
      <p:ext uri="{BB962C8B-B14F-4D97-AF65-F5344CB8AC3E}">
        <p14:creationId xmlns:p14="http://schemas.microsoft.com/office/powerpoint/2010/main" val="11599099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8" name="Group 2">
            <a:extLst>
              <a:ext uri="{FF2B5EF4-FFF2-40B4-BE49-F238E27FC236}">
                <a16:creationId xmlns:a16="http://schemas.microsoft.com/office/drawing/2014/main" id="{A21C18C7-5149-4D79-A5CD-947CC7827656}"/>
              </a:ext>
            </a:extLst>
          </p:cNvPr>
          <p:cNvGrpSpPr>
            <a:grpSpLocks/>
          </p:cNvGrpSpPr>
          <p:nvPr/>
        </p:nvGrpSpPr>
        <p:grpSpPr bwMode="auto">
          <a:xfrm>
            <a:off x="1181100" y="1295162"/>
            <a:ext cx="7010400" cy="3492500"/>
            <a:chOff x="720" y="960"/>
            <a:chExt cx="4416" cy="2200"/>
          </a:xfrm>
        </p:grpSpPr>
        <p:pic>
          <p:nvPicPr>
            <p:cNvPr id="116739" name="Picture 3">
              <a:extLst>
                <a:ext uri="{FF2B5EF4-FFF2-40B4-BE49-F238E27FC236}">
                  <a16:creationId xmlns:a16="http://schemas.microsoft.com/office/drawing/2014/main" id="{4FDEA4F6-1157-45B1-9DF3-0EB2944A17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960"/>
              <a:ext cx="4416" cy="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40" name="Oval 4">
              <a:extLst>
                <a:ext uri="{FF2B5EF4-FFF2-40B4-BE49-F238E27FC236}">
                  <a16:creationId xmlns:a16="http://schemas.microsoft.com/office/drawing/2014/main" id="{028DC9A5-F7F7-4779-9C4B-80355A191BAB}"/>
                </a:ext>
              </a:extLst>
            </p:cNvPr>
            <p:cNvSpPr>
              <a:spLocks noChangeArrowheads="1"/>
            </p:cNvSpPr>
            <p:nvPr/>
          </p:nvSpPr>
          <p:spPr bwMode="auto">
            <a:xfrm>
              <a:off x="2400" y="1200"/>
              <a:ext cx="144" cy="432"/>
            </a:xfrm>
            <a:prstGeom prst="ellipse">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1" name="Oval 5">
              <a:extLst>
                <a:ext uri="{FF2B5EF4-FFF2-40B4-BE49-F238E27FC236}">
                  <a16:creationId xmlns:a16="http://schemas.microsoft.com/office/drawing/2014/main" id="{EE741403-5BCB-4509-B692-08B6E86C270E}"/>
                </a:ext>
              </a:extLst>
            </p:cNvPr>
            <p:cNvSpPr>
              <a:spLocks noChangeArrowheads="1"/>
            </p:cNvSpPr>
            <p:nvPr/>
          </p:nvSpPr>
          <p:spPr bwMode="auto">
            <a:xfrm>
              <a:off x="3312" y="2256"/>
              <a:ext cx="144" cy="432"/>
            </a:xfrm>
            <a:prstGeom prst="ellipse">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2" name="Rectangle 6">
              <a:extLst>
                <a:ext uri="{FF2B5EF4-FFF2-40B4-BE49-F238E27FC236}">
                  <a16:creationId xmlns:a16="http://schemas.microsoft.com/office/drawing/2014/main" id="{B8C196AF-65E0-4C00-8A0A-431B8B609361}"/>
                </a:ext>
              </a:extLst>
            </p:cNvPr>
            <p:cNvSpPr>
              <a:spLocks noChangeArrowheads="1"/>
            </p:cNvSpPr>
            <p:nvPr/>
          </p:nvSpPr>
          <p:spPr bwMode="auto">
            <a:xfrm>
              <a:off x="1968" y="1824"/>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0000FF"/>
                  </a:solidFill>
                  <a:latin typeface="Times New Roman" panose="02020603050405020304" pitchFamily="18" charset="0"/>
                  <a:ea typeface="黑体" panose="02010609060101010101" pitchFamily="49" charset="-122"/>
                </a:rPr>
                <a:t>扩散电流</a:t>
              </a:r>
            </a:p>
          </p:txBody>
        </p:sp>
        <p:sp>
          <p:nvSpPr>
            <p:cNvPr id="116743" name="Rectangle 7">
              <a:extLst>
                <a:ext uri="{FF2B5EF4-FFF2-40B4-BE49-F238E27FC236}">
                  <a16:creationId xmlns:a16="http://schemas.microsoft.com/office/drawing/2014/main" id="{09242458-3148-43B3-AB61-80B28384C1C2}"/>
                </a:ext>
              </a:extLst>
            </p:cNvPr>
            <p:cNvSpPr>
              <a:spLocks noChangeArrowheads="1"/>
            </p:cNvSpPr>
            <p:nvPr/>
          </p:nvSpPr>
          <p:spPr bwMode="auto">
            <a:xfrm>
              <a:off x="3312" y="1824"/>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0000FF"/>
                  </a:solidFill>
                  <a:latin typeface="Times New Roman" panose="02020603050405020304" pitchFamily="18" charset="0"/>
                  <a:ea typeface="黑体" panose="02010609060101010101" pitchFamily="49" charset="-122"/>
                </a:rPr>
                <a:t>扩散电流</a:t>
              </a:r>
            </a:p>
          </p:txBody>
        </p:sp>
        <p:sp>
          <p:nvSpPr>
            <p:cNvPr id="116744" name="Rectangle 8">
              <a:extLst>
                <a:ext uri="{FF2B5EF4-FFF2-40B4-BE49-F238E27FC236}">
                  <a16:creationId xmlns:a16="http://schemas.microsoft.com/office/drawing/2014/main" id="{7FA1C2B4-279F-4BA4-9B7C-9181A386AEE8}"/>
                </a:ext>
              </a:extLst>
            </p:cNvPr>
            <p:cNvSpPr>
              <a:spLocks noChangeArrowheads="1"/>
            </p:cNvSpPr>
            <p:nvPr/>
          </p:nvSpPr>
          <p:spPr bwMode="auto">
            <a:xfrm>
              <a:off x="1248" y="2064"/>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FF0000"/>
                  </a:solidFill>
                  <a:latin typeface="Times New Roman" panose="02020603050405020304" pitchFamily="18" charset="0"/>
                  <a:ea typeface="黑体" panose="02010609060101010101" pitchFamily="49" charset="-122"/>
                </a:rPr>
                <a:t>漂移电流</a:t>
              </a:r>
            </a:p>
          </p:txBody>
        </p:sp>
        <p:sp>
          <p:nvSpPr>
            <p:cNvPr id="116745" name="Rectangle 9">
              <a:extLst>
                <a:ext uri="{FF2B5EF4-FFF2-40B4-BE49-F238E27FC236}">
                  <a16:creationId xmlns:a16="http://schemas.microsoft.com/office/drawing/2014/main" id="{21F97BD3-2711-4B70-B622-F46D4A7FE27F}"/>
                </a:ext>
              </a:extLst>
            </p:cNvPr>
            <p:cNvSpPr>
              <a:spLocks noChangeArrowheads="1"/>
            </p:cNvSpPr>
            <p:nvPr/>
          </p:nvSpPr>
          <p:spPr bwMode="auto">
            <a:xfrm>
              <a:off x="3984" y="1536"/>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FF0000"/>
                  </a:solidFill>
                  <a:latin typeface="Times New Roman" panose="02020603050405020304" pitchFamily="18" charset="0"/>
                  <a:ea typeface="黑体" panose="02010609060101010101" pitchFamily="49" charset="-122"/>
                </a:rPr>
                <a:t>漂移电流</a:t>
              </a:r>
            </a:p>
          </p:txBody>
        </p:sp>
        <p:sp>
          <p:nvSpPr>
            <p:cNvPr id="116746" name="Line 10">
              <a:extLst>
                <a:ext uri="{FF2B5EF4-FFF2-40B4-BE49-F238E27FC236}">
                  <a16:creationId xmlns:a16="http://schemas.microsoft.com/office/drawing/2014/main" id="{8001FE54-35FA-40C4-B874-ED3758BBEBFB}"/>
                </a:ext>
              </a:extLst>
            </p:cNvPr>
            <p:cNvSpPr>
              <a:spLocks noChangeShapeType="1"/>
            </p:cNvSpPr>
            <p:nvPr/>
          </p:nvSpPr>
          <p:spPr bwMode="auto">
            <a:xfrm flipH="1">
              <a:off x="2688" y="1584"/>
              <a:ext cx="480" cy="0"/>
            </a:xfrm>
            <a:prstGeom prst="line">
              <a:avLst/>
            </a:prstGeom>
            <a:noFill/>
            <a:ln w="38100">
              <a:solidFill>
                <a:srgbClr val="FF0000"/>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747" name="Line 11">
              <a:extLst>
                <a:ext uri="{FF2B5EF4-FFF2-40B4-BE49-F238E27FC236}">
                  <a16:creationId xmlns:a16="http://schemas.microsoft.com/office/drawing/2014/main" id="{6AA2C13B-7CEE-42BF-92CE-65716875E01F}"/>
                </a:ext>
              </a:extLst>
            </p:cNvPr>
            <p:cNvSpPr>
              <a:spLocks noChangeShapeType="1"/>
            </p:cNvSpPr>
            <p:nvPr/>
          </p:nvSpPr>
          <p:spPr bwMode="auto">
            <a:xfrm flipH="1">
              <a:off x="2688" y="2304"/>
              <a:ext cx="480" cy="0"/>
            </a:xfrm>
            <a:prstGeom prst="line">
              <a:avLst/>
            </a:prstGeom>
            <a:noFill/>
            <a:ln w="38100">
              <a:solidFill>
                <a:srgbClr val="FF0000"/>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6748" name="Oval 12">
            <a:extLst>
              <a:ext uri="{FF2B5EF4-FFF2-40B4-BE49-F238E27FC236}">
                <a16:creationId xmlns:a16="http://schemas.microsoft.com/office/drawing/2014/main" id="{76373992-A7CB-48CB-89FD-E792461322C9}"/>
              </a:ext>
            </a:extLst>
          </p:cNvPr>
          <p:cNvSpPr>
            <a:spLocks noChangeArrowheads="1"/>
          </p:cNvSpPr>
          <p:nvPr/>
        </p:nvSpPr>
        <p:spPr bwMode="auto">
          <a:xfrm>
            <a:off x="2857500" y="1218962"/>
            <a:ext cx="1447800" cy="3429000"/>
          </a:xfrm>
          <a:prstGeom prst="ellipse">
            <a:avLst/>
          </a:prstGeom>
          <a:noFill/>
          <a:ln w="2857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9" name="Rectangle 13">
            <a:extLst>
              <a:ext uri="{FF2B5EF4-FFF2-40B4-BE49-F238E27FC236}">
                <a16:creationId xmlns:a16="http://schemas.microsoft.com/office/drawing/2014/main" id="{E7DC2A39-FAC8-4080-B079-586D1CE95617}"/>
              </a:ext>
            </a:extLst>
          </p:cNvPr>
          <p:cNvSpPr>
            <a:spLocks noChangeArrowheads="1"/>
          </p:cNvSpPr>
          <p:nvPr/>
        </p:nvSpPr>
        <p:spPr bwMode="auto">
          <a:xfrm>
            <a:off x="266700" y="5333762"/>
            <a:ext cx="8610600"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latinLnBrk="0">
              <a:lnSpc>
                <a:spcPct val="130000"/>
              </a:lnSpc>
            </a:pPr>
            <a:r>
              <a:rPr lang="zh-CN" altLang="en-US" b="1">
                <a:solidFill>
                  <a:srgbClr val="000000"/>
                </a:solidFill>
                <a:latin typeface="Times New Roman" panose="02020603050405020304" pitchFamily="18" charset="0"/>
              </a:rPr>
              <a:t>在</a:t>
            </a:r>
            <a:r>
              <a:rPr lang="en-US" altLang="zh-CN" b="1" i="1">
                <a:solidFill>
                  <a:srgbClr val="000000"/>
                </a:solidFill>
                <a:latin typeface="Times New Roman" panose="02020603050405020304" pitchFamily="18" charset="0"/>
              </a:rPr>
              <a:t>X</a:t>
            </a:r>
            <a:r>
              <a:rPr lang="en-US" altLang="zh-CN" b="1" i="1" baseline="-25000">
                <a:solidFill>
                  <a:srgbClr val="000000"/>
                </a:solidFill>
                <a:latin typeface="Times New Roman" panose="02020603050405020304" pitchFamily="18" charset="0"/>
              </a:rPr>
              <a:t>P</a:t>
            </a:r>
            <a:r>
              <a:rPr lang="en-US" altLang="zh-CN" b="1" i="1">
                <a:solidFill>
                  <a:srgbClr val="000000"/>
                </a:solidFill>
                <a:latin typeface="Times New Roman" panose="02020603050405020304" pitchFamily="18" charset="0"/>
              </a:rPr>
              <a:t>~X’</a:t>
            </a:r>
            <a:r>
              <a:rPr lang="en-US" altLang="zh-CN" b="1" i="1" baseline="-25000">
                <a:solidFill>
                  <a:srgbClr val="000000"/>
                </a:solidFill>
                <a:latin typeface="Times New Roman" panose="02020603050405020304" pitchFamily="18" charset="0"/>
              </a:rPr>
              <a:t>P</a:t>
            </a:r>
            <a:r>
              <a:rPr lang="zh-CN" altLang="en-US" b="1">
                <a:solidFill>
                  <a:srgbClr val="000000"/>
                </a:solidFill>
                <a:latin typeface="Times New Roman" panose="02020603050405020304" pitchFamily="18" charset="0"/>
              </a:rPr>
              <a:t>区域中净产生的电子往</a:t>
            </a:r>
            <a:r>
              <a:rPr lang="en-US" altLang="zh-CN" b="1" i="1">
                <a:solidFill>
                  <a:srgbClr val="000000"/>
                </a:solidFill>
                <a:latin typeface="Times New Roman" panose="02020603050405020304" pitchFamily="18" charset="0"/>
              </a:rPr>
              <a:t>X</a:t>
            </a:r>
            <a:r>
              <a:rPr lang="en-US" altLang="zh-CN" b="1" i="1" baseline="-25000">
                <a:solidFill>
                  <a:srgbClr val="000000"/>
                </a:solidFill>
                <a:latin typeface="Times New Roman" panose="02020603050405020304" pitchFamily="18" charset="0"/>
              </a:rPr>
              <a:t>P</a:t>
            </a:r>
            <a:r>
              <a:rPr lang="zh-CN" altLang="en-US" b="1">
                <a:solidFill>
                  <a:srgbClr val="000000"/>
                </a:solidFill>
                <a:latin typeface="Times New Roman" panose="02020603050405020304" pitchFamily="18" charset="0"/>
              </a:rPr>
              <a:t>方向扩散，一到达空间电荷区边界</a:t>
            </a:r>
            <a:r>
              <a:rPr lang="en-US" altLang="zh-CN" b="1" i="1">
                <a:solidFill>
                  <a:srgbClr val="000000"/>
                </a:solidFill>
                <a:latin typeface="Times New Roman" panose="02020603050405020304" pitchFamily="18" charset="0"/>
              </a:rPr>
              <a:t>X</a:t>
            </a:r>
            <a:r>
              <a:rPr lang="en-US" altLang="zh-CN" b="1" i="1" baseline="-25000">
                <a:solidFill>
                  <a:srgbClr val="000000"/>
                </a:solidFill>
                <a:latin typeface="Times New Roman" panose="02020603050405020304" pitchFamily="18" charset="0"/>
              </a:rPr>
              <a:t>P</a:t>
            </a:r>
            <a:r>
              <a:rPr lang="zh-CN" altLang="en-US" b="1">
                <a:solidFill>
                  <a:srgbClr val="000000"/>
                </a:solidFill>
                <a:latin typeface="Times New Roman" panose="02020603050405020304" pitchFamily="18" charset="0"/>
              </a:rPr>
              <a:t>即被电场扫过空间电荷区进入</a:t>
            </a:r>
            <a:r>
              <a:rPr lang="en-US" altLang="zh-CN" b="1">
                <a:solidFill>
                  <a:srgbClr val="000000"/>
                </a:solidFill>
                <a:latin typeface="Times New Roman" panose="02020603050405020304" pitchFamily="18" charset="0"/>
              </a:rPr>
              <a:t>N</a:t>
            </a:r>
            <a:r>
              <a:rPr lang="zh-CN" altLang="en-US" b="1">
                <a:solidFill>
                  <a:srgbClr val="000000"/>
                </a:solidFill>
                <a:latin typeface="Times New Roman" panose="02020603050405020304" pitchFamily="18" charset="0"/>
              </a:rPr>
              <a:t>区，产生的空穴则以漂移形式流出</a:t>
            </a:r>
            <a:r>
              <a:rPr lang="en-US" altLang="zh-CN" b="1" i="1">
                <a:solidFill>
                  <a:srgbClr val="000000"/>
                </a:solidFill>
                <a:latin typeface="Times New Roman" panose="02020603050405020304" pitchFamily="18" charset="0"/>
              </a:rPr>
              <a:t>X</a:t>
            </a:r>
            <a:r>
              <a:rPr lang="en-US" altLang="zh-CN" b="1" i="1" baseline="-25000">
                <a:solidFill>
                  <a:srgbClr val="000000"/>
                </a:solidFill>
                <a:latin typeface="Times New Roman" panose="02020603050405020304" pitchFamily="18" charset="0"/>
              </a:rPr>
              <a:t>N</a:t>
            </a:r>
            <a:r>
              <a:rPr lang="en-US" altLang="zh-CN" b="1" i="1">
                <a:solidFill>
                  <a:srgbClr val="000000"/>
                </a:solidFill>
                <a:latin typeface="Times New Roman" panose="02020603050405020304" pitchFamily="18" charset="0"/>
              </a:rPr>
              <a:t>~X’</a:t>
            </a:r>
            <a:r>
              <a:rPr lang="en-US" altLang="zh-CN" b="1" i="1" baseline="-25000">
                <a:solidFill>
                  <a:srgbClr val="000000"/>
                </a:solidFill>
                <a:latin typeface="Times New Roman" panose="02020603050405020304" pitchFamily="18" charset="0"/>
              </a:rPr>
              <a:t>N</a:t>
            </a:r>
            <a:r>
              <a:rPr lang="zh-CN" altLang="en-US" b="1">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41338631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80AEF9AF-BDD5-4D37-87B9-E50013714125}"/>
              </a:ext>
            </a:extLst>
          </p:cNvPr>
          <p:cNvSpPr>
            <a:spLocks noChangeArrowheads="1"/>
          </p:cNvSpPr>
          <p:nvPr/>
        </p:nvSpPr>
        <p:spPr bwMode="auto">
          <a:xfrm>
            <a:off x="899592" y="718402"/>
            <a:ext cx="8610600" cy="782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latinLnBrk="0">
              <a:lnSpc>
                <a:spcPct val="130000"/>
              </a:lnSpc>
            </a:pPr>
            <a:r>
              <a:rPr lang="zh-CN" altLang="en-US" b="1" dirty="0">
                <a:solidFill>
                  <a:srgbClr val="000000"/>
                </a:solidFill>
                <a:latin typeface="Times New Roman" panose="02020603050405020304" pitchFamily="18" charset="0"/>
              </a:rPr>
              <a:t>这样形成了由</a:t>
            </a:r>
            <a:r>
              <a:rPr lang="en-US" altLang="zh-CN" b="1" dirty="0">
                <a:solidFill>
                  <a:srgbClr val="000000"/>
                </a:solidFill>
                <a:latin typeface="Times New Roman" panose="02020603050405020304" pitchFamily="18" charset="0"/>
              </a:rPr>
              <a:t>N</a:t>
            </a:r>
            <a:r>
              <a:rPr lang="zh-CN" altLang="en-US" b="1" dirty="0">
                <a:solidFill>
                  <a:srgbClr val="000000"/>
                </a:solidFill>
                <a:latin typeface="Times New Roman" panose="02020603050405020304" pitchFamily="18" charset="0"/>
              </a:rPr>
              <a:t>区流向</a:t>
            </a:r>
            <a:r>
              <a:rPr lang="en-US" altLang="zh-CN" b="1" dirty="0">
                <a:solidFill>
                  <a:srgbClr val="000000"/>
                </a:solidFill>
                <a:latin typeface="Times New Roman" panose="02020603050405020304" pitchFamily="18" charset="0"/>
              </a:rPr>
              <a:t>P</a:t>
            </a:r>
            <a:r>
              <a:rPr lang="zh-CN" altLang="en-US" b="1" dirty="0">
                <a:solidFill>
                  <a:srgbClr val="000000"/>
                </a:solidFill>
                <a:latin typeface="Times New Roman" panose="02020603050405020304" pitchFamily="18" charset="0"/>
              </a:rPr>
              <a:t>区的</a:t>
            </a:r>
            <a:r>
              <a:rPr lang="en-US" altLang="zh-CN" b="1" dirty="0">
                <a:solidFill>
                  <a:srgbClr val="000000"/>
                </a:solidFill>
                <a:latin typeface="Times New Roman" panose="02020603050405020304" pitchFamily="18" charset="0"/>
              </a:rPr>
              <a:t>PN</a:t>
            </a:r>
            <a:r>
              <a:rPr lang="zh-CN" altLang="en-US" b="1" dirty="0">
                <a:solidFill>
                  <a:srgbClr val="000000"/>
                </a:solidFill>
                <a:latin typeface="Times New Roman" panose="02020603050405020304" pitchFamily="18" charset="0"/>
              </a:rPr>
              <a:t>结反向电流。</a:t>
            </a:r>
            <a:endParaRPr lang="en-US" altLang="zh-CN" b="1" dirty="0">
              <a:solidFill>
                <a:srgbClr val="000000"/>
              </a:solidFill>
              <a:latin typeface="Times New Roman" panose="02020603050405020304" pitchFamily="18" charset="0"/>
            </a:endParaRPr>
          </a:p>
          <a:p>
            <a:pPr algn="just" latinLnBrk="0">
              <a:lnSpc>
                <a:spcPct val="130000"/>
              </a:lnSpc>
            </a:pPr>
            <a:r>
              <a:rPr lang="zh-CN" altLang="en-US" b="1" dirty="0">
                <a:solidFill>
                  <a:srgbClr val="000000"/>
                </a:solidFill>
                <a:latin typeface="Times New Roman" panose="02020603050405020304" pitchFamily="18" charset="0"/>
              </a:rPr>
              <a:t>在右侧是电子漂移电流，在左侧全部变为空穴电流。</a:t>
            </a:r>
          </a:p>
        </p:txBody>
      </p:sp>
      <p:grpSp>
        <p:nvGrpSpPr>
          <p:cNvPr id="117763" name="Group 3">
            <a:extLst>
              <a:ext uri="{FF2B5EF4-FFF2-40B4-BE49-F238E27FC236}">
                <a16:creationId xmlns:a16="http://schemas.microsoft.com/office/drawing/2014/main" id="{2CFC1E9C-2FC8-4760-82D4-FEA553988350}"/>
              </a:ext>
            </a:extLst>
          </p:cNvPr>
          <p:cNvGrpSpPr>
            <a:grpSpLocks/>
          </p:cNvGrpSpPr>
          <p:nvPr/>
        </p:nvGrpSpPr>
        <p:grpSpPr bwMode="auto">
          <a:xfrm>
            <a:off x="946150" y="3068960"/>
            <a:ext cx="7010400" cy="3492500"/>
            <a:chOff x="720" y="960"/>
            <a:chExt cx="4416" cy="2200"/>
          </a:xfrm>
        </p:grpSpPr>
        <p:pic>
          <p:nvPicPr>
            <p:cNvPr id="117764" name="Picture 4">
              <a:extLst>
                <a:ext uri="{FF2B5EF4-FFF2-40B4-BE49-F238E27FC236}">
                  <a16:creationId xmlns:a16="http://schemas.microsoft.com/office/drawing/2014/main" id="{AD267AB3-C41A-4B21-B09D-66CC193252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 y="960"/>
              <a:ext cx="4416" cy="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7765" name="Oval 5">
              <a:extLst>
                <a:ext uri="{FF2B5EF4-FFF2-40B4-BE49-F238E27FC236}">
                  <a16:creationId xmlns:a16="http://schemas.microsoft.com/office/drawing/2014/main" id="{BC344606-57BE-4041-8ACE-0C8AFAAF7219}"/>
                </a:ext>
              </a:extLst>
            </p:cNvPr>
            <p:cNvSpPr>
              <a:spLocks noChangeArrowheads="1"/>
            </p:cNvSpPr>
            <p:nvPr/>
          </p:nvSpPr>
          <p:spPr bwMode="auto">
            <a:xfrm>
              <a:off x="2400" y="1200"/>
              <a:ext cx="144" cy="432"/>
            </a:xfrm>
            <a:prstGeom prst="ellipse">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766" name="Oval 6">
              <a:extLst>
                <a:ext uri="{FF2B5EF4-FFF2-40B4-BE49-F238E27FC236}">
                  <a16:creationId xmlns:a16="http://schemas.microsoft.com/office/drawing/2014/main" id="{A2B8683B-369B-4A51-B600-F35125638A0B}"/>
                </a:ext>
              </a:extLst>
            </p:cNvPr>
            <p:cNvSpPr>
              <a:spLocks noChangeArrowheads="1"/>
            </p:cNvSpPr>
            <p:nvPr/>
          </p:nvSpPr>
          <p:spPr bwMode="auto">
            <a:xfrm>
              <a:off x="3312" y="2256"/>
              <a:ext cx="144" cy="432"/>
            </a:xfrm>
            <a:prstGeom prst="ellipse">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767" name="Rectangle 7">
              <a:extLst>
                <a:ext uri="{FF2B5EF4-FFF2-40B4-BE49-F238E27FC236}">
                  <a16:creationId xmlns:a16="http://schemas.microsoft.com/office/drawing/2014/main" id="{500B22BC-23BE-4FCF-98C0-9AEB2C1FF78D}"/>
                </a:ext>
              </a:extLst>
            </p:cNvPr>
            <p:cNvSpPr>
              <a:spLocks noChangeArrowheads="1"/>
            </p:cNvSpPr>
            <p:nvPr/>
          </p:nvSpPr>
          <p:spPr bwMode="auto">
            <a:xfrm>
              <a:off x="1968" y="1824"/>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0000FF"/>
                  </a:solidFill>
                  <a:latin typeface="Times New Roman" panose="02020603050405020304" pitchFamily="18" charset="0"/>
                  <a:ea typeface="黑体" panose="02010609060101010101" pitchFamily="49" charset="-122"/>
                </a:rPr>
                <a:t>扩散电流</a:t>
              </a:r>
            </a:p>
          </p:txBody>
        </p:sp>
        <p:sp>
          <p:nvSpPr>
            <p:cNvPr id="117768" name="Rectangle 8">
              <a:extLst>
                <a:ext uri="{FF2B5EF4-FFF2-40B4-BE49-F238E27FC236}">
                  <a16:creationId xmlns:a16="http://schemas.microsoft.com/office/drawing/2014/main" id="{5385915D-7FC5-4E3C-9B90-838E8785B14D}"/>
                </a:ext>
              </a:extLst>
            </p:cNvPr>
            <p:cNvSpPr>
              <a:spLocks noChangeArrowheads="1"/>
            </p:cNvSpPr>
            <p:nvPr/>
          </p:nvSpPr>
          <p:spPr bwMode="auto">
            <a:xfrm>
              <a:off x="3312" y="1824"/>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0000FF"/>
                  </a:solidFill>
                  <a:latin typeface="Times New Roman" panose="02020603050405020304" pitchFamily="18" charset="0"/>
                  <a:ea typeface="黑体" panose="02010609060101010101" pitchFamily="49" charset="-122"/>
                </a:rPr>
                <a:t>扩散电流</a:t>
              </a:r>
            </a:p>
          </p:txBody>
        </p:sp>
        <p:sp>
          <p:nvSpPr>
            <p:cNvPr id="117769" name="Rectangle 9">
              <a:extLst>
                <a:ext uri="{FF2B5EF4-FFF2-40B4-BE49-F238E27FC236}">
                  <a16:creationId xmlns:a16="http://schemas.microsoft.com/office/drawing/2014/main" id="{C701A97C-05C9-46A9-BC14-F4C94F6F12FF}"/>
                </a:ext>
              </a:extLst>
            </p:cNvPr>
            <p:cNvSpPr>
              <a:spLocks noChangeArrowheads="1"/>
            </p:cNvSpPr>
            <p:nvPr/>
          </p:nvSpPr>
          <p:spPr bwMode="auto">
            <a:xfrm>
              <a:off x="1248" y="2064"/>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FF0000"/>
                  </a:solidFill>
                  <a:latin typeface="Times New Roman" panose="02020603050405020304" pitchFamily="18" charset="0"/>
                  <a:ea typeface="黑体" panose="02010609060101010101" pitchFamily="49" charset="-122"/>
                </a:rPr>
                <a:t>漂移电流</a:t>
              </a:r>
            </a:p>
          </p:txBody>
        </p:sp>
        <p:sp>
          <p:nvSpPr>
            <p:cNvPr id="117770" name="Rectangle 10">
              <a:extLst>
                <a:ext uri="{FF2B5EF4-FFF2-40B4-BE49-F238E27FC236}">
                  <a16:creationId xmlns:a16="http://schemas.microsoft.com/office/drawing/2014/main" id="{7A4BBB1B-AC30-42AD-A6EA-A12717EA2A14}"/>
                </a:ext>
              </a:extLst>
            </p:cNvPr>
            <p:cNvSpPr>
              <a:spLocks noChangeArrowheads="1"/>
            </p:cNvSpPr>
            <p:nvPr/>
          </p:nvSpPr>
          <p:spPr bwMode="auto">
            <a:xfrm>
              <a:off x="3984" y="1536"/>
              <a:ext cx="6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FF0000"/>
                  </a:solidFill>
                  <a:latin typeface="Times New Roman" panose="02020603050405020304" pitchFamily="18" charset="0"/>
                  <a:ea typeface="黑体" panose="02010609060101010101" pitchFamily="49" charset="-122"/>
                </a:rPr>
                <a:t>漂移电流</a:t>
              </a:r>
            </a:p>
          </p:txBody>
        </p:sp>
        <p:sp>
          <p:nvSpPr>
            <p:cNvPr id="117771" name="Line 11">
              <a:extLst>
                <a:ext uri="{FF2B5EF4-FFF2-40B4-BE49-F238E27FC236}">
                  <a16:creationId xmlns:a16="http://schemas.microsoft.com/office/drawing/2014/main" id="{4F9DC3E9-08DF-4EF1-B819-664B06A0BE3D}"/>
                </a:ext>
              </a:extLst>
            </p:cNvPr>
            <p:cNvSpPr>
              <a:spLocks noChangeShapeType="1"/>
            </p:cNvSpPr>
            <p:nvPr/>
          </p:nvSpPr>
          <p:spPr bwMode="auto">
            <a:xfrm flipH="1">
              <a:off x="2688" y="1584"/>
              <a:ext cx="480" cy="0"/>
            </a:xfrm>
            <a:prstGeom prst="line">
              <a:avLst/>
            </a:prstGeom>
            <a:noFill/>
            <a:ln w="38100">
              <a:solidFill>
                <a:srgbClr val="FF0000"/>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772" name="Line 12">
              <a:extLst>
                <a:ext uri="{FF2B5EF4-FFF2-40B4-BE49-F238E27FC236}">
                  <a16:creationId xmlns:a16="http://schemas.microsoft.com/office/drawing/2014/main" id="{B9B40BFC-4D6A-48AB-8A5B-8623548DC919}"/>
                </a:ext>
              </a:extLst>
            </p:cNvPr>
            <p:cNvSpPr>
              <a:spLocks noChangeShapeType="1"/>
            </p:cNvSpPr>
            <p:nvPr/>
          </p:nvSpPr>
          <p:spPr bwMode="auto">
            <a:xfrm flipH="1">
              <a:off x="2688" y="2304"/>
              <a:ext cx="480" cy="0"/>
            </a:xfrm>
            <a:prstGeom prst="line">
              <a:avLst/>
            </a:prstGeom>
            <a:noFill/>
            <a:ln w="38100">
              <a:solidFill>
                <a:srgbClr val="FF0000"/>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pic>
        <p:nvPicPr>
          <p:cNvPr id="117773" name="Picture 13">
            <a:extLst>
              <a:ext uri="{FF2B5EF4-FFF2-40B4-BE49-F238E27FC236}">
                <a16:creationId xmlns:a16="http://schemas.microsoft.com/office/drawing/2014/main" id="{D129A95D-3049-4714-A74E-C1B3C36149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20131"/>
            <a:ext cx="6737350" cy="1170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4437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B912E22B-1D7F-4ED8-887F-867B43E2014D}"/>
              </a:ext>
            </a:extLst>
          </p:cNvPr>
          <p:cNvSpPr>
            <a:spLocks noGrp="1" noChangeArrowheads="1"/>
          </p:cNvSpPr>
          <p:nvPr>
            <p:ph type="title"/>
          </p:nvPr>
        </p:nvSpPr>
        <p:spPr bwMode="auto">
          <a:solidFill>
            <a:srgbClr val="FFFFFF"/>
          </a:solidFill>
          <a:ln>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3363" name="Rectangle 3">
            <a:extLst>
              <a:ext uri="{FF2B5EF4-FFF2-40B4-BE49-F238E27FC236}">
                <a16:creationId xmlns:a16="http://schemas.microsoft.com/office/drawing/2014/main" id="{EF326857-5EE2-4DF5-8AAE-030682EE137E}"/>
              </a:ext>
            </a:extLst>
          </p:cNvPr>
          <p:cNvSpPr>
            <a:spLocks noGrp="1" noChangeArrowheads="1"/>
          </p:cNvSpPr>
          <p:nvPr>
            <p:ph type="body" idx="1"/>
          </p:nvPr>
        </p:nvSpPr>
        <p:spPr bwMode="auto">
          <a:solidFill>
            <a:srgbClr val="FFFFFF"/>
          </a:solidFill>
          <a:ln>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143367" name="Group 7">
            <a:extLst>
              <a:ext uri="{FF2B5EF4-FFF2-40B4-BE49-F238E27FC236}">
                <a16:creationId xmlns:a16="http://schemas.microsoft.com/office/drawing/2014/main" id="{978F9AD4-0B8F-4ACB-A43D-21870528B3E0}"/>
              </a:ext>
            </a:extLst>
          </p:cNvPr>
          <p:cNvGrpSpPr>
            <a:grpSpLocks/>
          </p:cNvGrpSpPr>
          <p:nvPr/>
        </p:nvGrpSpPr>
        <p:grpSpPr bwMode="auto">
          <a:xfrm>
            <a:off x="89756" y="177093"/>
            <a:ext cx="8964488" cy="6503814"/>
            <a:chOff x="0" y="346"/>
            <a:chExt cx="5760" cy="3779"/>
          </a:xfrm>
        </p:grpSpPr>
        <p:pic>
          <p:nvPicPr>
            <p:cNvPr id="143364" name="Picture 4">
              <a:extLst>
                <a:ext uri="{FF2B5EF4-FFF2-40B4-BE49-F238E27FC236}">
                  <a16:creationId xmlns:a16="http://schemas.microsoft.com/office/drawing/2014/main" id="{705AFE72-7219-443A-9207-1C83A48A03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46"/>
              <a:ext cx="5760" cy="3779"/>
            </a:xfrm>
            <a:prstGeom prst="rect">
              <a:avLst/>
            </a:prstGeom>
            <a:noFill/>
            <a:extLst>
              <a:ext uri="{909E8E84-426E-40DD-AFC4-6F175D3DCCD1}">
                <a14:hiddenFill xmlns:a14="http://schemas.microsoft.com/office/drawing/2010/main">
                  <a:solidFill>
                    <a:srgbClr val="FFFFFF"/>
                  </a:solidFill>
                </a14:hiddenFill>
              </a:ext>
            </a:extLst>
          </p:spPr>
        </p:pic>
        <p:sp>
          <p:nvSpPr>
            <p:cNvPr id="143366" name="Text Box 6">
              <a:extLst>
                <a:ext uri="{FF2B5EF4-FFF2-40B4-BE49-F238E27FC236}">
                  <a16:creationId xmlns:a16="http://schemas.microsoft.com/office/drawing/2014/main" id="{7B5D37F2-F39A-4C62-946C-E403945AC25C}"/>
                </a:ext>
              </a:extLst>
            </p:cNvPr>
            <p:cNvSpPr txBox="1">
              <a:spLocks noChangeArrowheads="1"/>
            </p:cNvSpPr>
            <p:nvPr/>
          </p:nvSpPr>
          <p:spPr bwMode="auto">
            <a:xfrm>
              <a:off x="1401" y="239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001">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a:t>
              </a:r>
            </a:p>
          </p:txBody>
        </p:sp>
      </p:grpSp>
    </p:spTree>
    <p:extLst>
      <p:ext uri="{BB962C8B-B14F-4D97-AF65-F5344CB8AC3E}">
        <p14:creationId xmlns:p14="http://schemas.microsoft.com/office/powerpoint/2010/main" val="19529313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3B455C75-F404-46F4-AC62-514C80090AB1}"/>
              </a:ext>
            </a:extLst>
          </p:cNvPr>
          <p:cNvSpPr>
            <a:spLocks noChangeArrowheads="1"/>
          </p:cNvSpPr>
          <p:nvPr/>
        </p:nvSpPr>
        <p:spPr bwMode="auto">
          <a:xfrm>
            <a:off x="0" y="1268413"/>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a:solidFill>
                  <a:srgbClr val="993300"/>
                </a:solidFill>
              </a:rPr>
              <a:t>5.</a:t>
            </a:r>
            <a:r>
              <a:rPr kumimoji="0" lang="zh-CN" altLang="en-US" b="1">
                <a:solidFill>
                  <a:srgbClr val="993300"/>
                </a:solidFill>
              </a:rPr>
              <a:t>反向偏置</a:t>
            </a:r>
            <a:r>
              <a:rPr kumimoji="0" lang="en-US" altLang="zh-CN" b="1">
                <a:solidFill>
                  <a:srgbClr val="993300"/>
                </a:solidFill>
              </a:rPr>
              <a:t>PN</a:t>
            </a:r>
            <a:r>
              <a:rPr kumimoji="0" lang="zh-CN" altLang="en-US" b="1">
                <a:solidFill>
                  <a:srgbClr val="993300"/>
                </a:solidFill>
              </a:rPr>
              <a:t>结的少子分布和电流分布</a:t>
            </a:r>
          </a:p>
        </p:txBody>
      </p:sp>
      <p:graphicFrame>
        <p:nvGraphicFramePr>
          <p:cNvPr id="423961" name="Object 4">
            <a:extLst>
              <a:ext uri="{FF2B5EF4-FFF2-40B4-BE49-F238E27FC236}">
                <a16:creationId xmlns:a16="http://schemas.microsoft.com/office/drawing/2014/main" id="{8F52106D-381E-445D-A144-76FCEDCCC41C}"/>
              </a:ext>
            </a:extLst>
          </p:cNvPr>
          <p:cNvGraphicFramePr>
            <a:graphicFrameLocks noChangeAspect="1"/>
          </p:cNvGraphicFramePr>
          <p:nvPr/>
        </p:nvGraphicFramePr>
        <p:xfrm>
          <a:off x="0" y="1773238"/>
          <a:ext cx="2828925" cy="2362200"/>
        </p:xfrm>
        <a:graphic>
          <a:graphicData uri="http://schemas.openxmlformats.org/presentationml/2006/ole">
            <mc:AlternateContent xmlns:mc="http://schemas.openxmlformats.org/markup-compatibility/2006">
              <mc:Choice xmlns:v="urn:schemas-microsoft-com:vml" Requires="v">
                <p:oleObj spid="_x0000_s126218" name="Visio" r:id="rId3" imgW="2829804" imgH="2196585" progId="">
                  <p:embed/>
                </p:oleObj>
              </mc:Choice>
              <mc:Fallback>
                <p:oleObj name="Visio" r:id="rId3" imgW="2829804" imgH="2196585" progId="">
                  <p:embed/>
                  <p:pic>
                    <p:nvPicPr>
                      <p:cNvPr id="423961" name="Object 4">
                        <a:extLst>
                          <a:ext uri="{FF2B5EF4-FFF2-40B4-BE49-F238E27FC236}">
                            <a16:creationId xmlns:a16="http://schemas.microsoft.com/office/drawing/2014/main" id="{8F52106D-381E-445D-A144-76FCEDCCC4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73238"/>
                        <a:ext cx="2828925"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3962" name="Object 5">
            <a:extLst>
              <a:ext uri="{FF2B5EF4-FFF2-40B4-BE49-F238E27FC236}">
                <a16:creationId xmlns:a16="http://schemas.microsoft.com/office/drawing/2014/main" id="{BACF8E05-3541-4EB1-BCB1-E6BA178815A3}"/>
              </a:ext>
            </a:extLst>
          </p:cNvPr>
          <p:cNvGraphicFramePr>
            <a:graphicFrameLocks noChangeAspect="1"/>
          </p:cNvGraphicFramePr>
          <p:nvPr/>
        </p:nvGraphicFramePr>
        <p:xfrm>
          <a:off x="3200400" y="1925638"/>
          <a:ext cx="2790825" cy="2057400"/>
        </p:xfrm>
        <a:graphic>
          <a:graphicData uri="http://schemas.openxmlformats.org/presentationml/2006/ole">
            <mc:AlternateContent xmlns:mc="http://schemas.openxmlformats.org/markup-compatibility/2006">
              <mc:Choice xmlns:v="urn:schemas-microsoft-com:vml" Requires="v">
                <p:oleObj spid="_x0000_s126219" name="Visio" r:id="rId5" imgW="2791563" imgH="1959268" progId="">
                  <p:embed/>
                </p:oleObj>
              </mc:Choice>
              <mc:Fallback>
                <p:oleObj name="Visio" r:id="rId5" imgW="2791563" imgH="1959268" progId="">
                  <p:embed/>
                  <p:pic>
                    <p:nvPicPr>
                      <p:cNvPr id="423962" name="Object 5">
                        <a:extLst>
                          <a:ext uri="{FF2B5EF4-FFF2-40B4-BE49-F238E27FC236}">
                            <a16:creationId xmlns:a16="http://schemas.microsoft.com/office/drawing/2014/main" id="{BACF8E05-3541-4EB1-BCB1-E6BA178815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1925638"/>
                        <a:ext cx="2790825"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3963" name="Object 6">
            <a:extLst>
              <a:ext uri="{FF2B5EF4-FFF2-40B4-BE49-F238E27FC236}">
                <a16:creationId xmlns:a16="http://schemas.microsoft.com/office/drawing/2014/main" id="{6D362C2E-BCE2-4FB0-977D-30C5AEC6B454}"/>
              </a:ext>
            </a:extLst>
          </p:cNvPr>
          <p:cNvGraphicFramePr>
            <a:graphicFrameLocks noChangeAspect="1"/>
          </p:cNvGraphicFramePr>
          <p:nvPr/>
        </p:nvGraphicFramePr>
        <p:xfrm>
          <a:off x="6096000" y="2382838"/>
          <a:ext cx="2787650" cy="1600200"/>
        </p:xfrm>
        <a:graphic>
          <a:graphicData uri="http://schemas.openxmlformats.org/presentationml/2006/ole">
            <mc:AlternateContent xmlns:mc="http://schemas.openxmlformats.org/markup-compatibility/2006">
              <mc:Choice xmlns:v="urn:schemas-microsoft-com:vml" Requires="v">
                <p:oleObj spid="_x0000_s126220" name="Visio" r:id="rId7" imgW="2788189" imgH="1635348" progId="">
                  <p:embed/>
                </p:oleObj>
              </mc:Choice>
              <mc:Fallback>
                <p:oleObj name="Visio" r:id="rId7" imgW="2788189" imgH="1635348" progId="">
                  <p:embed/>
                  <p:pic>
                    <p:nvPicPr>
                      <p:cNvPr id="423963" name="Object 6">
                        <a:extLst>
                          <a:ext uri="{FF2B5EF4-FFF2-40B4-BE49-F238E27FC236}">
                            <a16:creationId xmlns:a16="http://schemas.microsoft.com/office/drawing/2014/main" id="{6D362C2E-BCE2-4FB0-977D-30C5AEC6B4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2382838"/>
                        <a:ext cx="278765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3964" name="Text Box 8">
            <a:extLst>
              <a:ext uri="{FF2B5EF4-FFF2-40B4-BE49-F238E27FC236}">
                <a16:creationId xmlns:a16="http://schemas.microsoft.com/office/drawing/2014/main" id="{D3C83066-3991-4998-A5E3-0C33B6B0EA39}"/>
              </a:ext>
            </a:extLst>
          </p:cNvPr>
          <p:cNvSpPr txBox="1">
            <a:spLocks noChangeArrowheads="1"/>
          </p:cNvSpPr>
          <p:nvPr/>
        </p:nvSpPr>
        <p:spPr bwMode="auto">
          <a:xfrm>
            <a:off x="0" y="4149725"/>
            <a:ext cx="2438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ko-KR" altLang="en-US" sz="1800">
                <a:solidFill>
                  <a:srgbClr val="000066"/>
                </a:solidFill>
                <a:latin typeface="Times New Roman" panose="02020603050405020304" pitchFamily="18" charset="0"/>
              </a:rPr>
              <a:t>（</a:t>
            </a:r>
            <a:r>
              <a:rPr lang="en-US" altLang="ko-KR" sz="1800">
                <a:solidFill>
                  <a:srgbClr val="000066"/>
                </a:solidFill>
              </a:rPr>
              <a:t>a</a:t>
            </a:r>
            <a:r>
              <a:rPr lang="ko-KR" altLang="en-US" sz="1800">
                <a:solidFill>
                  <a:srgbClr val="000066"/>
                </a:solidFill>
                <a:latin typeface="Times New Roman" panose="02020603050405020304" pitchFamily="18" charset="0"/>
              </a:rPr>
              <a:t>）少数载流子分布</a:t>
            </a:r>
            <a:endParaRPr lang="zh-CN" altLang="en-US" sz="1800">
              <a:solidFill>
                <a:srgbClr val="000066"/>
              </a:solidFill>
              <a:latin typeface="Times New Roman" panose="02020603050405020304" pitchFamily="18" charset="0"/>
            </a:endParaRPr>
          </a:p>
        </p:txBody>
      </p:sp>
      <p:sp>
        <p:nvSpPr>
          <p:cNvPr id="423965" name="Text Box 9">
            <a:extLst>
              <a:ext uri="{FF2B5EF4-FFF2-40B4-BE49-F238E27FC236}">
                <a16:creationId xmlns:a16="http://schemas.microsoft.com/office/drawing/2014/main" id="{B63A1F11-AFD3-4C1B-A791-27120D02EC8C}"/>
              </a:ext>
            </a:extLst>
          </p:cNvPr>
          <p:cNvSpPr txBox="1">
            <a:spLocks noChangeArrowheads="1"/>
          </p:cNvSpPr>
          <p:nvPr/>
        </p:nvSpPr>
        <p:spPr bwMode="auto">
          <a:xfrm>
            <a:off x="3124200" y="4149725"/>
            <a:ext cx="2590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ko-KR" altLang="en-US" sz="1800">
                <a:solidFill>
                  <a:srgbClr val="000066"/>
                </a:solidFill>
                <a:latin typeface="Times New Roman" panose="02020603050405020304" pitchFamily="18" charset="0"/>
              </a:rPr>
              <a:t>（</a:t>
            </a:r>
            <a:r>
              <a:rPr lang="en-US" altLang="ko-KR" sz="1800">
                <a:solidFill>
                  <a:srgbClr val="000066"/>
                </a:solidFill>
              </a:rPr>
              <a:t>b</a:t>
            </a:r>
            <a:r>
              <a:rPr lang="ko-KR" altLang="en-US" sz="1800">
                <a:solidFill>
                  <a:srgbClr val="000066"/>
                </a:solidFill>
                <a:latin typeface="Times New Roman" panose="02020603050405020304" pitchFamily="18" charset="0"/>
              </a:rPr>
              <a:t>）少数载流子电流</a:t>
            </a:r>
            <a:endParaRPr lang="zh-CN" altLang="en-US" sz="1800">
              <a:solidFill>
                <a:srgbClr val="000066"/>
              </a:solidFill>
              <a:latin typeface="Times New Roman" panose="02020603050405020304" pitchFamily="18" charset="0"/>
            </a:endParaRPr>
          </a:p>
        </p:txBody>
      </p:sp>
      <p:sp>
        <p:nvSpPr>
          <p:cNvPr id="423966" name="Text Box 10">
            <a:extLst>
              <a:ext uri="{FF2B5EF4-FFF2-40B4-BE49-F238E27FC236}">
                <a16:creationId xmlns:a16="http://schemas.microsoft.com/office/drawing/2014/main" id="{5FE7A59C-63AD-4693-B87A-7974D2E7D270}"/>
              </a:ext>
            </a:extLst>
          </p:cNvPr>
          <p:cNvSpPr txBox="1">
            <a:spLocks noChangeArrowheads="1"/>
          </p:cNvSpPr>
          <p:nvPr/>
        </p:nvSpPr>
        <p:spPr bwMode="auto">
          <a:xfrm>
            <a:off x="6096000" y="4149725"/>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latinLnBrk="0"/>
            <a:r>
              <a:rPr lang="ko-KR" altLang="en-US" sz="1800">
                <a:solidFill>
                  <a:srgbClr val="000066"/>
                </a:solidFill>
                <a:latin typeface="Times New Roman" panose="02020603050405020304" pitchFamily="18" charset="0"/>
              </a:rPr>
              <a:t>（</a:t>
            </a:r>
            <a:r>
              <a:rPr lang="en-US" altLang="ko-KR" sz="1800">
                <a:solidFill>
                  <a:srgbClr val="000066"/>
                </a:solidFill>
              </a:rPr>
              <a:t>c</a:t>
            </a:r>
            <a:r>
              <a:rPr lang="ko-KR" altLang="en-US" sz="1800">
                <a:solidFill>
                  <a:srgbClr val="000066"/>
                </a:solidFill>
                <a:latin typeface="Times New Roman" panose="02020603050405020304" pitchFamily="18" charset="0"/>
              </a:rPr>
              <a:t>）电子电流和空穴电流</a:t>
            </a:r>
            <a:endParaRPr lang="en-US" altLang="zh-CN" sz="1800">
              <a:solidFill>
                <a:srgbClr val="000066"/>
              </a:solidFill>
            </a:endParaRPr>
          </a:p>
        </p:txBody>
      </p:sp>
      <p:sp>
        <p:nvSpPr>
          <p:cNvPr id="423967" name="Text Box 8">
            <a:extLst>
              <a:ext uri="{FF2B5EF4-FFF2-40B4-BE49-F238E27FC236}">
                <a16:creationId xmlns:a16="http://schemas.microsoft.com/office/drawing/2014/main" id="{3CF09EB9-ACA6-4AAC-B8A8-0EC11A52EA1B}"/>
              </a:ext>
            </a:extLst>
          </p:cNvPr>
          <p:cNvSpPr txBox="1">
            <a:spLocks noChangeArrowheads="1"/>
          </p:cNvSpPr>
          <p:nvPr/>
        </p:nvSpPr>
        <p:spPr bwMode="auto">
          <a:xfrm>
            <a:off x="0" y="4652963"/>
            <a:ext cx="1331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000" b="1">
                <a:solidFill>
                  <a:srgbClr val="000066"/>
                </a:solidFill>
                <a:latin typeface="Times New Roman" panose="02020603050405020304" pitchFamily="18" charset="0"/>
              </a:rPr>
              <a:t>反向偏压</a:t>
            </a:r>
          </a:p>
        </p:txBody>
      </p:sp>
      <p:graphicFrame>
        <p:nvGraphicFramePr>
          <p:cNvPr id="423970" name="Object 34">
            <a:extLst>
              <a:ext uri="{FF2B5EF4-FFF2-40B4-BE49-F238E27FC236}">
                <a16:creationId xmlns:a16="http://schemas.microsoft.com/office/drawing/2014/main" id="{9CB4E4BC-32F0-4FC3-BCA8-9BC09A6E17AC}"/>
              </a:ext>
            </a:extLst>
          </p:cNvPr>
          <p:cNvGraphicFramePr>
            <a:graphicFrameLocks noChangeAspect="1"/>
          </p:cNvGraphicFramePr>
          <p:nvPr/>
        </p:nvGraphicFramePr>
        <p:xfrm>
          <a:off x="1187450" y="4697413"/>
          <a:ext cx="822325" cy="387350"/>
        </p:xfrm>
        <a:graphic>
          <a:graphicData uri="http://schemas.openxmlformats.org/presentationml/2006/ole">
            <mc:AlternateContent xmlns:mc="http://schemas.openxmlformats.org/markup-compatibility/2006">
              <mc:Choice xmlns:v="urn:schemas-microsoft-com:vml" Requires="v">
                <p:oleObj spid="_x0000_s126221" name="Equation" r:id="rId9" imgW="482391" imgH="228501" progId="Equation.DSMT4">
                  <p:embed/>
                </p:oleObj>
              </mc:Choice>
              <mc:Fallback>
                <p:oleObj name="Equation" r:id="rId9" imgW="482391" imgH="228501" progId="Equation.DSMT4">
                  <p:embed/>
                  <p:pic>
                    <p:nvPicPr>
                      <p:cNvPr id="423970" name="Object 34">
                        <a:extLst>
                          <a:ext uri="{FF2B5EF4-FFF2-40B4-BE49-F238E27FC236}">
                            <a16:creationId xmlns:a16="http://schemas.microsoft.com/office/drawing/2014/main" id="{9CB4E4BC-32F0-4FC3-BCA8-9BC09A6E17A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4697413"/>
                        <a:ext cx="8223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3973" name="Object 37">
            <a:extLst>
              <a:ext uri="{FF2B5EF4-FFF2-40B4-BE49-F238E27FC236}">
                <a16:creationId xmlns:a16="http://schemas.microsoft.com/office/drawing/2014/main" id="{07E75FEF-B109-40E2-ABAD-8FA8FABA8F62}"/>
              </a:ext>
            </a:extLst>
          </p:cNvPr>
          <p:cNvGraphicFramePr>
            <a:graphicFrameLocks noChangeAspect="1"/>
          </p:cNvGraphicFramePr>
          <p:nvPr/>
        </p:nvGraphicFramePr>
        <p:xfrm>
          <a:off x="2339975" y="4652963"/>
          <a:ext cx="2519363" cy="428625"/>
        </p:xfrm>
        <a:graphic>
          <a:graphicData uri="http://schemas.openxmlformats.org/presentationml/2006/ole">
            <mc:AlternateContent xmlns:mc="http://schemas.openxmlformats.org/markup-compatibility/2006">
              <mc:Choice xmlns:v="urn:schemas-microsoft-com:vml" Requires="v">
                <p:oleObj spid="_x0000_s126222" name="Equation" r:id="rId11" imgW="1409088" imgH="241195" progId="Equation.DSMT4">
                  <p:embed/>
                </p:oleObj>
              </mc:Choice>
              <mc:Fallback>
                <p:oleObj name="Equation" r:id="rId11" imgW="1409088" imgH="241195" progId="Equation.DSMT4">
                  <p:embed/>
                  <p:pic>
                    <p:nvPicPr>
                      <p:cNvPr id="423973" name="Object 37">
                        <a:extLst>
                          <a:ext uri="{FF2B5EF4-FFF2-40B4-BE49-F238E27FC236}">
                            <a16:creationId xmlns:a16="http://schemas.microsoft.com/office/drawing/2014/main" id="{07E75FEF-B109-40E2-ABAD-8FA8FABA8F6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39975" y="4652963"/>
                        <a:ext cx="25193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23974" name="Rectangle 38">
            <a:extLst>
              <a:ext uri="{FF2B5EF4-FFF2-40B4-BE49-F238E27FC236}">
                <a16:creationId xmlns:a16="http://schemas.microsoft.com/office/drawing/2014/main" id="{64F7B498-43F4-42D6-B29F-E3A9AB8D8F95}"/>
              </a:ext>
            </a:extLst>
          </p:cNvPr>
          <p:cNvSpPr>
            <a:spLocks noChangeArrowheads="1"/>
          </p:cNvSpPr>
          <p:nvPr/>
        </p:nvSpPr>
        <p:spPr bwMode="auto">
          <a:xfrm>
            <a:off x="5219700" y="4687888"/>
            <a:ext cx="2592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t>——</a:t>
            </a:r>
            <a:r>
              <a:rPr lang="zh-CN" altLang="en-US" sz="2000" b="1"/>
              <a:t>反向饱和电流</a:t>
            </a:r>
          </a:p>
        </p:txBody>
      </p:sp>
      <p:graphicFrame>
        <p:nvGraphicFramePr>
          <p:cNvPr id="423978" name="Object 8">
            <a:extLst>
              <a:ext uri="{FF2B5EF4-FFF2-40B4-BE49-F238E27FC236}">
                <a16:creationId xmlns:a16="http://schemas.microsoft.com/office/drawing/2014/main" id="{6C37CDA7-1160-47BD-B9A6-83F342C4EA93}"/>
              </a:ext>
            </a:extLst>
          </p:cNvPr>
          <p:cNvGraphicFramePr>
            <a:graphicFrameLocks noChangeAspect="1"/>
          </p:cNvGraphicFramePr>
          <p:nvPr/>
        </p:nvGraphicFramePr>
        <p:xfrm>
          <a:off x="395288" y="5157788"/>
          <a:ext cx="3000375" cy="868362"/>
        </p:xfrm>
        <a:graphic>
          <a:graphicData uri="http://schemas.openxmlformats.org/presentationml/2006/ole">
            <mc:AlternateContent xmlns:mc="http://schemas.openxmlformats.org/markup-compatibility/2006">
              <mc:Choice xmlns:v="urn:schemas-microsoft-com:vml" Requires="v">
                <p:oleObj spid="_x0000_s126223" name="Equation" r:id="rId13" imgW="1612900" imgH="469900" progId="Equation.DSMT4">
                  <p:embed/>
                </p:oleObj>
              </mc:Choice>
              <mc:Fallback>
                <p:oleObj name="Equation" r:id="rId13" imgW="1612900" imgH="469900" progId="Equation.DSMT4">
                  <p:embed/>
                  <p:pic>
                    <p:nvPicPr>
                      <p:cNvPr id="423978" name="Object 8">
                        <a:extLst>
                          <a:ext uri="{FF2B5EF4-FFF2-40B4-BE49-F238E27FC236}">
                            <a16:creationId xmlns:a16="http://schemas.microsoft.com/office/drawing/2014/main" id="{6C37CDA7-1160-47BD-B9A6-83F342C4EA9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5288" y="5157788"/>
                        <a:ext cx="3000375"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23979" name="Rectangle 43">
            <a:extLst>
              <a:ext uri="{FF2B5EF4-FFF2-40B4-BE49-F238E27FC236}">
                <a16:creationId xmlns:a16="http://schemas.microsoft.com/office/drawing/2014/main" id="{3883133D-5F75-498D-BA35-910DAAA9E593}"/>
              </a:ext>
            </a:extLst>
          </p:cNvPr>
          <p:cNvSpPr>
            <a:spLocks noChangeArrowheads="1"/>
          </p:cNvSpPr>
          <p:nvPr/>
        </p:nvSpPr>
        <p:spPr bwMode="auto">
          <a:xfrm>
            <a:off x="3563938" y="5373688"/>
            <a:ext cx="48244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en-US" altLang="zh-CN" sz="2000" b="1"/>
              <a:t>——</a:t>
            </a:r>
            <a:r>
              <a:rPr lang="zh-CN" altLang="en-US" sz="2000" b="1"/>
              <a:t>分别是</a:t>
            </a:r>
            <a:r>
              <a:rPr lang="en-US" altLang="zh-CN" sz="2000" b="1"/>
              <a:t>PN</a:t>
            </a:r>
            <a:r>
              <a:rPr lang="zh-CN" altLang="en-US" sz="2000" b="1"/>
              <a:t>结空穴扩散区和电子扩散区所发生的空穴产生电流和电子产生电流</a:t>
            </a:r>
          </a:p>
        </p:txBody>
      </p:sp>
    </p:spTree>
    <p:extLst>
      <p:ext uri="{BB962C8B-B14F-4D97-AF65-F5344CB8AC3E}">
        <p14:creationId xmlns:p14="http://schemas.microsoft.com/office/powerpoint/2010/main" val="1755349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3961"/>
                                        </p:tgtEl>
                                        <p:attrNameLst>
                                          <p:attrName>style.visibility</p:attrName>
                                        </p:attrNameLst>
                                      </p:cBhvr>
                                      <p:to>
                                        <p:strVal val="visible"/>
                                      </p:to>
                                    </p:set>
                                    <p:animEffect transition="in" filter="blinds(horizontal)">
                                      <p:cBhvr>
                                        <p:cTn id="7" dur="500"/>
                                        <p:tgtEl>
                                          <p:spTgt spid="42396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23964"/>
                                        </p:tgtEl>
                                        <p:attrNameLst>
                                          <p:attrName>style.visibility</p:attrName>
                                        </p:attrNameLst>
                                      </p:cBhvr>
                                      <p:to>
                                        <p:strVal val="visible"/>
                                      </p:to>
                                    </p:set>
                                    <p:animEffect transition="in" filter="blinds(horizontal)">
                                      <p:cBhvr>
                                        <p:cTn id="10" dur="500"/>
                                        <p:tgtEl>
                                          <p:spTgt spid="42396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23962"/>
                                        </p:tgtEl>
                                        <p:attrNameLst>
                                          <p:attrName>style.visibility</p:attrName>
                                        </p:attrNameLst>
                                      </p:cBhvr>
                                      <p:to>
                                        <p:strVal val="visible"/>
                                      </p:to>
                                    </p:set>
                                    <p:animEffect transition="in" filter="blinds(horizontal)">
                                      <p:cBhvr>
                                        <p:cTn id="15" dur="500"/>
                                        <p:tgtEl>
                                          <p:spTgt spid="42396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23965"/>
                                        </p:tgtEl>
                                        <p:attrNameLst>
                                          <p:attrName>style.visibility</p:attrName>
                                        </p:attrNameLst>
                                      </p:cBhvr>
                                      <p:to>
                                        <p:strVal val="visible"/>
                                      </p:to>
                                    </p:set>
                                    <p:animEffect transition="in" filter="blinds(horizontal)">
                                      <p:cBhvr>
                                        <p:cTn id="18" dur="500"/>
                                        <p:tgtEl>
                                          <p:spTgt spid="42396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423963"/>
                                        </p:tgtEl>
                                        <p:attrNameLst>
                                          <p:attrName>style.visibility</p:attrName>
                                        </p:attrNameLst>
                                      </p:cBhvr>
                                      <p:to>
                                        <p:strVal val="visible"/>
                                      </p:to>
                                    </p:set>
                                    <p:animEffect transition="in" filter="blinds(horizontal)">
                                      <p:cBhvr>
                                        <p:cTn id="23" dur="500"/>
                                        <p:tgtEl>
                                          <p:spTgt spid="423963"/>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423966"/>
                                        </p:tgtEl>
                                        <p:attrNameLst>
                                          <p:attrName>style.visibility</p:attrName>
                                        </p:attrNameLst>
                                      </p:cBhvr>
                                      <p:to>
                                        <p:strVal val="visible"/>
                                      </p:to>
                                    </p:set>
                                    <p:animEffect transition="in" filter="blinds(horizontal)">
                                      <p:cBhvr>
                                        <p:cTn id="26" dur="500"/>
                                        <p:tgtEl>
                                          <p:spTgt spid="42396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423967"/>
                                        </p:tgtEl>
                                        <p:attrNameLst>
                                          <p:attrName>style.visibility</p:attrName>
                                        </p:attrNameLst>
                                      </p:cBhvr>
                                      <p:to>
                                        <p:strVal val="visible"/>
                                      </p:to>
                                    </p:set>
                                    <p:animEffect transition="in" filter="blinds(horizontal)">
                                      <p:cBhvr>
                                        <p:cTn id="31" dur="500"/>
                                        <p:tgtEl>
                                          <p:spTgt spid="423967"/>
                                        </p:tgtEl>
                                      </p:cBhvr>
                                    </p:animEffect>
                                  </p:childTnLst>
                                </p:cTn>
                              </p:par>
                              <p:par>
                                <p:cTn id="32" presetID="3" presetClass="entr" presetSubtype="10" fill="hold" nodeType="withEffect">
                                  <p:stCondLst>
                                    <p:cond delay="0"/>
                                  </p:stCondLst>
                                  <p:childTnLst>
                                    <p:set>
                                      <p:cBhvr>
                                        <p:cTn id="33" dur="1" fill="hold">
                                          <p:stCondLst>
                                            <p:cond delay="0"/>
                                          </p:stCondLst>
                                        </p:cTn>
                                        <p:tgtEl>
                                          <p:spTgt spid="423970"/>
                                        </p:tgtEl>
                                        <p:attrNameLst>
                                          <p:attrName>style.visibility</p:attrName>
                                        </p:attrNameLst>
                                      </p:cBhvr>
                                      <p:to>
                                        <p:strVal val="visible"/>
                                      </p:to>
                                    </p:set>
                                    <p:animEffect transition="in" filter="blinds(horizontal)">
                                      <p:cBhvr>
                                        <p:cTn id="34" dur="500"/>
                                        <p:tgtEl>
                                          <p:spTgt spid="42397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423973"/>
                                        </p:tgtEl>
                                        <p:attrNameLst>
                                          <p:attrName>style.visibility</p:attrName>
                                        </p:attrNameLst>
                                      </p:cBhvr>
                                      <p:to>
                                        <p:strVal val="visible"/>
                                      </p:to>
                                    </p:set>
                                    <p:animEffect transition="in" filter="blinds(horizontal)">
                                      <p:cBhvr>
                                        <p:cTn id="39" dur="500"/>
                                        <p:tgtEl>
                                          <p:spTgt spid="423973"/>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423974"/>
                                        </p:tgtEl>
                                        <p:attrNameLst>
                                          <p:attrName>style.visibility</p:attrName>
                                        </p:attrNameLst>
                                      </p:cBhvr>
                                      <p:to>
                                        <p:strVal val="visible"/>
                                      </p:to>
                                    </p:set>
                                    <p:animEffect transition="in" filter="blinds(horizontal)">
                                      <p:cBhvr>
                                        <p:cTn id="42" dur="500"/>
                                        <p:tgtEl>
                                          <p:spTgt spid="42397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23978"/>
                                        </p:tgtEl>
                                        <p:attrNameLst>
                                          <p:attrName>style.visibility</p:attrName>
                                        </p:attrNameLst>
                                      </p:cBhvr>
                                      <p:to>
                                        <p:strVal val="visible"/>
                                      </p:to>
                                    </p:set>
                                    <p:animEffect transition="in" filter="blinds(horizontal)">
                                      <p:cBhvr>
                                        <p:cTn id="47" dur="500"/>
                                        <p:tgtEl>
                                          <p:spTgt spid="42397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23979">
                                            <p:txEl>
                                              <p:pRg st="0" end="0"/>
                                            </p:txEl>
                                          </p:spTgt>
                                        </p:tgtEl>
                                        <p:attrNameLst>
                                          <p:attrName>style.visibility</p:attrName>
                                        </p:attrNameLst>
                                      </p:cBhvr>
                                      <p:to>
                                        <p:strVal val="visible"/>
                                      </p:to>
                                    </p:set>
                                    <p:animEffect transition="in" filter="blinds(horizontal)">
                                      <p:cBhvr>
                                        <p:cTn id="52" dur="500"/>
                                        <p:tgtEl>
                                          <p:spTgt spid="4239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64" grpId="0"/>
      <p:bldP spid="423965" grpId="0"/>
      <p:bldP spid="423966" grpId="0"/>
      <p:bldP spid="423967" grpId="0"/>
      <p:bldP spid="42397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3DC6876-D920-4B8B-ADBF-4B17E87BBCBF}"/>
              </a:ext>
            </a:extLst>
          </p:cNvPr>
          <p:cNvSpPr>
            <a:spLocks noGrp="1" noChangeArrowheads="1"/>
          </p:cNvSpPr>
          <p:nvPr>
            <p:ph type="title"/>
          </p:nvPr>
        </p:nvSpPr>
        <p:spPr bwMode="auto">
          <a:xfrm>
            <a:off x="683568" y="261144"/>
            <a:ext cx="8066087"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ctr" eaLnBrk="1" hangingPunct="1"/>
            <a:r>
              <a:rPr lang="zh-CN" altLang="en-US" sz="3600" b="1" dirty="0">
                <a:solidFill>
                  <a:srgbClr val="FF3300"/>
                </a:solidFill>
                <a:latin typeface="宋体" panose="02010600030101010101" pitchFamily="2" charset="-122"/>
                <a:ea typeface="宋体" panose="02010600030101010101" pitchFamily="2" charset="-122"/>
              </a:rPr>
              <a:t>理想</a:t>
            </a:r>
            <a:r>
              <a:rPr lang="en-US" altLang="zh-CN" sz="3600" b="1" dirty="0">
                <a:solidFill>
                  <a:srgbClr val="FF3300"/>
                </a:solidFill>
                <a:latin typeface="宋体" panose="02010600030101010101" pitchFamily="2" charset="-122"/>
                <a:ea typeface="宋体" panose="02010600030101010101" pitchFamily="2" charset="-122"/>
              </a:rPr>
              <a:t>PN</a:t>
            </a:r>
            <a:r>
              <a:rPr lang="zh-CN" altLang="en-US" sz="3600" b="1" dirty="0">
                <a:solidFill>
                  <a:srgbClr val="FF3300"/>
                </a:solidFill>
                <a:latin typeface="宋体" panose="02010600030101010101" pitchFamily="2" charset="-122"/>
                <a:ea typeface="宋体" panose="02010600030101010101" pitchFamily="2" charset="-122"/>
              </a:rPr>
              <a:t>结的直流电流－电压特性</a:t>
            </a:r>
          </a:p>
        </p:txBody>
      </p:sp>
      <p:sp>
        <p:nvSpPr>
          <p:cNvPr id="429066" name="Text Box 8">
            <a:extLst>
              <a:ext uri="{FF2B5EF4-FFF2-40B4-BE49-F238E27FC236}">
                <a16:creationId xmlns:a16="http://schemas.microsoft.com/office/drawing/2014/main" id="{1068535C-5E16-4113-880B-0D6AAC082EBA}"/>
              </a:ext>
            </a:extLst>
          </p:cNvPr>
          <p:cNvSpPr txBox="1">
            <a:spLocks noChangeArrowheads="1"/>
          </p:cNvSpPr>
          <p:nvPr/>
        </p:nvSpPr>
        <p:spPr bwMode="auto">
          <a:xfrm>
            <a:off x="611634" y="5025004"/>
            <a:ext cx="7632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50000"/>
              </a:spcBef>
            </a:pPr>
            <a:r>
              <a:rPr lang="en-US" altLang="zh-CN" sz="2000" b="1" dirty="0">
                <a:solidFill>
                  <a:srgbClr val="000066"/>
                </a:solidFill>
                <a:latin typeface="Times New Roman" panose="02020603050405020304" pitchFamily="18" charset="0"/>
              </a:rPr>
              <a:t>PN</a:t>
            </a:r>
            <a:r>
              <a:rPr lang="zh-CN" altLang="en-US" sz="2000" b="1" dirty="0">
                <a:solidFill>
                  <a:srgbClr val="000066"/>
                </a:solidFill>
                <a:latin typeface="Times New Roman" panose="02020603050405020304" pitchFamily="18" charset="0"/>
              </a:rPr>
              <a:t>结正向电流随外加电压</a:t>
            </a:r>
            <a:r>
              <a:rPr lang="en-US" altLang="zh-CN" sz="2000" b="1" dirty="0">
                <a:solidFill>
                  <a:srgbClr val="000066"/>
                </a:solidFill>
                <a:latin typeface="Times New Roman" panose="02020603050405020304" pitchFamily="18" charset="0"/>
              </a:rPr>
              <a:t>e</a:t>
            </a:r>
            <a:r>
              <a:rPr lang="zh-CN" altLang="en-US" sz="2000" b="1" dirty="0">
                <a:solidFill>
                  <a:srgbClr val="000066"/>
                </a:solidFill>
                <a:latin typeface="Times New Roman" panose="02020603050405020304" pitchFamily="18" charset="0"/>
              </a:rPr>
              <a:t>指数增加，反向电流则很小，这就是</a:t>
            </a:r>
            <a:r>
              <a:rPr lang="en-US" altLang="zh-CN" sz="2000" b="1" dirty="0">
                <a:solidFill>
                  <a:srgbClr val="000066"/>
                </a:solidFill>
                <a:latin typeface="Times New Roman" panose="02020603050405020304" pitchFamily="18" charset="0"/>
              </a:rPr>
              <a:t>PN</a:t>
            </a:r>
            <a:r>
              <a:rPr lang="zh-CN" altLang="en-US" sz="2000" b="1" dirty="0">
                <a:solidFill>
                  <a:srgbClr val="000066"/>
                </a:solidFill>
                <a:latin typeface="Times New Roman" panose="02020603050405020304" pitchFamily="18" charset="0"/>
              </a:rPr>
              <a:t>结的单向导电性。</a:t>
            </a:r>
          </a:p>
        </p:txBody>
      </p:sp>
      <p:graphicFrame>
        <p:nvGraphicFramePr>
          <p:cNvPr id="6" name="Object 18">
            <a:extLst>
              <a:ext uri="{FF2B5EF4-FFF2-40B4-BE49-F238E27FC236}">
                <a16:creationId xmlns:a16="http://schemas.microsoft.com/office/drawing/2014/main" id="{90F653BC-ADF7-4D5C-87A5-07106B294FA5}"/>
              </a:ext>
            </a:extLst>
          </p:cNvPr>
          <p:cNvGraphicFramePr>
            <a:graphicFrameLocks noChangeAspect="1"/>
          </p:cNvGraphicFramePr>
          <p:nvPr>
            <p:extLst>
              <p:ext uri="{D42A27DB-BD31-4B8C-83A1-F6EECF244321}">
                <p14:modId xmlns:p14="http://schemas.microsoft.com/office/powerpoint/2010/main" val="3180172942"/>
              </p:ext>
            </p:extLst>
          </p:nvPr>
        </p:nvGraphicFramePr>
        <p:xfrm>
          <a:off x="5148064" y="5898440"/>
          <a:ext cx="2376512" cy="675741"/>
        </p:xfrm>
        <a:graphic>
          <a:graphicData uri="http://schemas.openxmlformats.org/presentationml/2006/ole">
            <mc:AlternateContent xmlns:mc="http://schemas.openxmlformats.org/markup-compatibility/2006">
              <mc:Choice xmlns:v="urn:schemas-microsoft-com:vml" Requires="v">
                <p:oleObj spid="_x0000_s127108" r:id="rId3" imgW="1638300" imgH="469900" progId="Equation.3">
                  <p:embed/>
                </p:oleObj>
              </mc:Choice>
              <mc:Fallback>
                <p:oleObj r:id="rId3" imgW="1638300" imgH="469900" progId="Equation.3">
                  <p:embed/>
                  <p:pic>
                    <p:nvPicPr>
                      <p:cNvPr id="419858" name="Object 18">
                        <a:extLst>
                          <a:ext uri="{FF2B5EF4-FFF2-40B4-BE49-F238E27FC236}">
                            <a16:creationId xmlns:a16="http://schemas.microsoft.com/office/drawing/2014/main" id="{503650B6-DACB-4812-B561-46E5F5945C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5898440"/>
                        <a:ext cx="2376512" cy="675741"/>
                      </a:xfrm>
                      <a:prstGeom prst="rect">
                        <a:avLst/>
                      </a:prstGeom>
                      <a:noFill/>
                      <a:ln>
                        <a:noFill/>
                      </a:ln>
                    </p:spPr>
                  </p:pic>
                </p:oleObj>
              </mc:Fallback>
            </mc:AlternateContent>
          </a:graphicData>
        </a:graphic>
      </p:graphicFrame>
      <p:graphicFrame>
        <p:nvGraphicFramePr>
          <p:cNvPr id="7" name="Object 19">
            <a:extLst>
              <a:ext uri="{FF2B5EF4-FFF2-40B4-BE49-F238E27FC236}">
                <a16:creationId xmlns:a16="http://schemas.microsoft.com/office/drawing/2014/main" id="{1A199BB0-2E9A-4D29-8730-0982920CEE0C}"/>
              </a:ext>
            </a:extLst>
          </p:cNvPr>
          <p:cNvGraphicFramePr>
            <a:graphicFrameLocks noChangeAspect="1"/>
          </p:cNvGraphicFramePr>
          <p:nvPr>
            <p:extLst>
              <p:ext uri="{D42A27DB-BD31-4B8C-83A1-F6EECF244321}">
                <p14:modId xmlns:p14="http://schemas.microsoft.com/office/powerpoint/2010/main" val="2030883997"/>
              </p:ext>
            </p:extLst>
          </p:nvPr>
        </p:nvGraphicFramePr>
        <p:xfrm>
          <a:off x="971699" y="6010886"/>
          <a:ext cx="3744912" cy="450850"/>
        </p:xfrm>
        <a:graphic>
          <a:graphicData uri="http://schemas.openxmlformats.org/presentationml/2006/ole">
            <mc:AlternateContent xmlns:mc="http://schemas.openxmlformats.org/markup-compatibility/2006">
              <mc:Choice xmlns:v="urn:schemas-microsoft-com:vml" Requires="v">
                <p:oleObj spid="_x0000_s127109" name="Equation" r:id="rId5" imgW="2095500" imgH="254000" progId="Equation.DSMT4">
                  <p:embed/>
                </p:oleObj>
              </mc:Choice>
              <mc:Fallback>
                <p:oleObj name="Equation" r:id="rId5" imgW="2095500" imgH="254000" progId="Equation.DSMT4">
                  <p:embed/>
                  <p:pic>
                    <p:nvPicPr>
                      <p:cNvPr id="419859" name="Object 19">
                        <a:extLst>
                          <a:ext uri="{FF2B5EF4-FFF2-40B4-BE49-F238E27FC236}">
                            <a16:creationId xmlns:a16="http://schemas.microsoft.com/office/drawing/2014/main" id="{10F1318D-63B8-4643-A02C-4329915DB5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699" y="6010886"/>
                        <a:ext cx="374491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4">
            <a:extLst>
              <a:ext uri="{FF2B5EF4-FFF2-40B4-BE49-F238E27FC236}">
                <a16:creationId xmlns:a16="http://schemas.microsoft.com/office/drawing/2014/main" id="{20FCCA12-148D-4246-88ED-32D62CE46A80}"/>
              </a:ext>
            </a:extLst>
          </p:cNvPr>
          <p:cNvGraphicFramePr>
            <a:graphicFrameLocks noGrp="1" noChangeAspect="1"/>
          </p:cNvGraphicFramePr>
          <p:nvPr>
            <p:ph idx="1"/>
            <p:extLst>
              <p:ext uri="{D42A27DB-BD31-4B8C-83A1-F6EECF244321}">
                <p14:modId xmlns:p14="http://schemas.microsoft.com/office/powerpoint/2010/main" val="3990514873"/>
              </p:ext>
            </p:extLst>
          </p:nvPr>
        </p:nvGraphicFramePr>
        <p:xfrm>
          <a:off x="4427984" y="2121522"/>
          <a:ext cx="4321671" cy="1303361"/>
        </p:xfrm>
        <a:graphic>
          <a:graphicData uri="http://schemas.openxmlformats.org/presentationml/2006/ole">
            <mc:AlternateContent xmlns:mc="http://schemas.openxmlformats.org/markup-compatibility/2006">
              <mc:Choice xmlns:v="urn:schemas-microsoft-com:vml" Requires="v">
                <p:oleObj spid="_x0000_s127110" name="Equation" r:id="rId7" imgW="3200400" imgH="965160" progId="Equation.DSMT4">
                  <p:embed/>
                </p:oleObj>
              </mc:Choice>
              <mc:Fallback>
                <p:oleObj name="Equation" r:id="rId7" imgW="3200400" imgH="965160" progId="Equation.DSMT4">
                  <p:embed/>
                  <p:pic>
                    <p:nvPicPr>
                      <p:cNvPr id="78852" name="Object 4">
                        <a:extLst>
                          <a:ext uri="{FF2B5EF4-FFF2-40B4-BE49-F238E27FC236}">
                            <a16:creationId xmlns:a16="http://schemas.microsoft.com/office/drawing/2014/main" id="{5BD8CD3C-F6E4-4FF4-B9C0-E7ADE3CBB4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7984" y="2121522"/>
                        <a:ext cx="4321671" cy="1303361"/>
                      </a:xfrm>
                      <a:prstGeom prst="rect">
                        <a:avLst/>
                      </a:prstGeom>
                      <a:noFill/>
                      <a:ln>
                        <a:noFill/>
                      </a:ln>
                      <a:effectLst/>
                      <a:extLst/>
                    </p:spPr>
                  </p:pic>
                </p:oleObj>
              </mc:Fallback>
            </mc:AlternateContent>
          </a:graphicData>
        </a:graphic>
      </p:graphicFrame>
      <p:pic>
        <p:nvPicPr>
          <p:cNvPr id="9" name="Picture 4" descr="0232">
            <a:extLst>
              <a:ext uri="{FF2B5EF4-FFF2-40B4-BE49-F238E27FC236}">
                <a16:creationId xmlns:a16="http://schemas.microsoft.com/office/drawing/2014/main" id="{675B8D66-918D-4CDD-A0A3-8A3976002BF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512" y="1484784"/>
            <a:ext cx="3894167" cy="2808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961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29066"/>
                                        </p:tgtEl>
                                        <p:attrNameLst>
                                          <p:attrName>style.visibility</p:attrName>
                                        </p:attrNameLst>
                                      </p:cBhvr>
                                      <p:to>
                                        <p:strVal val="visible"/>
                                      </p:to>
                                    </p:set>
                                    <p:animEffect transition="in" filter="blinds(horizontal)">
                                      <p:cBhvr>
                                        <p:cTn id="7" dur="500"/>
                                        <p:tgtEl>
                                          <p:spTgt spid="4290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6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44C8EBE-557F-4F57-BD05-60321D2D40A5}"/>
              </a:ext>
            </a:extLst>
          </p:cNvPr>
          <p:cNvSpPr>
            <a:spLocks noGrp="1" noChangeArrowheads="1"/>
          </p:cNvSpPr>
          <p:nvPr>
            <p:ph type="title"/>
          </p:nvPr>
        </p:nvSpPr>
        <p:spPr bwMode="auto">
          <a:xfrm>
            <a:off x="431800" y="63500"/>
            <a:ext cx="8066087"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0000"/>
          </a:bodyPr>
          <a:lstStyle/>
          <a:p>
            <a:pPr algn="ctr"/>
            <a:r>
              <a:rPr lang="en-US" altLang="zh-CN" sz="3600" b="1" dirty="0">
                <a:solidFill>
                  <a:srgbClr val="FF3300"/>
                </a:solidFill>
                <a:latin typeface="宋体" panose="02010600030101010101" pitchFamily="2" charset="-122"/>
                <a:ea typeface="宋体" panose="02010600030101010101" pitchFamily="2" charset="-122"/>
              </a:rPr>
              <a:t>2.2.6</a:t>
            </a:r>
            <a:r>
              <a:rPr lang="zh-CN" altLang="en-US" sz="3600" b="1" dirty="0">
                <a:solidFill>
                  <a:srgbClr val="FF3300"/>
                </a:solidFill>
                <a:latin typeface="宋体" panose="02010600030101010101" pitchFamily="2" charset="-122"/>
                <a:ea typeface="宋体" panose="02010600030101010101" pitchFamily="2" charset="-122"/>
              </a:rPr>
              <a:t>正向</a:t>
            </a:r>
            <a:r>
              <a:rPr lang="en-US" altLang="zh-CN" sz="3600" b="1" dirty="0">
                <a:solidFill>
                  <a:srgbClr val="FF3300"/>
                </a:solidFill>
                <a:latin typeface="宋体" panose="02010600030101010101" pitchFamily="2" charset="-122"/>
                <a:ea typeface="宋体" panose="02010600030101010101" pitchFamily="2" charset="-122"/>
              </a:rPr>
              <a:t>PN</a:t>
            </a:r>
            <a:r>
              <a:rPr lang="zh-CN" altLang="en-US" sz="3600" b="1" dirty="0">
                <a:solidFill>
                  <a:srgbClr val="FF3300"/>
                </a:solidFill>
                <a:latin typeface="宋体" panose="02010600030101010101" pitchFamily="2" charset="-122"/>
                <a:ea typeface="宋体" panose="02010600030101010101" pitchFamily="2" charset="-122"/>
              </a:rPr>
              <a:t>结空间电荷区复合电流</a:t>
            </a:r>
            <a:br>
              <a:rPr lang="en-US" altLang="zh-CN" sz="3600" b="1" dirty="0">
                <a:solidFill>
                  <a:srgbClr val="FF3300"/>
                </a:solidFill>
                <a:latin typeface="宋体" panose="02010600030101010101" pitchFamily="2" charset="-122"/>
                <a:ea typeface="宋体" panose="02010600030101010101" pitchFamily="2" charset="-122"/>
              </a:rPr>
            </a:br>
            <a:r>
              <a:rPr lang="en-US" altLang="zh-CN" sz="3600" b="1" dirty="0">
                <a:solidFill>
                  <a:srgbClr val="FF3300"/>
                </a:solidFill>
                <a:latin typeface="宋体" panose="02010600030101010101" pitchFamily="2" charset="-122"/>
                <a:ea typeface="宋体" panose="02010600030101010101" pitchFamily="2" charset="-122"/>
              </a:rPr>
              <a:t>2.3.4</a:t>
            </a:r>
            <a:r>
              <a:rPr lang="zh-CN" altLang="en-US" sz="3600" b="1" dirty="0">
                <a:solidFill>
                  <a:srgbClr val="FF3300"/>
                </a:solidFill>
                <a:latin typeface="宋体" panose="02010600030101010101" pitchFamily="2" charset="-122"/>
                <a:ea typeface="宋体" panose="02010600030101010101" pitchFamily="2" charset="-122"/>
              </a:rPr>
              <a:t>反向</a:t>
            </a:r>
            <a:r>
              <a:rPr lang="en-US" altLang="zh-CN" sz="3600" b="1" dirty="0">
                <a:solidFill>
                  <a:srgbClr val="FF3300"/>
                </a:solidFill>
                <a:latin typeface="宋体" panose="02010600030101010101" pitchFamily="2" charset="-122"/>
                <a:ea typeface="宋体" panose="02010600030101010101" pitchFamily="2" charset="-122"/>
              </a:rPr>
              <a:t>PN</a:t>
            </a:r>
            <a:r>
              <a:rPr lang="zh-CN" altLang="en-US" sz="3600" b="1" dirty="0">
                <a:solidFill>
                  <a:srgbClr val="FF3300"/>
                </a:solidFill>
                <a:latin typeface="宋体" panose="02010600030101010101" pitchFamily="2" charset="-122"/>
                <a:ea typeface="宋体" panose="02010600030101010101" pitchFamily="2" charset="-122"/>
              </a:rPr>
              <a:t>结空间电荷区的产生电流</a:t>
            </a:r>
          </a:p>
        </p:txBody>
      </p:sp>
      <p:sp>
        <p:nvSpPr>
          <p:cNvPr id="433155" name="Rectangle 3">
            <a:extLst>
              <a:ext uri="{FF2B5EF4-FFF2-40B4-BE49-F238E27FC236}">
                <a16:creationId xmlns:a16="http://schemas.microsoft.com/office/drawing/2014/main" id="{77C20928-26AE-4FA5-995A-00C9473B4858}"/>
              </a:ext>
            </a:extLst>
          </p:cNvPr>
          <p:cNvSpPr>
            <a:spLocks noChangeArrowheads="1"/>
          </p:cNvSpPr>
          <p:nvPr/>
        </p:nvSpPr>
        <p:spPr bwMode="auto">
          <a:xfrm>
            <a:off x="142875" y="1000125"/>
            <a:ext cx="5761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dirty="0">
                <a:solidFill>
                  <a:srgbClr val="993300"/>
                </a:solidFill>
              </a:rPr>
              <a:t>1.</a:t>
            </a:r>
            <a:r>
              <a:rPr lang="zh-CN" altLang="en-US" b="1" dirty="0">
                <a:solidFill>
                  <a:srgbClr val="993300"/>
                </a:solidFill>
              </a:rPr>
              <a:t>复合电流（在正偏压的时候出现）</a:t>
            </a:r>
            <a:endParaRPr lang="en-US" altLang="zh-CN" b="1" dirty="0">
              <a:solidFill>
                <a:srgbClr val="993300"/>
              </a:solidFill>
            </a:endParaRPr>
          </a:p>
        </p:txBody>
      </p:sp>
      <p:grpSp>
        <p:nvGrpSpPr>
          <p:cNvPr id="2" name="Group 27">
            <a:extLst>
              <a:ext uri="{FF2B5EF4-FFF2-40B4-BE49-F238E27FC236}">
                <a16:creationId xmlns:a16="http://schemas.microsoft.com/office/drawing/2014/main" id="{D3E46096-AACF-4E68-8A97-1A9CB854CA8F}"/>
              </a:ext>
            </a:extLst>
          </p:cNvPr>
          <p:cNvGrpSpPr>
            <a:grpSpLocks/>
          </p:cNvGrpSpPr>
          <p:nvPr/>
        </p:nvGrpSpPr>
        <p:grpSpPr bwMode="auto">
          <a:xfrm>
            <a:off x="571500" y="1500188"/>
            <a:ext cx="8281988" cy="1422400"/>
            <a:chOff x="405" y="1081"/>
            <a:chExt cx="5217" cy="896"/>
          </a:xfrm>
        </p:grpSpPr>
        <p:sp>
          <p:nvSpPr>
            <p:cNvPr id="44049" name="Rectangle 4">
              <a:extLst>
                <a:ext uri="{FF2B5EF4-FFF2-40B4-BE49-F238E27FC236}">
                  <a16:creationId xmlns:a16="http://schemas.microsoft.com/office/drawing/2014/main" id="{9C97A3B8-BC02-4353-BB87-728DB1C6E270}"/>
                </a:ext>
              </a:extLst>
            </p:cNvPr>
            <p:cNvSpPr>
              <a:spLocks noChangeArrowheads="1"/>
            </p:cNvSpPr>
            <p:nvPr/>
          </p:nvSpPr>
          <p:spPr bwMode="auto">
            <a:xfrm>
              <a:off x="405" y="1081"/>
              <a:ext cx="5217" cy="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buFont typeface="Wingdings" panose="05000000000000000000" pitchFamily="2" charset="2"/>
                <a:buNone/>
              </a:pPr>
              <a:r>
                <a:rPr kumimoji="0" lang="zh-CN" altLang="en-US" b="1">
                  <a:solidFill>
                    <a:srgbClr val="000066"/>
                  </a:solidFill>
                </a:rPr>
                <a:t>正偏压使得空间电荷层边缘处的载流子浓度增加，以致       ，这些过量载流子穿越空间电荷层，使得超过平衡值，因此，在空间电荷层中会有复合。</a:t>
              </a:r>
            </a:p>
          </p:txBody>
        </p:sp>
        <p:graphicFrame>
          <p:nvGraphicFramePr>
            <p:cNvPr id="44050" name="Object 6">
              <a:extLst>
                <a:ext uri="{FF2B5EF4-FFF2-40B4-BE49-F238E27FC236}">
                  <a16:creationId xmlns:a16="http://schemas.microsoft.com/office/drawing/2014/main" id="{500FE443-55D0-4511-8F89-FA013F06D5D9}"/>
                </a:ext>
              </a:extLst>
            </p:cNvPr>
            <p:cNvGraphicFramePr>
              <a:graphicFrameLocks noChangeAspect="1"/>
            </p:cNvGraphicFramePr>
            <p:nvPr/>
          </p:nvGraphicFramePr>
          <p:xfrm>
            <a:off x="675" y="1396"/>
            <a:ext cx="545" cy="257"/>
          </p:xfrm>
          <a:graphic>
            <a:graphicData uri="http://schemas.openxmlformats.org/presentationml/2006/ole">
              <mc:AlternateContent xmlns:mc="http://schemas.openxmlformats.org/markup-compatibility/2006">
                <mc:Choice xmlns:v="urn:schemas-microsoft-com:vml" Requires="v">
                  <p:oleObj spid="_x0000_s130278" name="Equation" r:id="rId3" imgW="508000" imgH="241300" progId="Equation.DSMT4">
                    <p:embed/>
                  </p:oleObj>
                </mc:Choice>
                <mc:Fallback>
                  <p:oleObj name="Equation" r:id="rId3" imgW="508000" imgH="241300" progId="Equation.DSMT4">
                    <p:embed/>
                    <p:pic>
                      <p:nvPicPr>
                        <p:cNvPr id="44050" name="Object 6">
                          <a:extLst>
                            <a:ext uri="{FF2B5EF4-FFF2-40B4-BE49-F238E27FC236}">
                              <a16:creationId xmlns:a16="http://schemas.microsoft.com/office/drawing/2014/main" id="{500FE443-55D0-4511-8F89-FA013F06D5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 y="1396"/>
                          <a:ext cx="54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33164" name="Rectangle 12">
            <a:extLst>
              <a:ext uri="{FF2B5EF4-FFF2-40B4-BE49-F238E27FC236}">
                <a16:creationId xmlns:a16="http://schemas.microsoft.com/office/drawing/2014/main" id="{7D45BDE5-263D-4749-8C65-362810020CBC}"/>
              </a:ext>
            </a:extLst>
          </p:cNvPr>
          <p:cNvSpPr>
            <a:spLocks noChangeArrowheads="1"/>
          </p:cNvSpPr>
          <p:nvPr/>
        </p:nvSpPr>
        <p:spPr bwMode="auto">
          <a:xfrm>
            <a:off x="574675" y="2779713"/>
            <a:ext cx="1622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a:solidFill>
                  <a:srgbClr val="FF3300"/>
                </a:solidFill>
              </a:rPr>
              <a:t>复合电流</a:t>
            </a:r>
            <a:r>
              <a:rPr kumimoji="0" lang="zh-CN" altLang="en-US" b="1">
                <a:solidFill>
                  <a:srgbClr val="000066"/>
                </a:solidFill>
              </a:rPr>
              <a:t>：</a:t>
            </a:r>
          </a:p>
        </p:txBody>
      </p:sp>
      <p:graphicFrame>
        <p:nvGraphicFramePr>
          <p:cNvPr id="433167" name="Object 15">
            <a:extLst>
              <a:ext uri="{FF2B5EF4-FFF2-40B4-BE49-F238E27FC236}">
                <a16:creationId xmlns:a16="http://schemas.microsoft.com/office/drawing/2014/main" id="{37182197-DCC1-4856-967C-BAC13631167E}"/>
              </a:ext>
            </a:extLst>
          </p:cNvPr>
          <p:cNvGraphicFramePr>
            <a:graphicFrameLocks noChangeAspect="1"/>
          </p:cNvGraphicFramePr>
          <p:nvPr/>
        </p:nvGraphicFramePr>
        <p:xfrm>
          <a:off x="2357438" y="2786063"/>
          <a:ext cx="1800225" cy="604837"/>
        </p:xfrm>
        <a:graphic>
          <a:graphicData uri="http://schemas.openxmlformats.org/presentationml/2006/ole">
            <mc:AlternateContent xmlns:mc="http://schemas.openxmlformats.org/markup-compatibility/2006">
              <mc:Choice xmlns:v="urn:schemas-microsoft-com:vml" Requires="v">
                <p:oleObj spid="_x0000_s130279" name="Equation" r:id="rId5" imgW="990170" imgH="330057" progId="Equation.DSMT4">
                  <p:embed/>
                </p:oleObj>
              </mc:Choice>
              <mc:Fallback>
                <p:oleObj name="Equation" r:id="rId5" imgW="990170" imgH="330057" progId="Equation.DSMT4">
                  <p:embed/>
                  <p:pic>
                    <p:nvPicPr>
                      <p:cNvPr id="433167" name="Object 15">
                        <a:extLst>
                          <a:ext uri="{FF2B5EF4-FFF2-40B4-BE49-F238E27FC236}">
                            <a16:creationId xmlns:a16="http://schemas.microsoft.com/office/drawing/2014/main" id="{37182197-DCC1-4856-967C-BAC1363116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7438" y="2786063"/>
                        <a:ext cx="180022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3172" name="Rectangle 20">
            <a:extLst>
              <a:ext uri="{FF2B5EF4-FFF2-40B4-BE49-F238E27FC236}">
                <a16:creationId xmlns:a16="http://schemas.microsoft.com/office/drawing/2014/main" id="{25AF6C79-1B79-45A6-A42F-BBF95A81C7C0}"/>
              </a:ext>
            </a:extLst>
          </p:cNvPr>
          <p:cNvSpPr>
            <a:spLocks noChangeArrowheads="1"/>
          </p:cNvSpPr>
          <p:nvPr/>
        </p:nvSpPr>
        <p:spPr bwMode="auto">
          <a:xfrm>
            <a:off x="611188" y="3338513"/>
            <a:ext cx="2447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考虑最大复合条件</a:t>
            </a:r>
          </a:p>
        </p:txBody>
      </p:sp>
      <p:graphicFrame>
        <p:nvGraphicFramePr>
          <p:cNvPr id="433173" name="Object 21">
            <a:extLst>
              <a:ext uri="{FF2B5EF4-FFF2-40B4-BE49-F238E27FC236}">
                <a16:creationId xmlns:a16="http://schemas.microsoft.com/office/drawing/2014/main" id="{EFBC10B2-3170-4E2A-B70C-C9992D9C4EC3}"/>
              </a:ext>
            </a:extLst>
          </p:cNvPr>
          <p:cNvGraphicFramePr>
            <a:graphicFrameLocks noChangeAspect="1"/>
          </p:cNvGraphicFramePr>
          <p:nvPr/>
        </p:nvGraphicFramePr>
        <p:xfrm>
          <a:off x="2833688" y="3352800"/>
          <a:ext cx="946150" cy="417513"/>
        </p:xfrm>
        <a:graphic>
          <a:graphicData uri="http://schemas.openxmlformats.org/presentationml/2006/ole">
            <mc:AlternateContent xmlns:mc="http://schemas.openxmlformats.org/markup-compatibility/2006">
              <mc:Choice xmlns:v="urn:schemas-microsoft-com:vml" Requires="v">
                <p:oleObj spid="_x0000_s130280" name="Equation" r:id="rId7" imgW="520700" imgH="228600" progId="Equation.DSMT4">
                  <p:embed/>
                </p:oleObj>
              </mc:Choice>
              <mc:Fallback>
                <p:oleObj name="Equation" r:id="rId7" imgW="520700" imgH="228600" progId="Equation.DSMT4">
                  <p:embed/>
                  <p:pic>
                    <p:nvPicPr>
                      <p:cNvPr id="433173" name="Object 21">
                        <a:extLst>
                          <a:ext uri="{FF2B5EF4-FFF2-40B4-BE49-F238E27FC236}">
                            <a16:creationId xmlns:a16="http://schemas.microsoft.com/office/drawing/2014/main" id="{EFBC10B2-3170-4E2A-B70C-C9992D9C4E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3688" y="3352800"/>
                        <a:ext cx="94615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3183" name="Object 31">
            <a:extLst>
              <a:ext uri="{FF2B5EF4-FFF2-40B4-BE49-F238E27FC236}">
                <a16:creationId xmlns:a16="http://schemas.microsoft.com/office/drawing/2014/main" id="{120FCB94-FF6A-4DCD-9339-742C5C845DF0}"/>
              </a:ext>
            </a:extLst>
          </p:cNvPr>
          <p:cNvGraphicFramePr>
            <a:graphicFrameLocks noChangeAspect="1"/>
          </p:cNvGraphicFramePr>
          <p:nvPr/>
        </p:nvGraphicFramePr>
        <p:xfrm>
          <a:off x="4932363" y="3141663"/>
          <a:ext cx="2794000" cy="809625"/>
        </p:xfrm>
        <a:graphic>
          <a:graphicData uri="http://schemas.openxmlformats.org/presentationml/2006/ole">
            <mc:AlternateContent xmlns:mc="http://schemas.openxmlformats.org/markup-compatibility/2006">
              <mc:Choice xmlns:v="urn:schemas-microsoft-com:vml" Requires="v">
                <p:oleObj spid="_x0000_s130281" name="Equation" r:id="rId9" imgW="1209759" imgH="447693" progId="Equation.DSMT4">
                  <p:embed/>
                </p:oleObj>
              </mc:Choice>
              <mc:Fallback>
                <p:oleObj name="Equation" r:id="rId9" imgW="1209759" imgH="447693" progId="Equation.DSMT4">
                  <p:embed/>
                  <p:pic>
                    <p:nvPicPr>
                      <p:cNvPr id="433183" name="Object 31">
                        <a:extLst>
                          <a:ext uri="{FF2B5EF4-FFF2-40B4-BE49-F238E27FC236}">
                            <a16:creationId xmlns:a16="http://schemas.microsoft.com/office/drawing/2014/main" id="{120FCB94-FF6A-4DCD-9339-742C5C845DF0}"/>
                          </a:ext>
                        </a:extLst>
                      </p:cNvPr>
                      <p:cNvPicPr>
                        <a:picLocks noChangeAspect="1" noChangeArrowheads="1"/>
                      </p:cNvPicPr>
                      <p:nvPr/>
                    </p:nvPicPr>
                    <p:blipFill>
                      <a:blip r:embed="rId10">
                        <a:lum bright="-100000"/>
                        <a:extLst>
                          <a:ext uri="{28A0092B-C50C-407E-A947-70E740481C1C}">
                            <a14:useLocalDpi xmlns:a14="http://schemas.microsoft.com/office/drawing/2010/main" val="0"/>
                          </a:ext>
                        </a:extLst>
                      </a:blip>
                      <a:srcRect/>
                      <a:stretch>
                        <a:fillRect/>
                      </a:stretch>
                    </p:blipFill>
                    <p:spPr bwMode="auto">
                      <a:xfrm>
                        <a:off x="4932363" y="3141663"/>
                        <a:ext cx="27940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3184" name="AutoShape 32">
            <a:extLst>
              <a:ext uri="{FF2B5EF4-FFF2-40B4-BE49-F238E27FC236}">
                <a16:creationId xmlns:a16="http://schemas.microsoft.com/office/drawing/2014/main" id="{6E16D84A-9162-4DF5-B609-2591C70ED4C8}"/>
              </a:ext>
            </a:extLst>
          </p:cNvPr>
          <p:cNvSpPr>
            <a:spLocks noChangeArrowheads="1"/>
          </p:cNvSpPr>
          <p:nvPr/>
        </p:nvSpPr>
        <p:spPr bwMode="auto">
          <a:xfrm>
            <a:off x="4140200" y="3409950"/>
            <a:ext cx="649288" cy="287338"/>
          </a:xfrm>
          <a:prstGeom prst="rightArrow">
            <a:avLst>
              <a:gd name="adj1" fmla="val 50000"/>
              <a:gd name="adj2" fmla="val 56492"/>
            </a:avLst>
          </a:prstGeom>
          <a:solidFill>
            <a:schemeClr val="accent1"/>
          </a:solidFill>
          <a:ln w="7938">
            <a:solidFill>
              <a:schemeClr val="tx1"/>
            </a:solidFill>
            <a:miter lim="800000"/>
            <a:headEnd/>
            <a:tailEnd/>
          </a:ln>
        </p:spPr>
        <p:txBody>
          <a:bodyPr wrap="none" anchor="ct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endParaRPr lang="zh-CN" altLang="en-US"/>
          </a:p>
        </p:txBody>
      </p:sp>
      <p:sp>
        <p:nvSpPr>
          <p:cNvPr id="433185" name="Text Box 33">
            <a:extLst>
              <a:ext uri="{FF2B5EF4-FFF2-40B4-BE49-F238E27FC236}">
                <a16:creationId xmlns:a16="http://schemas.microsoft.com/office/drawing/2014/main" id="{259A5EA5-95DA-41CE-8687-19E5F2ABF8EC}"/>
              </a:ext>
            </a:extLst>
          </p:cNvPr>
          <p:cNvSpPr txBox="1">
            <a:spLocks noChangeArrowheads="1"/>
          </p:cNvSpPr>
          <p:nvPr/>
        </p:nvSpPr>
        <p:spPr bwMode="auto">
          <a:xfrm>
            <a:off x="1331913" y="4471988"/>
            <a:ext cx="2287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lang="zh-CN" altLang="en-US" sz="2000" b="1">
                <a:solidFill>
                  <a:srgbClr val="000066"/>
                </a:solidFill>
                <a:latin typeface="Times New Roman" panose="02020603050405020304" pitchFamily="18" charset="0"/>
              </a:rPr>
              <a:t>外加电压 </a:t>
            </a:r>
            <a:r>
              <a:rPr lang="en-US" altLang="zh-CN" sz="2000" b="1" i="1">
                <a:solidFill>
                  <a:srgbClr val="000066"/>
                </a:solidFill>
                <a:latin typeface="Times New Roman" panose="02020603050405020304" pitchFamily="18" charset="0"/>
              </a:rPr>
              <a:t>V  </a:t>
            </a:r>
            <a:r>
              <a:rPr lang="zh-CN" altLang="en-US" sz="2000" b="1">
                <a:solidFill>
                  <a:srgbClr val="000066"/>
                </a:solidFill>
                <a:latin typeface="Times New Roman" panose="02020603050405020304" pitchFamily="18" charset="0"/>
              </a:rPr>
              <a:t>时，</a:t>
            </a:r>
          </a:p>
        </p:txBody>
      </p:sp>
      <p:graphicFrame>
        <p:nvGraphicFramePr>
          <p:cNvPr id="433186" name="Object 34">
            <a:extLst>
              <a:ext uri="{FF2B5EF4-FFF2-40B4-BE49-F238E27FC236}">
                <a16:creationId xmlns:a16="http://schemas.microsoft.com/office/drawing/2014/main" id="{9BDF345B-5EFF-4E1C-B29B-7097A2C64937}"/>
              </a:ext>
            </a:extLst>
          </p:cNvPr>
          <p:cNvGraphicFramePr>
            <a:graphicFrameLocks noChangeAspect="1"/>
          </p:cNvGraphicFramePr>
          <p:nvPr/>
        </p:nvGraphicFramePr>
        <p:xfrm>
          <a:off x="3203575" y="3860800"/>
          <a:ext cx="2127250" cy="504825"/>
        </p:xfrm>
        <a:graphic>
          <a:graphicData uri="http://schemas.openxmlformats.org/presentationml/2006/ole">
            <mc:AlternateContent xmlns:mc="http://schemas.openxmlformats.org/markup-compatibility/2006">
              <mc:Choice xmlns:v="urn:schemas-microsoft-com:vml" Requires="v">
                <p:oleObj spid="_x0000_s130282" name="Equation" r:id="rId11" imgW="1133424" imgH="247758" progId="Equation.DSMT4">
                  <p:embed/>
                </p:oleObj>
              </mc:Choice>
              <mc:Fallback>
                <p:oleObj name="Equation" r:id="rId11" imgW="1133424" imgH="247758" progId="Equation.DSMT4">
                  <p:embed/>
                  <p:pic>
                    <p:nvPicPr>
                      <p:cNvPr id="433186" name="Object 34">
                        <a:extLst>
                          <a:ext uri="{FF2B5EF4-FFF2-40B4-BE49-F238E27FC236}">
                            <a16:creationId xmlns:a16="http://schemas.microsoft.com/office/drawing/2014/main" id="{9BDF345B-5EFF-4E1C-B29B-7097A2C64937}"/>
                          </a:ext>
                        </a:extLst>
                      </p:cNvPr>
                      <p:cNvPicPr>
                        <a:picLocks noChangeAspect="1" noChangeArrowheads="1"/>
                      </p:cNvPicPr>
                      <p:nvPr/>
                    </p:nvPicPr>
                    <p:blipFill>
                      <a:blip r:embed="rId12">
                        <a:lum bright="-100000"/>
                        <a:extLst>
                          <a:ext uri="{28A0092B-C50C-407E-A947-70E740481C1C}">
                            <a14:useLocalDpi xmlns:a14="http://schemas.microsoft.com/office/drawing/2010/main" val="0"/>
                          </a:ext>
                        </a:extLst>
                      </a:blip>
                      <a:srcRect/>
                      <a:stretch>
                        <a:fillRect/>
                      </a:stretch>
                    </p:blipFill>
                    <p:spPr bwMode="auto">
                      <a:xfrm>
                        <a:off x="3203575" y="3860800"/>
                        <a:ext cx="2127250"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3187" name="Object 35">
            <a:extLst>
              <a:ext uri="{FF2B5EF4-FFF2-40B4-BE49-F238E27FC236}">
                <a16:creationId xmlns:a16="http://schemas.microsoft.com/office/drawing/2014/main" id="{B05AEE2D-8D38-4C4C-80B5-C8272D848F23}"/>
              </a:ext>
            </a:extLst>
          </p:cNvPr>
          <p:cNvGraphicFramePr>
            <a:graphicFrameLocks noChangeAspect="1"/>
          </p:cNvGraphicFramePr>
          <p:nvPr/>
        </p:nvGraphicFramePr>
        <p:xfrm>
          <a:off x="3598863" y="4456113"/>
          <a:ext cx="2632075" cy="465137"/>
        </p:xfrm>
        <a:graphic>
          <a:graphicData uri="http://schemas.openxmlformats.org/presentationml/2006/ole">
            <mc:AlternateContent xmlns:mc="http://schemas.openxmlformats.org/markup-compatibility/2006">
              <mc:Choice xmlns:v="urn:schemas-microsoft-com:vml" Requires="v">
                <p:oleObj spid="_x0000_s130283" name="Equation" r:id="rId13" imgW="1333567" imgH="247758" progId="Equation.DSMT4">
                  <p:embed/>
                </p:oleObj>
              </mc:Choice>
              <mc:Fallback>
                <p:oleObj name="Equation" r:id="rId13" imgW="1333567" imgH="247758" progId="Equation.DSMT4">
                  <p:embed/>
                  <p:pic>
                    <p:nvPicPr>
                      <p:cNvPr id="433187" name="Object 35">
                        <a:extLst>
                          <a:ext uri="{FF2B5EF4-FFF2-40B4-BE49-F238E27FC236}">
                            <a16:creationId xmlns:a16="http://schemas.microsoft.com/office/drawing/2014/main" id="{B05AEE2D-8D38-4C4C-80B5-C8272D848F23}"/>
                          </a:ext>
                        </a:extLst>
                      </p:cNvPr>
                      <p:cNvPicPr>
                        <a:picLocks noChangeAspect="1" noChangeArrowheads="1"/>
                      </p:cNvPicPr>
                      <p:nvPr/>
                    </p:nvPicPr>
                    <p:blipFill>
                      <a:blip r:embed="rId14">
                        <a:lum bright="-100000"/>
                        <a:extLst>
                          <a:ext uri="{28A0092B-C50C-407E-A947-70E740481C1C}">
                            <a14:useLocalDpi xmlns:a14="http://schemas.microsoft.com/office/drawing/2010/main" val="0"/>
                          </a:ext>
                        </a:extLst>
                      </a:blip>
                      <a:srcRect/>
                      <a:stretch>
                        <a:fillRect/>
                      </a:stretch>
                    </p:blipFill>
                    <p:spPr bwMode="auto">
                      <a:xfrm>
                        <a:off x="3598863" y="4456113"/>
                        <a:ext cx="2632075" cy="465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3188" name="Text Box 36">
            <a:extLst>
              <a:ext uri="{FF2B5EF4-FFF2-40B4-BE49-F238E27FC236}">
                <a16:creationId xmlns:a16="http://schemas.microsoft.com/office/drawing/2014/main" id="{5891D33D-313C-48C6-BDC9-FA1E63B8A830}"/>
              </a:ext>
            </a:extLst>
          </p:cNvPr>
          <p:cNvSpPr txBox="1">
            <a:spLocks noChangeArrowheads="1"/>
          </p:cNvSpPr>
          <p:nvPr/>
        </p:nvSpPr>
        <p:spPr bwMode="auto">
          <a:xfrm>
            <a:off x="611188" y="3860800"/>
            <a:ext cx="3024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lang="zh-CN" altLang="en-US" sz="2000" b="1">
                <a:solidFill>
                  <a:srgbClr val="FF3300"/>
                </a:solidFill>
                <a:latin typeface="Tahoma" panose="020B0604030504040204" pitchFamily="34" charset="0"/>
              </a:rPr>
              <a:t>在势垒区中，平衡时，</a:t>
            </a:r>
          </a:p>
        </p:txBody>
      </p:sp>
      <p:sp>
        <p:nvSpPr>
          <p:cNvPr id="433189" name="Text Box 37">
            <a:extLst>
              <a:ext uri="{FF2B5EF4-FFF2-40B4-BE49-F238E27FC236}">
                <a16:creationId xmlns:a16="http://schemas.microsoft.com/office/drawing/2014/main" id="{5E9D37D2-B390-41BD-86BB-ED83474B35C0}"/>
              </a:ext>
            </a:extLst>
          </p:cNvPr>
          <p:cNvSpPr txBox="1">
            <a:spLocks noChangeArrowheads="1"/>
          </p:cNvSpPr>
          <p:nvPr/>
        </p:nvSpPr>
        <p:spPr bwMode="auto">
          <a:xfrm>
            <a:off x="323850" y="5013325"/>
            <a:ext cx="8686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spcBef>
                <a:spcPct val="50000"/>
              </a:spcBef>
            </a:pPr>
            <a:r>
              <a:rPr lang="zh-CN" altLang="en-US" sz="2000" b="1">
                <a:latin typeface="Times New Roman" panose="02020603050405020304" pitchFamily="18" charset="0"/>
              </a:rPr>
              <a:t>可见：</a:t>
            </a:r>
            <a:r>
              <a:rPr lang="zh-CN" altLang="en-US" sz="2000" b="1">
                <a:latin typeface="Tahoma" panose="020B0604030504040204" pitchFamily="34" charset="0"/>
              </a:rPr>
              <a:t>当 </a:t>
            </a:r>
            <a:r>
              <a:rPr lang="en-US" altLang="zh-CN" sz="2000" b="1" i="1">
                <a:latin typeface="Times New Roman" panose="02020603050405020304" pitchFamily="18" charset="0"/>
              </a:rPr>
              <a:t>V </a:t>
            </a:r>
            <a:r>
              <a:rPr lang="en-US" altLang="zh-CN" sz="2000" b="1">
                <a:latin typeface="Times New Roman" panose="02020603050405020304" pitchFamily="18" charset="0"/>
              </a:rPr>
              <a:t>= 0</a:t>
            </a:r>
            <a:r>
              <a:rPr lang="en-US" altLang="zh-CN" sz="2000" b="1">
                <a:latin typeface="Tahoma" panose="020B0604030504040204" pitchFamily="34" charset="0"/>
              </a:rPr>
              <a:t> </a:t>
            </a:r>
            <a:r>
              <a:rPr lang="zh-CN" altLang="en-US" sz="2000" b="1">
                <a:latin typeface="Tahoma" panose="020B0604030504040204" pitchFamily="34" charset="0"/>
              </a:rPr>
              <a:t>时，</a:t>
            </a:r>
            <a:r>
              <a:rPr lang="en-US" altLang="zh-CN" sz="2000" b="1" i="1">
                <a:latin typeface="Times New Roman" panose="02020603050405020304" pitchFamily="18" charset="0"/>
              </a:rPr>
              <a:t>np</a:t>
            </a:r>
            <a:r>
              <a:rPr lang="en-US" altLang="zh-CN" sz="2000" b="1">
                <a:latin typeface="Times New Roman" panose="02020603050405020304" pitchFamily="18" charset="0"/>
              </a:rPr>
              <a:t> = </a:t>
            </a:r>
            <a:r>
              <a:rPr lang="en-US" altLang="zh-CN" sz="2000" b="1" i="1">
                <a:latin typeface="Times New Roman" panose="02020603050405020304" pitchFamily="18" charset="0"/>
              </a:rPr>
              <a:t>n</a:t>
            </a:r>
            <a:r>
              <a:rPr lang="en-US" altLang="zh-CN" sz="2000" b="1" baseline="-25000">
                <a:latin typeface="Times New Roman" panose="02020603050405020304" pitchFamily="18" charset="0"/>
              </a:rPr>
              <a:t>i</a:t>
            </a:r>
            <a:r>
              <a:rPr lang="en-US" altLang="zh-CN" sz="2000" b="1" baseline="30000">
                <a:latin typeface="Times New Roman" panose="02020603050405020304" pitchFamily="18" charset="0"/>
              </a:rPr>
              <a:t>2</a:t>
            </a:r>
            <a:r>
              <a:rPr lang="en-US" altLang="zh-CN" sz="2000" b="1">
                <a:latin typeface="Tahoma" panose="020B0604030504040204" pitchFamily="34" charset="0"/>
              </a:rPr>
              <a:t> </a:t>
            </a:r>
            <a:r>
              <a:rPr lang="zh-CN" altLang="en-US" sz="2000" b="1">
                <a:latin typeface="Tahoma" panose="020B0604030504040204" pitchFamily="34" charset="0"/>
              </a:rPr>
              <a:t>，</a:t>
            </a:r>
            <a:r>
              <a:rPr lang="en-US" altLang="zh-CN" sz="2000" b="1" i="1">
                <a:latin typeface="Times New Roman" panose="02020603050405020304" pitchFamily="18" charset="0"/>
              </a:rPr>
              <a:t>U </a:t>
            </a:r>
            <a:r>
              <a:rPr lang="en-US" altLang="zh-CN" sz="2000" b="1">
                <a:latin typeface="Times New Roman" panose="02020603050405020304" pitchFamily="18" charset="0"/>
              </a:rPr>
              <a:t> =  0</a:t>
            </a:r>
            <a:r>
              <a:rPr lang="en-US" altLang="zh-CN" sz="2000" b="1">
                <a:latin typeface="Tahoma" panose="020B0604030504040204" pitchFamily="34" charset="0"/>
              </a:rPr>
              <a:t> </a:t>
            </a:r>
            <a:r>
              <a:rPr lang="zh-CN" altLang="en-US" sz="2000" b="1">
                <a:latin typeface="Tahoma" panose="020B0604030504040204" pitchFamily="34" charset="0"/>
              </a:rPr>
              <a:t>， 不发生净复合；</a:t>
            </a:r>
            <a:endParaRPr lang="zh-CN" altLang="en-US" sz="2000" b="1">
              <a:latin typeface="Times New Roman" panose="02020603050405020304" pitchFamily="18" charset="0"/>
            </a:endParaRPr>
          </a:p>
          <a:p>
            <a:pPr eaLnBrk="1" latinLnBrk="0" hangingPunct="1">
              <a:spcBef>
                <a:spcPct val="50000"/>
              </a:spcBef>
            </a:pPr>
            <a:r>
              <a:rPr lang="zh-CN" altLang="en-US" sz="2000" b="1">
                <a:latin typeface="Times New Roman" panose="02020603050405020304" pitchFamily="18" charset="0"/>
              </a:rPr>
              <a:t>            当 </a:t>
            </a:r>
            <a:r>
              <a:rPr lang="en-US" altLang="zh-CN" sz="2000" b="1" i="1">
                <a:latin typeface="Times New Roman" panose="02020603050405020304" pitchFamily="18" charset="0"/>
              </a:rPr>
              <a:t>V  </a:t>
            </a:r>
            <a:r>
              <a:rPr lang="en-US" altLang="zh-CN" sz="2000" b="1">
                <a:latin typeface="Times New Roman" panose="02020603050405020304" pitchFamily="18" charset="0"/>
              </a:rPr>
              <a:t>&gt; 0 </a:t>
            </a:r>
            <a:r>
              <a:rPr lang="zh-CN" altLang="en-US" sz="2000" b="1">
                <a:latin typeface="Times New Roman" panose="02020603050405020304" pitchFamily="18" charset="0"/>
              </a:rPr>
              <a:t>时，</a:t>
            </a:r>
            <a:r>
              <a:rPr lang="en-US" altLang="zh-CN" sz="2000" b="1" i="1">
                <a:latin typeface="Times New Roman" panose="02020603050405020304" pitchFamily="18" charset="0"/>
              </a:rPr>
              <a:t>np</a:t>
            </a:r>
            <a:r>
              <a:rPr lang="en-US" altLang="zh-CN" sz="2000" b="1">
                <a:latin typeface="Times New Roman" panose="02020603050405020304" pitchFamily="18" charset="0"/>
              </a:rPr>
              <a:t> &gt; </a:t>
            </a:r>
            <a:r>
              <a:rPr lang="en-US" altLang="zh-CN" sz="2000" b="1" i="1">
                <a:latin typeface="Times New Roman" panose="02020603050405020304" pitchFamily="18" charset="0"/>
              </a:rPr>
              <a:t>n</a:t>
            </a:r>
            <a:r>
              <a:rPr lang="en-US" altLang="zh-CN" sz="2000" b="1" baseline="-25000">
                <a:latin typeface="Times New Roman" panose="02020603050405020304" pitchFamily="18" charset="0"/>
              </a:rPr>
              <a:t>i</a:t>
            </a:r>
            <a:r>
              <a:rPr lang="en-US" altLang="zh-CN" sz="2000" b="1" baseline="30000">
                <a:latin typeface="Times New Roman" panose="02020603050405020304" pitchFamily="18" charset="0"/>
              </a:rPr>
              <a:t>2</a:t>
            </a:r>
            <a:r>
              <a:rPr lang="en-US" altLang="zh-CN" sz="2000" b="1">
                <a:latin typeface="Times New Roman" panose="02020603050405020304" pitchFamily="18" charset="0"/>
              </a:rPr>
              <a:t> </a:t>
            </a:r>
            <a:r>
              <a:rPr lang="zh-CN" altLang="en-US" sz="2000" b="1">
                <a:latin typeface="Times New Roman" panose="02020603050405020304" pitchFamily="18" charset="0"/>
              </a:rPr>
              <a:t>，</a:t>
            </a:r>
            <a:r>
              <a:rPr lang="en-US" altLang="zh-CN" sz="2000" b="1" i="1">
                <a:latin typeface="Times New Roman" panose="02020603050405020304" pitchFamily="18" charset="0"/>
              </a:rPr>
              <a:t>U </a:t>
            </a:r>
            <a:r>
              <a:rPr lang="en-US" altLang="zh-CN" sz="2000" b="1">
                <a:latin typeface="Times New Roman" panose="02020603050405020304" pitchFamily="18" charset="0"/>
              </a:rPr>
              <a:t> &gt;  0 </a:t>
            </a:r>
            <a:r>
              <a:rPr lang="zh-CN" altLang="en-US" sz="2000" b="1">
                <a:latin typeface="Times New Roman" panose="02020603050405020304" pitchFamily="18" charset="0"/>
              </a:rPr>
              <a:t>， 发生净复合；</a:t>
            </a:r>
          </a:p>
          <a:p>
            <a:pPr eaLnBrk="1" latinLnBrk="0" hangingPunct="1">
              <a:spcBef>
                <a:spcPct val="50000"/>
              </a:spcBef>
            </a:pPr>
            <a:r>
              <a:rPr lang="zh-CN" altLang="en-US" sz="2000" b="1">
                <a:latin typeface="Times New Roman" panose="02020603050405020304" pitchFamily="18" charset="0"/>
              </a:rPr>
              <a:t>             当 </a:t>
            </a:r>
            <a:r>
              <a:rPr lang="en-US" altLang="zh-CN" sz="2000" b="1" i="1">
                <a:latin typeface="Times New Roman" panose="02020603050405020304" pitchFamily="18" charset="0"/>
              </a:rPr>
              <a:t>V  </a:t>
            </a:r>
            <a:r>
              <a:rPr lang="en-US" altLang="zh-CN" sz="2000" b="1">
                <a:latin typeface="Times New Roman" panose="02020603050405020304" pitchFamily="18" charset="0"/>
              </a:rPr>
              <a:t>&lt; 0 </a:t>
            </a:r>
            <a:r>
              <a:rPr lang="zh-CN" altLang="en-US" sz="2000" b="1">
                <a:latin typeface="Times New Roman" panose="02020603050405020304" pitchFamily="18" charset="0"/>
              </a:rPr>
              <a:t>时，</a:t>
            </a:r>
            <a:r>
              <a:rPr lang="en-US" altLang="zh-CN" sz="2000" b="1" i="1">
                <a:latin typeface="Times New Roman" panose="02020603050405020304" pitchFamily="18" charset="0"/>
              </a:rPr>
              <a:t>np</a:t>
            </a:r>
            <a:r>
              <a:rPr lang="en-US" altLang="zh-CN" sz="2000" b="1">
                <a:latin typeface="Times New Roman" panose="02020603050405020304" pitchFamily="18" charset="0"/>
              </a:rPr>
              <a:t> &lt; </a:t>
            </a:r>
            <a:r>
              <a:rPr lang="en-US" altLang="zh-CN" sz="2000" b="1" i="1">
                <a:latin typeface="Times New Roman" panose="02020603050405020304" pitchFamily="18" charset="0"/>
              </a:rPr>
              <a:t>n</a:t>
            </a:r>
            <a:r>
              <a:rPr lang="en-US" altLang="zh-CN" sz="2000" b="1" baseline="-25000">
                <a:latin typeface="Times New Roman" panose="02020603050405020304" pitchFamily="18" charset="0"/>
              </a:rPr>
              <a:t>i</a:t>
            </a:r>
            <a:r>
              <a:rPr lang="en-US" altLang="zh-CN" sz="2000" b="1" baseline="30000">
                <a:latin typeface="Times New Roman" panose="02020603050405020304" pitchFamily="18" charset="0"/>
              </a:rPr>
              <a:t>2</a:t>
            </a:r>
            <a:r>
              <a:rPr lang="en-US" altLang="zh-CN" sz="2000" b="1">
                <a:latin typeface="Times New Roman" panose="02020603050405020304" pitchFamily="18" charset="0"/>
              </a:rPr>
              <a:t> </a:t>
            </a:r>
            <a:r>
              <a:rPr lang="zh-CN" altLang="en-US" sz="2000" b="1">
                <a:latin typeface="Times New Roman" panose="02020603050405020304" pitchFamily="18" charset="0"/>
              </a:rPr>
              <a:t>，</a:t>
            </a:r>
            <a:r>
              <a:rPr lang="en-US" altLang="zh-CN" sz="2000" b="1" i="1">
                <a:latin typeface="Times New Roman" panose="02020603050405020304" pitchFamily="18" charset="0"/>
              </a:rPr>
              <a:t>U </a:t>
            </a:r>
            <a:r>
              <a:rPr lang="en-US" altLang="zh-CN" sz="2000" b="1">
                <a:latin typeface="Times New Roman" panose="02020603050405020304" pitchFamily="18" charset="0"/>
              </a:rPr>
              <a:t> &lt;  0 </a:t>
            </a:r>
            <a:r>
              <a:rPr lang="zh-CN" altLang="en-US" sz="2000" b="1">
                <a:latin typeface="Times New Roman" panose="02020603050405020304" pitchFamily="18" charset="0"/>
              </a:rPr>
              <a:t>， 发生净产生。        </a:t>
            </a:r>
          </a:p>
        </p:txBody>
      </p:sp>
    </p:spTree>
    <p:extLst>
      <p:ext uri="{BB962C8B-B14F-4D97-AF65-F5344CB8AC3E}">
        <p14:creationId xmlns:p14="http://schemas.microsoft.com/office/powerpoint/2010/main" val="22032931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3155"/>
                                        </p:tgtEl>
                                        <p:attrNameLst>
                                          <p:attrName>style.visibility</p:attrName>
                                        </p:attrNameLst>
                                      </p:cBhvr>
                                      <p:to>
                                        <p:strVal val="visible"/>
                                      </p:to>
                                    </p:set>
                                    <p:animEffect transition="in" filter="blinds(horizontal)">
                                      <p:cBhvr>
                                        <p:cTn id="7" dur="500"/>
                                        <p:tgtEl>
                                          <p:spTgt spid="4331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33164">
                                            <p:txEl>
                                              <p:pRg st="0" end="0"/>
                                            </p:txEl>
                                          </p:spTgt>
                                        </p:tgtEl>
                                        <p:attrNameLst>
                                          <p:attrName>style.visibility</p:attrName>
                                        </p:attrNameLst>
                                      </p:cBhvr>
                                      <p:to>
                                        <p:strVal val="visible"/>
                                      </p:to>
                                    </p:set>
                                    <p:animEffect transition="in" filter="blinds(horizontal)">
                                      <p:cBhvr>
                                        <p:cTn id="17" dur="500"/>
                                        <p:tgtEl>
                                          <p:spTgt spid="43316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33167"/>
                                        </p:tgtEl>
                                        <p:attrNameLst>
                                          <p:attrName>style.visibility</p:attrName>
                                        </p:attrNameLst>
                                      </p:cBhvr>
                                      <p:to>
                                        <p:strVal val="visible"/>
                                      </p:to>
                                    </p:set>
                                    <p:animEffect transition="in" filter="blinds(horizontal)">
                                      <p:cBhvr>
                                        <p:cTn id="22" dur="500"/>
                                        <p:tgtEl>
                                          <p:spTgt spid="4331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33172"/>
                                        </p:tgtEl>
                                        <p:attrNameLst>
                                          <p:attrName>style.visibility</p:attrName>
                                        </p:attrNameLst>
                                      </p:cBhvr>
                                      <p:to>
                                        <p:strVal val="visible"/>
                                      </p:to>
                                    </p:set>
                                    <p:animEffect transition="in" filter="blinds(horizontal)">
                                      <p:cBhvr>
                                        <p:cTn id="27" dur="500"/>
                                        <p:tgtEl>
                                          <p:spTgt spid="4331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33173"/>
                                        </p:tgtEl>
                                        <p:attrNameLst>
                                          <p:attrName>style.visibility</p:attrName>
                                        </p:attrNameLst>
                                      </p:cBhvr>
                                      <p:to>
                                        <p:strVal val="visible"/>
                                      </p:to>
                                    </p:set>
                                    <p:animEffect transition="in" filter="blinds(horizontal)">
                                      <p:cBhvr>
                                        <p:cTn id="32" dur="500"/>
                                        <p:tgtEl>
                                          <p:spTgt spid="4331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5" presetClass="entr" presetSubtype="0" fill="hold" grpId="0" nodeType="clickEffect">
                                  <p:stCondLst>
                                    <p:cond delay="0"/>
                                  </p:stCondLst>
                                  <p:childTnLst>
                                    <p:set>
                                      <p:cBhvr>
                                        <p:cTn id="36" dur="1" fill="hold">
                                          <p:stCondLst>
                                            <p:cond delay="0"/>
                                          </p:stCondLst>
                                        </p:cTn>
                                        <p:tgtEl>
                                          <p:spTgt spid="433184"/>
                                        </p:tgtEl>
                                        <p:attrNameLst>
                                          <p:attrName>style.visibility</p:attrName>
                                        </p:attrNameLst>
                                      </p:cBhvr>
                                      <p:to>
                                        <p:strVal val="visible"/>
                                      </p:to>
                                    </p:set>
                                    <p:anim calcmode="lin" valueType="num">
                                      <p:cBhvr>
                                        <p:cTn id="37" dur="1000" fill="hold"/>
                                        <p:tgtEl>
                                          <p:spTgt spid="433184"/>
                                        </p:tgtEl>
                                        <p:attrNameLst>
                                          <p:attrName>ppt_w</p:attrName>
                                        </p:attrNameLst>
                                      </p:cBhvr>
                                      <p:tavLst>
                                        <p:tav tm="0">
                                          <p:val>
                                            <p:strVal val="#ppt_w*0.70"/>
                                          </p:val>
                                        </p:tav>
                                        <p:tav tm="100000">
                                          <p:val>
                                            <p:strVal val="#ppt_w"/>
                                          </p:val>
                                        </p:tav>
                                      </p:tavLst>
                                    </p:anim>
                                    <p:anim calcmode="lin" valueType="num">
                                      <p:cBhvr>
                                        <p:cTn id="38" dur="1000" fill="hold"/>
                                        <p:tgtEl>
                                          <p:spTgt spid="433184"/>
                                        </p:tgtEl>
                                        <p:attrNameLst>
                                          <p:attrName>ppt_h</p:attrName>
                                        </p:attrNameLst>
                                      </p:cBhvr>
                                      <p:tavLst>
                                        <p:tav tm="0">
                                          <p:val>
                                            <p:strVal val="#ppt_h"/>
                                          </p:val>
                                        </p:tav>
                                        <p:tav tm="100000">
                                          <p:val>
                                            <p:strVal val="#ppt_h"/>
                                          </p:val>
                                        </p:tav>
                                      </p:tavLst>
                                    </p:anim>
                                    <p:animEffect transition="in" filter="fade">
                                      <p:cBhvr>
                                        <p:cTn id="39" dur="1000"/>
                                        <p:tgtEl>
                                          <p:spTgt spid="43318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433183"/>
                                        </p:tgtEl>
                                        <p:attrNameLst>
                                          <p:attrName>style.visibility</p:attrName>
                                        </p:attrNameLst>
                                      </p:cBhvr>
                                      <p:to>
                                        <p:strVal val="visible"/>
                                      </p:to>
                                    </p:set>
                                    <p:animEffect transition="in" filter="dissolve">
                                      <p:cBhvr>
                                        <p:cTn id="44" dur="500"/>
                                        <p:tgtEl>
                                          <p:spTgt spid="43318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33188"/>
                                        </p:tgtEl>
                                        <p:attrNameLst>
                                          <p:attrName>style.visibility</p:attrName>
                                        </p:attrNameLst>
                                      </p:cBhvr>
                                      <p:to>
                                        <p:strVal val="visible"/>
                                      </p:to>
                                    </p:set>
                                    <p:anim calcmode="lin" valueType="num">
                                      <p:cBhvr additive="base">
                                        <p:cTn id="49" dur="1000" fill="hold"/>
                                        <p:tgtEl>
                                          <p:spTgt spid="433188"/>
                                        </p:tgtEl>
                                        <p:attrNameLst>
                                          <p:attrName>ppt_x</p:attrName>
                                        </p:attrNameLst>
                                      </p:cBhvr>
                                      <p:tavLst>
                                        <p:tav tm="0">
                                          <p:val>
                                            <p:strVal val="0-#ppt_w/2"/>
                                          </p:val>
                                        </p:tav>
                                        <p:tav tm="100000">
                                          <p:val>
                                            <p:strVal val="#ppt_x"/>
                                          </p:val>
                                        </p:tav>
                                      </p:tavLst>
                                    </p:anim>
                                    <p:anim calcmode="lin" valueType="num">
                                      <p:cBhvr additive="base">
                                        <p:cTn id="50" dur="1000" fill="hold"/>
                                        <p:tgtEl>
                                          <p:spTgt spid="433188"/>
                                        </p:tgtEl>
                                        <p:attrNameLst>
                                          <p:attrName>ppt_y</p:attrName>
                                        </p:attrNameLst>
                                      </p:cBhvr>
                                      <p:tavLst>
                                        <p:tav tm="0">
                                          <p:val>
                                            <p:strVal val="#ppt_y"/>
                                          </p:val>
                                        </p:tav>
                                        <p:tav tm="100000">
                                          <p:val>
                                            <p:strVal val="#ppt_y"/>
                                          </p:val>
                                        </p:tav>
                                      </p:tavLst>
                                    </p:anim>
                                  </p:childTnLst>
                                </p:cTn>
                              </p:par>
                            </p:childTnLst>
                          </p:cTn>
                        </p:par>
                        <p:par>
                          <p:cTn id="51" fill="hold" nodeType="afterGroup">
                            <p:stCondLst>
                              <p:cond delay="1000"/>
                            </p:stCondLst>
                            <p:childTnLst>
                              <p:par>
                                <p:cTn id="52" presetID="2" presetClass="entr" presetSubtype="2" fill="hold" nodeType="afterEffect">
                                  <p:stCondLst>
                                    <p:cond delay="0"/>
                                  </p:stCondLst>
                                  <p:childTnLst>
                                    <p:set>
                                      <p:cBhvr>
                                        <p:cTn id="53" dur="1" fill="hold">
                                          <p:stCondLst>
                                            <p:cond delay="0"/>
                                          </p:stCondLst>
                                        </p:cTn>
                                        <p:tgtEl>
                                          <p:spTgt spid="433186"/>
                                        </p:tgtEl>
                                        <p:attrNameLst>
                                          <p:attrName>style.visibility</p:attrName>
                                        </p:attrNameLst>
                                      </p:cBhvr>
                                      <p:to>
                                        <p:strVal val="visible"/>
                                      </p:to>
                                    </p:set>
                                    <p:anim calcmode="lin" valueType="num">
                                      <p:cBhvr additive="base">
                                        <p:cTn id="54" dur="1000" fill="hold"/>
                                        <p:tgtEl>
                                          <p:spTgt spid="433186"/>
                                        </p:tgtEl>
                                        <p:attrNameLst>
                                          <p:attrName>ppt_x</p:attrName>
                                        </p:attrNameLst>
                                      </p:cBhvr>
                                      <p:tavLst>
                                        <p:tav tm="0">
                                          <p:val>
                                            <p:strVal val="1+#ppt_w/2"/>
                                          </p:val>
                                        </p:tav>
                                        <p:tav tm="100000">
                                          <p:val>
                                            <p:strVal val="#ppt_x"/>
                                          </p:val>
                                        </p:tav>
                                      </p:tavLst>
                                    </p:anim>
                                    <p:anim calcmode="lin" valueType="num">
                                      <p:cBhvr additive="base">
                                        <p:cTn id="55" dur="1000" fill="hold"/>
                                        <p:tgtEl>
                                          <p:spTgt spid="433186"/>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433185"/>
                                        </p:tgtEl>
                                        <p:attrNameLst>
                                          <p:attrName>style.visibility</p:attrName>
                                        </p:attrNameLst>
                                      </p:cBhvr>
                                      <p:to>
                                        <p:strVal val="visible"/>
                                      </p:to>
                                    </p:set>
                                    <p:anim calcmode="lin" valueType="num">
                                      <p:cBhvr additive="base">
                                        <p:cTn id="60" dur="1000" fill="hold"/>
                                        <p:tgtEl>
                                          <p:spTgt spid="433185"/>
                                        </p:tgtEl>
                                        <p:attrNameLst>
                                          <p:attrName>ppt_x</p:attrName>
                                        </p:attrNameLst>
                                      </p:cBhvr>
                                      <p:tavLst>
                                        <p:tav tm="0">
                                          <p:val>
                                            <p:strVal val="0-#ppt_w/2"/>
                                          </p:val>
                                        </p:tav>
                                        <p:tav tm="100000">
                                          <p:val>
                                            <p:strVal val="#ppt_x"/>
                                          </p:val>
                                        </p:tav>
                                      </p:tavLst>
                                    </p:anim>
                                    <p:anim calcmode="lin" valueType="num">
                                      <p:cBhvr additive="base">
                                        <p:cTn id="61" dur="1000" fill="hold"/>
                                        <p:tgtEl>
                                          <p:spTgt spid="433185"/>
                                        </p:tgtEl>
                                        <p:attrNameLst>
                                          <p:attrName>ppt_y</p:attrName>
                                        </p:attrNameLst>
                                      </p:cBhvr>
                                      <p:tavLst>
                                        <p:tav tm="0">
                                          <p:val>
                                            <p:strVal val="#ppt_y"/>
                                          </p:val>
                                        </p:tav>
                                        <p:tav tm="100000">
                                          <p:val>
                                            <p:strVal val="#ppt_y"/>
                                          </p:val>
                                        </p:tav>
                                      </p:tavLst>
                                    </p:anim>
                                  </p:childTnLst>
                                </p:cTn>
                              </p:par>
                            </p:childTnLst>
                          </p:cTn>
                        </p:par>
                        <p:par>
                          <p:cTn id="62" fill="hold" nodeType="afterGroup">
                            <p:stCondLst>
                              <p:cond delay="1000"/>
                            </p:stCondLst>
                            <p:childTnLst>
                              <p:par>
                                <p:cTn id="63" presetID="2" presetClass="entr" presetSubtype="2" fill="hold" nodeType="afterEffect">
                                  <p:stCondLst>
                                    <p:cond delay="0"/>
                                  </p:stCondLst>
                                  <p:childTnLst>
                                    <p:set>
                                      <p:cBhvr>
                                        <p:cTn id="64" dur="1" fill="hold">
                                          <p:stCondLst>
                                            <p:cond delay="0"/>
                                          </p:stCondLst>
                                        </p:cTn>
                                        <p:tgtEl>
                                          <p:spTgt spid="433187"/>
                                        </p:tgtEl>
                                        <p:attrNameLst>
                                          <p:attrName>style.visibility</p:attrName>
                                        </p:attrNameLst>
                                      </p:cBhvr>
                                      <p:to>
                                        <p:strVal val="visible"/>
                                      </p:to>
                                    </p:set>
                                    <p:anim calcmode="lin" valueType="num">
                                      <p:cBhvr additive="base">
                                        <p:cTn id="65" dur="1000" fill="hold"/>
                                        <p:tgtEl>
                                          <p:spTgt spid="433187"/>
                                        </p:tgtEl>
                                        <p:attrNameLst>
                                          <p:attrName>ppt_x</p:attrName>
                                        </p:attrNameLst>
                                      </p:cBhvr>
                                      <p:tavLst>
                                        <p:tav tm="0">
                                          <p:val>
                                            <p:strVal val="1+#ppt_w/2"/>
                                          </p:val>
                                        </p:tav>
                                        <p:tav tm="100000">
                                          <p:val>
                                            <p:strVal val="#ppt_x"/>
                                          </p:val>
                                        </p:tav>
                                      </p:tavLst>
                                    </p:anim>
                                    <p:anim calcmode="lin" valueType="num">
                                      <p:cBhvr additive="base">
                                        <p:cTn id="66" dur="1000" fill="hold"/>
                                        <p:tgtEl>
                                          <p:spTgt spid="433187"/>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433189"/>
                                        </p:tgtEl>
                                        <p:attrNameLst>
                                          <p:attrName>style.visibility</p:attrName>
                                        </p:attrNameLst>
                                      </p:cBhvr>
                                      <p:to>
                                        <p:strVal val="visible"/>
                                      </p:to>
                                    </p:set>
                                    <p:anim calcmode="lin" valueType="num">
                                      <p:cBhvr additive="base">
                                        <p:cTn id="71" dur="1000" fill="hold"/>
                                        <p:tgtEl>
                                          <p:spTgt spid="433189"/>
                                        </p:tgtEl>
                                        <p:attrNameLst>
                                          <p:attrName>ppt_x</p:attrName>
                                        </p:attrNameLst>
                                      </p:cBhvr>
                                      <p:tavLst>
                                        <p:tav tm="0">
                                          <p:val>
                                            <p:strVal val="0-#ppt_w/2"/>
                                          </p:val>
                                        </p:tav>
                                        <p:tav tm="100000">
                                          <p:val>
                                            <p:strVal val="#ppt_x"/>
                                          </p:val>
                                        </p:tav>
                                      </p:tavLst>
                                    </p:anim>
                                    <p:anim calcmode="lin" valueType="num">
                                      <p:cBhvr additive="base">
                                        <p:cTn id="72" dur="1000" fill="hold"/>
                                        <p:tgtEl>
                                          <p:spTgt spid="4331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55" grpId="0"/>
      <p:bldP spid="433172" grpId="0"/>
      <p:bldP spid="433184" grpId="0" animBg="1"/>
      <p:bldP spid="433185" grpId="0" autoUpdateAnimBg="0"/>
      <p:bldP spid="433188" grpId="0"/>
      <p:bldP spid="433189"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0220">
            <a:extLst>
              <a:ext uri="{FF2B5EF4-FFF2-40B4-BE49-F238E27FC236}">
                <a16:creationId xmlns:a16="http://schemas.microsoft.com/office/drawing/2014/main" id="{16F6DFE5-939F-4547-AD7C-288906055B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016912"/>
            <a:ext cx="5616575" cy="1697038"/>
          </a:xfrm>
          <a:prstGeom prst="rect">
            <a:avLst/>
          </a:prstGeom>
          <a:noFill/>
          <a:extLst>
            <a:ext uri="{909E8E84-426E-40DD-AFC4-6F175D3DCCD1}">
              <a14:hiddenFill xmlns:a14="http://schemas.microsoft.com/office/drawing/2010/main">
                <a:solidFill>
                  <a:srgbClr val="FFFFFF"/>
                </a:solidFill>
              </a14:hiddenFill>
            </a:ext>
          </a:extLst>
        </p:spPr>
      </p:pic>
      <p:sp>
        <p:nvSpPr>
          <p:cNvPr id="120834" name="Rectangle 2">
            <a:extLst>
              <a:ext uri="{FF2B5EF4-FFF2-40B4-BE49-F238E27FC236}">
                <a16:creationId xmlns:a16="http://schemas.microsoft.com/office/drawing/2014/main" id="{EE51E4DD-5FFE-4271-B684-B4E15EB93AD3}"/>
              </a:ext>
            </a:extLst>
          </p:cNvPr>
          <p:cNvSpPr>
            <a:spLocks noChangeArrowheads="1"/>
          </p:cNvSpPr>
          <p:nvPr/>
        </p:nvSpPr>
        <p:spPr bwMode="auto">
          <a:xfrm>
            <a:off x="670012" y="3474125"/>
            <a:ext cx="772777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latinLnBrk="0">
              <a:lnSpc>
                <a:spcPct val="140000"/>
              </a:lnSpc>
            </a:pPr>
            <a:r>
              <a:rPr lang="en-US" altLang="zh-CN" b="1" dirty="0">
                <a:solidFill>
                  <a:srgbClr val="000000"/>
                </a:solidFill>
                <a:latin typeface="Times New Roman" panose="02020603050405020304" pitchFamily="18" charset="0"/>
              </a:rPr>
              <a:t>ABCD: </a:t>
            </a:r>
            <a:r>
              <a:rPr lang="zh-CN" altLang="en-US" b="1" dirty="0">
                <a:solidFill>
                  <a:srgbClr val="000000"/>
                </a:solidFill>
                <a:latin typeface="Times New Roman" panose="02020603050405020304" pitchFamily="18" charset="0"/>
              </a:rPr>
              <a:t>电子的注入电流，</a:t>
            </a:r>
            <a:r>
              <a:rPr lang="en-US" altLang="zh-CN" b="1" dirty="0">
                <a:solidFill>
                  <a:srgbClr val="000000"/>
                </a:solidFill>
                <a:latin typeface="Times New Roman" panose="02020603050405020304" pitchFamily="18" charset="0"/>
              </a:rPr>
              <a:t>AB</a:t>
            </a:r>
            <a:r>
              <a:rPr lang="zh-CN" altLang="en-US" b="1" dirty="0">
                <a:solidFill>
                  <a:srgbClr val="000000"/>
                </a:solidFill>
                <a:latin typeface="Times New Roman" panose="02020603050405020304" pitchFamily="18" charset="0"/>
              </a:rPr>
              <a:t>段：电子从</a:t>
            </a:r>
            <a:r>
              <a:rPr lang="en-US" altLang="zh-CN" b="1" dirty="0">
                <a:solidFill>
                  <a:srgbClr val="000000"/>
                </a:solidFill>
                <a:latin typeface="Times New Roman" panose="02020603050405020304" pitchFamily="18" charset="0"/>
              </a:rPr>
              <a:t>N</a:t>
            </a:r>
            <a:r>
              <a:rPr lang="zh-CN" altLang="en-US" b="1" dirty="0">
                <a:solidFill>
                  <a:srgbClr val="000000"/>
                </a:solidFill>
                <a:latin typeface="Times New Roman" panose="02020603050405020304" pitchFamily="18" charset="0"/>
              </a:rPr>
              <a:t>区注入到</a:t>
            </a:r>
            <a:r>
              <a:rPr lang="en-US" altLang="zh-CN" b="1" dirty="0">
                <a:solidFill>
                  <a:srgbClr val="000000"/>
                </a:solidFill>
                <a:latin typeface="Times New Roman" panose="02020603050405020304" pitchFamily="18" charset="0"/>
              </a:rPr>
              <a:t>P</a:t>
            </a:r>
            <a:r>
              <a:rPr lang="zh-CN" altLang="en-US" b="1" dirty="0">
                <a:solidFill>
                  <a:srgbClr val="000000"/>
                </a:solidFill>
                <a:latin typeface="Times New Roman" panose="02020603050405020304" pitchFamily="18" charset="0"/>
              </a:rPr>
              <a:t>区后，与在</a:t>
            </a:r>
            <a:r>
              <a:rPr lang="en-US" altLang="zh-CN" b="1" dirty="0">
                <a:solidFill>
                  <a:srgbClr val="000000"/>
                </a:solidFill>
                <a:latin typeface="Times New Roman" panose="02020603050405020304" pitchFamily="18" charset="0"/>
              </a:rPr>
              <a:t>B</a:t>
            </a:r>
            <a:r>
              <a:rPr lang="zh-CN" altLang="en-US" b="1" dirty="0">
                <a:solidFill>
                  <a:srgbClr val="000000"/>
                </a:solidFill>
                <a:latin typeface="Times New Roman" panose="02020603050405020304" pitchFamily="18" charset="0"/>
              </a:rPr>
              <a:t>点与从左方来的空穴</a:t>
            </a:r>
            <a:r>
              <a:rPr lang="en-US" altLang="zh-CN" b="1" dirty="0">
                <a:solidFill>
                  <a:srgbClr val="000000"/>
                </a:solidFill>
                <a:latin typeface="Times New Roman" panose="02020603050405020304" pitchFamily="18" charset="0"/>
              </a:rPr>
              <a:t>C</a:t>
            </a:r>
            <a:r>
              <a:rPr lang="zh-CN" altLang="en-US" b="1" dirty="0">
                <a:solidFill>
                  <a:srgbClr val="000000"/>
                </a:solidFill>
                <a:latin typeface="Times New Roman" panose="02020603050405020304" pitchFamily="18" charset="0"/>
              </a:rPr>
              <a:t>复合；</a:t>
            </a:r>
          </a:p>
          <a:p>
            <a:pPr algn="just" latinLnBrk="0">
              <a:lnSpc>
                <a:spcPct val="140000"/>
              </a:lnSpc>
            </a:pPr>
            <a:r>
              <a:rPr lang="en-US" altLang="zh-CN" b="1" dirty="0">
                <a:solidFill>
                  <a:srgbClr val="000000"/>
                </a:solidFill>
                <a:latin typeface="Times New Roman" panose="02020603050405020304" pitchFamily="18" charset="0"/>
              </a:rPr>
              <a:t>A’B’C’D’: </a:t>
            </a:r>
            <a:r>
              <a:rPr lang="zh-CN" altLang="en-US" b="1" dirty="0">
                <a:solidFill>
                  <a:srgbClr val="000000"/>
                </a:solidFill>
                <a:latin typeface="Times New Roman" panose="02020603050405020304" pitchFamily="18" charset="0"/>
              </a:rPr>
              <a:t>空穴的注入电流，</a:t>
            </a:r>
            <a:r>
              <a:rPr lang="en-US" altLang="zh-CN" b="1" dirty="0">
                <a:solidFill>
                  <a:srgbClr val="000000"/>
                </a:solidFill>
                <a:latin typeface="Times New Roman" panose="02020603050405020304" pitchFamily="18" charset="0"/>
              </a:rPr>
              <a:t>A’B’</a:t>
            </a:r>
            <a:r>
              <a:rPr lang="zh-CN" altLang="en-US" b="1" dirty="0">
                <a:solidFill>
                  <a:srgbClr val="000000"/>
                </a:solidFill>
                <a:latin typeface="Times New Roman" panose="02020603050405020304" pitchFamily="18" charset="0"/>
              </a:rPr>
              <a:t>段：空穴从</a:t>
            </a:r>
            <a:r>
              <a:rPr lang="en-US" altLang="zh-CN" b="1" dirty="0">
                <a:solidFill>
                  <a:srgbClr val="000000"/>
                </a:solidFill>
                <a:latin typeface="Times New Roman" panose="02020603050405020304" pitchFamily="18" charset="0"/>
              </a:rPr>
              <a:t>P</a:t>
            </a:r>
            <a:r>
              <a:rPr lang="zh-CN" altLang="en-US" b="1" dirty="0">
                <a:solidFill>
                  <a:srgbClr val="000000"/>
                </a:solidFill>
                <a:latin typeface="Times New Roman" panose="02020603050405020304" pitchFamily="18" charset="0"/>
              </a:rPr>
              <a:t>区注入到</a:t>
            </a:r>
            <a:r>
              <a:rPr lang="en-US" altLang="zh-CN" b="1" dirty="0">
                <a:solidFill>
                  <a:srgbClr val="000000"/>
                </a:solidFill>
                <a:latin typeface="Times New Roman" panose="02020603050405020304" pitchFamily="18" charset="0"/>
              </a:rPr>
              <a:t>N</a:t>
            </a:r>
            <a:r>
              <a:rPr lang="zh-CN" altLang="en-US" b="1" dirty="0">
                <a:solidFill>
                  <a:srgbClr val="000000"/>
                </a:solidFill>
                <a:latin typeface="Times New Roman" panose="02020603050405020304" pitchFamily="18" charset="0"/>
              </a:rPr>
              <a:t>区后，与在</a:t>
            </a:r>
            <a:r>
              <a:rPr lang="en-US" altLang="zh-CN" b="1" dirty="0">
                <a:solidFill>
                  <a:srgbClr val="000000"/>
                </a:solidFill>
                <a:latin typeface="Times New Roman" panose="02020603050405020304" pitchFamily="18" charset="0"/>
              </a:rPr>
              <a:t>B’</a:t>
            </a:r>
            <a:r>
              <a:rPr lang="zh-CN" altLang="en-US" b="1" dirty="0">
                <a:solidFill>
                  <a:srgbClr val="000000"/>
                </a:solidFill>
                <a:latin typeface="Times New Roman" panose="02020603050405020304" pitchFamily="18" charset="0"/>
              </a:rPr>
              <a:t>点与从右方来的电子</a:t>
            </a:r>
            <a:r>
              <a:rPr lang="en-US" altLang="zh-CN" b="1" dirty="0">
                <a:solidFill>
                  <a:srgbClr val="000000"/>
                </a:solidFill>
                <a:latin typeface="Times New Roman" panose="02020603050405020304" pitchFamily="18" charset="0"/>
              </a:rPr>
              <a:t>C’</a:t>
            </a:r>
            <a:r>
              <a:rPr lang="zh-CN" altLang="en-US" b="1" dirty="0">
                <a:solidFill>
                  <a:srgbClr val="000000"/>
                </a:solidFill>
                <a:latin typeface="Times New Roman" panose="02020603050405020304" pitchFamily="18" charset="0"/>
              </a:rPr>
              <a:t>复合；</a:t>
            </a:r>
          </a:p>
          <a:p>
            <a:pPr algn="just" latinLnBrk="0">
              <a:lnSpc>
                <a:spcPct val="140000"/>
              </a:lnSpc>
            </a:pPr>
            <a:r>
              <a:rPr lang="en-US" altLang="zh-CN" dirty="0">
                <a:solidFill>
                  <a:srgbClr val="0000FF"/>
                </a:solidFill>
                <a:latin typeface="黑体" panose="02010609060101010101" pitchFamily="49" charset="-122"/>
                <a:ea typeface="黑体" panose="02010609060101010101" pitchFamily="49" charset="-122"/>
              </a:rPr>
              <a:t>EFGH：PN</a:t>
            </a:r>
            <a:r>
              <a:rPr lang="zh-CN" altLang="en-US" dirty="0">
                <a:solidFill>
                  <a:srgbClr val="0000FF"/>
                </a:solidFill>
                <a:latin typeface="黑体" panose="02010609060101010101" pitchFamily="49" charset="-122"/>
                <a:ea typeface="黑体" panose="02010609060101010101" pitchFamily="49" charset="-122"/>
              </a:rPr>
              <a:t>结空间电荷区中复合中心造成的复合电流。</a:t>
            </a:r>
            <a:endParaRPr lang="en-US" altLang="zh-CN" dirty="0">
              <a:solidFill>
                <a:srgbClr val="0000FF"/>
              </a:solidFill>
              <a:latin typeface="黑体" panose="02010609060101010101" pitchFamily="49" charset="-122"/>
              <a:ea typeface="黑体" panose="02010609060101010101" pitchFamily="49" charset="-122"/>
            </a:endParaRPr>
          </a:p>
        </p:txBody>
      </p:sp>
      <p:sp>
        <p:nvSpPr>
          <p:cNvPr id="120836" name="Rectangle 4">
            <a:extLst>
              <a:ext uri="{FF2B5EF4-FFF2-40B4-BE49-F238E27FC236}">
                <a16:creationId xmlns:a16="http://schemas.microsoft.com/office/drawing/2014/main" id="{5802E689-31BF-4469-B3C2-8A4EFE28AB1C}"/>
              </a:ext>
            </a:extLst>
          </p:cNvPr>
          <p:cNvSpPr>
            <a:spLocks noChangeArrowheads="1"/>
          </p:cNvSpPr>
          <p:nvPr/>
        </p:nvSpPr>
        <p:spPr bwMode="auto">
          <a:xfrm>
            <a:off x="3124200" y="2895600"/>
            <a:ext cx="297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2000">
                <a:solidFill>
                  <a:srgbClr val="0000FF"/>
                </a:solidFill>
                <a:latin typeface="黑体" panose="02010609060101010101" pitchFamily="49" charset="-122"/>
                <a:ea typeface="黑体" panose="02010609060101010101" pitchFamily="49" charset="-122"/>
              </a:rPr>
              <a:t>空间电荷区内的复合电流</a:t>
            </a:r>
          </a:p>
        </p:txBody>
      </p:sp>
    </p:spTree>
    <p:extLst>
      <p:ext uri="{BB962C8B-B14F-4D97-AF65-F5344CB8AC3E}">
        <p14:creationId xmlns:p14="http://schemas.microsoft.com/office/powerpoint/2010/main" val="24237209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2">
            <a:extLst>
              <a:ext uri="{FF2B5EF4-FFF2-40B4-BE49-F238E27FC236}">
                <a16:creationId xmlns:a16="http://schemas.microsoft.com/office/drawing/2014/main" id="{8338F8A6-A5F8-4109-B4AD-EB8A1BC230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198688"/>
            <a:ext cx="2743200"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883" name="Picture 3">
            <a:extLst>
              <a:ext uri="{FF2B5EF4-FFF2-40B4-BE49-F238E27FC236}">
                <a16:creationId xmlns:a16="http://schemas.microsoft.com/office/drawing/2014/main" id="{A97C68ED-8183-4F4F-B4D6-FEC3FA0CE6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5399088"/>
            <a:ext cx="3733800"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884" name="Rectangle 4">
            <a:extLst>
              <a:ext uri="{FF2B5EF4-FFF2-40B4-BE49-F238E27FC236}">
                <a16:creationId xmlns:a16="http://schemas.microsoft.com/office/drawing/2014/main" id="{0685A7A4-C571-4379-A349-8433C750962E}"/>
              </a:ext>
            </a:extLst>
          </p:cNvPr>
          <p:cNvSpPr>
            <a:spLocks noChangeArrowheads="1"/>
          </p:cNvSpPr>
          <p:nvPr/>
        </p:nvSpPr>
        <p:spPr bwMode="auto">
          <a:xfrm>
            <a:off x="381000" y="1436688"/>
            <a:ext cx="263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b="1">
                <a:solidFill>
                  <a:srgbClr val="0000FF"/>
                </a:solidFill>
                <a:latin typeface="Times New Roman" panose="02020603050405020304" pitchFamily="18" charset="0"/>
              </a:rPr>
              <a:t>复合电流定义为：</a:t>
            </a:r>
          </a:p>
        </p:txBody>
      </p:sp>
      <p:sp>
        <p:nvSpPr>
          <p:cNvPr id="122885" name="Line 5">
            <a:extLst>
              <a:ext uri="{FF2B5EF4-FFF2-40B4-BE49-F238E27FC236}">
                <a16:creationId xmlns:a16="http://schemas.microsoft.com/office/drawing/2014/main" id="{FEDA2890-0B11-4D51-9FE0-0E14C2732331}"/>
              </a:ext>
            </a:extLst>
          </p:cNvPr>
          <p:cNvSpPr>
            <a:spLocks noChangeShapeType="1"/>
          </p:cNvSpPr>
          <p:nvPr/>
        </p:nvSpPr>
        <p:spPr bwMode="auto">
          <a:xfrm>
            <a:off x="3276600" y="2655888"/>
            <a:ext cx="762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886" name="Oval 6">
            <a:extLst>
              <a:ext uri="{FF2B5EF4-FFF2-40B4-BE49-F238E27FC236}">
                <a16:creationId xmlns:a16="http://schemas.microsoft.com/office/drawing/2014/main" id="{3C481EBA-8575-4B0F-8691-0C3C95A8D50F}"/>
              </a:ext>
            </a:extLst>
          </p:cNvPr>
          <p:cNvSpPr>
            <a:spLocks noChangeArrowheads="1"/>
          </p:cNvSpPr>
          <p:nvPr/>
        </p:nvSpPr>
        <p:spPr bwMode="auto">
          <a:xfrm>
            <a:off x="4343400" y="2122488"/>
            <a:ext cx="381000" cy="304800"/>
          </a:xfrm>
          <a:prstGeom prst="ellipse">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887" name="Rectangle 7">
            <a:extLst>
              <a:ext uri="{FF2B5EF4-FFF2-40B4-BE49-F238E27FC236}">
                <a16:creationId xmlns:a16="http://schemas.microsoft.com/office/drawing/2014/main" id="{8C4A029B-9016-4D6A-A514-647C5B9D70A8}"/>
              </a:ext>
            </a:extLst>
          </p:cNvPr>
          <p:cNvSpPr>
            <a:spLocks noChangeArrowheads="1"/>
          </p:cNvSpPr>
          <p:nvPr/>
        </p:nvSpPr>
        <p:spPr bwMode="auto">
          <a:xfrm>
            <a:off x="4648200" y="1893888"/>
            <a:ext cx="2012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000000"/>
                </a:solidFill>
                <a:latin typeface="Times New Roman" panose="02020603050405020304" pitchFamily="18" charset="0"/>
                <a:ea typeface="黑体" panose="02010609060101010101" pitchFamily="49" charset="-122"/>
              </a:rPr>
              <a:t>空间电荷区的宽度</a:t>
            </a:r>
          </a:p>
        </p:txBody>
      </p:sp>
      <p:sp>
        <p:nvSpPr>
          <p:cNvPr id="122888" name="Rectangle 8">
            <a:extLst>
              <a:ext uri="{FF2B5EF4-FFF2-40B4-BE49-F238E27FC236}">
                <a16:creationId xmlns:a16="http://schemas.microsoft.com/office/drawing/2014/main" id="{9ABC1ACF-D0F4-43CD-98B1-9ED304379424}"/>
              </a:ext>
            </a:extLst>
          </p:cNvPr>
          <p:cNvSpPr>
            <a:spLocks noChangeArrowheads="1"/>
          </p:cNvSpPr>
          <p:nvPr/>
        </p:nvSpPr>
        <p:spPr bwMode="auto">
          <a:xfrm>
            <a:off x="4648200" y="2960688"/>
            <a:ext cx="361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1800">
                <a:solidFill>
                  <a:srgbClr val="000000"/>
                </a:solidFill>
                <a:latin typeface="Times New Roman" panose="02020603050405020304" pitchFamily="18" charset="0"/>
                <a:ea typeface="黑体" panose="02010609060101010101" pitchFamily="49" charset="-122"/>
              </a:rPr>
              <a:t>载流子通过复合中心复合的复合率</a:t>
            </a:r>
          </a:p>
        </p:txBody>
      </p:sp>
      <p:sp>
        <p:nvSpPr>
          <p:cNvPr id="122889" name="Rectangle 9">
            <a:extLst>
              <a:ext uri="{FF2B5EF4-FFF2-40B4-BE49-F238E27FC236}">
                <a16:creationId xmlns:a16="http://schemas.microsoft.com/office/drawing/2014/main" id="{5C349033-A4E8-4744-8CCC-63BFC31B85E7}"/>
              </a:ext>
            </a:extLst>
          </p:cNvPr>
          <p:cNvSpPr>
            <a:spLocks noChangeArrowheads="1"/>
          </p:cNvSpPr>
          <p:nvPr/>
        </p:nvSpPr>
        <p:spPr bwMode="auto">
          <a:xfrm>
            <a:off x="381000" y="3341688"/>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0"/>
            <a:r>
              <a:rPr lang="zh-CN" altLang="en-US" b="1">
                <a:solidFill>
                  <a:srgbClr val="0000FF"/>
                </a:solidFill>
                <a:latin typeface="Times New Roman" panose="02020603050405020304" pitchFamily="18" charset="0"/>
              </a:rPr>
              <a:t>最大复合率</a:t>
            </a:r>
            <a:r>
              <a:rPr lang="zh-CN" altLang="en-US" b="1">
                <a:solidFill>
                  <a:srgbClr val="FF0000"/>
                </a:solidFill>
                <a:latin typeface="Times New Roman" panose="02020603050405020304" pitchFamily="18" charset="0"/>
              </a:rPr>
              <a:t>（</a:t>
            </a:r>
            <a:r>
              <a:rPr lang="en-US" altLang="zh-CN" sz="2000" b="1" i="1">
                <a:solidFill>
                  <a:srgbClr val="FF0000"/>
                </a:solidFill>
                <a:latin typeface="Times New Roman" panose="02020603050405020304" pitchFamily="18" charset="0"/>
              </a:rPr>
              <a:t>E</a:t>
            </a:r>
            <a:r>
              <a:rPr lang="en-US" altLang="zh-CN" sz="2000" b="1" i="1" baseline="-25000">
                <a:solidFill>
                  <a:srgbClr val="FF0000"/>
                </a:solidFill>
                <a:latin typeface="Times New Roman" panose="02020603050405020304" pitchFamily="18" charset="0"/>
              </a:rPr>
              <a:t>t </a:t>
            </a:r>
            <a:r>
              <a:rPr lang="en-US" altLang="zh-CN" sz="2000" b="1">
                <a:solidFill>
                  <a:srgbClr val="FF0000"/>
                </a:solidFill>
                <a:latin typeface="Times New Roman" panose="02020603050405020304" pitchFamily="18" charset="0"/>
              </a:rPr>
              <a:t>= </a:t>
            </a:r>
            <a:r>
              <a:rPr lang="en-US" altLang="zh-CN" sz="2000" b="1" i="1">
                <a:solidFill>
                  <a:srgbClr val="FF0000"/>
                </a:solidFill>
                <a:latin typeface="Times New Roman" panose="02020603050405020304" pitchFamily="18" charset="0"/>
              </a:rPr>
              <a:t>E</a:t>
            </a:r>
            <a:r>
              <a:rPr lang="en-US" altLang="zh-CN" sz="2000" b="1" i="1" baseline="-25000">
                <a:solidFill>
                  <a:srgbClr val="FF0000"/>
                </a:solidFill>
                <a:latin typeface="Times New Roman" panose="02020603050405020304" pitchFamily="18" charset="0"/>
              </a:rPr>
              <a:t>i </a:t>
            </a:r>
            <a:r>
              <a:rPr lang="zh-CN" altLang="en-US" sz="2000" b="1">
                <a:solidFill>
                  <a:srgbClr val="FF0000"/>
                </a:solidFill>
                <a:latin typeface="Times New Roman" panose="02020603050405020304" pitchFamily="18" charset="0"/>
              </a:rPr>
              <a:t>时）</a:t>
            </a:r>
            <a:r>
              <a:rPr lang="zh-CN" altLang="en-US" b="1">
                <a:solidFill>
                  <a:srgbClr val="0000FF"/>
                </a:solidFill>
                <a:latin typeface="Times New Roman" panose="02020603050405020304" pitchFamily="18" charset="0"/>
              </a:rPr>
              <a:t>：</a:t>
            </a:r>
          </a:p>
        </p:txBody>
      </p:sp>
      <p:pic>
        <p:nvPicPr>
          <p:cNvPr id="122890" name="Picture 10">
            <a:extLst>
              <a:ext uri="{FF2B5EF4-FFF2-40B4-BE49-F238E27FC236}">
                <a16:creationId xmlns:a16="http://schemas.microsoft.com/office/drawing/2014/main" id="{7436E897-4B52-4DB6-9885-37CFBC60E0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700" y="3963714"/>
            <a:ext cx="5257800"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891" name="AutoShape 11">
            <a:extLst>
              <a:ext uri="{FF2B5EF4-FFF2-40B4-BE49-F238E27FC236}">
                <a16:creationId xmlns:a16="http://schemas.microsoft.com/office/drawing/2014/main" id="{BE3D4960-8F31-4C57-9A48-DBA3ABFA0459}"/>
              </a:ext>
            </a:extLst>
          </p:cNvPr>
          <p:cNvSpPr>
            <a:spLocks noChangeArrowheads="1"/>
          </p:cNvSpPr>
          <p:nvPr/>
        </p:nvSpPr>
        <p:spPr bwMode="auto">
          <a:xfrm>
            <a:off x="6934200" y="4484688"/>
            <a:ext cx="1524000" cy="1524000"/>
          </a:xfrm>
          <a:prstGeom prst="curvedLeftArrow">
            <a:avLst>
              <a:gd name="adj1" fmla="val 15000"/>
              <a:gd name="adj2" fmla="val 40000"/>
              <a:gd name="adj3" fmla="val 30833"/>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893" name="Oval 13">
            <a:extLst>
              <a:ext uri="{FF2B5EF4-FFF2-40B4-BE49-F238E27FC236}">
                <a16:creationId xmlns:a16="http://schemas.microsoft.com/office/drawing/2014/main" id="{EF9CEF04-374F-48C2-823E-FD83CF81DACC}"/>
              </a:ext>
            </a:extLst>
          </p:cNvPr>
          <p:cNvSpPr>
            <a:spLocks noChangeArrowheads="1"/>
          </p:cNvSpPr>
          <p:nvPr/>
        </p:nvSpPr>
        <p:spPr bwMode="auto">
          <a:xfrm>
            <a:off x="4114800" y="5703888"/>
            <a:ext cx="1066800" cy="533400"/>
          </a:xfrm>
          <a:prstGeom prst="ellipse">
            <a:avLst/>
          </a:prstGeom>
          <a:noFill/>
          <a:ln w="2857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894" name="Rectangle 14">
            <a:extLst>
              <a:ext uri="{FF2B5EF4-FFF2-40B4-BE49-F238E27FC236}">
                <a16:creationId xmlns:a16="http://schemas.microsoft.com/office/drawing/2014/main" id="{3BF6F731-A83F-4D6B-B314-140EBA527A4B}"/>
              </a:ext>
            </a:extLst>
          </p:cNvPr>
          <p:cNvSpPr>
            <a:spLocks noChangeArrowheads="1"/>
          </p:cNvSpPr>
          <p:nvPr/>
        </p:nvSpPr>
        <p:spPr bwMode="auto">
          <a:xfrm>
            <a:off x="7924800" y="4941888"/>
            <a:ext cx="8651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en-US" altLang="zh-CN" sz="2000" b="1" i="1">
                <a:solidFill>
                  <a:srgbClr val="FF0000"/>
                </a:solidFill>
                <a:latin typeface="Times New Roman" panose="02020603050405020304" pitchFamily="18" charset="0"/>
              </a:rPr>
              <a:t>E</a:t>
            </a:r>
            <a:r>
              <a:rPr lang="en-US" altLang="zh-CN" sz="2000" b="1" i="1" baseline="-25000">
                <a:solidFill>
                  <a:srgbClr val="FF0000"/>
                </a:solidFill>
                <a:latin typeface="Times New Roman" panose="02020603050405020304" pitchFamily="18" charset="0"/>
              </a:rPr>
              <a:t>t </a:t>
            </a:r>
            <a:r>
              <a:rPr lang="en-US" altLang="zh-CN" sz="2000" b="1">
                <a:solidFill>
                  <a:srgbClr val="FF0000"/>
                </a:solidFill>
                <a:latin typeface="Times New Roman" panose="02020603050405020304" pitchFamily="18" charset="0"/>
              </a:rPr>
              <a:t>= </a:t>
            </a:r>
            <a:r>
              <a:rPr lang="en-US" altLang="zh-CN" sz="2000" b="1" i="1">
                <a:solidFill>
                  <a:srgbClr val="FF0000"/>
                </a:solidFill>
                <a:latin typeface="Times New Roman" panose="02020603050405020304" pitchFamily="18" charset="0"/>
              </a:rPr>
              <a:t>E</a:t>
            </a:r>
            <a:r>
              <a:rPr lang="en-US" altLang="zh-CN" sz="2000" b="1" i="1" baseline="-25000">
                <a:solidFill>
                  <a:srgbClr val="FF0000"/>
                </a:solidFill>
                <a:latin typeface="Times New Roman" panose="02020603050405020304" pitchFamily="18" charset="0"/>
              </a:rPr>
              <a:t>i</a:t>
            </a:r>
            <a:endParaRPr lang="zh-CN" altLang="en-US" sz="2000" b="1" i="1" baseline="-2500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31013483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a:extLst>
              <a:ext uri="{FF2B5EF4-FFF2-40B4-BE49-F238E27FC236}">
                <a16:creationId xmlns:a16="http://schemas.microsoft.com/office/drawing/2014/main" id="{A375ABAE-34F2-49C6-A83D-A154F4E88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411538"/>
            <a:ext cx="3352800" cy="76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07" name="Picture 3">
            <a:extLst>
              <a:ext uri="{FF2B5EF4-FFF2-40B4-BE49-F238E27FC236}">
                <a16:creationId xmlns:a16="http://schemas.microsoft.com/office/drawing/2014/main" id="{E720E90A-9601-4615-8A12-5B77AF5B5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4554538"/>
            <a:ext cx="3886200" cy="60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08" name="Picture 4">
            <a:extLst>
              <a:ext uri="{FF2B5EF4-FFF2-40B4-BE49-F238E27FC236}">
                <a16:creationId xmlns:a16="http://schemas.microsoft.com/office/drawing/2014/main" id="{3686C1F7-09AC-40E4-B26D-439012A30A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5545138"/>
            <a:ext cx="2362200"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09" name="Picture 5">
            <a:extLst>
              <a:ext uri="{FF2B5EF4-FFF2-40B4-BE49-F238E27FC236}">
                <a16:creationId xmlns:a16="http://schemas.microsoft.com/office/drawing/2014/main" id="{0D28C5F0-0A5D-4CC7-BF12-CFBC7A2B35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4663" y="1125538"/>
            <a:ext cx="2514600"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10" name="Picture 6">
            <a:extLst>
              <a:ext uri="{FF2B5EF4-FFF2-40B4-BE49-F238E27FC236}">
                <a16:creationId xmlns:a16="http://schemas.microsoft.com/office/drawing/2014/main" id="{25FAF26D-E066-4243-A3C7-C401720701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1341438"/>
            <a:ext cx="4572000" cy="46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11" name="Picture 7">
            <a:extLst>
              <a:ext uri="{FF2B5EF4-FFF2-40B4-BE49-F238E27FC236}">
                <a16:creationId xmlns:a16="http://schemas.microsoft.com/office/drawing/2014/main" id="{DD692A48-F1F9-4AA1-A58D-5A9BF4DF03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68538"/>
            <a:ext cx="2514600" cy="588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12" name="AutoShape 8">
            <a:extLst>
              <a:ext uri="{FF2B5EF4-FFF2-40B4-BE49-F238E27FC236}">
                <a16:creationId xmlns:a16="http://schemas.microsoft.com/office/drawing/2014/main" id="{3CF125D2-31E0-4C81-AFBC-5C25671EDDDA}"/>
              </a:ext>
            </a:extLst>
          </p:cNvPr>
          <p:cNvSpPr>
            <a:spLocks noChangeArrowheads="1"/>
          </p:cNvSpPr>
          <p:nvPr/>
        </p:nvSpPr>
        <p:spPr bwMode="auto">
          <a:xfrm>
            <a:off x="6216650" y="1582738"/>
            <a:ext cx="1524000" cy="1219200"/>
          </a:xfrm>
          <a:prstGeom prst="curvedLeftArrow">
            <a:avLst>
              <a:gd name="adj1" fmla="val 15000"/>
              <a:gd name="adj2" fmla="val 40000"/>
              <a:gd name="adj3" fmla="val 38542"/>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3" name="Rectangle 9">
            <a:extLst>
              <a:ext uri="{FF2B5EF4-FFF2-40B4-BE49-F238E27FC236}">
                <a16:creationId xmlns:a16="http://schemas.microsoft.com/office/drawing/2014/main" id="{67F29066-1E39-4288-AF66-031E5C61896F}"/>
              </a:ext>
            </a:extLst>
          </p:cNvPr>
          <p:cNvSpPr>
            <a:spLocks noChangeArrowheads="1"/>
          </p:cNvSpPr>
          <p:nvPr/>
        </p:nvSpPr>
        <p:spPr bwMode="auto">
          <a:xfrm>
            <a:off x="6629400" y="1735138"/>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b="1">
                <a:solidFill>
                  <a:srgbClr val="0000FF"/>
                </a:solidFill>
                <a:latin typeface="Times New Roman" panose="02020603050405020304" pitchFamily="18" charset="0"/>
              </a:rPr>
              <a:t>可得</a:t>
            </a:r>
          </a:p>
        </p:txBody>
      </p:sp>
      <p:sp>
        <p:nvSpPr>
          <p:cNvPr id="123914" name="Rectangle 10">
            <a:extLst>
              <a:ext uri="{FF2B5EF4-FFF2-40B4-BE49-F238E27FC236}">
                <a16:creationId xmlns:a16="http://schemas.microsoft.com/office/drawing/2014/main" id="{891975BD-40CE-41E5-8A1E-EA18EB9C9208}"/>
              </a:ext>
            </a:extLst>
          </p:cNvPr>
          <p:cNvSpPr>
            <a:spLocks noChangeArrowheads="1"/>
          </p:cNvSpPr>
          <p:nvPr/>
        </p:nvSpPr>
        <p:spPr bwMode="auto">
          <a:xfrm>
            <a:off x="533400" y="3259138"/>
            <a:ext cx="2022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b="1">
                <a:solidFill>
                  <a:srgbClr val="0000FF"/>
                </a:solidFill>
                <a:latin typeface="Times New Roman" panose="02020603050405020304" pitchFamily="18" charset="0"/>
              </a:rPr>
              <a:t>最大复合率：</a:t>
            </a:r>
          </a:p>
        </p:txBody>
      </p:sp>
      <p:sp>
        <p:nvSpPr>
          <p:cNvPr id="123915" name="AutoShape 11">
            <a:extLst>
              <a:ext uri="{FF2B5EF4-FFF2-40B4-BE49-F238E27FC236}">
                <a16:creationId xmlns:a16="http://schemas.microsoft.com/office/drawing/2014/main" id="{33AB5DF0-BFB4-4A90-8F28-F694F5BEF67A}"/>
              </a:ext>
            </a:extLst>
          </p:cNvPr>
          <p:cNvSpPr>
            <a:spLocks noChangeArrowheads="1"/>
          </p:cNvSpPr>
          <p:nvPr/>
        </p:nvSpPr>
        <p:spPr bwMode="auto">
          <a:xfrm>
            <a:off x="6248400" y="2573338"/>
            <a:ext cx="1524000" cy="1524000"/>
          </a:xfrm>
          <a:prstGeom prst="curvedLeftArrow">
            <a:avLst>
              <a:gd name="adj1" fmla="val 15000"/>
              <a:gd name="adj2" fmla="val 40000"/>
              <a:gd name="adj3" fmla="val 30833"/>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23916" name="Picture 12">
            <a:extLst>
              <a:ext uri="{FF2B5EF4-FFF2-40B4-BE49-F238E27FC236}">
                <a16:creationId xmlns:a16="http://schemas.microsoft.com/office/drawing/2014/main" id="{1BDFDE17-42E5-428A-A787-B306E66B860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0200" y="2573338"/>
            <a:ext cx="3733800"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17" name="AutoShape 13">
            <a:extLst>
              <a:ext uri="{FF2B5EF4-FFF2-40B4-BE49-F238E27FC236}">
                <a16:creationId xmlns:a16="http://schemas.microsoft.com/office/drawing/2014/main" id="{52DFBE18-20C0-4AB4-BADA-96BB59EF4C70}"/>
              </a:ext>
            </a:extLst>
          </p:cNvPr>
          <p:cNvSpPr>
            <a:spLocks noChangeArrowheads="1"/>
          </p:cNvSpPr>
          <p:nvPr/>
        </p:nvSpPr>
        <p:spPr bwMode="auto">
          <a:xfrm flipH="1">
            <a:off x="2286000" y="3868738"/>
            <a:ext cx="762000" cy="1371600"/>
          </a:xfrm>
          <a:prstGeom prst="curvedLeftArrow">
            <a:avLst>
              <a:gd name="adj1" fmla="val 27000"/>
              <a:gd name="adj2" fmla="val 72000"/>
              <a:gd name="adj3" fmla="val 30833"/>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23918" name="Picture 14">
            <a:extLst>
              <a:ext uri="{FF2B5EF4-FFF2-40B4-BE49-F238E27FC236}">
                <a16:creationId xmlns:a16="http://schemas.microsoft.com/office/drawing/2014/main" id="{F99934E6-8813-41E8-9B4F-CB85B77CD3F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4021138"/>
            <a:ext cx="2743200"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19" name="Oval 15">
            <a:extLst>
              <a:ext uri="{FF2B5EF4-FFF2-40B4-BE49-F238E27FC236}">
                <a16:creationId xmlns:a16="http://schemas.microsoft.com/office/drawing/2014/main" id="{A9E7F0C3-60AE-4169-872B-5BF883F0B8D2}"/>
              </a:ext>
            </a:extLst>
          </p:cNvPr>
          <p:cNvSpPr>
            <a:spLocks noChangeArrowheads="1"/>
          </p:cNvSpPr>
          <p:nvPr/>
        </p:nvSpPr>
        <p:spPr bwMode="auto">
          <a:xfrm>
            <a:off x="5867400" y="4630738"/>
            <a:ext cx="304800" cy="609600"/>
          </a:xfrm>
          <a:prstGeom prst="ellipse">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20" name="Line 16">
            <a:extLst>
              <a:ext uri="{FF2B5EF4-FFF2-40B4-BE49-F238E27FC236}">
                <a16:creationId xmlns:a16="http://schemas.microsoft.com/office/drawing/2014/main" id="{C4C3A868-7302-4878-B06E-81F6F5A7A83C}"/>
              </a:ext>
            </a:extLst>
          </p:cNvPr>
          <p:cNvSpPr>
            <a:spLocks noChangeShapeType="1"/>
          </p:cNvSpPr>
          <p:nvPr/>
        </p:nvSpPr>
        <p:spPr bwMode="auto">
          <a:xfrm>
            <a:off x="6019800" y="5240338"/>
            <a:ext cx="0" cy="609600"/>
          </a:xfrm>
          <a:prstGeom prst="line">
            <a:avLst/>
          </a:prstGeom>
          <a:noFill/>
          <a:ln w="28575">
            <a:solidFill>
              <a:srgbClr val="0000FF"/>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21312916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40" name="Rectangle 4">
            <a:extLst>
              <a:ext uri="{FF2B5EF4-FFF2-40B4-BE49-F238E27FC236}">
                <a16:creationId xmlns:a16="http://schemas.microsoft.com/office/drawing/2014/main" id="{DD6E9EC4-BFE0-43AF-9474-8C6126DCD9C7}"/>
              </a:ext>
            </a:extLst>
          </p:cNvPr>
          <p:cNvSpPr>
            <a:spLocks noChangeArrowheads="1"/>
          </p:cNvSpPr>
          <p:nvPr/>
        </p:nvSpPr>
        <p:spPr bwMode="auto">
          <a:xfrm>
            <a:off x="611188" y="5659438"/>
            <a:ext cx="162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其中：</a:t>
            </a:r>
          </a:p>
        </p:txBody>
      </p:sp>
      <p:graphicFrame>
        <p:nvGraphicFramePr>
          <p:cNvPr id="551941" name="Object 5">
            <a:extLst>
              <a:ext uri="{FF2B5EF4-FFF2-40B4-BE49-F238E27FC236}">
                <a16:creationId xmlns:a16="http://schemas.microsoft.com/office/drawing/2014/main" id="{15B46276-E0D8-45E0-906B-8F73C60053DF}"/>
              </a:ext>
            </a:extLst>
          </p:cNvPr>
          <p:cNvGraphicFramePr>
            <a:graphicFrameLocks noChangeAspect="1"/>
          </p:cNvGraphicFramePr>
          <p:nvPr/>
        </p:nvGraphicFramePr>
        <p:xfrm>
          <a:off x="1403350" y="5516563"/>
          <a:ext cx="1408113" cy="790575"/>
        </p:xfrm>
        <a:graphic>
          <a:graphicData uri="http://schemas.openxmlformats.org/presentationml/2006/ole">
            <mc:AlternateContent xmlns:mc="http://schemas.openxmlformats.org/markup-compatibility/2006">
              <mc:Choice xmlns:v="urn:schemas-microsoft-com:vml" Requires="v">
                <p:oleObj spid="_x0000_s131416" name="Equation" r:id="rId3" imgW="774364" imgH="431613" progId="Equation.DSMT4">
                  <p:embed/>
                </p:oleObj>
              </mc:Choice>
              <mc:Fallback>
                <p:oleObj name="Equation" r:id="rId3" imgW="774364" imgH="431613" progId="Equation.DSMT4">
                  <p:embed/>
                  <p:pic>
                    <p:nvPicPr>
                      <p:cNvPr id="551941" name="Object 5">
                        <a:extLst>
                          <a:ext uri="{FF2B5EF4-FFF2-40B4-BE49-F238E27FC236}">
                            <a16:creationId xmlns:a16="http://schemas.microsoft.com/office/drawing/2014/main" id="{15B46276-E0D8-45E0-906B-8F73C60053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5516563"/>
                        <a:ext cx="1408113"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6">
            <a:extLst>
              <a:ext uri="{FF2B5EF4-FFF2-40B4-BE49-F238E27FC236}">
                <a16:creationId xmlns:a16="http://schemas.microsoft.com/office/drawing/2014/main" id="{66DB5718-FB7C-42C5-BC23-8B29CCE9B84B}"/>
              </a:ext>
            </a:extLst>
          </p:cNvPr>
          <p:cNvGrpSpPr>
            <a:grpSpLocks/>
          </p:cNvGrpSpPr>
          <p:nvPr/>
        </p:nvGrpSpPr>
        <p:grpSpPr bwMode="auto">
          <a:xfrm>
            <a:off x="611188" y="4724400"/>
            <a:ext cx="4346784" cy="790575"/>
            <a:chOff x="385" y="2976"/>
            <a:chExt cx="2429" cy="498"/>
          </a:xfrm>
        </p:grpSpPr>
        <p:graphicFrame>
          <p:nvGraphicFramePr>
            <p:cNvPr id="45073" name="Object 8">
              <a:extLst>
                <a:ext uri="{FF2B5EF4-FFF2-40B4-BE49-F238E27FC236}">
                  <a16:creationId xmlns:a16="http://schemas.microsoft.com/office/drawing/2014/main" id="{9A45D09A-4F69-4AAF-AE6B-370FE7D1C28C}"/>
                </a:ext>
              </a:extLst>
            </p:cNvPr>
            <p:cNvGraphicFramePr>
              <a:graphicFrameLocks noChangeAspect="1"/>
            </p:cNvGraphicFramePr>
            <p:nvPr>
              <p:extLst>
                <p:ext uri="{D42A27DB-BD31-4B8C-83A1-F6EECF244321}">
                  <p14:modId xmlns:p14="http://schemas.microsoft.com/office/powerpoint/2010/main" val="2397207224"/>
                </p:ext>
              </p:extLst>
            </p:nvPr>
          </p:nvGraphicFramePr>
          <p:xfrm>
            <a:off x="793" y="2976"/>
            <a:ext cx="2021" cy="498"/>
          </p:xfrm>
          <a:graphic>
            <a:graphicData uri="http://schemas.openxmlformats.org/presentationml/2006/ole">
              <mc:AlternateContent xmlns:mc="http://schemas.openxmlformats.org/markup-compatibility/2006">
                <mc:Choice xmlns:v="urn:schemas-microsoft-com:vml" Requires="v">
                  <p:oleObj spid="_x0000_s131417" name="Equation" r:id="rId5" imgW="1765300" imgH="431800" progId="Equation.DSMT4">
                    <p:embed/>
                  </p:oleObj>
                </mc:Choice>
                <mc:Fallback>
                  <p:oleObj name="Equation" r:id="rId5" imgW="1765300" imgH="431800" progId="Equation.DSMT4">
                    <p:embed/>
                    <p:pic>
                      <p:nvPicPr>
                        <p:cNvPr id="45073" name="Object 8">
                          <a:extLst>
                            <a:ext uri="{FF2B5EF4-FFF2-40B4-BE49-F238E27FC236}">
                              <a16:creationId xmlns:a16="http://schemas.microsoft.com/office/drawing/2014/main" id="{9A45D09A-4F69-4AAF-AE6B-370FE7D1C2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 y="2976"/>
                          <a:ext cx="2021" cy="498"/>
                        </a:xfrm>
                        <a:prstGeom prst="rect">
                          <a:avLst/>
                        </a:prstGeom>
                        <a:noFill/>
                        <a:ln>
                          <a:solidFill>
                            <a:schemeClr val="accent1"/>
                          </a:solidFill>
                        </a:ln>
                        <a:extLst/>
                      </p:spPr>
                    </p:pic>
                  </p:oleObj>
                </mc:Fallback>
              </mc:AlternateContent>
            </a:graphicData>
          </a:graphic>
        </p:graphicFrame>
        <p:sp>
          <p:nvSpPr>
            <p:cNvPr id="45074" name="Rectangle 9">
              <a:extLst>
                <a:ext uri="{FF2B5EF4-FFF2-40B4-BE49-F238E27FC236}">
                  <a16:creationId xmlns:a16="http://schemas.microsoft.com/office/drawing/2014/main" id="{033F2DDF-37C8-4BAC-9285-30BF18236A91}"/>
                </a:ext>
              </a:extLst>
            </p:cNvPr>
            <p:cNvSpPr>
              <a:spLocks noChangeArrowheads="1"/>
            </p:cNvSpPr>
            <p:nvPr/>
          </p:nvSpPr>
          <p:spPr bwMode="auto">
            <a:xfrm>
              <a:off x="385" y="3066"/>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得：</a:t>
              </a:r>
            </a:p>
          </p:txBody>
        </p:sp>
      </p:grpSp>
      <p:graphicFrame>
        <p:nvGraphicFramePr>
          <p:cNvPr id="551947" name="Object 11">
            <a:extLst>
              <a:ext uri="{FF2B5EF4-FFF2-40B4-BE49-F238E27FC236}">
                <a16:creationId xmlns:a16="http://schemas.microsoft.com/office/drawing/2014/main" id="{043AB7F6-8FC3-457B-97E6-C9AE0331ED66}"/>
              </a:ext>
            </a:extLst>
          </p:cNvPr>
          <p:cNvGraphicFramePr>
            <a:graphicFrameLocks noChangeAspect="1"/>
          </p:cNvGraphicFramePr>
          <p:nvPr/>
        </p:nvGraphicFramePr>
        <p:xfrm>
          <a:off x="2700338" y="3933825"/>
          <a:ext cx="1747837" cy="727075"/>
        </p:xfrm>
        <a:graphic>
          <a:graphicData uri="http://schemas.openxmlformats.org/presentationml/2006/ole">
            <mc:AlternateContent xmlns:mc="http://schemas.openxmlformats.org/markup-compatibility/2006">
              <mc:Choice xmlns:v="urn:schemas-microsoft-com:vml" Requires="v">
                <p:oleObj spid="_x0000_s131418" r:id="rId7" imgW="1079032" imgH="444307" progId="Equation.3">
                  <p:embed/>
                </p:oleObj>
              </mc:Choice>
              <mc:Fallback>
                <p:oleObj r:id="rId7" imgW="1079032" imgH="444307" progId="Equation.3">
                  <p:embed/>
                  <p:pic>
                    <p:nvPicPr>
                      <p:cNvPr id="551947" name="Object 11">
                        <a:extLst>
                          <a:ext uri="{FF2B5EF4-FFF2-40B4-BE49-F238E27FC236}">
                            <a16:creationId xmlns:a16="http://schemas.microsoft.com/office/drawing/2014/main" id="{043AB7F6-8FC3-457B-97E6-C9AE0331ED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0338" y="3933825"/>
                        <a:ext cx="1747837"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1948" name="Text Box 12">
            <a:extLst>
              <a:ext uri="{FF2B5EF4-FFF2-40B4-BE49-F238E27FC236}">
                <a16:creationId xmlns:a16="http://schemas.microsoft.com/office/drawing/2014/main" id="{BAD60058-A513-421F-AA79-921255CA1A55}"/>
              </a:ext>
            </a:extLst>
          </p:cNvPr>
          <p:cNvSpPr txBox="1">
            <a:spLocks noChangeArrowheads="1"/>
          </p:cNvSpPr>
          <p:nvPr/>
        </p:nvSpPr>
        <p:spPr bwMode="auto">
          <a:xfrm>
            <a:off x="611188" y="3284538"/>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000" b="1">
                <a:solidFill>
                  <a:srgbClr val="000066"/>
                </a:solidFill>
              </a:rPr>
              <a:t>最大复合率为</a:t>
            </a:r>
            <a:r>
              <a:rPr lang="en-US" altLang="zh-CN" sz="2000" b="1">
                <a:solidFill>
                  <a:srgbClr val="000066"/>
                </a:solidFill>
              </a:rPr>
              <a:t>:</a:t>
            </a:r>
          </a:p>
        </p:txBody>
      </p:sp>
      <p:sp>
        <p:nvSpPr>
          <p:cNvPr id="551949" name="Rectangle 13">
            <a:extLst>
              <a:ext uri="{FF2B5EF4-FFF2-40B4-BE49-F238E27FC236}">
                <a16:creationId xmlns:a16="http://schemas.microsoft.com/office/drawing/2014/main" id="{5DFBEA35-0442-41AF-8D81-794F037C9B30}"/>
              </a:ext>
            </a:extLst>
          </p:cNvPr>
          <p:cNvSpPr>
            <a:spLocks noChangeArrowheads="1"/>
          </p:cNvSpPr>
          <p:nvPr/>
        </p:nvSpPr>
        <p:spPr bwMode="auto">
          <a:xfrm>
            <a:off x="323850" y="1628775"/>
            <a:ext cx="2447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考虑最大复合影响</a:t>
            </a:r>
          </a:p>
        </p:txBody>
      </p:sp>
      <p:graphicFrame>
        <p:nvGraphicFramePr>
          <p:cNvPr id="551950" name="Object 14">
            <a:extLst>
              <a:ext uri="{FF2B5EF4-FFF2-40B4-BE49-F238E27FC236}">
                <a16:creationId xmlns:a16="http://schemas.microsoft.com/office/drawing/2014/main" id="{D453C97D-4F2D-47F3-946D-FD9FFD1D53F2}"/>
              </a:ext>
            </a:extLst>
          </p:cNvPr>
          <p:cNvGraphicFramePr>
            <a:graphicFrameLocks noChangeAspect="1"/>
          </p:cNvGraphicFramePr>
          <p:nvPr/>
        </p:nvGraphicFramePr>
        <p:xfrm>
          <a:off x="2546350" y="1643063"/>
          <a:ext cx="946150" cy="417512"/>
        </p:xfrm>
        <a:graphic>
          <a:graphicData uri="http://schemas.openxmlformats.org/presentationml/2006/ole">
            <mc:AlternateContent xmlns:mc="http://schemas.openxmlformats.org/markup-compatibility/2006">
              <mc:Choice xmlns:v="urn:schemas-microsoft-com:vml" Requires="v">
                <p:oleObj spid="_x0000_s131419" name="Equation" r:id="rId9" imgW="520700" imgH="228600" progId="Equation.DSMT4">
                  <p:embed/>
                </p:oleObj>
              </mc:Choice>
              <mc:Fallback>
                <p:oleObj name="Equation" r:id="rId9" imgW="520700" imgH="228600" progId="Equation.DSMT4">
                  <p:embed/>
                  <p:pic>
                    <p:nvPicPr>
                      <p:cNvPr id="551950" name="Object 14">
                        <a:extLst>
                          <a:ext uri="{FF2B5EF4-FFF2-40B4-BE49-F238E27FC236}">
                            <a16:creationId xmlns:a16="http://schemas.microsoft.com/office/drawing/2014/main" id="{D453C97D-4F2D-47F3-946D-FD9FFD1D53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46350" y="1643063"/>
                        <a:ext cx="94615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1951" name="Object 15">
            <a:extLst>
              <a:ext uri="{FF2B5EF4-FFF2-40B4-BE49-F238E27FC236}">
                <a16:creationId xmlns:a16="http://schemas.microsoft.com/office/drawing/2014/main" id="{BCF6AC54-91EA-46A8-BAD0-8EEC55898936}"/>
              </a:ext>
            </a:extLst>
          </p:cNvPr>
          <p:cNvGraphicFramePr>
            <a:graphicFrameLocks noChangeAspect="1"/>
          </p:cNvGraphicFramePr>
          <p:nvPr/>
        </p:nvGraphicFramePr>
        <p:xfrm>
          <a:off x="4645025" y="1431925"/>
          <a:ext cx="2794000" cy="809625"/>
        </p:xfrm>
        <a:graphic>
          <a:graphicData uri="http://schemas.openxmlformats.org/presentationml/2006/ole">
            <mc:AlternateContent xmlns:mc="http://schemas.openxmlformats.org/markup-compatibility/2006">
              <mc:Choice xmlns:v="urn:schemas-microsoft-com:vml" Requires="v">
                <p:oleObj spid="_x0000_s131420" name="Equation" r:id="rId11" imgW="1209759" imgH="447693" progId="Equation.DSMT4">
                  <p:embed/>
                </p:oleObj>
              </mc:Choice>
              <mc:Fallback>
                <p:oleObj name="Equation" r:id="rId11" imgW="1209759" imgH="447693" progId="Equation.DSMT4">
                  <p:embed/>
                  <p:pic>
                    <p:nvPicPr>
                      <p:cNvPr id="551951" name="Object 15">
                        <a:extLst>
                          <a:ext uri="{FF2B5EF4-FFF2-40B4-BE49-F238E27FC236}">
                            <a16:creationId xmlns:a16="http://schemas.microsoft.com/office/drawing/2014/main" id="{BCF6AC54-91EA-46A8-BAD0-8EEC55898936}"/>
                          </a:ext>
                        </a:extLst>
                      </p:cNvPr>
                      <p:cNvPicPr>
                        <a:picLocks noChangeAspect="1" noChangeArrowheads="1"/>
                      </p:cNvPicPr>
                      <p:nvPr/>
                    </p:nvPicPr>
                    <p:blipFill>
                      <a:blip r:embed="rId12">
                        <a:lum bright="-100000"/>
                        <a:extLst>
                          <a:ext uri="{28A0092B-C50C-407E-A947-70E740481C1C}">
                            <a14:useLocalDpi xmlns:a14="http://schemas.microsoft.com/office/drawing/2010/main" val="0"/>
                          </a:ext>
                        </a:extLst>
                      </a:blip>
                      <a:srcRect/>
                      <a:stretch>
                        <a:fillRect/>
                      </a:stretch>
                    </p:blipFill>
                    <p:spPr bwMode="auto">
                      <a:xfrm>
                        <a:off x="4645025" y="1431925"/>
                        <a:ext cx="27940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1952" name="AutoShape 16">
            <a:extLst>
              <a:ext uri="{FF2B5EF4-FFF2-40B4-BE49-F238E27FC236}">
                <a16:creationId xmlns:a16="http://schemas.microsoft.com/office/drawing/2014/main" id="{850C313B-5C3D-4F67-9C22-778CF109A0E2}"/>
              </a:ext>
            </a:extLst>
          </p:cNvPr>
          <p:cNvSpPr>
            <a:spLocks noChangeArrowheads="1"/>
          </p:cNvSpPr>
          <p:nvPr/>
        </p:nvSpPr>
        <p:spPr bwMode="auto">
          <a:xfrm>
            <a:off x="3852863" y="1700213"/>
            <a:ext cx="649287" cy="287337"/>
          </a:xfrm>
          <a:prstGeom prst="rightArrow">
            <a:avLst>
              <a:gd name="adj1" fmla="val 50000"/>
              <a:gd name="adj2" fmla="val 56492"/>
            </a:avLst>
          </a:prstGeom>
          <a:solidFill>
            <a:schemeClr val="accent1"/>
          </a:solidFill>
          <a:ln w="7938">
            <a:solidFill>
              <a:schemeClr val="tx1"/>
            </a:solidFill>
            <a:miter lim="800000"/>
            <a:headEnd/>
            <a:tailEnd/>
          </a:ln>
        </p:spPr>
        <p:txBody>
          <a:bodyPr wrap="none" anchor="ct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endParaRPr lang="zh-CN" altLang="en-US"/>
          </a:p>
        </p:txBody>
      </p:sp>
      <p:sp>
        <p:nvSpPr>
          <p:cNvPr id="551954" name="Text Box 18">
            <a:extLst>
              <a:ext uri="{FF2B5EF4-FFF2-40B4-BE49-F238E27FC236}">
                <a16:creationId xmlns:a16="http://schemas.microsoft.com/office/drawing/2014/main" id="{494C8745-7E2E-4E28-A0DC-73E418876CEC}"/>
              </a:ext>
            </a:extLst>
          </p:cNvPr>
          <p:cNvSpPr txBox="1">
            <a:spLocks noChangeArrowheads="1"/>
          </p:cNvSpPr>
          <p:nvPr/>
        </p:nvSpPr>
        <p:spPr bwMode="auto">
          <a:xfrm>
            <a:off x="539750" y="2205038"/>
            <a:ext cx="2808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lang="zh-CN" altLang="en-US" sz="2000" b="1">
                <a:solidFill>
                  <a:srgbClr val="000066"/>
                </a:solidFill>
                <a:latin typeface="Times New Roman" panose="02020603050405020304" pitchFamily="18" charset="0"/>
              </a:rPr>
              <a:t>外加电压 </a:t>
            </a:r>
            <a:r>
              <a:rPr lang="en-US" altLang="zh-CN" sz="2000" b="1" i="1">
                <a:solidFill>
                  <a:srgbClr val="000066"/>
                </a:solidFill>
                <a:latin typeface="Times New Roman" panose="02020603050405020304" pitchFamily="18" charset="0"/>
              </a:rPr>
              <a:t>V  </a:t>
            </a:r>
            <a:r>
              <a:rPr lang="zh-CN" altLang="en-US" sz="2000" b="1">
                <a:solidFill>
                  <a:srgbClr val="000066"/>
                </a:solidFill>
                <a:latin typeface="Times New Roman" panose="02020603050405020304" pitchFamily="18" charset="0"/>
              </a:rPr>
              <a:t>一定时，</a:t>
            </a:r>
          </a:p>
        </p:txBody>
      </p:sp>
      <p:graphicFrame>
        <p:nvGraphicFramePr>
          <p:cNvPr id="551955" name="Object 19">
            <a:extLst>
              <a:ext uri="{FF2B5EF4-FFF2-40B4-BE49-F238E27FC236}">
                <a16:creationId xmlns:a16="http://schemas.microsoft.com/office/drawing/2014/main" id="{F242C912-BA41-4FC6-A4B8-D5F10D0B2C92}"/>
              </a:ext>
            </a:extLst>
          </p:cNvPr>
          <p:cNvGraphicFramePr>
            <a:graphicFrameLocks noChangeAspect="1"/>
          </p:cNvGraphicFramePr>
          <p:nvPr/>
        </p:nvGraphicFramePr>
        <p:xfrm>
          <a:off x="3254375" y="2200275"/>
          <a:ext cx="1736725" cy="441325"/>
        </p:xfrm>
        <a:graphic>
          <a:graphicData uri="http://schemas.openxmlformats.org/presentationml/2006/ole">
            <mc:AlternateContent xmlns:mc="http://schemas.openxmlformats.org/markup-compatibility/2006">
              <mc:Choice xmlns:v="urn:schemas-microsoft-com:vml" Requires="v">
                <p:oleObj spid="_x0000_s131421" name="Equation" r:id="rId13" imgW="876367" imgH="228575" progId="Equation.DSMT4">
                  <p:embed/>
                </p:oleObj>
              </mc:Choice>
              <mc:Fallback>
                <p:oleObj name="Equation" r:id="rId13" imgW="876367" imgH="228575" progId="Equation.DSMT4">
                  <p:embed/>
                  <p:pic>
                    <p:nvPicPr>
                      <p:cNvPr id="551955" name="Object 19">
                        <a:extLst>
                          <a:ext uri="{FF2B5EF4-FFF2-40B4-BE49-F238E27FC236}">
                            <a16:creationId xmlns:a16="http://schemas.microsoft.com/office/drawing/2014/main" id="{F242C912-BA41-4FC6-A4B8-D5F10D0B2C92}"/>
                          </a:ext>
                        </a:extLst>
                      </p:cNvPr>
                      <p:cNvPicPr>
                        <a:picLocks noChangeAspect="1" noChangeArrowheads="1"/>
                      </p:cNvPicPr>
                      <p:nvPr/>
                    </p:nvPicPr>
                    <p:blipFill>
                      <a:blip r:embed="rId14">
                        <a:lum bright="-100000"/>
                        <a:extLst>
                          <a:ext uri="{28A0092B-C50C-407E-A947-70E740481C1C}">
                            <a14:useLocalDpi xmlns:a14="http://schemas.microsoft.com/office/drawing/2010/main" val="0"/>
                          </a:ext>
                        </a:extLst>
                      </a:blip>
                      <a:srcRect/>
                      <a:stretch>
                        <a:fillRect/>
                      </a:stretch>
                    </p:blipFill>
                    <p:spPr bwMode="auto">
                      <a:xfrm>
                        <a:off x="3254375" y="2200275"/>
                        <a:ext cx="1736725" cy="44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1956" name="Object 20">
            <a:extLst>
              <a:ext uri="{FF2B5EF4-FFF2-40B4-BE49-F238E27FC236}">
                <a16:creationId xmlns:a16="http://schemas.microsoft.com/office/drawing/2014/main" id="{1064636D-E722-4F95-8222-913FE3FCF451}"/>
              </a:ext>
            </a:extLst>
          </p:cNvPr>
          <p:cNvGraphicFramePr>
            <a:graphicFrameLocks noChangeAspect="1"/>
          </p:cNvGraphicFramePr>
          <p:nvPr/>
        </p:nvGraphicFramePr>
        <p:xfrm>
          <a:off x="673100" y="2690813"/>
          <a:ext cx="3273425" cy="441325"/>
        </p:xfrm>
        <a:graphic>
          <a:graphicData uri="http://schemas.openxmlformats.org/presentationml/2006/ole">
            <mc:AlternateContent xmlns:mc="http://schemas.openxmlformats.org/markup-compatibility/2006">
              <mc:Choice xmlns:v="urn:schemas-microsoft-com:vml" Requires="v">
                <p:oleObj spid="_x0000_s131422" name="Equation" r:id="rId15" imgW="1666959" imgH="228575" progId="Equation.DSMT4">
                  <p:embed/>
                </p:oleObj>
              </mc:Choice>
              <mc:Fallback>
                <p:oleObj name="Equation" r:id="rId15" imgW="1666959" imgH="228575" progId="Equation.DSMT4">
                  <p:embed/>
                  <p:pic>
                    <p:nvPicPr>
                      <p:cNvPr id="551956" name="Object 20">
                        <a:extLst>
                          <a:ext uri="{FF2B5EF4-FFF2-40B4-BE49-F238E27FC236}">
                            <a16:creationId xmlns:a16="http://schemas.microsoft.com/office/drawing/2014/main" id="{1064636D-E722-4F95-8222-913FE3FCF451}"/>
                          </a:ext>
                        </a:extLst>
                      </p:cNvPr>
                      <p:cNvPicPr>
                        <a:picLocks noChangeAspect="1" noChangeArrowheads="1"/>
                      </p:cNvPicPr>
                      <p:nvPr/>
                    </p:nvPicPr>
                    <p:blipFill>
                      <a:blip r:embed="rId16">
                        <a:lum bright="-100000"/>
                        <a:extLst>
                          <a:ext uri="{28A0092B-C50C-407E-A947-70E740481C1C}">
                            <a14:useLocalDpi xmlns:a14="http://schemas.microsoft.com/office/drawing/2010/main" val="0"/>
                          </a:ext>
                        </a:extLst>
                      </a:blip>
                      <a:srcRect/>
                      <a:stretch>
                        <a:fillRect/>
                      </a:stretch>
                    </p:blipFill>
                    <p:spPr bwMode="auto">
                      <a:xfrm>
                        <a:off x="673100" y="2690813"/>
                        <a:ext cx="3273425" cy="44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1957" name="Object 21">
            <a:extLst>
              <a:ext uri="{FF2B5EF4-FFF2-40B4-BE49-F238E27FC236}">
                <a16:creationId xmlns:a16="http://schemas.microsoft.com/office/drawing/2014/main" id="{185143EC-3907-496E-BB9B-A8F09E3729C0}"/>
              </a:ext>
            </a:extLst>
          </p:cNvPr>
          <p:cNvGraphicFramePr>
            <a:graphicFrameLocks noChangeAspect="1"/>
          </p:cNvGraphicFramePr>
          <p:nvPr/>
        </p:nvGraphicFramePr>
        <p:xfrm>
          <a:off x="2570164" y="3068639"/>
          <a:ext cx="2289868" cy="790576"/>
        </p:xfrm>
        <a:graphic>
          <a:graphicData uri="http://schemas.openxmlformats.org/presentationml/2006/ole">
            <mc:AlternateContent xmlns:mc="http://schemas.openxmlformats.org/markup-compatibility/2006">
              <mc:Choice xmlns:v="urn:schemas-microsoft-com:vml" Requires="v">
                <p:oleObj spid="_x0000_s131423" name="Equation" r:id="rId17" imgW="1323857" imgH="447693" progId="Equation.DSMT4">
                  <p:embed/>
                </p:oleObj>
              </mc:Choice>
              <mc:Fallback>
                <p:oleObj name="Equation" r:id="rId17" imgW="1323857" imgH="447693" progId="Equation.DSMT4">
                  <p:embed/>
                  <p:pic>
                    <p:nvPicPr>
                      <p:cNvPr id="551957" name="Object 21">
                        <a:extLst>
                          <a:ext uri="{FF2B5EF4-FFF2-40B4-BE49-F238E27FC236}">
                            <a16:creationId xmlns:a16="http://schemas.microsoft.com/office/drawing/2014/main" id="{185143EC-3907-496E-BB9B-A8F09E3729C0}"/>
                          </a:ext>
                        </a:extLst>
                      </p:cNvPr>
                      <p:cNvPicPr>
                        <a:picLocks noChangeAspect="1" noChangeArrowheads="1"/>
                      </p:cNvPicPr>
                      <p:nvPr/>
                    </p:nvPicPr>
                    <p:blipFill>
                      <a:blip r:embed="rId18">
                        <a:lum bright="-100000"/>
                        <a:extLst>
                          <a:ext uri="{28A0092B-C50C-407E-A947-70E740481C1C}">
                            <a14:useLocalDpi xmlns:a14="http://schemas.microsoft.com/office/drawing/2010/main" val="0"/>
                          </a:ext>
                        </a:extLst>
                      </a:blip>
                      <a:srcRect/>
                      <a:stretch>
                        <a:fillRect/>
                      </a:stretch>
                    </p:blipFill>
                    <p:spPr bwMode="auto">
                      <a:xfrm>
                        <a:off x="2570164" y="3068639"/>
                        <a:ext cx="2289868" cy="790576"/>
                      </a:xfrm>
                      <a:prstGeom prst="rect">
                        <a:avLst/>
                      </a:prstGeom>
                      <a:noFill/>
                      <a:ln>
                        <a:noFill/>
                      </a:ln>
                      <a:effectLst/>
                    </p:spPr>
                  </p:pic>
                </p:oleObj>
              </mc:Fallback>
            </mc:AlternateContent>
          </a:graphicData>
        </a:graphic>
      </p:graphicFrame>
      <p:graphicFrame>
        <p:nvGraphicFramePr>
          <p:cNvPr id="551958" name="Object 22">
            <a:extLst>
              <a:ext uri="{FF2B5EF4-FFF2-40B4-BE49-F238E27FC236}">
                <a16:creationId xmlns:a16="http://schemas.microsoft.com/office/drawing/2014/main" id="{81181EAD-A3D7-4B71-90DA-558ED573A630}"/>
              </a:ext>
            </a:extLst>
          </p:cNvPr>
          <p:cNvGraphicFramePr>
            <a:graphicFrameLocks noChangeAspect="1"/>
          </p:cNvGraphicFramePr>
          <p:nvPr/>
        </p:nvGraphicFramePr>
        <p:xfrm>
          <a:off x="684213" y="4076700"/>
          <a:ext cx="1090612" cy="374650"/>
        </p:xfrm>
        <a:graphic>
          <a:graphicData uri="http://schemas.openxmlformats.org/presentationml/2006/ole">
            <mc:AlternateContent xmlns:mc="http://schemas.openxmlformats.org/markup-compatibility/2006">
              <mc:Choice xmlns:v="urn:schemas-microsoft-com:vml" Requires="v">
                <p:oleObj spid="_x0000_s131424" name="Equation" r:id="rId19" imgW="672808" imgH="228501" progId="Equation.DSMT4">
                  <p:embed/>
                </p:oleObj>
              </mc:Choice>
              <mc:Fallback>
                <p:oleObj name="Equation" r:id="rId19" imgW="672808" imgH="228501" progId="Equation.DSMT4">
                  <p:embed/>
                  <p:pic>
                    <p:nvPicPr>
                      <p:cNvPr id="551958" name="Object 22">
                        <a:extLst>
                          <a:ext uri="{FF2B5EF4-FFF2-40B4-BE49-F238E27FC236}">
                            <a16:creationId xmlns:a16="http://schemas.microsoft.com/office/drawing/2014/main" id="{81181EAD-A3D7-4B71-90DA-558ED573A63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84213" y="4076700"/>
                        <a:ext cx="1090612"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620232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1949"/>
                                        </p:tgtEl>
                                        <p:attrNameLst>
                                          <p:attrName>style.visibility</p:attrName>
                                        </p:attrNameLst>
                                      </p:cBhvr>
                                      <p:to>
                                        <p:strVal val="visible"/>
                                      </p:to>
                                    </p:set>
                                    <p:animEffect transition="in" filter="blinds(horizontal)">
                                      <p:cBhvr>
                                        <p:cTn id="7" dur="500"/>
                                        <p:tgtEl>
                                          <p:spTgt spid="5519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51950"/>
                                        </p:tgtEl>
                                        <p:attrNameLst>
                                          <p:attrName>style.visibility</p:attrName>
                                        </p:attrNameLst>
                                      </p:cBhvr>
                                      <p:to>
                                        <p:strVal val="visible"/>
                                      </p:to>
                                    </p:set>
                                    <p:animEffect transition="in" filter="blinds(horizontal)">
                                      <p:cBhvr>
                                        <p:cTn id="12" dur="500"/>
                                        <p:tgtEl>
                                          <p:spTgt spid="5519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51952"/>
                                        </p:tgtEl>
                                        <p:attrNameLst>
                                          <p:attrName>style.visibility</p:attrName>
                                        </p:attrNameLst>
                                      </p:cBhvr>
                                      <p:to>
                                        <p:strVal val="visible"/>
                                      </p:to>
                                    </p:set>
                                    <p:anim calcmode="lin" valueType="num">
                                      <p:cBhvr>
                                        <p:cTn id="17" dur="1000" fill="hold"/>
                                        <p:tgtEl>
                                          <p:spTgt spid="551952"/>
                                        </p:tgtEl>
                                        <p:attrNameLst>
                                          <p:attrName>ppt_w</p:attrName>
                                        </p:attrNameLst>
                                      </p:cBhvr>
                                      <p:tavLst>
                                        <p:tav tm="0">
                                          <p:val>
                                            <p:strVal val="#ppt_w*0.70"/>
                                          </p:val>
                                        </p:tav>
                                        <p:tav tm="100000">
                                          <p:val>
                                            <p:strVal val="#ppt_w"/>
                                          </p:val>
                                        </p:tav>
                                      </p:tavLst>
                                    </p:anim>
                                    <p:anim calcmode="lin" valueType="num">
                                      <p:cBhvr>
                                        <p:cTn id="18" dur="1000" fill="hold"/>
                                        <p:tgtEl>
                                          <p:spTgt spid="551952"/>
                                        </p:tgtEl>
                                        <p:attrNameLst>
                                          <p:attrName>ppt_h</p:attrName>
                                        </p:attrNameLst>
                                      </p:cBhvr>
                                      <p:tavLst>
                                        <p:tav tm="0">
                                          <p:val>
                                            <p:strVal val="#ppt_h"/>
                                          </p:val>
                                        </p:tav>
                                        <p:tav tm="100000">
                                          <p:val>
                                            <p:strVal val="#ppt_h"/>
                                          </p:val>
                                        </p:tav>
                                      </p:tavLst>
                                    </p:anim>
                                    <p:animEffect transition="in" filter="fade">
                                      <p:cBhvr>
                                        <p:cTn id="19" dur="1000"/>
                                        <p:tgtEl>
                                          <p:spTgt spid="55195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551951"/>
                                        </p:tgtEl>
                                        <p:attrNameLst>
                                          <p:attrName>style.visibility</p:attrName>
                                        </p:attrNameLst>
                                      </p:cBhvr>
                                      <p:to>
                                        <p:strVal val="visible"/>
                                      </p:to>
                                    </p:set>
                                    <p:animEffect transition="in" filter="dissolve">
                                      <p:cBhvr>
                                        <p:cTn id="24" dur="500"/>
                                        <p:tgtEl>
                                          <p:spTgt spid="55195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51954"/>
                                        </p:tgtEl>
                                        <p:attrNameLst>
                                          <p:attrName>style.visibility</p:attrName>
                                        </p:attrNameLst>
                                      </p:cBhvr>
                                      <p:to>
                                        <p:strVal val="visible"/>
                                      </p:to>
                                    </p:set>
                                    <p:anim calcmode="lin" valueType="num">
                                      <p:cBhvr additive="base">
                                        <p:cTn id="29" dur="1000" fill="hold"/>
                                        <p:tgtEl>
                                          <p:spTgt spid="551954"/>
                                        </p:tgtEl>
                                        <p:attrNameLst>
                                          <p:attrName>ppt_x</p:attrName>
                                        </p:attrNameLst>
                                      </p:cBhvr>
                                      <p:tavLst>
                                        <p:tav tm="0">
                                          <p:val>
                                            <p:strVal val="0-#ppt_w/2"/>
                                          </p:val>
                                        </p:tav>
                                        <p:tav tm="100000">
                                          <p:val>
                                            <p:strVal val="#ppt_x"/>
                                          </p:val>
                                        </p:tav>
                                      </p:tavLst>
                                    </p:anim>
                                    <p:anim calcmode="lin" valueType="num">
                                      <p:cBhvr additive="base">
                                        <p:cTn id="30" dur="1000" fill="hold"/>
                                        <p:tgtEl>
                                          <p:spTgt spid="551954"/>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1000"/>
                            </p:stCondLst>
                            <p:childTnLst>
                              <p:par>
                                <p:cTn id="32" presetID="2" presetClass="entr" presetSubtype="2" fill="hold" nodeType="afterEffect">
                                  <p:stCondLst>
                                    <p:cond delay="0"/>
                                  </p:stCondLst>
                                  <p:childTnLst>
                                    <p:set>
                                      <p:cBhvr>
                                        <p:cTn id="33" dur="1" fill="hold">
                                          <p:stCondLst>
                                            <p:cond delay="0"/>
                                          </p:stCondLst>
                                        </p:cTn>
                                        <p:tgtEl>
                                          <p:spTgt spid="551955"/>
                                        </p:tgtEl>
                                        <p:attrNameLst>
                                          <p:attrName>style.visibility</p:attrName>
                                        </p:attrNameLst>
                                      </p:cBhvr>
                                      <p:to>
                                        <p:strVal val="visible"/>
                                      </p:to>
                                    </p:set>
                                    <p:anim calcmode="lin" valueType="num">
                                      <p:cBhvr additive="base">
                                        <p:cTn id="34" dur="1000" fill="hold"/>
                                        <p:tgtEl>
                                          <p:spTgt spid="551955"/>
                                        </p:tgtEl>
                                        <p:attrNameLst>
                                          <p:attrName>ppt_x</p:attrName>
                                        </p:attrNameLst>
                                      </p:cBhvr>
                                      <p:tavLst>
                                        <p:tav tm="0">
                                          <p:val>
                                            <p:strVal val="1+#ppt_w/2"/>
                                          </p:val>
                                        </p:tav>
                                        <p:tav tm="100000">
                                          <p:val>
                                            <p:strVal val="#ppt_x"/>
                                          </p:val>
                                        </p:tav>
                                      </p:tavLst>
                                    </p:anim>
                                    <p:anim calcmode="lin" valueType="num">
                                      <p:cBhvr additive="base">
                                        <p:cTn id="35" dur="1000" fill="hold"/>
                                        <p:tgtEl>
                                          <p:spTgt spid="551955"/>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2" fill="hold" nodeType="clickEffect">
                                  <p:stCondLst>
                                    <p:cond delay="0"/>
                                  </p:stCondLst>
                                  <p:childTnLst>
                                    <p:set>
                                      <p:cBhvr>
                                        <p:cTn id="39" dur="1" fill="hold">
                                          <p:stCondLst>
                                            <p:cond delay="0"/>
                                          </p:stCondLst>
                                        </p:cTn>
                                        <p:tgtEl>
                                          <p:spTgt spid="551956"/>
                                        </p:tgtEl>
                                        <p:attrNameLst>
                                          <p:attrName>style.visibility</p:attrName>
                                        </p:attrNameLst>
                                      </p:cBhvr>
                                      <p:to>
                                        <p:strVal val="visible"/>
                                      </p:to>
                                    </p:set>
                                    <p:anim calcmode="lin" valueType="num">
                                      <p:cBhvr additive="base">
                                        <p:cTn id="40" dur="1000" fill="hold"/>
                                        <p:tgtEl>
                                          <p:spTgt spid="551956"/>
                                        </p:tgtEl>
                                        <p:attrNameLst>
                                          <p:attrName>ppt_x</p:attrName>
                                        </p:attrNameLst>
                                      </p:cBhvr>
                                      <p:tavLst>
                                        <p:tav tm="0">
                                          <p:val>
                                            <p:strVal val="1+#ppt_w/2"/>
                                          </p:val>
                                        </p:tav>
                                        <p:tav tm="100000">
                                          <p:val>
                                            <p:strVal val="#ppt_x"/>
                                          </p:val>
                                        </p:tav>
                                      </p:tavLst>
                                    </p:anim>
                                    <p:anim calcmode="lin" valueType="num">
                                      <p:cBhvr additive="base">
                                        <p:cTn id="41" dur="1000" fill="hold"/>
                                        <p:tgtEl>
                                          <p:spTgt spid="551956"/>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551948"/>
                                        </p:tgtEl>
                                        <p:attrNameLst>
                                          <p:attrName>style.visibility</p:attrName>
                                        </p:attrNameLst>
                                      </p:cBhvr>
                                      <p:to>
                                        <p:strVal val="visible"/>
                                      </p:to>
                                    </p:set>
                                    <p:animEffect transition="in" filter="blinds(horizontal)">
                                      <p:cBhvr>
                                        <p:cTn id="46" dur="500"/>
                                        <p:tgtEl>
                                          <p:spTgt spid="55194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551957"/>
                                        </p:tgtEl>
                                        <p:attrNameLst>
                                          <p:attrName>style.visibility</p:attrName>
                                        </p:attrNameLst>
                                      </p:cBhvr>
                                      <p:to>
                                        <p:strVal val="visible"/>
                                      </p:to>
                                    </p:set>
                                    <p:animEffect transition="in" filter="dissolve">
                                      <p:cBhvr>
                                        <p:cTn id="51" dur="500"/>
                                        <p:tgtEl>
                                          <p:spTgt spid="55195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551958"/>
                                        </p:tgtEl>
                                        <p:attrNameLst>
                                          <p:attrName>style.visibility</p:attrName>
                                        </p:attrNameLst>
                                      </p:cBhvr>
                                      <p:to>
                                        <p:strVal val="visible"/>
                                      </p:to>
                                    </p:set>
                                    <p:animEffect transition="in" filter="blinds(horizontal)">
                                      <p:cBhvr>
                                        <p:cTn id="56" dur="500"/>
                                        <p:tgtEl>
                                          <p:spTgt spid="55195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nodeType="clickEffect">
                                  <p:stCondLst>
                                    <p:cond delay="0"/>
                                  </p:stCondLst>
                                  <p:childTnLst>
                                    <p:set>
                                      <p:cBhvr>
                                        <p:cTn id="60" dur="1" fill="hold">
                                          <p:stCondLst>
                                            <p:cond delay="0"/>
                                          </p:stCondLst>
                                        </p:cTn>
                                        <p:tgtEl>
                                          <p:spTgt spid="551947"/>
                                        </p:tgtEl>
                                        <p:attrNameLst>
                                          <p:attrName>style.visibility</p:attrName>
                                        </p:attrNameLst>
                                      </p:cBhvr>
                                      <p:to>
                                        <p:strVal val="visible"/>
                                      </p:to>
                                    </p:set>
                                    <p:animEffect transition="in" filter="blinds(horizontal)">
                                      <p:cBhvr>
                                        <p:cTn id="61" dur="500"/>
                                        <p:tgtEl>
                                          <p:spTgt spid="55194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nodeType="clickEffect">
                                  <p:stCondLst>
                                    <p:cond delay="0"/>
                                  </p:stCondLst>
                                  <p:childTnLst>
                                    <p:set>
                                      <p:cBhvr>
                                        <p:cTn id="65" dur="1" fill="hold">
                                          <p:stCondLst>
                                            <p:cond delay="0"/>
                                          </p:stCondLst>
                                        </p:cTn>
                                        <p:tgtEl>
                                          <p:spTgt spid="2"/>
                                        </p:tgtEl>
                                        <p:attrNameLst>
                                          <p:attrName>style.visibility</p:attrName>
                                        </p:attrNameLst>
                                      </p:cBhvr>
                                      <p:to>
                                        <p:strVal val="visible"/>
                                      </p:to>
                                    </p:set>
                                    <p:animEffect transition="in" filter="blinds(horizontal)">
                                      <p:cBhvr>
                                        <p:cTn id="66" dur="500"/>
                                        <p:tgtEl>
                                          <p:spTgt spid="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551940"/>
                                        </p:tgtEl>
                                        <p:attrNameLst>
                                          <p:attrName>style.visibility</p:attrName>
                                        </p:attrNameLst>
                                      </p:cBhvr>
                                      <p:to>
                                        <p:strVal val="visible"/>
                                      </p:to>
                                    </p:set>
                                    <p:animEffect transition="in" filter="blinds(horizontal)">
                                      <p:cBhvr>
                                        <p:cTn id="71" dur="500"/>
                                        <p:tgtEl>
                                          <p:spTgt spid="551940"/>
                                        </p:tgtEl>
                                      </p:cBhvr>
                                    </p:animEffect>
                                  </p:childTnLst>
                                </p:cTn>
                              </p:par>
                              <p:par>
                                <p:cTn id="72" presetID="3" presetClass="entr" presetSubtype="10" fill="hold" nodeType="withEffect">
                                  <p:stCondLst>
                                    <p:cond delay="0"/>
                                  </p:stCondLst>
                                  <p:childTnLst>
                                    <p:set>
                                      <p:cBhvr>
                                        <p:cTn id="73" dur="1" fill="hold">
                                          <p:stCondLst>
                                            <p:cond delay="0"/>
                                          </p:stCondLst>
                                        </p:cTn>
                                        <p:tgtEl>
                                          <p:spTgt spid="551941"/>
                                        </p:tgtEl>
                                        <p:attrNameLst>
                                          <p:attrName>style.visibility</p:attrName>
                                        </p:attrNameLst>
                                      </p:cBhvr>
                                      <p:to>
                                        <p:strVal val="visible"/>
                                      </p:to>
                                    </p:set>
                                    <p:animEffect transition="in" filter="blinds(horizontal)">
                                      <p:cBhvr>
                                        <p:cTn id="74" dur="500"/>
                                        <p:tgtEl>
                                          <p:spTgt spid="551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40" grpId="0"/>
      <p:bldP spid="551948" grpId="0"/>
      <p:bldP spid="551949" grpId="0"/>
      <p:bldP spid="551952" grpId="0" animBg="1"/>
      <p:bldP spid="551954"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a:extLst>
              <a:ext uri="{FF2B5EF4-FFF2-40B4-BE49-F238E27FC236}">
                <a16:creationId xmlns:a16="http://schemas.microsoft.com/office/drawing/2014/main" id="{A1A00F96-7D07-49BC-AEA9-B1154A1064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3500438"/>
            <a:ext cx="6400800" cy="274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1859" name="Rectangle 3">
            <a:extLst>
              <a:ext uri="{FF2B5EF4-FFF2-40B4-BE49-F238E27FC236}">
                <a16:creationId xmlns:a16="http://schemas.microsoft.com/office/drawing/2014/main" id="{644ECDC5-582C-4845-9198-2F241A9B32FC}"/>
              </a:ext>
            </a:extLst>
          </p:cNvPr>
          <p:cNvSpPr>
            <a:spLocks noChangeArrowheads="1"/>
          </p:cNvSpPr>
          <p:nvPr/>
        </p:nvSpPr>
        <p:spPr bwMode="auto">
          <a:xfrm>
            <a:off x="2971800" y="6096000"/>
            <a:ext cx="399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2000">
                <a:solidFill>
                  <a:srgbClr val="0000FF"/>
                </a:solidFill>
                <a:latin typeface="黑体" panose="02010609060101010101" pitchFamily="49" charset="-122"/>
                <a:ea typeface="黑体" panose="02010609060101010101" pitchFamily="49" charset="-122"/>
              </a:rPr>
              <a:t>正向</a:t>
            </a:r>
            <a:r>
              <a:rPr lang="en-US" altLang="zh-CN" sz="2000">
                <a:solidFill>
                  <a:srgbClr val="0000FF"/>
                </a:solidFill>
                <a:latin typeface="黑体" panose="02010609060101010101" pitchFamily="49" charset="-122"/>
                <a:ea typeface="黑体" panose="02010609060101010101" pitchFamily="49" charset="-122"/>
              </a:rPr>
              <a:t>PN</a:t>
            </a:r>
            <a:r>
              <a:rPr lang="zh-CN" altLang="en-US" sz="2000">
                <a:solidFill>
                  <a:srgbClr val="0000FF"/>
                </a:solidFill>
                <a:latin typeface="黑体" panose="02010609060101010101" pitchFamily="49" charset="-122"/>
                <a:ea typeface="黑体" panose="02010609060101010101" pitchFamily="49" charset="-122"/>
              </a:rPr>
              <a:t>结空间电荷区中的费米能级</a:t>
            </a:r>
          </a:p>
        </p:txBody>
      </p:sp>
      <p:sp>
        <p:nvSpPr>
          <p:cNvPr id="121860" name="Rectangle 4">
            <a:extLst>
              <a:ext uri="{FF2B5EF4-FFF2-40B4-BE49-F238E27FC236}">
                <a16:creationId xmlns:a16="http://schemas.microsoft.com/office/drawing/2014/main" id="{65CF0C08-0E48-43B2-9AD8-06F111DED3AA}"/>
              </a:ext>
            </a:extLst>
          </p:cNvPr>
          <p:cNvSpPr>
            <a:spLocks noChangeArrowheads="1"/>
          </p:cNvSpPr>
          <p:nvPr/>
        </p:nvSpPr>
        <p:spPr bwMode="auto">
          <a:xfrm>
            <a:off x="179388" y="981075"/>
            <a:ext cx="8686800" cy="283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latinLnBrk="0">
              <a:lnSpc>
                <a:spcPct val="150000"/>
              </a:lnSpc>
            </a:pPr>
            <a:r>
              <a:rPr lang="zh-CN" altLang="en-US" b="1">
                <a:solidFill>
                  <a:srgbClr val="000000"/>
                </a:solidFill>
                <a:latin typeface="Times New Roman" panose="02020603050405020304" pitchFamily="18" charset="0"/>
              </a:rPr>
              <a:t>注入的扩散电流和空间电荷区中的复合电流的区别：</a:t>
            </a:r>
            <a:r>
              <a:rPr lang="zh-CN" altLang="en-US" b="1">
                <a:solidFill>
                  <a:srgbClr val="FF0000"/>
                </a:solidFill>
                <a:latin typeface="Times New Roman" panose="02020603050405020304" pitchFamily="18" charset="0"/>
              </a:rPr>
              <a:t>复合地点不同</a:t>
            </a:r>
            <a:r>
              <a:rPr lang="zh-CN" altLang="en-US" b="1">
                <a:solidFill>
                  <a:srgbClr val="000000"/>
                </a:solidFill>
                <a:latin typeface="Times New Roman" panose="02020603050405020304" pitchFamily="18" charset="0"/>
              </a:rPr>
              <a:t>；在电子或空穴扩散区中电子和空穴一个是多子，一个是少子，其浓度相差很大。在空间电荷区，位于禁带中央附近的复合中心能级处，有</a:t>
            </a:r>
            <a:r>
              <a:rPr lang="en-US" altLang="zh-CN" b="1" i="1">
                <a:solidFill>
                  <a:srgbClr val="000000"/>
                </a:solidFill>
                <a:latin typeface="Times New Roman" panose="02020603050405020304" pitchFamily="18" charset="0"/>
              </a:rPr>
              <a:t>E</a:t>
            </a:r>
            <a:r>
              <a:rPr lang="en-US" altLang="zh-CN" b="1" i="1" baseline="-25000">
                <a:solidFill>
                  <a:srgbClr val="000000"/>
                </a:solidFill>
                <a:latin typeface="Times New Roman" panose="02020603050405020304" pitchFamily="18" charset="0"/>
              </a:rPr>
              <a:t>t </a:t>
            </a:r>
            <a:r>
              <a:rPr lang="en-US" altLang="zh-CN" b="1">
                <a:solidFill>
                  <a:srgbClr val="000000"/>
                </a:solidFill>
                <a:latin typeface="Times New Roman" panose="02020603050405020304" pitchFamily="18" charset="0"/>
              </a:rPr>
              <a:t>= </a:t>
            </a:r>
            <a:r>
              <a:rPr lang="en-US" altLang="zh-CN" b="1" i="1">
                <a:solidFill>
                  <a:srgbClr val="000000"/>
                </a:solidFill>
                <a:latin typeface="Times New Roman" panose="02020603050405020304" pitchFamily="18" charset="0"/>
              </a:rPr>
              <a:t>E</a:t>
            </a:r>
            <a:r>
              <a:rPr lang="en-US" altLang="zh-CN" b="1" i="1" baseline="-25000">
                <a:solidFill>
                  <a:srgbClr val="000000"/>
                </a:solidFill>
                <a:latin typeface="Times New Roman" panose="02020603050405020304" pitchFamily="18" charset="0"/>
              </a:rPr>
              <a:t>i</a:t>
            </a:r>
            <a:r>
              <a:rPr lang="en-US" altLang="zh-CN" b="1">
                <a:solidFill>
                  <a:srgbClr val="000000"/>
                </a:solidFill>
                <a:latin typeface="Times New Roman" panose="02020603050405020304" pitchFamily="18" charset="0"/>
              </a:rPr>
              <a:t>，</a:t>
            </a:r>
            <a:r>
              <a:rPr lang="zh-CN" altLang="en-US" b="1">
                <a:solidFill>
                  <a:srgbClr val="000000"/>
                </a:solidFill>
                <a:latin typeface="Times New Roman" panose="02020603050405020304" pitchFamily="18" charset="0"/>
              </a:rPr>
              <a:t>即电子和空穴的浓度基本相等，所以通过空间电荷区复合中心的复合相对较强。</a:t>
            </a:r>
          </a:p>
        </p:txBody>
      </p:sp>
      <p:sp>
        <p:nvSpPr>
          <p:cNvPr id="121861" name="Oval 5">
            <a:extLst>
              <a:ext uri="{FF2B5EF4-FFF2-40B4-BE49-F238E27FC236}">
                <a16:creationId xmlns:a16="http://schemas.microsoft.com/office/drawing/2014/main" id="{66DAD0FC-2032-4DBB-ABBF-FD05BDAF4971}"/>
              </a:ext>
            </a:extLst>
          </p:cNvPr>
          <p:cNvSpPr>
            <a:spLocks noChangeArrowheads="1"/>
          </p:cNvSpPr>
          <p:nvPr/>
        </p:nvSpPr>
        <p:spPr bwMode="auto">
          <a:xfrm>
            <a:off x="4495800" y="4572000"/>
            <a:ext cx="381000" cy="609600"/>
          </a:xfrm>
          <a:prstGeom prst="ellipse">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2135300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6235" name="Object 11">
            <a:extLst>
              <a:ext uri="{FF2B5EF4-FFF2-40B4-BE49-F238E27FC236}">
                <a16:creationId xmlns:a16="http://schemas.microsoft.com/office/drawing/2014/main" id="{E6FA781C-6CAE-454D-AA7B-368F7CA3113E}"/>
              </a:ext>
            </a:extLst>
          </p:cNvPr>
          <p:cNvGraphicFramePr>
            <a:graphicFrameLocks noChangeAspect="1"/>
          </p:cNvGraphicFramePr>
          <p:nvPr/>
        </p:nvGraphicFramePr>
        <p:xfrm>
          <a:off x="755650" y="1917700"/>
          <a:ext cx="3208338" cy="790575"/>
        </p:xfrm>
        <a:graphic>
          <a:graphicData uri="http://schemas.openxmlformats.org/presentationml/2006/ole">
            <mc:AlternateContent xmlns:mc="http://schemas.openxmlformats.org/markup-compatibility/2006">
              <mc:Choice xmlns:v="urn:schemas-microsoft-com:vml" Requires="v">
                <p:oleObj spid="_x0000_s132174" name="Equation" r:id="rId3" imgW="1765300" imgH="431800" progId="Equation.DSMT4">
                  <p:embed/>
                </p:oleObj>
              </mc:Choice>
              <mc:Fallback>
                <p:oleObj name="Equation" r:id="rId3" imgW="1765300" imgH="431800" progId="Equation.DSMT4">
                  <p:embed/>
                  <p:pic>
                    <p:nvPicPr>
                      <p:cNvPr id="436235" name="Object 11">
                        <a:extLst>
                          <a:ext uri="{FF2B5EF4-FFF2-40B4-BE49-F238E27FC236}">
                            <a16:creationId xmlns:a16="http://schemas.microsoft.com/office/drawing/2014/main" id="{E6FA781C-6CAE-454D-AA7B-368F7CA311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917700"/>
                        <a:ext cx="32083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22">
            <a:extLst>
              <a:ext uri="{FF2B5EF4-FFF2-40B4-BE49-F238E27FC236}">
                <a16:creationId xmlns:a16="http://schemas.microsoft.com/office/drawing/2014/main" id="{4E9E7F34-A699-46A2-B436-E0835BA49B3D}"/>
              </a:ext>
            </a:extLst>
          </p:cNvPr>
          <p:cNvGrpSpPr>
            <a:grpSpLocks/>
          </p:cNvGrpSpPr>
          <p:nvPr/>
        </p:nvGrpSpPr>
        <p:grpSpPr bwMode="auto">
          <a:xfrm>
            <a:off x="2609850" y="1196975"/>
            <a:ext cx="6858000" cy="5661025"/>
            <a:chOff x="1644" y="754"/>
            <a:chExt cx="4320" cy="3566"/>
          </a:xfrm>
        </p:grpSpPr>
        <p:graphicFrame>
          <p:nvGraphicFramePr>
            <p:cNvPr id="46088" name="Object 17">
              <a:extLst>
                <a:ext uri="{FF2B5EF4-FFF2-40B4-BE49-F238E27FC236}">
                  <a16:creationId xmlns:a16="http://schemas.microsoft.com/office/drawing/2014/main" id="{2326E0B2-6CA7-49D4-ACDF-9C4F2A7A07C2}"/>
                </a:ext>
              </a:extLst>
            </p:cNvPr>
            <p:cNvGraphicFramePr>
              <a:graphicFrameLocks noChangeAspect="1"/>
            </p:cNvGraphicFramePr>
            <p:nvPr/>
          </p:nvGraphicFramePr>
          <p:xfrm>
            <a:off x="3198" y="754"/>
            <a:ext cx="2562" cy="3566"/>
          </p:xfrm>
          <a:graphic>
            <a:graphicData uri="http://schemas.openxmlformats.org/presentationml/2006/ole">
              <mc:AlternateContent xmlns:mc="http://schemas.openxmlformats.org/markup-compatibility/2006">
                <mc:Choice xmlns:v="urn:schemas-microsoft-com:vml" Requires="v">
                  <p:oleObj spid="_x0000_s132175" name="Visio" r:id="rId5" imgW="2958084" imgH="3571646" progId="Visio.Drawing.11">
                    <p:embed/>
                  </p:oleObj>
                </mc:Choice>
                <mc:Fallback>
                  <p:oleObj name="Visio" r:id="rId5" imgW="2958084" imgH="3571646" progId="Visio.Drawing.11">
                    <p:embed/>
                    <p:pic>
                      <p:nvPicPr>
                        <p:cNvPr id="46088" name="Object 17">
                          <a:extLst>
                            <a:ext uri="{FF2B5EF4-FFF2-40B4-BE49-F238E27FC236}">
                              <a16:creationId xmlns:a16="http://schemas.microsoft.com/office/drawing/2014/main" id="{2326E0B2-6CA7-49D4-ACDF-9C4F2A7A07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8" y="754"/>
                          <a:ext cx="2562" cy="3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938">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089" name="Text Box 18">
              <a:extLst>
                <a:ext uri="{FF2B5EF4-FFF2-40B4-BE49-F238E27FC236}">
                  <a16:creationId xmlns:a16="http://schemas.microsoft.com/office/drawing/2014/main" id="{6FF02E90-C307-4F95-A75A-AE7AA63133A3}"/>
                </a:ext>
              </a:extLst>
            </p:cNvPr>
            <p:cNvSpPr txBox="1">
              <a:spLocks noChangeArrowheads="1"/>
            </p:cNvSpPr>
            <p:nvPr/>
          </p:nvSpPr>
          <p:spPr bwMode="auto">
            <a:xfrm>
              <a:off x="1644" y="3648"/>
              <a:ext cx="43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pPr>
              <a:r>
                <a:rPr lang="zh-CN" altLang="en-US" sz="1800" dirty="0">
                  <a:solidFill>
                    <a:srgbClr val="000066"/>
                  </a:solidFill>
                  <a:latin typeface="Times New Roman" panose="02020603050405020304" pitchFamily="18" charset="0"/>
                </a:rPr>
                <a:t>衬底掺杂浓度为</a:t>
              </a:r>
              <a:r>
                <a:rPr lang="en-US" altLang="zh-CN" sz="1800" dirty="0">
                  <a:solidFill>
                    <a:srgbClr val="000066"/>
                  </a:solidFill>
                </a:rPr>
                <a:t>10</a:t>
              </a:r>
              <a:r>
                <a:rPr lang="en-US" altLang="zh-CN" sz="1800" baseline="30000" dirty="0">
                  <a:solidFill>
                    <a:srgbClr val="000066"/>
                  </a:solidFill>
                </a:rPr>
                <a:t>16</a:t>
              </a:r>
              <a:r>
                <a:rPr lang="en-US" altLang="zh-CN" sz="1800" dirty="0">
                  <a:solidFill>
                    <a:srgbClr val="000066"/>
                  </a:solidFill>
                </a:rPr>
                <a:t>cm</a:t>
              </a:r>
              <a:r>
                <a:rPr lang="en-US" altLang="zh-CN" sz="1800" baseline="30000" dirty="0">
                  <a:solidFill>
                    <a:srgbClr val="000066"/>
                  </a:solidFill>
                  <a:latin typeface="Times New Roman" panose="02020603050405020304" pitchFamily="18" charset="0"/>
                  <a:sym typeface="Symbol" panose="05050102010706020507" pitchFamily="18" charset="2"/>
                </a:rPr>
                <a:t></a:t>
              </a:r>
              <a:r>
                <a:rPr lang="en-US" altLang="zh-CN" sz="1800" baseline="30000" dirty="0">
                  <a:solidFill>
                    <a:srgbClr val="000066"/>
                  </a:solidFill>
                </a:rPr>
                <a:t>3</a:t>
              </a:r>
              <a:r>
                <a:rPr lang="zh-CN" altLang="en-US" sz="1800" dirty="0">
                  <a:solidFill>
                    <a:srgbClr val="000066"/>
                  </a:solidFill>
                  <a:latin typeface="Times New Roman" panose="02020603050405020304" pitchFamily="18" charset="0"/>
                </a:rPr>
                <a:t>的硅扩散结的电流</a:t>
              </a:r>
              <a:r>
                <a:rPr lang="zh-CN" altLang="en-US" sz="1800" dirty="0">
                  <a:solidFill>
                    <a:srgbClr val="000066"/>
                  </a:solidFill>
                  <a:latin typeface="Times New Roman" panose="02020603050405020304" pitchFamily="18" charset="0"/>
                  <a:sym typeface="Symbol" panose="05050102010706020507" pitchFamily="18" charset="2"/>
                </a:rPr>
                <a:t></a:t>
              </a:r>
              <a:r>
                <a:rPr lang="zh-CN" altLang="en-US" sz="1800" dirty="0">
                  <a:solidFill>
                    <a:srgbClr val="000066"/>
                  </a:solidFill>
                  <a:latin typeface="Times New Roman" panose="02020603050405020304" pitchFamily="18" charset="0"/>
                </a:rPr>
                <a:t>电压特性</a:t>
              </a:r>
              <a:endParaRPr lang="zh-CN" altLang="en-US" sz="2000" dirty="0">
                <a:solidFill>
                  <a:srgbClr val="000066"/>
                </a:solidFill>
              </a:endParaRPr>
            </a:p>
          </p:txBody>
        </p:sp>
      </p:grpSp>
      <p:sp>
        <p:nvSpPr>
          <p:cNvPr id="436243" name="Rectangle 19">
            <a:extLst>
              <a:ext uri="{FF2B5EF4-FFF2-40B4-BE49-F238E27FC236}">
                <a16:creationId xmlns:a16="http://schemas.microsoft.com/office/drawing/2014/main" id="{8975C9B9-A4FB-4AB5-A084-5EABE9713E3A}"/>
              </a:ext>
            </a:extLst>
          </p:cNvPr>
          <p:cNvSpPr>
            <a:spLocks noChangeArrowheads="1"/>
          </p:cNvSpPr>
          <p:nvPr/>
        </p:nvSpPr>
        <p:spPr bwMode="auto">
          <a:xfrm>
            <a:off x="468313" y="2827338"/>
            <a:ext cx="48498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Char char="ü"/>
            </a:pPr>
            <a:r>
              <a:rPr kumimoji="0" lang="zh-CN" altLang="en-US" sz="2200" b="1">
                <a:solidFill>
                  <a:srgbClr val="FF3300"/>
                </a:solidFill>
              </a:rPr>
              <a:t>低偏压：</a:t>
            </a:r>
            <a:r>
              <a:rPr kumimoji="0" lang="zh-CN" altLang="en-US" sz="2000" b="1">
                <a:solidFill>
                  <a:srgbClr val="000066"/>
                </a:solidFill>
              </a:rPr>
              <a:t>空间电荷区的复合电流占优势</a:t>
            </a:r>
          </a:p>
        </p:txBody>
      </p:sp>
      <p:sp>
        <p:nvSpPr>
          <p:cNvPr id="436244" name="Rectangle 20">
            <a:extLst>
              <a:ext uri="{FF2B5EF4-FFF2-40B4-BE49-F238E27FC236}">
                <a16:creationId xmlns:a16="http://schemas.microsoft.com/office/drawing/2014/main" id="{B42AA657-85BA-49AA-9781-ABF7171F889D}"/>
              </a:ext>
            </a:extLst>
          </p:cNvPr>
          <p:cNvSpPr>
            <a:spLocks noChangeArrowheads="1"/>
          </p:cNvSpPr>
          <p:nvPr/>
        </p:nvSpPr>
        <p:spPr bwMode="auto">
          <a:xfrm>
            <a:off x="468313" y="3548063"/>
            <a:ext cx="35972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Char char="ü"/>
            </a:pPr>
            <a:r>
              <a:rPr kumimoji="0" lang="zh-CN" altLang="en-US" sz="2200" b="1">
                <a:solidFill>
                  <a:srgbClr val="FF3300"/>
                </a:solidFill>
              </a:rPr>
              <a:t>偏压升高：</a:t>
            </a:r>
            <a:r>
              <a:rPr kumimoji="0" lang="zh-CN" altLang="en-US" sz="2000" b="1">
                <a:solidFill>
                  <a:srgbClr val="000066"/>
                </a:solidFill>
              </a:rPr>
              <a:t>扩散电流占优势</a:t>
            </a:r>
          </a:p>
        </p:txBody>
      </p:sp>
      <p:sp>
        <p:nvSpPr>
          <p:cNvPr id="436245" name="Rectangle 21">
            <a:extLst>
              <a:ext uri="{FF2B5EF4-FFF2-40B4-BE49-F238E27FC236}">
                <a16:creationId xmlns:a16="http://schemas.microsoft.com/office/drawing/2014/main" id="{BCB12A01-9DF2-47E7-BA7E-74EF30E2EE44}"/>
              </a:ext>
            </a:extLst>
          </p:cNvPr>
          <p:cNvSpPr>
            <a:spLocks noChangeArrowheads="1"/>
          </p:cNvSpPr>
          <p:nvPr/>
        </p:nvSpPr>
        <p:spPr bwMode="auto">
          <a:xfrm>
            <a:off x="468313" y="4267200"/>
            <a:ext cx="525621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Char char="ü"/>
            </a:pPr>
            <a:r>
              <a:rPr kumimoji="0" lang="zh-CN" altLang="en-US" sz="2200" b="1">
                <a:solidFill>
                  <a:srgbClr val="FF3300"/>
                </a:solidFill>
              </a:rPr>
              <a:t>更高偏压：</a:t>
            </a:r>
            <a:r>
              <a:rPr kumimoji="0" lang="zh-CN" altLang="en-US" sz="2000" b="1">
                <a:solidFill>
                  <a:srgbClr val="000066"/>
                </a:solidFill>
              </a:rPr>
              <a:t>串联电阻的影响出现了（扩散电流为主）</a:t>
            </a:r>
          </a:p>
        </p:txBody>
      </p:sp>
    </p:spTree>
    <p:extLst>
      <p:ext uri="{BB962C8B-B14F-4D97-AF65-F5344CB8AC3E}">
        <p14:creationId xmlns:p14="http://schemas.microsoft.com/office/powerpoint/2010/main" val="1862506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36235"/>
                                        </p:tgtEl>
                                        <p:attrNameLst>
                                          <p:attrName>style.visibility</p:attrName>
                                        </p:attrNameLst>
                                      </p:cBhvr>
                                      <p:to>
                                        <p:strVal val="visible"/>
                                      </p:to>
                                    </p:set>
                                    <p:animEffect transition="in" filter="blinds(horizontal)">
                                      <p:cBhvr>
                                        <p:cTn id="7" dur="500"/>
                                        <p:tgtEl>
                                          <p:spTgt spid="436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6243"/>
                                        </p:tgtEl>
                                        <p:attrNameLst>
                                          <p:attrName>style.visibility</p:attrName>
                                        </p:attrNameLst>
                                      </p:cBhvr>
                                      <p:to>
                                        <p:strVal val="visible"/>
                                      </p:to>
                                    </p:set>
                                    <p:animEffect transition="in" filter="blinds(horizontal)">
                                      <p:cBhvr>
                                        <p:cTn id="17" dur="500"/>
                                        <p:tgtEl>
                                          <p:spTgt spid="4362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6244"/>
                                        </p:tgtEl>
                                        <p:attrNameLst>
                                          <p:attrName>style.visibility</p:attrName>
                                        </p:attrNameLst>
                                      </p:cBhvr>
                                      <p:to>
                                        <p:strVal val="visible"/>
                                      </p:to>
                                    </p:set>
                                    <p:animEffect transition="in" filter="blinds(horizontal)">
                                      <p:cBhvr>
                                        <p:cTn id="22" dur="500"/>
                                        <p:tgtEl>
                                          <p:spTgt spid="4362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36245"/>
                                        </p:tgtEl>
                                        <p:attrNameLst>
                                          <p:attrName>style.visibility</p:attrName>
                                        </p:attrNameLst>
                                      </p:cBhvr>
                                      <p:to>
                                        <p:strVal val="visible"/>
                                      </p:to>
                                    </p:set>
                                    <p:animEffect transition="in" filter="blinds(horizontal)">
                                      <p:cBhvr>
                                        <p:cTn id="27" dur="500"/>
                                        <p:tgtEl>
                                          <p:spTgt spid="436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43" grpId="0"/>
      <p:bldP spid="436244" grpId="0"/>
      <p:bldP spid="43624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a:extLst>
              <a:ext uri="{FF2B5EF4-FFF2-40B4-BE49-F238E27FC236}">
                <a16:creationId xmlns:a16="http://schemas.microsoft.com/office/drawing/2014/main" id="{360183B3-D3E5-47CD-9FB3-87D7CBE258DE}"/>
              </a:ext>
            </a:extLst>
          </p:cNvPr>
          <p:cNvSpPr>
            <a:spLocks noChangeArrowheads="1"/>
          </p:cNvSpPr>
          <p:nvPr/>
        </p:nvSpPr>
        <p:spPr bwMode="auto">
          <a:xfrm>
            <a:off x="301625" y="572811"/>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b="1" dirty="0">
                <a:solidFill>
                  <a:srgbClr val="993300"/>
                </a:solidFill>
              </a:rPr>
              <a:t>扩散电流</a:t>
            </a:r>
            <a:endParaRPr lang="en-US" altLang="zh-CN" b="1" dirty="0">
              <a:solidFill>
                <a:srgbClr val="993300"/>
              </a:solidFill>
            </a:endParaRPr>
          </a:p>
        </p:txBody>
      </p:sp>
      <p:sp>
        <p:nvSpPr>
          <p:cNvPr id="438282" name="Rectangle 10">
            <a:extLst>
              <a:ext uri="{FF2B5EF4-FFF2-40B4-BE49-F238E27FC236}">
                <a16:creationId xmlns:a16="http://schemas.microsoft.com/office/drawing/2014/main" id="{BC7CED8E-13C3-42BF-9D41-79C157375F7A}"/>
              </a:ext>
            </a:extLst>
          </p:cNvPr>
          <p:cNvSpPr>
            <a:spLocks noChangeArrowheads="1"/>
          </p:cNvSpPr>
          <p:nvPr/>
        </p:nvSpPr>
        <p:spPr bwMode="auto">
          <a:xfrm>
            <a:off x="684213" y="1222098"/>
            <a:ext cx="7583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对于</a:t>
            </a:r>
            <a:r>
              <a:rPr kumimoji="0" lang="en-US" altLang="zh-CN" sz="2000" b="1">
                <a:solidFill>
                  <a:srgbClr val="000066"/>
                </a:solidFill>
              </a:rPr>
              <a:t>P</a:t>
            </a:r>
            <a:r>
              <a:rPr kumimoji="0" lang="en-US" altLang="zh-CN" sz="2000" b="1" baseline="30000">
                <a:solidFill>
                  <a:srgbClr val="000066"/>
                </a:solidFill>
              </a:rPr>
              <a:t>+</a:t>
            </a:r>
            <a:r>
              <a:rPr kumimoji="0" lang="en-US" altLang="zh-CN" sz="2000" b="1">
                <a:solidFill>
                  <a:srgbClr val="000066"/>
                </a:solidFill>
              </a:rPr>
              <a:t>N</a:t>
            </a:r>
            <a:r>
              <a:rPr kumimoji="0" lang="zh-CN" altLang="en-US" sz="2000" b="1">
                <a:solidFill>
                  <a:srgbClr val="000066"/>
                </a:solidFill>
              </a:rPr>
              <a:t>结，当外加正向电压且 </a:t>
            </a:r>
            <a:r>
              <a:rPr kumimoji="0" lang="en-US" altLang="zh-CN" sz="2000" b="1">
                <a:solidFill>
                  <a:srgbClr val="000066"/>
                </a:solidFill>
              </a:rPr>
              <a:t>V &gt;&gt; V</a:t>
            </a:r>
            <a:r>
              <a:rPr kumimoji="0" lang="en-US" altLang="zh-CN" sz="2000" b="1" baseline="-25000">
                <a:solidFill>
                  <a:srgbClr val="000066"/>
                </a:solidFill>
              </a:rPr>
              <a:t>T</a:t>
            </a:r>
            <a:r>
              <a:rPr kumimoji="0" lang="en-US" altLang="zh-CN" sz="2000" b="1">
                <a:solidFill>
                  <a:srgbClr val="000066"/>
                </a:solidFill>
              </a:rPr>
              <a:t> </a:t>
            </a:r>
            <a:r>
              <a:rPr kumimoji="0" lang="zh-CN" altLang="en-US" sz="2000" b="1">
                <a:solidFill>
                  <a:srgbClr val="000066"/>
                </a:solidFill>
              </a:rPr>
              <a:t>时，把扩散电流记为</a:t>
            </a:r>
          </a:p>
        </p:txBody>
      </p:sp>
      <p:graphicFrame>
        <p:nvGraphicFramePr>
          <p:cNvPr id="438285" name="Object 13">
            <a:extLst>
              <a:ext uri="{FF2B5EF4-FFF2-40B4-BE49-F238E27FC236}">
                <a16:creationId xmlns:a16="http://schemas.microsoft.com/office/drawing/2014/main" id="{8637871E-9BCF-494C-8990-3DB0CD5BFC2C}"/>
              </a:ext>
            </a:extLst>
          </p:cNvPr>
          <p:cNvGraphicFramePr>
            <a:graphicFrameLocks noChangeAspect="1"/>
          </p:cNvGraphicFramePr>
          <p:nvPr>
            <p:extLst>
              <p:ext uri="{D42A27DB-BD31-4B8C-83A1-F6EECF244321}">
                <p14:modId xmlns:p14="http://schemas.microsoft.com/office/powerpoint/2010/main" val="625708940"/>
              </p:ext>
            </p:extLst>
          </p:nvPr>
        </p:nvGraphicFramePr>
        <p:xfrm>
          <a:off x="1354138" y="1691998"/>
          <a:ext cx="3657600" cy="862013"/>
        </p:xfrm>
        <a:graphic>
          <a:graphicData uri="http://schemas.openxmlformats.org/presentationml/2006/ole">
            <mc:AlternateContent xmlns:mc="http://schemas.openxmlformats.org/markup-compatibility/2006">
              <mc:Choice xmlns:v="urn:schemas-microsoft-com:vml" Requires="v">
                <p:oleObj spid="_x0000_s133274" r:id="rId3" imgW="2184400" imgH="495300" progId="Equation.3">
                  <p:embed/>
                </p:oleObj>
              </mc:Choice>
              <mc:Fallback>
                <p:oleObj r:id="rId3" imgW="2184400" imgH="495300" progId="Equation.3">
                  <p:embed/>
                  <p:pic>
                    <p:nvPicPr>
                      <p:cNvPr id="438285" name="Object 13">
                        <a:extLst>
                          <a:ext uri="{FF2B5EF4-FFF2-40B4-BE49-F238E27FC236}">
                            <a16:creationId xmlns:a16="http://schemas.microsoft.com/office/drawing/2014/main" id="{8637871E-9BCF-494C-8990-3DB0CD5BFC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4138" y="1691998"/>
                        <a:ext cx="36576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8286" name="Rectangle 14">
            <a:extLst>
              <a:ext uri="{FF2B5EF4-FFF2-40B4-BE49-F238E27FC236}">
                <a16:creationId xmlns:a16="http://schemas.microsoft.com/office/drawing/2014/main" id="{E36B9AF6-92C9-4096-8108-2123AA03C71B}"/>
              </a:ext>
            </a:extLst>
          </p:cNvPr>
          <p:cNvSpPr>
            <a:spLocks noChangeArrowheads="1"/>
          </p:cNvSpPr>
          <p:nvPr/>
        </p:nvSpPr>
        <p:spPr bwMode="auto">
          <a:xfrm>
            <a:off x="250825" y="3284538"/>
            <a:ext cx="6192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b="1" dirty="0">
                <a:solidFill>
                  <a:srgbClr val="993300"/>
                </a:solidFill>
              </a:rPr>
              <a:t>复合电流与扩散电流的比较（</a:t>
            </a:r>
            <a:r>
              <a:rPr kumimoji="0" lang="zh-CN" altLang="en-US" b="1" dirty="0">
                <a:solidFill>
                  <a:srgbClr val="000066"/>
                </a:solidFill>
              </a:rPr>
              <a:t>对于</a:t>
            </a:r>
            <a:r>
              <a:rPr kumimoji="0" lang="en-US" altLang="zh-CN" b="1" dirty="0">
                <a:solidFill>
                  <a:srgbClr val="000066"/>
                </a:solidFill>
              </a:rPr>
              <a:t>P+N</a:t>
            </a:r>
            <a:r>
              <a:rPr kumimoji="0" lang="zh-CN" altLang="en-US" b="1" dirty="0">
                <a:solidFill>
                  <a:srgbClr val="000066"/>
                </a:solidFill>
              </a:rPr>
              <a:t>结）</a:t>
            </a:r>
            <a:endParaRPr kumimoji="0" lang="en-US" altLang="zh-CN" b="1" dirty="0">
              <a:solidFill>
                <a:srgbClr val="000066"/>
              </a:solidFill>
            </a:endParaRPr>
          </a:p>
        </p:txBody>
      </p:sp>
      <p:graphicFrame>
        <p:nvGraphicFramePr>
          <p:cNvPr id="438287" name="Object 15">
            <a:extLst>
              <a:ext uri="{FF2B5EF4-FFF2-40B4-BE49-F238E27FC236}">
                <a16:creationId xmlns:a16="http://schemas.microsoft.com/office/drawing/2014/main" id="{8758AB04-C802-42F3-9C55-27676B572B6C}"/>
              </a:ext>
            </a:extLst>
          </p:cNvPr>
          <p:cNvGraphicFramePr>
            <a:graphicFrameLocks noChangeAspect="1"/>
          </p:cNvGraphicFramePr>
          <p:nvPr/>
        </p:nvGraphicFramePr>
        <p:xfrm>
          <a:off x="755650" y="3933825"/>
          <a:ext cx="3124200" cy="733425"/>
        </p:xfrm>
        <a:graphic>
          <a:graphicData uri="http://schemas.openxmlformats.org/presentationml/2006/ole">
            <mc:AlternateContent xmlns:mc="http://schemas.openxmlformats.org/markup-compatibility/2006">
              <mc:Choice xmlns:v="urn:schemas-microsoft-com:vml" Requires="v">
                <p:oleObj spid="_x0000_s133275" name="Equation" r:id="rId5" imgW="1828800" imgH="431800" progId="Equation.DSMT4">
                  <p:embed/>
                </p:oleObj>
              </mc:Choice>
              <mc:Fallback>
                <p:oleObj name="Equation" r:id="rId5" imgW="1828800" imgH="431800" progId="Equation.DSMT4">
                  <p:embed/>
                  <p:pic>
                    <p:nvPicPr>
                      <p:cNvPr id="438287" name="Object 15">
                        <a:extLst>
                          <a:ext uri="{FF2B5EF4-FFF2-40B4-BE49-F238E27FC236}">
                            <a16:creationId xmlns:a16="http://schemas.microsoft.com/office/drawing/2014/main" id="{8758AB04-C802-42F3-9C55-27676B572B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933825"/>
                        <a:ext cx="31242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8288" name="Object 16">
            <a:extLst>
              <a:ext uri="{FF2B5EF4-FFF2-40B4-BE49-F238E27FC236}">
                <a16:creationId xmlns:a16="http://schemas.microsoft.com/office/drawing/2014/main" id="{32B4854F-280D-4D19-8DEE-AF21D3441113}"/>
              </a:ext>
            </a:extLst>
          </p:cNvPr>
          <p:cNvGraphicFramePr>
            <a:graphicFrameLocks noChangeAspect="1"/>
          </p:cNvGraphicFramePr>
          <p:nvPr/>
        </p:nvGraphicFramePr>
        <p:xfrm>
          <a:off x="4716463" y="3789363"/>
          <a:ext cx="2384425" cy="711200"/>
        </p:xfrm>
        <a:graphic>
          <a:graphicData uri="http://schemas.openxmlformats.org/presentationml/2006/ole">
            <mc:AlternateContent xmlns:mc="http://schemas.openxmlformats.org/markup-compatibility/2006">
              <mc:Choice xmlns:v="urn:schemas-microsoft-com:vml" Requires="v">
                <p:oleObj spid="_x0000_s133276" name="Equation" r:id="rId7" imgW="1548728" imgH="482391" progId="Equation.DSMT4">
                  <p:embed/>
                </p:oleObj>
              </mc:Choice>
              <mc:Fallback>
                <p:oleObj name="Equation" r:id="rId7" imgW="1548728" imgH="482391" progId="Equation.DSMT4">
                  <p:embed/>
                  <p:pic>
                    <p:nvPicPr>
                      <p:cNvPr id="438288" name="Object 16">
                        <a:extLst>
                          <a:ext uri="{FF2B5EF4-FFF2-40B4-BE49-F238E27FC236}">
                            <a16:creationId xmlns:a16="http://schemas.microsoft.com/office/drawing/2014/main" id="{32B4854F-280D-4D19-8DEE-AF21D344111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6463" y="3789363"/>
                        <a:ext cx="238442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20">
            <a:extLst>
              <a:ext uri="{FF2B5EF4-FFF2-40B4-BE49-F238E27FC236}">
                <a16:creationId xmlns:a16="http://schemas.microsoft.com/office/drawing/2014/main" id="{4BDF2932-E45F-4C29-AB40-03097B445D07}"/>
              </a:ext>
            </a:extLst>
          </p:cNvPr>
          <p:cNvGrpSpPr>
            <a:grpSpLocks/>
          </p:cNvGrpSpPr>
          <p:nvPr/>
        </p:nvGrpSpPr>
        <p:grpSpPr bwMode="auto">
          <a:xfrm>
            <a:off x="684213" y="4797425"/>
            <a:ext cx="8459787" cy="1247775"/>
            <a:chOff x="431" y="3022"/>
            <a:chExt cx="5329" cy="786"/>
          </a:xfrm>
        </p:grpSpPr>
        <p:sp>
          <p:nvSpPr>
            <p:cNvPr id="47115" name="Rectangle 17">
              <a:extLst>
                <a:ext uri="{FF2B5EF4-FFF2-40B4-BE49-F238E27FC236}">
                  <a16:creationId xmlns:a16="http://schemas.microsoft.com/office/drawing/2014/main" id="{3FE0F56C-630A-400D-ADF4-3AEE1F254E07}"/>
                </a:ext>
              </a:extLst>
            </p:cNvPr>
            <p:cNvSpPr>
              <a:spLocks noChangeArrowheads="1"/>
            </p:cNvSpPr>
            <p:nvPr/>
          </p:nvSpPr>
          <p:spPr bwMode="auto">
            <a:xfrm>
              <a:off x="431" y="3022"/>
              <a:ext cx="5329"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zh-CN" altLang="en-US" sz="2000" b="1">
                  <a:solidFill>
                    <a:srgbClr val="000066"/>
                  </a:solidFill>
                </a:rPr>
                <a:t>上式表明，若        越小，电压愈低，则势垒区复合电流的影响愈大；</a:t>
              </a:r>
            </a:p>
            <a:p>
              <a:pPr>
                <a:lnSpc>
                  <a:spcPct val="120000"/>
                </a:lnSpc>
                <a:spcBef>
                  <a:spcPct val="20000"/>
                </a:spcBef>
              </a:pPr>
              <a:r>
                <a:rPr kumimoji="0" lang="zh-CN" altLang="en-US" sz="2000" b="1">
                  <a:solidFill>
                    <a:srgbClr val="16165D"/>
                  </a:solidFill>
                </a:rPr>
                <a:t>半导体材料的禁带宽度愈大，势垒区复合电流愈大；硅</a:t>
              </a:r>
              <a:r>
                <a:rPr kumimoji="0" lang="en-US" altLang="zh-CN" sz="2000" b="1">
                  <a:solidFill>
                    <a:srgbClr val="16165D"/>
                  </a:solidFill>
                </a:rPr>
                <a:t>PN</a:t>
              </a:r>
              <a:r>
                <a:rPr kumimoji="0" lang="zh-CN" altLang="en-US" sz="2000" b="1">
                  <a:solidFill>
                    <a:srgbClr val="16165D"/>
                  </a:solidFill>
                </a:rPr>
                <a:t>结比锗</a:t>
              </a:r>
              <a:r>
                <a:rPr kumimoji="0" lang="en-US" altLang="zh-CN" sz="2000" b="1">
                  <a:solidFill>
                    <a:srgbClr val="16165D"/>
                  </a:solidFill>
                </a:rPr>
                <a:t>PN</a:t>
              </a:r>
              <a:r>
                <a:rPr kumimoji="0" lang="zh-CN" altLang="en-US" sz="2000" b="1">
                  <a:solidFill>
                    <a:srgbClr val="16165D"/>
                  </a:solidFill>
                </a:rPr>
                <a:t>结势垒区复合电流大； </a:t>
              </a:r>
              <a:r>
                <a:rPr kumimoji="0" lang="en-US" altLang="zh-CN" sz="2000" b="1">
                  <a:solidFill>
                    <a:srgbClr val="16165D"/>
                  </a:solidFill>
                </a:rPr>
                <a:t>PN</a:t>
              </a:r>
              <a:r>
                <a:rPr kumimoji="0" lang="zh-CN" altLang="en-US" sz="2000" b="1">
                  <a:solidFill>
                    <a:srgbClr val="16165D"/>
                  </a:solidFill>
                </a:rPr>
                <a:t>结轻掺杂区杂质浓度愈大，势垒区复合电流愈大。</a:t>
              </a:r>
              <a:r>
                <a:rPr lang="ko-KR" altLang="en-US" sz="2000"/>
                <a:t> </a:t>
              </a:r>
            </a:p>
          </p:txBody>
        </p:sp>
        <p:graphicFrame>
          <p:nvGraphicFramePr>
            <p:cNvPr id="47116" name="Object 18">
              <a:extLst>
                <a:ext uri="{FF2B5EF4-FFF2-40B4-BE49-F238E27FC236}">
                  <a16:creationId xmlns:a16="http://schemas.microsoft.com/office/drawing/2014/main" id="{D0CDCFC8-70C5-4F15-B740-17328972979A}"/>
                </a:ext>
              </a:extLst>
            </p:cNvPr>
            <p:cNvGraphicFramePr>
              <a:graphicFrameLocks noChangeAspect="1"/>
            </p:cNvGraphicFramePr>
            <p:nvPr/>
          </p:nvGraphicFramePr>
          <p:xfrm>
            <a:off x="1519" y="3067"/>
            <a:ext cx="576" cy="243"/>
          </p:xfrm>
          <a:graphic>
            <a:graphicData uri="http://schemas.openxmlformats.org/presentationml/2006/ole">
              <mc:AlternateContent xmlns:mc="http://schemas.openxmlformats.org/markup-compatibility/2006">
                <mc:Choice xmlns:v="urn:schemas-microsoft-com:vml" Requires="v">
                  <p:oleObj spid="_x0000_s133277" r:id="rId9" imgW="545863" imgH="228501" progId="Equation.3">
                    <p:embed/>
                  </p:oleObj>
                </mc:Choice>
                <mc:Fallback>
                  <p:oleObj r:id="rId9" imgW="545863" imgH="228501" progId="Equation.3">
                    <p:embed/>
                    <p:pic>
                      <p:nvPicPr>
                        <p:cNvPr id="47116" name="Object 18">
                          <a:extLst>
                            <a:ext uri="{FF2B5EF4-FFF2-40B4-BE49-F238E27FC236}">
                              <a16:creationId xmlns:a16="http://schemas.microsoft.com/office/drawing/2014/main" id="{D0CDCFC8-70C5-4F15-B740-17328972979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19" y="3067"/>
                          <a:ext cx="57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38291" name="Rectangle 19">
            <a:extLst>
              <a:ext uri="{FF2B5EF4-FFF2-40B4-BE49-F238E27FC236}">
                <a16:creationId xmlns:a16="http://schemas.microsoft.com/office/drawing/2014/main" id="{F2049B93-2DDD-4919-B944-5A9E63F507CC}"/>
              </a:ext>
            </a:extLst>
          </p:cNvPr>
          <p:cNvSpPr>
            <a:spLocks noChangeArrowheads="1"/>
          </p:cNvSpPr>
          <p:nvPr/>
        </p:nvSpPr>
        <p:spPr bwMode="auto">
          <a:xfrm>
            <a:off x="4572000" y="3716338"/>
            <a:ext cx="2592388" cy="865187"/>
          </a:xfrm>
          <a:prstGeom prst="rect">
            <a:avLst/>
          </a:prstGeom>
          <a:noFill/>
          <a:ln w="23876">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267782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8282"/>
                                        </p:tgtEl>
                                        <p:attrNameLst>
                                          <p:attrName>style.visibility</p:attrName>
                                        </p:attrNameLst>
                                      </p:cBhvr>
                                      <p:to>
                                        <p:strVal val="visible"/>
                                      </p:to>
                                    </p:set>
                                    <p:animEffect transition="in" filter="blinds(horizontal)">
                                      <p:cBhvr>
                                        <p:cTn id="7" dur="500"/>
                                        <p:tgtEl>
                                          <p:spTgt spid="4382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38285"/>
                                        </p:tgtEl>
                                        <p:attrNameLst>
                                          <p:attrName>style.visibility</p:attrName>
                                        </p:attrNameLst>
                                      </p:cBhvr>
                                      <p:to>
                                        <p:strVal val="visible"/>
                                      </p:to>
                                    </p:set>
                                    <p:animEffect transition="in" filter="blinds(horizontal)">
                                      <p:cBhvr>
                                        <p:cTn id="12" dur="500"/>
                                        <p:tgtEl>
                                          <p:spTgt spid="4382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8286"/>
                                        </p:tgtEl>
                                        <p:attrNameLst>
                                          <p:attrName>style.visibility</p:attrName>
                                        </p:attrNameLst>
                                      </p:cBhvr>
                                      <p:to>
                                        <p:strVal val="visible"/>
                                      </p:to>
                                    </p:set>
                                    <p:animEffect transition="in" filter="blinds(horizontal)">
                                      <p:cBhvr>
                                        <p:cTn id="17" dur="500"/>
                                        <p:tgtEl>
                                          <p:spTgt spid="4382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38287"/>
                                        </p:tgtEl>
                                        <p:attrNameLst>
                                          <p:attrName>style.visibility</p:attrName>
                                        </p:attrNameLst>
                                      </p:cBhvr>
                                      <p:to>
                                        <p:strVal val="visible"/>
                                      </p:to>
                                    </p:set>
                                    <p:animEffect transition="in" filter="blinds(horizontal)">
                                      <p:cBhvr>
                                        <p:cTn id="22" dur="500"/>
                                        <p:tgtEl>
                                          <p:spTgt spid="4382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38288"/>
                                        </p:tgtEl>
                                        <p:attrNameLst>
                                          <p:attrName>style.visibility</p:attrName>
                                        </p:attrNameLst>
                                      </p:cBhvr>
                                      <p:to>
                                        <p:strVal val="visible"/>
                                      </p:to>
                                    </p:set>
                                    <p:animEffect transition="in" filter="blinds(horizontal)">
                                      <p:cBhvr>
                                        <p:cTn id="27" dur="500"/>
                                        <p:tgtEl>
                                          <p:spTgt spid="4382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38291"/>
                                        </p:tgtEl>
                                        <p:attrNameLst>
                                          <p:attrName>style.visibility</p:attrName>
                                        </p:attrNameLst>
                                      </p:cBhvr>
                                      <p:to>
                                        <p:strVal val="visible"/>
                                      </p:to>
                                    </p:set>
                                    <p:animEffect transition="in" filter="blinds(horizontal)">
                                      <p:cBhvr>
                                        <p:cTn id="32" dur="500"/>
                                        <p:tgtEl>
                                          <p:spTgt spid="4382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82" grpId="0"/>
      <p:bldP spid="438286" grpId="0"/>
      <p:bldP spid="43829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575DDF21-0E8A-466E-83A9-3963517E9C43}"/>
              </a:ext>
            </a:extLst>
          </p:cNvPr>
          <p:cNvSpPr>
            <a:spLocks noChangeArrowheads="1"/>
          </p:cNvSpPr>
          <p:nvPr/>
        </p:nvSpPr>
        <p:spPr bwMode="auto">
          <a:xfrm>
            <a:off x="266700" y="829656"/>
            <a:ext cx="8610600"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latinLnBrk="0">
              <a:lnSpc>
                <a:spcPct val="140000"/>
              </a:lnSpc>
            </a:pPr>
            <a:r>
              <a:rPr lang="en-US" altLang="zh-CN" b="1" dirty="0">
                <a:solidFill>
                  <a:srgbClr val="000000"/>
                </a:solidFill>
                <a:latin typeface="Times New Roman" panose="02020603050405020304" pitchFamily="18" charset="0"/>
              </a:rPr>
              <a:t>PN</a:t>
            </a:r>
            <a:r>
              <a:rPr lang="zh-CN" altLang="en-US" b="1" dirty="0">
                <a:solidFill>
                  <a:srgbClr val="000000"/>
                </a:solidFill>
                <a:latin typeface="Times New Roman" panose="02020603050405020304" pitchFamily="18" charset="0"/>
              </a:rPr>
              <a:t>结反偏时，由于空间电荷区对载流子的抽取作用，空间电荷区的载流子浓度低于平衡值</a:t>
            </a:r>
            <a:r>
              <a:rPr lang="zh-CN" altLang="en-US" b="1" dirty="0">
                <a:solidFill>
                  <a:srgbClr val="FF0000"/>
                </a:solidFill>
              </a:rPr>
              <a:t>（</a:t>
            </a:r>
            <a:r>
              <a:rPr lang="en-US" altLang="zh-CN" b="1" i="1" dirty="0" err="1">
                <a:solidFill>
                  <a:srgbClr val="FF0000"/>
                </a:solidFill>
                <a:latin typeface="Times New Roman" panose="02020603050405020304" pitchFamily="18" charset="0"/>
              </a:rPr>
              <a:t>pn</a:t>
            </a:r>
            <a:r>
              <a:rPr lang="en-US" altLang="zh-CN" b="1" i="1" dirty="0">
                <a:solidFill>
                  <a:srgbClr val="FF0000"/>
                </a:solidFill>
                <a:latin typeface="Times New Roman" panose="02020603050405020304" pitchFamily="18" charset="0"/>
              </a:rPr>
              <a:t> </a:t>
            </a:r>
            <a:r>
              <a:rPr lang="en-US" altLang="zh-CN" b="1" dirty="0">
                <a:solidFill>
                  <a:srgbClr val="FF0000"/>
                </a:solidFill>
                <a:latin typeface="Times New Roman" panose="02020603050405020304" pitchFamily="18" charset="0"/>
              </a:rPr>
              <a:t>&lt; </a:t>
            </a:r>
            <a:r>
              <a:rPr lang="en-US" altLang="zh-CN" b="1" i="1" dirty="0">
                <a:solidFill>
                  <a:srgbClr val="FF0000"/>
                </a:solidFill>
                <a:latin typeface="Times New Roman" panose="02020603050405020304" pitchFamily="18" charset="0"/>
              </a:rPr>
              <a:t>n</a:t>
            </a:r>
            <a:r>
              <a:rPr lang="en-US" altLang="zh-CN" b="1" i="1" baseline="-25000" dirty="0">
                <a:solidFill>
                  <a:srgbClr val="FF0000"/>
                </a:solidFill>
                <a:latin typeface="Times New Roman" panose="02020603050405020304" pitchFamily="18" charset="0"/>
              </a:rPr>
              <a:t>i</a:t>
            </a:r>
            <a:r>
              <a:rPr lang="en-US" altLang="zh-CN" b="1" baseline="30000" dirty="0">
                <a:solidFill>
                  <a:srgbClr val="FF0000"/>
                </a:solidFill>
                <a:latin typeface="Times New Roman" panose="02020603050405020304" pitchFamily="18" charset="0"/>
              </a:rPr>
              <a:t>2</a:t>
            </a:r>
            <a:r>
              <a:rPr lang="en-US" altLang="zh-CN" b="1" dirty="0">
                <a:solidFill>
                  <a:srgbClr val="FF0000"/>
                </a:solidFill>
              </a:rPr>
              <a:t>）</a:t>
            </a:r>
            <a:r>
              <a:rPr lang="zh-CN" altLang="en-US" b="1" dirty="0">
                <a:solidFill>
                  <a:srgbClr val="000000"/>
                </a:solidFill>
                <a:latin typeface="Times New Roman" panose="02020603050405020304" pitchFamily="18" charset="0"/>
              </a:rPr>
              <a:t> ，所以产生率大于复合率，净产生率不为零，空间电荷区内存在产生电流。体内扩散电流来自</a:t>
            </a:r>
            <a:r>
              <a:rPr lang="en-US" altLang="zh-CN" b="1" dirty="0">
                <a:solidFill>
                  <a:srgbClr val="000000"/>
                </a:solidFill>
                <a:latin typeface="Times New Roman" panose="02020603050405020304" pitchFamily="18" charset="0"/>
              </a:rPr>
              <a:t>PN</a:t>
            </a:r>
            <a:r>
              <a:rPr lang="zh-CN" altLang="en-US" b="1" dirty="0">
                <a:solidFill>
                  <a:srgbClr val="000000"/>
                </a:solidFill>
                <a:latin typeface="Times New Roman" panose="02020603050405020304" pitchFamily="18" charset="0"/>
              </a:rPr>
              <a:t>结两侧</a:t>
            </a:r>
            <a:r>
              <a:rPr lang="en-US" altLang="zh-CN" b="1" dirty="0">
                <a:solidFill>
                  <a:srgbClr val="000000"/>
                </a:solidFill>
                <a:latin typeface="Times New Roman" panose="02020603050405020304" pitchFamily="18" charset="0"/>
              </a:rPr>
              <a:t>P</a:t>
            </a:r>
            <a:r>
              <a:rPr lang="zh-CN" altLang="en-US" b="1" dirty="0">
                <a:solidFill>
                  <a:srgbClr val="000000"/>
                </a:solidFill>
                <a:latin typeface="Times New Roman" panose="02020603050405020304" pitchFamily="18" charset="0"/>
              </a:rPr>
              <a:t>区和</a:t>
            </a:r>
            <a:r>
              <a:rPr lang="en-US" altLang="zh-CN" b="1" dirty="0">
                <a:solidFill>
                  <a:srgbClr val="000000"/>
                </a:solidFill>
                <a:latin typeface="Times New Roman" panose="02020603050405020304" pitchFamily="18" charset="0"/>
              </a:rPr>
              <a:t>N</a:t>
            </a:r>
            <a:r>
              <a:rPr lang="zh-CN" altLang="en-US" b="1" dirty="0">
                <a:solidFill>
                  <a:srgbClr val="000000"/>
                </a:solidFill>
                <a:latin typeface="Times New Roman" panose="02020603050405020304" pitchFamily="18" charset="0"/>
              </a:rPr>
              <a:t>区内产生的电子和空穴，而空间电荷区中的产生电流，是指空间电荷区中复合中心产生出来的电子－空穴对形成的电流。</a:t>
            </a:r>
          </a:p>
        </p:txBody>
      </p:sp>
      <p:sp>
        <p:nvSpPr>
          <p:cNvPr id="4" name="Rectangle 3">
            <a:extLst>
              <a:ext uri="{FF2B5EF4-FFF2-40B4-BE49-F238E27FC236}">
                <a16:creationId xmlns:a16="http://schemas.microsoft.com/office/drawing/2014/main" id="{36DA1A0D-6454-4C13-8863-3621A766709B}"/>
              </a:ext>
            </a:extLst>
          </p:cNvPr>
          <p:cNvSpPr>
            <a:spLocks noChangeArrowheads="1"/>
          </p:cNvSpPr>
          <p:nvPr/>
        </p:nvSpPr>
        <p:spPr bwMode="auto">
          <a:xfrm>
            <a:off x="323528" y="134938"/>
            <a:ext cx="5761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dirty="0">
                <a:solidFill>
                  <a:srgbClr val="993300"/>
                </a:solidFill>
              </a:rPr>
              <a:t>2.</a:t>
            </a:r>
            <a:r>
              <a:rPr lang="zh-CN" altLang="en-US" b="1" dirty="0">
                <a:solidFill>
                  <a:srgbClr val="993300"/>
                </a:solidFill>
              </a:rPr>
              <a:t>反向</a:t>
            </a:r>
            <a:r>
              <a:rPr lang="en-US" altLang="zh-CN" b="1" dirty="0">
                <a:solidFill>
                  <a:srgbClr val="993300"/>
                </a:solidFill>
              </a:rPr>
              <a:t>PN</a:t>
            </a:r>
            <a:r>
              <a:rPr lang="zh-CN" altLang="en-US" b="1" dirty="0">
                <a:solidFill>
                  <a:srgbClr val="993300"/>
                </a:solidFill>
              </a:rPr>
              <a:t>结空间电荷区产生电流</a:t>
            </a:r>
            <a:endParaRPr lang="en-US" altLang="zh-CN" b="1" dirty="0">
              <a:solidFill>
                <a:srgbClr val="993300"/>
              </a:solidFill>
            </a:endParaRPr>
          </a:p>
        </p:txBody>
      </p:sp>
      <p:sp>
        <p:nvSpPr>
          <p:cNvPr id="6" name="Rectangle 3">
            <a:extLst>
              <a:ext uri="{FF2B5EF4-FFF2-40B4-BE49-F238E27FC236}">
                <a16:creationId xmlns:a16="http://schemas.microsoft.com/office/drawing/2014/main" id="{49AAD143-E0B5-4755-86C4-CABE777833B4}"/>
              </a:ext>
            </a:extLst>
          </p:cNvPr>
          <p:cNvSpPr>
            <a:spLocks noChangeArrowheads="1"/>
          </p:cNvSpPr>
          <p:nvPr/>
        </p:nvSpPr>
        <p:spPr bwMode="auto">
          <a:xfrm>
            <a:off x="270365" y="4684432"/>
            <a:ext cx="8610600" cy="334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0">
              <a:lnSpc>
                <a:spcPct val="140000"/>
              </a:lnSpc>
              <a:spcBef>
                <a:spcPct val="50000"/>
              </a:spcBef>
            </a:pPr>
            <a:r>
              <a:rPr lang="en-US" altLang="zh-CN" b="1" dirty="0">
                <a:solidFill>
                  <a:srgbClr val="000000"/>
                </a:solidFill>
                <a:latin typeface="Times New Roman" panose="02020603050405020304" pitchFamily="18" charset="0"/>
              </a:rPr>
              <a:t>CBAD: </a:t>
            </a:r>
            <a:r>
              <a:rPr lang="zh-CN" altLang="en-US" b="1" dirty="0">
                <a:solidFill>
                  <a:srgbClr val="000000"/>
                </a:solidFill>
                <a:latin typeface="Times New Roman" panose="02020603050405020304" pitchFamily="18" charset="0"/>
              </a:rPr>
              <a:t>反向电子扩散电流，在</a:t>
            </a:r>
            <a:r>
              <a:rPr lang="en-US" altLang="zh-CN" b="1" dirty="0">
                <a:solidFill>
                  <a:srgbClr val="000000"/>
                </a:solidFill>
                <a:latin typeface="Times New Roman" panose="02020603050405020304" pitchFamily="18" charset="0"/>
              </a:rPr>
              <a:t>P</a:t>
            </a:r>
            <a:r>
              <a:rPr lang="zh-CN" altLang="en-US" b="1" dirty="0">
                <a:solidFill>
                  <a:srgbClr val="000000"/>
                </a:solidFill>
                <a:latin typeface="Times New Roman" panose="02020603050405020304" pitchFamily="18" charset="0"/>
              </a:rPr>
              <a:t>区通过复合中心产生的电子</a:t>
            </a:r>
            <a:r>
              <a:rPr lang="en-US" altLang="zh-CN" b="1" dirty="0">
                <a:solidFill>
                  <a:srgbClr val="000000"/>
                </a:solidFill>
                <a:latin typeface="Times New Roman" panose="02020603050405020304" pitchFamily="18" charset="0"/>
              </a:rPr>
              <a:t>A</a:t>
            </a:r>
            <a:r>
              <a:rPr lang="zh-CN" altLang="en-US" b="1" dirty="0">
                <a:solidFill>
                  <a:srgbClr val="000000"/>
                </a:solidFill>
                <a:latin typeface="Times New Roman" panose="02020603050405020304" pitchFamily="18" charset="0"/>
              </a:rPr>
              <a:t>和空穴</a:t>
            </a:r>
            <a:r>
              <a:rPr lang="en-US" altLang="zh-CN" b="1" dirty="0">
                <a:solidFill>
                  <a:srgbClr val="000000"/>
                </a:solidFill>
                <a:latin typeface="Times New Roman" panose="02020603050405020304" pitchFamily="18" charset="0"/>
              </a:rPr>
              <a:t>B，</a:t>
            </a:r>
            <a:r>
              <a:rPr lang="zh-CN" altLang="en-US" b="1" dirty="0">
                <a:solidFill>
                  <a:srgbClr val="000000"/>
                </a:solidFill>
                <a:latin typeface="Times New Roman" panose="02020603050405020304" pitchFamily="18" charset="0"/>
              </a:rPr>
              <a:t>电子由</a:t>
            </a:r>
            <a:r>
              <a:rPr lang="en-US" altLang="zh-CN" b="1" dirty="0">
                <a:solidFill>
                  <a:srgbClr val="000000"/>
                </a:solidFill>
                <a:latin typeface="Times New Roman" panose="02020603050405020304" pitchFamily="18" charset="0"/>
              </a:rPr>
              <a:t>A</a:t>
            </a:r>
            <a:r>
              <a:rPr lang="zh-CN" altLang="en-US" b="1" dirty="0">
                <a:solidFill>
                  <a:srgbClr val="000000"/>
                </a:solidFill>
                <a:latin typeface="Times New Roman" panose="02020603050405020304" pitchFamily="18" charset="0"/>
              </a:rPr>
              <a:t>扩散到</a:t>
            </a:r>
            <a:r>
              <a:rPr lang="en-US" altLang="zh-CN" b="1" dirty="0">
                <a:solidFill>
                  <a:srgbClr val="000000"/>
                </a:solidFill>
                <a:latin typeface="Times New Roman" panose="02020603050405020304" pitchFamily="18" charset="0"/>
              </a:rPr>
              <a:t>PN</a:t>
            </a:r>
            <a:r>
              <a:rPr lang="zh-CN" altLang="en-US" b="1" dirty="0">
                <a:solidFill>
                  <a:srgbClr val="000000"/>
                </a:solidFill>
                <a:latin typeface="Times New Roman" panose="02020603050405020304" pitchFamily="18" charset="0"/>
              </a:rPr>
              <a:t>结空间电荷区，并被电场扫到</a:t>
            </a:r>
            <a:r>
              <a:rPr lang="en-US" altLang="zh-CN" b="1" dirty="0">
                <a:solidFill>
                  <a:srgbClr val="000000"/>
                </a:solidFill>
                <a:latin typeface="Times New Roman" panose="02020603050405020304" pitchFamily="18" charset="0"/>
              </a:rPr>
              <a:t>N</a:t>
            </a:r>
            <a:r>
              <a:rPr lang="zh-CN" altLang="en-US" b="1" dirty="0">
                <a:solidFill>
                  <a:srgbClr val="000000"/>
                </a:solidFill>
                <a:latin typeface="Times New Roman" panose="02020603050405020304" pitchFamily="18" charset="0"/>
              </a:rPr>
              <a:t>区流向右方，而空穴流向左方。 </a:t>
            </a:r>
            <a:r>
              <a:rPr lang="en-US" altLang="zh-CN" b="1" dirty="0">
                <a:solidFill>
                  <a:srgbClr val="000000"/>
                </a:solidFill>
                <a:latin typeface="Times New Roman" panose="02020603050405020304" pitchFamily="18" charset="0"/>
              </a:rPr>
              <a:t>C’B’A’D’</a:t>
            </a:r>
            <a:r>
              <a:rPr lang="zh-CN" altLang="en-US" b="1" dirty="0">
                <a:solidFill>
                  <a:srgbClr val="000000"/>
                </a:solidFill>
                <a:latin typeface="Times New Roman" panose="02020603050405020304" pitchFamily="18" charset="0"/>
              </a:rPr>
              <a:t>空穴</a:t>
            </a:r>
          </a:p>
          <a:p>
            <a:pPr latinLnBrk="0">
              <a:lnSpc>
                <a:spcPct val="140000"/>
              </a:lnSpc>
              <a:spcBef>
                <a:spcPct val="50000"/>
              </a:spcBef>
            </a:pPr>
            <a:r>
              <a:rPr lang="en-US" altLang="zh-CN" b="1" dirty="0">
                <a:solidFill>
                  <a:srgbClr val="000000"/>
                </a:solidFill>
                <a:latin typeface="Times New Roman" panose="02020603050405020304" pitchFamily="18" charset="0"/>
              </a:rPr>
              <a:t>EFGH：PN</a:t>
            </a:r>
            <a:r>
              <a:rPr lang="zh-CN" altLang="en-US" b="1" dirty="0">
                <a:solidFill>
                  <a:srgbClr val="000000"/>
                </a:solidFill>
                <a:latin typeface="Times New Roman" panose="02020603050405020304" pitchFamily="18" charset="0"/>
              </a:rPr>
              <a:t>结空间电荷区中复合中心产生的电子空穴对被电场分别扫进</a:t>
            </a:r>
            <a:r>
              <a:rPr lang="en-US" altLang="zh-CN" b="1" dirty="0">
                <a:solidFill>
                  <a:srgbClr val="000000"/>
                </a:solidFill>
                <a:latin typeface="Times New Roman" panose="02020603050405020304" pitchFamily="18" charset="0"/>
              </a:rPr>
              <a:t>N</a:t>
            </a:r>
            <a:r>
              <a:rPr lang="zh-CN" altLang="en-US" b="1" dirty="0">
                <a:solidFill>
                  <a:srgbClr val="000000"/>
                </a:solidFill>
                <a:latin typeface="Times New Roman" panose="02020603050405020304" pitchFamily="18" charset="0"/>
              </a:rPr>
              <a:t>区和</a:t>
            </a:r>
            <a:r>
              <a:rPr lang="en-US" altLang="zh-CN" b="1" dirty="0">
                <a:solidFill>
                  <a:srgbClr val="000000"/>
                </a:solidFill>
                <a:latin typeface="Times New Roman" panose="02020603050405020304" pitchFamily="18" charset="0"/>
              </a:rPr>
              <a:t>P</a:t>
            </a:r>
            <a:r>
              <a:rPr lang="zh-CN" altLang="en-US" b="1" dirty="0">
                <a:solidFill>
                  <a:srgbClr val="000000"/>
                </a:solidFill>
                <a:latin typeface="Times New Roman" panose="02020603050405020304" pitchFamily="18" charset="0"/>
              </a:rPr>
              <a:t>区，这个产生电流是反向扩散电流之外的一个附加的反向电流。</a:t>
            </a:r>
          </a:p>
        </p:txBody>
      </p:sp>
      <p:sp>
        <p:nvSpPr>
          <p:cNvPr id="7" name="Rectangle 4">
            <a:extLst>
              <a:ext uri="{FF2B5EF4-FFF2-40B4-BE49-F238E27FC236}">
                <a16:creationId xmlns:a16="http://schemas.microsoft.com/office/drawing/2014/main" id="{90D3778F-4B54-42F4-891C-ED9628E10DD5}"/>
              </a:ext>
            </a:extLst>
          </p:cNvPr>
          <p:cNvSpPr>
            <a:spLocks noChangeArrowheads="1"/>
          </p:cNvSpPr>
          <p:nvPr/>
        </p:nvSpPr>
        <p:spPr bwMode="auto">
          <a:xfrm>
            <a:off x="5564597" y="3120851"/>
            <a:ext cx="297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2000" dirty="0">
                <a:solidFill>
                  <a:srgbClr val="0000FF"/>
                </a:solidFill>
                <a:latin typeface="Times New Roman" panose="02020603050405020304" pitchFamily="18" charset="0"/>
                <a:ea typeface="黑体" panose="02010609060101010101" pitchFamily="49" charset="-122"/>
              </a:rPr>
              <a:t>反向电流产生的物理过程</a:t>
            </a:r>
          </a:p>
        </p:txBody>
      </p:sp>
      <p:pic>
        <p:nvPicPr>
          <p:cNvPr id="8" name="Picture 4" descr="0228">
            <a:extLst>
              <a:ext uri="{FF2B5EF4-FFF2-40B4-BE49-F238E27FC236}">
                <a16:creationId xmlns:a16="http://schemas.microsoft.com/office/drawing/2014/main" id="{87AD8407-483D-40D1-A748-452E4D00F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538153"/>
            <a:ext cx="4248472" cy="2081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4676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7333732B-D66E-4A7A-B268-6C61CF525F58}"/>
              </a:ext>
            </a:extLst>
          </p:cNvPr>
          <p:cNvSpPr>
            <a:spLocks noChangeArrowheads="1"/>
          </p:cNvSpPr>
          <p:nvPr/>
        </p:nvSpPr>
        <p:spPr bwMode="auto">
          <a:xfrm>
            <a:off x="179512" y="4945062"/>
            <a:ext cx="86106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0">
              <a:lnSpc>
                <a:spcPct val="120000"/>
              </a:lnSpc>
            </a:pPr>
            <a:r>
              <a:rPr lang="zh-CN" altLang="en-US" b="1">
                <a:solidFill>
                  <a:srgbClr val="000000"/>
                </a:solidFill>
              </a:rPr>
              <a:t>空间电荷区复合中心的产生电流不像反向扩散电流那样会达到饱和值，而是随着反向偏压的增大而增大。这是因为，</a:t>
            </a:r>
            <a:r>
              <a:rPr lang="en-US" altLang="zh-CN" b="1">
                <a:solidFill>
                  <a:srgbClr val="000000"/>
                </a:solidFill>
              </a:rPr>
              <a:t>PN</a:t>
            </a:r>
            <a:r>
              <a:rPr lang="zh-CN" altLang="en-US" b="1">
                <a:solidFill>
                  <a:srgbClr val="000000"/>
                </a:solidFill>
              </a:rPr>
              <a:t>结空间电荷区随着反向偏压的增大而展宽，处于空间电荷区的复合中心数目增多，所以产生电流</a:t>
            </a:r>
            <a:r>
              <a:rPr lang="zh-CN" altLang="en-US" b="1">
                <a:solidFill>
                  <a:srgbClr val="000000"/>
                </a:solidFill>
                <a:latin typeface="Times New Roman" panose="02020603050405020304" pitchFamily="18" charset="0"/>
              </a:rPr>
              <a:t>增大</a:t>
            </a:r>
            <a:r>
              <a:rPr lang="en-US" altLang="zh-CN" b="1">
                <a:solidFill>
                  <a:srgbClr val="000000"/>
                </a:solidFill>
              </a:rPr>
              <a:t>。</a:t>
            </a:r>
          </a:p>
        </p:txBody>
      </p:sp>
      <p:pic>
        <p:nvPicPr>
          <p:cNvPr id="126979" name="Picture 3">
            <a:extLst>
              <a:ext uri="{FF2B5EF4-FFF2-40B4-BE49-F238E27FC236}">
                <a16:creationId xmlns:a16="http://schemas.microsoft.com/office/drawing/2014/main" id="{CB5ECCDD-93C7-4573-9E35-F67DBE4AA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3352799"/>
            <a:ext cx="38862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6980" name="Picture 4">
            <a:extLst>
              <a:ext uri="{FF2B5EF4-FFF2-40B4-BE49-F238E27FC236}">
                <a16:creationId xmlns:a16="http://schemas.microsoft.com/office/drawing/2014/main" id="{2099E824-7901-40F1-96D9-873FED318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519237"/>
            <a:ext cx="1981200"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6981" name="Rectangle 5">
            <a:extLst>
              <a:ext uri="{FF2B5EF4-FFF2-40B4-BE49-F238E27FC236}">
                <a16:creationId xmlns:a16="http://schemas.microsoft.com/office/drawing/2014/main" id="{CA6660C1-18D5-416C-B274-8791F687246A}"/>
              </a:ext>
            </a:extLst>
          </p:cNvPr>
          <p:cNvSpPr>
            <a:spLocks noChangeArrowheads="1"/>
          </p:cNvSpPr>
          <p:nvPr/>
        </p:nvSpPr>
        <p:spPr bwMode="auto">
          <a:xfrm>
            <a:off x="179512" y="2508251"/>
            <a:ext cx="83058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0">
              <a:lnSpc>
                <a:spcPct val="130000"/>
              </a:lnSpc>
            </a:pPr>
            <a:r>
              <a:rPr lang="en-US" altLang="zh-CN" b="1" i="1" dirty="0">
                <a:solidFill>
                  <a:srgbClr val="FF0000"/>
                </a:solidFill>
                <a:latin typeface="Times New Roman" panose="02020603050405020304" pitchFamily="18" charset="0"/>
              </a:rPr>
              <a:t>U</a:t>
            </a:r>
            <a:r>
              <a:rPr lang="en-US" altLang="zh-CN" b="1" dirty="0">
                <a:solidFill>
                  <a:srgbClr val="FF0000"/>
                </a:solidFill>
                <a:latin typeface="Times New Roman" panose="02020603050405020304" pitchFamily="18" charset="0"/>
              </a:rPr>
              <a:t>&lt;0</a:t>
            </a: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意味着正的产生率，所形成的电流是空间电荷区</a:t>
            </a:r>
            <a:r>
              <a:rPr lang="zh-CN" altLang="en-US" dirty="0">
                <a:solidFill>
                  <a:srgbClr val="0000FF"/>
                </a:solidFill>
                <a:latin typeface="Times New Roman" panose="02020603050405020304" pitchFamily="18" charset="0"/>
                <a:ea typeface="黑体" panose="02010609060101010101" pitchFamily="49" charset="-122"/>
              </a:rPr>
              <a:t>产生的电流</a:t>
            </a:r>
            <a:r>
              <a:rPr lang="zh-CN" altLang="en-US" b="1" dirty="0">
                <a:solidFill>
                  <a:srgbClr val="000000"/>
                </a:solidFill>
                <a:latin typeface="Times New Roman" panose="02020603050405020304" pitchFamily="18" charset="0"/>
              </a:rPr>
              <a:t>而不是复合电流：</a:t>
            </a:r>
          </a:p>
        </p:txBody>
      </p:sp>
      <p:pic>
        <p:nvPicPr>
          <p:cNvPr id="126982" name="Picture 6">
            <a:extLst>
              <a:ext uri="{FF2B5EF4-FFF2-40B4-BE49-F238E27FC236}">
                <a16:creationId xmlns:a16="http://schemas.microsoft.com/office/drawing/2014/main" id="{3DC7FEBF-236B-4540-BE7C-EC510E81E6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2808" y="528637"/>
            <a:ext cx="4829472" cy="103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6983" name="AutoShape 7">
            <a:extLst>
              <a:ext uri="{FF2B5EF4-FFF2-40B4-BE49-F238E27FC236}">
                <a16:creationId xmlns:a16="http://schemas.microsoft.com/office/drawing/2014/main" id="{B4092149-BE66-4C82-95DF-B29B750D9527}"/>
              </a:ext>
            </a:extLst>
          </p:cNvPr>
          <p:cNvSpPr>
            <a:spLocks noChangeArrowheads="1"/>
          </p:cNvSpPr>
          <p:nvPr/>
        </p:nvSpPr>
        <p:spPr bwMode="auto">
          <a:xfrm>
            <a:off x="1958008" y="1062037"/>
            <a:ext cx="304800" cy="685800"/>
          </a:xfrm>
          <a:prstGeom prst="curvedRightArrow">
            <a:avLst>
              <a:gd name="adj1" fmla="val 45000"/>
              <a:gd name="adj2" fmla="val 90000"/>
              <a:gd name="adj3" fmla="val 33333"/>
            </a:avLst>
          </a:prstGeom>
          <a:solidFill>
            <a:srgbClr val="00FFFF"/>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984" name="Rectangle 8">
            <a:extLst>
              <a:ext uri="{FF2B5EF4-FFF2-40B4-BE49-F238E27FC236}">
                <a16:creationId xmlns:a16="http://schemas.microsoft.com/office/drawing/2014/main" id="{FEF7702D-1980-424A-82E6-5CB382BE5A9C}"/>
              </a:ext>
            </a:extLst>
          </p:cNvPr>
          <p:cNvSpPr>
            <a:spLocks noChangeArrowheads="1"/>
          </p:cNvSpPr>
          <p:nvPr/>
        </p:nvSpPr>
        <p:spPr bwMode="auto">
          <a:xfrm>
            <a:off x="103312" y="4183062"/>
            <a:ext cx="1555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3600">
                <a:solidFill>
                  <a:srgbClr val="FF0000"/>
                </a:solidFill>
                <a:latin typeface="华文新魏" panose="02010800040101010101" pitchFamily="2" charset="-122"/>
                <a:ea typeface="华文新魏" panose="02010800040101010101" pitchFamily="2" charset="-122"/>
              </a:rPr>
              <a:t>特点：</a:t>
            </a:r>
          </a:p>
        </p:txBody>
      </p:sp>
    </p:spTree>
    <p:extLst>
      <p:ext uri="{BB962C8B-B14F-4D97-AF65-F5344CB8AC3E}">
        <p14:creationId xmlns:p14="http://schemas.microsoft.com/office/powerpoint/2010/main" val="30413193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a:extLst>
              <a:ext uri="{FF2B5EF4-FFF2-40B4-BE49-F238E27FC236}">
                <a16:creationId xmlns:a16="http://schemas.microsoft.com/office/drawing/2014/main" id="{169D466F-CB6D-4AF6-A2D5-BABD199200AF}"/>
              </a:ext>
            </a:extLst>
          </p:cNvPr>
          <p:cNvSpPr>
            <a:spLocks noChangeArrowheads="1"/>
          </p:cNvSpPr>
          <p:nvPr/>
        </p:nvSpPr>
        <p:spPr bwMode="auto">
          <a:xfrm>
            <a:off x="323850" y="1761656"/>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en-US" altLang="zh-CN" b="1" dirty="0">
                <a:solidFill>
                  <a:srgbClr val="993300"/>
                </a:solidFill>
              </a:rPr>
              <a:t>PN</a:t>
            </a:r>
            <a:r>
              <a:rPr kumimoji="0" lang="zh-CN" altLang="en-US" b="1" dirty="0">
                <a:solidFill>
                  <a:srgbClr val="993300"/>
                </a:solidFill>
              </a:rPr>
              <a:t>结处于正向偏置</a:t>
            </a:r>
            <a:endParaRPr kumimoji="0" lang="en-US" altLang="zh-CN" dirty="0">
              <a:solidFill>
                <a:srgbClr val="993300"/>
              </a:solidFill>
            </a:endParaRPr>
          </a:p>
        </p:txBody>
      </p:sp>
      <p:sp>
        <p:nvSpPr>
          <p:cNvPr id="57347" name="Rectangle 6">
            <a:extLst>
              <a:ext uri="{FF2B5EF4-FFF2-40B4-BE49-F238E27FC236}">
                <a16:creationId xmlns:a16="http://schemas.microsoft.com/office/drawing/2014/main" id="{708BF109-D3F7-4917-A5AC-2D54D13F36D5}"/>
              </a:ext>
            </a:extLst>
          </p:cNvPr>
          <p:cNvSpPr>
            <a:spLocks noGrp="1" noChangeArrowheads="1"/>
          </p:cNvSpPr>
          <p:nvPr>
            <p:ph type="title"/>
          </p:nvPr>
        </p:nvSpPr>
        <p:spPr bwMode="auto">
          <a:xfrm>
            <a:off x="323850" y="729529"/>
            <a:ext cx="8496300" cy="1102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p>
            <a:r>
              <a:rPr lang="en-US" altLang="zh-CN" sz="2000" b="1" dirty="0">
                <a:solidFill>
                  <a:srgbClr val="FF3300"/>
                </a:solidFill>
                <a:latin typeface="宋体" panose="02010600030101010101" pitchFamily="2" charset="-122"/>
                <a:ea typeface="宋体" panose="02010600030101010101" pitchFamily="2" charset="-122"/>
              </a:rPr>
              <a:t>1. </a:t>
            </a:r>
            <a:r>
              <a:rPr lang="zh-CN" altLang="en-US" sz="2000" b="1" dirty="0">
                <a:solidFill>
                  <a:srgbClr val="FF3300"/>
                </a:solidFill>
                <a:latin typeface="宋体" panose="02010600030101010101" pitchFamily="2" charset="-122"/>
                <a:ea typeface="宋体" panose="02010600030101010101" pitchFamily="2" charset="-122"/>
              </a:rPr>
              <a:t>温度对</a:t>
            </a:r>
            <a:r>
              <a:rPr lang="en-US" altLang="zh-CN" sz="2000" b="1" dirty="0">
                <a:solidFill>
                  <a:srgbClr val="FF3300"/>
                </a:solidFill>
                <a:latin typeface="宋体" panose="02010600030101010101" pitchFamily="2" charset="-122"/>
                <a:ea typeface="宋体" panose="02010600030101010101" pitchFamily="2" charset="-122"/>
              </a:rPr>
              <a:t>PN</a:t>
            </a:r>
            <a:r>
              <a:rPr lang="zh-CN" altLang="en-US" sz="2000" b="1" dirty="0">
                <a:solidFill>
                  <a:srgbClr val="FF3300"/>
                </a:solidFill>
                <a:latin typeface="宋体" panose="02010600030101010101" pitchFamily="2" charset="-122"/>
                <a:ea typeface="宋体" panose="02010600030101010101" pitchFamily="2" charset="-122"/>
              </a:rPr>
              <a:t>结</a:t>
            </a:r>
            <a:r>
              <a:rPr lang="en-US" altLang="zh-CN" sz="2000" b="1" dirty="0">
                <a:solidFill>
                  <a:srgbClr val="FF3300"/>
                </a:solidFill>
                <a:latin typeface="宋体" panose="02010600030101010101" pitchFamily="2" charset="-122"/>
                <a:ea typeface="宋体" panose="02010600030101010101" pitchFamily="2" charset="-122"/>
              </a:rPr>
              <a:t>I-V</a:t>
            </a:r>
            <a:r>
              <a:rPr lang="zh-CN" altLang="en-US" sz="2000" b="1" dirty="0">
                <a:solidFill>
                  <a:srgbClr val="FF3300"/>
                </a:solidFill>
                <a:latin typeface="宋体" panose="02010600030101010101" pitchFamily="2" charset="-122"/>
                <a:ea typeface="宋体" panose="02010600030101010101" pitchFamily="2" charset="-122"/>
              </a:rPr>
              <a:t>特性的影响</a:t>
            </a:r>
            <a:r>
              <a:rPr lang="en-US" altLang="zh-CN" sz="2000" b="1" dirty="0">
                <a:solidFill>
                  <a:srgbClr val="FF3300"/>
                </a:solidFill>
                <a:latin typeface="宋体" panose="02010600030101010101" pitchFamily="2" charset="-122"/>
                <a:ea typeface="宋体" panose="02010600030101010101" pitchFamily="2" charset="-122"/>
              </a:rPr>
              <a:t>:</a:t>
            </a:r>
            <a:br>
              <a:rPr lang="en-US" altLang="zh-CN" sz="2000" b="1" dirty="0">
                <a:solidFill>
                  <a:srgbClr val="FF3300"/>
                </a:solidFill>
                <a:latin typeface="宋体" panose="02010600030101010101" pitchFamily="2" charset="-122"/>
                <a:ea typeface="宋体" panose="02010600030101010101" pitchFamily="2" charset="-122"/>
              </a:rPr>
            </a:br>
            <a:br>
              <a:rPr lang="en-US" altLang="zh-CN" sz="2000" b="1" dirty="0">
                <a:solidFill>
                  <a:srgbClr val="FF3300"/>
                </a:solidFill>
                <a:latin typeface="宋体" panose="02010600030101010101" pitchFamily="2" charset="-122"/>
                <a:ea typeface="宋体" panose="02010600030101010101" pitchFamily="2" charset="-122"/>
              </a:rPr>
            </a:br>
            <a:r>
              <a:rPr lang="zh-CN" altLang="en-US" sz="2000" b="1" dirty="0">
                <a:solidFill>
                  <a:srgbClr val="FF3300"/>
                </a:solidFill>
                <a:latin typeface="宋体" panose="02010600030101010101" pitchFamily="2" charset="-122"/>
                <a:ea typeface="宋体" panose="02010600030101010101" pitchFamily="2" charset="-122"/>
              </a:rPr>
              <a:t>无论是在正向还是反向偏置，</a:t>
            </a:r>
            <a:r>
              <a:rPr lang="en-US" altLang="zh-CN" sz="2000" b="1" dirty="0">
                <a:solidFill>
                  <a:srgbClr val="FF3300"/>
                </a:solidFill>
                <a:latin typeface="宋体" panose="02010600030101010101" pitchFamily="2" charset="-122"/>
                <a:ea typeface="宋体" panose="02010600030101010101" pitchFamily="2" charset="-122"/>
              </a:rPr>
              <a:t>PN</a:t>
            </a:r>
            <a:r>
              <a:rPr lang="zh-CN" altLang="en-US" sz="2000" b="1" dirty="0">
                <a:solidFill>
                  <a:srgbClr val="FF3300"/>
                </a:solidFill>
                <a:latin typeface="宋体" panose="02010600030101010101" pitchFamily="2" charset="-122"/>
                <a:ea typeface="宋体" panose="02010600030101010101" pitchFamily="2" charset="-122"/>
              </a:rPr>
              <a:t>结的温度特性主要取决于二极管方程</a:t>
            </a:r>
          </a:p>
        </p:txBody>
      </p:sp>
      <p:graphicFrame>
        <p:nvGraphicFramePr>
          <p:cNvPr id="456711" name="Object 7">
            <a:extLst>
              <a:ext uri="{FF2B5EF4-FFF2-40B4-BE49-F238E27FC236}">
                <a16:creationId xmlns:a16="http://schemas.microsoft.com/office/drawing/2014/main" id="{84F56BBC-54CB-4587-8A1F-DE3CC08CA02B}"/>
              </a:ext>
            </a:extLst>
          </p:cNvPr>
          <p:cNvGraphicFramePr>
            <a:graphicFrameLocks noChangeAspect="1"/>
          </p:cNvGraphicFramePr>
          <p:nvPr>
            <p:extLst>
              <p:ext uri="{D42A27DB-BD31-4B8C-83A1-F6EECF244321}">
                <p14:modId xmlns:p14="http://schemas.microsoft.com/office/powerpoint/2010/main" val="2084738644"/>
              </p:ext>
            </p:extLst>
          </p:nvPr>
        </p:nvGraphicFramePr>
        <p:xfrm>
          <a:off x="3299763" y="2256433"/>
          <a:ext cx="2782887" cy="504825"/>
        </p:xfrm>
        <a:graphic>
          <a:graphicData uri="http://schemas.openxmlformats.org/presentationml/2006/ole">
            <mc:AlternateContent xmlns:mc="http://schemas.openxmlformats.org/markup-compatibility/2006">
              <mc:Choice xmlns:v="urn:schemas-microsoft-com:vml" Requires="v">
                <p:oleObj spid="_x0000_s134368" name="Equation" r:id="rId3" imgW="1511300" imgH="279400" progId="Equation.DSMT4">
                  <p:embed/>
                </p:oleObj>
              </mc:Choice>
              <mc:Fallback>
                <p:oleObj name="Equation" r:id="rId3" imgW="1511300" imgH="279400" progId="Equation.DSMT4">
                  <p:embed/>
                  <p:pic>
                    <p:nvPicPr>
                      <p:cNvPr id="456711" name="Object 7">
                        <a:extLst>
                          <a:ext uri="{FF2B5EF4-FFF2-40B4-BE49-F238E27FC236}">
                            <a16:creationId xmlns:a16="http://schemas.microsoft.com/office/drawing/2014/main" id="{84F56BBC-54CB-4587-8A1F-DE3CC08CA0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9763" y="2256433"/>
                        <a:ext cx="2782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6712" name="Object 8">
            <a:extLst>
              <a:ext uri="{FF2B5EF4-FFF2-40B4-BE49-F238E27FC236}">
                <a16:creationId xmlns:a16="http://schemas.microsoft.com/office/drawing/2014/main" id="{8EDA830A-F230-4255-9E83-DFE26A29B1C7}"/>
              </a:ext>
            </a:extLst>
          </p:cNvPr>
          <p:cNvGraphicFramePr>
            <a:graphicFrameLocks noChangeAspect="1"/>
          </p:cNvGraphicFramePr>
          <p:nvPr>
            <p:extLst>
              <p:ext uri="{D42A27DB-BD31-4B8C-83A1-F6EECF244321}">
                <p14:modId xmlns:p14="http://schemas.microsoft.com/office/powerpoint/2010/main" val="4292868704"/>
              </p:ext>
            </p:extLst>
          </p:nvPr>
        </p:nvGraphicFramePr>
        <p:xfrm>
          <a:off x="3319462" y="2808693"/>
          <a:ext cx="2649538" cy="793750"/>
        </p:xfrm>
        <a:graphic>
          <a:graphicData uri="http://schemas.openxmlformats.org/presentationml/2006/ole">
            <mc:AlternateContent xmlns:mc="http://schemas.openxmlformats.org/markup-compatibility/2006">
              <mc:Choice xmlns:v="urn:schemas-microsoft-com:vml" Requires="v">
                <p:oleObj spid="_x0000_s134369" r:id="rId5" imgW="1689100" imgH="508000" progId="Equation.3">
                  <p:embed/>
                </p:oleObj>
              </mc:Choice>
              <mc:Fallback>
                <p:oleObj r:id="rId5" imgW="1689100" imgH="508000" progId="Equation.3">
                  <p:embed/>
                  <p:pic>
                    <p:nvPicPr>
                      <p:cNvPr id="456712" name="Object 8">
                        <a:extLst>
                          <a:ext uri="{FF2B5EF4-FFF2-40B4-BE49-F238E27FC236}">
                            <a16:creationId xmlns:a16="http://schemas.microsoft.com/office/drawing/2014/main" id="{8EDA830A-F230-4255-9E83-DFE26A29B1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9462" y="2808693"/>
                        <a:ext cx="2649538"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6713" name="Object 9">
            <a:extLst>
              <a:ext uri="{FF2B5EF4-FFF2-40B4-BE49-F238E27FC236}">
                <a16:creationId xmlns:a16="http://schemas.microsoft.com/office/drawing/2014/main" id="{3D40A3EC-30DF-4DE7-832D-CBFCC614386A}"/>
              </a:ext>
            </a:extLst>
          </p:cNvPr>
          <p:cNvGraphicFramePr>
            <a:graphicFrameLocks noChangeAspect="1"/>
          </p:cNvGraphicFramePr>
          <p:nvPr/>
        </p:nvGraphicFramePr>
        <p:xfrm>
          <a:off x="2238375" y="3690938"/>
          <a:ext cx="1914525" cy="746125"/>
        </p:xfrm>
        <a:graphic>
          <a:graphicData uri="http://schemas.openxmlformats.org/presentationml/2006/ole">
            <mc:AlternateContent xmlns:mc="http://schemas.openxmlformats.org/markup-compatibility/2006">
              <mc:Choice xmlns:v="urn:schemas-microsoft-com:vml" Requires="v">
                <p:oleObj spid="_x0000_s134370" name="Equation" r:id="rId7" imgW="1104900" imgH="431800" progId="Equation.DSMT4">
                  <p:embed/>
                </p:oleObj>
              </mc:Choice>
              <mc:Fallback>
                <p:oleObj name="Equation" r:id="rId7" imgW="1104900" imgH="431800" progId="Equation.DSMT4">
                  <p:embed/>
                  <p:pic>
                    <p:nvPicPr>
                      <p:cNvPr id="456713" name="Object 9">
                        <a:extLst>
                          <a:ext uri="{FF2B5EF4-FFF2-40B4-BE49-F238E27FC236}">
                            <a16:creationId xmlns:a16="http://schemas.microsoft.com/office/drawing/2014/main" id="{3D40A3EC-30DF-4DE7-832D-CBFCC61438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8375" y="3690938"/>
                        <a:ext cx="191452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6714" name="Object 10">
            <a:extLst>
              <a:ext uri="{FF2B5EF4-FFF2-40B4-BE49-F238E27FC236}">
                <a16:creationId xmlns:a16="http://schemas.microsoft.com/office/drawing/2014/main" id="{4AE614D2-1599-4C20-A6EA-1912790A7F78}"/>
              </a:ext>
            </a:extLst>
          </p:cNvPr>
          <p:cNvGraphicFramePr>
            <a:graphicFrameLocks noChangeAspect="1"/>
          </p:cNvGraphicFramePr>
          <p:nvPr/>
        </p:nvGraphicFramePr>
        <p:xfrm>
          <a:off x="1670050" y="4508500"/>
          <a:ext cx="3268663" cy="812800"/>
        </p:xfrm>
        <a:graphic>
          <a:graphicData uri="http://schemas.openxmlformats.org/presentationml/2006/ole">
            <mc:AlternateContent xmlns:mc="http://schemas.openxmlformats.org/markup-compatibility/2006">
              <mc:Choice xmlns:v="urn:schemas-microsoft-com:vml" Requires="v">
                <p:oleObj spid="_x0000_s134371" name="Equation" r:id="rId9" imgW="2032000" imgH="508000" progId="Equation.DSMT4">
                  <p:embed/>
                </p:oleObj>
              </mc:Choice>
              <mc:Fallback>
                <p:oleObj name="Equation" r:id="rId9" imgW="2032000" imgH="508000" progId="Equation.DSMT4">
                  <p:embed/>
                  <p:pic>
                    <p:nvPicPr>
                      <p:cNvPr id="456714" name="Object 10">
                        <a:extLst>
                          <a:ext uri="{FF2B5EF4-FFF2-40B4-BE49-F238E27FC236}">
                            <a16:creationId xmlns:a16="http://schemas.microsoft.com/office/drawing/2014/main" id="{4AE614D2-1599-4C20-A6EA-1912790A7F7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0050" y="4508500"/>
                        <a:ext cx="3268663"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6715" name="Rectangle 11">
            <a:extLst>
              <a:ext uri="{FF2B5EF4-FFF2-40B4-BE49-F238E27FC236}">
                <a16:creationId xmlns:a16="http://schemas.microsoft.com/office/drawing/2014/main" id="{DD3615E3-1F46-4B2C-9DB0-6B327A40858C}"/>
              </a:ext>
            </a:extLst>
          </p:cNvPr>
          <p:cNvSpPr>
            <a:spLocks noChangeArrowheads="1"/>
          </p:cNvSpPr>
          <p:nvPr/>
        </p:nvSpPr>
        <p:spPr bwMode="auto">
          <a:xfrm>
            <a:off x="576262" y="2264532"/>
            <a:ext cx="287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zh-CN" altLang="en-US" sz="2000" b="1" dirty="0">
                <a:solidFill>
                  <a:srgbClr val="000066"/>
                </a:solidFill>
              </a:rPr>
              <a:t>总电流（扩散电流）：</a:t>
            </a:r>
          </a:p>
        </p:txBody>
      </p:sp>
      <p:sp>
        <p:nvSpPr>
          <p:cNvPr id="456717" name="Rectangle 13">
            <a:extLst>
              <a:ext uri="{FF2B5EF4-FFF2-40B4-BE49-F238E27FC236}">
                <a16:creationId xmlns:a16="http://schemas.microsoft.com/office/drawing/2014/main" id="{0D661032-C32B-4B36-AC02-516A48AF26D8}"/>
              </a:ext>
            </a:extLst>
          </p:cNvPr>
          <p:cNvSpPr>
            <a:spLocks noChangeArrowheads="1"/>
          </p:cNvSpPr>
          <p:nvPr/>
        </p:nvSpPr>
        <p:spPr bwMode="auto">
          <a:xfrm>
            <a:off x="755650" y="3789363"/>
            <a:ext cx="1728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zh-CN" altLang="en-US" sz="2000" b="1">
                <a:solidFill>
                  <a:srgbClr val="000066"/>
                </a:solidFill>
              </a:rPr>
              <a:t>复合电流：</a:t>
            </a:r>
          </a:p>
        </p:txBody>
      </p:sp>
      <p:sp>
        <p:nvSpPr>
          <p:cNvPr id="456720" name="Rectangle 16">
            <a:extLst>
              <a:ext uri="{FF2B5EF4-FFF2-40B4-BE49-F238E27FC236}">
                <a16:creationId xmlns:a16="http://schemas.microsoft.com/office/drawing/2014/main" id="{D25AB8B9-CD52-4CE0-AA1B-718FD0389479}"/>
              </a:ext>
            </a:extLst>
          </p:cNvPr>
          <p:cNvSpPr>
            <a:spLocks noChangeArrowheads="1"/>
          </p:cNvSpPr>
          <p:nvPr/>
        </p:nvSpPr>
        <p:spPr bwMode="auto">
          <a:xfrm>
            <a:off x="755650" y="4724400"/>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得：</a:t>
            </a:r>
          </a:p>
        </p:txBody>
      </p:sp>
      <p:grpSp>
        <p:nvGrpSpPr>
          <p:cNvPr id="2" name="Group 21">
            <a:extLst>
              <a:ext uri="{FF2B5EF4-FFF2-40B4-BE49-F238E27FC236}">
                <a16:creationId xmlns:a16="http://schemas.microsoft.com/office/drawing/2014/main" id="{E0C87EB7-3BF2-40DC-81A6-7B61A3E07BD4}"/>
              </a:ext>
            </a:extLst>
          </p:cNvPr>
          <p:cNvGrpSpPr>
            <a:grpSpLocks/>
          </p:cNvGrpSpPr>
          <p:nvPr/>
        </p:nvGrpSpPr>
        <p:grpSpPr bwMode="auto">
          <a:xfrm>
            <a:off x="684213" y="5445125"/>
            <a:ext cx="8496300" cy="850900"/>
            <a:chOff x="431" y="3430"/>
            <a:chExt cx="5352" cy="536"/>
          </a:xfrm>
        </p:grpSpPr>
        <p:sp>
          <p:nvSpPr>
            <p:cNvPr id="57359" name="Rectangle 18">
              <a:extLst>
                <a:ext uri="{FF2B5EF4-FFF2-40B4-BE49-F238E27FC236}">
                  <a16:creationId xmlns:a16="http://schemas.microsoft.com/office/drawing/2014/main" id="{178403A6-06F2-4E76-B4E7-7E4555116BB5}"/>
                </a:ext>
              </a:extLst>
            </p:cNvPr>
            <p:cNvSpPr>
              <a:spLocks noChangeArrowheads="1"/>
            </p:cNvSpPr>
            <p:nvPr/>
          </p:nvSpPr>
          <p:spPr bwMode="auto">
            <a:xfrm>
              <a:off x="431" y="3430"/>
              <a:ext cx="535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zh-CN" altLang="en-US" sz="2000" b="1">
                  <a:solidFill>
                    <a:srgbClr val="000066"/>
                  </a:solidFill>
                  <a:latin typeface="Gulim" panose="020B0600000101010101" pitchFamily="34" charset="-127"/>
                </a:rPr>
                <a:t>式中    随温度的增加而迅速增加，可见在高于室温时，不太大的正偏压（</a:t>
              </a:r>
              <a:r>
                <a:rPr lang="en-US" altLang="zh-CN" sz="2000" b="1">
                  <a:solidFill>
                    <a:srgbClr val="000066"/>
                  </a:solidFill>
                  <a:latin typeface="Gulim" panose="020B0600000101010101" pitchFamily="34" charset="-127"/>
                </a:rPr>
                <a:t>Si</a:t>
              </a:r>
              <a:r>
                <a:rPr lang="en-US" altLang="zh-CN" sz="2000" b="1">
                  <a:solidFill>
                    <a:srgbClr val="000066"/>
                  </a:solidFill>
                  <a:sym typeface="Symbol" panose="05050102010706020507" pitchFamily="18" charset="2"/>
                </a:rPr>
                <a:t></a:t>
              </a:r>
              <a:r>
                <a:rPr lang="en-US" altLang="zh-CN" sz="2000" b="1">
                  <a:solidFill>
                    <a:srgbClr val="000066"/>
                  </a:solidFill>
                </a:rPr>
                <a:t>0.3V</a:t>
              </a:r>
              <a:r>
                <a:rPr lang="zh-CN" altLang="en-US" sz="2000" b="1">
                  <a:solidFill>
                    <a:srgbClr val="000066"/>
                  </a:solidFill>
                  <a:sym typeface="Symbol" panose="05050102010706020507" pitchFamily="18" charset="2"/>
                </a:rPr>
                <a:t>）就使   占优势。</a:t>
              </a:r>
              <a:r>
                <a:rPr lang="ko-KR" altLang="en-US" sz="2000" b="1">
                  <a:solidFill>
                    <a:srgbClr val="000066"/>
                  </a:solidFill>
                  <a:sym typeface="Symbol" panose="05050102010706020507" pitchFamily="18" charset="2"/>
                </a:rPr>
                <a:t> </a:t>
              </a:r>
            </a:p>
          </p:txBody>
        </p:sp>
        <p:graphicFrame>
          <p:nvGraphicFramePr>
            <p:cNvPr id="57360" name="Object 19">
              <a:extLst>
                <a:ext uri="{FF2B5EF4-FFF2-40B4-BE49-F238E27FC236}">
                  <a16:creationId xmlns:a16="http://schemas.microsoft.com/office/drawing/2014/main" id="{10CE543B-F74D-47C7-BAFD-7ADD340B72C5}"/>
                </a:ext>
              </a:extLst>
            </p:cNvPr>
            <p:cNvGraphicFramePr>
              <a:graphicFrameLocks noChangeAspect="1"/>
            </p:cNvGraphicFramePr>
            <p:nvPr/>
          </p:nvGraphicFramePr>
          <p:xfrm>
            <a:off x="816" y="3475"/>
            <a:ext cx="204" cy="288"/>
          </p:xfrm>
          <a:graphic>
            <a:graphicData uri="http://schemas.openxmlformats.org/presentationml/2006/ole">
              <mc:AlternateContent xmlns:mc="http://schemas.openxmlformats.org/markup-compatibility/2006">
                <mc:Choice xmlns:v="urn:schemas-microsoft-com:vml" Requires="v">
                  <p:oleObj spid="_x0000_s134372" r:id="rId11" imgW="165028" imgH="228501" progId="Equation.3">
                    <p:embed/>
                  </p:oleObj>
                </mc:Choice>
                <mc:Fallback>
                  <p:oleObj r:id="rId11" imgW="165028" imgH="228501" progId="Equation.3">
                    <p:embed/>
                    <p:pic>
                      <p:nvPicPr>
                        <p:cNvPr id="57360" name="Object 19">
                          <a:extLst>
                            <a:ext uri="{FF2B5EF4-FFF2-40B4-BE49-F238E27FC236}">
                              <a16:creationId xmlns:a16="http://schemas.microsoft.com/office/drawing/2014/main" id="{10CE543B-F74D-47C7-BAFD-7ADD340B72C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6" y="3475"/>
                          <a:ext cx="2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1" name="Object 20">
              <a:extLst>
                <a:ext uri="{FF2B5EF4-FFF2-40B4-BE49-F238E27FC236}">
                  <a16:creationId xmlns:a16="http://schemas.microsoft.com/office/drawing/2014/main" id="{8762D570-1F08-4E20-BD86-67B0B7BDA0E3}"/>
                </a:ext>
              </a:extLst>
            </p:cNvPr>
            <p:cNvGraphicFramePr>
              <a:graphicFrameLocks noChangeAspect="1"/>
            </p:cNvGraphicFramePr>
            <p:nvPr/>
          </p:nvGraphicFramePr>
          <p:xfrm>
            <a:off x="1701" y="3702"/>
            <a:ext cx="209" cy="264"/>
          </p:xfrm>
          <a:graphic>
            <a:graphicData uri="http://schemas.openxmlformats.org/presentationml/2006/ole">
              <mc:AlternateContent xmlns:mc="http://schemas.openxmlformats.org/markup-compatibility/2006">
                <mc:Choice xmlns:v="urn:schemas-microsoft-com:vml" Requires="v">
                  <p:oleObj spid="_x0000_s134373" r:id="rId13" imgW="177646" imgH="228402" progId="Equation.3">
                    <p:embed/>
                  </p:oleObj>
                </mc:Choice>
                <mc:Fallback>
                  <p:oleObj r:id="rId13" imgW="177646" imgH="228402" progId="Equation.3">
                    <p:embed/>
                    <p:pic>
                      <p:nvPicPr>
                        <p:cNvPr id="57361" name="Object 20">
                          <a:extLst>
                            <a:ext uri="{FF2B5EF4-FFF2-40B4-BE49-F238E27FC236}">
                              <a16:creationId xmlns:a16="http://schemas.microsoft.com/office/drawing/2014/main" id="{8762D570-1F08-4E20-BD86-67B0B7BDA0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01" y="3702"/>
                          <a:ext cx="20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 name="矩形 17">
            <a:extLst>
              <a:ext uri="{FF2B5EF4-FFF2-40B4-BE49-F238E27FC236}">
                <a16:creationId xmlns:a16="http://schemas.microsoft.com/office/drawing/2014/main" id="{2D12967C-1453-4397-A010-6F1756FAF753}"/>
              </a:ext>
            </a:extLst>
          </p:cNvPr>
          <p:cNvSpPr/>
          <p:nvPr/>
        </p:nvSpPr>
        <p:spPr>
          <a:xfrm>
            <a:off x="1636197" y="-24934"/>
            <a:ext cx="5622052" cy="646331"/>
          </a:xfrm>
          <a:prstGeom prst="rect">
            <a:avLst/>
          </a:prstGeom>
        </p:spPr>
        <p:txBody>
          <a:bodyPr wrap="none">
            <a:spAutoFit/>
          </a:bodyPr>
          <a:lstStyle/>
          <a:p>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2.2.4  PN</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结正向电流的讨论</a:t>
            </a:r>
          </a:p>
        </p:txBody>
      </p:sp>
    </p:spTree>
    <p:extLst>
      <p:ext uri="{BB962C8B-B14F-4D97-AF65-F5344CB8AC3E}">
        <p14:creationId xmlns:p14="http://schemas.microsoft.com/office/powerpoint/2010/main" val="7315748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6706"/>
                                        </p:tgtEl>
                                        <p:attrNameLst>
                                          <p:attrName>style.visibility</p:attrName>
                                        </p:attrNameLst>
                                      </p:cBhvr>
                                      <p:to>
                                        <p:strVal val="visible"/>
                                      </p:to>
                                    </p:set>
                                    <p:animEffect transition="in" filter="blinds(horizontal)">
                                      <p:cBhvr>
                                        <p:cTn id="7" dur="500"/>
                                        <p:tgtEl>
                                          <p:spTgt spid="4567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6715"/>
                                        </p:tgtEl>
                                        <p:attrNameLst>
                                          <p:attrName>style.visibility</p:attrName>
                                        </p:attrNameLst>
                                      </p:cBhvr>
                                      <p:to>
                                        <p:strVal val="visible"/>
                                      </p:to>
                                    </p:set>
                                    <p:animEffect transition="in" filter="blinds(horizontal)">
                                      <p:cBhvr>
                                        <p:cTn id="12" dur="500"/>
                                        <p:tgtEl>
                                          <p:spTgt spid="4567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56711"/>
                                        </p:tgtEl>
                                        <p:attrNameLst>
                                          <p:attrName>style.visibility</p:attrName>
                                        </p:attrNameLst>
                                      </p:cBhvr>
                                      <p:to>
                                        <p:strVal val="visible"/>
                                      </p:to>
                                    </p:set>
                                    <p:animEffect transition="in" filter="blinds(horizontal)">
                                      <p:cBhvr>
                                        <p:cTn id="17" dur="500"/>
                                        <p:tgtEl>
                                          <p:spTgt spid="4567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56712"/>
                                        </p:tgtEl>
                                        <p:attrNameLst>
                                          <p:attrName>style.visibility</p:attrName>
                                        </p:attrNameLst>
                                      </p:cBhvr>
                                      <p:to>
                                        <p:strVal val="visible"/>
                                      </p:to>
                                    </p:set>
                                    <p:animEffect transition="in" filter="blinds(horizontal)">
                                      <p:cBhvr>
                                        <p:cTn id="22" dur="500"/>
                                        <p:tgtEl>
                                          <p:spTgt spid="4567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6717"/>
                                        </p:tgtEl>
                                        <p:attrNameLst>
                                          <p:attrName>style.visibility</p:attrName>
                                        </p:attrNameLst>
                                      </p:cBhvr>
                                      <p:to>
                                        <p:strVal val="visible"/>
                                      </p:to>
                                    </p:set>
                                    <p:animEffect transition="in" filter="blinds(horizontal)">
                                      <p:cBhvr>
                                        <p:cTn id="27" dur="500"/>
                                        <p:tgtEl>
                                          <p:spTgt spid="456717"/>
                                        </p:tgtEl>
                                      </p:cBhvr>
                                    </p:animEffect>
                                  </p:childTnLst>
                                </p:cTn>
                              </p:par>
                              <p:par>
                                <p:cTn id="28" presetID="3" presetClass="entr" presetSubtype="10" fill="hold" nodeType="withEffect">
                                  <p:stCondLst>
                                    <p:cond delay="0"/>
                                  </p:stCondLst>
                                  <p:childTnLst>
                                    <p:set>
                                      <p:cBhvr>
                                        <p:cTn id="29" dur="1" fill="hold">
                                          <p:stCondLst>
                                            <p:cond delay="0"/>
                                          </p:stCondLst>
                                        </p:cTn>
                                        <p:tgtEl>
                                          <p:spTgt spid="456713"/>
                                        </p:tgtEl>
                                        <p:attrNameLst>
                                          <p:attrName>style.visibility</p:attrName>
                                        </p:attrNameLst>
                                      </p:cBhvr>
                                      <p:to>
                                        <p:strVal val="visible"/>
                                      </p:to>
                                    </p:set>
                                    <p:animEffect transition="in" filter="blinds(horizontal)">
                                      <p:cBhvr>
                                        <p:cTn id="30" dur="500"/>
                                        <p:tgtEl>
                                          <p:spTgt spid="4567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56720"/>
                                        </p:tgtEl>
                                        <p:attrNameLst>
                                          <p:attrName>style.visibility</p:attrName>
                                        </p:attrNameLst>
                                      </p:cBhvr>
                                      <p:to>
                                        <p:strVal val="visible"/>
                                      </p:to>
                                    </p:set>
                                    <p:animEffect transition="in" filter="blinds(horizontal)">
                                      <p:cBhvr>
                                        <p:cTn id="35" dur="500"/>
                                        <p:tgtEl>
                                          <p:spTgt spid="456720"/>
                                        </p:tgtEl>
                                      </p:cBhvr>
                                    </p:animEffect>
                                  </p:childTnLst>
                                </p:cTn>
                              </p:par>
                              <p:par>
                                <p:cTn id="36" presetID="3" presetClass="entr" presetSubtype="10" fill="hold" nodeType="withEffect">
                                  <p:stCondLst>
                                    <p:cond delay="0"/>
                                  </p:stCondLst>
                                  <p:childTnLst>
                                    <p:set>
                                      <p:cBhvr>
                                        <p:cTn id="37" dur="1" fill="hold">
                                          <p:stCondLst>
                                            <p:cond delay="0"/>
                                          </p:stCondLst>
                                        </p:cTn>
                                        <p:tgtEl>
                                          <p:spTgt spid="456714"/>
                                        </p:tgtEl>
                                        <p:attrNameLst>
                                          <p:attrName>style.visibility</p:attrName>
                                        </p:attrNameLst>
                                      </p:cBhvr>
                                      <p:to>
                                        <p:strVal val="visible"/>
                                      </p:to>
                                    </p:set>
                                    <p:animEffect transition="in" filter="blinds(horizontal)">
                                      <p:cBhvr>
                                        <p:cTn id="38" dur="500"/>
                                        <p:tgtEl>
                                          <p:spTgt spid="45671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blinds(horizontal)">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6" grpId="0"/>
      <p:bldP spid="456715" grpId="0"/>
      <p:bldP spid="456717" grpId="0"/>
      <p:bldP spid="45672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8EAFA17F-D10B-45C2-A9C7-875364936085}"/>
              </a:ext>
            </a:extLst>
          </p:cNvPr>
          <p:cNvSpPr>
            <a:spLocks noChangeArrowheads="1"/>
          </p:cNvSpPr>
          <p:nvPr/>
        </p:nvSpPr>
        <p:spPr bwMode="auto">
          <a:xfrm>
            <a:off x="179388" y="1268413"/>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en-US" altLang="zh-CN" b="1" dirty="0">
                <a:solidFill>
                  <a:srgbClr val="993300"/>
                </a:solidFill>
              </a:rPr>
              <a:t>PN</a:t>
            </a:r>
            <a:r>
              <a:rPr kumimoji="0" lang="zh-CN" altLang="en-US" b="1" dirty="0">
                <a:solidFill>
                  <a:srgbClr val="993300"/>
                </a:solidFill>
              </a:rPr>
              <a:t>结处于反向偏置</a:t>
            </a:r>
            <a:endParaRPr kumimoji="0" lang="en-US" altLang="zh-CN" dirty="0">
              <a:solidFill>
                <a:srgbClr val="993300"/>
              </a:solidFill>
            </a:endParaRPr>
          </a:p>
        </p:txBody>
      </p:sp>
      <p:graphicFrame>
        <p:nvGraphicFramePr>
          <p:cNvPr id="457746" name="Object 18">
            <a:extLst>
              <a:ext uri="{FF2B5EF4-FFF2-40B4-BE49-F238E27FC236}">
                <a16:creationId xmlns:a16="http://schemas.microsoft.com/office/drawing/2014/main" id="{1A22ED5D-F493-467E-8951-D59E9E592E29}"/>
              </a:ext>
            </a:extLst>
          </p:cNvPr>
          <p:cNvGraphicFramePr>
            <a:graphicFrameLocks noChangeAspect="1"/>
          </p:cNvGraphicFramePr>
          <p:nvPr/>
        </p:nvGraphicFramePr>
        <p:xfrm>
          <a:off x="2895600" y="1860550"/>
          <a:ext cx="900113" cy="387350"/>
        </p:xfrm>
        <a:graphic>
          <a:graphicData uri="http://schemas.openxmlformats.org/presentationml/2006/ole">
            <mc:AlternateContent xmlns:mc="http://schemas.openxmlformats.org/markup-compatibility/2006">
              <mc:Choice xmlns:v="urn:schemas-microsoft-com:vml" Requires="v">
                <p:oleObj spid="_x0000_s135356" name="Equation" r:id="rId3" imgW="533169" imgH="228501" progId="Equation.DSMT4">
                  <p:embed/>
                </p:oleObj>
              </mc:Choice>
              <mc:Fallback>
                <p:oleObj name="Equation" r:id="rId3" imgW="533169" imgH="228501" progId="Equation.DSMT4">
                  <p:embed/>
                  <p:pic>
                    <p:nvPicPr>
                      <p:cNvPr id="457746" name="Object 18">
                        <a:extLst>
                          <a:ext uri="{FF2B5EF4-FFF2-40B4-BE49-F238E27FC236}">
                            <a16:creationId xmlns:a16="http://schemas.microsoft.com/office/drawing/2014/main" id="{1A22ED5D-F493-467E-8951-D59E9E592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860550"/>
                        <a:ext cx="90011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7747" name="Object 19">
            <a:extLst>
              <a:ext uri="{FF2B5EF4-FFF2-40B4-BE49-F238E27FC236}">
                <a16:creationId xmlns:a16="http://schemas.microsoft.com/office/drawing/2014/main" id="{0FD80ACD-E63C-48B9-A9E1-49F79864695C}"/>
              </a:ext>
            </a:extLst>
          </p:cNvPr>
          <p:cNvGraphicFramePr>
            <a:graphicFrameLocks noChangeAspect="1"/>
          </p:cNvGraphicFramePr>
          <p:nvPr/>
        </p:nvGraphicFramePr>
        <p:xfrm>
          <a:off x="2284413" y="2500313"/>
          <a:ext cx="2573337" cy="736600"/>
        </p:xfrm>
        <a:graphic>
          <a:graphicData uri="http://schemas.openxmlformats.org/presentationml/2006/ole">
            <mc:AlternateContent xmlns:mc="http://schemas.openxmlformats.org/markup-compatibility/2006">
              <mc:Choice xmlns:v="urn:schemas-microsoft-com:vml" Requires="v">
                <p:oleObj spid="_x0000_s135357" name="Equation" r:id="rId5" imgW="1765300" imgH="508000" progId="Equation.DSMT4">
                  <p:embed/>
                </p:oleObj>
              </mc:Choice>
              <mc:Fallback>
                <p:oleObj name="Equation" r:id="rId5" imgW="1765300" imgH="508000" progId="Equation.DSMT4">
                  <p:embed/>
                  <p:pic>
                    <p:nvPicPr>
                      <p:cNvPr id="457747" name="Object 19">
                        <a:extLst>
                          <a:ext uri="{FF2B5EF4-FFF2-40B4-BE49-F238E27FC236}">
                            <a16:creationId xmlns:a16="http://schemas.microsoft.com/office/drawing/2014/main" id="{0FD80ACD-E63C-48B9-A9E1-49F7986469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4413" y="2500313"/>
                        <a:ext cx="257333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34">
            <a:extLst>
              <a:ext uri="{FF2B5EF4-FFF2-40B4-BE49-F238E27FC236}">
                <a16:creationId xmlns:a16="http://schemas.microsoft.com/office/drawing/2014/main" id="{CBBA1DCC-BB01-4AB5-A1B3-1187B5AF3937}"/>
              </a:ext>
            </a:extLst>
          </p:cNvPr>
          <p:cNvGrpSpPr>
            <a:grpSpLocks/>
          </p:cNvGrpSpPr>
          <p:nvPr/>
        </p:nvGrpSpPr>
        <p:grpSpPr bwMode="auto">
          <a:xfrm>
            <a:off x="539750" y="3182938"/>
            <a:ext cx="5553075" cy="533400"/>
            <a:chOff x="340" y="2005"/>
            <a:chExt cx="3498" cy="336"/>
          </a:xfrm>
        </p:grpSpPr>
        <p:sp>
          <p:nvSpPr>
            <p:cNvPr id="58384" name="Rectangle 21">
              <a:extLst>
                <a:ext uri="{FF2B5EF4-FFF2-40B4-BE49-F238E27FC236}">
                  <a16:creationId xmlns:a16="http://schemas.microsoft.com/office/drawing/2014/main" id="{352AEDF2-3C27-4C62-A932-A827B129FC44}"/>
                </a:ext>
              </a:extLst>
            </p:cNvPr>
            <p:cNvSpPr>
              <a:spLocks noChangeArrowheads="1"/>
            </p:cNvSpPr>
            <p:nvPr/>
          </p:nvSpPr>
          <p:spPr bwMode="auto">
            <a:xfrm>
              <a:off x="340" y="2069"/>
              <a:ext cx="34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a:solidFill>
                    <a:srgbClr val="000066"/>
                  </a:solidFill>
                </a:rPr>
                <a:t>随着温度增加，  增大，也是扩散电流占优势。</a:t>
              </a:r>
              <a:endParaRPr lang="zh-CN" altLang="en-US" sz="2000" b="1">
                <a:solidFill>
                  <a:srgbClr val="000066"/>
                </a:solidFill>
              </a:endParaRPr>
            </a:p>
          </p:txBody>
        </p:sp>
        <p:graphicFrame>
          <p:nvGraphicFramePr>
            <p:cNvPr id="58385" name="Object 24">
              <a:extLst>
                <a:ext uri="{FF2B5EF4-FFF2-40B4-BE49-F238E27FC236}">
                  <a16:creationId xmlns:a16="http://schemas.microsoft.com/office/drawing/2014/main" id="{D639321F-7171-4C96-9E53-C7DE99FE473C}"/>
                </a:ext>
              </a:extLst>
            </p:cNvPr>
            <p:cNvGraphicFramePr>
              <a:graphicFrameLocks noChangeAspect="1"/>
            </p:cNvGraphicFramePr>
            <p:nvPr/>
          </p:nvGraphicFramePr>
          <p:xfrm>
            <a:off x="1468" y="2005"/>
            <a:ext cx="238" cy="336"/>
          </p:xfrm>
          <a:graphic>
            <a:graphicData uri="http://schemas.openxmlformats.org/presentationml/2006/ole">
              <mc:AlternateContent xmlns:mc="http://schemas.openxmlformats.org/markup-compatibility/2006">
                <mc:Choice xmlns:v="urn:schemas-microsoft-com:vml" Requires="v">
                  <p:oleObj spid="_x0000_s135358" r:id="rId7" imgW="165028" imgH="228501" progId="Equation.3">
                    <p:embed/>
                  </p:oleObj>
                </mc:Choice>
                <mc:Fallback>
                  <p:oleObj r:id="rId7" imgW="165028" imgH="228501" progId="Equation.3">
                    <p:embed/>
                    <p:pic>
                      <p:nvPicPr>
                        <p:cNvPr id="58385" name="Object 24">
                          <a:extLst>
                            <a:ext uri="{FF2B5EF4-FFF2-40B4-BE49-F238E27FC236}">
                              <a16:creationId xmlns:a16="http://schemas.microsoft.com/office/drawing/2014/main" id="{D639321F-7171-4C96-9E53-C7DE99FE47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8" y="2005"/>
                          <a:ext cx="23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57753" name="Rectangle 25">
            <a:extLst>
              <a:ext uri="{FF2B5EF4-FFF2-40B4-BE49-F238E27FC236}">
                <a16:creationId xmlns:a16="http://schemas.microsoft.com/office/drawing/2014/main" id="{7292264D-16D4-45BA-BC97-B32E627B684B}"/>
              </a:ext>
            </a:extLst>
          </p:cNvPr>
          <p:cNvSpPr>
            <a:spLocks noChangeArrowheads="1"/>
          </p:cNvSpPr>
          <p:nvPr/>
        </p:nvSpPr>
        <p:spPr bwMode="auto">
          <a:xfrm>
            <a:off x="549275" y="3789363"/>
            <a:ext cx="79835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dirty="0">
                <a:solidFill>
                  <a:srgbClr val="000066"/>
                </a:solidFill>
              </a:rPr>
              <a:t>无论是在正向还是反向偏置，</a:t>
            </a:r>
            <a:r>
              <a:rPr lang="en-US" altLang="zh-CN" sz="2000" b="1" dirty="0">
                <a:solidFill>
                  <a:srgbClr val="000066"/>
                </a:solidFill>
              </a:rPr>
              <a:t>PN</a:t>
            </a:r>
            <a:r>
              <a:rPr lang="zh-CN" altLang="en-US" sz="2000" b="1" dirty="0">
                <a:solidFill>
                  <a:srgbClr val="000066"/>
                </a:solidFill>
              </a:rPr>
              <a:t>结的温度特性主要取决于二极管方程：</a:t>
            </a:r>
          </a:p>
        </p:txBody>
      </p:sp>
      <p:graphicFrame>
        <p:nvGraphicFramePr>
          <p:cNvPr id="457754" name="Object 26">
            <a:extLst>
              <a:ext uri="{FF2B5EF4-FFF2-40B4-BE49-F238E27FC236}">
                <a16:creationId xmlns:a16="http://schemas.microsoft.com/office/drawing/2014/main" id="{716EBE19-8F18-430B-B620-977302241BF4}"/>
              </a:ext>
            </a:extLst>
          </p:cNvPr>
          <p:cNvGraphicFramePr>
            <a:graphicFrameLocks noChangeAspect="1"/>
          </p:cNvGraphicFramePr>
          <p:nvPr/>
        </p:nvGraphicFramePr>
        <p:xfrm>
          <a:off x="2714625" y="4286250"/>
          <a:ext cx="1824038" cy="504825"/>
        </p:xfrm>
        <a:graphic>
          <a:graphicData uri="http://schemas.openxmlformats.org/presentationml/2006/ole">
            <mc:AlternateContent xmlns:mc="http://schemas.openxmlformats.org/markup-compatibility/2006">
              <mc:Choice xmlns:v="urn:schemas-microsoft-com:vml" Requires="v">
                <p:oleObj spid="_x0000_s135359" name="Equation" r:id="rId9" imgW="990170" imgH="279279" progId="Equation.DSMT4">
                  <p:embed/>
                </p:oleObj>
              </mc:Choice>
              <mc:Fallback>
                <p:oleObj name="Equation" r:id="rId9" imgW="990170" imgH="279279" progId="Equation.DSMT4">
                  <p:embed/>
                  <p:pic>
                    <p:nvPicPr>
                      <p:cNvPr id="457754" name="Object 26">
                        <a:extLst>
                          <a:ext uri="{FF2B5EF4-FFF2-40B4-BE49-F238E27FC236}">
                            <a16:creationId xmlns:a16="http://schemas.microsoft.com/office/drawing/2014/main" id="{716EBE19-8F18-430B-B620-977302241BF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14625" y="4286250"/>
                        <a:ext cx="18240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339" name="Object 16">
            <a:extLst>
              <a:ext uri="{FF2B5EF4-FFF2-40B4-BE49-F238E27FC236}">
                <a16:creationId xmlns:a16="http://schemas.microsoft.com/office/drawing/2014/main" id="{FE7E6777-09F7-4153-BCFA-F151961AA86C}"/>
              </a:ext>
            </a:extLst>
          </p:cNvPr>
          <p:cNvGraphicFramePr>
            <a:graphicFrameLocks noChangeAspect="1"/>
          </p:cNvGraphicFramePr>
          <p:nvPr/>
        </p:nvGraphicFramePr>
        <p:xfrm>
          <a:off x="4643438" y="1714500"/>
          <a:ext cx="2592387" cy="785813"/>
        </p:xfrm>
        <a:graphic>
          <a:graphicData uri="http://schemas.openxmlformats.org/presentationml/2006/ole">
            <mc:AlternateContent xmlns:mc="http://schemas.openxmlformats.org/markup-compatibility/2006">
              <mc:Choice xmlns:v="urn:schemas-microsoft-com:vml" Requires="v">
                <p:oleObj spid="_x0000_s135360" r:id="rId11" imgW="1473200" imgH="444500" progId="Equation.3">
                  <p:embed/>
                </p:oleObj>
              </mc:Choice>
              <mc:Fallback>
                <p:oleObj r:id="rId11" imgW="1473200" imgH="444500" progId="Equation.3">
                  <p:embed/>
                  <p:pic>
                    <p:nvPicPr>
                      <p:cNvPr id="440339" name="Object 16">
                        <a:extLst>
                          <a:ext uri="{FF2B5EF4-FFF2-40B4-BE49-F238E27FC236}">
                            <a16:creationId xmlns:a16="http://schemas.microsoft.com/office/drawing/2014/main" id="{FE7E6777-09F7-4153-BCFA-F151961AA86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3438" y="1714500"/>
                        <a:ext cx="2592387"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089233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7730"/>
                                        </p:tgtEl>
                                        <p:attrNameLst>
                                          <p:attrName>style.visibility</p:attrName>
                                        </p:attrNameLst>
                                      </p:cBhvr>
                                      <p:to>
                                        <p:strVal val="visible"/>
                                      </p:to>
                                    </p:set>
                                    <p:animEffect transition="in" filter="blinds(horizontal)">
                                      <p:cBhvr>
                                        <p:cTn id="7" dur="500"/>
                                        <p:tgtEl>
                                          <p:spTgt spid="4577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57746"/>
                                        </p:tgtEl>
                                        <p:attrNameLst>
                                          <p:attrName>style.visibility</p:attrName>
                                        </p:attrNameLst>
                                      </p:cBhvr>
                                      <p:to>
                                        <p:strVal val="visible"/>
                                      </p:to>
                                    </p:set>
                                    <p:animEffect transition="in" filter="blinds(horizontal)">
                                      <p:cBhvr>
                                        <p:cTn id="12" dur="500"/>
                                        <p:tgtEl>
                                          <p:spTgt spid="4577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57747"/>
                                        </p:tgtEl>
                                        <p:attrNameLst>
                                          <p:attrName>style.visibility</p:attrName>
                                        </p:attrNameLst>
                                      </p:cBhvr>
                                      <p:to>
                                        <p:strVal val="visible"/>
                                      </p:to>
                                    </p:set>
                                    <p:animEffect transition="in" filter="blinds(horizontal)">
                                      <p:cBhvr>
                                        <p:cTn id="17" dur="500"/>
                                        <p:tgtEl>
                                          <p:spTgt spid="4577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7753"/>
                                        </p:tgtEl>
                                        <p:attrNameLst>
                                          <p:attrName>style.visibility</p:attrName>
                                        </p:attrNameLst>
                                      </p:cBhvr>
                                      <p:to>
                                        <p:strVal val="visible"/>
                                      </p:to>
                                    </p:set>
                                    <p:animEffect transition="in" filter="blinds(horizontal)">
                                      <p:cBhvr>
                                        <p:cTn id="27" dur="500"/>
                                        <p:tgtEl>
                                          <p:spTgt spid="4577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57754"/>
                                        </p:tgtEl>
                                        <p:attrNameLst>
                                          <p:attrName>style.visibility</p:attrName>
                                        </p:attrNameLst>
                                      </p:cBhvr>
                                      <p:to>
                                        <p:strVal val="visible"/>
                                      </p:to>
                                    </p:set>
                                    <p:animEffect transition="in" filter="blinds(horizontal)">
                                      <p:cBhvr>
                                        <p:cTn id="32" dur="500"/>
                                        <p:tgtEl>
                                          <p:spTgt spid="4577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40339"/>
                                        </p:tgtEl>
                                        <p:attrNameLst>
                                          <p:attrName>style.visibility</p:attrName>
                                        </p:attrNameLst>
                                      </p:cBhvr>
                                      <p:to>
                                        <p:strVal val="visible"/>
                                      </p:to>
                                    </p:set>
                                    <p:animEffect transition="in" filter="blinds(horizontal)">
                                      <p:cBhvr>
                                        <p:cTn id="37" dur="500"/>
                                        <p:tgtEl>
                                          <p:spTgt spid="440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0" grpId="0"/>
      <p:bldP spid="45775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366B325-A25E-4D2F-987C-C70613EF3353}"/>
              </a:ext>
            </a:extLst>
          </p:cNvPr>
          <p:cNvSpPr>
            <a:spLocks noChangeArrowheads="1"/>
          </p:cNvSpPr>
          <p:nvPr/>
        </p:nvSpPr>
        <p:spPr bwMode="auto">
          <a:xfrm>
            <a:off x="179388" y="1268413"/>
            <a:ext cx="66976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en-US" altLang="zh-CN" b="1" dirty="0">
                <a:solidFill>
                  <a:srgbClr val="993300"/>
                </a:solidFill>
              </a:rPr>
              <a:t>PN</a:t>
            </a:r>
            <a:r>
              <a:rPr kumimoji="0" lang="zh-CN" altLang="en-US" b="1" dirty="0">
                <a:solidFill>
                  <a:srgbClr val="993300"/>
                </a:solidFill>
              </a:rPr>
              <a:t>结处于反向偏置时温度影响</a:t>
            </a:r>
            <a:endParaRPr kumimoji="0" lang="en-US" altLang="zh-CN" dirty="0">
              <a:solidFill>
                <a:srgbClr val="993300"/>
              </a:solidFill>
            </a:endParaRPr>
          </a:p>
        </p:txBody>
      </p:sp>
      <p:graphicFrame>
        <p:nvGraphicFramePr>
          <p:cNvPr id="59396" name="Object 13">
            <a:extLst>
              <a:ext uri="{FF2B5EF4-FFF2-40B4-BE49-F238E27FC236}">
                <a16:creationId xmlns:a16="http://schemas.microsoft.com/office/drawing/2014/main" id="{5873CE74-644D-4D80-B85E-B95CA1F98408}"/>
              </a:ext>
            </a:extLst>
          </p:cNvPr>
          <p:cNvGraphicFramePr>
            <a:graphicFrameLocks noChangeAspect="1"/>
          </p:cNvGraphicFramePr>
          <p:nvPr/>
        </p:nvGraphicFramePr>
        <p:xfrm>
          <a:off x="827088" y="1881188"/>
          <a:ext cx="2881312" cy="844550"/>
        </p:xfrm>
        <a:graphic>
          <a:graphicData uri="http://schemas.openxmlformats.org/presentationml/2006/ole">
            <mc:AlternateContent xmlns:mc="http://schemas.openxmlformats.org/markup-compatibility/2006">
              <mc:Choice xmlns:v="urn:schemas-microsoft-com:vml" Requires="v">
                <p:oleObj spid="_x0000_s136342" r:id="rId3" imgW="1727200" imgH="508000" progId="Equation.3">
                  <p:embed/>
                </p:oleObj>
              </mc:Choice>
              <mc:Fallback>
                <p:oleObj r:id="rId3" imgW="1727200" imgH="508000" progId="Equation.3">
                  <p:embed/>
                  <p:pic>
                    <p:nvPicPr>
                      <p:cNvPr id="59396" name="Object 13">
                        <a:extLst>
                          <a:ext uri="{FF2B5EF4-FFF2-40B4-BE49-F238E27FC236}">
                            <a16:creationId xmlns:a16="http://schemas.microsoft.com/office/drawing/2014/main" id="{5873CE74-644D-4D80-B85E-B95CA1F984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881188"/>
                        <a:ext cx="2881312"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15" name="Rectangle 15">
            <a:extLst>
              <a:ext uri="{FF2B5EF4-FFF2-40B4-BE49-F238E27FC236}">
                <a16:creationId xmlns:a16="http://schemas.microsoft.com/office/drawing/2014/main" id="{7B9DC7CB-0468-4241-9631-FBC0C0D9BFED}"/>
              </a:ext>
            </a:extLst>
          </p:cNvPr>
          <p:cNvSpPr>
            <a:spLocks noChangeArrowheads="1"/>
          </p:cNvSpPr>
          <p:nvPr/>
        </p:nvSpPr>
        <p:spPr bwMode="auto">
          <a:xfrm>
            <a:off x="539750" y="2887663"/>
            <a:ext cx="5688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rPr>
              <a:t>相对来说，括号内的参量对温度变化不灵敏。</a:t>
            </a:r>
            <a:r>
              <a:rPr lang="ko-KR" altLang="en-US" sz="2000" b="1">
                <a:solidFill>
                  <a:srgbClr val="000066"/>
                </a:solidFill>
              </a:rPr>
              <a:t> </a:t>
            </a:r>
          </a:p>
        </p:txBody>
      </p:sp>
      <p:graphicFrame>
        <p:nvGraphicFramePr>
          <p:cNvPr id="460816" name="Object 16">
            <a:extLst>
              <a:ext uri="{FF2B5EF4-FFF2-40B4-BE49-F238E27FC236}">
                <a16:creationId xmlns:a16="http://schemas.microsoft.com/office/drawing/2014/main" id="{A7E360AD-0362-47A6-AB61-A02EC3092762}"/>
              </a:ext>
            </a:extLst>
          </p:cNvPr>
          <p:cNvGraphicFramePr>
            <a:graphicFrameLocks noChangeAspect="1"/>
          </p:cNvGraphicFramePr>
          <p:nvPr/>
        </p:nvGraphicFramePr>
        <p:xfrm>
          <a:off x="971550" y="3460750"/>
          <a:ext cx="2447925" cy="473075"/>
        </p:xfrm>
        <a:graphic>
          <a:graphicData uri="http://schemas.openxmlformats.org/presentationml/2006/ole">
            <mc:AlternateContent xmlns:mc="http://schemas.openxmlformats.org/markup-compatibility/2006">
              <mc:Choice xmlns:v="urn:schemas-microsoft-com:vml" Requires="v">
                <p:oleObj spid="_x0000_s136343" r:id="rId5" imgW="1333500" imgH="254000" progId="Equation.3">
                  <p:embed/>
                </p:oleObj>
              </mc:Choice>
              <mc:Fallback>
                <p:oleObj r:id="rId5" imgW="1333500" imgH="254000" progId="Equation.3">
                  <p:embed/>
                  <p:pic>
                    <p:nvPicPr>
                      <p:cNvPr id="460816" name="Object 16">
                        <a:extLst>
                          <a:ext uri="{FF2B5EF4-FFF2-40B4-BE49-F238E27FC236}">
                            <a16:creationId xmlns:a16="http://schemas.microsoft.com/office/drawing/2014/main" id="{A7E360AD-0362-47A6-AB61-A02EC30927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3460750"/>
                        <a:ext cx="24479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17" name="Rectangle 17">
            <a:extLst>
              <a:ext uri="{FF2B5EF4-FFF2-40B4-BE49-F238E27FC236}">
                <a16:creationId xmlns:a16="http://schemas.microsoft.com/office/drawing/2014/main" id="{8B720256-25FA-4614-A37C-B299FD2A56A0}"/>
              </a:ext>
            </a:extLst>
          </p:cNvPr>
          <p:cNvSpPr>
            <a:spLocks noChangeArrowheads="1"/>
          </p:cNvSpPr>
          <p:nvPr/>
        </p:nvSpPr>
        <p:spPr bwMode="auto">
          <a:xfrm>
            <a:off x="3995738" y="3460750"/>
            <a:ext cx="1352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a:solidFill>
                  <a:srgbClr val="000066"/>
                </a:solidFill>
              </a:rPr>
              <a:t>（</a:t>
            </a:r>
            <a:r>
              <a:rPr lang="en-US" altLang="ko-KR" sz="2000" b="1">
                <a:solidFill>
                  <a:srgbClr val="000066"/>
                </a:solidFill>
              </a:rPr>
              <a:t>2-</a:t>
            </a:r>
            <a:r>
              <a:rPr lang="en-US" altLang="zh-CN" sz="2000" b="1">
                <a:solidFill>
                  <a:srgbClr val="000066"/>
                </a:solidFill>
              </a:rPr>
              <a:t>6-3</a:t>
            </a:r>
            <a:r>
              <a:rPr lang="ko-KR" altLang="en-US" sz="2000" b="1">
                <a:solidFill>
                  <a:srgbClr val="000066"/>
                </a:solidFill>
              </a:rPr>
              <a:t>）</a:t>
            </a:r>
            <a:endParaRPr lang="zh-CN" altLang="en-US" sz="2000" b="1">
              <a:solidFill>
                <a:srgbClr val="000066"/>
              </a:solidFill>
            </a:endParaRPr>
          </a:p>
        </p:txBody>
      </p:sp>
      <p:grpSp>
        <p:nvGrpSpPr>
          <p:cNvPr id="2" name="Group 23">
            <a:extLst>
              <a:ext uri="{FF2B5EF4-FFF2-40B4-BE49-F238E27FC236}">
                <a16:creationId xmlns:a16="http://schemas.microsoft.com/office/drawing/2014/main" id="{B44E9353-6C65-4490-AC93-80EAB25D4631}"/>
              </a:ext>
            </a:extLst>
          </p:cNvPr>
          <p:cNvGrpSpPr>
            <a:grpSpLocks/>
          </p:cNvGrpSpPr>
          <p:nvPr/>
        </p:nvGrpSpPr>
        <p:grpSpPr bwMode="auto">
          <a:xfrm>
            <a:off x="655638" y="4089400"/>
            <a:ext cx="4276725" cy="419100"/>
            <a:chOff x="367" y="2387"/>
            <a:chExt cx="2694" cy="264"/>
          </a:xfrm>
        </p:grpSpPr>
        <p:sp>
          <p:nvSpPr>
            <p:cNvPr id="59450" name="Rectangle 18">
              <a:extLst>
                <a:ext uri="{FF2B5EF4-FFF2-40B4-BE49-F238E27FC236}">
                  <a16:creationId xmlns:a16="http://schemas.microsoft.com/office/drawing/2014/main" id="{0A4B3797-19E3-4692-8189-1677B42AF206}"/>
                </a:ext>
              </a:extLst>
            </p:cNvPr>
            <p:cNvSpPr>
              <a:spLocks noChangeArrowheads="1"/>
            </p:cNvSpPr>
            <p:nvPr/>
          </p:nvSpPr>
          <p:spPr bwMode="auto">
            <a:xfrm>
              <a:off x="367" y="2387"/>
              <a:ext cx="26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对</a:t>
              </a:r>
              <a:r>
                <a:rPr kumimoji="0" lang="en-US" altLang="zh-CN" sz="2000" b="1"/>
                <a:t>T</a:t>
              </a:r>
              <a:r>
                <a:rPr kumimoji="0" lang="zh-CN" altLang="en-US" sz="2000" b="1">
                  <a:solidFill>
                    <a:srgbClr val="000066"/>
                  </a:solidFill>
                </a:rPr>
                <a:t>求导，所得的结果除以   ，得到</a:t>
              </a:r>
            </a:p>
          </p:txBody>
        </p:sp>
        <p:graphicFrame>
          <p:nvGraphicFramePr>
            <p:cNvPr id="59451" name="Object 19">
              <a:extLst>
                <a:ext uri="{FF2B5EF4-FFF2-40B4-BE49-F238E27FC236}">
                  <a16:creationId xmlns:a16="http://schemas.microsoft.com/office/drawing/2014/main" id="{263A0424-1D05-487C-A587-4ECB6255D432}"/>
                </a:ext>
              </a:extLst>
            </p:cNvPr>
            <p:cNvGraphicFramePr>
              <a:graphicFrameLocks noChangeAspect="1"/>
            </p:cNvGraphicFramePr>
            <p:nvPr/>
          </p:nvGraphicFramePr>
          <p:xfrm>
            <a:off x="2290" y="2387"/>
            <a:ext cx="187" cy="264"/>
          </p:xfrm>
          <a:graphic>
            <a:graphicData uri="http://schemas.openxmlformats.org/presentationml/2006/ole">
              <mc:AlternateContent xmlns:mc="http://schemas.openxmlformats.org/markup-compatibility/2006">
                <mc:Choice xmlns:v="urn:schemas-microsoft-com:vml" Requires="v">
                  <p:oleObj spid="_x0000_s136344" r:id="rId7" imgW="165028" imgH="228501" progId="Equation.3">
                    <p:embed/>
                  </p:oleObj>
                </mc:Choice>
                <mc:Fallback>
                  <p:oleObj r:id="rId7" imgW="165028" imgH="228501" progId="Equation.3">
                    <p:embed/>
                    <p:pic>
                      <p:nvPicPr>
                        <p:cNvPr id="59451" name="Object 19">
                          <a:extLst>
                            <a:ext uri="{FF2B5EF4-FFF2-40B4-BE49-F238E27FC236}">
                              <a16:creationId xmlns:a16="http://schemas.microsoft.com/office/drawing/2014/main" id="{263A0424-1D05-487C-A587-4ECB6255D4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90" y="2387"/>
                          <a:ext cx="1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60820" name="Object 20">
            <a:extLst>
              <a:ext uri="{FF2B5EF4-FFF2-40B4-BE49-F238E27FC236}">
                <a16:creationId xmlns:a16="http://schemas.microsoft.com/office/drawing/2014/main" id="{0BCCE9BB-1333-4C85-BFD5-A4A1767A4895}"/>
              </a:ext>
            </a:extLst>
          </p:cNvPr>
          <p:cNvGraphicFramePr>
            <a:graphicFrameLocks noChangeAspect="1"/>
          </p:cNvGraphicFramePr>
          <p:nvPr/>
        </p:nvGraphicFramePr>
        <p:xfrm>
          <a:off x="1042988" y="4673600"/>
          <a:ext cx="2881312" cy="771525"/>
        </p:xfrm>
        <a:graphic>
          <a:graphicData uri="http://schemas.openxmlformats.org/presentationml/2006/ole">
            <mc:AlternateContent xmlns:mc="http://schemas.openxmlformats.org/markup-compatibility/2006">
              <mc:Choice xmlns:v="urn:schemas-microsoft-com:vml" Requires="v">
                <p:oleObj spid="_x0000_s136345" r:id="rId9" imgW="1701800" imgH="457200" progId="Equation.3">
                  <p:embed/>
                </p:oleObj>
              </mc:Choice>
              <mc:Fallback>
                <p:oleObj r:id="rId9" imgW="1701800" imgH="457200" progId="Equation.3">
                  <p:embed/>
                  <p:pic>
                    <p:nvPicPr>
                      <p:cNvPr id="460820" name="Object 20">
                        <a:extLst>
                          <a:ext uri="{FF2B5EF4-FFF2-40B4-BE49-F238E27FC236}">
                            <a16:creationId xmlns:a16="http://schemas.microsoft.com/office/drawing/2014/main" id="{0BCCE9BB-1333-4C85-BFD5-A4A1767A489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4673600"/>
                        <a:ext cx="2881312"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21" name="Rectangle 21">
            <a:extLst>
              <a:ext uri="{FF2B5EF4-FFF2-40B4-BE49-F238E27FC236}">
                <a16:creationId xmlns:a16="http://schemas.microsoft.com/office/drawing/2014/main" id="{DCE0A392-5FAF-4A0E-81D8-0BB5A4211995}"/>
              </a:ext>
            </a:extLst>
          </p:cNvPr>
          <p:cNvSpPr>
            <a:spLocks noChangeArrowheads="1"/>
          </p:cNvSpPr>
          <p:nvPr/>
        </p:nvSpPr>
        <p:spPr bwMode="auto">
          <a:xfrm>
            <a:off x="4140200" y="4818063"/>
            <a:ext cx="1352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a:solidFill>
                  <a:srgbClr val="000066"/>
                </a:solidFill>
              </a:rPr>
              <a:t>（</a:t>
            </a:r>
            <a:r>
              <a:rPr lang="en-US" altLang="ko-KR" sz="2000" b="1">
                <a:solidFill>
                  <a:srgbClr val="000066"/>
                </a:solidFill>
              </a:rPr>
              <a:t>2-</a:t>
            </a:r>
            <a:r>
              <a:rPr lang="en-US" altLang="zh-CN" sz="2000" b="1">
                <a:solidFill>
                  <a:srgbClr val="000066"/>
                </a:solidFill>
              </a:rPr>
              <a:t>6-4</a:t>
            </a:r>
            <a:r>
              <a:rPr lang="ko-KR" altLang="en-US" sz="2000" b="1">
                <a:solidFill>
                  <a:srgbClr val="000066"/>
                </a:solidFill>
              </a:rPr>
              <a:t>）</a:t>
            </a:r>
            <a:endParaRPr lang="zh-CN" altLang="en-US" sz="2000" b="1">
              <a:solidFill>
                <a:srgbClr val="000066"/>
              </a:solidFill>
            </a:endParaRPr>
          </a:p>
        </p:txBody>
      </p:sp>
      <p:sp>
        <p:nvSpPr>
          <p:cNvPr id="460822" name="Rectangle 22">
            <a:extLst>
              <a:ext uri="{FF2B5EF4-FFF2-40B4-BE49-F238E27FC236}">
                <a16:creationId xmlns:a16="http://schemas.microsoft.com/office/drawing/2014/main" id="{7A3340CE-E78F-46B0-9D7F-F9D8703BB10E}"/>
              </a:ext>
            </a:extLst>
          </p:cNvPr>
          <p:cNvSpPr>
            <a:spLocks noChangeArrowheads="1"/>
          </p:cNvSpPr>
          <p:nvPr/>
        </p:nvSpPr>
        <p:spPr bwMode="auto">
          <a:xfrm>
            <a:off x="684213" y="5624513"/>
            <a:ext cx="6192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rPr>
              <a:t>反映了反偏压情况下，二极管</a:t>
            </a:r>
            <a:r>
              <a:rPr kumimoji="0" lang="en-US" altLang="zh-CN" sz="2000" b="1">
                <a:solidFill>
                  <a:srgbClr val="000066"/>
                </a:solidFill>
              </a:rPr>
              <a:t>I</a:t>
            </a:r>
            <a:r>
              <a:rPr kumimoji="0" lang="zh-CN" altLang="en-US" sz="2000" b="1">
                <a:solidFill>
                  <a:srgbClr val="000066"/>
                </a:solidFill>
              </a:rPr>
              <a:t>－</a:t>
            </a:r>
            <a:r>
              <a:rPr kumimoji="0" lang="en-US" altLang="zh-CN" sz="2000" b="1">
                <a:solidFill>
                  <a:srgbClr val="000066"/>
                </a:solidFill>
              </a:rPr>
              <a:t>V</a:t>
            </a:r>
            <a:r>
              <a:rPr kumimoji="0" lang="zh-CN" altLang="en-US" sz="2000" b="1">
                <a:solidFill>
                  <a:srgbClr val="000066"/>
                </a:solidFill>
              </a:rPr>
              <a:t>特性的温度效应。</a:t>
            </a:r>
          </a:p>
        </p:txBody>
      </p:sp>
      <p:grpSp>
        <p:nvGrpSpPr>
          <p:cNvPr id="3" name="Group 24">
            <a:extLst>
              <a:ext uri="{FF2B5EF4-FFF2-40B4-BE49-F238E27FC236}">
                <a16:creationId xmlns:a16="http://schemas.microsoft.com/office/drawing/2014/main" id="{C4BA2CD6-E031-4EA7-B367-68FE6D259200}"/>
              </a:ext>
            </a:extLst>
          </p:cNvPr>
          <p:cNvGrpSpPr>
            <a:grpSpLocks/>
          </p:cNvGrpSpPr>
          <p:nvPr/>
        </p:nvGrpSpPr>
        <p:grpSpPr bwMode="auto">
          <a:xfrm>
            <a:off x="6011863" y="3357563"/>
            <a:ext cx="2779712" cy="2286000"/>
            <a:chOff x="3229" y="1897"/>
            <a:chExt cx="1751" cy="1440"/>
          </a:xfrm>
        </p:grpSpPr>
        <p:sp>
          <p:nvSpPr>
            <p:cNvPr id="59405" name="Line 25">
              <a:extLst>
                <a:ext uri="{FF2B5EF4-FFF2-40B4-BE49-F238E27FC236}">
                  <a16:creationId xmlns:a16="http://schemas.microsoft.com/office/drawing/2014/main" id="{B04F7E6A-DB4C-47E3-8E68-E56371B48403}"/>
                </a:ext>
              </a:extLst>
            </p:cNvPr>
            <p:cNvSpPr>
              <a:spLocks noChangeShapeType="1"/>
            </p:cNvSpPr>
            <p:nvPr/>
          </p:nvSpPr>
          <p:spPr bwMode="auto">
            <a:xfrm>
              <a:off x="3447" y="3007"/>
              <a:ext cx="145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6" name="Freeform 26">
              <a:extLst>
                <a:ext uri="{FF2B5EF4-FFF2-40B4-BE49-F238E27FC236}">
                  <a16:creationId xmlns:a16="http://schemas.microsoft.com/office/drawing/2014/main" id="{4B23115B-2BD1-4EA4-BCAF-502AD99EC2CF}"/>
                </a:ext>
              </a:extLst>
            </p:cNvPr>
            <p:cNvSpPr>
              <a:spLocks/>
            </p:cNvSpPr>
            <p:nvPr/>
          </p:nvSpPr>
          <p:spPr bwMode="auto">
            <a:xfrm>
              <a:off x="4897" y="2986"/>
              <a:ext cx="83" cy="46"/>
            </a:xfrm>
            <a:custGeom>
              <a:avLst/>
              <a:gdLst>
                <a:gd name="T0" fmla="*/ 0 w 166"/>
                <a:gd name="T1" fmla="*/ 1 h 91"/>
                <a:gd name="T2" fmla="*/ 1 w 166"/>
                <a:gd name="T3" fmla="*/ 1 h 91"/>
                <a:gd name="T4" fmla="*/ 0 w 166"/>
                <a:gd name="T5" fmla="*/ 0 h 91"/>
                <a:gd name="T6" fmla="*/ 0 w 166"/>
                <a:gd name="T7" fmla="*/ 1 h 91"/>
                <a:gd name="T8" fmla="*/ 0 60000 65536"/>
                <a:gd name="T9" fmla="*/ 0 60000 65536"/>
                <a:gd name="T10" fmla="*/ 0 60000 65536"/>
                <a:gd name="T11" fmla="*/ 0 60000 65536"/>
                <a:gd name="T12" fmla="*/ 0 w 166"/>
                <a:gd name="T13" fmla="*/ 0 h 91"/>
                <a:gd name="T14" fmla="*/ 166 w 166"/>
                <a:gd name="T15" fmla="*/ 91 h 91"/>
              </a:gdLst>
              <a:ahLst/>
              <a:cxnLst>
                <a:cxn ang="T8">
                  <a:pos x="T0" y="T1"/>
                </a:cxn>
                <a:cxn ang="T9">
                  <a:pos x="T2" y="T3"/>
                </a:cxn>
                <a:cxn ang="T10">
                  <a:pos x="T4" y="T5"/>
                </a:cxn>
                <a:cxn ang="T11">
                  <a:pos x="T6" y="T7"/>
                </a:cxn>
              </a:cxnLst>
              <a:rect l="T12" t="T13" r="T14" b="T15"/>
              <a:pathLst>
                <a:path w="166" h="91">
                  <a:moveTo>
                    <a:pt x="0" y="91"/>
                  </a:moveTo>
                  <a:lnTo>
                    <a:pt x="166" y="49"/>
                  </a:lnTo>
                  <a:lnTo>
                    <a:pt x="0" y="0"/>
                  </a:lnTo>
                  <a:lnTo>
                    <a:pt x="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407" name="Line 27">
              <a:extLst>
                <a:ext uri="{FF2B5EF4-FFF2-40B4-BE49-F238E27FC236}">
                  <a16:creationId xmlns:a16="http://schemas.microsoft.com/office/drawing/2014/main" id="{EF21A7BB-B1AF-4414-B1D9-B6F01F8C71B7}"/>
                </a:ext>
              </a:extLst>
            </p:cNvPr>
            <p:cNvSpPr>
              <a:spLocks noChangeShapeType="1"/>
            </p:cNvSpPr>
            <p:nvPr/>
          </p:nvSpPr>
          <p:spPr bwMode="auto">
            <a:xfrm flipV="1">
              <a:off x="3717" y="2951"/>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8" name="Line 28">
              <a:extLst>
                <a:ext uri="{FF2B5EF4-FFF2-40B4-BE49-F238E27FC236}">
                  <a16:creationId xmlns:a16="http://schemas.microsoft.com/office/drawing/2014/main" id="{A3366AE5-795E-4E1D-8257-D2F6AE271CE8}"/>
                </a:ext>
              </a:extLst>
            </p:cNvPr>
            <p:cNvSpPr>
              <a:spLocks noChangeShapeType="1"/>
            </p:cNvSpPr>
            <p:nvPr/>
          </p:nvSpPr>
          <p:spPr bwMode="auto">
            <a:xfrm flipV="1">
              <a:off x="3987" y="2951"/>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9" name="Line 29">
              <a:extLst>
                <a:ext uri="{FF2B5EF4-FFF2-40B4-BE49-F238E27FC236}">
                  <a16:creationId xmlns:a16="http://schemas.microsoft.com/office/drawing/2014/main" id="{AA9EC60F-FE48-4AC1-9449-0B01FDA210DF}"/>
                </a:ext>
              </a:extLst>
            </p:cNvPr>
            <p:cNvSpPr>
              <a:spLocks noChangeShapeType="1"/>
            </p:cNvSpPr>
            <p:nvPr/>
          </p:nvSpPr>
          <p:spPr bwMode="auto">
            <a:xfrm flipV="1">
              <a:off x="4257" y="2951"/>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0" name="Line 30">
              <a:extLst>
                <a:ext uri="{FF2B5EF4-FFF2-40B4-BE49-F238E27FC236}">
                  <a16:creationId xmlns:a16="http://schemas.microsoft.com/office/drawing/2014/main" id="{76654565-2C2F-4D5C-A772-3ACFCB339164}"/>
                </a:ext>
              </a:extLst>
            </p:cNvPr>
            <p:cNvSpPr>
              <a:spLocks noChangeShapeType="1"/>
            </p:cNvSpPr>
            <p:nvPr/>
          </p:nvSpPr>
          <p:spPr bwMode="auto">
            <a:xfrm flipV="1">
              <a:off x="4526" y="2951"/>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1" name="Line 31">
              <a:extLst>
                <a:ext uri="{FF2B5EF4-FFF2-40B4-BE49-F238E27FC236}">
                  <a16:creationId xmlns:a16="http://schemas.microsoft.com/office/drawing/2014/main" id="{81F530C1-84F7-4585-A86A-DB50CD3C42E7}"/>
                </a:ext>
              </a:extLst>
            </p:cNvPr>
            <p:cNvSpPr>
              <a:spLocks noChangeShapeType="1"/>
            </p:cNvSpPr>
            <p:nvPr/>
          </p:nvSpPr>
          <p:spPr bwMode="auto">
            <a:xfrm flipV="1">
              <a:off x="4800" y="2951"/>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2" name="Line 32">
              <a:extLst>
                <a:ext uri="{FF2B5EF4-FFF2-40B4-BE49-F238E27FC236}">
                  <a16:creationId xmlns:a16="http://schemas.microsoft.com/office/drawing/2014/main" id="{B980A41C-1EFF-4C11-92D9-4905F3137DD6}"/>
                </a:ext>
              </a:extLst>
            </p:cNvPr>
            <p:cNvSpPr>
              <a:spLocks noChangeShapeType="1"/>
            </p:cNvSpPr>
            <p:nvPr/>
          </p:nvSpPr>
          <p:spPr bwMode="auto">
            <a:xfrm flipV="1">
              <a:off x="3440" y="1967"/>
              <a:ext cx="0" cy="104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3" name="Freeform 33">
              <a:extLst>
                <a:ext uri="{FF2B5EF4-FFF2-40B4-BE49-F238E27FC236}">
                  <a16:creationId xmlns:a16="http://schemas.microsoft.com/office/drawing/2014/main" id="{12CEF381-5A2F-467C-8809-35333FEAE4B9}"/>
                </a:ext>
              </a:extLst>
            </p:cNvPr>
            <p:cNvSpPr>
              <a:spLocks/>
            </p:cNvSpPr>
            <p:nvPr/>
          </p:nvSpPr>
          <p:spPr bwMode="auto">
            <a:xfrm>
              <a:off x="3417" y="1897"/>
              <a:ext cx="49" cy="81"/>
            </a:xfrm>
            <a:custGeom>
              <a:avLst/>
              <a:gdLst>
                <a:gd name="T0" fmla="*/ 1 w 97"/>
                <a:gd name="T1" fmla="*/ 1 h 160"/>
                <a:gd name="T2" fmla="*/ 1 w 97"/>
                <a:gd name="T3" fmla="*/ 0 h 160"/>
                <a:gd name="T4" fmla="*/ 0 w 97"/>
                <a:gd name="T5" fmla="*/ 1 h 160"/>
                <a:gd name="T6" fmla="*/ 1 w 97"/>
                <a:gd name="T7" fmla="*/ 1 h 160"/>
                <a:gd name="T8" fmla="*/ 0 60000 65536"/>
                <a:gd name="T9" fmla="*/ 0 60000 65536"/>
                <a:gd name="T10" fmla="*/ 0 60000 65536"/>
                <a:gd name="T11" fmla="*/ 0 60000 65536"/>
                <a:gd name="T12" fmla="*/ 0 w 97"/>
                <a:gd name="T13" fmla="*/ 0 h 160"/>
                <a:gd name="T14" fmla="*/ 97 w 97"/>
                <a:gd name="T15" fmla="*/ 160 h 160"/>
              </a:gdLst>
              <a:ahLst/>
              <a:cxnLst>
                <a:cxn ang="T8">
                  <a:pos x="T0" y="T1"/>
                </a:cxn>
                <a:cxn ang="T9">
                  <a:pos x="T2" y="T3"/>
                </a:cxn>
                <a:cxn ang="T10">
                  <a:pos x="T4" y="T5"/>
                </a:cxn>
                <a:cxn ang="T11">
                  <a:pos x="T6" y="T7"/>
                </a:cxn>
              </a:cxnLst>
              <a:rect l="T12" t="T13" r="T14" b="T15"/>
              <a:pathLst>
                <a:path w="97" h="160">
                  <a:moveTo>
                    <a:pt x="97" y="160"/>
                  </a:moveTo>
                  <a:lnTo>
                    <a:pt x="52" y="0"/>
                  </a:lnTo>
                  <a:lnTo>
                    <a:pt x="0" y="160"/>
                  </a:lnTo>
                  <a:lnTo>
                    <a:pt x="97" y="1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414" name="Line 34">
              <a:extLst>
                <a:ext uri="{FF2B5EF4-FFF2-40B4-BE49-F238E27FC236}">
                  <a16:creationId xmlns:a16="http://schemas.microsoft.com/office/drawing/2014/main" id="{63CF7255-6D36-4EB3-A944-F71922621549}"/>
                </a:ext>
              </a:extLst>
            </p:cNvPr>
            <p:cNvSpPr>
              <a:spLocks noChangeShapeType="1"/>
            </p:cNvSpPr>
            <p:nvPr/>
          </p:nvSpPr>
          <p:spPr bwMode="auto">
            <a:xfrm flipH="1">
              <a:off x="3447" y="2715"/>
              <a:ext cx="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5" name="Line 35">
              <a:extLst>
                <a:ext uri="{FF2B5EF4-FFF2-40B4-BE49-F238E27FC236}">
                  <a16:creationId xmlns:a16="http://schemas.microsoft.com/office/drawing/2014/main" id="{270A3C3A-32EF-461D-BE85-2054B9B3A99A}"/>
                </a:ext>
              </a:extLst>
            </p:cNvPr>
            <p:cNvSpPr>
              <a:spLocks noChangeShapeType="1"/>
            </p:cNvSpPr>
            <p:nvPr/>
          </p:nvSpPr>
          <p:spPr bwMode="auto">
            <a:xfrm flipH="1">
              <a:off x="3447" y="2419"/>
              <a:ext cx="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6" name="Line 36">
              <a:extLst>
                <a:ext uri="{FF2B5EF4-FFF2-40B4-BE49-F238E27FC236}">
                  <a16:creationId xmlns:a16="http://schemas.microsoft.com/office/drawing/2014/main" id="{97438C47-C770-4BFD-9C67-E3E8A3558EF1}"/>
                </a:ext>
              </a:extLst>
            </p:cNvPr>
            <p:cNvSpPr>
              <a:spLocks noChangeShapeType="1"/>
            </p:cNvSpPr>
            <p:nvPr/>
          </p:nvSpPr>
          <p:spPr bwMode="auto">
            <a:xfrm flipH="1">
              <a:off x="3447" y="2123"/>
              <a:ext cx="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7" name="Rectangle 37">
              <a:extLst>
                <a:ext uri="{FF2B5EF4-FFF2-40B4-BE49-F238E27FC236}">
                  <a16:creationId xmlns:a16="http://schemas.microsoft.com/office/drawing/2014/main" id="{1D8F969A-10C2-4CDA-9D63-B75AFE636CCC}"/>
                </a:ext>
              </a:extLst>
            </p:cNvPr>
            <p:cNvSpPr>
              <a:spLocks noChangeArrowheads="1"/>
            </p:cNvSpPr>
            <p:nvPr/>
          </p:nvSpPr>
          <p:spPr bwMode="auto">
            <a:xfrm>
              <a:off x="3612" y="3099"/>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20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18" name="Rectangle 38">
              <a:extLst>
                <a:ext uri="{FF2B5EF4-FFF2-40B4-BE49-F238E27FC236}">
                  <a16:creationId xmlns:a16="http://schemas.microsoft.com/office/drawing/2014/main" id="{FF58715A-962D-4D42-A3FB-A61696DCCC09}"/>
                </a:ext>
              </a:extLst>
            </p:cNvPr>
            <p:cNvSpPr>
              <a:spLocks noChangeArrowheads="1"/>
            </p:cNvSpPr>
            <p:nvPr/>
          </p:nvSpPr>
          <p:spPr bwMode="auto">
            <a:xfrm>
              <a:off x="3708" y="3099"/>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19" name="Rectangle 39">
              <a:extLst>
                <a:ext uri="{FF2B5EF4-FFF2-40B4-BE49-F238E27FC236}">
                  <a16:creationId xmlns:a16="http://schemas.microsoft.com/office/drawing/2014/main" id="{9B7A1B6A-D3B8-40E0-BC94-076C225E727A}"/>
                </a:ext>
              </a:extLst>
            </p:cNvPr>
            <p:cNvSpPr>
              <a:spLocks noChangeArrowheads="1"/>
            </p:cNvSpPr>
            <p:nvPr/>
          </p:nvSpPr>
          <p:spPr bwMode="auto">
            <a:xfrm>
              <a:off x="3904" y="3099"/>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40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20" name="Rectangle 40">
              <a:extLst>
                <a:ext uri="{FF2B5EF4-FFF2-40B4-BE49-F238E27FC236}">
                  <a16:creationId xmlns:a16="http://schemas.microsoft.com/office/drawing/2014/main" id="{15C82886-C545-432D-A292-5B036A19CC89}"/>
                </a:ext>
              </a:extLst>
            </p:cNvPr>
            <p:cNvSpPr>
              <a:spLocks noChangeArrowheads="1"/>
            </p:cNvSpPr>
            <p:nvPr/>
          </p:nvSpPr>
          <p:spPr bwMode="auto">
            <a:xfrm>
              <a:off x="4000" y="3099"/>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21" name="Rectangle 41">
              <a:extLst>
                <a:ext uri="{FF2B5EF4-FFF2-40B4-BE49-F238E27FC236}">
                  <a16:creationId xmlns:a16="http://schemas.microsoft.com/office/drawing/2014/main" id="{D88D9488-A97F-44E8-88C2-8A76B11D2C76}"/>
                </a:ext>
              </a:extLst>
            </p:cNvPr>
            <p:cNvSpPr>
              <a:spLocks noChangeArrowheads="1"/>
            </p:cNvSpPr>
            <p:nvPr/>
          </p:nvSpPr>
          <p:spPr bwMode="auto">
            <a:xfrm>
              <a:off x="4192" y="3099"/>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60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22" name="Rectangle 42">
              <a:extLst>
                <a:ext uri="{FF2B5EF4-FFF2-40B4-BE49-F238E27FC236}">
                  <a16:creationId xmlns:a16="http://schemas.microsoft.com/office/drawing/2014/main" id="{C84AB21C-5209-4419-9FEC-99A1F093BB61}"/>
                </a:ext>
              </a:extLst>
            </p:cNvPr>
            <p:cNvSpPr>
              <a:spLocks noChangeArrowheads="1"/>
            </p:cNvSpPr>
            <p:nvPr/>
          </p:nvSpPr>
          <p:spPr bwMode="auto">
            <a:xfrm>
              <a:off x="4289" y="3099"/>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23" name="Rectangle 43">
              <a:extLst>
                <a:ext uri="{FF2B5EF4-FFF2-40B4-BE49-F238E27FC236}">
                  <a16:creationId xmlns:a16="http://schemas.microsoft.com/office/drawing/2014/main" id="{6C2109BE-E4F5-4CD2-BA34-33A426790A81}"/>
                </a:ext>
              </a:extLst>
            </p:cNvPr>
            <p:cNvSpPr>
              <a:spLocks noChangeArrowheads="1"/>
            </p:cNvSpPr>
            <p:nvPr/>
          </p:nvSpPr>
          <p:spPr bwMode="auto">
            <a:xfrm>
              <a:off x="4481" y="3099"/>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80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24" name="Rectangle 44">
              <a:extLst>
                <a:ext uri="{FF2B5EF4-FFF2-40B4-BE49-F238E27FC236}">
                  <a16:creationId xmlns:a16="http://schemas.microsoft.com/office/drawing/2014/main" id="{57F369F1-A200-4491-9E9A-559FF10EBD1D}"/>
                </a:ext>
              </a:extLst>
            </p:cNvPr>
            <p:cNvSpPr>
              <a:spLocks noChangeArrowheads="1"/>
            </p:cNvSpPr>
            <p:nvPr/>
          </p:nvSpPr>
          <p:spPr bwMode="auto">
            <a:xfrm>
              <a:off x="4578" y="3099"/>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25" name="Rectangle 45">
              <a:extLst>
                <a:ext uri="{FF2B5EF4-FFF2-40B4-BE49-F238E27FC236}">
                  <a16:creationId xmlns:a16="http://schemas.microsoft.com/office/drawing/2014/main" id="{C480029A-CA31-42BF-A258-8E030907D810}"/>
                </a:ext>
              </a:extLst>
            </p:cNvPr>
            <p:cNvSpPr>
              <a:spLocks noChangeArrowheads="1"/>
            </p:cNvSpPr>
            <p:nvPr/>
          </p:nvSpPr>
          <p:spPr bwMode="auto">
            <a:xfrm>
              <a:off x="4773" y="3099"/>
              <a:ext cx="13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26" name="Rectangle 46">
              <a:extLst>
                <a:ext uri="{FF2B5EF4-FFF2-40B4-BE49-F238E27FC236}">
                  <a16:creationId xmlns:a16="http://schemas.microsoft.com/office/drawing/2014/main" id="{F72A0CCA-CF46-42CC-B139-47A4BE6DE1BE}"/>
                </a:ext>
              </a:extLst>
            </p:cNvPr>
            <p:cNvSpPr>
              <a:spLocks noChangeArrowheads="1"/>
            </p:cNvSpPr>
            <p:nvPr/>
          </p:nvSpPr>
          <p:spPr bwMode="auto">
            <a:xfrm>
              <a:off x="4911" y="3099"/>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27" name="Rectangle 47">
              <a:extLst>
                <a:ext uri="{FF2B5EF4-FFF2-40B4-BE49-F238E27FC236}">
                  <a16:creationId xmlns:a16="http://schemas.microsoft.com/office/drawing/2014/main" id="{57A71CC7-AF25-4DF0-8445-DCF63BC6FE75}"/>
                </a:ext>
              </a:extLst>
            </p:cNvPr>
            <p:cNvSpPr>
              <a:spLocks noChangeArrowheads="1"/>
            </p:cNvSpPr>
            <p:nvPr/>
          </p:nvSpPr>
          <p:spPr bwMode="auto">
            <a:xfrm>
              <a:off x="3229" y="2692"/>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28" name="Rectangle 48">
              <a:extLst>
                <a:ext uri="{FF2B5EF4-FFF2-40B4-BE49-F238E27FC236}">
                  <a16:creationId xmlns:a16="http://schemas.microsoft.com/office/drawing/2014/main" id="{50B496C9-EE60-43C7-98FF-5CCA236EC7BD}"/>
                </a:ext>
              </a:extLst>
            </p:cNvPr>
            <p:cNvSpPr>
              <a:spLocks noChangeArrowheads="1"/>
            </p:cNvSpPr>
            <p:nvPr/>
          </p:nvSpPr>
          <p:spPr bwMode="auto">
            <a:xfrm>
              <a:off x="3309" y="2680"/>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1</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29" name="Rectangle 49">
              <a:extLst>
                <a:ext uri="{FF2B5EF4-FFF2-40B4-BE49-F238E27FC236}">
                  <a16:creationId xmlns:a16="http://schemas.microsoft.com/office/drawing/2014/main" id="{BEFACE78-2805-415E-86DC-525BA10D0693}"/>
                </a:ext>
              </a:extLst>
            </p:cNvPr>
            <p:cNvSpPr>
              <a:spLocks noChangeArrowheads="1"/>
            </p:cNvSpPr>
            <p:nvPr/>
          </p:nvSpPr>
          <p:spPr bwMode="auto">
            <a:xfrm>
              <a:off x="3346" y="2680"/>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30" name="Rectangle 50">
              <a:extLst>
                <a:ext uri="{FF2B5EF4-FFF2-40B4-BE49-F238E27FC236}">
                  <a16:creationId xmlns:a16="http://schemas.microsoft.com/office/drawing/2014/main" id="{620940DC-DF1C-4DBD-B248-41864B88078B}"/>
                </a:ext>
              </a:extLst>
            </p:cNvPr>
            <p:cNvSpPr>
              <a:spLocks noChangeArrowheads="1"/>
            </p:cNvSpPr>
            <p:nvPr/>
          </p:nvSpPr>
          <p:spPr bwMode="auto">
            <a:xfrm>
              <a:off x="3232" y="2389"/>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31" name="Rectangle 51">
              <a:extLst>
                <a:ext uri="{FF2B5EF4-FFF2-40B4-BE49-F238E27FC236}">
                  <a16:creationId xmlns:a16="http://schemas.microsoft.com/office/drawing/2014/main" id="{EFEAEBFC-1955-41EB-877B-FCAD8A90B7F9}"/>
                </a:ext>
              </a:extLst>
            </p:cNvPr>
            <p:cNvSpPr>
              <a:spLocks noChangeArrowheads="1"/>
            </p:cNvSpPr>
            <p:nvPr/>
          </p:nvSpPr>
          <p:spPr bwMode="auto">
            <a:xfrm>
              <a:off x="3313" y="2377"/>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2</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32" name="Rectangle 52">
              <a:extLst>
                <a:ext uri="{FF2B5EF4-FFF2-40B4-BE49-F238E27FC236}">
                  <a16:creationId xmlns:a16="http://schemas.microsoft.com/office/drawing/2014/main" id="{D013440D-24D3-4664-A6CE-0168896F9D85}"/>
                </a:ext>
              </a:extLst>
            </p:cNvPr>
            <p:cNvSpPr>
              <a:spLocks noChangeArrowheads="1"/>
            </p:cNvSpPr>
            <p:nvPr/>
          </p:nvSpPr>
          <p:spPr bwMode="auto">
            <a:xfrm>
              <a:off x="3350" y="2377"/>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33" name="Rectangle 53">
              <a:extLst>
                <a:ext uri="{FF2B5EF4-FFF2-40B4-BE49-F238E27FC236}">
                  <a16:creationId xmlns:a16="http://schemas.microsoft.com/office/drawing/2014/main" id="{7BD2C8F5-D94F-43D2-93F4-C6628F0C7781}"/>
                </a:ext>
              </a:extLst>
            </p:cNvPr>
            <p:cNvSpPr>
              <a:spLocks noChangeArrowheads="1"/>
            </p:cNvSpPr>
            <p:nvPr/>
          </p:nvSpPr>
          <p:spPr bwMode="auto">
            <a:xfrm>
              <a:off x="3229" y="2087"/>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34" name="Rectangle 54">
              <a:extLst>
                <a:ext uri="{FF2B5EF4-FFF2-40B4-BE49-F238E27FC236}">
                  <a16:creationId xmlns:a16="http://schemas.microsoft.com/office/drawing/2014/main" id="{4EAC14AA-6544-489D-88E6-5CAF0F036F45}"/>
                </a:ext>
              </a:extLst>
            </p:cNvPr>
            <p:cNvSpPr>
              <a:spLocks noChangeArrowheads="1"/>
            </p:cNvSpPr>
            <p:nvPr/>
          </p:nvSpPr>
          <p:spPr bwMode="auto">
            <a:xfrm>
              <a:off x="3309" y="2075"/>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3</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35" name="Rectangle 55">
              <a:extLst>
                <a:ext uri="{FF2B5EF4-FFF2-40B4-BE49-F238E27FC236}">
                  <a16:creationId xmlns:a16="http://schemas.microsoft.com/office/drawing/2014/main" id="{919408FD-0FAA-467F-BEDE-3AC5C142C80B}"/>
                </a:ext>
              </a:extLst>
            </p:cNvPr>
            <p:cNvSpPr>
              <a:spLocks noChangeArrowheads="1"/>
            </p:cNvSpPr>
            <p:nvPr/>
          </p:nvSpPr>
          <p:spPr bwMode="auto">
            <a:xfrm>
              <a:off x="3346" y="2075"/>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36" name="Rectangle 56">
              <a:extLst>
                <a:ext uri="{FF2B5EF4-FFF2-40B4-BE49-F238E27FC236}">
                  <a16:creationId xmlns:a16="http://schemas.microsoft.com/office/drawing/2014/main" id="{BA428AF5-11EA-4124-AFF0-A74393AC48BD}"/>
                </a:ext>
              </a:extLst>
            </p:cNvPr>
            <p:cNvSpPr>
              <a:spLocks noChangeArrowheads="1"/>
            </p:cNvSpPr>
            <p:nvPr/>
          </p:nvSpPr>
          <p:spPr bwMode="auto">
            <a:xfrm>
              <a:off x="3229" y="2998"/>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37" name="Rectangle 57">
              <a:extLst>
                <a:ext uri="{FF2B5EF4-FFF2-40B4-BE49-F238E27FC236}">
                  <a16:creationId xmlns:a16="http://schemas.microsoft.com/office/drawing/2014/main" id="{36DB5938-76B2-4CDC-9E03-832D0CD0D390}"/>
                </a:ext>
              </a:extLst>
            </p:cNvPr>
            <p:cNvSpPr>
              <a:spLocks noChangeArrowheads="1"/>
            </p:cNvSpPr>
            <p:nvPr/>
          </p:nvSpPr>
          <p:spPr bwMode="auto">
            <a:xfrm>
              <a:off x="3309" y="2987"/>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38" name="Rectangle 58">
              <a:extLst>
                <a:ext uri="{FF2B5EF4-FFF2-40B4-BE49-F238E27FC236}">
                  <a16:creationId xmlns:a16="http://schemas.microsoft.com/office/drawing/2014/main" id="{D66C2CF7-86B7-44AF-9721-ADBDD631C136}"/>
                </a:ext>
              </a:extLst>
            </p:cNvPr>
            <p:cNvSpPr>
              <a:spLocks noChangeArrowheads="1"/>
            </p:cNvSpPr>
            <p:nvPr/>
          </p:nvSpPr>
          <p:spPr bwMode="auto">
            <a:xfrm>
              <a:off x="3346" y="2987"/>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39" name="Freeform 59">
              <a:extLst>
                <a:ext uri="{FF2B5EF4-FFF2-40B4-BE49-F238E27FC236}">
                  <a16:creationId xmlns:a16="http://schemas.microsoft.com/office/drawing/2014/main" id="{139D77E9-2979-4651-8918-A1FB23C75EEB}"/>
                </a:ext>
              </a:extLst>
            </p:cNvPr>
            <p:cNvSpPr>
              <a:spLocks/>
            </p:cNvSpPr>
            <p:nvPr/>
          </p:nvSpPr>
          <p:spPr bwMode="auto">
            <a:xfrm>
              <a:off x="3713" y="2576"/>
              <a:ext cx="1102" cy="226"/>
            </a:xfrm>
            <a:custGeom>
              <a:avLst/>
              <a:gdLst>
                <a:gd name="T0" fmla="*/ 0 w 2204"/>
                <a:gd name="T1" fmla="*/ 0 h 453"/>
                <a:gd name="T2" fmla="*/ 1 w 2204"/>
                <a:gd name="T3" fmla="*/ 0 h 453"/>
                <a:gd name="T4" fmla="*/ 1 w 2204"/>
                <a:gd name="T5" fmla="*/ 0 h 453"/>
                <a:gd name="T6" fmla="*/ 1 w 2204"/>
                <a:gd name="T7" fmla="*/ 0 h 453"/>
                <a:gd name="T8" fmla="*/ 1 w 2204"/>
                <a:gd name="T9" fmla="*/ 0 h 453"/>
                <a:gd name="T10" fmla="*/ 1 w 2204"/>
                <a:gd name="T11" fmla="*/ 0 h 453"/>
                <a:gd name="T12" fmla="*/ 1 w 2204"/>
                <a:gd name="T13" fmla="*/ 0 h 453"/>
                <a:gd name="T14" fmla="*/ 1 w 2204"/>
                <a:gd name="T15" fmla="*/ 0 h 453"/>
                <a:gd name="T16" fmla="*/ 1 w 2204"/>
                <a:gd name="T17" fmla="*/ 0 h 453"/>
                <a:gd name="T18" fmla="*/ 1 w 2204"/>
                <a:gd name="T19" fmla="*/ 0 h 453"/>
                <a:gd name="T20" fmla="*/ 1 w 2204"/>
                <a:gd name="T21" fmla="*/ 0 h 453"/>
                <a:gd name="T22" fmla="*/ 1 w 2204"/>
                <a:gd name="T23" fmla="*/ 0 h 453"/>
                <a:gd name="T24" fmla="*/ 1 w 2204"/>
                <a:gd name="T25" fmla="*/ 0 h 453"/>
                <a:gd name="T26" fmla="*/ 1 w 2204"/>
                <a:gd name="T27" fmla="*/ 0 h 453"/>
                <a:gd name="T28" fmla="*/ 1 w 2204"/>
                <a:gd name="T29" fmla="*/ 0 h 453"/>
                <a:gd name="T30" fmla="*/ 1 w 2204"/>
                <a:gd name="T31" fmla="*/ 0 h 453"/>
                <a:gd name="T32" fmla="*/ 1 w 2204"/>
                <a:gd name="T33" fmla="*/ 0 h 453"/>
                <a:gd name="T34" fmla="*/ 1 w 2204"/>
                <a:gd name="T35" fmla="*/ 0 h 453"/>
                <a:gd name="T36" fmla="*/ 1 w 2204"/>
                <a:gd name="T37" fmla="*/ 0 h 453"/>
                <a:gd name="T38" fmla="*/ 1 w 2204"/>
                <a:gd name="T39" fmla="*/ 0 h 453"/>
                <a:gd name="T40" fmla="*/ 1 w 2204"/>
                <a:gd name="T41" fmla="*/ 0 h 453"/>
                <a:gd name="T42" fmla="*/ 1 w 2204"/>
                <a:gd name="T43" fmla="*/ 0 h 453"/>
                <a:gd name="T44" fmla="*/ 1 w 2204"/>
                <a:gd name="T45" fmla="*/ 0 h 453"/>
                <a:gd name="T46" fmla="*/ 1 w 2204"/>
                <a:gd name="T47" fmla="*/ 0 h 453"/>
                <a:gd name="T48" fmla="*/ 1 w 2204"/>
                <a:gd name="T49" fmla="*/ 0 h 453"/>
                <a:gd name="T50" fmla="*/ 1 w 2204"/>
                <a:gd name="T51" fmla="*/ 0 h 453"/>
                <a:gd name="T52" fmla="*/ 1 w 2204"/>
                <a:gd name="T53" fmla="*/ 0 h 453"/>
                <a:gd name="T54" fmla="*/ 1 w 2204"/>
                <a:gd name="T55" fmla="*/ 0 h 453"/>
                <a:gd name="T56" fmla="*/ 1 w 2204"/>
                <a:gd name="T57" fmla="*/ 0 h 453"/>
                <a:gd name="T58" fmla="*/ 1 w 2204"/>
                <a:gd name="T59" fmla="*/ 0 h 453"/>
                <a:gd name="T60" fmla="*/ 1 w 2204"/>
                <a:gd name="T61" fmla="*/ 0 h 453"/>
                <a:gd name="T62" fmla="*/ 1 w 2204"/>
                <a:gd name="T63" fmla="*/ 0 h 453"/>
                <a:gd name="T64" fmla="*/ 1 w 2204"/>
                <a:gd name="T65" fmla="*/ 0 h 453"/>
                <a:gd name="T66" fmla="*/ 1 w 2204"/>
                <a:gd name="T67" fmla="*/ 0 h 453"/>
                <a:gd name="T68" fmla="*/ 1 w 2204"/>
                <a:gd name="T69" fmla="*/ 0 h 453"/>
                <a:gd name="T70" fmla="*/ 1 w 2204"/>
                <a:gd name="T71" fmla="*/ 0 h 453"/>
                <a:gd name="T72" fmla="*/ 1 w 2204"/>
                <a:gd name="T73" fmla="*/ 0 h 453"/>
                <a:gd name="T74" fmla="*/ 1 w 2204"/>
                <a:gd name="T75" fmla="*/ 0 h 453"/>
                <a:gd name="T76" fmla="*/ 1 w 2204"/>
                <a:gd name="T77" fmla="*/ 0 h 453"/>
                <a:gd name="T78" fmla="*/ 1 w 2204"/>
                <a:gd name="T79" fmla="*/ 0 h 453"/>
                <a:gd name="T80" fmla="*/ 1 w 2204"/>
                <a:gd name="T81" fmla="*/ 0 h 453"/>
                <a:gd name="T82" fmla="*/ 1 w 2204"/>
                <a:gd name="T83" fmla="*/ 0 h 453"/>
                <a:gd name="T84" fmla="*/ 1 w 2204"/>
                <a:gd name="T85" fmla="*/ 0 h 453"/>
                <a:gd name="T86" fmla="*/ 1 w 2204"/>
                <a:gd name="T87" fmla="*/ 0 h 453"/>
                <a:gd name="T88" fmla="*/ 1 w 2204"/>
                <a:gd name="T89" fmla="*/ 0 h 453"/>
                <a:gd name="T90" fmla="*/ 1 w 2204"/>
                <a:gd name="T91" fmla="*/ 0 h 453"/>
                <a:gd name="T92" fmla="*/ 1 w 2204"/>
                <a:gd name="T93" fmla="*/ 0 h 453"/>
                <a:gd name="T94" fmla="*/ 1 w 2204"/>
                <a:gd name="T95" fmla="*/ 0 h 453"/>
                <a:gd name="T96" fmla="*/ 1 w 2204"/>
                <a:gd name="T97" fmla="*/ 0 h 453"/>
                <a:gd name="T98" fmla="*/ 1 w 2204"/>
                <a:gd name="T99" fmla="*/ 0 h 453"/>
                <a:gd name="T100" fmla="*/ 1 w 2204"/>
                <a:gd name="T101" fmla="*/ 0 h 453"/>
                <a:gd name="T102" fmla="*/ 1 w 2204"/>
                <a:gd name="T103" fmla="*/ 0 h 453"/>
                <a:gd name="T104" fmla="*/ 1 w 2204"/>
                <a:gd name="T105" fmla="*/ 0 h 45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204"/>
                <a:gd name="T160" fmla="*/ 0 h 453"/>
                <a:gd name="T161" fmla="*/ 2204 w 2204"/>
                <a:gd name="T162" fmla="*/ 453 h 45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204" h="453">
                  <a:moveTo>
                    <a:pt x="0" y="453"/>
                  </a:moveTo>
                  <a:lnTo>
                    <a:pt x="84" y="453"/>
                  </a:lnTo>
                  <a:lnTo>
                    <a:pt x="167" y="452"/>
                  </a:lnTo>
                  <a:lnTo>
                    <a:pt x="250" y="452"/>
                  </a:lnTo>
                  <a:lnTo>
                    <a:pt x="333" y="451"/>
                  </a:lnTo>
                  <a:lnTo>
                    <a:pt x="415" y="449"/>
                  </a:lnTo>
                  <a:lnTo>
                    <a:pt x="497" y="446"/>
                  </a:lnTo>
                  <a:lnTo>
                    <a:pt x="578" y="444"/>
                  </a:lnTo>
                  <a:lnTo>
                    <a:pt x="659" y="439"/>
                  </a:lnTo>
                  <a:lnTo>
                    <a:pt x="739" y="434"/>
                  </a:lnTo>
                  <a:lnTo>
                    <a:pt x="817" y="426"/>
                  </a:lnTo>
                  <a:lnTo>
                    <a:pt x="895" y="419"/>
                  </a:lnTo>
                  <a:lnTo>
                    <a:pt x="973" y="412"/>
                  </a:lnTo>
                  <a:lnTo>
                    <a:pt x="1049" y="402"/>
                  </a:lnTo>
                  <a:lnTo>
                    <a:pt x="1126" y="392"/>
                  </a:lnTo>
                  <a:lnTo>
                    <a:pt x="1201" y="382"/>
                  </a:lnTo>
                  <a:lnTo>
                    <a:pt x="1274" y="370"/>
                  </a:lnTo>
                  <a:lnTo>
                    <a:pt x="1350" y="355"/>
                  </a:lnTo>
                  <a:lnTo>
                    <a:pt x="1425" y="341"/>
                  </a:lnTo>
                  <a:lnTo>
                    <a:pt x="1462" y="333"/>
                  </a:lnTo>
                  <a:lnTo>
                    <a:pt x="1500" y="324"/>
                  </a:lnTo>
                  <a:lnTo>
                    <a:pt x="1537" y="316"/>
                  </a:lnTo>
                  <a:lnTo>
                    <a:pt x="1572" y="307"/>
                  </a:lnTo>
                  <a:lnTo>
                    <a:pt x="1609" y="299"/>
                  </a:lnTo>
                  <a:lnTo>
                    <a:pt x="1642" y="290"/>
                  </a:lnTo>
                  <a:lnTo>
                    <a:pt x="1677" y="280"/>
                  </a:lnTo>
                  <a:lnTo>
                    <a:pt x="1710" y="270"/>
                  </a:lnTo>
                  <a:lnTo>
                    <a:pt x="1744" y="260"/>
                  </a:lnTo>
                  <a:lnTo>
                    <a:pt x="1776" y="250"/>
                  </a:lnTo>
                  <a:lnTo>
                    <a:pt x="1806" y="240"/>
                  </a:lnTo>
                  <a:lnTo>
                    <a:pt x="1836" y="230"/>
                  </a:lnTo>
                  <a:lnTo>
                    <a:pt x="1851" y="225"/>
                  </a:lnTo>
                  <a:lnTo>
                    <a:pt x="1865" y="218"/>
                  </a:lnTo>
                  <a:lnTo>
                    <a:pt x="1892" y="203"/>
                  </a:lnTo>
                  <a:lnTo>
                    <a:pt x="1921" y="189"/>
                  </a:lnTo>
                  <a:lnTo>
                    <a:pt x="1948" y="172"/>
                  </a:lnTo>
                  <a:lnTo>
                    <a:pt x="1977" y="157"/>
                  </a:lnTo>
                  <a:lnTo>
                    <a:pt x="2002" y="140"/>
                  </a:lnTo>
                  <a:lnTo>
                    <a:pt x="2029" y="122"/>
                  </a:lnTo>
                  <a:lnTo>
                    <a:pt x="2053" y="105"/>
                  </a:lnTo>
                  <a:lnTo>
                    <a:pt x="2077" y="88"/>
                  </a:lnTo>
                  <a:lnTo>
                    <a:pt x="2101" y="73"/>
                  </a:lnTo>
                  <a:lnTo>
                    <a:pt x="2122" y="57"/>
                  </a:lnTo>
                  <a:lnTo>
                    <a:pt x="2133" y="50"/>
                  </a:lnTo>
                  <a:lnTo>
                    <a:pt x="2142" y="43"/>
                  </a:lnTo>
                  <a:lnTo>
                    <a:pt x="2152" y="36"/>
                  </a:lnTo>
                  <a:lnTo>
                    <a:pt x="2160" y="30"/>
                  </a:lnTo>
                  <a:lnTo>
                    <a:pt x="2169" y="23"/>
                  </a:lnTo>
                  <a:lnTo>
                    <a:pt x="2177" y="17"/>
                  </a:lnTo>
                  <a:lnTo>
                    <a:pt x="2184" y="13"/>
                  </a:lnTo>
                  <a:lnTo>
                    <a:pt x="2192" y="9"/>
                  </a:lnTo>
                  <a:lnTo>
                    <a:pt x="2198" y="5"/>
                  </a:lnTo>
                  <a:lnTo>
                    <a:pt x="2204" y="0"/>
                  </a:lnTo>
                </a:path>
              </a:pathLst>
            </a:cu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40" name="Rectangle 60">
              <a:extLst>
                <a:ext uri="{FF2B5EF4-FFF2-40B4-BE49-F238E27FC236}">
                  <a16:creationId xmlns:a16="http://schemas.microsoft.com/office/drawing/2014/main" id="{1AEDD193-0D7C-4684-8C04-563623D1B1A6}"/>
                </a:ext>
              </a:extLst>
            </p:cNvPr>
            <p:cNvSpPr>
              <a:spLocks noChangeArrowheads="1"/>
            </p:cNvSpPr>
            <p:nvPr/>
          </p:nvSpPr>
          <p:spPr bwMode="auto">
            <a:xfrm>
              <a:off x="3962" y="2100"/>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V</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41" name="Rectangle 61">
              <a:extLst>
                <a:ext uri="{FF2B5EF4-FFF2-40B4-BE49-F238E27FC236}">
                  <a16:creationId xmlns:a16="http://schemas.microsoft.com/office/drawing/2014/main" id="{D5353951-733E-4A57-841C-1CBF2EF5193B}"/>
                </a:ext>
              </a:extLst>
            </p:cNvPr>
            <p:cNvSpPr>
              <a:spLocks noChangeArrowheads="1"/>
            </p:cNvSpPr>
            <p:nvPr/>
          </p:nvSpPr>
          <p:spPr bwMode="auto">
            <a:xfrm>
              <a:off x="4022" y="2141"/>
              <a:ext cx="37"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R</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42" name="Rectangle 62">
              <a:extLst>
                <a:ext uri="{FF2B5EF4-FFF2-40B4-BE49-F238E27FC236}">
                  <a16:creationId xmlns:a16="http://schemas.microsoft.com/office/drawing/2014/main" id="{B556FF19-D32C-485B-AD1D-5E34A096D454}"/>
                </a:ext>
              </a:extLst>
            </p:cNvPr>
            <p:cNvSpPr>
              <a:spLocks noChangeArrowheads="1"/>
            </p:cNvSpPr>
            <p:nvPr/>
          </p:nvSpPr>
          <p:spPr bwMode="auto">
            <a:xfrm>
              <a:off x="4074" y="2100"/>
              <a:ext cx="5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43" name="Rectangle 63">
              <a:extLst>
                <a:ext uri="{FF2B5EF4-FFF2-40B4-BE49-F238E27FC236}">
                  <a16:creationId xmlns:a16="http://schemas.microsoft.com/office/drawing/2014/main" id="{2C7C9FEE-1274-4012-979A-CD0AC2BC5CB6}"/>
                </a:ext>
              </a:extLst>
            </p:cNvPr>
            <p:cNvSpPr>
              <a:spLocks noChangeArrowheads="1"/>
            </p:cNvSpPr>
            <p:nvPr/>
          </p:nvSpPr>
          <p:spPr bwMode="auto">
            <a:xfrm>
              <a:off x="4129" y="210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6</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44" name="Rectangle 64">
              <a:extLst>
                <a:ext uri="{FF2B5EF4-FFF2-40B4-BE49-F238E27FC236}">
                  <a16:creationId xmlns:a16="http://schemas.microsoft.com/office/drawing/2014/main" id="{A3563140-58AA-4DF2-A570-0ACD2E67E417}"/>
                </a:ext>
              </a:extLst>
            </p:cNvPr>
            <p:cNvSpPr>
              <a:spLocks noChangeArrowheads="1"/>
            </p:cNvSpPr>
            <p:nvPr/>
          </p:nvSpPr>
          <p:spPr bwMode="auto">
            <a:xfrm>
              <a:off x="4178" y="2100"/>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V</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45" name="Rectangle 65">
              <a:extLst>
                <a:ext uri="{FF2B5EF4-FFF2-40B4-BE49-F238E27FC236}">
                  <a16:creationId xmlns:a16="http://schemas.microsoft.com/office/drawing/2014/main" id="{E0F408A4-1645-442A-902C-24BE9B6ED2D9}"/>
                </a:ext>
              </a:extLst>
            </p:cNvPr>
            <p:cNvSpPr>
              <a:spLocks noChangeArrowheads="1"/>
            </p:cNvSpPr>
            <p:nvPr/>
          </p:nvSpPr>
          <p:spPr bwMode="auto">
            <a:xfrm>
              <a:off x="4240" y="2100"/>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59446" name="Rectangle 66">
              <a:extLst>
                <a:ext uri="{FF2B5EF4-FFF2-40B4-BE49-F238E27FC236}">
                  <a16:creationId xmlns:a16="http://schemas.microsoft.com/office/drawing/2014/main" id="{E6576AFA-0785-4644-A520-777A53DB2E08}"/>
                </a:ext>
              </a:extLst>
            </p:cNvPr>
            <p:cNvSpPr>
              <a:spLocks noChangeArrowheads="1"/>
            </p:cNvSpPr>
            <p:nvPr/>
          </p:nvSpPr>
          <p:spPr bwMode="auto">
            <a:xfrm>
              <a:off x="4172" y="3231"/>
              <a:ext cx="9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T  </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47" name="Rectangle 67">
              <a:extLst>
                <a:ext uri="{FF2B5EF4-FFF2-40B4-BE49-F238E27FC236}">
                  <a16:creationId xmlns:a16="http://schemas.microsoft.com/office/drawing/2014/main" id="{AC9C0DA1-7F1E-4F67-B837-B4C383883602}"/>
                </a:ext>
              </a:extLst>
            </p:cNvPr>
            <p:cNvSpPr>
              <a:spLocks noChangeArrowheads="1"/>
            </p:cNvSpPr>
            <p:nvPr/>
          </p:nvSpPr>
          <p:spPr bwMode="auto">
            <a:xfrm>
              <a:off x="4285" y="3214"/>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Symbol" panose="05050102010706020507" pitchFamily="18" charset="2"/>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48" name="Rectangle 68">
              <a:extLst>
                <a:ext uri="{FF2B5EF4-FFF2-40B4-BE49-F238E27FC236}">
                  <a16:creationId xmlns:a16="http://schemas.microsoft.com/office/drawing/2014/main" id="{2FA20A3E-749D-4FAE-92D8-C2C476EEAD90}"/>
                </a:ext>
              </a:extLst>
            </p:cNvPr>
            <p:cNvSpPr>
              <a:spLocks noChangeArrowheads="1"/>
            </p:cNvSpPr>
            <p:nvPr/>
          </p:nvSpPr>
          <p:spPr bwMode="auto">
            <a:xfrm>
              <a:off x="4325" y="3231"/>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C</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59449" name="Rectangle 69">
              <a:extLst>
                <a:ext uri="{FF2B5EF4-FFF2-40B4-BE49-F238E27FC236}">
                  <a16:creationId xmlns:a16="http://schemas.microsoft.com/office/drawing/2014/main" id="{3A8452A4-44B2-47E7-BF28-F4E79BD81083}"/>
                </a:ext>
              </a:extLst>
            </p:cNvPr>
            <p:cNvSpPr>
              <a:spLocks noChangeArrowheads="1"/>
            </p:cNvSpPr>
            <p:nvPr/>
          </p:nvSpPr>
          <p:spPr bwMode="auto">
            <a:xfrm>
              <a:off x="4398" y="3231"/>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grpSp>
    </p:spTree>
    <p:extLst>
      <p:ext uri="{BB962C8B-B14F-4D97-AF65-F5344CB8AC3E}">
        <p14:creationId xmlns:p14="http://schemas.microsoft.com/office/powerpoint/2010/main" val="42072655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15"/>
                                        </p:tgtEl>
                                        <p:attrNameLst>
                                          <p:attrName>style.visibility</p:attrName>
                                        </p:attrNameLst>
                                      </p:cBhvr>
                                      <p:to>
                                        <p:strVal val="visible"/>
                                      </p:to>
                                    </p:set>
                                    <p:animEffect transition="in" filter="blinds(horizontal)">
                                      <p:cBhvr>
                                        <p:cTn id="7" dur="500"/>
                                        <p:tgtEl>
                                          <p:spTgt spid="4608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60816"/>
                                        </p:tgtEl>
                                        <p:attrNameLst>
                                          <p:attrName>style.visibility</p:attrName>
                                        </p:attrNameLst>
                                      </p:cBhvr>
                                      <p:to>
                                        <p:strVal val="visible"/>
                                      </p:to>
                                    </p:set>
                                    <p:animEffect transition="in" filter="blinds(horizontal)">
                                      <p:cBhvr>
                                        <p:cTn id="12" dur="500"/>
                                        <p:tgtEl>
                                          <p:spTgt spid="46081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60817"/>
                                        </p:tgtEl>
                                        <p:attrNameLst>
                                          <p:attrName>style.visibility</p:attrName>
                                        </p:attrNameLst>
                                      </p:cBhvr>
                                      <p:to>
                                        <p:strVal val="visible"/>
                                      </p:to>
                                    </p:set>
                                    <p:animEffect transition="in" filter="blinds(horizontal)">
                                      <p:cBhvr>
                                        <p:cTn id="15" dur="500"/>
                                        <p:tgtEl>
                                          <p:spTgt spid="46081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460820"/>
                                        </p:tgtEl>
                                        <p:attrNameLst>
                                          <p:attrName>style.visibility</p:attrName>
                                        </p:attrNameLst>
                                      </p:cBhvr>
                                      <p:to>
                                        <p:strVal val="visible"/>
                                      </p:to>
                                    </p:set>
                                    <p:animEffect transition="in" filter="blinds(horizontal)">
                                      <p:cBhvr>
                                        <p:cTn id="25" dur="500"/>
                                        <p:tgtEl>
                                          <p:spTgt spid="460820"/>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60821"/>
                                        </p:tgtEl>
                                        <p:attrNameLst>
                                          <p:attrName>style.visibility</p:attrName>
                                        </p:attrNameLst>
                                      </p:cBhvr>
                                      <p:to>
                                        <p:strVal val="visible"/>
                                      </p:to>
                                    </p:set>
                                    <p:animEffect transition="in" filter="blinds(horizontal)">
                                      <p:cBhvr>
                                        <p:cTn id="28" dur="500"/>
                                        <p:tgtEl>
                                          <p:spTgt spid="46082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linds(horizontal)">
                                      <p:cBhvr>
                                        <p:cTn id="33" dur="500"/>
                                        <p:tgtEl>
                                          <p:spTgt spid="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60822"/>
                                        </p:tgtEl>
                                        <p:attrNameLst>
                                          <p:attrName>style.visibility</p:attrName>
                                        </p:attrNameLst>
                                      </p:cBhvr>
                                      <p:to>
                                        <p:strVal val="visible"/>
                                      </p:to>
                                    </p:set>
                                    <p:animEffect transition="in" filter="blinds(horizontal)">
                                      <p:cBhvr>
                                        <p:cTn id="38" dur="500"/>
                                        <p:tgtEl>
                                          <p:spTgt spid="460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15" grpId="0"/>
      <p:bldP spid="460817" grpId="0"/>
      <p:bldP spid="460821" grpId="0"/>
      <p:bldP spid="46082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6BB6A2B-7167-42CD-9064-9C45D89E5214}"/>
              </a:ext>
            </a:extLst>
          </p:cNvPr>
          <p:cNvSpPr>
            <a:spLocks noChangeArrowheads="1"/>
          </p:cNvSpPr>
          <p:nvPr/>
        </p:nvSpPr>
        <p:spPr bwMode="auto">
          <a:xfrm>
            <a:off x="179388" y="1268413"/>
            <a:ext cx="52355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en-US" altLang="zh-CN" b="1" dirty="0">
                <a:solidFill>
                  <a:srgbClr val="993300"/>
                </a:solidFill>
              </a:rPr>
              <a:t>PN</a:t>
            </a:r>
            <a:r>
              <a:rPr kumimoji="0" lang="zh-CN" altLang="en-US" b="1" dirty="0">
                <a:solidFill>
                  <a:srgbClr val="993300"/>
                </a:solidFill>
              </a:rPr>
              <a:t>结处于正向偏置时温度影响</a:t>
            </a:r>
            <a:endParaRPr kumimoji="0" lang="en-US" altLang="zh-CN" dirty="0">
              <a:solidFill>
                <a:srgbClr val="993300"/>
              </a:solidFill>
            </a:endParaRPr>
          </a:p>
        </p:txBody>
      </p:sp>
      <p:graphicFrame>
        <p:nvGraphicFramePr>
          <p:cNvPr id="462852" name="Object 4">
            <a:extLst>
              <a:ext uri="{FF2B5EF4-FFF2-40B4-BE49-F238E27FC236}">
                <a16:creationId xmlns:a16="http://schemas.microsoft.com/office/drawing/2014/main" id="{6F38C84B-CF0A-4451-8B1E-6704452D820B}"/>
              </a:ext>
            </a:extLst>
          </p:cNvPr>
          <p:cNvGraphicFramePr>
            <a:graphicFrameLocks noChangeAspect="1"/>
          </p:cNvGraphicFramePr>
          <p:nvPr/>
        </p:nvGraphicFramePr>
        <p:xfrm>
          <a:off x="1258888" y="1989138"/>
          <a:ext cx="1192212" cy="436562"/>
        </p:xfrm>
        <a:graphic>
          <a:graphicData uri="http://schemas.openxmlformats.org/presentationml/2006/ole">
            <mc:AlternateContent xmlns:mc="http://schemas.openxmlformats.org/markup-compatibility/2006">
              <mc:Choice xmlns:v="urn:schemas-microsoft-com:vml" Requires="v">
                <p:oleObj spid="_x0000_s137403" name="Equation" r:id="rId3" imgW="647700" imgH="241300" progId="Equation.DSMT4">
                  <p:embed/>
                </p:oleObj>
              </mc:Choice>
              <mc:Fallback>
                <p:oleObj name="Equation" r:id="rId3" imgW="647700" imgH="241300" progId="Equation.DSMT4">
                  <p:embed/>
                  <p:pic>
                    <p:nvPicPr>
                      <p:cNvPr id="462852" name="Object 4">
                        <a:extLst>
                          <a:ext uri="{FF2B5EF4-FFF2-40B4-BE49-F238E27FC236}">
                            <a16:creationId xmlns:a16="http://schemas.microsoft.com/office/drawing/2014/main" id="{6F38C84B-CF0A-4451-8B1E-6704452D82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989138"/>
                        <a:ext cx="1192212"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2856" name="Rectangle 8">
            <a:extLst>
              <a:ext uri="{FF2B5EF4-FFF2-40B4-BE49-F238E27FC236}">
                <a16:creationId xmlns:a16="http://schemas.microsoft.com/office/drawing/2014/main" id="{B9E7ACC3-0ED8-415C-B8DA-2277A9604AFC}"/>
              </a:ext>
            </a:extLst>
          </p:cNvPr>
          <p:cNvSpPr>
            <a:spLocks noChangeArrowheads="1"/>
          </p:cNvSpPr>
          <p:nvPr/>
        </p:nvSpPr>
        <p:spPr bwMode="auto">
          <a:xfrm>
            <a:off x="684213" y="1989138"/>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zh-CN" altLang="en-US" sz="2000" b="1">
                <a:solidFill>
                  <a:srgbClr val="000066"/>
                </a:solidFill>
              </a:rPr>
              <a:t>取</a:t>
            </a:r>
          </a:p>
        </p:txBody>
      </p:sp>
      <p:sp>
        <p:nvSpPr>
          <p:cNvPr id="462866" name="Rectangle 18">
            <a:extLst>
              <a:ext uri="{FF2B5EF4-FFF2-40B4-BE49-F238E27FC236}">
                <a16:creationId xmlns:a16="http://schemas.microsoft.com/office/drawing/2014/main" id="{815CA856-29BE-4745-AAA7-2B6913C97E8F}"/>
              </a:ext>
            </a:extLst>
          </p:cNvPr>
          <p:cNvSpPr>
            <a:spLocks noChangeArrowheads="1"/>
          </p:cNvSpPr>
          <p:nvPr/>
        </p:nvSpPr>
        <p:spPr bwMode="auto">
          <a:xfrm>
            <a:off x="2700338" y="1989138"/>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None/>
            </a:pPr>
            <a:r>
              <a:rPr kumimoji="0" lang="zh-CN" altLang="en-US" sz="2000" b="1">
                <a:solidFill>
                  <a:srgbClr val="000066"/>
                </a:solidFill>
              </a:rPr>
              <a:t>导出：</a:t>
            </a:r>
          </a:p>
        </p:txBody>
      </p:sp>
      <p:graphicFrame>
        <p:nvGraphicFramePr>
          <p:cNvPr id="462867" name="Object 19">
            <a:extLst>
              <a:ext uri="{FF2B5EF4-FFF2-40B4-BE49-F238E27FC236}">
                <a16:creationId xmlns:a16="http://schemas.microsoft.com/office/drawing/2014/main" id="{4636A670-1094-4AAE-91CC-14130312F98F}"/>
              </a:ext>
            </a:extLst>
          </p:cNvPr>
          <p:cNvGraphicFramePr>
            <a:graphicFrameLocks noChangeAspect="1"/>
          </p:cNvGraphicFramePr>
          <p:nvPr/>
        </p:nvGraphicFramePr>
        <p:xfrm>
          <a:off x="1143000" y="2571750"/>
          <a:ext cx="2808288" cy="777875"/>
        </p:xfrm>
        <a:graphic>
          <a:graphicData uri="http://schemas.openxmlformats.org/presentationml/2006/ole">
            <mc:AlternateContent xmlns:mc="http://schemas.openxmlformats.org/markup-compatibility/2006">
              <mc:Choice xmlns:v="urn:schemas-microsoft-com:vml" Requires="v">
                <p:oleObj spid="_x0000_s137404" r:id="rId5" imgW="1752600" imgH="482600" progId="Equation.3">
                  <p:embed/>
                </p:oleObj>
              </mc:Choice>
              <mc:Fallback>
                <p:oleObj r:id="rId5" imgW="1752600" imgH="482600" progId="Equation.3">
                  <p:embed/>
                  <p:pic>
                    <p:nvPicPr>
                      <p:cNvPr id="462867" name="Object 19">
                        <a:extLst>
                          <a:ext uri="{FF2B5EF4-FFF2-40B4-BE49-F238E27FC236}">
                            <a16:creationId xmlns:a16="http://schemas.microsoft.com/office/drawing/2014/main" id="{4636A670-1094-4AAE-91CC-14130312F9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2571750"/>
                        <a:ext cx="280828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2868" name="Object 20">
            <a:extLst>
              <a:ext uri="{FF2B5EF4-FFF2-40B4-BE49-F238E27FC236}">
                <a16:creationId xmlns:a16="http://schemas.microsoft.com/office/drawing/2014/main" id="{DD14C81C-9EC2-4428-818C-583600F7DC17}"/>
              </a:ext>
            </a:extLst>
          </p:cNvPr>
          <p:cNvGraphicFramePr>
            <a:graphicFrameLocks noChangeAspect="1"/>
          </p:cNvGraphicFramePr>
          <p:nvPr/>
        </p:nvGraphicFramePr>
        <p:xfrm>
          <a:off x="1071563" y="3571875"/>
          <a:ext cx="2879725" cy="744538"/>
        </p:xfrm>
        <a:graphic>
          <a:graphicData uri="http://schemas.openxmlformats.org/presentationml/2006/ole">
            <mc:AlternateContent xmlns:mc="http://schemas.openxmlformats.org/markup-compatibility/2006">
              <mc:Choice xmlns:v="urn:schemas-microsoft-com:vml" Requires="v">
                <p:oleObj spid="_x0000_s137405" r:id="rId7" imgW="1879600" imgH="482600" progId="Equation.3">
                  <p:embed/>
                </p:oleObj>
              </mc:Choice>
              <mc:Fallback>
                <p:oleObj r:id="rId7" imgW="1879600" imgH="482600" progId="Equation.3">
                  <p:embed/>
                  <p:pic>
                    <p:nvPicPr>
                      <p:cNvPr id="462868" name="Object 20">
                        <a:extLst>
                          <a:ext uri="{FF2B5EF4-FFF2-40B4-BE49-F238E27FC236}">
                            <a16:creationId xmlns:a16="http://schemas.microsoft.com/office/drawing/2014/main" id="{DD14C81C-9EC2-4428-818C-583600F7DC1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1563" y="3571875"/>
                        <a:ext cx="2879725"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2869" name="Rectangle 21">
            <a:extLst>
              <a:ext uri="{FF2B5EF4-FFF2-40B4-BE49-F238E27FC236}">
                <a16:creationId xmlns:a16="http://schemas.microsoft.com/office/drawing/2014/main" id="{4D7C3E83-B49C-435F-AA05-19BA1AE93977}"/>
              </a:ext>
            </a:extLst>
          </p:cNvPr>
          <p:cNvSpPr>
            <a:spLocks noChangeArrowheads="1"/>
          </p:cNvSpPr>
          <p:nvPr/>
        </p:nvSpPr>
        <p:spPr bwMode="auto">
          <a:xfrm>
            <a:off x="728663" y="4365625"/>
            <a:ext cx="3051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dirty="0">
                <a:solidFill>
                  <a:srgbClr val="000066"/>
                </a:solidFill>
              </a:rPr>
              <a:t>代入伏安特性</a:t>
            </a:r>
            <a:r>
              <a:rPr lang="zh-CN" altLang="en-US" sz="2000" b="1" dirty="0">
                <a:solidFill>
                  <a:srgbClr val="000066"/>
                </a:solidFill>
                <a:cs typeface="Times New Roman" panose="02020603050405020304" pitchFamily="18" charset="0"/>
              </a:rPr>
              <a:t>，得到</a:t>
            </a:r>
            <a:r>
              <a:rPr lang="ko-KR" altLang="en-US" sz="2000" dirty="0">
                <a:cs typeface="Times New Roman" panose="02020603050405020304" pitchFamily="18" charset="0"/>
              </a:rPr>
              <a:t> </a:t>
            </a:r>
          </a:p>
        </p:txBody>
      </p:sp>
      <p:graphicFrame>
        <p:nvGraphicFramePr>
          <p:cNvPr id="462870" name="Object 22">
            <a:extLst>
              <a:ext uri="{FF2B5EF4-FFF2-40B4-BE49-F238E27FC236}">
                <a16:creationId xmlns:a16="http://schemas.microsoft.com/office/drawing/2014/main" id="{F8D2BF25-6643-4F28-9A6C-8E690D0A7815}"/>
              </a:ext>
            </a:extLst>
          </p:cNvPr>
          <p:cNvGraphicFramePr>
            <a:graphicFrameLocks noChangeAspect="1"/>
          </p:cNvGraphicFramePr>
          <p:nvPr/>
        </p:nvGraphicFramePr>
        <p:xfrm>
          <a:off x="1066800" y="4746625"/>
          <a:ext cx="1933575" cy="746125"/>
        </p:xfrm>
        <a:graphic>
          <a:graphicData uri="http://schemas.openxmlformats.org/presentationml/2006/ole">
            <mc:AlternateContent xmlns:mc="http://schemas.openxmlformats.org/markup-compatibility/2006">
              <mc:Choice xmlns:v="urn:schemas-microsoft-com:vml" Requires="v">
                <p:oleObj spid="_x0000_s137406" r:id="rId9" imgW="1079500" imgH="419100" progId="Equation.3">
                  <p:embed/>
                </p:oleObj>
              </mc:Choice>
              <mc:Fallback>
                <p:oleObj r:id="rId9" imgW="1079500" imgH="419100" progId="Equation.3">
                  <p:embed/>
                  <p:pic>
                    <p:nvPicPr>
                      <p:cNvPr id="462870" name="Object 22">
                        <a:extLst>
                          <a:ext uri="{FF2B5EF4-FFF2-40B4-BE49-F238E27FC236}">
                            <a16:creationId xmlns:a16="http://schemas.microsoft.com/office/drawing/2014/main" id="{F8D2BF25-6643-4F28-9A6C-8E690D0A781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4746625"/>
                        <a:ext cx="19335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2871" name="Object 23">
            <a:extLst>
              <a:ext uri="{FF2B5EF4-FFF2-40B4-BE49-F238E27FC236}">
                <a16:creationId xmlns:a16="http://schemas.microsoft.com/office/drawing/2014/main" id="{F080A210-31E2-4B2E-891E-D7BFE33753F3}"/>
              </a:ext>
            </a:extLst>
          </p:cNvPr>
          <p:cNvGraphicFramePr>
            <a:graphicFrameLocks noChangeAspect="1"/>
          </p:cNvGraphicFramePr>
          <p:nvPr/>
        </p:nvGraphicFramePr>
        <p:xfrm>
          <a:off x="1042988" y="5500688"/>
          <a:ext cx="2055812" cy="752475"/>
        </p:xfrm>
        <a:graphic>
          <a:graphicData uri="http://schemas.openxmlformats.org/presentationml/2006/ole">
            <mc:AlternateContent xmlns:mc="http://schemas.openxmlformats.org/markup-compatibility/2006">
              <mc:Choice xmlns:v="urn:schemas-microsoft-com:vml" Requires="v">
                <p:oleObj spid="_x0000_s137407" r:id="rId11" imgW="1130300" imgH="419100" progId="Equation.3">
                  <p:embed/>
                </p:oleObj>
              </mc:Choice>
              <mc:Fallback>
                <p:oleObj r:id="rId11" imgW="1130300" imgH="419100" progId="Equation.3">
                  <p:embed/>
                  <p:pic>
                    <p:nvPicPr>
                      <p:cNvPr id="462871" name="Object 23">
                        <a:extLst>
                          <a:ext uri="{FF2B5EF4-FFF2-40B4-BE49-F238E27FC236}">
                            <a16:creationId xmlns:a16="http://schemas.microsoft.com/office/drawing/2014/main" id="{F080A210-31E2-4B2E-891E-D7BFE33753F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2988" y="5500688"/>
                        <a:ext cx="2055812"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25">
            <a:extLst>
              <a:ext uri="{FF2B5EF4-FFF2-40B4-BE49-F238E27FC236}">
                <a16:creationId xmlns:a16="http://schemas.microsoft.com/office/drawing/2014/main" id="{8EAE0C03-F1DE-46ED-8602-EE2D272F8FDA}"/>
              </a:ext>
            </a:extLst>
          </p:cNvPr>
          <p:cNvGrpSpPr>
            <a:grpSpLocks/>
          </p:cNvGrpSpPr>
          <p:nvPr/>
        </p:nvGrpSpPr>
        <p:grpSpPr bwMode="auto">
          <a:xfrm>
            <a:off x="5076825" y="1776413"/>
            <a:ext cx="2959100" cy="3236912"/>
            <a:chOff x="972" y="1355"/>
            <a:chExt cx="1864" cy="2039"/>
          </a:xfrm>
        </p:grpSpPr>
        <p:sp>
          <p:nvSpPr>
            <p:cNvPr id="60432" name="Rectangle 26">
              <a:extLst>
                <a:ext uri="{FF2B5EF4-FFF2-40B4-BE49-F238E27FC236}">
                  <a16:creationId xmlns:a16="http://schemas.microsoft.com/office/drawing/2014/main" id="{AC7A7EA2-792C-4A28-AE29-EA93F9E31A93}"/>
                </a:ext>
              </a:extLst>
            </p:cNvPr>
            <p:cNvSpPr>
              <a:spLocks noChangeArrowheads="1"/>
            </p:cNvSpPr>
            <p:nvPr/>
          </p:nvSpPr>
          <p:spPr bwMode="auto">
            <a:xfrm>
              <a:off x="972" y="2156"/>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I</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33" name="Rectangle 27">
              <a:extLst>
                <a:ext uri="{FF2B5EF4-FFF2-40B4-BE49-F238E27FC236}">
                  <a16:creationId xmlns:a16="http://schemas.microsoft.com/office/drawing/2014/main" id="{A9D56C19-C232-488B-B834-FB35BF51EFBD}"/>
                </a:ext>
              </a:extLst>
            </p:cNvPr>
            <p:cNvSpPr>
              <a:spLocks noChangeArrowheads="1"/>
            </p:cNvSpPr>
            <p:nvPr/>
          </p:nvSpPr>
          <p:spPr bwMode="auto">
            <a:xfrm>
              <a:off x="1021" y="2162"/>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rPr>
                <a:t>，</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34" name="Rectangle 28">
              <a:extLst>
                <a:ext uri="{FF2B5EF4-FFF2-40B4-BE49-F238E27FC236}">
                  <a16:creationId xmlns:a16="http://schemas.microsoft.com/office/drawing/2014/main" id="{9C83C4F8-C958-40B8-872E-38B4653BE115}"/>
                </a:ext>
              </a:extLst>
            </p:cNvPr>
            <p:cNvSpPr>
              <a:spLocks noChangeArrowheads="1"/>
            </p:cNvSpPr>
            <p:nvPr/>
          </p:nvSpPr>
          <p:spPr bwMode="auto">
            <a:xfrm>
              <a:off x="1072" y="2156"/>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A</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35" name="Rectangle 29">
              <a:extLst>
                <a:ext uri="{FF2B5EF4-FFF2-40B4-BE49-F238E27FC236}">
                  <a16:creationId xmlns:a16="http://schemas.microsoft.com/office/drawing/2014/main" id="{64940E63-82A2-472B-B776-9219EA0A5669}"/>
                </a:ext>
              </a:extLst>
            </p:cNvPr>
            <p:cNvSpPr>
              <a:spLocks noChangeArrowheads="1"/>
            </p:cNvSpPr>
            <p:nvPr/>
          </p:nvSpPr>
          <p:spPr bwMode="auto">
            <a:xfrm>
              <a:off x="1152" y="2153"/>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36" name="Freeform 30">
              <a:extLst>
                <a:ext uri="{FF2B5EF4-FFF2-40B4-BE49-F238E27FC236}">
                  <a16:creationId xmlns:a16="http://schemas.microsoft.com/office/drawing/2014/main" id="{3A12E00A-4AEA-4D13-B356-23CE7A0304BA}"/>
                </a:ext>
              </a:extLst>
            </p:cNvPr>
            <p:cNvSpPr>
              <a:spLocks/>
            </p:cNvSpPr>
            <p:nvPr/>
          </p:nvSpPr>
          <p:spPr bwMode="auto">
            <a:xfrm>
              <a:off x="1420" y="1609"/>
              <a:ext cx="1011" cy="1416"/>
            </a:xfrm>
            <a:custGeom>
              <a:avLst/>
              <a:gdLst>
                <a:gd name="T0" fmla="*/ 0 w 2023"/>
                <a:gd name="T1" fmla="*/ 1 h 2831"/>
                <a:gd name="T2" fmla="*/ 0 w 2023"/>
                <a:gd name="T3" fmla="*/ 1 h 2831"/>
                <a:gd name="T4" fmla="*/ 0 w 2023"/>
                <a:gd name="T5" fmla="*/ 1 h 2831"/>
                <a:gd name="T6" fmla="*/ 0 w 2023"/>
                <a:gd name="T7" fmla="*/ 1 h 2831"/>
                <a:gd name="T8" fmla="*/ 0 w 2023"/>
                <a:gd name="T9" fmla="*/ 1 h 2831"/>
                <a:gd name="T10" fmla="*/ 0 w 2023"/>
                <a:gd name="T11" fmla="*/ 1 h 2831"/>
                <a:gd name="T12" fmla="*/ 0 w 2023"/>
                <a:gd name="T13" fmla="*/ 1 h 2831"/>
                <a:gd name="T14" fmla="*/ 0 w 2023"/>
                <a:gd name="T15" fmla="*/ 1 h 2831"/>
                <a:gd name="T16" fmla="*/ 0 w 2023"/>
                <a:gd name="T17" fmla="*/ 1 h 2831"/>
                <a:gd name="T18" fmla="*/ 0 w 2023"/>
                <a:gd name="T19" fmla="*/ 1 h 2831"/>
                <a:gd name="T20" fmla="*/ 0 w 2023"/>
                <a:gd name="T21" fmla="*/ 1 h 2831"/>
                <a:gd name="T22" fmla="*/ 0 w 2023"/>
                <a:gd name="T23" fmla="*/ 1 h 2831"/>
                <a:gd name="T24" fmla="*/ 0 w 2023"/>
                <a:gd name="T25" fmla="*/ 1 h 2831"/>
                <a:gd name="T26" fmla="*/ 0 w 2023"/>
                <a:gd name="T27" fmla="*/ 1 h 2831"/>
                <a:gd name="T28" fmla="*/ 0 w 2023"/>
                <a:gd name="T29" fmla="*/ 1 h 2831"/>
                <a:gd name="T30" fmla="*/ 0 w 2023"/>
                <a:gd name="T31" fmla="*/ 1 h 2831"/>
                <a:gd name="T32" fmla="*/ 0 w 2023"/>
                <a:gd name="T33" fmla="*/ 1 h 2831"/>
                <a:gd name="T34" fmla="*/ 0 w 2023"/>
                <a:gd name="T35" fmla="*/ 1 h 2831"/>
                <a:gd name="T36" fmla="*/ 0 w 2023"/>
                <a:gd name="T37" fmla="*/ 1 h 2831"/>
                <a:gd name="T38" fmla="*/ 0 w 2023"/>
                <a:gd name="T39" fmla="*/ 1 h 2831"/>
                <a:gd name="T40" fmla="*/ 0 w 2023"/>
                <a:gd name="T41" fmla="*/ 1 h 2831"/>
                <a:gd name="T42" fmla="*/ 0 w 2023"/>
                <a:gd name="T43" fmla="*/ 1 h 2831"/>
                <a:gd name="T44" fmla="*/ 0 w 2023"/>
                <a:gd name="T45" fmla="*/ 1 h 2831"/>
                <a:gd name="T46" fmla="*/ 0 w 2023"/>
                <a:gd name="T47" fmla="*/ 1 h 2831"/>
                <a:gd name="T48" fmla="*/ 0 w 2023"/>
                <a:gd name="T49" fmla="*/ 1 h 2831"/>
                <a:gd name="T50" fmla="*/ 0 w 2023"/>
                <a:gd name="T51" fmla="*/ 1 h 2831"/>
                <a:gd name="T52" fmla="*/ 0 w 2023"/>
                <a:gd name="T53" fmla="*/ 1 h 2831"/>
                <a:gd name="T54" fmla="*/ 0 w 2023"/>
                <a:gd name="T55" fmla="*/ 1 h 2831"/>
                <a:gd name="T56" fmla="*/ 0 w 2023"/>
                <a:gd name="T57" fmla="*/ 1 h 2831"/>
                <a:gd name="T58" fmla="*/ 0 w 2023"/>
                <a:gd name="T59" fmla="*/ 1 h 2831"/>
                <a:gd name="T60" fmla="*/ 0 w 2023"/>
                <a:gd name="T61" fmla="*/ 1 h 2831"/>
                <a:gd name="T62" fmla="*/ 0 w 2023"/>
                <a:gd name="T63" fmla="*/ 1 h 2831"/>
                <a:gd name="T64" fmla="*/ 0 w 2023"/>
                <a:gd name="T65" fmla="*/ 1 h 2831"/>
                <a:gd name="T66" fmla="*/ 0 w 2023"/>
                <a:gd name="T67" fmla="*/ 1 h 2831"/>
                <a:gd name="T68" fmla="*/ 0 w 2023"/>
                <a:gd name="T69" fmla="*/ 1 h 2831"/>
                <a:gd name="T70" fmla="*/ 0 w 2023"/>
                <a:gd name="T71" fmla="*/ 1 h 2831"/>
                <a:gd name="T72" fmla="*/ 0 w 2023"/>
                <a:gd name="T73" fmla="*/ 1 h 2831"/>
                <a:gd name="T74" fmla="*/ 0 w 2023"/>
                <a:gd name="T75" fmla="*/ 1 h 2831"/>
                <a:gd name="T76" fmla="*/ 0 w 2023"/>
                <a:gd name="T77" fmla="*/ 1 h 2831"/>
                <a:gd name="T78" fmla="*/ 0 w 2023"/>
                <a:gd name="T79" fmla="*/ 1 h 2831"/>
                <a:gd name="T80" fmla="*/ 0 w 2023"/>
                <a:gd name="T81" fmla="*/ 1 h 2831"/>
                <a:gd name="T82" fmla="*/ 0 w 2023"/>
                <a:gd name="T83" fmla="*/ 1 h 2831"/>
                <a:gd name="T84" fmla="*/ 0 w 2023"/>
                <a:gd name="T85" fmla="*/ 1 h 2831"/>
                <a:gd name="T86" fmla="*/ 0 w 2023"/>
                <a:gd name="T87" fmla="*/ 1 h 2831"/>
                <a:gd name="T88" fmla="*/ 0 w 2023"/>
                <a:gd name="T89" fmla="*/ 1 h 2831"/>
                <a:gd name="T90" fmla="*/ 0 w 2023"/>
                <a:gd name="T91" fmla="*/ 1 h 2831"/>
                <a:gd name="T92" fmla="*/ 0 w 2023"/>
                <a:gd name="T93" fmla="*/ 1 h 2831"/>
                <a:gd name="T94" fmla="*/ 0 w 2023"/>
                <a:gd name="T95" fmla="*/ 1 h 2831"/>
                <a:gd name="T96" fmla="*/ 0 w 2023"/>
                <a:gd name="T97" fmla="*/ 1 h 2831"/>
                <a:gd name="T98" fmla="*/ 0 w 2023"/>
                <a:gd name="T99" fmla="*/ 1 h 2831"/>
                <a:gd name="T100" fmla="*/ 0 w 2023"/>
                <a:gd name="T101" fmla="*/ 1 h 2831"/>
                <a:gd name="T102" fmla="*/ 0 w 2023"/>
                <a:gd name="T103" fmla="*/ 1 h 2831"/>
                <a:gd name="T104" fmla="*/ 0 w 2023"/>
                <a:gd name="T105" fmla="*/ 1 h 2831"/>
                <a:gd name="T106" fmla="*/ 0 w 2023"/>
                <a:gd name="T107" fmla="*/ 1 h 2831"/>
                <a:gd name="T108" fmla="*/ 0 w 2023"/>
                <a:gd name="T109" fmla="*/ 1 h 2831"/>
                <a:gd name="T110" fmla="*/ 0 w 2023"/>
                <a:gd name="T111" fmla="*/ 1 h 2831"/>
                <a:gd name="T112" fmla="*/ 0 w 2023"/>
                <a:gd name="T113" fmla="*/ 1 h 2831"/>
                <a:gd name="T114" fmla="*/ 0 w 2023"/>
                <a:gd name="T115" fmla="*/ 1 h 2831"/>
                <a:gd name="T116" fmla="*/ 0 w 2023"/>
                <a:gd name="T117" fmla="*/ 1 h 2831"/>
                <a:gd name="T118" fmla="*/ 0 w 2023"/>
                <a:gd name="T119" fmla="*/ 1 h 2831"/>
                <a:gd name="T120" fmla="*/ 0 w 2023"/>
                <a:gd name="T121" fmla="*/ 0 h 283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023"/>
                <a:gd name="T184" fmla="*/ 0 h 2831"/>
                <a:gd name="T185" fmla="*/ 2023 w 2023"/>
                <a:gd name="T186" fmla="*/ 2831 h 283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023" h="2831">
                  <a:moveTo>
                    <a:pt x="0" y="2831"/>
                  </a:moveTo>
                  <a:lnTo>
                    <a:pt x="58" y="2686"/>
                  </a:lnTo>
                  <a:lnTo>
                    <a:pt x="115" y="2543"/>
                  </a:lnTo>
                  <a:lnTo>
                    <a:pt x="172" y="2399"/>
                  </a:lnTo>
                  <a:lnTo>
                    <a:pt x="230" y="2257"/>
                  </a:lnTo>
                  <a:lnTo>
                    <a:pt x="287" y="2118"/>
                  </a:lnTo>
                  <a:lnTo>
                    <a:pt x="344" y="1980"/>
                  </a:lnTo>
                  <a:lnTo>
                    <a:pt x="403" y="1845"/>
                  </a:lnTo>
                  <a:lnTo>
                    <a:pt x="461" y="1713"/>
                  </a:lnTo>
                  <a:lnTo>
                    <a:pt x="491" y="1649"/>
                  </a:lnTo>
                  <a:lnTo>
                    <a:pt x="520" y="1585"/>
                  </a:lnTo>
                  <a:lnTo>
                    <a:pt x="548" y="1523"/>
                  </a:lnTo>
                  <a:lnTo>
                    <a:pt x="578" y="1460"/>
                  </a:lnTo>
                  <a:lnTo>
                    <a:pt x="609" y="1401"/>
                  </a:lnTo>
                  <a:lnTo>
                    <a:pt x="637" y="1341"/>
                  </a:lnTo>
                  <a:lnTo>
                    <a:pt x="668" y="1283"/>
                  </a:lnTo>
                  <a:lnTo>
                    <a:pt x="698" y="1226"/>
                  </a:lnTo>
                  <a:lnTo>
                    <a:pt x="728" y="1169"/>
                  </a:lnTo>
                  <a:lnTo>
                    <a:pt x="758" y="1115"/>
                  </a:lnTo>
                  <a:lnTo>
                    <a:pt x="789" y="1062"/>
                  </a:lnTo>
                  <a:lnTo>
                    <a:pt x="819" y="1011"/>
                  </a:lnTo>
                  <a:lnTo>
                    <a:pt x="851" y="960"/>
                  </a:lnTo>
                  <a:lnTo>
                    <a:pt x="881" y="912"/>
                  </a:lnTo>
                  <a:lnTo>
                    <a:pt x="913" y="865"/>
                  </a:lnTo>
                  <a:lnTo>
                    <a:pt x="945" y="821"/>
                  </a:lnTo>
                  <a:lnTo>
                    <a:pt x="961" y="798"/>
                  </a:lnTo>
                  <a:lnTo>
                    <a:pt x="977" y="777"/>
                  </a:lnTo>
                  <a:lnTo>
                    <a:pt x="993" y="756"/>
                  </a:lnTo>
                  <a:lnTo>
                    <a:pt x="1009" y="734"/>
                  </a:lnTo>
                  <a:lnTo>
                    <a:pt x="1025" y="714"/>
                  </a:lnTo>
                  <a:lnTo>
                    <a:pt x="1040" y="695"/>
                  </a:lnTo>
                  <a:lnTo>
                    <a:pt x="1056" y="676"/>
                  </a:lnTo>
                  <a:lnTo>
                    <a:pt x="1072" y="656"/>
                  </a:lnTo>
                  <a:lnTo>
                    <a:pt x="1088" y="638"/>
                  </a:lnTo>
                  <a:lnTo>
                    <a:pt x="1106" y="619"/>
                  </a:lnTo>
                  <a:lnTo>
                    <a:pt x="1122" y="601"/>
                  </a:lnTo>
                  <a:lnTo>
                    <a:pt x="1138" y="584"/>
                  </a:lnTo>
                  <a:lnTo>
                    <a:pt x="1154" y="567"/>
                  </a:lnTo>
                  <a:lnTo>
                    <a:pt x="1171" y="550"/>
                  </a:lnTo>
                  <a:lnTo>
                    <a:pt x="1203" y="517"/>
                  </a:lnTo>
                  <a:lnTo>
                    <a:pt x="1236" y="486"/>
                  </a:lnTo>
                  <a:lnTo>
                    <a:pt x="1270" y="456"/>
                  </a:lnTo>
                  <a:lnTo>
                    <a:pt x="1303" y="426"/>
                  </a:lnTo>
                  <a:lnTo>
                    <a:pt x="1337" y="399"/>
                  </a:lnTo>
                  <a:lnTo>
                    <a:pt x="1370" y="372"/>
                  </a:lnTo>
                  <a:lnTo>
                    <a:pt x="1405" y="346"/>
                  </a:lnTo>
                  <a:lnTo>
                    <a:pt x="1439" y="321"/>
                  </a:lnTo>
                  <a:lnTo>
                    <a:pt x="1472" y="298"/>
                  </a:lnTo>
                  <a:lnTo>
                    <a:pt x="1507" y="274"/>
                  </a:lnTo>
                  <a:lnTo>
                    <a:pt x="1541" y="253"/>
                  </a:lnTo>
                  <a:lnTo>
                    <a:pt x="1576" y="231"/>
                  </a:lnTo>
                  <a:lnTo>
                    <a:pt x="1609" y="210"/>
                  </a:lnTo>
                  <a:lnTo>
                    <a:pt x="1644" y="190"/>
                  </a:lnTo>
                  <a:lnTo>
                    <a:pt x="1678" y="172"/>
                  </a:lnTo>
                  <a:lnTo>
                    <a:pt x="1713" y="153"/>
                  </a:lnTo>
                  <a:lnTo>
                    <a:pt x="1748" y="135"/>
                  </a:lnTo>
                  <a:lnTo>
                    <a:pt x="1781" y="116"/>
                  </a:lnTo>
                  <a:lnTo>
                    <a:pt x="1816" y="99"/>
                  </a:lnTo>
                  <a:lnTo>
                    <a:pt x="1885" y="65"/>
                  </a:lnTo>
                  <a:lnTo>
                    <a:pt x="1955" y="33"/>
                  </a:lnTo>
                  <a:lnTo>
                    <a:pt x="202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7" name="Freeform 31">
              <a:extLst>
                <a:ext uri="{FF2B5EF4-FFF2-40B4-BE49-F238E27FC236}">
                  <a16:creationId xmlns:a16="http://schemas.microsoft.com/office/drawing/2014/main" id="{93BADE7A-94B9-4C7B-A460-869CBB3E136C}"/>
                </a:ext>
              </a:extLst>
            </p:cNvPr>
            <p:cNvSpPr>
              <a:spLocks/>
            </p:cNvSpPr>
            <p:nvPr/>
          </p:nvSpPr>
          <p:spPr bwMode="auto">
            <a:xfrm>
              <a:off x="1757" y="1633"/>
              <a:ext cx="828" cy="1392"/>
            </a:xfrm>
            <a:custGeom>
              <a:avLst/>
              <a:gdLst>
                <a:gd name="T0" fmla="*/ 0 w 1657"/>
                <a:gd name="T1" fmla="*/ 1 h 2783"/>
                <a:gd name="T2" fmla="*/ 0 w 1657"/>
                <a:gd name="T3" fmla="*/ 1 h 2783"/>
                <a:gd name="T4" fmla="*/ 0 w 1657"/>
                <a:gd name="T5" fmla="*/ 1 h 2783"/>
                <a:gd name="T6" fmla="*/ 0 w 1657"/>
                <a:gd name="T7" fmla="*/ 1 h 2783"/>
                <a:gd name="T8" fmla="*/ 0 w 1657"/>
                <a:gd name="T9" fmla="*/ 1 h 2783"/>
                <a:gd name="T10" fmla="*/ 0 w 1657"/>
                <a:gd name="T11" fmla="*/ 1 h 2783"/>
                <a:gd name="T12" fmla="*/ 0 w 1657"/>
                <a:gd name="T13" fmla="*/ 1 h 2783"/>
                <a:gd name="T14" fmla="*/ 0 w 1657"/>
                <a:gd name="T15" fmla="*/ 1 h 2783"/>
                <a:gd name="T16" fmla="*/ 0 w 1657"/>
                <a:gd name="T17" fmla="*/ 1 h 2783"/>
                <a:gd name="T18" fmla="*/ 0 w 1657"/>
                <a:gd name="T19" fmla="*/ 1 h 2783"/>
                <a:gd name="T20" fmla="*/ 0 w 1657"/>
                <a:gd name="T21" fmla="*/ 1 h 2783"/>
                <a:gd name="T22" fmla="*/ 0 w 1657"/>
                <a:gd name="T23" fmla="*/ 1 h 2783"/>
                <a:gd name="T24" fmla="*/ 0 w 1657"/>
                <a:gd name="T25" fmla="*/ 1 h 2783"/>
                <a:gd name="T26" fmla="*/ 0 w 1657"/>
                <a:gd name="T27" fmla="*/ 1 h 2783"/>
                <a:gd name="T28" fmla="*/ 0 w 1657"/>
                <a:gd name="T29" fmla="*/ 1 h 2783"/>
                <a:gd name="T30" fmla="*/ 0 w 1657"/>
                <a:gd name="T31" fmla="*/ 1 h 2783"/>
                <a:gd name="T32" fmla="*/ 0 w 1657"/>
                <a:gd name="T33" fmla="*/ 1 h 2783"/>
                <a:gd name="T34" fmla="*/ 0 w 1657"/>
                <a:gd name="T35" fmla="*/ 1 h 2783"/>
                <a:gd name="T36" fmla="*/ 0 w 1657"/>
                <a:gd name="T37" fmla="*/ 1 h 2783"/>
                <a:gd name="T38" fmla="*/ 0 w 1657"/>
                <a:gd name="T39" fmla="*/ 1 h 2783"/>
                <a:gd name="T40" fmla="*/ 0 w 1657"/>
                <a:gd name="T41" fmla="*/ 1 h 2783"/>
                <a:gd name="T42" fmla="*/ 0 w 1657"/>
                <a:gd name="T43" fmla="*/ 1 h 2783"/>
                <a:gd name="T44" fmla="*/ 0 w 1657"/>
                <a:gd name="T45" fmla="*/ 1 h 2783"/>
                <a:gd name="T46" fmla="*/ 0 w 1657"/>
                <a:gd name="T47" fmla="*/ 1 h 2783"/>
                <a:gd name="T48" fmla="*/ 0 w 1657"/>
                <a:gd name="T49" fmla="*/ 1 h 2783"/>
                <a:gd name="T50" fmla="*/ 0 w 1657"/>
                <a:gd name="T51" fmla="*/ 1 h 2783"/>
                <a:gd name="T52" fmla="*/ 0 w 1657"/>
                <a:gd name="T53" fmla="*/ 1 h 2783"/>
                <a:gd name="T54" fmla="*/ 0 w 1657"/>
                <a:gd name="T55" fmla="*/ 1 h 2783"/>
                <a:gd name="T56" fmla="*/ 0 w 1657"/>
                <a:gd name="T57" fmla="*/ 1 h 2783"/>
                <a:gd name="T58" fmla="*/ 0 w 1657"/>
                <a:gd name="T59" fmla="*/ 1 h 2783"/>
                <a:gd name="T60" fmla="*/ 0 w 1657"/>
                <a:gd name="T61" fmla="*/ 1 h 2783"/>
                <a:gd name="T62" fmla="*/ 0 w 1657"/>
                <a:gd name="T63" fmla="*/ 1 h 2783"/>
                <a:gd name="T64" fmla="*/ 0 w 1657"/>
                <a:gd name="T65" fmla="*/ 1 h 2783"/>
                <a:gd name="T66" fmla="*/ 0 w 1657"/>
                <a:gd name="T67" fmla="*/ 1 h 2783"/>
                <a:gd name="T68" fmla="*/ 0 w 1657"/>
                <a:gd name="T69" fmla="*/ 1 h 2783"/>
                <a:gd name="T70" fmla="*/ 0 w 1657"/>
                <a:gd name="T71" fmla="*/ 1 h 2783"/>
                <a:gd name="T72" fmla="*/ 0 w 1657"/>
                <a:gd name="T73" fmla="*/ 1 h 2783"/>
                <a:gd name="T74" fmla="*/ 0 w 1657"/>
                <a:gd name="T75" fmla="*/ 1 h 2783"/>
                <a:gd name="T76" fmla="*/ 0 w 1657"/>
                <a:gd name="T77" fmla="*/ 1 h 2783"/>
                <a:gd name="T78" fmla="*/ 0 w 1657"/>
                <a:gd name="T79" fmla="*/ 1 h 2783"/>
                <a:gd name="T80" fmla="*/ 0 w 1657"/>
                <a:gd name="T81" fmla="*/ 1 h 2783"/>
                <a:gd name="T82" fmla="*/ 0 w 1657"/>
                <a:gd name="T83" fmla="*/ 1 h 2783"/>
                <a:gd name="T84" fmla="*/ 0 w 1657"/>
                <a:gd name="T85" fmla="*/ 1 h 2783"/>
                <a:gd name="T86" fmla="*/ 0 w 1657"/>
                <a:gd name="T87" fmla="*/ 1 h 2783"/>
                <a:gd name="T88" fmla="*/ 0 w 1657"/>
                <a:gd name="T89" fmla="*/ 1 h 2783"/>
                <a:gd name="T90" fmla="*/ 0 w 1657"/>
                <a:gd name="T91" fmla="*/ 1 h 2783"/>
                <a:gd name="T92" fmla="*/ 0 w 1657"/>
                <a:gd name="T93" fmla="*/ 1 h 2783"/>
                <a:gd name="T94" fmla="*/ 0 w 1657"/>
                <a:gd name="T95" fmla="*/ 1 h 2783"/>
                <a:gd name="T96" fmla="*/ 0 w 1657"/>
                <a:gd name="T97" fmla="*/ 1 h 2783"/>
                <a:gd name="T98" fmla="*/ 0 w 1657"/>
                <a:gd name="T99" fmla="*/ 1 h 2783"/>
                <a:gd name="T100" fmla="*/ 0 w 1657"/>
                <a:gd name="T101" fmla="*/ 1 h 2783"/>
                <a:gd name="T102" fmla="*/ 0 w 1657"/>
                <a:gd name="T103" fmla="*/ 1 h 2783"/>
                <a:gd name="T104" fmla="*/ 0 w 1657"/>
                <a:gd name="T105" fmla="*/ 1 h 2783"/>
                <a:gd name="T106" fmla="*/ 0 w 1657"/>
                <a:gd name="T107" fmla="*/ 1 h 2783"/>
                <a:gd name="T108" fmla="*/ 0 w 1657"/>
                <a:gd name="T109" fmla="*/ 0 h 278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657"/>
                <a:gd name="T166" fmla="*/ 0 h 2783"/>
                <a:gd name="T167" fmla="*/ 1657 w 1657"/>
                <a:gd name="T168" fmla="*/ 2783 h 278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657" h="2783">
                  <a:moveTo>
                    <a:pt x="0" y="2783"/>
                  </a:moveTo>
                  <a:lnTo>
                    <a:pt x="104" y="2512"/>
                  </a:lnTo>
                  <a:lnTo>
                    <a:pt x="156" y="2377"/>
                  </a:lnTo>
                  <a:lnTo>
                    <a:pt x="207" y="2243"/>
                  </a:lnTo>
                  <a:lnTo>
                    <a:pt x="258" y="2111"/>
                  </a:lnTo>
                  <a:lnTo>
                    <a:pt x="311" y="1980"/>
                  </a:lnTo>
                  <a:lnTo>
                    <a:pt x="362" y="1853"/>
                  </a:lnTo>
                  <a:lnTo>
                    <a:pt x="413" y="1728"/>
                  </a:lnTo>
                  <a:lnTo>
                    <a:pt x="464" y="1605"/>
                  </a:lnTo>
                  <a:lnTo>
                    <a:pt x="489" y="1544"/>
                  </a:lnTo>
                  <a:lnTo>
                    <a:pt x="516" y="1486"/>
                  </a:lnTo>
                  <a:lnTo>
                    <a:pt x="542" y="1428"/>
                  </a:lnTo>
                  <a:lnTo>
                    <a:pt x="567" y="1371"/>
                  </a:lnTo>
                  <a:lnTo>
                    <a:pt x="593" y="1316"/>
                  </a:lnTo>
                  <a:lnTo>
                    <a:pt x="618" y="1260"/>
                  </a:lnTo>
                  <a:lnTo>
                    <a:pt x="644" y="1208"/>
                  </a:lnTo>
                  <a:lnTo>
                    <a:pt x="669" y="1155"/>
                  </a:lnTo>
                  <a:lnTo>
                    <a:pt x="696" y="1104"/>
                  </a:lnTo>
                  <a:lnTo>
                    <a:pt x="722" y="1054"/>
                  </a:lnTo>
                  <a:lnTo>
                    <a:pt x="747" y="1006"/>
                  </a:lnTo>
                  <a:lnTo>
                    <a:pt x="773" y="959"/>
                  </a:lnTo>
                  <a:lnTo>
                    <a:pt x="800" y="914"/>
                  </a:lnTo>
                  <a:lnTo>
                    <a:pt x="825" y="870"/>
                  </a:lnTo>
                  <a:lnTo>
                    <a:pt x="838" y="848"/>
                  </a:lnTo>
                  <a:lnTo>
                    <a:pt x="851" y="827"/>
                  </a:lnTo>
                  <a:lnTo>
                    <a:pt x="863" y="806"/>
                  </a:lnTo>
                  <a:lnTo>
                    <a:pt x="878" y="786"/>
                  </a:lnTo>
                  <a:lnTo>
                    <a:pt x="891" y="764"/>
                  </a:lnTo>
                  <a:lnTo>
                    <a:pt x="903" y="745"/>
                  </a:lnTo>
                  <a:lnTo>
                    <a:pt x="929" y="706"/>
                  </a:lnTo>
                  <a:lnTo>
                    <a:pt x="954" y="669"/>
                  </a:lnTo>
                  <a:lnTo>
                    <a:pt x="981" y="634"/>
                  </a:lnTo>
                  <a:lnTo>
                    <a:pt x="1007" y="598"/>
                  </a:lnTo>
                  <a:lnTo>
                    <a:pt x="1032" y="566"/>
                  </a:lnTo>
                  <a:lnTo>
                    <a:pt x="1059" y="533"/>
                  </a:lnTo>
                  <a:lnTo>
                    <a:pt x="1085" y="502"/>
                  </a:lnTo>
                  <a:lnTo>
                    <a:pt x="1110" y="472"/>
                  </a:lnTo>
                  <a:lnTo>
                    <a:pt x="1137" y="443"/>
                  </a:lnTo>
                  <a:lnTo>
                    <a:pt x="1163" y="415"/>
                  </a:lnTo>
                  <a:lnTo>
                    <a:pt x="1188" y="388"/>
                  </a:lnTo>
                  <a:lnTo>
                    <a:pt x="1216" y="361"/>
                  </a:lnTo>
                  <a:lnTo>
                    <a:pt x="1241" y="335"/>
                  </a:lnTo>
                  <a:lnTo>
                    <a:pt x="1267" y="311"/>
                  </a:lnTo>
                  <a:lnTo>
                    <a:pt x="1294" y="287"/>
                  </a:lnTo>
                  <a:lnTo>
                    <a:pt x="1319" y="263"/>
                  </a:lnTo>
                  <a:lnTo>
                    <a:pt x="1345" y="240"/>
                  </a:lnTo>
                  <a:lnTo>
                    <a:pt x="1372" y="219"/>
                  </a:lnTo>
                  <a:lnTo>
                    <a:pt x="1397" y="198"/>
                  </a:lnTo>
                  <a:lnTo>
                    <a:pt x="1423" y="176"/>
                  </a:lnTo>
                  <a:lnTo>
                    <a:pt x="1450" y="155"/>
                  </a:lnTo>
                  <a:lnTo>
                    <a:pt x="1475" y="135"/>
                  </a:lnTo>
                  <a:lnTo>
                    <a:pt x="1501" y="115"/>
                  </a:lnTo>
                  <a:lnTo>
                    <a:pt x="1553" y="75"/>
                  </a:lnTo>
                  <a:lnTo>
                    <a:pt x="1604" y="37"/>
                  </a:lnTo>
                  <a:lnTo>
                    <a:pt x="165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8" name="Line 32">
              <a:extLst>
                <a:ext uri="{FF2B5EF4-FFF2-40B4-BE49-F238E27FC236}">
                  <a16:creationId xmlns:a16="http://schemas.microsoft.com/office/drawing/2014/main" id="{1C2DCF8F-DFAB-4C49-BC45-FC88E2D5E933}"/>
                </a:ext>
              </a:extLst>
            </p:cNvPr>
            <p:cNvSpPr>
              <a:spLocks noChangeShapeType="1"/>
            </p:cNvSpPr>
            <p:nvPr/>
          </p:nvSpPr>
          <p:spPr bwMode="auto">
            <a:xfrm>
              <a:off x="1299" y="3025"/>
              <a:ext cx="145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9" name="Freeform 33">
              <a:extLst>
                <a:ext uri="{FF2B5EF4-FFF2-40B4-BE49-F238E27FC236}">
                  <a16:creationId xmlns:a16="http://schemas.microsoft.com/office/drawing/2014/main" id="{C91AED93-D73E-4A87-9049-92D4228B4CC9}"/>
                </a:ext>
              </a:extLst>
            </p:cNvPr>
            <p:cNvSpPr>
              <a:spLocks/>
            </p:cNvSpPr>
            <p:nvPr/>
          </p:nvSpPr>
          <p:spPr bwMode="auto">
            <a:xfrm>
              <a:off x="2750" y="3004"/>
              <a:ext cx="86" cy="45"/>
            </a:xfrm>
            <a:custGeom>
              <a:avLst/>
              <a:gdLst>
                <a:gd name="T0" fmla="*/ 0 w 172"/>
                <a:gd name="T1" fmla="*/ 1 h 89"/>
                <a:gd name="T2" fmla="*/ 1 w 172"/>
                <a:gd name="T3" fmla="*/ 1 h 89"/>
                <a:gd name="T4" fmla="*/ 0 w 172"/>
                <a:gd name="T5" fmla="*/ 0 h 89"/>
                <a:gd name="T6" fmla="*/ 0 w 172"/>
                <a:gd name="T7" fmla="*/ 1 h 89"/>
                <a:gd name="T8" fmla="*/ 0 60000 65536"/>
                <a:gd name="T9" fmla="*/ 0 60000 65536"/>
                <a:gd name="T10" fmla="*/ 0 60000 65536"/>
                <a:gd name="T11" fmla="*/ 0 60000 65536"/>
                <a:gd name="T12" fmla="*/ 0 w 172"/>
                <a:gd name="T13" fmla="*/ 0 h 89"/>
                <a:gd name="T14" fmla="*/ 172 w 172"/>
                <a:gd name="T15" fmla="*/ 89 h 89"/>
              </a:gdLst>
              <a:ahLst/>
              <a:cxnLst>
                <a:cxn ang="T8">
                  <a:pos x="T0" y="T1"/>
                </a:cxn>
                <a:cxn ang="T9">
                  <a:pos x="T2" y="T3"/>
                </a:cxn>
                <a:cxn ang="T10">
                  <a:pos x="T4" y="T5"/>
                </a:cxn>
                <a:cxn ang="T11">
                  <a:pos x="T6" y="T7"/>
                </a:cxn>
              </a:cxnLst>
              <a:rect l="T12" t="T13" r="T14" b="T15"/>
              <a:pathLst>
                <a:path w="172" h="89">
                  <a:moveTo>
                    <a:pt x="0" y="89"/>
                  </a:moveTo>
                  <a:lnTo>
                    <a:pt x="172" y="41"/>
                  </a:lnTo>
                  <a:lnTo>
                    <a:pt x="0" y="0"/>
                  </a:lnTo>
                  <a:lnTo>
                    <a:pt x="0" y="8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40" name="Line 34">
              <a:extLst>
                <a:ext uri="{FF2B5EF4-FFF2-40B4-BE49-F238E27FC236}">
                  <a16:creationId xmlns:a16="http://schemas.microsoft.com/office/drawing/2014/main" id="{B2C915E3-3FEC-433B-B5D3-2A7B91CFE180}"/>
                </a:ext>
              </a:extLst>
            </p:cNvPr>
            <p:cNvSpPr>
              <a:spLocks noChangeShapeType="1"/>
            </p:cNvSpPr>
            <p:nvPr/>
          </p:nvSpPr>
          <p:spPr bwMode="auto">
            <a:xfrm flipV="1">
              <a:off x="1569" y="2969"/>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1" name="Line 35">
              <a:extLst>
                <a:ext uri="{FF2B5EF4-FFF2-40B4-BE49-F238E27FC236}">
                  <a16:creationId xmlns:a16="http://schemas.microsoft.com/office/drawing/2014/main" id="{EB3C44B7-0337-48C3-95C4-C6D6AE335D6B}"/>
                </a:ext>
              </a:extLst>
            </p:cNvPr>
            <p:cNvSpPr>
              <a:spLocks noChangeShapeType="1"/>
            </p:cNvSpPr>
            <p:nvPr/>
          </p:nvSpPr>
          <p:spPr bwMode="auto">
            <a:xfrm flipV="1">
              <a:off x="1839" y="2969"/>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2" name="Line 36">
              <a:extLst>
                <a:ext uri="{FF2B5EF4-FFF2-40B4-BE49-F238E27FC236}">
                  <a16:creationId xmlns:a16="http://schemas.microsoft.com/office/drawing/2014/main" id="{BC0926B5-7FEF-4AF1-A045-4AD38E63D98F}"/>
                </a:ext>
              </a:extLst>
            </p:cNvPr>
            <p:cNvSpPr>
              <a:spLocks noChangeShapeType="1"/>
            </p:cNvSpPr>
            <p:nvPr/>
          </p:nvSpPr>
          <p:spPr bwMode="auto">
            <a:xfrm flipV="1">
              <a:off x="2109" y="2969"/>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3" name="Line 37">
              <a:extLst>
                <a:ext uri="{FF2B5EF4-FFF2-40B4-BE49-F238E27FC236}">
                  <a16:creationId xmlns:a16="http://schemas.microsoft.com/office/drawing/2014/main" id="{5CE7944D-E88C-4D6B-9ED3-79B40FCB0F8B}"/>
                </a:ext>
              </a:extLst>
            </p:cNvPr>
            <p:cNvSpPr>
              <a:spLocks noChangeShapeType="1"/>
            </p:cNvSpPr>
            <p:nvPr/>
          </p:nvSpPr>
          <p:spPr bwMode="auto">
            <a:xfrm flipV="1">
              <a:off x="2379" y="2969"/>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4" name="Line 38">
              <a:extLst>
                <a:ext uri="{FF2B5EF4-FFF2-40B4-BE49-F238E27FC236}">
                  <a16:creationId xmlns:a16="http://schemas.microsoft.com/office/drawing/2014/main" id="{5CADE874-2D25-4AA5-BA2C-0B2D11FEB10C}"/>
                </a:ext>
              </a:extLst>
            </p:cNvPr>
            <p:cNvSpPr>
              <a:spLocks noChangeShapeType="1"/>
            </p:cNvSpPr>
            <p:nvPr/>
          </p:nvSpPr>
          <p:spPr bwMode="auto">
            <a:xfrm flipV="1">
              <a:off x="2649" y="2969"/>
              <a:ext cx="0" cy="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5" name="Line 39">
              <a:extLst>
                <a:ext uri="{FF2B5EF4-FFF2-40B4-BE49-F238E27FC236}">
                  <a16:creationId xmlns:a16="http://schemas.microsoft.com/office/drawing/2014/main" id="{B912D31A-2B2B-4BF4-8A25-623F9A2CDF33}"/>
                </a:ext>
              </a:extLst>
            </p:cNvPr>
            <p:cNvSpPr>
              <a:spLocks noChangeShapeType="1"/>
            </p:cNvSpPr>
            <p:nvPr/>
          </p:nvSpPr>
          <p:spPr bwMode="auto">
            <a:xfrm flipV="1">
              <a:off x="1299" y="1424"/>
              <a:ext cx="0" cy="16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6" name="Freeform 40">
              <a:extLst>
                <a:ext uri="{FF2B5EF4-FFF2-40B4-BE49-F238E27FC236}">
                  <a16:creationId xmlns:a16="http://schemas.microsoft.com/office/drawing/2014/main" id="{327153B9-4317-4A20-B8F3-984CF6D35A09}"/>
                </a:ext>
              </a:extLst>
            </p:cNvPr>
            <p:cNvSpPr>
              <a:spLocks/>
            </p:cNvSpPr>
            <p:nvPr/>
          </p:nvSpPr>
          <p:spPr bwMode="auto">
            <a:xfrm>
              <a:off x="1277" y="1355"/>
              <a:ext cx="49" cy="80"/>
            </a:xfrm>
            <a:custGeom>
              <a:avLst/>
              <a:gdLst>
                <a:gd name="T0" fmla="*/ 1 w 97"/>
                <a:gd name="T1" fmla="*/ 0 h 161"/>
                <a:gd name="T2" fmla="*/ 1 w 97"/>
                <a:gd name="T3" fmla="*/ 0 h 161"/>
                <a:gd name="T4" fmla="*/ 0 w 97"/>
                <a:gd name="T5" fmla="*/ 0 h 161"/>
                <a:gd name="T6" fmla="*/ 1 w 97"/>
                <a:gd name="T7" fmla="*/ 0 h 161"/>
                <a:gd name="T8" fmla="*/ 0 60000 65536"/>
                <a:gd name="T9" fmla="*/ 0 60000 65536"/>
                <a:gd name="T10" fmla="*/ 0 60000 65536"/>
                <a:gd name="T11" fmla="*/ 0 60000 65536"/>
                <a:gd name="T12" fmla="*/ 0 w 97"/>
                <a:gd name="T13" fmla="*/ 0 h 161"/>
                <a:gd name="T14" fmla="*/ 97 w 97"/>
                <a:gd name="T15" fmla="*/ 161 h 161"/>
              </a:gdLst>
              <a:ahLst/>
              <a:cxnLst>
                <a:cxn ang="T8">
                  <a:pos x="T0" y="T1"/>
                </a:cxn>
                <a:cxn ang="T9">
                  <a:pos x="T2" y="T3"/>
                </a:cxn>
                <a:cxn ang="T10">
                  <a:pos x="T4" y="T5"/>
                </a:cxn>
                <a:cxn ang="T11">
                  <a:pos x="T6" y="T7"/>
                </a:cxn>
              </a:cxnLst>
              <a:rect l="T12" t="T13" r="T14" b="T15"/>
              <a:pathLst>
                <a:path w="97" h="161">
                  <a:moveTo>
                    <a:pt x="97" y="161"/>
                  </a:moveTo>
                  <a:lnTo>
                    <a:pt x="45" y="0"/>
                  </a:lnTo>
                  <a:lnTo>
                    <a:pt x="0" y="161"/>
                  </a:lnTo>
                  <a:lnTo>
                    <a:pt x="97" y="1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47" name="Line 41">
              <a:extLst>
                <a:ext uri="{FF2B5EF4-FFF2-40B4-BE49-F238E27FC236}">
                  <a16:creationId xmlns:a16="http://schemas.microsoft.com/office/drawing/2014/main" id="{181958E4-A486-4044-AFE2-2ABC847A966D}"/>
                </a:ext>
              </a:extLst>
            </p:cNvPr>
            <p:cNvSpPr>
              <a:spLocks noChangeShapeType="1"/>
            </p:cNvSpPr>
            <p:nvPr/>
          </p:nvSpPr>
          <p:spPr bwMode="auto">
            <a:xfrm flipH="1">
              <a:off x="1299" y="2732"/>
              <a:ext cx="4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8" name="Line 42">
              <a:extLst>
                <a:ext uri="{FF2B5EF4-FFF2-40B4-BE49-F238E27FC236}">
                  <a16:creationId xmlns:a16="http://schemas.microsoft.com/office/drawing/2014/main" id="{1DBC1CC0-A6C2-4523-A6F2-87308944C487}"/>
                </a:ext>
              </a:extLst>
            </p:cNvPr>
            <p:cNvSpPr>
              <a:spLocks noChangeShapeType="1"/>
            </p:cNvSpPr>
            <p:nvPr/>
          </p:nvSpPr>
          <p:spPr bwMode="auto">
            <a:xfrm flipH="1">
              <a:off x="1299" y="2436"/>
              <a:ext cx="4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9" name="Line 43">
              <a:extLst>
                <a:ext uri="{FF2B5EF4-FFF2-40B4-BE49-F238E27FC236}">
                  <a16:creationId xmlns:a16="http://schemas.microsoft.com/office/drawing/2014/main" id="{316ACA1B-B20E-421F-B8A3-0F398DD3F4C3}"/>
                </a:ext>
              </a:extLst>
            </p:cNvPr>
            <p:cNvSpPr>
              <a:spLocks noChangeShapeType="1"/>
            </p:cNvSpPr>
            <p:nvPr/>
          </p:nvSpPr>
          <p:spPr bwMode="auto">
            <a:xfrm flipH="1">
              <a:off x="1299" y="2141"/>
              <a:ext cx="4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0" name="Line 44">
              <a:extLst>
                <a:ext uri="{FF2B5EF4-FFF2-40B4-BE49-F238E27FC236}">
                  <a16:creationId xmlns:a16="http://schemas.microsoft.com/office/drawing/2014/main" id="{F35F32B8-F7B5-4272-9271-47273E0C9B32}"/>
                </a:ext>
              </a:extLst>
            </p:cNvPr>
            <p:cNvSpPr>
              <a:spLocks noChangeShapeType="1"/>
            </p:cNvSpPr>
            <p:nvPr/>
          </p:nvSpPr>
          <p:spPr bwMode="auto">
            <a:xfrm flipH="1">
              <a:off x="1299" y="1849"/>
              <a:ext cx="4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1" name="Line 45">
              <a:extLst>
                <a:ext uri="{FF2B5EF4-FFF2-40B4-BE49-F238E27FC236}">
                  <a16:creationId xmlns:a16="http://schemas.microsoft.com/office/drawing/2014/main" id="{1FA30A5F-2470-4C8F-B726-8289F0290FDB}"/>
                </a:ext>
              </a:extLst>
            </p:cNvPr>
            <p:cNvSpPr>
              <a:spLocks noChangeShapeType="1"/>
            </p:cNvSpPr>
            <p:nvPr/>
          </p:nvSpPr>
          <p:spPr bwMode="auto">
            <a:xfrm flipH="1">
              <a:off x="1299" y="1553"/>
              <a:ext cx="4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2" name="Rectangle 46">
              <a:extLst>
                <a:ext uri="{FF2B5EF4-FFF2-40B4-BE49-F238E27FC236}">
                  <a16:creationId xmlns:a16="http://schemas.microsoft.com/office/drawing/2014/main" id="{26652018-7D79-45EA-AA6E-7B05B33C2F3A}"/>
                </a:ext>
              </a:extLst>
            </p:cNvPr>
            <p:cNvSpPr>
              <a:spLocks noChangeArrowheads="1"/>
            </p:cNvSpPr>
            <p:nvPr/>
          </p:nvSpPr>
          <p:spPr bwMode="auto">
            <a:xfrm>
              <a:off x="1496"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53" name="Rectangle 47">
              <a:extLst>
                <a:ext uri="{FF2B5EF4-FFF2-40B4-BE49-F238E27FC236}">
                  <a16:creationId xmlns:a16="http://schemas.microsoft.com/office/drawing/2014/main" id="{C538CC68-5432-4A17-83E9-4F73C4DF25F7}"/>
                </a:ext>
              </a:extLst>
            </p:cNvPr>
            <p:cNvSpPr>
              <a:spLocks noChangeArrowheads="1"/>
            </p:cNvSpPr>
            <p:nvPr/>
          </p:nvSpPr>
          <p:spPr bwMode="auto">
            <a:xfrm>
              <a:off x="1545"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54" name="Rectangle 48">
              <a:extLst>
                <a:ext uri="{FF2B5EF4-FFF2-40B4-BE49-F238E27FC236}">
                  <a16:creationId xmlns:a16="http://schemas.microsoft.com/office/drawing/2014/main" id="{BBB1F76B-E44C-4CA4-B4DF-0B224B8BE362}"/>
                </a:ext>
              </a:extLst>
            </p:cNvPr>
            <p:cNvSpPr>
              <a:spLocks noChangeArrowheads="1"/>
            </p:cNvSpPr>
            <p:nvPr/>
          </p:nvSpPr>
          <p:spPr bwMode="auto">
            <a:xfrm>
              <a:off x="1569"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2</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55" name="Rectangle 49">
              <a:extLst>
                <a:ext uri="{FF2B5EF4-FFF2-40B4-BE49-F238E27FC236}">
                  <a16:creationId xmlns:a16="http://schemas.microsoft.com/office/drawing/2014/main" id="{723527BE-E3D9-4FB3-B450-CCE2BE0B9F8B}"/>
                </a:ext>
              </a:extLst>
            </p:cNvPr>
            <p:cNvSpPr>
              <a:spLocks noChangeArrowheads="1"/>
            </p:cNvSpPr>
            <p:nvPr/>
          </p:nvSpPr>
          <p:spPr bwMode="auto">
            <a:xfrm>
              <a:off x="1613"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56" name="Rectangle 50">
              <a:extLst>
                <a:ext uri="{FF2B5EF4-FFF2-40B4-BE49-F238E27FC236}">
                  <a16:creationId xmlns:a16="http://schemas.microsoft.com/office/drawing/2014/main" id="{3E0217C9-F0E9-4405-BAF6-7C129271DADC}"/>
                </a:ext>
              </a:extLst>
            </p:cNvPr>
            <p:cNvSpPr>
              <a:spLocks noChangeArrowheads="1"/>
            </p:cNvSpPr>
            <p:nvPr/>
          </p:nvSpPr>
          <p:spPr bwMode="auto">
            <a:xfrm>
              <a:off x="1777"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57" name="Rectangle 51">
              <a:extLst>
                <a:ext uri="{FF2B5EF4-FFF2-40B4-BE49-F238E27FC236}">
                  <a16:creationId xmlns:a16="http://schemas.microsoft.com/office/drawing/2014/main" id="{6E7319D3-D820-4481-B557-D04051D293E9}"/>
                </a:ext>
              </a:extLst>
            </p:cNvPr>
            <p:cNvSpPr>
              <a:spLocks noChangeArrowheads="1"/>
            </p:cNvSpPr>
            <p:nvPr/>
          </p:nvSpPr>
          <p:spPr bwMode="auto">
            <a:xfrm>
              <a:off x="1826"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58" name="Rectangle 52">
              <a:extLst>
                <a:ext uri="{FF2B5EF4-FFF2-40B4-BE49-F238E27FC236}">
                  <a16:creationId xmlns:a16="http://schemas.microsoft.com/office/drawing/2014/main" id="{6EFADE9C-D447-4DF2-A9AB-A5ACACA68F54}"/>
                </a:ext>
              </a:extLst>
            </p:cNvPr>
            <p:cNvSpPr>
              <a:spLocks noChangeArrowheads="1"/>
            </p:cNvSpPr>
            <p:nvPr/>
          </p:nvSpPr>
          <p:spPr bwMode="auto">
            <a:xfrm>
              <a:off x="1850"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4</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59" name="Rectangle 53">
              <a:extLst>
                <a:ext uri="{FF2B5EF4-FFF2-40B4-BE49-F238E27FC236}">
                  <a16:creationId xmlns:a16="http://schemas.microsoft.com/office/drawing/2014/main" id="{DB41D254-5496-46AA-8C85-791B912E479C}"/>
                </a:ext>
              </a:extLst>
            </p:cNvPr>
            <p:cNvSpPr>
              <a:spLocks noChangeArrowheads="1"/>
            </p:cNvSpPr>
            <p:nvPr/>
          </p:nvSpPr>
          <p:spPr bwMode="auto">
            <a:xfrm>
              <a:off x="1894"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60" name="Rectangle 54">
              <a:extLst>
                <a:ext uri="{FF2B5EF4-FFF2-40B4-BE49-F238E27FC236}">
                  <a16:creationId xmlns:a16="http://schemas.microsoft.com/office/drawing/2014/main" id="{B21B4C95-E99F-4102-B241-E37E7FB088ED}"/>
                </a:ext>
              </a:extLst>
            </p:cNvPr>
            <p:cNvSpPr>
              <a:spLocks noChangeArrowheads="1"/>
            </p:cNvSpPr>
            <p:nvPr/>
          </p:nvSpPr>
          <p:spPr bwMode="auto">
            <a:xfrm>
              <a:off x="2054"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61" name="Rectangle 55">
              <a:extLst>
                <a:ext uri="{FF2B5EF4-FFF2-40B4-BE49-F238E27FC236}">
                  <a16:creationId xmlns:a16="http://schemas.microsoft.com/office/drawing/2014/main" id="{B082A5FF-4ACE-4AE2-9463-2360F905D000}"/>
                </a:ext>
              </a:extLst>
            </p:cNvPr>
            <p:cNvSpPr>
              <a:spLocks noChangeArrowheads="1"/>
            </p:cNvSpPr>
            <p:nvPr/>
          </p:nvSpPr>
          <p:spPr bwMode="auto">
            <a:xfrm>
              <a:off x="2103"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62" name="Rectangle 56">
              <a:extLst>
                <a:ext uri="{FF2B5EF4-FFF2-40B4-BE49-F238E27FC236}">
                  <a16:creationId xmlns:a16="http://schemas.microsoft.com/office/drawing/2014/main" id="{C539AA13-557A-420E-A69F-FC80F6E90D93}"/>
                </a:ext>
              </a:extLst>
            </p:cNvPr>
            <p:cNvSpPr>
              <a:spLocks noChangeArrowheads="1"/>
            </p:cNvSpPr>
            <p:nvPr/>
          </p:nvSpPr>
          <p:spPr bwMode="auto">
            <a:xfrm>
              <a:off x="2128"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6</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63" name="Rectangle 57">
              <a:extLst>
                <a:ext uri="{FF2B5EF4-FFF2-40B4-BE49-F238E27FC236}">
                  <a16:creationId xmlns:a16="http://schemas.microsoft.com/office/drawing/2014/main" id="{2ACDC93A-283F-4CBE-8677-0458D9B7C249}"/>
                </a:ext>
              </a:extLst>
            </p:cNvPr>
            <p:cNvSpPr>
              <a:spLocks noChangeArrowheads="1"/>
            </p:cNvSpPr>
            <p:nvPr/>
          </p:nvSpPr>
          <p:spPr bwMode="auto">
            <a:xfrm>
              <a:off x="2172"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64" name="Rectangle 58">
              <a:extLst>
                <a:ext uri="{FF2B5EF4-FFF2-40B4-BE49-F238E27FC236}">
                  <a16:creationId xmlns:a16="http://schemas.microsoft.com/office/drawing/2014/main" id="{A936FC4B-AC97-4F0B-8364-D54E0E63D4C3}"/>
                </a:ext>
              </a:extLst>
            </p:cNvPr>
            <p:cNvSpPr>
              <a:spLocks noChangeArrowheads="1"/>
            </p:cNvSpPr>
            <p:nvPr/>
          </p:nvSpPr>
          <p:spPr bwMode="auto">
            <a:xfrm>
              <a:off x="2336"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65" name="Rectangle 59">
              <a:extLst>
                <a:ext uri="{FF2B5EF4-FFF2-40B4-BE49-F238E27FC236}">
                  <a16:creationId xmlns:a16="http://schemas.microsoft.com/office/drawing/2014/main" id="{67A0682A-88AD-47E6-9C2B-637F39EC1085}"/>
                </a:ext>
              </a:extLst>
            </p:cNvPr>
            <p:cNvSpPr>
              <a:spLocks noChangeArrowheads="1"/>
            </p:cNvSpPr>
            <p:nvPr/>
          </p:nvSpPr>
          <p:spPr bwMode="auto">
            <a:xfrm>
              <a:off x="2384"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66" name="Rectangle 60">
              <a:extLst>
                <a:ext uri="{FF2B5EF4-FFF2-40B4-BE49-F238E27FC236}">
                  <a16:creationId xmlns:a16="http://schemas.microsoft.com/office/drawing/2014/main" id="{E1195788-578A-4C77-9B76-EAE171B274F5}"/>
                </a:ext>
              </a:extLst>
            </p:cNvPr>
            <p:cNvSpPr>
              <a:spLocks noChangeArrowheads="1"/>
            </p:cNvSpPr>
            <p:nvPr/>
          </p:nvSpPr>
          <p:spPr bwMode="auto">
            <a:xfrm>
              <a:off x="2408"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8</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67" name="Rectangle 61">
              <a:extLst>
                <a:ext uri="{FF2B5EF4-FFF2-40B4-BE49-F238E27FC236}">
                  <a16:creationId xmlns:a16="http://schemas.microsoft.com/office/drawing/2014/main" id="{810BB5B1-D8F3-44CC-9D74-3B7906140B14}"/>
                </a:ext>
              </a:extLst>
            </p:cNvPr>
            <p:cNvSpPr>
              <a:spLocks noChangeArrowheads="1"/>
            </p:cNvSpPr>
            <p:nvPr/>
          </p:nvSpPr>
          <p:spPr bwMode="auto">
            <a:xfrm>
              <a:off x="2453"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68" name="Rectangle 62">
              <a:extLst>
                <a:ext uri="{FF2B5EF4-FFF2-40B4-BE49-F238E27FC236}">
                  <a16:creationId xmlns:a16="http://schemas.microsoft.com/office/drawing/2014/main" id="{D0FC0750-D5F7-442B-9C2F-6FC2FD3BEB3C}"/>
                </a:ext>
              </a:extLst>
            </p:cNvPr>
            <p:cNvSpPr>
              <a:spLocks noChangeArrowheads="1"/>
            </p:cNvSpPr>
            <p:nvPr/>
          </p:nvSpPr>
          <p:spPr bwMode="auto">
            <a:xfrm>
              <a:off x="2613"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69" name="Rectangle 63">
              <a:extLst>
                <a:ext uri="{FF2B5EF4-FFF2-40B4-BE49-F238E27FC236}">
                  <a16:creationId xmlns:a16="http://schemas.microsoft.com/office/drawing/2014/main" id="{D398C0C3-61D3-40AE-9E00-59CA38019E24}"/>
                </a:ext>
              </a:extLst>
            </p:cNvPr>
            <p:cNvSpPr>
              <a:spLocks noChangeArrowheads="1"/>
            </p:cNvSpPr>
            <p:nvPr/>
          </p:nvSpPr>
          <p:spPr bwMode="auto">
            <a:xfrm>
              <a:off x="2661"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70" name="Rectangle 64">
              <a:extLst>
                <a:ext uri="{FF2B5EF4-FFF2-40B4-BE49-F238E27FC236}">
                  <a16:creationId xmlns:a16="http://schemas.microsoft.com/office/drawing/2014/main" id="{0FA29D95-7D7A-4857-9010-D681BA57C468}"/>
                </a:ext>
              </a:extLst>
            </p:cNvPr>
            <p:cNvSpPr>
              <a:spLocks noChangeArrowheads="1"/>
            </p:cNvSpPr>
            <p:nvPr/>
          </p:nvSpPr>
          <p:spPr bwMode="auto">
            <a:xfrm>
              <a:off x="2686" y="309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71" name="Rectangle 65">
              <a:extLst>
                <a:ext uri="{FF2B5EF4-FFF2-40B4-BE49-F238E27FC236}">
                  <a16:creationId xmlns:a16="http://schemas.microsoft.com/office/drawing/2014/main" id="{02AEAE4C-04D2-4C73-93D9-40667A2D2AF0}"/>
                </a:ext>
              </a:extLst>
            </p:cNvPr>
            <p:cNvSpPr>
              <a:spLocks noChangeArrowheads="1"/>
            </p:cNvSpPr>
            <p:nvPr/>
          </p:nvSpPr>
          <p:spPr bwMode="auto">
            <a:xfrm>
              <a:off x="2730" y="3092"/>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72" name="Rectangle 66">
              <a:extLst>
                <a:ext uri="{FF2B5EF4-FFF2-40B4-BE49-F238E27FC236}">
                  <a16:creationId xmlns:a16="http://schemas.microsoft.com/office/drawing/2014/main" id="{0FFD0A21-0A71-4D50-9571-EBBFE6696035}"/>
                </a:ext>
              </a:extLst>
            </p:cNvPr>
            <p:cNvSpPr>
              <a:spLocks noChangeArrowheads="1"/>
            </p:cNvSpPr>
            <p:nvPr/>
          </p:nvSpPr>
          <p:spPr bwMode="auto">
            <a:xfrm>
              <a:off x="1134" y="2720"/>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73" name="Rectangle 67">
              <a:extLst>
                <a:ext uri="{FF2B5EF4-FFF2-40B4-BE49-F238E27FC236}">
                  <a16:creationId xmlns:a16="http://schemas.microsoft.com/office/drawing/2014/main" id="{95DDF55C-0808-435E-AD30-D1397F21E3AC}"/>
                </a:ext>
              </a:extLst>
            </p:cNvPr>
            <p:cNvSpPr>
              <a:spLocks noChangeArrowheads="1"/>
            </p:cNvSpPr>
            <p:nvPr/>
          </p:nvSpPr>
          <p:spPr bwMode="auto">
            <a:xfrm>
              <a:off x="1213" y="2708"/>
              <a:ext cx="19"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74" name="Rectangle 68">
              <a:extLst>
                <a:ext uri="{FF2B5EF4-FFF2-40B4-BE49-F238E27FC236}">
                  <a16:creationId xmlns:a16="http://schemas.microsoft.com/office/drawing/2014/main" id="{A80CC43A-4330-43AA-8FF1-DBA210C93060}"/>
                </a:ext>
              </a:extLst>
            </p:cNvPr>
            <p:cNvSpPr>
              <a:spLocks noChangeArrowheads="1"/>
            </p:cNvSpPr>
            <p:nvPr/>
          </p:nvSpPr>
          <p:spPr bwMode="auto">
            <a:xfrm>
              <a:off x="1237" y="2708"/>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4</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75" name="Rectangle 69">
              <a:extLst>
                <a:ext uri="{FF2B5EF4-FFF2-40B4-BE49-F238E27FC236}">
                  <a16:creationId xmlns:a16="http://schemas.microsoft.com/office/drawing/2014/main" id="{DD6C400A-D21D-4A50-A542-5AAD3106D53F}"/>
                </a:ext>
              </a:extLst>
            </p:cNvPr>
            <p:cNvSpPr>
              <a:spLocks noChangeArrowheads="1"/>
            </p:cNvSpPr>
            <p:nvPr/>
          </p:nvSpPr>
          <p:spPr bwMode="auto">
            <a:xfrm>
              <a:off x="1273" y="2708"/>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76" name="Rectangle 70">
              <a:extLst>
                <a:ext uri="{FF2B5EF4-FFF2-40B4-BE49-F238E27FC236}">
                  <a16:creationId xmlns:a16="http://schemas.microsoft.com/office/drawing/2014/main" id="{4844F55C-EB05-487C-B771-1B3B24A2C996}"/>
                </a:ext>
              </a:extLst>
            </p:cNvPr>
            <p:cNvSpPr>
              <a:spLocks noChangeArrowheads="1"/>
            </p:cNvSpPr>
            <p:nvPr/>
          </p:nvSpPr>
          <p:spPr bwMode="auto">
            <a:xfrm>
              <a:off x="1134" y="2428"/>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77" name="Rectangle 71">
              <a:extLst>
                <a:ext uri="{FF2B5EF4-FFF2-40B4-BE49-F238E27FC236}">
                  <a16:creationId xmlns:a16="http://schemas.microsoft.com/office/drawing/2014/main" id="{D959D8F4-A749-4BE3-9C2A-56CDDC37587D}"/>
                </a:ext>
              </a:extLst>
            </p:cNvPr>
            <p:cNvSpPr>
              <a:spLocks noChangeArrowheads="1"/>
            </p:cNvSpPr>
            <p:nvPr/>
          </p:nvSpPr>
          <p:spPr bwMode="auto">
            <a:xfrm>
              <a:off x="1213" y="2416"/>
              <a:ext cx="19"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78" name="Rectangle 72">
              <a:extLst>
                <a:ext uri="{FF2B5EF4-FFF2-40B4-BE49-F238E27FC236}">
                  <a16:creationId xmlns:a16="http://schemas.microsoft.com/office/drawing/2014/main" id="{E42D8788-0058-4AE8-AE29-5A77230C041F}"/>
                </a:ext>
              </a:extLst>
            </p:cNvPr>
            <p:cNvSpPr>
              <a:spLocks noChangeArrowheads="1"/>
            </p:cNvSpPr>
            <p:nvPr/>
          </p:nvSpPr>
          <p:spPr bwMode="auto">
            <a:xfrm>
              <a:off x="1237" y="2416"/>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3</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79" name="Rectangle 73">
              <a:extLst>
                <a:ext uri="{FF2B5EF4-FFF2-40B4-BE49-F238E27FC236}">
                  <a16:creationId xmlns:a16="http://schemas.microsoft.com/office/drawing/2014/main" id="{E1B8F83B-C2EB-4B9E-9490-418CFF194778}"/>
                </a:ext>
              </a:extLst>
            </p:cNvPr>
            <p:cNvSpPr>
              <a:spLocks noChangeArrowheads="1"/>
            </p:cNvSpPr>
            <p:nvPr/>
          </p:nvSpPr>
          <p:spPr bwMode="auto">
            <a:xfrm>
              <a:off x="1273" y="2416"/>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80" name="Rectangle 74">
              <a:extLst>
                <a:ext uri="{FF2B5EF4-FFF2-40B4-BE49-F238E27FC236}">
                  <a16:creationId xmlns:a16="http://schemas.microsoft.com/office/drawing/2014/main" id="{D58E0500-EC16-460A-8A92-5EAF69E7F9C0}"/>
                </a:ext>
              </a:extLst>
            </p:cNvPr>
            <p:cNvSpPr>
              <a:spLocks noChangeArrowheads="1"/>
            </p:cNvSpPr>
            <p:nvPr/>
          </p:nvSpPr>
          <p:spPr bwMode="auto">
            <a:xfrm>
              <a:off x="1134" y="2131"/>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81" name="Rectangle 75">
              <a:extLst>
                <a:ext uri="{FF2B5EF4-FFF2-40B4-BE49-F238E27FC236}">
                  <a16:creationId xmlns:a16="http://schemas.microsoft.com/office/drawing/2014/main" id="{A6B31600-1E95-4285-9E73-AFE91BBE2F3B}"/>
                </a:ext>
              </a:extLst>
            </p:cNvPr>
            <p:cNvSpPr>
              <a:spLocks noChangeArrowheads="1"/>
            </p:cNvSpPr>
            <p:nvPr/>
          </p:nvSpPr>
          <p:spPr bwMode="auto">
            <a:xfrm>
              <a:off x="1213" y="2120"/>
              <a:ext cx="19"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82" name="Rectangle 76">
              <a:extLst>
                <a:ext uri="{FF2B5EF4-FFF2-40B4-BE49-F238E27FC236}">
                  <a16:creationId xmlns:a16="http://schemas.microsoft.com/office/drawing/2014/main" id="{CD2F6ACC-04F9-4C4D-8362-1DE33B6E362F}"/>
                </a:ext>
              </a:extLst>
            </p:cNvPr>
            <p:cNvSpPr>
              <a:spLocks noChangeArrowheads="1"/>
            </p:cNvSpPr>
            <p:nvPr/>
          </p:nvSpPr>
          <p:spPr bwMode="auto">
            <a:xfrm>
              <a:off x="1237" y="2120"/>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2</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83" name="Rectangle 77">
              <a:extLst>
                <a:ext uri="{FF2B5EF4-FFF2-40B4-BE49-F238E27FC236}">
                  <a16:creationId xmlns:a16="http://schemas.microsoft.com/office/drawing/2014/main" id="{01B52AD8-230F-4FA0-A74C-0BA6F41B9A55}"/>
                </a:ext>
              </a:extLst>
            </p:cNvPr>
            <p:cNvSpPr>
              <a:spLocks noChangeArrowheads="1"/>
            </p:cNvSpPr>
            <p:nvPr/>
          </p:nvSpPr>
          <p:spPr bwMode="auto">
            <a:xfrm>
              <a:off x="1273" y="2120"/>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84" name="Rectangle 78">
              <a:extLst>
                <a:ext uri="{FF2B5EF4-FFF2-40B4-BE49-F238E27FC236}">
                  <a16:creationId xmlns:a16="http://schemas.microsoft.com/office/drawing/2014/main" id="{27A3CE9F-CC47-4236-B1BE-DA2A5952F98F}"/>
                </a:ext>
              </a:extLst>
            </p:cNvPr>
            <p:cNvSpPr>
              <a:spLocks noChangeArrowheads="1"/>
            </p:cNvSpPr>
            <p:nvPr/>
          </p:nvSpPr>
          <p:spPr bwMode="auto">
            <a:xfrm>
              <a:off x="1134" y="1839"/>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85" name="Rectangle 79">
              <a:extLst>
                <a:ext uri="{FF2B5EF4-FFF2-40B4-BE49-F238E27FC236}">
                  <a16:creationId xmlns:a16="http://schemas.microsoft.com/office/drawing/2014/main" id="{8CB93451-9AA8-4FFC-8D01-28A2E783BA3C}"/>
                </a:ext>
              </a:extLst>
            </p:cNvPr>
            <p:cNvSpPr>
              <a:spLocks noChangeArrowheads="1"/>
            </p:cNvSpPr>
            <p:nvPr/>
          </p:nvSpPr>
          <p:spPr bwMode="auto">
            <a:xfrm>
              <a:off x="1213" y="1828"/>
              <a:ext cx="19"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86" name="Rectangle 80">
              <a:extLst>
                <a:ext uri="{FF2B5EF4-FFF2-40B4-BE49-F238E27FC236}">
                  <a16:creationId xmlns:a16="http://schemas.microsoft.com/office/drawing/2014/main" id="{6826702E-9391-45C9-80B1-93930DF4DD73}"/>
                </a:ext>
              </a:extLst>
            </p:cNvPr>
            <p:cNvSpPr>
              <a:spLocks noChangeArrowheads="1"/>
            </p:cNvSpPr>
            <p:nvPr/>
          </p:nvSpPr>
          <p:spPr bwMode="auto">
            <a:xfrm>
              <a:off x="1237" y="1828"/>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1</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87" name="Rectangle 81">
              <a:extLst>
                <a:ext uri="{FF2B5EF4-FFF2-40B4-BE49-F238E27FC236}">
                  <a16:creationId xmlns:a16="http://schemas.microsoft.com/office/drawing/2014/main" id="{654808BC-C4F4-4D9B-BF8E-C09E1D04E53D}"/>
                </a:ext>
              </a:extLst>
            </p:cNvPr>
            <p:cNvSpPr>
              <a:spLocks noChangeArrowheads="1"/>
            </p:cNvSpPr>
            <p:nvPr/>
          </p:nvSpPr>
          <p:spPr bwMode="auto">
            <a:xfrm>
              <a:off x="1273" y="1828"/>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88" name="Rectangle 82">
              <a:extLst>
                <a:ext uri="{FF2B5EF4-FFF2-40B4-BE49-F238E27FC236}">
                  <a16:creationId xmlns:a16="http://schemas.microsoft.com/office/drawing/2014/main" id="{D9D51E33-CD2C-40F6-B29C-289BF71AE547}"/>
                </a:ext>
              </a:extLst>
            </p:cNvPr>
            <p:cNvSpPr>
              <a:spLocks noChangeArrowheads="1"/>
            </p:cNvSpPr>
            <p:nvPr/>
          </p:nvSpPr>
          <p:spPr bwMode="auto">
            <a:xfrm>
              <a:off x="1134" y="1544"/>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89" name="Rectangle 83">
              <a:extLst>
                <a:ext uri="{FF2B5EF4-FFF2-40B4-BE49-F238E27FC236}">
                  <a16:creationId xmlns:a16="http://schemas.microsoft.com/office/drawing/2014/main" id="{8A6E603B-1832-470E-BF79-3DB762C2AAE7}"/>
                </a:ext>
              </a:extLst>
            </p:cNvPr>
            <p:cNvSpPr>
              <a:spLocks noChangeArrowheads="1"/>
            </p:cNvSpPr>
            <p:nvPr/>
          </p:nvSpPr>
          <p:spPr bwMode="auto">
            <a:xfrm>
              <a:off x="1214" y="1532"/>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90" name="Rectangle 84">
              <a:extLst>
                <a:ext uri="{FF2B5EF4-FFF2-40B4-BE49-F238E27FC236}">
                  <a16:creationId xmlns:a16="http://schemas.microsoft.com/office/drawing/2014/main" id="{7DB8FBBE-CB9A-4602-AC80-189CE31237AF}"/>
                </a:ext>
              </a:extLst>
            </p:cNvPr>
            <p:cNvSpPr>
              <a:spLocks noChangeArrowheads="1"/>
            </p:cNvSpPr>
            <p:nvPr/>
          </p:nvSpPr>
          <p:spPr bwMode="auto">
            <a:xfrm>
              <a:off x="1251" y="1532"/>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91" name="Rectangle 85">
              <a:extLst>
                <a:ext uri="{FF2B5EF4-FFF2-40B4-BE49-F238E27FC236}">
                  <a16:creationId xmlns:a16="http://schemas.microsoft.com/office/drawing/2014/main" id="{7E212B9C-1B36-4D7A-A620-D1D1EBC73C3B}"/>
                </a:ext>
              </a:extLst>
            </p:cNvPr>
            <p:cNvSpPr>
              <a:spLocks noChangeArrowheads="1"/>
            </p:cNvSpPr>
            <p:nvPr/>
          </p:nvSpPr>
          <p:spPr bwMode="auto">
            <a:xfrm>
              <a:off x="1134" y="3015"/>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92" name="Rectangle 86">
              <a:extLst>
                <a:ext uri="{FF2B5EF4-FFF2-40B4-BE49-F238E27FC236}">
                  <a16:creationId xmlns:a16="http://schemas.microsoft.com/office/drawing/2014/main" id="{54DE9CE2-71FE-407D-A0EB-0B0F8A03F240}"/>
                </a:ext>
              </a:extLst>
            </p:cNvPr>
            <p:cNvSpPr>
              <a:spLocks noChangeArrowheads="1"/>
            </p:cNvSpPr>
            <p:nvPr/>
          </p:nvSpPr>
          <p:spPr bwMode="auto">
            <a:xfrm>
              <a:off x="1213" y="3004"/>
              <a:ext cx="19"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93" name="Rectangle 87">
              <a:extLst>
                <a:ext uri="{FF2B5EF4-FFF2-40B4-BE49-F238E27FC236}">
                  <a16:creationId xmlns:a16="http://schemas.microsoft.com/office/drawing/2014/main" id="{7B1EB3B2-8723-41C3-A8D5-DA96193CB68A}"/>
                </a:ext>
              </a:extLst>
            </p:cNvPr>
            <p:cNvSpPr>
              <a:spLocks noChangeArrowheads="1"/>
            </p:cNvSpPr>
            <p:nvPr/>
          </p:nvSpPr>
          <p:spPr bwMode="auto">
            <a:xfrm>
              <a:off x="1237" y="3004"/>
              <a:ext cx="2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700">
                  <a:solidFill>
                    <a:srgbClr val="000000"/>
                  </a:solidFill>
                  <a:latin typeface="Times New Roman" panose="02020603050405020304" pitchFamily="18" charset="0"/>
                  <a:ea typeface="黑体" panose="02010609060101010101" pitchFamily="49" charset="-122"/>
                </a:rPr>
                <a:t>5</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94" name="Rectangle 88">
              <a:extLst>
                <a:ext uri="{FF2B5EF4-FFF2-40B4-BE49-F238E27FC236}">
                  <a16:creationId xmlns:a16="http://schemas.microsoft.com/office/drawing/2014/main" id="{05D7C661-A1E5-4769-90D6-E82077730B2A}"/>
                </a:ext>
              </a:extLst>
            </p:cNvPr>
            <p:cNvSpPr>
              <a:spLocks noChangeArrowheads="1"/>
            </p:cNvSpPr>
            <p:nvPr/>
          </p:nvSpPr>
          <p:spPr bwMode="auto">
            <a:xfrm>
              <a:off x="1273" y="3004"/>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95" name="Rectangle 89">
              <a:extLst>
                <a:ext uri="{FF2B5EF4-FFF2-40B4-BE49-F238E27FC236}">
                  <a16:creationId xmlns:a16="http://schemas.microsoft.com/office/drawing/2014/main" id="{C0C01CBB-4713-43A8-8B54-223365642EBC}"/>
                </a:ext>
              </a:extLst>
            </p:cNvPr>
            <p:cNvSpPr>
              <a:spLocks noChangeArrowheads="1"/>
            </p:cNvSpPr>
            <p:nvPr/>
          </p:nvSpPr>
          <p:spPr bwMode="auto">
            <a:xfrm>
              <a:off x="1816" y="2146"/>
              <a:ext cx="13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150</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96" name="Rectangle 90">
              <a:extLst>
                <a:ext uri="{FF2B5EF4-FFF2-40B4-BE49-F238E27FC236}">
                  <a16:creationId xmlns:a16="http://schemas.microsoft.com/office/drawing/2014/main" id="{FB3F03CB-652E-4F80-9526-2CC782D15E14}"/>
                </a:ext>
              </a:extLst>
            </p:cNvPr>
            <p:cNvSpPr>
              <a:spLocks noChangeArrowheads="1"/>
            </p:cNvSpPr>
            <p:nvPr/>
          </p:nvSpPr>
          <p:spPr bwMode="auto">
            <a:xfrm>
              <a:off x="1943" y="2129"/>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Symbol" panose="05050102010706020507" pitchFamily="18" charset="2"/>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97" name="Rectangle 91">
              <a:extLst>
                <a:ext uri="{FF2B5EF4-FFF2-40B4-BE49-F238E27FC236}">
                  <a16:creationId xmlns:a16="http://schemas.microsoft.com/office/drawing/2014/main" id="{BF85C78A-D90D-4E31-BDD7-C235896295CA}"/>
                </a:ext>
              </a:extLst>
            </p:cNvPr>
            <p:cNvSpPr>
              <a:spLocks noChangeArrowheads="1"/>
            </p:cNvSpPr>
            <p:nvPr/>
          </p:nvSpPr>
          <p:spPr bwMode="auto">
            <a:xfrm>
              <a:off x="1995" y="2151"/>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rPr>
                <a:t>C</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498" name="Rectangle 92">
              <a:extLst>
                <a:ext uri="{FF2B5EF4-FFF2-40B4-BE49-F238E27FC236}">
                  <a16:creationId xmlns:a16="http://schemas.microsoft.com/office/drawing/2014/main" id="{06F36FC8-0124-4E81-A4B5-491E83FB7270}"/>
                </a:ext>
              </a:extLst>
            </p:cNvPr>
            <p:cNvSpPr>
              <a:spLocks noChangeArrowheads="1"/>
            </p:cNvSpPr>
            <p:nvPr/>
          </p:nvSpPr>
          <p:spPr bwMode="auto">
            <a:xfrm>
              <a:off x="2031" y="2134"/>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499" name="Rectangle 93">
              <a:extLst>
                <a:ext uri="{FF2B5EF4-FFF2-40B4-BE49-F238E27FC236}">
                  <a16:creationId xmlns:a16="http://schemas.microsoft.com/office/drawing/2014/main" id="{56B13A18-779B-43DF-B9EA-93F3DB382E36}"/>
                </a:ext>
              </a:extLst>
            </p:cNvPr>
            <p:cNvSpPr>
              <a:spLocks noChangeArrowheads="1"/>
            </p:cNvSpPr>
            <p:nvPr/>
          </p:nvSpPr>
          <p:spPr bwMode="auto">
            <a:xfrm>
              <a:off x="2172" y="2131"/>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25</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500" name="Rectangle 94">
              <a:extLst>
                <a:ext uri="{FF2B5EF4-FFF2-40B4-BE49-F238E27FC236}">
                  <a16:creationId xmlns:a16="http://schemas.microsoft.com/office/drawing/2014/main" id="{9EA1F1FD-05A9-4FAD-BBE2-D4017BB1153D}"/>
                </a:ext>
              </a:extLst>
            </p:cNvPr>
            <p:cNvSpPr>
              <a:spLocks noChangeArrowheads="1"/>
            </p:cNvSpPr>
            <p:nvPr/>
          </p:nvSpPr>
          <p:spPr bwMode="auto">
            <a:xfrm>
              <a:off x="2258" y="2115"/>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Symbol" panose="05050102010706020507" pitchFamily="18" charset="2"/>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501" name="Rectangle 95">
              <a:extLst>
                <a:ext uri="{FF2B5EF4-FFF2-40B4-BE49-F238E27FC236}">
                  <a16:creationId xmlns:a16="http://schemas.microsoft.com/office/drawing/2014/main" id="{EA5821DD-AF5A-42F6-9620-F7FE3A85F5CE}"/>
                </a:ext>
              </a:extLst>
            </p:cNvPr>
            <p:cNvSpPr>
              <a:spLocks noChangeArrowheads="1"/>
            </p:cNvSpPr>
            <p:nvPr/>
          </p:nvSpPr>
          <p:spPr bwMode="auto">
            <a:xfrm>
              <a:off x="2297" y="2131"/>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C</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502" name="Rectangle 96">
              <a:extLst>
                <a:ext uri="{FF2B5EF4-FFF2-40B4-BE49-F238E27FC236}">
                  <a16:creationId xmlns:a16="http://schemas.microsoft.com/office/drawing/2014/main" id="{56F27973-1991-49D9-8893-0F7DF6544A7D}"/>
                </a:ext>
              </a:extLst>
            </p:cNvPr>
            <p:cNvSpPr>
              <a:spLocks noChangeArrowheads="1"/>
            </p:cNvSpPr>
            <p:nvPr/>
          </p:nvSpPr>
          <p:spPr bwMode="auto">
            <a:xfrm>
              <a:off x="2360" y="2120"/>
              <a:ext cx="1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7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503" name="Rectangle 97">
              <a:extLst>
                <a:ext uri="{FF2B5EF4-FFF2-40B4-BE49-F238E27FC236}">
                  <a16:creationId xmlns:a16="http://schemas.microsoft.com/office/drawing/2014/main" id="{0043C81D-F277-4061-B1A4-6B63E34292D5}"/>
                </a:ext>
              </a:extLst>
            </p:cNvPr>
            <p:cNvSpPr>
              <a:spLocks noChangeArrowheads="1"/>
            </p:cNvSpPr>
            <p:nvPr/>
          </p:nvSpPr>
          <p:spPr bwMode="auto">
            <a:xfrm>
              <a:off x="2427" y="2135"/>
              <a:ext cx="117"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-55</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504" name="Rectangle 98">
              <a:extLst>
                <a:ext uri="{FF2B5EF4-FFF2-40B4-BE49-F238E27FC236}">
                  <a16:creationId xmlns:a16="http://schemas.microsoft.com/office/drawing/2014/main" id="{26339CC6-DBD4-4578-BEFE-0D43C464738C}"/>
                </a:ext>
              </a:extLst>
            </p:cNvPr>
            <p:cNvSpPr>
              <a:spLocks noChangeArrowheads="1"/>
            </p:cNvSpPr>
            <p:nvPr/>
          </p:nvSpPr>
          <p:spPr bwMode="auto">
            <a:xfrm>
              <a:off x="2513" y="2118"/>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Symbol" panose="05050102010706020507" pitchFamily="18" charset="2"/>
                  <a:ea typeface="黑体" panose="02010609060101010101" pitchFamily="49" charset="-122"/>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505" name="Rectangle 99">
              <a:extLst>
                <a:ext uri="{FF2B5EF4-FFF2-40B4-BE49-F238E27FC236}">
                  <a16:creationId xmlns:a16="http://schemas.microsoft.com/office/drawing/2014/main" id="{76D25C57-B305-47E7-A059-325DAE05A13E}"/>
                </a:ext>
              </a:extLst>
            </p:cNvPr>
            <p:cNvSpPr>
              <a:spLocks noChangeArrowheads="1"/>
            </p:cNvSpPr>
            <p:nvPr/>
          </p:nvSpPr>
          <p:spPr bwMode="auto">
            <a:xfrm>
              <a:off x="2552" y="2135"/>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C</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506" name="Rectangle 100">
              <a:extLst>
                <a:ext uri="{FF2B5EF4-FFF2-40B4-BE49-F238E27FC236}">
                  <a16:creationId xmlns:a16="http://schemas.microsoft.com/office/drawing/2014/main" id="{29B0E14D-079F-4236-B48E-6BE489383F9A}"/>
                </a:ext>
              </a:extLst>
            </p:cNvPr>
            <p:cNvSpPr>
              <a:spLocks noChangeArrowheads="1"/>
            </p:cNvSpPr>
            <p:nvPr/>
          </p:nvSpPr>
          <p:spPr bwMode="auto">
            <a:xfrm>
              <a:off x="2625" y="2135"/>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sp>
          <p:nvSpPr>
            <p:cNvPr id="60507" name="Freeform 101">
              <a:extLst>
                <a:ext uri="{FF2B5EF4-FFF2-40B4-BE49-F238E27FC236}">
                  <a16:creationId xmlns:a16="http://schemas.microsoft.com/office/drawing/2014/main" id="{2B040A59-56D2-4561-A267-306D4DE2E330}"/>
                </a:ext>
              </a:extLst>
            </p:cNvPr>
            <p:cNvSpPr>
              <a:spLocks/>
            </p:cNvSpPr>
            <p:nvPr/>
          </p:nvSpPr>
          <p:spPr bwMode="auto">
            <a:xfrm>
              <a:off x="1996" y="1664"/>
              <a:ext cx="743" cy="1385"/>
            </a:xfrm>
            <a:custGeom>
              <a:avLst/>
              <a:gdLst>
                <a:gd name="T0" fmla="*/ 0 w 1484"/>
                <a:gd name="T1" fmla="*/ 1 h 2768"/>
                <a:gd name="T2" fmla="*/ 1 w 1484"/>
                <a:gd name="T3" fmla="*/ 1 h 2768"/>
                <a:gd name="T4" fmla="*/ 1 w 1484"/>
                <a:gd name="T5" fmla="*/ 1 h 2768"/>
                <a:gd name="T6" fmla="*/ 1 w 1484"/>
                <a:gd name="T7" fmla="*/ 1 h 2768"/>
                <a:gd name="T8" fmla="*/ 1 w 1484"/>
                <a:gd name="T9" fmla="*/ 1 h 2768"/>
                <a:gd name="T10" fmla="*/ 1 w 1484"/>
                <a:gd name="T11" fmla="*/ 1 h 2768"/>
                <a:gd name="T12" fmla="*/ 1 w 1484"/>
                <a:gd name="T13" fmla="*/ 1 h 2768"/>
                <a:gd name="T14" fmla="*/ 1 w 1484"/>
                <a:gd name="T15" fmla="*/ 1 h 2768"/>
                <a:gd name="T16" fmla="*/ 1 w 1484"/>
                <a:gd name="T17" fmla="*/ 1 h 2768"/>
                <a:gd name="T18" fmla="*/ 1 w 1484"/>
                <a:gd name="T19" fmla="*/ 1 h 2768"/>
                <a:gd name="T20" fmla="*/ 1 w 1484"/>
                <a:gd name="T21" fmla="*/ 1 h 2768"/>
                <a:gd name="T22" fmla="*/ 1 w 1484"/>
                <a:gd name="T23" fmla="*/ 1 h 2768"/>
                <a:gd name="T24" fmla="*/ 1 w 1484"/>
                <a:gd name="T25" fmla="*/ 1 h 2768"/>
                <a:gd name="T26" fmla="*/ 1 w 1484"/>
                <a:gd name="T27" fmla="*/ 1 h 2768"/>
                <a:gd name="T28" fmla="*/ 1 w 1484"/>
                <a:gd name="T29" fmla="*/ 1 h 2768"/>
                <a:gd name="T30" fmla="*/ 1 w 1484"/>
                <a:gd name="T31" fmla="*/ 1 h 2768"/>
                <a:gd name="T32" fmla="*/ 1 w 1484"/>
                <a:gd name="T33" fmla="*/ 1 h 2768"/>
                <a:gd name="T34" fmla="*/ 1 w 1484"/>
                <a:gd name="T35" fmla="*/ 1 h 2768"/>
                <a:gd name="T36" fmla="*/ 1 w 1484"/>
                <a:gd name="T37" fmla="*/ 1 h 2768"/>
                <a:gd name="T38" fmla="*/ 1 w 1484"/>
                <a:gd name="T39" fmla="*/ 1 h 2768"/>
                <a:gd name="T40" fmla="*/ 1 w 1484"/>
                <a:gd name="T41" fmla="*/ 1 h 2768"/>
                <a:gd name="T42" fmla="*/ 1 w 1484"/>
                <a:gd name="T43" fmla="*/ 1 h 2768"/>
                <a:gd name="T44" fmla="*/ 1 w 1484"/>
                <a:gd name="T45" fmla="*/ 1 h 2768"/>
                <a:gd name="T46" fmla="*/ 1 w 1484"/>
                <a:gd name="T47" fmla="*/ 1 h 2768"/>
                <a:gd name="T48" fmla="*/ 1 w 1484"/>
                <a:gd name="T49" fmla="*/ 1 h 2768"/>
                <a:gd name="T50" fmla="*/ 1 w 1484"/>
                <a:gd name="T51" fmla="*/ 1 h 2768"/>
                <a:gd name="T52" fmla="*/ 1 w 1484"/>
                <a:gd name="T53" fmla="*/ 1 h 2768"/>
                <a:gd name="T54" fmla="*/ 1 w 1484"/>
                <a:gd name="T55" fmla="*/ 1 h 2768"/>
                <a:gd name="T56" fmla="*/ 1 w 1484"/>
                <a:gd name="T57" fmla="*/ 1 h 2768"/>
                <a:gd name="T58" fmla="*/ 1 w 1484"/>
                <a:gd name="T59" fmla="*/ 1 h 2768"/>
                <a:gd name="T60" fmla="*/ 1 w 1484"/>
                <a:gd name="T61" fmla="*/ 1 h 2768"/>
                <a:gd name="T62" fmla="*/ 1 w 1484"/>
                <a:gd name="T63" fmla="*/ 1 h 2768"/>
                <a:gd name="T64" fmla="*/ 1 w 1484"/>
                <a:gd name="T65" fmla="*/ 1 h 2768"/>
                <a:gd name="T66" fmla="*/ 1 w 1484"/>
                <a:gd name="T67" fmla="*/ 1 h 2768"/>
                <a:gd name="T68" fmla="*/ 1 w 1484"/>
                <a:gd name="T69" fmla="*/ 1 h 2768"/>
                <a:gd name="T70" fmla="*/ 1 w 1484"/>
                <a:gd name="T71" fmla="*/ 1 h 2768"/>
                <a:gd name="T72" fmla="*/ 1 w 1484"/>
                <a:gd name="T73" fmla="*/ 1 h 2768"/>
                <a:gd name="T74" fmla="*/ 1 w 1484"/>
                <a:gd name="T75" fmla="*/ 1 h 2768"/>
                <a:gd name="T76" fmla="*/ 1 w 1484"/>
                <a:gd name="T77" fmla="*/ 1 h 2768"/>
                <a:gd name="T78" fmla="*/ 1 w 1484"/>
                <a:gd name="T79" fmla="*/ 1 h 2768"/>
                <a:gd name="T80" fmla="*/ 1 w 1484"/>
                <a:gd name="T81" fmla="*/ 1 h 2768"/>
                <a:gd name="T82" fmla="*/ 1 w 1484"/>
                <a:gd name="T83" fmla="*/ 1 h 2768"/>
                <a:gd name="T84" fmla="*/ 1 w 1484"/>
                <a:gd name="T85" fmla="*/ 1 h 2768"/>
                <a:gd name="T86" fmla="*/ 1 w 1484"/>
                <a:gd name="T87" fmla="*/ 1 h 2768"/>
                <a:gd name="T88" fmla="*/ 1 w 1484"/>
                <a:gd name="T89" fmla="*/ 1 h 2768"/>
                <a:gd name="T90" fmla="*/ 1 w 1484"/>
                <a:gd name="T91" fmla="*/ 1 h 2768"/>
                <a:gd name="T92" fmla="*/ 1 w 1484"/>
                <a:gd name="T93" fmla="*/ 1 h 2768"/>
                <a:gd name="T94" fmla="*/ 1 w 1484"/>
                <a:gd name="T95" fmla="*/ 1 h 2768"/>
                <a:gd name="T96" fmla="*/ 1 w 1484"/>
                <a:gd name="T97" fmla="*/ 1 h 2768"/>
                <a:gd name="T98" fmla="*/ 1 w 1484"/>
                <a:gd name="T99" fmla="*/ 1 h 2768"/>
                <a:gd name="T100" fmla="*/ 1 w 1484"/>
                <a:gd name="T101" fmla="*/ 1 h 2768"/>
                <a:gd name="T102" fmla="*/ 1 w 1484"/>
                <a:gd name="T103" fmla="*/ 1 h 2768"/>
                <a:gd name="T104" fmla="*/ 1 w 1484"/>
                <a:gd name="T105" fmla="*/ 1 h 2768"/>
                <a:gd name="T106" fmla="*/ 1 w 1484"/>
                <a:gd name="T107" fmla="*/ 1 h 2768"/>
                <a:gd name="T108" fmla="*/ 1 w 1484"/>
                <a:gd name="T109" fmla="*/ 0 h 276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484"/>
                <a:gd name="T166" fmla="*/ 0 h 2768"/>
                <a:gd name="T167" fmla="*/ 1484 w 1484"/>
                <a:gd name="T168" fmla="*/ 2768 h 276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484" h="2768">
                  <a:moveTo>
                    <a:pt x="0" y="2768"/>
                  </a:moveTo>
                  <a:lnTo>
                    <a:pt x="106" y="2493"/>
                  </a:lnTo>
                  <a:lnTo>
                    <a:pt x="160" y="2356"/>
                  </a:lnTo>
                  <a:lnTo>
                    <a:pt x="213" y="2221"/>
                  </a:lnTo>
                  <a:lnTo>
                    <a:pt x="266" y="2088"/>
                  </a:lnTo>
                  <a:lnTo>
                    <a:pt x="318" y="1956"/>
                  </a:lnTo>
                  <a:lnTo>
                    <a:pt x="371" y="1827"/>
                  </a:lnTo>
                  <a:lnTo>
                    <a:pt x="423" y="1700"/>
                  </a:lnTo>
                  <a:lnTo>
                    <a:pt x="474" y="1578"/>
                  </a:lnTo>
                  <a:lnTo>
                    <a:pt x="500" y="1518"/>
                  </a:lnTo>
                  <a:lnTo>
                    <a:pt x="525" y="1459"/>
                  </a:lnTo>
                  <a:lnTo>
                    <a:pt x="551" y="1400"/>
                  </a:lnTo>
                  <a:lnTo>
                    <a:pt x="576" y="1344"/>
                  </a:lnTo>
                  <a:lnTo>
                    <a:pt x="600" y="1287"/>
                  </a:lnTo>
                  <a:lnTo>
                    <a:pt x="626" y="1233"/>
                  </a:lnTo>
                  <a:lnTo>
                    <a:pt x="650" y="1179"/>
                  </a:lnTo>
                  <a:lnTo>
                    <a:pt x="675" y="1126"/>
                  </a:lnTo>
                  <a:lnTo>
                    <a:pt x="699" y="1075"/>
                  </a:lnTo>
                  <a:lnTo>
                    <a:pt x="723" y="1025"/>
                  </a:lnTo>
                  <a:lnTo>
                    <a:pt x="747" y="977"/>
                  </a:lnTo>
                  <a:lnTo>
                    <a:pt x="771" y="930"/>
                  </a:lnTo>
                  <a:lnTo>
                    <a:pt x="794" y="885"/>
                  </a:lnTo>
                  <a:lnTo>
                    <a:pt x="817" y="842"/>
                  </a:lnTo>
                  <a:lnTo>
                    <a:pt x="830" y="821"/>
                  </a:lnTo>
                  <a:lnTo>
                    <a:pt x="841" y="799"/>
                  </a:lnTo>
                  <a:lnTo>
                    <a:pt x="852" y="778"/>
                  </a:lnTo>
                  <a:lnTo>
                    <a:pt x="863" y="758"/>
                  </a:lnTo>
                  <a:lnTo>
                    <a:pt x="874" y="738"/>
                  </a:lnTo>
                  <a:lnTo>
                    <a:pt x="885" y="718"/>
                  </a:lnTo>
                  <a:lnTo>
                    <a:pt x="908" y="682"/>
                  </a:lnTo>
                  <a:lnTo>
                    <a:pt x="930" y="645"/>
                  </a:lnTo>
                  <a:lnTo>
                    <a:pt x="952" y="609"/>
                  </a:lnTo>
                  <a:lnTo>
                    <a:pt x="974" y="575"/>
                  </a:lnTo>
                  <a:lnTo>
                    <a:pt x="997" y="542"/>
                  </a:lnTo>
                  <a:lnTo>
                    <a:pt x="1018" y="511"/>
                  </a:lnTo>
                  <a:lnTo>
                    <a:pt x="1040" y="480"/>
                  </a:lnTo>
                  <a:lnTo>
                    <a:pt x="1061" y="451"/>
                  </a:lnTo>
                  <a:lnTo>
                    <a:pt x="1081" y="423"/>
                  </a:lnTo>
                  <a:lnTo>
                    <a:pt x="1102" y="396"/>
                  </a:lnTo>
                  <a:lnTo>
                    <a:pt x="1123" y="369"/>
                  </a:lnTo>
                  <a:lnTo>
                    <a:pt x="1145" y="343"/>
                  </a:lnTo>
                  <a:lnTo>
                    <a:pt x="1164" y="319"/>
                  </a:lnTo>
                  <a:lnTo>
                    <a:pt x="1185" y="295"/>
                  </a:lnTo>
                  <a:lnTo>
                    <a:pt x="1205" y="271"/>
                  </a:lnTo>
                  <a:lnTo>
                    <a:pt x="1226" y="250"/>
                  </a:lnTo>
                  <a:lnTo>
                    <a:pt x="1247" y="227"/>
                  </a:lnTo>
                  <a:lnTo>
                    <a:pt x="1266" y="206"/>
                  </a:lnTo>
                  <a:lnTo>
                    <a:pt x="1287" y="186"/>
                  </a:lnTo>
                  <a:lnTo>
                    <a:pt x="1306" y="166"/>
                  </a:lnTo>
                  <a:lnTo>
                    <a:pt x="1327" y="146"/>
                  </a:lnTo>
                  <a:lnTo>
                    <a:pt x="1346" y="126"/>
                  </a:lnTo>
                  <a:lnTo>
                    <a:pt x="1366" y="108"/>
                  </a:lnTo>
                  <a:lnTo>
                    <a:pt x="1405" y="71"/>
                  </a:lnTo>
                  <a:lnTo>
                    <a:pt x="1444" y="35"/>
                  </a:lnTo>
                  <a:lnTo>
                    <a:pt x="148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508" name="Rectangle 102">
              <a:extLst>
                <a:ext uri="{FF2B5EF4-FFF2-40B4-BE49-F238E27FC236}">
                  <a16:creationId xmlns:a16="http://schemas.microsoft.com/office/drawing/2014/main" id="{B5277A98-52DD-440E-9226-F471495235E4}"/>
                </a:ext>
              </a:extLst>
            </p:cNvPr>
            <p:cNvSpPr>
              <a:spLocks noChangeArrowheads="1"/>
            </p:cNvSpPr>
            <p:nvPr/>
          </p:nvSpPr>
          <p:spPr bwMode="auto">
            <a:xfrm>
              <a:off x="1886" y="3283"/>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V</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509" name="Rectangle 103">
              <a:extLst>
                <a:ext uri="{FF2B5EF4-FFF2-40B4-BE49-F238E27FC236}">
                  <a16:creationId xmlns:a16="http://schemas.microsoft.com/office/drawing/2014/main" id="{BD683AD1-21D8-4C24-9A17-BDA2057D9290}"/>
                </a:ext>
              </a:extLst>
            </p:cNvPr>
            <p:cNvSpPr>
              <a:spLocks noChangeArrowheads="1"/>
            </p:cNvSpPr>
            <p:nvPr/>
          </p:nvSpPr>
          <p:spPr bwMode="auto">
            <a:xfrm>
              <a:off x="1969" y="3288"/>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Arial" panose="020B0604020202020204" pitchFamily="34" charset="0"/>
                </a:rPr>
                <a:t>—</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510" name="Rectangle 104">
              <a:extLst>
                <a:ext uri="{FF2B5EF4-FFF2-40B4-BE49-F238E27FC236}">
                  <a16:creationId xmlns:a16="http://schemas.microsoft.com/office/drawing/2014/main" id="{83A51919-ED47-4E16-86A6-ACF38A341A00}"/>
                </a:ext>
              </a:extLst>
            </p:cNvPr>
            <p:cNvSpPr>
              <a:spLocks noChangeArrowheads="1"/>
            </p:cNvSpPr>
            <p:nvPr/>
          </p:nvSpPr>
          <p:spPr bwMode="auto">
            <a:xfrm>
              <a:off x="2050" y="3283"/>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100">
                  <a:solidFill>
                    <a:srgbClr val="000000"/>
                  </a:solidFill>
                  <a:latin typeface="Times New Roman" panose="02020603050405020304" pitchFamily="18" charset="0"/>
                  <a:ea typeface="黑体" panose="02010609060101010101" pitchFamily="49" charset="-122"/>
                </a:rPr>
                <a:t>V</a:t>
              </a:r>
              <a:endParaRPr kumimoji="0" lang="en-US" altLang="zh-CN" sz="4800" b="1">
                <a:solidFill>
                  <a:srgbClr val="000066"/>
                </a:solidFill>
                <a:latin typeface="黑体" panose="02010609060101010101" pitchFamily="49" charset="-122"/>
                <a:ea typeface="黑体" panose="02010609060101010101" pitchFamily="49" charset="-122"/>
              </a:endParaRPr>
            </a:p>
          </p:txBody>
        </p:sp>
        <p:sp>
          <p:nvSpPr>
            <p:cNvPr id="60511" name="Rectangle 105">
              <a:extLst>
                <a:ext uri="{FF2B5EF4-FFF2-40B4-BE49-F238E27FC236}">
                  <a16:creationId xmlns:a16="http://schemas.microsoft.com/office/drawing/2014/main" id="{B777198F-770F-4347-B724-46E6EA1224ED}"/>
                </a:ext>
              </a:extLst>
            </p:cNvPr>
            <p:cNvSpPr>
              <a:spLocks noChangeArrowheads="1"/>
            </p:cNvSpPr>
            <p:nvPr/>
          </p:nvSpPr>
          <p:spPr bwMode="auto">
            <a:xfrm>
              <a:off x="2127" y="3283"/>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100">
                  <a:solidFill>
                    <a:srgbClr val="000000"/>
                  </a:solidFill>
                  <a:latin typeface="Times New Roman" panose="02020603050405020304" pitchFamily="18" charset="0"/>
                  <a:ea typeface="黑体" panose="02010609060101010101" pitchFamily="49" charset="-122"/>
                </a:rPr>
                <a:t> </a:t>
              </a:r>
              <a:endParaRPr kumimoji="0" lang="zh-CN" altLang="en-US" sz="4800" b="1">
                <a:solidFill>
                  <a:srgbClr val="000066"/>
                </a:solidFill>
                <a:latin typeface="黑体" panose="02010609060101010101" pitchFamily="49" charset="-122"/>
                <a:ea typeface="黑体" panose="02010609060101010101" pitchFamily="49" charset="-122"/>
              </a:endParaRPr>
            </a:p>
          </p:txBody>
        </p:sp>
      </p:grpSp>
      <p:sp>
        <p:nvSpPr>
          <p:cNvPr id="462954" name="Rectangle 106">
            <a:extLst>
              <a:ext uri="{FF2B5EF4-FFF2-40B4-BE49-F238E27FC236}">
                <a16:creationId xmlns:a16="http://schemas.microsoft.com/office/drawing/2014/main" id="{8D3B651C-7EE5-4934-8DE3-C2EE1F871E80}"/>
              </a:ext>
            </a:extLst>
          </p:cNvPr>
          <p:cNvSpPr>
            <a:spLocks noChangeArrowheads="1"/>
          </p:cNvSpPr>
          <p:nvPr/>
        </p:nvSpPr>
        <p:spPr bwMode="auto">
          <a:xfrm>
            <a:off x="4930775" y="5084763"/>
            <a:ext cx="4033838"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zh-CN" altLang="en-US" b="1">
                <a:solidFill>
                  <a:srgbClr val="000066"/>
                </a:solidFill>
              </a:rPr>
              <a:t>结电压随温度变化十分灵敏，常用来精确测温和控温</a:t>
            </a:r>
            <a:endParaRPr lang="zh-CN" altLang="en-US">
              <a:cs typeface="Times New Roman" panose="02020603050405020304" pitchFamily="18" charset="0"/>
            </a:endParaRPr>
          </a:p>
        </p:txBody>
      </p:sp>
    </p:spTree>
    <p:extLst>
      <p:ext uri="{BB962C8B-B14F-4D97-AF65-F5344CB8AC3E}">
        <p14:creationId xmlns:p14="http://schemas.microsoft.com/office/powerpoint/2010/main" val="670575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62852"/>
                                        </p:tgtEl>
                                        <p:attrNameLst>
                                          <p:attrName>style.visibility</p:attrName>
                                        </p:attrNameLst>
                                      </p:cBhvr>
                                      <p:to>
                                        <p:strVal val="visible"/>
                                      </p:to>
                                    </p:set>
                                    <p:animEffect transition="in" filter="blinds(horizontal)">
                                      <p:cBhvr>
                                        <p:cTn id="7" dur="500"/>
                                        <p:tgtEl>
                                          <p:spTgt spid="46285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62856"/>
                                        </p:tgtEl>
                                        <p:attrNameLst>
                                          <p:attrName>style.visibility</p:attrName>
                                        </p:attrNameLst>
                                      </p:cBhvr>
                                      <p:to>
                                        <p:strVal val="visible"/>
                                      </p:to>
                                    </p:set>
                                    <p:animEffect transition="in" filter="blinds(horizontal)">
                                      <p:cBhvr>
                                        <p:cTn id="10" dur="500"/>
                                        <p:tgtEl>
                                          <p:spTgt spid="46285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62866"/>
                                        </p:tgtEl>
                                        <p:attrNameLst>
                                          <p:attrName>style.visibility</p:attrName>
                                        </p:attrNameLst>
                                      </p:cBhvr>
                                      <p:to>
                                        <p:strVal val="visible"/>
                                      </p:to>
                                    </p:set>
                                    <p:animEffect transition="in" filter="blinds(horizontal)">
                                      <p:cBhvr>
                                        <p:cTn id="15" dur="500"/>
                                        <p:tgtEl>
                                          <p:spTgt spid="46286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462867"/>
                                        </p:tgtEl>
                                        <p:attrNameLst>
                                          <p:attrName>style.visibility</p:attrName>
                                        </p:attrNameLst>
                                      </p:cBhvr>
                                      <p:to>
                                        <p:strVal val="visible"/>
                                      </p:to>
                                    </p:set>
                                    <p:animEffect transition="in" filter="blinds(horizontal)">
                                      <p:cBhvr>
                                        <p:cTn id="20" dur="500"/>
                                        <p:tgtEl>
                                          <p:spTgt spid="46286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462868"/>
                                        </p:tgtEl>
                                        <p:attrNameLst>
                                          <p:attrName>style.visibility</p:attrName>
                                        </p:attrNameLst>
                                      </p:cBhvr>
                                      <p:to>
                                        <p:strVal val="visible"/>
                                      </p:to>
                                    </p:set>
                                    <p:animEffect transition="in" filter="blinds(horizontal)">
                                      <p:cBhvr>
                                        <p:cTn id="25" dur="500"/>
                                        <p:tgtEl>
                                          <p:spTgt spid="46286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62869"/>
                                        </p:tgtEl>
                                        <p:attrNameLst>
                                          <p:attrName>style.visibility</p:attrName>
                                        </p:attrNameLst>
                                      </p:cBhvr>
                                      <p:to>
                                        <p:strVal val="visible"/>
                                      </p:to>
                                    </p:set>
                                    <p:animEffect transition="in" filter="blinds(horizontal)">
                                      <p:cBhvr>
                                        <p:cTn id="30" dur="500"/>
                                        <p:tgtEl>
                                          <p:spTgt spid="46286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462870"/>
                                        </p:tgtEl>
                                        <p:attrNameLst>
                                          <p:attrName>style.visibility</p:attrName>
                                        </p:attrNameLst>
                                      </p:cBhvr>
                                      <p:to>
                                        <p:strVal val="visible"/>
                                      </p:to>
                                    </p:set>
                                    <p:animEffect transition="in" filter="blinds(horizontal)">
                                      <p:cBhvr>
                                        <p:cTn id="35" dur="500"/>
                                        <p:tgtEl>
                                          <p:spTgt spid="46287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462871"/>
                                        </p:tgtEl>
                                        <p:attrNameLst>
                                          <p:attrName>style.visibility</p:attrName>
                                        </p:attrNameLst>
                                      </p:cBhvr>
                                      <p:to>
                                        <p:strVal val="visible"/>
                                      </p:to>
                                    </p:set>
                                    <p:animEffect transition="in" filter="blinds(horizontal)">
                                      <p:cBhvr>
                                        <p:cTn id="40" dur="500"/>
                                        <p:tgtEl>
                                          <p:spTgt spid="46287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blinds(horizontal)">
                                      <p:cBhvr>
                                        <p:cTn id="45" dur="500"/>
                                        <p:tgtEl>
                                          <p:spTgt spid="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462954"/>
                                        </p:tgtEl>
                                        <p:attrNameLst>
                                          <p:attrName>style.visibility</p:attrName>
                                        </p:attrNameLst>
                                      </p:cBhvr>
                                      <p:to>
                                        <p:strVal val="visible"/>
                                      </p:to>
                                    </p:set>
                                    <p:animEffect transition="in" filter="blinds(horizontal)">
                                      <p:cBhvr>
                                        <p:cTn id="50" dur="500"/>
                                        <p:tgtEl>
                                          <p:spTgt spid="462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6" grpId="0"/>
      <p:bldP spid="462866" grpId="0"/>
      <p:bldP spid="462869" grpId="0"/>
      <p:bldP spid="46295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8" name="Object 4">
            <a:extLst>
              <a:ext uri="{FF2B5EF4-FFF2-40B4-BE49-F238E27FC236}">
                <a16:creationId xmlns:a16="http://schemas.microsoft.com/office/drawing/2014/main" id="{D8E5327D-CA6C-4A8A-93F7-909E4E2A4496}"/>
              </a:ext>
            </a:extLst>
          </p:cNvPr>
          <p:cNvGraphicFramePr>
            <a:graphicFrameLocks noGrp="1" noChangeAspect="1"/>
          </p:cNvGraphicFramePr>
          <p:nvPr>
            <p:ph idx="1"/>
            <p:extLst>
              <p:ext uri="{D42A27DB-BD31-4B8C-83A1-F6EECF244321}">
                <p14:modId xmlns:p14="http://schemas.microsoft.com/office/powerpoint/2010/main" val="2210390242"/>
              </p:ext>
            </p:extLst>
          </p:nvPr>
        </p:nvGraphicFramePr>
        <p:xfrm>
          <a:off x="1566069" y="2525316"/>
          <a:ext cx="2016125" cy="719137"/>
        </p:xfrm>
        <a:graphic>
          <a:graphicData uri="http://schemas.openxmlformats.org/presentationml/2006/ole">
            <mc:AlternateContent xmlns:mc="http://schemas.openxmlformats.org/markup-compatibility/2006">
              <mc:Choice xmlns:v="urn:schemas-microsoft-com:vml" Requires="v">
                <p:oleObj spid="_x0000_s52409" name="Equation" r:id="rId3" imgW="1282680" imgH="457200" progId="Equation.DSMT4">
                  <p:embed/>
                </p:oleObj>
              </mc:Choice>
              <mc:Fallback>
                <p:oleObj name="Equation" r:id="rId3" imgW="1282680" imgH="457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069" y="2525316"/>
                        <a:ext cx="2016125"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6" name="Rectangle 12">
            <a:extLst>
              <a:ext uri="{FF2B5EF4-FFF2-40B4-BE49-F238E27FC236}">
                <a16:creationId xmlns:a16="http://schemas.microsoft.com/office/drawing/2014/main" id="{DE922ECB-6000-4580-A12A-4711CB2A5051}"/>
              </a:ext>
            </a:extLst>
          </p:cNvPr>
          <p:cNvSpPr>
            <a:spLocks noGrp="1" noChangeArrowheads="1"/>
          </p:cNvSpPr>
          <p:nvPr>
            <p:ph type="body" idx="4294967295"/>
          </p:nvPr>
        </p:nvSpPr>
        <p:spPr>
          <a:xfrm>
            <a:off x="526112" y="642144"/>
            <a:ext cx="6342063" cy="690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p>
            <a:pPr>
              <a:spcBef>
                <a:spcPct val="0"/>
              </a:spcBef>
              <a:buNone/>
            </a:pPr>
            <a:r>
              <a:rPr lang="en-US" altLang="zh-CN" sz="2000" b="1" dirty="0">
                <a:solidFill>
                  <a:srgbClr val="FF3300"/>
                </a:solidFill>
                <a:latin typeface="宋体" panose="02010600030101010101" pitchFamily="2" charset="-122"/>
                <a:ea typeface="宋体" panose="02010600030101010101" pitchFamily="2" charset="-122"/>
                <a:cs typeface="+mj-cs"/>
              </a:rPr>
              <a:t>2. PN</a:t>
            </a:r>
            <a:r>
              <a:rPr lang="zh-CN" altLang="en-US" sz="2000" b="1" dirty="0">
                <a:solidFill>
                  <a:srgbClr val="FF3300"/>
                </a:solidFill>
                <a:latin typeface="宋体" panose="02010600030101010101" pitchFamily="2" charset="-122"/>
                <a:ea typeface="宋体" panose="02010600030101010101" pitchFamily="2" charset="-122"/>
                <a:cs typeface="+mj-cs"/>
              </a:rPr>
              <a:t>结两边杂质浓度与正向电流的关系</a:t>
            </a:r>
          </a:p>
        </p:txBody>
      </p:sp>
      <p:graphicFrame>
        <p:nvGraphicFramePr>
          <p:cNvPr id="52232" name="Object 8">
            <a:extLst>
              <a:ext uri="{FF2B5EF4-FFF2-40B4-BE49-F238E27FC236}">
                <a16:creationId xmlns:a16="http://schemas.microsoft.com/office/drawing/2014/main" id="{9B37F80C-8B36-43DB-8FB4-85833F15D568}"/>
              </a:ext>
            </a:extLst>
          </p:cNvPr>
          <p:cNvGraphicFramePr>
            <a:graphicFrameLocks noGrp="1" noChangeAspect="1"/>
          </p:cNvGraphicFramePr>
          <p:nvPr>
            <p:ph sz="half" idx="4294967295"/>
            <p:extLst>
              <p:ext uri="{D42A27DB-BD31-4B8C-83A1-F6EECF244321}">
                <p14:modId xmlns:p14="http://schemas.microsoft.com/office/powerpoint/2010/main" val="2948100164"/>
              </p:ext>
            </p:extLst>
          </p:nvPr>
        </p:nvGraphicFramePr>
        <p:xfrm>
          <a:off x="1403648" y="4478737"/>
          <a:ext cx="2016125" cy="733425"/>
        </p:xfrm>
        <a:graphic>
          <a:graphicData uri="http://schemas.openxmlformats.org/presentationml/2006/ole">
            <mc:AlternateContent xmlns:mc="http://schemas.openxmlformats.org/markup-compatibility/2006">
              <mc:Choice xmlns:v="urn:schemas-microsoft-com:vml" Requires="v">
                <p:oleObj spid="_x0000_s52410" name="Equation" r:id="rId5" imgW="1257120" imgH="457200" progId="Equation.DSMT4">
                  <p:embed/>
                </p:oleObj>
              </mc:Choice>
              <mc:Fallback>
                <p:oleObj name="Equation" r:id="rId5" imgW="1257120" imgH="4572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648" y="4478737"/>
                        <a:ext cx="2016125"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0" name="Text Box 6">
            <a:extLst>
              <a:ext uri="{FF2B5EF4-FFF2-40B4-BE49-F238E27FC236}">
                <a16:creationId xmlns:a16="http://schemas.microsoft.com/office/drawing/2014/main" id="{EC807FDE-04BC-433E-9C30-518F77BF3641}"/>
              </a:ext>
            </a:extLst>
          </p:cNvPr>
          <p:cNvSpPr txBox="1">
            <a:spLocks noChangeArrowheads="1"/>
          </p:cNvSpPr>
          <p:nvPr/>
        </p:nvSpPr>
        <p:spPr bwMode="auto">
          <a:xfrm>
            <a:off x="456735" y="1788561"/>
            <a:ext cx="4608513"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400" dirty="0">
                <a:latin typeface="Times New Roman" panose="02020603050405020304" pitchFamily="18" charset="0"/>
                <a:ea typeface="宋体" panose="02010600030101010101" pitchFamily="2" charset="-122"/>
              </a:rPr>
              <a:t>P</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结的正向电流公式简化为</a:t>
            </a:r>
            <a:r>
              <a:rPr lang="en-US" altLang="zh-CN" sz="2400" dirty="0">
                <a:latin typeface="Times New Roman" panose="02020603050405020304" pitchFamily="18" charset="0"/>
                <a:ea typeface="宋体" panose="02010600030101010101" pitchFamily="2" charset="-122"/>
              </a:rPr>
              <a:t>:</a:t>
            </a:r>
          </a:p>
        </p:txBody>
      </p:sp>
      <p:sp>
        <p:nvSpPr>
          <p:cNvPr id="52231" name="Text Box 7">
            <a:extLst>
              <a:ext uri="{FF2B5EF4-FFF2-40B4-BE49-F238E27FC236}">
                <a16:creationId xmlns:a16="http://schemas.microsoft.com/office/drawing/2014/main" id="{7F100D45-81AB-412B-9E52-5CADDC9A4B73}"/>
              </a:ext>
            </a:extLst>
          </p:cNvPr>
          <p:cNvSpPr txBox="1">
            <a:spLocks noChangeArrowheads="1"/>
          </p:cNvSpPr>
          <p:nvPr/>
        </p:nvSpPr>
        <p:spPr bwMode="auto">
          <a:xfrm>
            <a:off x="456735" y="3628871"/>
            <a:ext cx="4537075"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400" dirty="0">
                <a:latin typeface="Times New Roman" panose="02020603050405020304" pitchFamily="18" charset="0"/>
                <a:ea typeface="宋体" panose="02010600030101010101" pitchFamily="2" charset="-122"/>
              </a:rPr>
              <a:t>PN+</a:t>
            </a:r>
            <a:r>
              <a:rPr lang="zh-CN" altLang="en-US" sz="2400" dirty="0">
                <a:latin typeface="Times New Roman" panose="02020603050405020304" pitchFamily="18" charset="0"/>
                <a:ea typeface="宋体" panose="02010600030101010101" pitchFamily="2" charset="-122"/>
              </a:rPr>
              <a:t>结的正向电流公式简化为</a:t>
            </a:r>
            <a:r>
              <a:rPr lang="en-US" altLang="zh-CN" sz="2400" dirty="0">
                <a:latin typeface="Times New Roman" panose="02020603050405020304" pitchFamily="18" charset="0"/>
                <a:ea typeface="宋体" panose="02010600030101010101" pitchFamily="2" charset="-122"/>
              </a:rPr>
              <a:t>:</a:t>
            </a:r>
          </a:p>
        </p:txBody>
      </p:sp>
      <p:pic>
        <p:nvPicPr>
          <p:cNvPr id="52234" name="Picture 10" descr="0216">
            <a:extLst>
              <a:ext uri="{FF2B5EF4-FFF2-40B4-BE49-F238E27FC236}">
                <a16:creationId xmlns:a16="http://schemas.microsoft.com/office/drawing/2014/main" id="{556F879E-311C-4D0C-9B6B-2D3C953D51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5082" y="1611712"/>
            <a:ext cx="3563937" cy="3233737"/>
          </a:xfrm>
          <a:prstGeom prst="rect">
            <a:avLst/>
          </a:prstGeom>
          <a:noFill/>
          <a:extLst>
            <a:ext uri="{909E8E84-426E-40DD-AFC4-6F175D3DCCD1}">
              <a14:hiddenFill xmlns:a14="http://schemas.microsoft.com/office/drawing/2010/main">
                <a:solidFill>
                  <a:srgbClr val="FFFFFF"/>
                </a:solidFill>
              </a14:hiddenFill>
            </a:ext>
          </a:extLst>
        </p:spPr>
      </p:pic>
      <p:sp>
        <p:nvSpPr>
          <p:cNvPr id="52235" name="Text Box 11">
            <a:extLst>
              <a:ext uri="{FF2B5EF4-FFF2-40B4-BE49-F238E27FC236}">
                <a16:creationId xmlns:a16="http://schemas.microsoft.com/office/drawing/2014/main" id="{55EC0545-EFE3-4DCA-800B-E363DFE35344}"/>
              </a:ext>
            </a:extLst>
          </p:cNvPr>
          <p:cNvSpPr txBox="1">
            <a:spLocks noChangeArrowheads="1"/>
          </p:cNvSpPr>
          <p:nvPr/>
        </p:nvSpPr>
        <p:spPr bwMode="auto">
          <a:xfrm>
            <a:off x="4572000" y="5212162"/>
            <a:ext cx="4319588"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a:latin typeface="Times New Roman" panose="02020603050405020304" pitchFamily="18" charset="0"/>
                <a:ea typeface="宋体" panose="02010600030101010101" pitchFamily="2" charset="-122"/>
              </a:rPr>
              <a:t>高阻区杂质浓度对</a:t>
            </a:r>
            <a:r>
              <a:rPr lang="en-US" altLang="zh-CN">
                <a:latin typeface="Times New Roman" panose="02020603050405020304" pitchFamily="18" charset="0"/>
                <a:ea typeface="宋体" panose="02010600030101010101" pitchFamily="2" charset="-122"/>
              </a:rPr>
              <a:t>PN</a:t>
            </a:r>
            <a:r>
              <a:rPr lang="zh-CN" altLang="en-US">
                <a:latin typeface="Times New Roman" panose="02020603050405020304" pitchFamily="18" charset="0"/>
                <a:ea typeface="宋体" panose="02010600030101010101" pitchFamily="2" charset="-122"/>
              </a:rPr>
              <a:t>结正向电流的影响</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a:extLst>
              <a:ext uri="{FF2B5EF4-FFF2-40B4-BE49-F238E27FC236}">
                <a16:creationId xmlns:a16="http://schemas.microsoft.com/office/drawing/2014/main" id="{E62182C0-1F2F-4A5A-A00C-D524FCF559A9}"/>
              </a:ext>
            </a:extLst>
          </p:cNvPr>
          <p:cNvSpPr>
            <a:spLocks noGrp="1" noChangeArrowheads="1"/>
          </p:cNvSpPr>
          <p:nvPr>
            <p:ph type="body" sz="half" idx="1"/>
          </p:nvPr>
        </p:nvSpPr>
        <p:spPr>
          <a:xfrm>
            <a:off x="684213" y="963069"/>
            <a:ext cx="5405437" cy="4746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p>
            <a:pPr>
              <a:spcBef>
                <a:spcPct val="0"/>
              </a:spcBef>
              <a:buNone/>
            </a:pPr>
            <a:r>
              <a:rPr lang="en-US" altLang="zh-CN" sz="2000" b="1" dirty="0">
                <a:solidFill>
                  <a:srgbClr val="FF3300"/>
                </a:solidFill>
                <a:latin typeface="宋体" panose="02010600030101010101" pitchFamily="2" charset="-122"/>
                <a:ea typeface="宋体" panose="02010600030101010101" pitchFamily="2" charset="-122"/>
                <a:cs typeface="+mj-cs"/>
              </a:rPr>
              <a:t>3. </a:t>
            </a:r>
            <a:r>
              <a:rPr lang="zh-CN" altLang="en-US" sz="2000" b="1" dirty="0">
                <a:solidFill>
                  <a:srgbClr val="FF3300"/>
                </a:solidFill>
                <a:latin typeface="宋体" panose="02010600030101010101" pitchFamily="2" charset="-122"/>
                <a:ea typeface="宋体" panose="02010600030101010101" pitchFamily="2" charset="-122"/>
                <a:cs typeface="+mj-cs"/>
              </a:rPr>
              <a:t>扩散长度与正向电流的关系</a:t>
            </a:r>
          </a:p>
        </p:txBody>
      </p:sp>
      <p:graphicFrame>
        <p:nvGraphicFramePr>
          <p:cNvPr id="56328" name="Object 8">
            <a:extLst>
              <a:ext uri="{FF2B5EF4-FFF2-40B4-BE49-F238E27FC236}">
                <a16:creationId xmlns:a16="http://schemas.microsoft.com/office/drawing/2014/main" id="{AE02EBB8-5AEC-4592-AC0E-A58117B35F72}"/>
              </a:ext>
            </a:extLst>
          </p:cNvPr>
          <p:cNvGraphicFramePr>
            <a:graphicFrameLocks noGrp="1" noChangeAspect="1"/>
          </p:cNvGraphicFramePr>
          <p:nvPr>
            <p:ph sz="quarter" idx="3"/>
            <p:extLst>
              <p:ext uri="{D42A27DB-BD31-4B8C-83A1-F6EECF244321}">
                <p14:modId xmlns:p14="http://schemas.microsoft.com/office/powerpoint/2010/main" val="450935642"/>
              </p:ext>
            </p:extLst>
          </p:nvPr>
        </p:nvGraphicFramePr>
        <p:xfrm>
          <a:off x="1115218" y="3040896"/>
          <a:ext cx="2016125" cy="631825"/>
        </p:xfrm>
        <a:graphic>
          <a:graphicData uri="http://schemas.openxmlformats.org/presentationml/2006/ole">
            <mc:AlternateContent xmlns:mc="http://schemas.openxmlformats.org/markup-compatibility/2006">
              <mc:Choice xmlns:v="urn:schemas-microsoft-com:vml" Requires="v">
                <p:oleObj spid="_x0000_s56572" name="Equation" r:id="rId3" imgW="1257120" imgH="393480" progId="Equation.DSMT4">
                  <p:embed/>
                </p:oleObj>
              </mc:Choice>
              <mc:Fallback>
                <p:oleObj name="Equation" r:id="rId3" imgW="1257120" imgH="39348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218" y="3040896"/>
                        <a:ext cx="2016125"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27" name="Text Box 7">
            <a:extLst>
              <a:ext uri="{FF2B5EF4-FFF2-40B4-BE49-F238E27FC236}">
                <a16:creationId xmlns:a16="http://schemas.microsoft.com/office/drawing/2014/main" id="{C17D71F0-6E1F-43BD-91EB-0F55AD920C83}"/>
              </a:ext>
            </a:extLst>
          </p:cNvPr>
          <p:cNvSpPr txBox="1">
            <a:spLocks noChangeArrowheads="1"/>
          </p:cNvSpPr>
          <p:nvPr/>
        </p:nvSpPr>
        <p:spPr bwMode="auto">
          <a:xfrm>
            <a:off x="467544" y="2281216"/>
            <a:ext cx="4824412"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400">
                <a:latin typeface="Times New Roman" panose="02020603050405020304" pitchFamily="18" charset="0"/>
                <a:ea typeface="宋体" panose="02010600030101010101" pitchFamily="2" charset="-122"/>
              </a:rPr>
              <a:t>对于</a:t>
            </a:r>
            <a:r>
              <a:rPr lang="en-US" altLang="zh-CN" sz="2400">
                <a:latin typeface="Times New Roman" panose="02020603050405020304" pitchFamily="18" charset="0"/>
                <a:ea typeface="宋体" panose="02010600030101010101" pitchFamily="2" charset="-122"/>
              </a:rPr>
              <a:t>W&lt;L</a:t>
            </a:r>
            <a:r>
              <a:rPr lang="zh-CN" altLang="en-US" sz="2400">
                <a:latin typeface="Times New Roman" panose="02020603050405020304" pitchFamily="18" charset="0"/>
                <a:ea typeface="宋体" panose="02010600030101010101" pitchFamily="2" charset="-122"/>
              </a:rPr>
              <a:t>情况，</a:t>
            </a:r>
            <a:r>
              <a:rPr lang="en-US" altLang="zh-CN" sz="2400">
                <a:latin typeface="Times New Roman" panose="02020603050405020304" pitchFamily="18" charset="0"/>
                <a:ea typeface="宋体" panose="02010600030101010101" pitchFamily="2" charset="-122"/>
              </a:rPr>
              <a:t>P</a:t>
            </a:r>
            <a:r>
              <a:rPr lang="en-US" altLang="zh-CN" sz="2400" baseline="300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N</a:t>
            </a:r>
            <a:r>
              <a:rPr lang="zh-CN" altLang="en-US" sz="2400">
                <a:latin typeface="Times New Roman" panose="02020603050405020304" pitchFamily="18" charset="0"/>
                <a:ea typeface="宋体" panose="02010600030101010101" pitchFamily="2" charset="-122"/>
              </a:rPr>
              <a:t>结的正向电流</a:t>
            </a:r>
          </a:p>
        </p:txBody>
      </p:sp>
      <p:sp>
        <p:nvSpPr>
          <p:cNvPr id="56331" name="Text Box 11">
            <a:extLst>
              <a:ext uri="{FF2B5EF4-FFF2-40B4-BE49-F238E27FC236}">
                <a16:creationId xmlns:a16="http://schemas.microsoft.com/office/drawing/2014/main" id="{C0ABE4FA-B57A-402C-9270-788A86069E3C}"/>
              </a:ext>
            </a:extLst>
          </p:cNvPr>
          <p:cNvSpPr txBox="1">
            <a:spLocks noChangeArrowheads="1"/>
          </p:cNvSpPr>
          <p:nvPr/>
        </p:nvSpPr>
        <p:spPr bwMode="auto">
          <a:xfrm>
            <a:off x="485559" y="4093475"/>
            <a:ext cx="2735263"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400" dirty="0">
                <a:latin typeface="Times New Roman" panose="02020603050405020304" pitchFamily="18" charset="0"/>
                <a:ea typeface="宋体" panose="02010600030101010101" pitchFamily="2" charset="-122"/>
              </a:rPr>
              <a:t>PN</a:t>
            </a:r>
            <a:r>
              <a:rPr lang="en-US" altLang="zh-CN" sz="2400" baseline="300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结的正向电流</a:t>
            </a:r>
          </a:p>
        </p:txBody>
      </p:sp>
      <p:graphicFrame>
        <p:nvGraphicFramePr>
          <p:cNvPr id="56332" name="Object 12">
            <a:extLst>
              <a:ext uri="{FF2B5EF4-FFF2-40B4-BE49-F238E27FC236}">
                <a16:creationId xmlns:a16="http://schemas.microsoft.com/office/drawing/2014/main" id="{5F905BA0-E3E7-4E87-B129-D20E8A460414}"/>
              </a:ext>
            </a:extLst>
          </p:cNvPr>
          <p:cNvGraphicFramePr>
            <a:graphicFrameLocks noChangeAspect="1"/>
          </p:cNvGraphicFramePr>
          <p:nvPr>
            <p:extLst>
              <p:ext uri="{D42A27DB-BD31-4B8C-83A1-F6EECF244321}">
                <p14:modId xmlns:p14="http://schemas.microsoft.com/office/powerpoint/2010/main" val="3989325311"/>
              </p:ext>
            </p:extLst>
          </p:nvPr>
        </p:nvGraphicFramePr>
        <p:xfrm>
          <a:off x="1115218" y="4582402"/>
          <a:ext cx="1728787" cy="665163"/>
        </p:xfrm>
        <a:graphic>
          <a:graphicData uri="http://schemas.openxmlformats.org/presentationml/2006/ole">
            <mc:AlternateContent xmlns:mc="http://schemas.openxmlformats.org/markup-compatibility/2006">
              <mc:Choice xmlns:v="urn:schemas-microsoft-com:vml" Requires="v">
                <p:oleObj spid="_x0000_s56573" name="Equation" r:id="rId5" imgW="1257120" imgH="393480" progId="Equation.DSMT4">
                  <p:embed/>
                </p:oleObj>
              </mc:Choice>
              <mc:Fallback>
                <p:oleObj name="Equation" r:id="rId5" imgW="1257120" imgH="39348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5218" y="4582402"/>
                        <a:ext cx="1728787" cy="66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6333" name="Picture 13" descr="0217">
            <a:extLst>
              <a:ext uri="{FF2B5EF4-FFF2-40B4-BE49-F238E27FC236}">
                <a16:creationId xmlns:a16="http://schemas.microsoft.com/office/drawing/2014/main" id="{8F376708-5AB6-427A-9F8F-E1E586601D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05249" y="3397334"/>
            <a:ext cx="5078413" cy="1276350"/>
          </a:xfrm>
          <a:prstGeom prst="rect">
            <a:avLst/>
          </a:prstGeom>
          <a:noFill/>
          <a:extLst>
            <a:ext uri="{909E8E84-426E-40DD-AFC4-6F175D3DCCD1}">
              <a14:hiddenFill xmlns:a14="http://schemas.microsoft.com/office/drawing/2010/main">
                <a:solidFill>
                  <a:srgbClr val="FFFFFF"/>
                </a:solidFill>
              </a14:hiddenFill>
            </a:ext>
          </a:extLst>
        </p:spPr>
      </p:pic>
      <p:sp>
        <p:nvSpPr>
          <p:cNvPr id="56334" name="Text Box 14">
            <a:extLst>
              <a:ext uri="{FF2B5EF4-FFF2-40B4-BE49-F238E27FC236}">
                <a16:creationId xmlns:a16="http://schemas.microsoft.com/office/drawing/2014/main" id="{FD3BD230-389F-421A-A76A-4967151F7AB0}"/>
              </a:ext>
            </a:extLst>
          </p:cNvPr>
          <p:cNvSpPr txBox="1">
            <a:spLocks noChangeArrowheads="1"/>
          </p:cNvSpPr>
          <p:nvPr/>
        </p:nvSpPr>
        <p:spPr bwMode="auto">
          <a:xfrm>
            <a:off x="4500561" y="5138277"/>
            <a:ext cx="3887787"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dirty="0">
                <a:latin typeface="Times New Roman" panose="02020603050405020304" pitchFamily="18" charset="0"/>
                <a:ea typeface="宋体" panose="02010600030101010101" pitchFamily="2" charset="-122"/>
              </a:rPr>
              <a:t>扩散长度</a:t>
            </a:r>
            <a:r>
              <a:rPr lang="en-US" altLang="zh-CN" dirty="0">
                <a:latin typeface="Times New Roman" panose="02020603050405020304" pitchFamily="18" charset="0"/>
                <a:ea typeface="宋体" panose="02010600030101010101" pitchFamily="2" charset="-122"/>
              </a:rPr>
              <a:t>L&gt;W</a:t>
            </a:r>
            <a:r>
              <a:rPr lang="zh-CN" altLang="en-US" dirty="0">
                <a:latin typeface="Times New Roman" panose="02020603050405020304" pitchFamily="18" charset="0"/>
                <a:ea typeface="宋体" panose="02010600030101010101" pitchFamily="2" charset="-122"/>
              </a:rPr>
              <a:t>的示意图</a:t>
            </a:r>
          </a:p>
        </p:txBody>
      </p:sp>
      <p:sp>
        <p:nvSpPr>
          <p:cNvPr id="3" name="内容占位符 2">
            <a:extLst>
              <a:ext uri="{FF2B5EF4-FFF2-40B4-BE49-F238E27FC236}">
                <a16:creationId xmlns:a16="http://schemas.microsoft.com/office/drawing/2014/main" id="{556D1BE1-C004-48BB-931D-0BFA6BB7D5DC}"/>
              </a:ext>
            </a:extLst>
          </p:cNvPr>
          <p:cNvSpPr>
            <a:spLocks noGrp="1"/>
          </p:cNvSpPr>
          <p:nvPr>
            <p:ph sz="quarter" idx="2"/>
          </p:nvPr>
        </p:nvSpPr>
        <p:spPr/>
        <p:txBody>
          <a:bodyPr/>
          <a:lstStyle/>
          <a:p>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a:extLst>
              <a:ext uri="{FF2B5EF4-FFF2-40B4-BE49-F238E27FC236}">
                <a16:creationId xmlns:a16="http://schemas.microsoft.com/office/drawing/2014/main" id="{D459D758-5BCF-405E-86B3-142110BACE6D}"/>
              </a:ext>
            </a:extLst>
          </p:cNvPr>
          <p:cNvSpPr>
            <a:spLocks noGrp="1" noChangeArrowheads="1"/>
          </p:cNvSpPr>
          <p:nvPr>
            <p:ph idx="1"/>
          </p:nvPr>
        </p:nvSpPr>
        <p:spPr>
          <a:xfrm>
            <a:off x="1403648" y="764704"/>
            <a:ext cx="5621337" cy="835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p>
            <a:pPr>
              <a:spcBef>
                <a:spcPct val="0"/>
              </a:spcBef>
              <a:buNone/>
            </a:pPr>
            <a:r>
              <a:rPr lang="en-US" altLang="zh-CN" sz="2000" b="1" dirty="0">
                <a:solidFill>
                  <a:srgbClr val="FF3300"/>
                </a:solidFill>
                <a:latin typeface="宋体" panose="02010600030101010101" pitchFamily="2" charset="-122"/>
                <a:ea typeface="宋体" panose="02010600030101010101" pitchFamily="2" charset="-122"/>
                <a:cs typeface="+mj-cs"/>
              </a:rPr>
              <a:t>3. </a:t>
            </a:r>
            <a:r>
              <a:rPr lang="zh-CN" altLang="en-US" sz="2000" b="1" dirty="0">
                <a:solidFill>
                  <a:srgbClr val="FF3300"/>
                </a:solidFill>
                <a:latin typeface="宋体" panose="02010600030101010101" pitchFamily="2" charset="-122"/>
                <a:ea typeface="宋体" panose="02010600030101010101" pitchFamily="2" charset="-122"/>
                <a:cs typeface="+mj-cs"/>
              </a:rPr>
              <a:t>半导体禁带宽度对正向电流的影响</a:t>
            </a:r>
          </a:p>
          <a:p>
            <a:pPr>
              <a:spcBef>
                <a:spcPct val="0"/>
              </a:spcBef>
              <a:buNone/>
            </a:pPr>
            <a:r>
              <a:rPr lang="zh-CN" altLang="en-US" sz="2000" b="1" dirty="0">
                <a:solidFill>
                  <a:srgbClr val="FF3300"/>
                </a:solidFill>
                <a:latin typeface="宋体" panose="02010600030101010101" pitchFamily="2" charset="-122"/>
                <a:ea typeface="宋体" panose="02010600030101010101" pitchFamily="2" charset="-122"/>
                <a:cs typeface="+mj-cs"/>
              </a:rPr>
              <a:t>	禁带宽度愈小，</a:t>
            </a:r>
            <a:r>
              <a:rPr lang="en-US" altLang="zh-CN" sz="2000" b="1" dirty="0">
                <a:solidFill>
                  <a:srgbClr val="FF3300"/>
                </a:solidFill>
                <a:latin typeface="宋体" panose="02010600030101010101" pitchFamily="2" charset="-122"/>
                <a:ea typeface="宋体" panose="02010600030101010101" pitchFamily="2" charset="-122"/>
                <a:cs typeface="+mj-cs"/>
              </a:rPr>
              <a:t>n</a:t>
            </a:r>
            <a:r>
              <a:rPr lang="en-US" altLang="zh-CN" sz="2000" b="1" baseline="30000" dirty="0">
                <a:solidFill>
                  <a:srgbClr val="FF3300"/>
                </a:solidFill>
                <a:latin typeface="宋体" panose="02010600030101010101" pitchFamily="2" charset="-122"/>
                <a:ea typeface="宋体" panose="02010600030101010101" pitchFamily="2" charset="-122"/>
                <a:cs typeface="+mj-cs"/>
              </a:rPr>
              <a:t>2</a:t>
            </a:r>
            <a:r>
              <a:rPr lang="en-US" altLang="zh-CN" sz="2000" b="1" baseline="-25000" dirty="0">
                <a:solidFill>
                  <a:srgbClr val="FF3300"/>
                </a:solidFill>
                <a:latin typeface="宋体" panose="02010600030101010101" pitchFamily="2" charset="-122"/>
                <a:ea typeface="宋体" panose="02010600030101010101" pitchFamily="2" charset="-122"/>
                <a:cs typeface="+mj-cs"/>
              </a:rPr>
              <a:t>i</a:t>
            </a:r>
            <a:r>
              <a:rPr lang="en-US" altLang="zh-CN" sz="2000" b="1" dirty="0">
                <a:solidFill>
                  <a:srgbClr val="FF3300"/>
                </a:solidFill>
                <a:latin typeface="宋体" panose="02010600030101010101" pitchFamily="2" charset="-122"/>
                <a:ea typeface="宋体" panose="02010600030101010101" pitchFamily="2" charset="-122"/>
                <a:cs typeface="+mj-cs"/>
              </a:rPr>
              <a:t> </a:t>
            </a:r>
            <a:r>
              <a:rPr lang="zh-CN" altLang="en-US" sz="2000" b="1" dirty="0">
                <a:solidFill>
                  <a:srgbClr val="FF3300"/>
                </a:solidFill>
                <a:latin typeface="宋体" panose="02010600030101010101" pitchFamily="2" charset="-122"/>
                <a:ea typeface="宋体" panose="02010600030101010101" pitchFamily="2" charset="-122"/>
                <a:cs typeface="+mj-cs"/>
              </a:rPr>
              <a:t>愈大</a:t>
            </a:r>
          </a:p>
        </p:txBody>
      </p:sp>
      <p:pic>
        <p:nvPicPr>
          <p:cNvPr id="59396" name="Picture 4" descr="0218">
            <a:extLst>
              <a:ext uri="{FF2B5EF4-FFF2-40B4-BE49-F238E27FC236}">
                <a16:creationId xmlns:a16="http://schemas.microsoft.com/office/drawing/2014/main" id="{9F6E2B79-DA79-460E-BFF0-12C1B6F4F3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924175"/>
            <a:ext cx="3455987" cy="3235325"/>
          </a:xfrm>
          <a:prstGeom prst="rect">
            <a:avLst/>
          </a:prstGeom>
          <a:noFill/>
          <a:extLst>
            <a:ext uri="{909E8E84-426E-40DD-AFC4-6F175D3DCCD1}">
              <a14:hiddenFill xmlns:a14="http://schemas.microsoft.com/office/drawing/2010/main">
                <a:solidFill>
                  <a:srgbClr val="FFFFFF"/>
                </a:solidFill>
              </a14:hiddenFill>
            </a:ext>
          </a:extLst>
        </p:spPr>
      </p:pic>
      <p:sp>
        <p:nvSpPr>
          <p:cNvPr id="59397" name="Text Box 5">
            <a:extLst>
              <a:ext uri="{FF2B5EF4-FFF2-40B4-BE49-F238E27FC236}">
                <a16:creationId xmlns:a16="http://schemas.microsoft.com/office/drawing/2014/main" id="{C542F4F7-D255-4365-83EA-FF57D31EBCBF}"/>
              </a:ext>
            </a:extLst>
          </p:cNvPr>
          <p:cNvSpPr txBox="1">
            <a:spLocks noChangeArrowheads="1"/>
          </p:cNvSpPr>
          <p:nvPr/>
        </p:nvSpPr>
        <p:spPr bwMode="auto">
          <a:xfrm>
            <a:off x="1908175" y="6165850"/>
            <a:ext cx="489585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a:latin typeface="Times New Roman" panose="02020603050405020304" pitchFamily="18" charset="0"/>
                <a:ea typeface="宋体" panose="02010600030101010101" pitchFamily="2" charset="-122"/>
              </a:rPr>
              <a:t>禁带宽度对正向电流的影响</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CAD1251F-B3BE-447A-8FB6-08C1F8553B19}"/>
              </a:ext>
            </a:extLst>
          </p:cNvPr>
          <p:cNvSpPr>
            <a:spLocks noGrp="1" noChangeArrowheads="1"/>
          </p:cNvSpPr>
          <p:nvPr>
            <p:ph type="title"/>
          </p:nvPr>
        </p:nvSpPr>
        <p:spPr/>
        <p:txBody>
          <a:bodyPr/>
          <a:lstStyle/>
          <a:p>
            <a:pPr>
              <a:lnSpc>
                <a:spcPct val="110000"/>
              </a:lnSpc>
              <a:spcBef>
                <a:spcPts val="0"/>
              </a:spcBef>
            </a:pPr>
            <a:r>
              <a:rPr lang="en-US" altLang="zh-CN" sz="3200">
                <a:latin typeface="Times New Roman" panose="02020603050405020304" pitchFamily="18" charset="0"/>
                <a:ea typeface="宋体" panose="02010600030101010101" pitchFamily="2" charset="-122"/>
              </a:rPr>
              <a:t>2.3.5 PN</a:t>
            </a:r>
            <a:r>
              <a:rPr lang="zh-CN" altLang="en-US" sz="3200">
                <a:latin typeface="Times New Roman" panose="02020603050405020304" pitchFamily="18" charset="0"/>
                <a:ea typeface="宋体" panose="02010600030101010101" pitchFamily="2" charset="-122"/>
              </a:rPr>
              <a:t>结表面漏电流</a:t>
            </a:r>
          </a:p>
        </p:txBody>
      </p:sp>
      <p:sp>
        <p:nvSpPr>
          <p:cNvPr id="76803" name="Rectangle 3">
            <a:extLst>
              <a:ext uri="{FF2B5EF4-FFF2-40B4-BE49-F238E27FC236}">
                <a16:creationId xmlns:a16="http://schemas.microsoft.com/office/drawing/2014/main" id="{37B6B5C9-E255-478A-B77C-D093CACAD2B0}"/>
              </a:ext>
            </a:extLst>
          </p:cNvPr>
          <p:cNvSpPr>
            <a:spLocks noGrp="1" noChangeArrowheads="1"/>
          </p:cNvSpPr>
          <p:nvPr>
            <p:ph idx="1"/>
          </p:nvPr>
        </p:nvSpPr>
        <p:spPr>
          <a:xfrm>
            <a:off x="251521" y="1989138"/>
            <a:ext cx="8424168" cy="4176712"/>
          </a:xfrm>
        </p:spPr>
        <p:txBody>
          <a:bodyPr/>
          <a:lstStyle/>
          <a:p>
            <a:pPr>
              <a:lnSpc>
                <a:spcPct val="110000"/>
              </a:lnSpc>
              <a:spcBef>
                <a:spcPts val="0"/>
              </a:spcBef>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考虑了表面漏电流之后，实际</a:t>
            </a:r>
            <a:r>
              <a:rPr lang="en-US" altLang="zh-CN" sz="2400" dirty="0">
                <a:latin typeface="Times New Roman" panose="02020603050405020304" pitchFamily="18" charset="0"/>
                <a:ea typeface="宋体" panose="02010600030101010101" pitchFamily="2" charset="-122"/>
              </a:rPr>
              <a:t>PN</a:t>
            </a:r>
            <a:r>
              <a:rPr lang="zh-CN" altLang="en-US" sz="2400" dirty="0">
                <a:latin typeface="Times New Roman" panose="02020603050405020304" pitchFamily="18" charset="0"/>
                <a:ea typeface="宋体" panose="02010600030101010101" pitchFamily="2" charset="-122"/>
              </a:rPr>
              <a:t>结的反向电流应包括体内扩展电流</a:t>
            </a:r>
            <a:r>
              <a:rPr lang="en-US" altLang="zh-CN" sz="2400" dirty="0">
                <a:latin typeface="Times New Roman" panose="02020603050405020304" pitchFamily="18" charset="0"/>
                <a:ea typeface="宋体" panose="02010600030101010101" pitchFamily="2" charset="-122"/>
              </a:rPr>
              <a:t>J</a:t>
            </a:r>
            <a:r>
              <a:rPr lang="en-US" altLang="zh-CN" sz="2400" baseline="-25000" dirty="0">
                <a:latin typeface="Times New Roman" panose="02020603050405020304" pitchFamily="18" charset="0"/>
                <a:ea typeface="宋体" panose="02010600030101010101" pitchFamily="2" charset="-122"/>
              </a:rPr>
              <a:t>RD</a:t>
            </a:r>
            <a:r>
              <a:rPr lang="zh-CN" altLang="en-US" sz="2400" dirty="0">
                <a:latin typeface="Times New Roman" panose="02020603050405020304" pitchFamily="18" charset="0"/>
                <a:ea typeface="宋体" panose="02010600030101010101" pitchFamily="2" charset="-122"/>
              </a:rPr>
              <a:t>，空间电荷区产生电流</a:t>
            </a:r>
            <a:r>
              <a:rPr lang="en-US" altLang="zh-CN" sz="2400" dirty="0" err="1">
                <a:latin typeface="Times New Roman" panose="02020603050405020304" pitchFamily="18" charset="0"/>
                <a:ea typeface="宋体" panose="02010600030101010101" pitchFamily="2" charset="-122"/>
              </a:rPr>
              <a:t>J</a:t>
            </a:r>
            <a:r>
              <a:rPr lang="en-US" altLang="zh-CN" sz="2400" baseline="-25000" dirty="0" err="1">
                <a:latin typeface="Times New Roman" panose="02020603050405020304" pitchFamily="18" charset="0"/>
                <a:ea typeface="宋体" panose="02010600030101010101" pitchFamily="2" charset="-122"/>
              </a:rPr>
              <a:t>g</a:t>
            </a:r>
            <a:r>
              <a:rPr lang="zh-CN" altLang="en-US" sz="2400" dirty="0">
                <a:latin typeface="Times New Roman" panose="02020603050405020304" pitchFamily="18" charset="0"/>
                <a:ea typeface="宋体" panose="02010600030101010101" pitchFamily="2" charset="-122"/>
              </a:rPr>
              <a:t>和反向表面漏电流</a:t>
            </a:r>
            <a:r>
              <a:rPr lang="en-US" altLang="zh-CN" sz="2400" dirty="0">
                <a:latin typeface="Times New Roman" panose="02020603050405020304" pitchFamily="18" charset="0"/>
                <a:ea typeface="宋体" panose="02010600030101010101" pitchFamily="2" charset="-122"/>
              </a:rPr>
              <a:t>J</a:t>
            </a:r>
            <a:r>
              <a:rPr lang="en-US" altLang="zh-CN" sz="2400" baseline="-25000" dirty="0">
                <a:latin typeface="Times New Roman" panose="02020603050405020304" pitchFamily="18" charset="0"/>
                <a:ea typeface="宋体" panose="02010600030101010101" pitchFamily="2" charset="-122"/>
              </a:rPr>
              <a:t>RS</a:t>
            </a:r>
            <a:r>
              <a:rPr lang="zh-CN" altLang="en-US" sz="2400" dirty="0">
                <a:latin typeface="Times New Roman" panose="02020603050405020304" pitchFamily="18" charset="0"/>
                <a:ea typeface="宋体" panose="02010600030101010101" pitchFamily="2" charset="-122"/>
              </a:rPr>
              <a:t>，应等于三项之和</a:t>
            </a:r>
          </a:p>
          <a:p>
            <a:pPr algn="ctr">
              <a:lnSpc>
                <a:spcPct val="110000"/>
              </a:lnSpc>
              <a:spcBef>
                <a:spcPts val="0"/>
              </a:spcBef>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rPr>
              <a:t>J</a:t>
            </a:r>
            <a:r>
              <a:rPr lang="en-US" altLang="zh-CN" sz="2400" baseline="-25000" dirty="0">
                <a:latin typeface="Times New Roman" panose="02020603050405020304" pitchFamily="18" charset="0"/>
                <a:ea typeface="宋体" panose="02010600030101010101" pitchFamily="2" charset="-122"/>
              </a:rPr>
              <a:t>R</a:t>
            </a:r>
            <a:r>
              <a:rPr lang="en-US" altLang="zh-CN" sz="2400" dirty="0">
                <a:latin typeface="Times New Roman" panose="02020603050405020304" pitchFamily="18" charset="0"/>
                <a:ea typeface="宋体" panose="02010600030101010101" pitchFamily="2" charset="-122"/>
              </a:rPr>
              <a:t>=J</a:t>
            </a:r>
            <a:r>
              <a:rPr lang="en-US" altLang="zh-CN" sz="2400" baseline="-25000" dirty="0">
                <a:latin typeface="Times New Roman" panose="02020603050405020304" pitchFamily="18" charset="0"/>
                <a:ea typeface="宋体" panose="02010600030101010101" pitchFamily="2" charset="-122"/>
              </a:rPr>
              <a:t>RD+ </a:t>
            </a:r>
            <a:r>
              <a:rPr lang="en-US" altLang="zh-CN" sz="2400" dirty="0" err="1">
                <a:latin typeface="Times New Roman" panose="02020603050405020304" pitchFamily="18" charset="0"/>
                <a:ea typeface="宋体" panose="02010600030101010101" pitchFamily="2" charset="-122"/>
              </a:rPr>
              <a:t>J</a:t>
            </a:r>
            <a:r>
              <a:rPr lang="en-US" altLang="zh-CN" sz="2400" baseline="-25000" dirty="0" err="1">
                <a:latin typeface="Times New Roman" panose="02020603050405020304" pitchFamily="18" charset="0"/>
                <a:ea typeface="宋体" panose="02010600030101010101" pitchFamily="2" charset="-122"/>
              </a:rPr>
              <a:t>g</a:t>
            </a:r>
            <a:r>
              <a:rPr lang="en-US" altLang="zh-CN" sz="2400" baseline="-250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J</a:t>
            </a:r>
            <a:r>
              <a:rPr lang="en-US" altLang="zh-CN" sz="2400" baseline="-25000" dirty="0">
                <a:latin typeface="Times New Roman" panose="02020603050405020304" pitchFamily="18" charset="0"/>
                <a:ea typeface="宋体" panose="02010600030101010101" pitchFamily="2" charset="-122"/>
              </a:rPr>
              <a:t>RS</a:t>
            </a:r>
            <a:endParaRPr lang="en-US" altLang="zh-CN" sz="2400" dirty="0">
              <a:latin typeface="Times New Roman" panose="02020603050405020304" pitchFamily="18" charset="0"/>
              <a:ea typeface="宋体" panose="02010600030101010101" pitchFamily="2" charset="-122"/>
            </a:endParaRPr>
          </a:p>
          <a:p>
            <a:pPr>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表面漏电流主要由以下集中情况引起的</a:t>
            </a:r>
            <a:r>
              <a:rPr lang="en-US" altLang="zh-CN" sz="2400" dirty="0">
                <a:latin typeface="Times New Roman" panose="02020603050405020304" pitchFamily="18" charset="0"/>
                <a:ea typeface="宋体" panose="02010600030101010101" pitchFamily="2" charset="-122"/>
              </a:rPr>
              <a:t>:</a:t>
            </a:r>
          </a:p>
          <a:p>
            <a:pPr>
              <a:lnSpc>
                <a:spcPct val="110000"/>
              </a:lnSpc>
              <a:spcBef>
                <a:spcPts val="0"/>
              </a:spcBef>
            </a:pPr>
            <a:r>
              <a:rPr lang="en-US" altLang="zh-CN" sz="2400" dirty="0">
                <a:latin typeface="Times New Roman" panose="02020603050405020304" pitchFamily="18" charset="0"/>
                <a:ea typeface="宋体" panose="02010600030101010101" pitchFamily="2" charset="-122"/>
              </a:rPr>
              <a:t>1. </a:t>
            </a:r>
            <a:r>
              <a:rPr lang="zh-CN" altLang="en-US" sz="2400" dirty="0">
                <a:latin typeface="Times New Roman" panose="02020603050405020304" pitchFamily="18" charset="0"/>
                <a:ea typeface="宋体" panose="02010600030101010101" pitchFamily="2" charset="-122"/>
              </a:rPr>
              <a:t>表面空间电荷区与表面反型沟道</a:t>
            </a:r>
          </a:p>
          <a:p>
            <a:pPr>
              <a:lnSpc>
                <a:spcPct val="110000"/>
              </a:lnSpc>
              <a:spcBef>
                <a:spcPts val="0"/>
              </a:spcBef>
            </a:pPr>
            <a:r>
              <a:rPr lang="en-US" altLang="zh-CN" sz="2400" dirty="0">
                <a:latin typeface="Times New Roman" panose="02020603050405020304" pitchFamily="18" charset="0"/>
                <a:ea typeface="宋体" panose="02010600030101010101" pitchFamily="2" charset="-122"/>
              </a:rPr>
              <a:t>2. </a:t>
            </a:r>
            <a:r>
              <a:rPr lang="zh-CN" altLang="en-US" sz="2400" dirty="0">
                <a:latin typeface="Times New Roman" panose="02020603050405020304" pitchFamily="18" charset="0"/>
                <a:ea typeface="宋体" panose="02010600030101010101" pitchFamily="2" charset="-122"/>
              </a:rPr>
              <a:t>表面沾污引起表面漏导电流</a:t>
            </a:r>
          </a:p>
          <a:p>
            <a:pPr>
              <a:lnSpc>
                <a:spcPct val="110000"/>
              </a:lnSpc>
              <a:spcBef>
                <a:spcPts val="0"/>
              </a:spcBef>
            </a:pPr>
            <a:r>
              <a:rPr lang="en-US" altLang="zh-CN" sz="2400" dirty="0">
                <a:latin typeface="Times New Roman" panose="02020603050405020304" pitchFamily="18" charset="0"/>
                <a:ea typeface="宋体" panose="02010600030101010101" pitchFamily="2" charset="-122"/>
              </a:rPr>
              <a:t>3.</a:t>
            </a:r>
            <a:r>
              <a:rPr lang="zh-CN" altLang="en-US" sz="2400" dirty="0">
                <a:latin typeface="Times New Roman" panose="02020603050405020304" pitchFamily="18" charset="0"/>
                <a:ea typeface="宋体" panose="02010600030101010101" pitchFamily="2" charset="-122"/>
              </a:rPr>
              <a:t>其他因素引起表面漏电</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8" name="Picture 4" descr="0229">
            <a:extLst>
              <a:ext uri="{FF2B5EF4-FFF2-40B4-BE49-F238E27FC236}">
                <a16:creationId xmlns:a16="http://schemas.microsoft.com/office/drawing/2014/main" id="{FF7295F5-D627-41CA-B484-96378650C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720" y="3686815"/>
            <a:ext cx="6480175" cy="1798638"/>
          </a:xfrm>
          <a:prstGeom prst="rect">
            <a:avLst/>
          </a:prstGeom>
          <a:noFill/>
          <a:extLst>
            <a:ext uri="{909E8E84-426E-40DD-AFC4-6F175D3DCCD1}">
              <a14:hiddenFill xmlns:a14="http://schemas.microsoft.com/office/drawing/2010/main">
                <a:solidFill>
                  <a:srgbClr val="FFFFFF"/>
                </a:solidFill>
              </a14:hiddenFill>
            </a:ext>
          </a:extLst>
        </p:spPr>
      </p:pic>
      <p:pic>
        <p:nvPicPr>
          <p:cNvPr id="77829" name="Picture 5" descr="0230">
            <a:extLst>
              <a:ext uri="{FF2B5EF4-FFF2-40B4-BE49-F238E27FC236}">
                <a16:creationId xmlns:a16="http://schemas.microsoft.com/office/drawing/2014/main" id="{2AC82398-E9B4-4BA7-9630-17E5631A2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771" y="898938"/>
            <a:ext cx="3024188" cy="1706563"/>
          </a:xfrm>
          <a:prstGeom prst="rect">
            <a:avLst/>
          </a:prstGeom>
          <a:noFill/>
          <a:extLst>
            <a:ext uri="{909E8E84-426E-40DD-AFC4-6F175D3DCCD1}">
              <a14:hiddenFill xmlns:a14="http://schemas.microsoft.com/office/drawing/2010/main">
                <a:solidFill>
                  <a:srgbClr val="FFFFFF"/>
                </a:solidFill>
              </a14:hiddenFill>
            </a:ext>
          </a:extLst>
        </p:spPr>
      </p:pic>
      <p:sp>
        <p:nvSpPr>
          <p:cNvPr id="77830" name="Text Box 6">
            <a:extLst>
              <a:ext uri="{FF2B5EF4-FFF2-40B4-BE49-F238E27FC236}">
                <a16:creationId xmlns:a16="http://schemas.microsoft.com/office/drawing/2014/main" id="{CAB86F02-CBF2-4476-B1D6-B6B53CA91569}"/>
              </a:ext>
            </a:extLst>
          </p:cNvPr>
          <p:cNvSpPr txBox="1">
            <a:spLocks noChangeArrowheads="1"/>
          </p:cNvSpPr>
          <p:nvPr/>
        </p:nvSpPr>
        <p:spPr bwMode="auto">
          <a:xfrm>
            <a:off x="2195736" y="5805264"/>
            <a:ext cx="599323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zh-CN" altLang="en-US" dirty="0">
                <a:latin typeface="Times New Roman" panose="02020603050405020304" pitchFamily="18" charset="0"/>
                <a:ea typeface="宋体" panose="02010600030101010101" pitchFamily="2" charset="-122"/>
              </a:rPr>
              <a:t>表面电荷引起的表面空间电荷层与反型沟道</a:t>
            </a:r>
          </a:p>
          <a:p>
            <a:pPr>
              <a:lnSpc>
                <a:spcPct val="110000"/>
              </a:lnSpc>
            </a:pP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表面空间电荷层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表面反型沟道</a:t>
            </a:r>
          </a:p>
        </p:txBody>
      </p:sp>
      <p:sp>
        <p:nvSpPr>
          <p:cNvPr id="77831" name="Text Box 7">
            <a:extLst>
              <a:ext uri="{FF2B5EF4-FFF2-40B4-BE49-F238E27FC236}">
                <a16:creationId xmlns:a16="http://schemas.microsoft.com/office/drawing/2014/main" id="{233D17A2-33EE-4750-B6B7-DC00047EC111}"/>
              </a:ext>
            </a:extLst>
          </p:cNvPr>
          <p:cNvSpPr txBox="1">
            <a:spLocks noChangeArrowheads="1"/>
          </p:cNvSpPr>
          <p:nvPr/>
        </p:nvSpPr>
        <p:spPr bwMode="auto">
          <a:xfrm>
            <a:off x="5364088" y="1759363"/>
            <a:ext cx="17272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dirty="0">
                <a:latin typeface="Times New Roman" panose="02020603050405020304" pitchFamily="18" charset="0"/>
                <a:ea typeface="宋体" panose="02010600030101010101" pitchFamily="2" charset="-122"/>
              </a:rPr>
              <a:t>表面漏导电流</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50D16627-C6A5-4A98-BF9D-184A6B73014B}"/>
              </a:ext>
            </a:extLst>
          </p:cNvPr>
          <p:cNvSpPr>
            <a:spLocks noChangeArrowheads="1"/>
          </p:cNvSpPr>
          <p:nvPr/>
        </p:nvSpPr>
        <p:spPr bwMode="auto">
          <a:xfrm>
            <a:off x="1187624" y="404664"/>
            <a:ext cx="4752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b="1" dirty="0">
                <a:solidFill>
                  <a:srgbClr val="993300"/>
                </a:solidFill>
              </a:rPr>
              <a:t>学习要求</a:t>
            </a:r>
            <a:r>
              <a:rPr lang="en-US" altLang="zh-CN" b="1" dirty="0">
                <a:solidFill>
                  <a:srgbClr val="993300"/>
                </a:solidFill>
              </a:rPr>
              <a:t>2.2,2.3</a:t>
            </a:r>
            <a:endParaRPr lang="zh-CN" altLang="en-US" b="1" dirty="0">
              <a:solidFill>
                <a:srgbClr val="993300"/>
              </a:solidFill>
            </a:endParaRPr>
          </a:p>
        </p:txBody>
      </p:sp>
      <p:sp>
        <p:nvSpPr>
          <p:cNvPr id="2" name="矩形 1">
            <a:extLst>
              <a:ext uri="{FF2B5EF4-FFF2-40B4-BE49-F238E27FC236}">
                <a16:creationId xmlns:a16="http://schemas.microsoft.com/office/drawing/2014/main" id="{5BDFCD07-F764-473B-B031-ABF34C73EB69}"/>
              </a:ext>
            </a:extLst>
          </p:cNvPr>
          <p:cNvSpPr/>
          <p:nvPr/>
        </p:nvSpPr>
        <p:spPr>
          <a:xfrm>
            <a:off x="755576" y="1196752"/>
            <a:ext cx="6474849" cy="1615827"/>
          </a:xfrm>
          <a:prstGeom prst="rect">
            <a:avLst/>
          </a:prstGeom>
        </p:spPr>
        <p:txBody>
          <a:bodyPr wrap="none">
            <a:spAutoFit/>
          </a:bodyPr>
          <a:lstStyle/>
          <a:p>
            <a:pPr marL="285750" indent="-285750">
              <a:lnSpc>
                <a:spcPct val="110000"/>
              </a:lnSpc>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正向偏置时</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结势垒变化、载流子运动</a:t>
            </a:r>
            <a:endParaRPr lang="en-US" altLang="zh-CN" dirty="0">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Ø"/>
            </a:pP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结正反偏置时形成主要电流的机制</a:t>
            </a:r>
            <a:endParaRPr lang="en-US" altLang="zh-CN" dirty="0">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推导正向</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结电流</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电压方程式的主要思路</a:t>
            </a:r>
            <a:endParaRPr lang="en-US" altLang="zh-CN" dirty="0">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概念：正向空间电荷区复合电流，反向空间电荷区产生电流</a:t>
            </a:r>
            <a:endParaRPr lang="en-US" altLang="zh-CN" dirty="0">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Ø"/>
            </a:pPr>
            <a:endParaRPr lang="zh-CN" altLang="en-US" dirty="0">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FF2DB27E-240B-4BA0-B3BA-C5E2DC64B885}"/>
              </a:ext>
            </a:extLst>
          </p:cNvPr>
          <p:cNvSpPr txBox="1"/>
          <p:nvPr/>
        </p:nvSpPr>
        <p:spPr>
          <a:xfrm>
            <a:off x="1043608" y="3645024"/>
            <a:ext cx="2201244" cy="1200329"/>
          </a:xfrm>
          <a:prstGeom prst="rect">
            <a:avLst/>
          </a:prstGeom>
          <a:noFill/>
        </p:spPr>
        <p:txBody>
          <a:bodyPr wrap="none" rtlCol="0">
            <a:spAutoFit/>
          </a:bodyPr>
          <a:lstStyle/>
          <a:p>
            <a:r>
              <a:rPr lang="zh-CN" altLang="en-US" dirty="0"/>
              <a:t>作业：</a:t>
            </a:r>
            <a:endParaRPr lang="en-US" altLang="zh-CN" dirty="0"/>
          </a:p>
          <a:p>
            <a:r>
              <a:rPr lang="zh-CN" altLang="en-US" dirty="0"/>
              <a:t>第</a:t>
            </a:r>
            <a:r>
              <a:rPr lang="en-US" altLang="zh-CN" dirty="0"/>
              <a:t>2</a:t>
            </a:r>
            <a:r>
              <a:rPr lang="zh-CN" altLang="en-US" dirty="0"/>
              <a:t>章习题</a:t>
            </a:r>
            <a:r>
              <a:rPr lang="en-US" altLang="zh-CN" dirty="0"/>
              <a:t>   18,21,25</a:t>
            </a:r>
          </a:p>
          <a:p>
            <a:r>
              <a:rPr lang="zh-CN" altLang="en-US" dirty="0"/>
              <a:t>思考：</a:t>
            </a:r>
            <a:r>
              <a:rPr lang="en-US" altLang="zh-CN" dirty="0"/>
              <a:t> 1,3,4</a:t>
            </a:r>
            <a:r>
              <a:rPr lang="zh-CN" altLang="en-US" dirty="0"/>
              <a:t>，</a:t>
            </a:r>
            <a:r>
              <a:rPr lang="en-US" altLang="zh-CN" dirty="0"/>
              <a:t>5</a:t>
            </a:r>
          </a:p>
          <a:p>
            <a:endParaRPr lang="zh-CN" altLang="en-US" dirty="0"/>
          </a:p>
        </p:txBody>
      </p:sp>
    </p:spTree>
    <p:extLst>
      <p:ext uri="{BB962C8B-B14F-4D97-AF65-F5344CB8AC3E}">
        <p14:creationId xmlns:p14="http://schemas.microsoft.com/office/powerpoint/2010/main" val="1109368799"/>
      </p:ext>
    </p:extLst>
  </p:cSld>
  <p:clrMapOvr>
    <a:masterClrMapping/>
  </p:clrMapOvr>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1795</TotalTime>
  <Words>4588</Words>
  <Application>Microsoft Office PowerPoint</Application>
  <PresentationFormat>全屏显示(4:3)</PresentationFormat>
  <Paragraphs>492</Paragraphs>
  <Slides>75</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vt:i4>
      </vt:variant>
      <vt:variant>
        <vt:lpstr>幻灯片标题</vt:lpstr>
      </vt:variant>
      <vt:variant>
        <vt:i4>75</vt:i4>
      </vt:variant>
    </vt:vector>
  </HeadingPairs>
  <TitlesOfParts>
    <vt:vector size="95" baseType="lpstr">
      <vt:lpstr>Gulim</vt:lpstr>
      <vt:lpstr>等线</vt:lpstr>
      <vt:lpstr>黑体</vt:lpstr>
      <vt:lpstr>华文新魏</vt:lpstr>
      <vt:lpstr>宋体</vt:lpstr>
      <vt:lpstr>Arial</vt:lpstr>
      <vt:lpstr>Calibri</vt:lpstr>
      <vt:lpstr>Calibri Light</vt:lpstr>
      <vt:lpstr>Cambria Math</vt:lpstr>
      <vt:lpstr>Symbol</vt:lpstr>
      <vt:lpstr>Tahoma</vt:lpstr>
      <vt:lpstr>Times New Roman</vt:lpstr>
      <vt:lpstr>Verdana</vt:lpstr>
      <vt:lpstr>Wingdings</vt:lpstr>
      <vt:lpstr>Office Theme</vt:lpstr>
      <vt:lpstr>Visio</vt:lpstr>
      <vt:lpstr>Equation</vt:lpstr>
      <vt:lpstr>Equation.3</vt:lpstr>
      <vt:lpstr>公式</vt:lpstr>
      <vt:lpstr>Equation.KSEE3</vt:lpstr>
      <vt:lpstr>第二章 PN结机理与特性</vt:lpstr>
      <vt:lpstr>PowerPoint 演示文稿</vt:lpstr>
      <vt:lpstr>2.1 平衡PN结的机理与特性  2.1.1 PN结的制备与杂质分布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2.1.2 平衡PN结形成与能带</vt:lpstr>
      <vt:lpstr>PowerPoint 演示文稿</vt:lpstr>
      <vt:lpstr>PowerPoint 演示文稿</vt:lpstr>
      <vt:lpstr>PowerPoint 演示文稿</vt:lpstr>
      <vt:lpstr>2.1.3 平衡PN结的接触电势差</vt:lpstr>
      <vt:lpstr>PowerPoint 演示文稿</vt:lpstr>
      <vt:lpstr>2.1.4 平衡PN结的载流子浓度分布</vt:lpstr>
      <vt:lpstr>PowerPoint 演示文稿</vt:lpstr>
      <vt:lpstr>PowerPoint 演示文稿</vt:lpstr>
      <vt:lpstr>2.4 PN结空间电荷区的电场、点位分布和宽度（提前）</vt:lpstr>
      <vt:lpstr>PowerPoint 演示文稿</vt:lpstr>
      <vt:lpstr>PowerPoint 演示文稿</vt:lpstr>
      <vt:lpstr>PowerPoint 演示文稿</vt:lpstr>
      <vt:lpstr>PowerPoint 演示文稿</vt:lpstr>
      <vt:lpstr>PowerPoint 演示文稿</vt:lpstr>
      <vt:lpstr>PowerPoint 演示文稿</vt:lpstr>
      <vt:lpstr>第二章 PN结机理与特性</vt:lpstr>
      <vt:lpstr>2.2 正向PN结机理与特性 2.2.1 正向偏置与正向注入效应</vt:lpstr>
      <vt:lpstr>2.2.2 正向PN结边界少子浓度和少子浓度分布</vt:lpstr>
      <vt:lpstr>PowerPoint 演示文稿</vt:lpstr>
      <vt:lpstr>PowerPoint 演示文稿</vt:lpstr>
      <vt:lpstr>PowerPoint 演示文稿</vt:lpstr>
      <vt:lpstr>PowerPoint 演示文稿</vt:lpstr>
      <vt:lpstr>2.2.3 正向PN结电流-电压方程式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第二章 PN结机理与特性</vt:lpstr>
      <vt:lpstr>PowerPoint 演示文稿</vt:lpstr>
      <vt:lpstr>PowerPoint 演示文稿</vt:lpstr>
      <vt:lpstr>PowerPoint 演示文稿</vt:lpstr>
      <vt:lpstr>PowerPoint 演示文稿</vt:lpstr>
      <vt:lpstr>PowerPoint 演示文稿</vt:lpstr>
      <vt:lpstr>PowerPoint 演示文稿</vt:lpstr>
      <vt:lpstr>理想PN结的直流电流－电压特性</vt:lpstr>
      <vt:lpstr>2.2.6正向PN结空间电荷区复合电流 2.3.4反向PN结空间电荷区的产生电流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温度对PN结I-V特性的影响:  无论是在正向还是反向偏置，PN结的温度特性主要取决于二极管方程</vt:lpstr>
      <vt:lpstr>PowerPoint 演示文稿</vt:lpstr>
      <vt:lpstr>PowerPoint 演示文稿</vt:lpstr>
      <vt:lpstr>PowerPoint 演示文稿</vt:lpstr>
      <vt:lpstr>PowerPoint 演示文稿</vt:lpstr>
      <vt:lpstr>PowerPoint 演示文稿</vt:lpstr>
      <vt:lpstr>PowerPoint 演示文稿</vt:lpstr>
      <vt:lpstr>2.3.5 PN结表面漏电流</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PN结构机理与特性</dc:title>
  <dc:creator>番茄花园</dc:creator>
  <cp:lastModifiedBy>陈达</cp:lastModifiedBy>
  <cp:revision>95</cp:revision>
  <dcterms:created xsi:type="dcterms:W3CDTF">2008-12-03T08:07:22Z</dcterms:created>
  <dcterms:modified xsi:type="dcterms:W3CDTF">2019-04-08T01:56:05Z</dcterms:modified>
</cp:coreProperties>
</file>