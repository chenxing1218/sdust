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46"/>
  </p:notesMasterIdLst>
  <p:sldIdLst>
    <p:sldId id="257" r:id="rId2"/>
    <p:sldId id="299" r:id="rId3"/>
    <p:sldId id="349" r:id="rId4"/>
    <p:sldId id="303" r:id="rId5"/>
    <p:sldId id="304" r:id="rId6"/>
    <p:sldId id="361" r:id="rId7"/>
    <p:sldId id="305" r:id="rId8"/>
    <p:sldId id="326" r:id="rId9"/>
    <p:sldId id="327" r:id="rId10"/>
    <p:sldId id="306" r:id="rId11"/>
    <p:sldId id="328" r:id="rId12"/>
    <p:sldId id="329" r:id="rId13"/>
    <p:sldId id="330" r:id="rId14"/>
    <p:sldId id="333" r:id="rId15"/>
    <p:sldId id="334" r:id="rId16"/>
    <p:sldId id="308" r:id="rId17"/>
    <p:sldId id="336" r:id="rId18"/>
    <p:sldId id="347" r:id="rId19"/>
    <p:sldId id="348" r:id="rId20"/>
    <p:sldId id="335" r:id="rId21"/>
    <p:sldId id="338" r:id="rId22"/>
    <p:sldId id="350" r:id="rId23"/>
    <p:sldId id="340" r:id="rId24"/>
    <p:sldId id="341" r:id="rId25"/>
    <p:sldId id="342" r:id="rId26"/>
    <p:sldId id="351" r:id="rId27"/>
    <p:sldId id="353" r:id="rId28"/>
    <p:sldId id="354" r:id="rId29"/>
    <p:sldId id="355" r:id="rId30"/>
    <p:sldId id="356" r:id="rId31"/>
    <p:sldId id="357" r:id="rId32"/>
    <p:sldId id="358" r:id="rId33"/>
    <p:sldId id="359" r:id="rId34"/>
    <p:sldId id="360" r:id="rId35"/>
    <p:sldId id="310" r:id="rId36"/>
    <p:sldId id="311" r:id="rId37"/>
    <p:sldId id="312" r:id="rId38"/>
    <p:sldId id="314" r:id="rId39"/>
    <p:sldId id="317" r:id="rId40"/>
    <p:sldId id="318" r:id="rId41"/>
    <p:sldId id="319" r:id="rId42"/>
    <p:sldId id="320" r:id="rId43"/>
    <p:sldId id="322" r:id="rId44"/>
    <p:sldId id="346"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242"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5" Type="http://schemas.openxmlformats.org/officeDocument/2006/relationships/image" Target="../media/image18.wmf"/><Relationship Id="rId4"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7.wmf"/><Relationship Id="rId1" Type="http://schemas.openxmlformats.org/officeDocument/2006/relationships/image" Target="../media/image19.wmf"/><Relationship Id="rId4"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8.wmf"/><Relationship Id="rId2" Type="http://schemas.openxmlformats.org/officeDocument/2006/relationships/image" Target="../media/image23.wmf"/><Relationship Id="rId1" Type="http://schemas.openxmlformats.org/officeDocument/2006/relationships/image" Target="../media/image22.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4" Type="http://schemas.openxmlformats.org/officeDocument/2006/relationships/image" Target="../media/image4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7.wmf"/><Relationship Id="rId7" Type="http://schemas.openxmlformats.org/officeDocument/2006/relationships/image" Target="../media/image51.wmf"/><Relationship Id="rId2" Type="http://schemas.openxmlformats.org/officeDocument/2006/relationships/image" Target="../media/image46.wmf"/><Relationship Id="rId1" Type="http://schemas.openxmlformats.org/officeDocument/2006/relationships/image" Target="../media/image45.wmf"/><Relationship Id="rId6" Type="http://schemas.openxmlformats.org/officeDocument/2006/relationships/image" Target="../media/image50.wmf"/><Relationship Id="rId5" Type="http://schemas.openxmlformats.org/officeDocument/2006/relationships/image" Target="../media/image49.wmf"/><Relationship Id="rId4" Type="http://schemas.openxmlformats.org/officeDocument/2006/relationships/image" Target="../media/image4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image" Target="../media/image52.e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64.wmf"/><Relationship Id="rId13" Type="http://schemas.openxmlformats.org/officeDocument/2006/relationships/image" Target="../media/image69.wmf"/><Relationship Id="rId3" Type="http://schemas.openxmlformats.org/officeDocument/2006/relationships/image" Target="../media/image59.wmf"/><Relationship Id="rId7" Type="http://schemas.openxmlformats.org/officeDocument/2006/relationships/image" Target="../media/image63.wmf"/><Relationship Id="rId12" Type="http://schemas.openxmlformats.org/officeDocument/2006/relationships/image" Target="../media/image68.wmf"/><Relationship Id="rId17" Type="http://schemas.openxmlformats.org/officeDocument/2006/relationships/image" Target="../media/image73.wmf"/><Relationship Id="rId2" Type="http://schemas.openxmlformats.org/officeDocument/2006/relationships/image" Target="../media/image58.wmf"/><Relationship Id="rId16" Type="http://schemas.openxmlformats.org/officeDocument/2006/relationships/image" Target="../media/image72.wmf"/><Relationship Id="rId1" Type="http://schemas.openxmlformats.org/officeDocument/2006/relationships/image" Target="../media/image57.wmf"/><Relationship Id="rId6" Type="http://schemas.openxmlformats.org/officeDocument/2006/relationships/image" Target="../media/image62.wmf"/><Relationship Id="rId11" Type="http://schemas.openxmlformats.org/officeDocument/2006/relationships/image" Target="../media/image67.wmf"/><Relationship Id="rId5" Type="http://schemas.openxmlformats.org/officeDocument/2006/relationships/image" Target="../media/image61.wmf"/><Relationship Id="rId15" Type="http://schemas.openxmlformats.org/officeDocument/2006/relationships/image" Target="../media/image71.wmf"/><Relationship Id="rId10" Type="http://schemas.openxmlformats.org/officeDocument/2006/relationships/image" Target="../media/image66.wmf"/><Relationship Id="rId4" Type="http://schemas.openxmlformats.org/officeDocument/2006/relationships/image" Target="../media/image60.wmf"/><Relationship Id="rId9" Type="http://schemas.openxmlformats.org/officeDocument/2006/relationships/image" Target="../media/image65.wmf"/><Relationship Id="rId14" Type="http://schemas.openxmlformats.org/officeDocument/2006/relationships/image" Target="../media/image70.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image" Target="../media/image76.wmf"/><Relationship Id="rId7" Type="http://schemas.openxmlformats.org/officeDocument/2006/relationships/image" Target="../media/image80.wmf"/><Relationship Id="rId2" Type="http://schemas.openxmlformats.org/officeDocument/2006/relationships/image" Target="../media/image75.wmf"/><Relationship Id="rId1" Type="http://schemas.openxmlformats.org/officeDocument/2006/relationships/image" Target="../media/image74.wmf"/><Relationship Id="rId6" Type="http://schemas.openxmlformats.org/officeDocument/2006/relationships/image" Target="../media/image79.wmf"/><Relationship Id="rId5" Type="http://schemas.openxmlformats.org/officeDocument/2006/relationships/image" Target="../media/image78.wmf"/><Relationship Id="rId4" Type="http://schemas.openxmlformats.org/officeDocument/2006/relationships/image" Target="../media/image7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5.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87.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87.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8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14DE76-B7A3-4511-8542-E4EDDB5246AB}" type="datetimeFigureOut">
              <a:rPr lang="zh-CN" altLang="en-US" smtClean="0"/>
              <a:t>2021/10/18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D98DFB-950F-43A2-B9A1-A848AA44E5B5}" type="slidenum">
              <a:rPr lang="zh-CN" altLang="en-US" smtClean="0"/>
              <a:t>‹#›</a:t>
            </a:fld>
            <a:endParaRPr lang="zh-CN" altLang="en-US"/>
          </a:p>
        </p:txBody>
      </p:sp>
    </p:spTree>
    <p:extLst>
      <p:ext uri="{BB962C8B-B14F-4D97-AF65-F5344CB8AC3E}">
        <p14:creationId xmlns:p14="http://schemas.microsoft.com/office/powerpoint/2010/main" val="1324874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81A8BBD0-42A2-415B-A6A8-FF211552485D}"/>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r" eaLnBrk="1" latinLnBrk="0" hangingPunct="1"/>
            <a:fld id="{95328935-CFBD-4DA1-A1FE-180049D37081}" type="slidenum">
              <a:rPr lang="zh-CN" altLang="en-US" sz="1200">
                <a:latin typeface="Times New Roman" panose="02020603050405020304" pitchFamily="18" charset="0"/>
              </a:rPr>
              <a:pPr algn="r" eaLnBrk="1" latinLnBrk="0" hangingPunct="1"/>
              <a:t>27</a:t>
            </a:fld>
            <a:endParaRPr lang="en-US" altLang="zh-CN" sz="1200">
              <a:latin typeface="Times New Roman" panose="02020603050405020304" pitchFamily="18" charset="0"/>
            </a:endParaRPr>
          </a:p>
        </p:txBody>
      </p:sp>
      <p:sp>
        <p:nvSpPr>
          <p:cNvPr id="149507" name="Rectangle 2">
            <a:extLst>
              <a:ext uri="{FF2B5EF4-FFF2-40B4-BE49-F238E27FC236}">
                <a16:creationId xmlns:a16="http://schemas.microsoft.com/office/drawing/2014/main" id="{018255B9-28DD-4F18-B5A4-2F0DD8B1672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8" name="Rectangle 3">
            <a:extLst>
              <a:ext uri="{FF2B5EF4-FFF2-40B4-BE49-F238E27FC236}">
                <a16:creationId xmlns:a16="http://schemas.microsoft.com/office/drawing/2014/main" id="{E6D79E57-CCA5-4531-90D1-D3F4FE2A6D04}"/>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zh-CN">
              <a:ea typeface="맑은 고딕" panose="020B0503020000020004" pitchFamily="34" charset="-127"/>
            </a:endParaRPr>
          </a:p>
        </p:txBody>
      </p:sp>
    </p:spTree>
    <p:extLst>
      <p:ext uri="{BB962C8B-B14F-4D97-AF65-F5344CB8AC3E}">
        <p14:creationId xmlns:p14="http://schemas.microsoft.com/office/powerpoint/2010/main" val="1260419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03D3A768-9DAF-4C01-89B1-3309CB8DEE15}" type="slidenum">
              <a:rPr lang="en-US" altLang="zh-CN" smtClean="0"/>
              <a:pPr/>
              <a:t>‹#›</a:t>
            </a:fld>
            <a:endParaRPr lang="en-US" altLang="zh-CN"/>
          </a:p>
        </p:txBody>
      </p:sp>
    </p:spTree>
    <p:extLst>
      <p:ext uri="{BB962C8B-B14F-4D97-AF65-F5344CB8AC3E}">
        <p14:creationId xmlns:p14="http://schemas.microsoft.com/office/powerpoint/2010/main" val="2855470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DBAF0F58-7F30-4E42-8AA4-5B8CB440F48D}" type="slidenum">
              <a:rPr lang="en-US" altLang="zh-CN" smtClean="0"/>
              <a:pPr/>
              <a:t>‹#›</a:t>
            </a:fld>
            <a:endParaRPr lang="en-US" altLang="zh-CN"/>
          </a:p>
        </p:txBody>
      </p:sp>
    </p:spTree>
    <p:extLst>
      <p:ext uri="{BB962C8B-B14F-4D97-AF65-F5344CB8AC3E}">
        <p14:creationId xmlns:p14="http://schemas.microsoft.com/office/powerpoint/2010/main" val="4165401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7E9371DA-AAC5-4C63-A52E-18D5E58BDB37}" type="slidenum">
              <a:rPr lang="en-US" altLang="zh-CN" smtClean="0"/>
              <a:pPr/>
              <a:t>‹#›</a:t>
            </a:fld>
            <a:endParaRPr lang="en-US" altLang="zh-CN"/>
          </a:p>
        </p:txBody>
      </p:sp>
    </p:spTree>
    <p:extLst>
      <p:ext uri="{BB962C8B-B14F-4D97-AF65-F5344CB8AC3E}">
        <p14:creationId xmlns:p14="http://schemas.microsoft.com/office/powerpoint/2010/main" val="426000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43B3957E-E9BE-4F4D-A16A-5AFDF128CA2F}" type="slidenum">
              <a:rPr lang="en-US" altLang="zh-CN" smtClean="0"/>
              <a:pPr/>
              <a:t>‹#›</a:t>
            </a:fld>
            <a:endParaRPr lang="en-US" altLang="zh-CN"/>
          </a:p>
        </p:txBody>
      </p:sp>
    </p:spTree>
    <p:extLst>
      <p:ext uri="{BB962C8B-B14F-4D97-AF65-F5344CB8AC3E}">
        <p14:creationId xmlns:p14="http://schemas.microsoft.com/office/powerpoint/2010/main" val="4283793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en-US" altLang="zh-CN"/>
          </a:p>
        </p:txBody>
      </p:sp>
      <p:sp>
        <p:nvSpPr>
          <p:cNvPr id="8" name="Footer Placeholder 7"/>
          <p:cNvSpPr>
            <a:spLocks noGrp="1"/>
          </p:cNvSpPr>
          <p:nvPr>
            <p:ph type="ftr" sz="quarter" idx="11"/>
          </p:nvPr>
        </p:nvSpPr>
        <p:spPr/>
        <p:txBody>
          <a:bodyPr/>
          <a:lstStyle/>
          <a:p>
            <a:endParaRPr lang="en-US" altLang="zh-CN"/>
          </a:p>
        </p:txBody>
      </p:sp>
      <p:sp>
        <p:nvSpPr>
          <p:cNvPr id="9" name="Slide Number Placeholder 8"/>
          <p:cNvSpPr>
            <a:spLocks noGrp="1"/>
          </p:cNvSpPr>
          <p:nvPr>
            <p:ph type="sldNum" sz="quarter" idx="12"/>
          </p:nvPr>
        </p:nvSpPr>
        <p:spPr/>
        <p:txBody>
          <a:bodyPr/>
          <a:lstStyle/>
          <a:p>
            <a:fld id="{A86064A8-1C74-47A2-A7A3-3CAF053A2FFA}" type="slidenum">
              <a:rPr lang="en-US" altLang="zh-CN" smtClean="0"/>
              <a:pPr/>
              <a:t>‹#›</a:t>
            </a:fld>
            <a:endParaRPr lang="en-US" altLang="zh-CN"/>
          </a:p>
        </p:txBody>
      </p:sp>
    </p:spTree>
    <p:extLst>
      <p:ext uri="{BB962C8B-B14F-4D97-AF65-F5344CB8AC3E}">
        <p14:creationId xmlns:p14="http://schemas.microsoft.com/office/powerpoint/2010/main" val="2751376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en-US" altLang="zh-CN"/>
          </a:p>
        </p:txBody>
      </p:sp>
      <p:sp>
        <p:nvSpPr>
          <p:cNvPr id="4" name="Footer Placeholder 3"/>
          <p:cNvSpPr>
            <a:spLocks noGrp="1"/>
          </p:cNvSpPr>
          <p:nvPr>
            <p:ph type="ftr" sz="quarter" idx="11"/>
          </p:nvPr>
        </p:nvSpPr>
        <p:spPr/>
        <p:txBody>
          <a:bodyPr/>
          <a:lstStyle/>
          <a:p>
            <a:endParaRPr lang="en-US" altLang="zh-CN"/>
          </a:p>
        </p:txBody>
      </p:sp>
      <p:sp>
        <p:nvSpPr>
          <p:cNvPr id="5" name="Slide Number Placeholder 4"/>
          <p:cNvSpPr>
            <a:spLocks noGrp="1"/>
          </p:cNvSpPr>
          <p:nvPr>
            <p:ph type="sldNum" sz="quarter" idx="12"/>
          </p:nvPr>
        </p:nvSpPr>
        <p:spPr/>
        <p:txBody>
          <a:bodyPr/>
          <a:lstStyle/>
          <a:p>
            <a:fld id="{D7D204E8-7C44-43EB-AA00-C2B6802C620F}" type="slidenum">
              <a:rPr lang="en-US" altLang="zh-CN" smtClean="0"/>
              <a:pPr/>
              <a:t>‹#›</a:t>
            </a:fld>
            <a:endParaRPr lang="en-US" altLang="zh-CN"/>
          </a:p>
        </p:txBody>
      </p:sp>
    </p:spTree>
    <p:extLst>
      <p:ext uri="{BB962C8B-B14F-4D97-AF65-F5344CB8AC3E}">
        <p14:creationId xmlns:p14="http://schemas.microsoft.com/office/powerpoint/2010/main" val="3701209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zh-CN"/>
          </a:p>
        </p:txBody>
      </p:sp>
      <p:sp>
        <p:nvSpPr>
          <p:cNvPr id="3" name="Footer Placeholder 2"/>
          <p:cNvSpPr>
            <a:spLocks noGrp="1"/>
          </p:cNvSpPr>
          <p:nvPr>
            <p:ph type="ftr" sz="quarter" idx="11"/>
          </p:nvPr>
        </p:nvSpPr>
        <p:spPr/>
        <p:txBody>
          <a:bodyPr/>
          <a:lstStyle/>
          <a:p>
            <a:endParaRPr lang="en-US" altLang="zh-CN"/>
          </a:p>
        </p:txBody>
      </p:sp>
      <p:sp>
        <p:nvSpPr>
          <p:cNvPr id="4" name="Slide Number Placeholder 3"/>
          <p:cNvSpPr>
            <a:spLocks noGrp="1"/>
          </p:cNvSpPr>
          <p:nvPr>
            <p:ph type="sldNum" sz="quarter" idx="12"/>
          </p:nvPr>
        </p:nvSpPr>
        <p:spPr/>
        <p:txBody>
          <a:bodyPr/>
          <a:lstStyle/>
          <a:p>
            <a:fld id="{37F31BB4-8156-479F-A9D8-940B35B370FD}" type="slidenum">
              <a:rPr lang="en-US" altLang="zh-CN" smtClean="0"/>
              <a:pPr/>
              <a:t>‹#›</a:t>
            </a:fld>
            <a:endParaRPr lang="en-US" altLang="zh-CN"/>
          </a:p>
        </p:txBody>
      </p:sp>
    </p:spTree>
    <p:extLst>
      <p:ext uri="{BB962C8B-B14F-4D97-AF65-F5344CB8AC3E}">
        <p14:creationId xmlns:p14="http://schemas.microsoft.com/office/powerpoint/2010/main" val="3696104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8D0328A0-2F35-441E-B8B5-7F6BBD857410}" type="slidenum">
              <a:rPr lang="en-US" altLang="zh-CN" smtClean="0"/>
              <a:pPr/>
              <a:t>‹#›</a:t>
            </a:fld>
            <a:endParaRPr lang="en-US" altLang="zh-CN"/>
          </a:p>
        </p:txBody>
      </p:sp>
    </p:spTree>
    <p:extLst>
      <p:ext uri="{BB962C8B-B14F-4D97-AF65-F5344CB8AC3E}">
        <p14:creationId xmlns:p14="http://schemas.microsoft.com/office/powerpoint/2010/main" val="1782389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6C86595C-7DCA-4A33-ABBB-5B01042D330A}" type="slidenum">
              <a:rPr lang="en-US" altLang="zh-CN" smtClean="0"/>
              <a:pPr/>
              <a:t>‹#›</a:t>
            </a:fld>
            <a:endParaRPr lang="en-US" altLang="zh-CN"/>
          </a:p>
        </p:txBody>
      </p:sp>
    </p:spTree>
    <p:extLst>
      <p:ext uri="{BB962C8B-B14F-4D97-AF65-F5344CB8AC3E}">
        <p14:creationId xmlns:p14="http://schemas.microsoft.com/office/powerpoint/2010/main" val="146804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7EAE282D-F827-4FD3-8FC7-EB2EC3FC4968}" type="slidenum">
              <a:rPr lang="en-US" altLang="zh-CN" smtClean="0"/>
              <a:pPr/>
              <a:t>‹#›</a:t>
            </a:fld>
            <a:endParaRPr lang="en-US" altLang="zh-CN"/>
          </a:p>
        </p:txBody>
      </p:sp>
    </p:spTree>
    <p:extLst>
      <p:ext uri="{BB962C8B-B14F-4D97-AF65-F5344CB8AC3E}">
        <p14:creationId xmlns:p14="http://schemas.microsoft.com/office/powerpoint/2010/main" val="2291126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23A0B03D-C809-49BA-8C3B-B760B3197A61}" type="slidenum">
              <a:rPr lang="en-US" altLang="zh-CN" smtClean="0"/>
              <a:pPr/>
              <a:t>‹#›</a:t>
            </a:fld>
            <a:endParaRPr lang="en-US" altLang="zh-CN"/>
          </a:p>
        </p:txBody>
      </p:sp>
    </p:spTree>
    <p:extLst>
      <p:ext uri="{BB962C8B-B14F-4D97-AF65-F5344CB8AC3E}">
        <p14:creationId xmlns:p14="http://schemas.microsoft.com/office/powerpoint/2010/main" val="1459379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63DC55-8458-4859-B4F4-EA1B54054705}"/>
              </a:ext>
            </a:extLst>
          </p:cNvPr>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C0B6C93-2FB0-434B-B1C9-0E12A63B9F00}"/>
              </a:ext>
            </a:extLst>
          </p:cNvPr>
          <p:cNvSpPr>
            <a:spLocks noGrp="1"/>
          </p:cNvSpPr>
          <p:nvPr>
            <p:ph type="body" sz="half" idx="1"/>
          </p:nvPr>
        </p:nvSpPr>
        <p:spPr>
          <a:xfrm>
            <a:off x="1182688" y="2017713"/>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DBB76C2-307E-4333-8281-4B76D00A47C7}"/>
              </a:ext>
            </a:extLst>
          </p:cNvPr>
          <p:cNvSpPr>
            <a:spLocks noGrp="1"/>
          </p:cNvSpPr>
          <p:nvPr>
            <p:ph sz="half" idx="2"/>
          </p:nvPr>
        </p:nvSpPr>
        <p:spPr>
          <a:xfrm>
            <a:off x="5145088" y="2017713"/>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C8D3CA9E-D90D-410B-B2DC-93546EFE961C}"/>
              </a:ext>
            </a:extLst>
          </p:cNvPr>
          <p:cNvSpPr>
            <a:spLocks noGrp="1"/>
          </p:cNvSpPr>
          <p:nvPr>
            <p:ph type="dt" sz="half" idx="10"/>
          </p:nvPr>
        </p:nvSpPr>
        <p:spPr>
          <a:xfrm>
            <a:off x="1162050" y="6243638"/>
            <a:ext cx="1905000" cy="457200"/>
          </a:xfrm>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AFB2E7CF-CE98-4065-BB83-1A996C83934D}"/>
              </a:ext>
            </a:extLst>
          </p:cNvPr>
          <p:cNvSpPr>
            <a:spLocks noGrp="1"/>
          </p:cNvSpPr>
          <p:nvPr>
            <p:ph type="ftr" sz="quarter" idx="11"/>
          </p:nvPr>
        </p:nvSpPr>
        <p:spPr>
          <a:xfrm>
            <a:off x="3657600" y="6243638"/>
            <a:ext cx="2895600" cy="45720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C755E91-2A5B-47BA-A495-7102BCA42FCC}"/>
              </a:ext>
            </a:extLst>
          </p:cNvPr>
          <p:cNvSpPr>
            <a:spLocks noGrp="1"/>
          </p:cNvSpPr>
          <p:nvPr>
            <p:ph type="sldNum" sz="quarter" idx="12"/>
          </p:nvPr>
        </p:nvSpPr>
        <p:spPr>
          <a:xfrm>
            <a:off x="7042150" y="6243638"/>
            <a:ext cx="1905000" cy="457200"/>
          </a:xfrm>
        </p:spPr>
        <p:txBody>
          <a:bodyPr/>
          <a:lstStyle>
            <a:lvl1pPr>
              <a:defRPr/>
            </a:lvl1pPr>
          </a:lstStyle>
          <a:p>
            <a:fld id="{57A00779-703D-491C-A195-6D71D336768C}" type="slidenum">
              <a:rPr lang="en-US" altLang="zh-CN"/>
              <a:pPr/>
              <a:t>‹#›</a:t>
            </a:fld>
            <a:endParaRPr lang="en-US" altLang="zh-CN"/>
          </a:p>
        </p:txBody>
      </p:sp>
    </p:spTree>
    <p:extLst>
      <p:ext uri="{BB962C8B-B14F-4D97-AF65-F5344CB8AC3E}">
        <p14:creationId xmlns:p14="http://schemas.microsoft.com/office/powerpoint/2010/main" val="3348439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E5B3AE-F22E-4FAF-BC3D-2BD2381403C7}" type="slidenum">
              <a:rPr lang="en-US" altLang="zh-CN" smtClean="0"/>
              <a:pPr/>
              <a:t>‹#›</a:t>
            </a:fld>
            <a:endParaRPr lang="en-US" altLang="zh-CN"/>
          </a:p>
        </p:txBody>
      </p:sp>
    </p:spTree>
    <p:extLst>
      <p:ext uri="{BB962C8B-B14F-4D97-AF65-F5344CB8AC3E}">
        <p14:creationId xmlns:p14="http://schemas.microsoft.com/office/powerpoint/2010/main" val="252159003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5.bin"/><Relationship Id="rId4" Type="http://schemas.openxmlformats.org/officeDocument/2006/relationships/image" Target="../media/image9.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image" Target="../media/image13.png"/><Relationship Id="rId4" Type="http://schemas.openxmlformats.org/officeDocument/2006/relationships/image" Target="../media/image12.wmf"/></Relationships>
</file>

<file path=ppt/slides/_rels/slide11.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8.wmf"/><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15.wmf"/><Relationship Id="rId11" Type="http://schemas.openxmlformats.org/officeDocument/2006/relationships/oleObject" Target="../embeddings/oleObject12.bin"/><Relationship Id="rId5" Type="http://schemas.openxmlformats.org/officeDocument/2006/relationships/oleObject" Target="../embeddings/oleObject9.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14.bin"/><Relationship Id="rId10" Type="http://schemas.openxmlformats.org/officeDocument/2006/relationships/image" Target="../media/image21.wmf"/><Relationship Id="rId4" Type="http://schemas.openxmlformats.org/officeDocument/2006/relationships/image" Target="../media/image19.wmf"/><Relationship Id="rId9" Type="http://schemas.openxmlformats.org/officeDocument/2006/relationships/oleObject" Target="../embeddings/oleObject16.bin"/></Relationships>
</file>

<file path=ppt/slides/_rels/slide13.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22.bin"/><Relationship Id="rId18" Type="http://schemas.openxmlformats.org/officeDocument/2006/relationships/oleObject" Target="../embeddings/oleObject25.bin"/><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26.wmf"/><Relationship Id="rId17" Type="http://schemas.openxmlformats.org/officeDocument/2006/relationships/image" Target="../media/image28.wmf"/><Relationship Id="rId2" Type="http://schemas.openxmlformats.org/officeDocument/2006/relationships/slideLayout" Target="../slideLayouts/slideLayout4.xml"/><Relationship Id="rId16" Type="http://schemas.openxmlformats.org/officeDocument/2006/relationships/oleObject" Target="../embeddings/oleObject24.bin"/><Relationship Id="rId1" Type="http://schemas.openxmlformats.org/officeDocument/2006/relationships/vmlDrawing" Target="../drawings/vmlDrawing6.vml"/><Relationship Id="rId6" Type="http://schemas.openxmlformats.org/officeDocument/2006/relationships/image" Target="../media/image23.wmf"/><Relationship Id="rId11" Type="http://schemas.openxmlformats.org/officeDocument/2006/relationships/oleObject" Target="../embeddings/oleObject21.bin"/><Relationship Id="rId5" Type="http://schemas.openxmlformats.org/officeDocument/2006/relationships/oleObject" Target="../embeddings/oleObject18.bin"/><Relationship Id="rId15" Type="http://schemas.openxmlformats.org/officeDocument/2006/relationships/image" Target="../media/image27.wmf"/><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20.bin"/><Relationship Id="rId14" Type="http://schemas.openxmlformats.org/officeDocument/2006/relationships/oleObject" Target="../embeddings/oleObject23.bin"/></Relationships>
</file>

<file path=ppt/slides/_rels/slide14.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30.wmf"/><Relationship Id="rId5" Type="http://schemas.openxmlformats.org/officeDocument/2006/relationships/oleObject" Target="../embeddings/oleObject27.bin"/><Relationship Id="rId4" Type="http://schemas.openxmlformats.org/officeDocument/2006/relationships/image" Target="../media/image29.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33.wmf"/><Relationship Id="rId5" Type="http://schemas.openxmlformats.org/officeDocument/2006/relationships/oleObject" Target="../embeddings/oleObject30.bin"/><Relationship Id="rId4" Type="http://schemas.openxmlformats.org/officeDocument/2006/relationships/image" Target="../media/image32.wmf"/></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oleObject" Target="../embeddings/oleObject31.bin"/><Relationship Id="rId7"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5.wmf"/><Relationship Id="rId5" Type="http://schemas.openxmlformats.org/officeDocument/2006/relationships/oleObject" Target="../embeddings/oleObject32.bin"/><Relationship Id="rId10" Type="http://schemas.openxmlformats.org/officeDocument/2006/relationships/image" Target="../media/image36.wmf"/><Relationship Id="rId4" Type="http://schemas.openxmlformats.org/officeDocument/2006/relationships/image" Target="../media/image34.wmf"/><Relationship Id="rId9" Type="http://schemas.openxmlformats.org/officeDocument/2006/relationships/oleObject" Target="../embeddings/oleObject33.bin"/></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44.png"/><Relationship Id="rId7" Type="http://schemas.openxmlformats.org/officeDocument/2006/relationships/image" Target="../media/image41.wmf"/><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oleObject" Target="../embeddings/oleObject35.bin"/><Relationship Id="rId11" Type="http://schemas.openxmlformats.org/officeDocument/2006/relationships/image" Target="../media/image43.wmf"/><Relationship Id="rId5" Type="http://schemas.openxmlformats.org/officeDocument/2006/relationships/image" Target="../media/image40.w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42.wmf"/></Relationships>
</file>

<file path=ppt/slides/_rels/slide19.x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oleObject" Target="../embeddings/oleObject43.bin"/><Relationship Id="rId3" Type="http://schemas.openxmlformats.org/officeDocument/2006/relationships/oleObject" Target="../embeddings/oleObject38.bin"/><Relationship Id="rId7" Type="http://schemas.openxmlformats.org/officeDocument/2006/relationships/oleObject" Target="../embeddings/oleObject40.bin"/><Relationship Id="rId12" Type="http://schemas.openxmlformats.org/officeDocument/2006/relationships/image" Target="../media/image49.wmf"/><Relationship Id="rId2" Type="http://schemas.openxmlformats.org/officeDocument/2006/relationships/slideLayout" Target="../slideLayouts/slideLayout4.xml"/><Relationship Id="rId16" Type="http://schemas.openxmlformats.org/officeDocument/2006/relationships/image" Target="../media/image51.wmf"/><Relationship Id="rId1" Type="http://schemas.openxmlformats.org/officeDocument/2006/relationships/vmlDrawing" Target="../drawings/vmlDrawing11.vml"/><Relationship Id="rId6" Type="http://schemas.openxmlformats.org/officeDocument/2006/relationships/image" Target="../media/image46.wmf"/><Relationship Id="rId11" Type="http://schemas.openxmlformats.org/officeDocument/2006/relationships/oleObject" Target="../embeddings/oleObject42.bin"/><Relationship Id="rId5" Type="http://schemas.openxmlformats.org/officeDocument/2006/relationships/oleObject" Target="../embeddings/oleObject39.bin"/><Relationship Id="rId15" Type="http://schemas.openxmlformats.org/officeDocument/2006/relationships/oleObject" Target="../embeddings/oleObject44.bin"/><Relationship Id="rId10" Type="http://schemas.openxmlformats.org/officeDocument/2006/relationships/image" Target="../media/image48.wmf"/><Relationship Id="rId4" Type="http://schemas.openxmlformats.org/officeDocument/2006/relationships/image" Target="../media/image45.wmf"/><Relationship Id="rId9" Type="http://schemas.openxmlformats.org/officeDocument/2006/relationships/oleObject" Target="../embeddings/oleObject41.bin"/><Relationship Id="rId14" Type="http://schemas.openxmlformats.org/officeDocument/2006/relationships/image" Target="../media/image50.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53.emf"/><Relationship Id="rId5" Type="http://schemas.openxmlformats.org/officeDocument/2006/relationships/oleObject" Target="../embeddings/oleObject46.bin"/><Relationship Id="rId4" Type="http://schemas.openxmlformats.org/officeDocument/2006/relationships/image" Target="../media/image52.emf"/></Relationships>
</file>

<file path=ppt/slides/_rels/slide2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3" Type="http://schemas.openxmlformats.org/officeDocument/2006/relationships/image" Target="../media/image61.wmf"/><Relationship Id="rId18" Type="http://schemas.openxmlformats.org/officeDocument/2006/relationships/oleObject" Target="../embeddings/oleObject54.bin"/><Relationship Id="rId26" Type="http://schemas.openxmlformats.org/officeDocument/2006/relationships/oleObject" Target="../embeddings/oleObject58.bin"/><Relationship Id="rId21" Type="http://schemas.openxmlformats.org/officeDocument/2006/relationships/image" Target="../media/image65.wmf"/><Relationship Id="rId34" Type="http://schemas.openxmlformats.org/officeDocument/2006/relationships/image" Target="../media/image71.wmf"/><Relationship Id="rId7" Type="http://schemas.openxmlformats.org/officeDocument/2006/relationships/image" Target="../media/image58.wmf"/><Relationship Id="rId12" Type="http://schemas.openxmlformats.org/officeDocument/2006/relationships/oleObject" Target="../embeddings/oleObject51.bin"/><Relationship Id="rId17" Type="http://schemas.openxmlformats.org/officeDocument/2006/relationships/image" Target="../media/image63.wmf"/><Relationship Id="rId25" Type="http://schemas.openxmlformats.org/officeDocument/2006/relationships/image" Target="../media/image67.wmf"/><Relationship Id="rId33" Type="http://schemas.openxmlformats.org/officeDocument/2006/relationships/oleObject" Target="../embeddings/oleObject62.bin"/><Relationship Id="rId38" Type="http://schemas.openxmlformats.org/officeDocument/2006/relationships/image" Target="../media/image73.wmf"/><Relationship Id="rId2" Type="http://schemas.openxmlformats.org/officeDocument/2006/relationships/slideLayout" Target="../slideLayouts/slideLayout4.xml"/><Relationship Id="rId16" Type="http://schemas.openxmlformats.org/officeDocument/2006/relationships/oleObject" Target="../embeddings/oleObject53.bin"/><Relationship Id="rId20" Type="http://schemas.openxmlformats.org/officeDocument/2006/relationships/oleObject" Target="../embeddings/oleObject55.bin"/><Relationship Id="rId29" Type="http://schemas.openxmlformats.org/officeDocument/2006/relationships/oleObject" Target="../embeddings/oleObject60.bin"/><Relationship Id="rId1" Type="http://schemas.openxmlformats.org/officeDocument/2006/relationships/vmlDrawing" Target="../drawings/vmlDrawing13.vml"/><Relationship Id="rId6" Type="http://schemas.openxmlformats.org/officeDocument/2006/relationships/oleObject" Target="../embeddings/oleObject48.bin"/><Relationship Id="rId11" Type="http://schemas.openxmlformats.org/officeDocument/2006/relationships/image" Target="../media/image60.wmf"/><Relationship Id="rId24" Type="http://schemas.openxmlformats.org/officeDocument/2006/relationships/oleObject" Target="../embeddings/oleObject57.bin"/><Relationship Id="rId32" Type="http://schemas.openxmlformats.org/officeDocument/2006/relationships/image" Target="../media/image70.wmf"/><Relationship Id="rId37" Type="http://schemas.openxmlformats.org/officeDocument/2006/relationships/oleObject" Target="../embeddings/oleObject64.bin"/><Relationship Id="rId5" Type="http://schemas.openxmlformats.org/officeDocument/2006/relationships/image" Target="../media/image57.wmf"/><Relationship Id="rId15" Type="http://schemas.openxmlformats.org/officeDocument/2006/relationships/image" Target="../media/image62.wmf"/><Relationship Id="rId23" Type="http://schemas.openxmlformats.org/officeDocument/2006/relationships/image" Target="../media/image66.wmf"/><Relationship Id="rId28" Type="http://schemas.openxmlformats.org/officeDocument/2006/relationships/image" Target="../media/image68.wmf"/><Relationship Id="rId36" Type="http://schemas.openxmlformats.org/officeDocument/2006/relationships/image" Target="../media/image72.wmf"/><Relationship Id="rId10" Type="http://schemas.openxmlformats.org/officeDocument/2006/relationships/oleObject" Target="../embeddings/oleObject50.bin"/><Relationship Id="rId19" Type="http://schemas.openxmlformats.org/officeDocument/2006/relationships/image" Target="../media/image64.wmf"/><Relationship Id="rId31" Type="http://schemas.openxmlformats.org/officeDocument/2006/relationships/oleObject" Target="../embeddings/oleObject61.bin"/><Relationship Id="rId4" Type="http://schemas.openxmlformats.org/officeDocument/2006/relationships/oleObject" Target="../embeddings/oleObject47.bin"/><Relationship Id="rId9" Type="http://schemas.openxmlformats.org/officeDocument/2006/relationships/image" Target="../media/image59.wmf"/><Relationship Id="rId14" Type="http://schemas.openxmlformats.org/officeDocument/2006/relationships/oleObject" Target="../embeddings/oleObject52.bin"/><Relationship Id="rId22" Type="http://schemas.openxmlformats.org/officeDocument/2006/relationships/oleObject" Target="../embeddings/oleObject56.bin"/><Relationship Id="rId27" Type="http://schemas.openxmlformats.org/officeDocument/2006/relationships/oleObject" Target="../embeddings/oleObject59.bin"/><Relationship Id="rId30" Type="http://schemas.openxmlformats.org/officeDocument/2006/relationships/image" Target="../media/image69.wmf"/><Relationship Id="rId35" Type="http://schemas.openxmlformats.org/officeDocument/2006/relationships/oleObject" Target="../embeddings/oleObject63.bin"/><Relationship Id="rId8" Type="http://schemas.openxmlformats.org/officeDocument/2006/relationships/oleObject" Target="../embeddings/oleObject49.bin"/><Relationship Id="rId3" Type="http://schemas.openxmlformats.org/officeDocument/2006/relationships/image" Target="../media/image56.png"/></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78.wmf"/><Relationship Id="rId18" Type="http://schemas.openxmlformats.org/officeDocument/2006/relationships/oleObject" Target="../embeddings/oleObject72.bin"/><Relationship Id="rId3" Type="http://schemas.openxmlformats.org/officeDocument/2006/relationships/oleObject" Target="../embeddings/oleObject65.bin"/><Relationship Id="rId7" Type="http://schemas.openxmlformats.org/officeDocument/2006/relationships/image" Target="../media/image75.wmf"/><Relationship Id="rId12" Type="http://schemas.openxmlformats.org/officeDocument/2006/relationships/oleObject" Target="../embeddings/oleObject69.bin"/><Relationship Id="rId17" Type="http://schemas.openxmlformats.org/officeDocument/2006/relationships/image" Target="../media/image80.wmf"/><Relationship Id="rId2" Type="http://schemas.openxmlformats.org/officeDocument/2006/relationships/slideLayout" Target="../slideLayouts/slideLayout4.xml"/><Relationship Id="rId16" Type="http://schemas.openxmlformats.org/officeDocument/2006/relationships/oleObject" Target="../embeddings/oleObject71.bin"/><Relationship Id="rId1" Type="http://schemas.openxmlformats.org/officeDocument/2006/relationships/vmlDrawing" Target="../drawings/vmlDrawing14.vml"/><Relationship Id="rId6" Type="http://schemas.openxmlformats.org/officeDocument/2006/relationships/oleObject" Target="../embeddings/oleObject66.bin"/><Relationship Id="rId11" Type="http://schemas.openxmlformats.org/officeDocument/2006/relationships/image" Target="../media/image77.wmf"/><Relationship Id="rId5" Type="http://schemas.openxmlformats.org/officeDocument/2006/relationships/image" Target="../media/image56.png"/><Relationship Id="rId15" Type="http://schemas.openxmlformats.org/officeDocument/2006/relationships/image" Target="../media/image79.wmf"/><Relationship Id="rId10" Type="http://schemas.openxmlformats.org/officeDocument/2006/relationships/oleObject" Target="../embeddings/oleObject68.bin"/><Relationship Id="rId19" Type="http://schemas.openxmlformats.org/officeDocument/2006/relationships/image" Target="../media/image81.wmf"/><Relationship Id="rId4" Type="http://schemas.openxmlformats.org/officeDocument/2006/relationships/image" Target="../media/image74.wmf"/><Relationship Id="rId9" Type="http://schemas.openxmlformats.org/officeDocument/2006/relationships/image" Target="../media/image76.wmf"/><Relationship Id="rId14" Type="http://schemas.openxmlformats.org/officeDocument/2006/relationships/oleObject" Target="../embeddings/oleObject70.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85.png"/><Relationship Id="rId4" Type="http://schemas.openxmlformats.org/officeDocument/2006/relationships/oleObject" Target="../embeddings/oleObject73.bin"/></Relationships>
</file>

<file path=ppt/slides/_rels/slide3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3.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87.png"/><Relationship Id="rId4" Type="http://schemas.openxmlformats.org/officeDocument/2006/relationships/oleObject" Target="../embeddings/oleObject74.bin"/></Relationships>
</file>

<file path=ppt/slides/_rels/slide32.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87.png"/><Relationship Id="rId4" Type="http://schemas.openxmlformats.org/officeDocument/2006/relationships/oleObject" Target="../embeddings/oleObject74.bin"/></Relationships>
</file>

<file path=ppt/slides/_rels/slide33.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slideLayout" Target="../slideLayouts/slideLayout12.xml"/><Relationship Id="rId1" Type="http://schemas.openxmlformats.org/officeDocument/2006/relationships/vmlDrawing" Target="../drawings/vmlDrawing18.vml"/><Relationship Id="rId5" Type="http://schemas.openxmlformats.org/officeDocument/2006/relationships/image" Target="../media/image88.png"/><Relationship Id="rId4" Type="http://schemas.openxmlformats.org/officeDocument/2006/relationships/oleObject" Target="../embeddings/oleObject75.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C5C5A83-6CF7-43AB-A375-FFCD0D286F39}"/>
              </a:ext>
            </a:extLst>
          </p:cNvPr>
          <p:cNvSpPr>
            <a:spLocks noGrp="1" noChangeArrowheads="1"/>
          </p:cNvSpPr>
          <p:nvPr>
            <p:ph type="title"/>
          </p:nvPr>
        </p:nvSpPr>
        <p:spPr>
          <a:xfrm>
            <a:off x="1475656" y="476672"/>
            <a:ext cx="6463630" cy="1325563"/>
          </a:xfrm>
        </p:spPr>
        <p:txBody>
          <a:bodyPr/>
          <a:lstStyle/>
          <a:p>
            <a:pPr>
              <a:lnSpc>
                <a:spcPct val="110000"/>
              </a:lnSpc>
              <a:spcBef>
                <a:spcPts val="0"/>
              </a:spcBef>
            </a:pPr>
            <a:r>
              <a:rPr lang="zh-CN" altLang="en-US" dirty="0">
                <a:latin typeface="Times New Roman" panose="02020603050405020304" pitchFamily="18" charset="0"/>
                <a:ea typeface="宋体" panose="02010600030101010101" pitchFamily="2" charset="-122"/>
              </a:rPr>
              <a:t>第二章 </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结机理与特性</a:t>
            </a:r>
          </a:p>
        </p:txBody>
      </p:sp>
      <p:sp>
        <p:nvSpPr>
          <p:cNvPr id="2" name="矩形 1">
            <a:extLst>
              <a:ext uri="{FF2B5EF4-FFF2-40B4-BE49-F238E27FC236}">
                <a16:creationId xmlns:a16="http://schemas.microsoft.com/office/drawing/2014/main" id="{37D91D68-6D10-40B3-A612-ED5B19B13D12}"/>
              </a:ext>
            </a:extLst>
          </p:cNvPr>
          <p:cNvSpPr/>
          <p:nvPr/>
        </p:nvSpPr>
        <p:spPr>
          <a:xfrm>
            <a:off x="827584" y="2276872"/>
            <a:ext cx="7627869" cy="3970318"/>
          </a:xfrm>
          <a:prstGeom prst="rect">
            <a:avLst/>
          </a:prstGeom>
        </p:spPr>
        <p:txBody>
          <a:bodyPr wrap="square">
            <a:spAutoFit/>
          </a:bodyPr>
          <a:lstStyle/>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2.1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平衡</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2.2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正向</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2.3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反向</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2.4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结空间电荷区的电场、位分布和宽度</a:t>
            </a:r>
          </a:p>
          <a:p>
            <a:pPr>
              <a:lnSpc>
                <a:spcPct val="150000"/>
              </a:lnSpc>
            </a:pPr>
            <a:r>
              <a:rPr lang="en-US" altLang="zh-CN" sz="28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2.5  PN</a:t>
            </a:r>
            <a:r>
              <a:rPr lang="zh-CN" altLang="en-US" sz="28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结击穿机理与击穿特性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2.6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结的电容特性</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51F8E4D4-99C2-419F-B5BE-E5FA653AC4AC}"/>
              </a:ext>
            </a:extLst>
          </p:cNvPr>
          <p:cNvSpPr>
            <a:spLocks noGrp="1" noChangeArrowheads="1"/>
          </p:cNvSpPr>
          <p:nvPr>
            <p:ph type="title"/>
          </p:nvPr>
        </p:nvSpPr>
        <p:spPr>
          <a:xfrm>
            <a:off x="540543" y="237333"/>
            <a:ext cx="7886700" cy="1325563"/>
          </a:xfrm>
        </p:spPr>
        <p:txBody>
          <a:bodyPr>
            <a:normAutofit/>
          </a:bodyPr>
          <a:lstStyle/>
          <a:p>
            <a:pPr>
              <a:lnSpc>
                <a:spcPct val="110000"/>
              </a:lnSpc>
              <a:spcBef>
                <a:spcPts val="0"/>
              </a:spcBef>
            </a:pPr>
            <a:r>
              <a:rPr lang="en-US" altLang="zh-CN" dirty="0">
                <a:latin typeface="Times New Roman" panose="02020603050405020304" pitchFamily="18" charset="0"/>
                <a:ea typeface="宋体" panose="02010600030101010101" pitchFamily="2" charset="-122"/>
              </a:rPr>
              <a:t>2.5 PN</a:t>
            </a:r>
            <a:r>
              <a:rPr lang="zh-CN" altLang="en-US" dirty="0">
                <a:latin typeface="Times New Roman" panose="02020603050405020304" pitchFamily="18" charset="0"/>
                <a:ea typeface="宋体" panose="02010600030101010101" pitchFamily="2" charset="-122"/>
              </a:rPr>
              <a:t>结击穿机理与击穿特性</a:t>
            </a:r>
            <a:br>
              <a:rPr lang="zh-CN" altLang="en-US" dirty="0">
                <a:latin typeface="Times New Roman" panose="02020603050405020304" pitchFamily="18" charset="0"/>
                <a:ea typeface="宋体" panose="02010600030101010101" pitchFamily="2" charset="-122"/>
              </a:rPr>
            </a:br>
            <a:r>
              <a:rPr lang="en-US" altLang="zh-CN" sz="3200" dirty="0">
                <a:latin typeface="Times New Roman" panose="02020603050405020304" pitchFamily="18" charset="0"/>
                <a:ea typeface="宋体" panose="02010600030101010101" pitchFamily="2" charset="-122"/>
              </a:rPr>
              <a:t>2.5.1 PN</a:t>
            </a:r>
            <a:r>
              <a:rPr lang="zh-CN" altLang="en-US" sz="3200" dirty="0">
                <a:latin typeface="Times New Roman" panose="02020603050405020304" pitchFamily="18" charset="0"/>
                <a:ea typeface="宋体" panose="02010600030101010101" pitchFamily="2" charset="-122"/>
              </a:rPr>
              <a:t>结击穿机理</a:t>
            </a:r>
          </a:p>
        </p:txBody>
      </p:sp>
      <p:sp>
        <p:nvSpPr>
          <p:cNvPr id="95235" name="Rectangle 3">
            <a:extLst>
              <a:ext uri="{FF2B5EF4-FFF2-40B4-BE49-F238E27FC236}">
                <a16:creationId xmlns:a16="http://schemas.microsoft.com/office/drawing/2014/main" id="{523DAADA-3724-4F16-9B5E-FBEC27B2EE6C}"/>
              </a:ext>
            </a:extLst>
          </p:cNvPr>
          <p:cNvSpPr>
            <a:spLocks noGrp="1" noChangeArrowheads="1"/>
          </p:cNvSpPr>
          <p:nvPr>
            <p:ph idx="1"/>
          </p:nvPr>
        </p:nvSpPr>
        <p:spPr>
          <a:xfrm>
            <a:off x="216024" y="4437112"/>
            <a:ext cx="4431308" cy="1482725"/>
          </a:xfrm>
        </p:spPr>
        <p:txBody>
          <a:bodyPr>
            <a:normAutofit fontScale="85000" lnSpcReduction="10000"/>
          </a:bodyPr>
          <a:lstStyle/>
          <a:p>
            <a:pPr marL="0" indent="0">
              <a:lnSpc>
                <a:spcPct val="110000"/>
              </a:lnSpc>
              <a:spcBef>
                <a:spcPts val="0"/>
              </a:spcBef>
              <a:buNone/>
            </a:pP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1</a:t>
            </a:r>
            <a:r>
              <a:rPr lang="zh-CN" altLang="en-US" sz="2400" b="1" dirty="0">
                <a:solidFill>
                  <a:srgbClr val="FF0000"/>
                </a:solidFill>
                <a:latin typeface="Times New Roman" panose="02020603050405020304" pitchFamily="18" charset="0"/>
                <a:ea typeface="宋体" panose="02010600030101010101" pitchFamily="2" charset="-122"/>
              </a:rPr>
              <a:t>）热电击穿</a:t>
            </a:r>
          </a:p>
          <a:p>
            <a:pPr>
              <a:lnSpc>
                <a:spcPct val="110000"/>
              </a:lnSpc>
              <a:spcBef>
                <a:spcPts val="0"/>
              </a:spcBef>
              <a:buFont typeface="Wingdings" panose="05000000000000000000" pitchFamily="2" charset="2"/>
              <a:buNone/>
            </a:pPr>
            <a:r>
              <a:rPr lang="zh-CN" altLang="en-US"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PN</a:t>
            </a:r>
            <a:r>
              <a:rPr lang="zh-CN" altLang="en-US" sz="2400" b="1" dirty="0">
                <a:latin typeface="Times New Roman" panose="02020603050405020304" pitchFamily="18" charset="0"/>
                <a:ea typeface="宋体" panose="02010600030101010101" pitchFamily="2" charset="-122"/>
              </a:rPr>
              <a:t>结加偏压增加，温度上升，反向电流增大，两者循环下去，最终导致反向电流无限增大而发生击穿。</a:t>
            </a:r>
          </a:p>
        </p:txBody>
      </p:sp>
      <p:pic>
        <p:nvPicPr>
          <p:cNvPr id="95236" name="Picture 4" descr="0241">
            <a:extLst>
              <a:ext uri="{FF2B5EF4-FFF2-40B4-BE49-F238E27FC236}">
                <a16:creationId xmlns:a16="http://schemas.microsoft.com/office/drawing/2014/main" id="{CEF5BADF-078C-4B0E-9BB0-926F0ABD34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3466914"/>
            <a:ext cx="3166275" cy="2639058"/>
          </a:xfrm>
          <a:prstGeom prst="rect">
            <a:avLst/>
          </a:prstGeom>
          <a:noFill/>
          <a:extLst>
            <a:ext uri="{909E8E84-426E-40DD-AFC4-6F175D3DCCD1}">
              <a14:hiddenFill xmlns:a14="http://schemas.microsoft.com/office/drawing/2010/main">
                <a:solidFill>
                  <a:srgbClr val="FFFFFF"/>
                </a:solidFill>
              </a14:hiddenFill>
            </a:ext>
          </a:extLst>
        </p:spPr>
      </p:pic>
      <p:sp>
        <p:nvSpPr>
          <p:cNvPr id="95237" name="Text Box 5">
            <a:extLst>
              <a:ext uri="{FF2B5EF4-FFF2-40B4-BE49-F238E27FC236}">
                <a16:creationId xmlns:a16="http://schemas.microsoft.com/office/drawing/2014/main" id="{17E1EF07-0DF0-4029-9480-BCF58B807011}"/>
              </a:ext>
            </a:extLst>
          </p:cNvPr>
          <p:cNvSpPr txBox="1">
            <a:spLocks noChangeArrowheads="1"/>
          </p:cNvSpPr>
          <p:nvPr/>
        </p:nvSpPr>
        <p:spPr bwMode="auto">
          <a:xfrm>
            <a:off x="4788024" y="6249988"/>
            <a:ext cx="381635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en-US" altLang="zh-CN">
                <a:latin typeface="Times New Roman" panose="02020603050405020304" pitchFamily="18" charset="0"/>
                <a:ea typeface="宋体" panose="02010600030101010101" pitchFamily="2" charset="-122"/>
              </a:rPr>
              <a:t>PN</a:t>
            </a:r>
            <a:r>
              <a:rPr lang="zh-CN" altLang="en-US">
                <a:latin typeface="Times New Roman" panose="02020603050405020304" pitchFamily="18" charset="0"/>
                <a:ea typeface="宋体" panose="02010600030101010101" pitchFamily="2" charset="-122"/>
              </a:rPr>
              <a:t>结的击穿现象</a:t>
            </a:r>
          </a:p>
        </p:txBody>
      </p:sp>
      <p:sp>
        <p:nvSpPr>
          <p:cNvPr id="6" name="Rectangle 8">
            <a:extLst>
              <a:ext uri="{FF2B5EF4-FFF2-40B4-BE49-F238E27FC236}">
                <a16:creationId xmlns:a16="http://schemas.microsoft.com/office/drawing/2014/main" id="{8FA39843-F78B-4FA7-97AD-036F9E108E7E}"/>
              </a:ext>
            </a:extLst>
          </p:cNvPr>
          <p:cNvSpPr>
            <a:spLocks noChangeArrowheads="1"/>
          </p:cNvSpPr>
          <p:nvPr/>
        </p:nvSpPr>
        <p:spPr bwMode="auto">
          <a:xfrm>
            <a:off x="216024" y="1727014"/>
            <a:ext cx="2160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a:solidFill>
                  <a:srgbClr val="993300"/>
                </a:solidFill>
                <a:latin typeface="Times New Roman" panose="02020603050405020304" pitchFamily="18" charset="0"/>
              </a:rPr>
              <a:t>1.PN</a:t>
            </a:r>
            <a:r>
              <a:rPr lang="zh-CN" altLang="en-US" b="1">
                <a:solidFill>
                  <a:srgbClr val="993300"/>
                </a:solidFill>
                <a:latin typeface="Times New Roman" panose="02020603050405020304" pitchFamily="18" charset="0"/>
              </a:rPr>
              <a:t>结击穿</a:t>
            </a:r>
          </a:p>
        </p:txBody>
      </p:sp>
      <p:sp>
        <p:nvSpPr>
          <p:cNvPr id="7" name="Rectangle 9">
            <a:extLst>
              <a:ext uri="{FF2B5EF4-FFF2-40B4-BE49-F238E27FC236}">
                <a16:creationId xmlns:a16="http://schemas.microsoft.com/office/drawing/2014/main" id="{5C97D7C1-FE0B-428C-A4BF-6A3EDA27C3E8}"/>
              </a:ext>
            </a:extLst>
          </p:cNvPr>
          <p:cNvSpPr>
            <a:spLocks noChangeArrowheads="1"/>
          </p:cNvSpPr>
          <p:nvPr/>
        </p:nvSpPr>
        <p:spPr bwMode="auto">
          <a:xfrm>
            <a:off x="647824" y="2231839"/>
            <a:ext cx="79565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20000"/>
              </a:spcBef>
            </a:pPr>
            <a:r>
              <a:rPr kumimoji="0" lang="zh-CN" altLang="en-US" sz="2000" b="1">
                <a:solidFill>
                  <a:srgbClr val="000066"/>
                </a:solidFill>
                <a:latin typeface="Times New Roman" panose="02020603050405020304" pitchFamily="18" charset="0"/>
                <a:sym typeface="Symbol" panose="05050102010706020507" pitchFamily="18" charset="2"/>
              </a:rPr>
              <a:t>当加在</a:t>
            </a:r>
            <a:r>
              <a:rPr kumimoji="0" lang="en-US" altLang="zh-CN" sz="2000" b="1">
                <a:solidFill>
                  <a:srgbClr val="000066"/>
                </a:solidFill>
                <a:latin typeface="Times New Roman" panose="02020603050405020304" pitchFamily="18" charset="0"/>
                <a:sym typeface="Symbol" panose="05050102010706020507" pitchFamily="18" charset="2"/>
              </a:rPr>
              <a:t>PN</a:t>
            </a:r>
            <a:r>
              <a:rPr kumimoji="0" lang="zh-CN" altLang="en-US" sz="2000" b="1">
                <a:solidFill>
                  <a:srgbClr val="000066"/>
                </a:solidFill>
                <a:latin typeface="Times New Roman" panose="02020603050405020304" pitchFamily="18" charset="0"/>
                <a:sym typeface="Symbol" panose="05050102010706020507" pitchFamily="18" charset="2"/>
              </a:rPr>
              <a:t>结上的反偏压增加到一定数值，再稍微增加，</a:t>
            </a:r>
            <a:r>
              <a:rPr kumimoji="0" lang="en-US" altLang="zh-CN" sz="2000" b="1">
                <a:solidFill>
                  <a:srgbClr val="000066"/>
                </a:solidFill>
                <a:latin typeface="Times New Roman" panose="02020603050405020304" pitchFamily="18" charset="0"/>
                <a:sym typeface="Symbol" panose="05050102010706020507" pitchFamily="18" charset="2"/>
              </a:rPr>
              <a:t>PN</a:t>
            </a:r>
            <a:r>
              <a:rPr kumimoji="0" lang="zh-CN" altLang="en-US" sz="2000" b="1">
                <a:solidFill>
                  <a:srgbClr val="000066"/>
                </a:solidFill>
                <a:latin typeface="Times New Roman" panose="02020603050405020304" pitchFamily="18" charset="0"/>
                <a:sym typeface="Symbol" panose="05050102010706020507" pitchFamily="18" charset="2"/>
              </a:rPr>
              <a:t>结就会产生很大的反向电流。这种现象叫做结击穿。击穿过程并非具有破坏性的，只要最大电流受到限制，它可以长期地重复。</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1">
            <a:extLst>
              <a:ext uri="{FF2B5EF4-FFF2-40B4-BE49-F238E27FC236}">
                <a16:creationId xmlns:a16="http://schemas.microsoft.com/office/drawing/2014/main" id="{6E609B74-C98D-49C6-A4B3-D6A76FB6AADC}"/>
              </a:ext>
            </a:extLst>
          </p:cNvPr>
          <p:cNvSpPr>
            <a:spLocks noChangeArrowheads="1"/>
          </p:cNvSpPr>
          <p:nvPr/>
        </p:nvSpPr>
        <p:spPr bwMode="auto">
          <a:xfrm>
            <a:off x="287239" y="332656"/>
            <a:ext cx="799306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kumimoji="0" lang="zh-CN" altLang="en-US" sz="2000" b="1" dirty="0">
                <a:solidFill>
                  <a:srgbClr val="FF3300"/>
                </a:solidFill>
                <a:latin typeface="Times New Roman" panose="02020603050405020304" pitchFamily="18" charset="0"/>
                <a:sym typeface="Symbol" panose="05050102010706020507" pitchFamily="18" charset="2"/>
              </a:rPr>
              <a:t>（</a:t>
            </a:r>
            <a:r>
              <a:rPr kumimoji="0" lang="en-US" altLang="zh-CN" sz="2000" b="1" dirty="0">
                <a:solidFill>
                  <a:srgbClr val="FF3300"/>
                </a:solidFill>
                <a:latin typeface="Times New Roman" panose="02020603050405020304" pitchFamily="18" charset="0"/>
                <a:sym typeface="Symbol" panose="05050102010706020507" pitchFamily="18" charset="2"/>
              </a:rPr>
              <a:t>2</a:t>
            </a:r>
            <a:r>
              <a:rPr kumimoji="0" lang="zh-CN" altLang="en-US" sz="2000" b="1" dirty="0">
                <a:solidFill>
                  <a:srgbClr val="FF3300"/>
                </a:solidFill>
                <a:latin typeface="Times New Roman" panose="02020603050405020304" pitchFamily="18" charset="0"/>
                <a:sym typeface="Symbol" panose="05050102010706020507" pitchFamily="18" charset="2"/>
              </a:rPr>
              <a:t>）齐纳击穿：</a:t>
            </a:r>
            <a:endParaRPr kumimoji="0" lang="en-US" altLang="zh-CN" sz="2000" b="1" dirty="0">
              <a:solidFill>
                <a:srgbClr val="FF3300"/>
              </a:solidFill>
              <a:latin typeface="Times New Roman" panose="02020603050405020304" pitchFamily="18" charset="0"/>
              <a:sym typeface="Symbol" panose="05050102010706020507" pitchFamily="18" charset="2"/>
            </a:endParaRPr>
          </a:p>
          <a:p>
            <a:pPr eaLnBrk="1" hangingPunct="1">
              <a:lnSpc>
                <a:spcPct val="120000"/>
              </a:lnSpc>
            </a:pPr>
            <a:r>
              <a:rPr kumimoji="0" lang="en-US" altLang="zh-CN" sz="2000" b="1" dirty="0">
                <a:solidFill>
                  <a:srgbClr val="FF3300"/>
                </a:solidFill>
                <a:latin typeface="Times New Roman" panose="02020603050405020304" pitchFamily="18" charset="0"/>
                <a:sym typeface="Symbol" panose="05050102010706020507" pitchFamily="18" charset="2"/>
              </a:rPr>
              <a:t>    </a:t>
            </a:r>
            <a:r>
              <a:rPr kumimoji="0" lang="zh-CN" altLang="en-US" sz="2000" b="1" dirty="0">
                <a:solidFill>
                  <a:srgbClr val="000066"/>
                </a:solidFill>
                <a:latin typeface="Times New Roman" panose="02020603050405020304" pitchFamily="18" charset="0"/>
                <a:sym typeface="Symbol" panose="05050102010706020507" pitchFamily="18" charset="2"/>
              </a:rPr>
              <a:t>齐纳提出在高电场下耗尽区的共价键断裂产生电子和空穴，即有些价电子通过量子力学的隧道效应从价带转移到导带，从而形成反向隧道电流。齐纳击穿发生在低电压情况下，比如硅</a:t>
            </a:r>
            <a:r>
              <a:rPr kumimoji="0" lang="en-US" altLang="zh-CN" sz="2000" b="1" dirty="0">
                <a:solidFill>
                  <a:srgbClr val="000066"/>
                </a:solidFill>
                <a:latin typeface="Times New Roman" panose="02020603050405020304" pitchFamily="18" charset="0"/>
                <a:sym typeface="Symbol" panose="05050102010706020507" pitchFamily="18" charset="2"/>
              </a:rPr>
              <a:t>PN</a:t>
            </a:r>
            <a:r>
              <a:rPr kumimoji="0" lang="zh-CN" altLang="en-US" sz="2000" b="1" dirty="0">
                <a:solidFill>
                  <a:srgbClr val="000066"/>
                </a:solidFill>
                <a:latin typeface="Times New Roman" panose="02020603050405020304" pitchFamily="18" charset="0"/>
                <a:sym typeface="Symbol" panose="05050102010706020507" pitchFamily="18" charset="2"/>
              </a:rPr>
              <a:t>结低于</a:t>
            </a:r>
            <a:r>
              <a:rPr kumimoji="0" lang="en-US" altLang="zh-CN" sz="2000" b="1" dirty="0">
                <a:solidFill>
                  <a:srgbClr val="000066"/>
                </a:solidFill>
                <a:latin typeface="Times New Roman" panose="02020603050405020304" pitchFamily="18" charset="0"/>
                <a:sym typeface="Symbol" panose="05050102010706020507" pitchFamily="18" charset="2"/>
              </a:rPr>
              <a:t>4V</a:t>
            </a:r>
            <a:r>
              <a:rPr kumimoji="0" lang="zh-CN" altLang="en-US" sz="2000" b="1" dirty="0">
                <a:solidFill>
                  <a:srgbClr val="000066"/>
                </a:solidFill>
                <a:latin typeface="Times New Roman" panose="02020603050405020304" pitchFamily="18" charset="0"/>
                <a:sym typeface="Symbol" panose="05050102010706020507" pitchFamily="18" charset="2"/>
              </a:rPr>
              <a:t>情况下发生的击穿。</a:t>
            </a:r>
          </a:p>
        </p:txBody>
      </p:sp>
      <p:sp>
        <p:nvSpPr>
          <p:cNvPr id="8" name="Rectangle 12">
            <a:extLst>
              <a:ext uri="{FF2B5EF4-FFF2-40B4-BE49-F238E27FC236}">
                <a16:creationId xmlns:a16="http://schemas.microsoft.com/office/drawing/2014/main" id="{0FF631D7-8010-458D-8CF2-A0540B45B904}"/>
              </a:ext>
            </a:extLst>
          </p:cNvPr>
          <p:cNvSpPr>
            <a:spLocks noChangeArrowheads="1"/>
          </p:cNvSpPr>
          <p:nvPr/>
        </p:nvSpPr>
        <p:spPr bwMode="auto">
          <a:xfrm>
            <a:off x="251520" y="2237908"/>
            <a:ext cx="8064500" cy="79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kumimoji="0" lang="zh-CN" altLang="en-US" sz="2000" b="1" dirty="0">
                <a:solidFill>
                  <a:srgbClr val="FF3300"/>
                </a:solidFill>
                <a:latin typeface="Times New Roman" panose="02020603050405020304" pitchFamily="18" charset="0"/>
                <a:sym typeface="Symbol" panose="05050102010706020507" pitchFamily="18" charset="2"/>
              </a:rPr>
              <a:t>（</a:t>
            </a:r>
            <a:r>
              <a:rPr kumimoji="0" lang="en-US" altLang="zh-CN" sz="2000" b="1" dirty="0">
                <a:solidFill>
                  <a:srgbClr val="FF3300"/>
                </a:solidFill>
                <a:latin typeface="Times New Roman" panose="02020603050405020304" pitchFamily="18" charset="0"/>
                <a:sym typeface="Symbol" panose="05050102010706020507" pitchFamily="18" charset="2"/>
              </a:rPr>
              <a:t>3</a:t>
            </a:r>
            <a:r>
              <a:rPr kumimoji="0" lang="zh-CN" altLang="en-US" sz="2000" b="1" dirty="0">
                <a:solidFill>
                  <a:srgbClr val="FF3300"/>
                </a:solidFill>
                <a:latin typeface="Times New Roman" panose="02020603050405020304" pitchFamily="18" charset="0"/>
                <a:sym typeface="Symbol" panose="05050102010706020507" pitchFamily="18" charset="2"/>
              </a:rPr>
              <a:t>）雪崩击穿：</a:t>
            </a:r>
            <a:r>
              <a:rPr kumimoji="0" lang="zh-CN" altLang="en-US" sz="2000" b="1" dirty="0">
                <a:solidFill>
                  <a:srgbClr val="000066"/>
                </a:solidFill>
                <a:latin typeface="Times New Roman" panose="02020603050405020304" pitchFamily="18" charset="0"/>
                <a:sym typeface="Symbol" panose="05050102010706020507" pitchFamily="18" charset="2"/>
              </a:rPr>
              <a:t>对于高电压击穿的结，例如，在硅中大于</a:t>
            </a:r>
            <a:r>
              <a:rPr kumimoji="0" lang="en-US" altLang="zh-CN" sz="2000" b="1" dirty="0">
                <a:solidFill>
                  <a:srgbClr val="000066"/>
                </a:solidFill>
                <a:latin typeface="Times New Roman" panose="02020603050405020304" pitchFamily="18" charset="0"/>
                <a:sym typeface="Symbol" panose="05050102010706020507" pitchFamily="18" charset="2"/>
              </a:rPr>
              <a:t>6V</a:t>
            </a:r>
            <a:r>
              <a:rPr kumimoji="0" lang="zh-CN" altLang="en-US" sz="2000" b="1" dirty="0">
                <a:solidFill>
                  <a:srgbClr val="000066"/>
                </a:solidFill>
                <a:latin typeface="Times New Roman" panose="02020603050405020304" pitchFamily="18" charset="0"/>
                <a:sym typeface="Symbol" panose="05050102010706020507" pitchFamily="18" charset="2"/>
              </a:rPr>
              <a:t>的击穿，雪崩机制是产生击穿的原因。</a:t>
            </a:r>
          </a:p>
        </p:txBody>
      </p:sp>
      <p:sp>
        <p:nvSpPr>
          <p:cNvPr id="10" name="Rectangle 6">
            <a:extLst>
              <a:ext uri="{FF2B5EF4-FFF2-40B4-BE49-F238E27FC236}">
                <a16:creationId xmlns:a16="http://schemas.microsoft.com/office/drawing/2014/main" id="{EFF73380-F10C-4D79-ACF0-9342541855CC}"/>
              </a:ext>
            </a:extLst>
          </p:cNvPr>
          <p:cNvSpPr>
            <a:spLocks noChangeArrowheads="1"/>
          </p:cNvSpPr>
          <p:nvPr/>
        </p:nvSpPr>
        <p:spPr bwMode="auto">
          <a:xfrm>
            <a:off x="395536" y="3212976"/>
            <a:ext cx="5183187"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kumimoji="0" lang="zh-CN" altLang="en-US" sz="2000" b="1">
                <a:solidFill>
                  <a:srgbClr val="FF3300"/>
                </a:solidFill>
                <a:latin typeface="Times New Roman" panose="02020603050405020304" pitchFamily="18" charset="0"/>
                <a:sym typeface="Symbol" panose="05050102010706020507" pitchFamily="18" charset="2"/>
              </a:rPr>
              <a:t>雪崩倍增：</a:t>
            </a:r>
            <a:r>
              <a:rPr kumimoji="0" lang="zh-CN" altLang="en-US" sz="2000" b="1">
                <a:solidFill>
                  <a:srgbClr val="000066"/>
                </a:solidFill>
                <a:latin typeface="Times New Roman" panose="02020603050405020304" pitchFamily="18" charset="0"/>
                <a:sym typeface="Symbol" panose="05050102010706020507" pitchFamily="18" charset="2"/>
              </a:rPr>
              <a:t>在反偏结的空间电荷区，假设在</a:t>
            </a:r>
            <a:r>
              <a:rPr kumimoji="0" lang="en-US" altLang="zh-CN" sz="2000" b="1">
                <a:solidFill>
                  <a:srgbClr val="000066"/>
                </a:solidFill>
                <a:latin typeface="Times New Roman" panose="02020603050405020304" pitchFamily="18" charset="0"/>
                <a:sym typeface="Symbol" panose="05050102010706020507" pitchFamily="18" charset="2"/>
              </a:rPr>
              <a:t>N</a:t>
            </a:r>
            <a:r>
              <a:rPr kumimoji="0" lang="zh-CN" altLang="en-US" sz="2000" b="1">
                <a:solidFill>
                  <a:srgbClr val="000066"/>
                </a:solidFill>
                <a:latin typeface="Times New Roman" panose="02020603050405020304" pitchFamily="18" charset="0"/>
                <a:sym typeface="Symbol" panose="05050102010706020507" pitchFamily="18" charset="2"/>
              </a:rPr>
              <a:t>区的一个杂散空穴进入空间电荷层，在它掠向</a:t>
            </a:r>
            <a:r>
              <a:rPr kumimoji="0" lang="en-US" altLang="zh-CN" sz="2000" b="1">
                <a:solidFill>
                  <a:srgbClr val="000066"/>
                </a:solidFill>
                <a:latin typeface="Times New Roman" panose="02020603050405020304" pitchFamily="18" charset="0"/>
                <a:sym typeface="Symbol" panose="05050102010706020507" pitchFamily="18" charset="2"/>
              </a:rPr>
              <a:t>P</a:t>
            </a:r>
            <a:r>
              <a:rPr kumimoji="0" lang="zh-CN" altLang="en-US" sz="2000" b="1">
                <a:solidFill>
                  <a:srgbClr val="000066"/>
                </a:solidFill>
                <a:latin typeface="Times New Roman" panose="02020603050405020304" pitchFamily="18" charset="0"/>
                <a:sym typeface="Symbol" panose="05050102010706020507" pitchFamily="18" charset="2"/>
              </a:rPr>
              <a:t>区的过程中，从电场获得动能，高能空穴和晶格碰撞，从晶格中电离出一个电子从而产生一个电子－空穴对。在第一次碰撞之后，原始的和产生的载流子将继续它们的行程，并发生更多的碰撞，产生更多的载流子。结果使载流子的增加是一个倍增的过程。</a:t>
            </a:r>
          </a:p>
        </p:txBody>
      </p:sp>
      <p:pic>
        <p:nvPicPr>
          <p:cNvPr id="11" name="Picture 3">
            <a:extLst>
              <a:ext uri="{FF2B5EF4-FFF2-40B4-BE49-F238E27FC236}">
                <a16:creationId xmlns:a16="http://schemas.microsoft.com/office/drawing/2014/main" id="{52234204-59AF-4A20-A9AA-C642ECD866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6211" y="2852614"/>
            <a:ext cx="2854325" cy="374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pic>
    </p:spTree>
    <p:extLst>
      <p:ext uri="{BB962C8B-B14F-4D97-AF65-F5344CB8AC3E}">
        <p14:creationId xmlns:p14="http://schemas.microsoft.com/office/powerpoint/2010/main" val="2635852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8A23D581-383F-4E2F-B447-5B6AC36B92C3}"/>
              </a:ext>
            </a:extLst>
          </p:cNvPr>
          <p:cNvSpPr>
            <a:spLocks noGrp="1" noChangeArrowheads="1"/>
          </p:cNvSpPr>
          <p:nvPr>
            <p:ph type="title"/>
          </p:nvPr>
        </p:nvSpPr>
        <p:spPr/>
        <p:txBody>
          <a:bodyPr/>
          <a:lstStyle/>
          <a:p>
            <a:pPr>
              <a:lnSpc>
                <a:spcPct val="110000"/>
              </a:lnSpc>
              <a:spcBef>
                <a:spcPts val="0"/>
              </a:spcBef>
            </a:pPr>
            <a:r>
              <a:rPr lang="en-US" altLang="zh-CN" sz="3200">
                <a:latin typeface="Times New Roman" panose="02020603050405020304" pitchFamily="18" charset="0"/>
                <a:ea typeface="宋体" panose="02010600030101010101" pitchFamily="2" charset="-122"/>
              </a:rPr>
              <a:t>2.5.3 </a:t>
            </a:r>
            <a:r>
              <a:rPr lang="zh-CN" altLang="en-US" sz="3200">
                <a:latin typeface="Times New Roman" panose="02020603050405020304" pitchFamily="18" charset="0"/>
                <a:ea typeface="宋体" panose="02010600030101010101" pitchFamily="2" charset="-122"/>
              </a:rPr>
              <a:t>影响雪崩击穿电压的主要因素</a:t>
            </a:r>
          </a:p>
        </p:txBody>
      </p:sp>
      <p:sp>
        <p:nvSpPr>
          <p:cNvPr id="101379" name="Rectangle 3">
            <a:extLst>
              <a:ext uri="{FF2B5EF4-FFF2-40B4-BE49-F238E27FC236}">
                <a16:creationId xmlns:a16="http://schemas.microsoft.com/office/drawing/2014/main" id="{A47E1B6B-5B0A-4356-AAA8-D4EF5BD945D8}"/>
              </a:ext>
            </a:extLst>
          </p:cNvPr>
          <p:cNvSpPr>
            <a:spLocks noGrp="1" noChangeArrowheads="1"/>
          </p:cNvSpPr>
          <p:nvPr>
            <p:ph idx="1"/>
          </p:nvPr>
        </p:nvSpPr>
        <p:spPr>
          <a:xfrm>
            <a:off x="1454150" y="1772816"/>
            <a:ext cx="7061200" cy="1482725"/>
          </a:xfrm>
        </p:spPr>
        <p:txBody>
          <a:bodyPr/>
          <a:lstStyle/>
          <a:p>
            <a:pPr>
              <a:lnSpc>
                <a:spcPct val="110000"/>
              </a:lnSpc>
              <a:spcBef>
                <a:spcPts val="0"/>
              </a:spcBef>
            </a:pPr>
            <a:r>
              <a:rPr lang="zh-CN" altLang="en-US" sz="2400" dirty="0">
                <a:latin typeface="Times New Roman" panose="02020603050405020304" pitchFamily="18" charset="0"/>
                <a:ea typeface="宋体" panose="02010600030101010101" pitchFamily="2" charset="-122"/>
              </a:rPr>
              <a:t>杂质浓度对击穿电压的影响</a:t>
            </a:r>
          </a:p>
        </p:txBody>
      </p:sp>
      <p:pic>
        <p:nvPicPr>
          <p:cNvPr id="4" name="Picture 4" descr="图片q6">
            <a:extLst>
              <a:ext uri="{FF2B5EF4-FFF2-40B4-BE49-F238E27FC236}">
                <a16:creationId xmlns:a16="http://schemas.microsoft.com/office/drawing/2014/main" id="{758D634A-6400-4A27-BF95-035E06F0EA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780928"/>
            <a:ext cx="5251838" cy="3622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9884AB6-DC17-4780-8AF0-6B2CF79AE60D}"/>
              </a:ext>
            </a:extLst>
          </p:cNvPr>
          <p:cNvSpPr>
            <a:spLocks noGrp="1" noChangeArrowheads="1"/>
          </p:cNvSpPr>
          <p:nvPr>
            <p:ph type="title"/>
          </p:nvPr>
        </p:nvSpPr>
        <p:spPr/>
        <p:txBody>
          <a:bodyPr/>
          <a:lstStyle/>
          <a:p>
            <a:pPr>
              <a:lnSpc>
                <a:spcPct val="110000"/>
              </a:lnSpc>
              <a:spcBef>
                <a:spcPts val="0"/>
              </a:spcBef>
            </a:pPr>
            <a:r>
              <a:rPr lang="en-US" altLang="zh-CN" sz="3200">
                <a:latin typeface="Times New Roman" panose="02020603050405020304" pitchFamily="18" charset="0"/>
                <a:ea typeface="宋体" panose="02010600030101010101" pitchFamily="2" charset="-122"/>
              </a:rPr>
              <a:t>2.5.4 </a:t>
            </a:r>
            <a:r>
              <a:rPr lang="zh-CN" altLang="en-US" sz="3200">
                <a:latin typeface="Times New Roman" panose="02020603050405020304" pitchFamily="18" charset="0"/>
                <a:ea typeface="宋体" panose="02010600030101010101" pitchFamily="2" charset="-122"/>
              </a:rPr>
              <a:t>几种不正常的击穿曲线</a:t>
            </a:r>
          </a:p>
        </p:txBody>
      </p:sp>
      <p:sp>
        <p:nvSpPr>
          <p:cNvPr id="102403" name="Rectangle 3">
            <a:extLst>
              <a:ext uri="{FF2B5EF4-FFF2-40B4-BE49-F238E27FC236}">
                <a16:creationId xmlns:a16="http://schemas.microsoft.com/office/drawing/2014/main" id="{AF6B7BB6-1695-4550-8BF3-0A378B8A30DE}"/>
              </a:ext>
            </a:extLst>
          </p:cNvPr>
          <p:cNvSpPr>
            <a:spLocks noGrp="1" noChangeArrowheads="1"/>
          </p:cNvSpPr>
          <p:nvPr>
            <p:ph idx="1"/>
          </p:nvPr>
        </p:nvSpPr>
        <p:spPr>
          <a:xfrm>
            <a:off x="1182688" y="2017713"/>
            <a:ext cx="2884487" cy="1916112"/>
          </a:xfrm>
        </p:spPr>
        <p:txBody>
          <a:bodyPr/>
          <a:lstStyle/>
          <a:p>
            <a:pPr>
              <a:lnSpc>
                <a:spcPct val="110000"/>
              </a:lnSpc>
              <a:spcBef>
                <a:spcPts val="0"/>
              </a:spcBef>
            </a:pPr>
            <a:r>
              <a:rPr lang="zh-CN" altLang="en-US" sz="2400">
                <a:latin typeface="Times New Roman" panose="02020603050405020304" pitchFamily="18" charset="0"/>
                <a:ea typeface="宋体" panose="02010600030101010101" pitchFamily="2" charset="-122"/>
              </a:rPr>
              <a:t>软击穿</a:t>
            </a:r>
          </a:p>
          <a:p>
            <a:pPr>
              <a:lnSpc>
                <a:spcPct val="110000"/>
              </a:lnSpc>
              <a:spcBef>
                <a:spcPts val="0"/>
              </a:spcBef>
            </a:pPr>
            <a:r>
              <a:rPr lang="zh-CN" altLang="en-US" sz="2400">
                <a:latin typeface="Times New Roman" panose="02020603050405020304" pitchFamily="18" charset="0"/>
                <a:ea typeface="宋体" panose="02010600030101010101" pitchFamily="2" charset="-122"/>
              </a:rPr>
              <a:t>低击穿</a:t>
            </a:r>
          </a:p>
          <a:p>
            <a:pPr>
              <a:lnSpc>
                <a:spcPct val="110000"/>
              </a:lnSpc>
              <a:spcBef>
                <a:spcPts val="0"/>
              </a:spcBef>
            </a:pPr>
            <a:r>
              <a:rPr lang="zh-CN" altLang="en-US" sz="2400">
                <a:latin typeface="Times New Roman" panose="02020603050405020304" pitchFamily="18" charset="0"/>
                <a:ea typeface="宋体" panose="02010600030101010101" pitchFamily="2" charset="-122"/>
              </a:rPr>
              <a:t>管道型击穿</a:t>
            </a:r>
          </a:p>
          <a:p>
            <a:pPr>
              <a:lnSpc>
                <a:spcPct val="110000"/>
              </a:lnSpc>
              <a:spcBef>
                <a:spcPts val="0"/>
              </a:spcBef>
            </a:pPr>
            <a:r>
              <a:rPr lang="zh-CN" altLang="en-US" sz="2400">
                <a:latin typeface="Times New Roman" panose="02020603050405020304" pitchFamily="18" charset="0"/>
                <a:ea typeface="宋体" panose="02010600030101010101" pitchFamily="2" charset="-122"/>
              </a:rPr>
              <a:t>靠背椅击穿</a:t>
            </a:r>
          </a:p>
        </p:txBody>
      </p:sp>
      <p:pic>
        <p:nvPicPr>
          <p:cNvPr id="102404" name="Picture 4" descr="0251">
            <a:extLst>
              <a:ext uri="{FF2B5EF4-FFF2-40B4-BE49-F238E27FC236}">
                <a16:creationId xmlns:a16="http://schemas.microsoft.com/office/drawing/2014/main" id="{9BE3BF00-5CB0-4D30-B823-D57A2F1D7C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375" y="2276475"/>
            <a:ext cx="4967288" cy="3648075"/>
          </a:xfrm>
          <a:prstGeom prst="rect">
            <a:avLst/>
          </a:prstGeom>
          <a:noFill/>
          <a:extLst>
            <a:ext uri="{909E8E84-426E-40DD-AFC4-6F175D3DCCD1}">
              <a14:hiddenFill xmlns:a14="http://schemas.microsoft.com/office/drawing/2010/main">
                <a:solidFill>
                  <a:srgbClr val="FFFFFF"/>
                </a:solidFill>
              </a14:hiddenFill>
            </a:ext>
          </a:extLst>
        </p:spPr>
      </p:pic>
      <p:sp>
        <p:nvSpPr>
          <p:cNvPr id="102405" name="Text Box 5">
            <a:extLst>
              <a:ext uri="{FF2B5EF4-FFF2-40B4-BE49-F238E27FC236}">
                <a16:creationId xmlns:a16="http://schemas.microsoft.com/office/drawing/2014/main" id="{AC25CF16-F5AB-4F70-A35A-B84BCA18469D}"/>
              </a:ext>
            </a:extLst>
          </p:cNvPr>
          <p:cNvSpPr txBox="1">
            <a:spLocks noChangeArrowheads="1"/>
          </p:cNvSpPr>
          <p:nvPr/>
        </p:nvSpPr>
        <p:spPr bwMode="auto">
          <a:xfrm>
            <a:off x="3924300" y="5949950"/>
            <a:ext cx="424815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a:latin typeface="Times New Roman" panose="02020603050405020304" pitchFamily="18" charset="0"/>
                <a:ea typeface="宋体" panose="02010600030101010101" pitchFamily="2" charset="-122"/>
              </a:rPr>
              <a:t>几种不正常的击穿曲线</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C5C5A83-6CF7-43AB-A375-FFCD0D286F39}"/>
              </a:ext>
            </a:extLst>
          </p:cNvPr>
          <p:cNvSpPr>
            <a:spLocks noGrp="1" noChangeArrowheads="1"/>
          </p:cNvSpPr>
          <p:nvPr>
            <p:ph type="title"/>
          </p:nvPr>
        </p:nvSpPr>
        <p:spPr>
          <a:xfrm>
            <a:off x="1475656" y="476672"/>
            <a:ext cx="6463630" cy="1325563"/>
          </a:xfrm>
        </p:spPr>
        <p:txBody>
          <a:bodyPr/>
          <a:lstStyle/>
          <a:p>
            <a:pPr>
              <a:lnSpc>
                <a:spcPct val="110000"/>
              </a:lnSpc>
              <a:spcBef>
                <a:spcPts val="0"/>
              </a:spcBef>
            </a:pPr>
            <a:r>
              <a:rPr lang="zh-CN" altLang="en-US" dirty="0">
                <a:latin typeface="Times New Roman" panose="02020603050405020304" pitchFamily="18" charset="0"/>
                <a:ea typeface="宋体" panose="02010600030101010101" pitchFamily="2" charset="-122"/>
              </a:rPr>
              <a:t>第二章 </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结机理与特性</a:t>
            </a:r>
          </a:p>
        </p:txBody>
      </p:sp>
      <p:sp>
        <p:nvSpPr>
          <p:cNvPr id="2" name="矩形 1">
            <a:extLst>
              <a:ext uri="{FF2B5EF4-FFF2-40B4-BE49-F238E27FC236}">
                <a16:creationId xmlns:a16="http://schemas.microsoft.com/office/drawing/2014/main" id="{37D91D68-6D10-40B3-A612-ED5B19B13D12}"/>
              </a:ext>
            </a:extLst>
          </p:cNvPr>
          <p:cNvSpPr/>
          <p:nvPr/>
        </p:nvSpPr>
        <p:spPr>
          <a:xfrm>
            <a:off x="827584" y="2276872"/>
            <a:ext cx="7627869" cy="3970318"/>
          </a:xfrm>
          <a:prstGeom prst="rect">
            <a:avLst/>
          </a:prstGeom>
        </p:spPr>
        <p:txBody>
          <a:bodyPr wrap="square">
            <a:spAutoFit/>
          </a:bodyPr>
          <a:lstStyle/>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2.1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平衡</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2.2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正向</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2.3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反向</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结的机理与特性</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2.4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结空间电荷区的电场、位分布和宽度</a:t>
            </a:r>
          </a:p>
          <a:p>
            <a:pPr>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2.5  PN</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结击穿机理与击穿特性</a:t>
            </a:r>
          </a:p>
          <a:p>
            <a:pPr>
              <a:lnSpc>
                <a:spcPct val="150000"/>
              </a:lnSpc>
            </a:pPr>
            <a:r>
              <a:rPr lang="en-US" altLang="zh-CN" sz="28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2.6  PN</a:t>
            </a:r>
            <a:r>
              <a:rPr lang="zh-CN" altLang="en-US" sz="28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结的电容特性（频率特性）</a:t>
            </a:r>
          </a:p>
        </p:txBody>
      </p:sp>
    </p:spTree>
    <p:extLst>
      <p:ext uri="{BB962C8B-B14F-4D97-AF65-F5344CB8AC3E}">
        <p14:creationId xmlns:p14="http://schemas.microsoft.com/office/powerpoint/2010/main" val="2722614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FF7FBF5F-5DA0-4732-A850-FF1E94512239}"/>
              </a:ext>
            </a:extLst>
          </p:cNvPr>
          <p:cNvSpPr>
            <a:spLocks noGrp="1" noChangeArrowheads="1"/>
          </p:cNvSpPr>
          <p:nvPr>
            <p:ph type="title"/>
          </p:nvPr>
        </p:nvSpPr>
        <p:spPr/>
        <p:txBody>
          <a:bodyPr>
            <a:normAutofit/>
          </a:bodyPr>
          <a:lstStyle/>
          <a:p>
            <a:pPr>
              <a:lnSpc>
                <a:spcPct val="110000"/>
              </a:lnSpc>
              <a:spcBef>
                <a:spcPts val="0"/>
              </a:spcBef>
            </a:pPr>
            <a:r>
              <a:rPr lang="en-US" altLang="zh-CN" dirty="0">
                <a:latin typeface="Times New Roman" panose="02020603050405020304" pitchFamily="18" charset="0"/>
                <a:ea typeface="宋体" panose="02010600030101010101" pitchFamily="2" charset="-122"/>
              </a:rPr>
              <a:t>2.6 PN</a:t>
            </a:r>
            <a:r>
              <a:rPr lang="zh-CN" altLang="en-US" dirty="0">
                <a:latin typeface="Times New Roman" panose="02020603050405020304" pitchFamily="18" charset="0"/>
                <a:ea typeface="宋体" panose="02010600030101010101" pitchFamily="2" charset="-122"/>
              </a:rPr>
              <a:t>结的电容特性</a:t>
            </a:r>
            <a:br>
              <a:rPr lang="zh-CN" altLang="en-US" dirty="0">
                <a:latin typeface="Times New Roman" panose="02020603050405020304" pitchFamily="18" charset="0"/>
                <a:ea typeface="宋体" panose="02010600030101010101" pitchFamily="2" charset="-122"/>
              </a:rPr>
            </a:br>
            <a:r>
              <a:rPr lang="en-US" altLang="zh-CN" sz="3200" dirty="0">
                <a:latin typeface="Times New Roman" panose="02020603050405020304" pitchFamily="18" charset="0"/>
                <a:ea typeface="宋体" panose="02010600030101010101" pitchFamily="2" charset="-122"/>
              </a:rPr>
              <a:t>2.6.1 PN</a:t>
            </a:r>
            <a:r>
              <a:rPr lang="zh-CN" altLang="en-US" sz="3200" dirty="0">
                <a:latin typeface="Times New Roman" panose="02020603050405020304" pitchFamily="18" charset="0"/>
                <a:ea typeface="宋体" panose="02010600030101010101" pitchFamily="2" charset="-122"/>
              </a:rPr>
              <a:t>结的势垒电容</a:t>
            </a:r>
            <a:endParaRPr lang="zh-CN" altLang="en-US" dirty="0">
              <a:latin typeface="Times New Roman" panose="02020603050405020304" pitchFamily="18" charset="0"/>
              <a:ea typeface="宋体" panose="02010600030101010101" pitchFamily="2" charset="-122"/>
            </a:endParaRPr>
          </a:p>
        </p:txBody>
      </p:sp>
      <p:pic>
        <p:nvPicPr>
          <p:cNvPr id="103428" name="Picture 4" descr="0253">
            <a:extLst>
              <a:ext uri="{FF2B5EF4-FFF2-40B4-BE49-F238E27FC236}">
                <a16:creationId xmlns:a16="http://schemas.microsoft.com/office/drawing/2014/main" id="{170FF4D2-DB11-4ECB-AD35-6628950F90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0538"/>
          <a:stretch/>
        </p:blipFill>
        <p:spPr bwMode="auto">
          <a:xfrm>
            <a:off x="467543" y="1747569"/>
            <a:ext cx="3312368" cy="1922228"/>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2">
            <a:extLst>
              <a:ext uri="{FF2B5EF4-FFF2-40B4-BE49-F238E27FC236}">
                <a16:creationId xmlns:a16="http://schemas.microsoft.com/office/drawing/2014/main" id="{C65D4AE3-0CFF-41B7-9CFB-D318F5FCCC28}"/>
              </a:ext>
            </a:extLst>
          </p:cNvPr>
          <p:cNvSpPr txBox="1">
            <a:spLocks noChangeArrowheads="1"/>
          </p:cNvSpPr>
          <p:nvPr/>
        </p:nvSpPr>
        <p:spPr bwMode="auto">
          <a:xfrm>
            <a:off x="3779911" y="1556792"/>
            <a:ext cx="524374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lnSpc>
                <a:spcPct val="125000"/>
              </a:lnSpc>
            </a:pPr>
            <a:r>
              <a:rPr kumimoji="0" lang="zh-CN" altLang="en-US" sz="2000" b="1" dirty="0">
                <a:latin typeface="Times New Roman" panose="02020603050405020304" pitchFamily="18" charset="0"/>
                <a:ea typeface="宋体" panose="02010600030101010101" pitchFamily="2" charset="-122"/>
              </a:rPr>
              <a:t>正偏 </a:t>
            </a:r>
            <a:r>
              <a:rPr kumimoji="0" lang="en-US" altLang="zh-CN" sz="2000" b="1" dirty="0">
                <a:latin typeface="Times New Roman" panose="02020603050405020304" pitchFamily="18" charset="0"/>
                <a:ea typeface="宋体" panose="02010600030101010101" pitchFamily="2" charset="-122"/>
              </a:rPr>
              <a:t>V </a:t>
            </a:r>
            <a:r>
              <a:rPr kumimoji="0" lang="en-US" altLang="zh-CN" sz="2000" b="1" dirty="0">
                <a:latin typeface="Times New Roman" panose="02020603050405020304" pitchFamily="18" charset="0"/>
                <a:ea typeface="宋体" panose="02010600030101010101" pitchFamily="2" charset="-122"/>
                <a:sym typeface="Symbol" panose="05050102010706020507" pitchFamily="18" charset="2"/>
              </a:rPr>
              <a:t>, </a:t>
            </a:r>
          </a:p>
          <a:p>
            <a:pPr latinLnBrk="0">
              <a:lnSpc>
                <a:spcPct val="125000"/>
              </a:lnSpc>
            </a:pPr>
            <a:r>
              <a:rPr kumimoji="0" lang="zh-CN" altLang="en-US" sz="2000" b="1" dirty="0">
                <a:latin typeface="Times New Roman" panose="02020603050405020304" pitchFamily="18" charset="0"/>
                <a:ea typeface="宋体" panose="02010600030101010101" pitchFamily="2" charset="-122"/>
                <a:sym typeface="Symbol" panose="05050102010706020507" pitchFamily="18" charset="2"/>
              </a:rPr>
              <a:t>空间电荷，部分电子和空穴存入势垒区</a:t>
            </a:r>
          </a:p>
          <a:p>
            <a:pPr latinLnBrk="0">
              <a:lnSpc>
                <a:spcPct val="125000"/>
              </a:lnSpc>
            </a:pPr>
            <a:r>
              <a:rPr kumimoji="0" lang="zh-CN" altLang="en-US" sz="2000" b="1" dirty="0">
                <a:latin typeface="Times New Roman" panose="02020603050405020304" pitchFamily="18" charset="0"/>
                <a:ea typeface="宋体" panose="02010600030101010101" pitchFamily="2" charset="-122"/>
              </a:rPr>
              <a:t>正偏 </a:t>
            </a:r>
            <a:r>
              <a:rPr kumimoji="0" lang="en-US" altLang="zh-CN" sz="2000" b="1" dirty="0">
                <a:latin typeface="Times New Roman" panose="02020603050405020304" pitchFamily="18" charset="0"/>
                <a:ea typeface="宋体" panose="02010600030101010101" pitchFamily="2" charset="-122"/>
              </a:rPr>
              <a:t>V </a:t>
            </a:r>
            <a:r>
              <a:rPr kumimoji="0" lang="en-US" altLang="zh-CN" sz="2000" b="1" dirty="0">
                <a:latin typeface="Times New Roman" panose="02020603050405020304" pitchFamily="18" charset="0"/>
                <a:ea typeface="宋体" panose="02010600030101010101" pitchFamily="2" charset="-122"/>
                <a:sym typeface="Symbol" panose="05050102010706020507" pitchFamily="18" charset="2"/>
              </a:rPr>
              <a:t>, </a:t>
            </a:r>
          </a:p>
          <a:p>
            <a:pPr latinLnBrk="0">
              <a:lnSpc>
                <a:spcPct val="125000"/>
              </a:lnSpc>
            </a:pPr>
            <a:r>
              <a:rPr kumimoji="0" lang="zh-CN" altLang="en-US" sz="2000" b="1" dirty="0">
                <a:latin typeface="Times New Roman" panose="02020603050405020304" pitchFamily="18" charset="0"/>
                <a:ea typeface="宋体" panose="02010600030101010101" pitchFamily="2" charset="-122"/>
                <a:sym typeface="Symbol" panose="05050102010706020507" pitchFamily="18" charset="2"/>
              </a:rPr>
              <a:t>空间电荷，部分电子和空穴从势垒区中取出</a:t>
            </a:r>
          </a:p>
        </p:txBody>
      </p:sp>
      <p:sp>
        <p:nvSpPr>
          <p:cNvPr id="9" name="Text Box 3">
            <a:extLst>
              <a:ext uri="{FF2B5EF4-FFF2-40B4-BE49-F238E27FC236}">
                <a16:creationId xmlns:a16="http://schemas.microsoft.com/office/drawing/2014/main" id="{D6EB6EE5-05A2-4F48-B8FB-B04EE22F5B79}"/>
              </a:ext>
            </a:extLst>
          </p:cNvPr>
          <p:cNvSpPr txBox="1">
            <a:spLocks noChangeArrowheads="1"/>
          </p:cNvSpPr>
          <p:nvPr/>
        </p:nvSpPr>
        <p:spPr bwMode="auto">
          <a:xfrm>
            <a:off x="3635895" y="3759748"/>
            <a:ext cx="5243743"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lnSpc>
                <a:spcPct val="125000"/>
              </a:lnSpc>
            </a:pPr>
            <a:r>
              <a:rPr kumimoji="0" lang="zh-CN" altLang="en-US" sz="2000" b="1" dirty="0">
                <a:latin typeface="Times New Roman" panose="02020603050405020304" pitchFamily="18" charset="0"/>
                <a:ea typeface="宋体" panose="02010600030101010101" pitchFamily="2" charset="-122"/>
              </a:rPr>
              <a:t>反偏 </a:t>
            </a:r>
            <a:r>
              <a:rPr kumimoji="0" lang="en-US" altLang="zh-CN" sz="2000" b="1" dirty="0">
                <a:latin typeface="Times New Roman" panose="02020603050405020304" pitchFamily="18" charset="0"/>
                <a:ea typeface="宋体" panose="02010600030101010101" pitchFamily="2" charset="-122"/>
              </a:rPr>
              <a:t>V </a:t>
            </a:r>
            <a:r>
              <a:rPr kumimoji="0" lang="en-US" altLang="zh-CN" sz="2000" b="1" dirty="0">
                <a:latin typeface="Times New Roman" panose="02020603050405020304" pitchFamily="18" charset="0"/>
                <a:ea typeface="宋体" panose="02010600030101010101" pitchFamily="2" charset="-122"/>
                <a:sym typeface="Symbol" panose="05050102010706020507" pitchFamily="18" charset="2"/>
              </a:rPr>
              <a:t>, </a:t>
            </a:r>
          </a:p>
          <a:p>
            <a:pPr latinLnBrk="0">
              <a:lnSpc>
                <a:spcPct val="125000"/>
              </a:lnSpc>
            </a:pPr>
            <a:r>
              <a:rPr kumimoji="0" lang="zh-CN" altLang="en-US" sz="2000" b="1" dirty="0">
                <a:latin typeface="Times New Roman" panose="02020603050405020304" pitchFamily="18" charset="0"/>
                <a:ea typeface="宋体" panose="02010600030101010101" pitchFamily="2" charset="-122"/>
                <a:sym typeface="Symbol" panose="05050102010706020507" pitchFamily="18" charset="2"/>
              </a:rPr>
              <a:t>空间电荷，部分电子和空穴从势垒区中取出</a:t>
            </a:r>
          </a:p>
          <a:p>
            <a:pPr latinLnBrk="0">
              <a:lnSpc>
                <a:spcPct val="125000"/>
              </a:lnSpc>
            </a:pPr>
            <a:r>
              <a:rPr kumimoji="0" lang="zh-CN" altLang="en-US" sz="2000" b="1" dirty="0">
                <a:latin typeface="Times New Roman" panose="02020603050405020304" pitchFamily="18" charset="0"/>
                <a:ea typeface="宋体" panose="02010600030101010101" pitchFamily="2" charset="-122"/>
              </a:rPr>
              <a:t>反偏 </a:t>
            </a:r>
            <a:r>
              <a:rPr kumimoji="0" lang="en-US" altLang="zh-CN" sz="2000" b="1" dirty="0">
                <a:latin typeface="Times New Roman" panose="02020603050405020304" pitchFamily="18" charset="0"/>
                <a:ea typeface="宋体" panose="02010600030101010101" pitchFamily="2" charset="-122"/>
              </a:rPr>
              <a:t>V </a:t>
            </a:r>
            <a:r>
              <a:rPr kumimoji="0" lang="en-US" altLang="zh-CN" sz="2000" b="1" dirty="0">
                <a:latin typeface="Times New Roman" panose="02020603050405020304" pitchFamily="18" charset="0"/>
                <a:ea typeface="宋体" panose="02010600030101010101" pitchFamily="2" charset="-122"/>
                <a:sym typeface="Symbol" panose="05050102010706020507" pitchFamily="18" charset="2"/>
              </a:rPr>
              <a:t>, </a:t>
            </a:r>
          </a:p>
          <a:p>
            <a:pPr latinLnBrk="0">
              <a:lnSpc>
                <a:spcPct val="125000"/>
              </a:lnSpc>
            </a:pPr>
            <a:r>
              <a:rPr kumimoji="0" lang="zh-CN" altLang="en-US" sz="2000" b="1" dirty="0">
                <a:latin typeface="Times New Roman" panose="02020603050405020304" pitchFamily="18" charset="0"/>
                <a:ea typeface="宋体" panose="02010600030101010101" pitchFamily="2" charset="-122"/>
                <a:sym typeface="Symbol" panose="05050102010706020507" pitchFamily="18" charset="2"/>
              </a:rPr>
              <a:t>空间电荷，部分电子和空穴存入势垒区</a:t>
            </a:r>
          </a:p>
          <a:p>
            <a:pPr latinLnBrk="0">
              <a:lnSpc>
                <a:spcPct val="125000"/>
              </a:lnSpc>
            </a:pPr>
            <a:endParaRPr kumimoji="0" lang="zh-CN" altLang="en-US" sz="2000" b="1" dirty="0">
              <a:latin typeface="Times New Roman" panose="02020603050405020304" pitchFamily="18" charset="0"/>
              <a:ea typeface="宋体" panose="02010600030101010101" pitchFamily="2" charset="-122"/>
              <a:sym typeface="Symbol" panose="05050102010706020507" pitchFamily="18" charset="2"/>
            </a:endParaRPr>
          </a:p>
        </p:txBody>
      </p:sp>
      <p:pic>
        <p:nvPicPr>
          <p:cNvPr id="10" name="Picture 4" descr="0253">
            <a:extLst>
              <a:ext uri="{FF2B5EF4-FFF2-40B4-BE49-F238E27FC236}">
                <a16:creationId xmlns:a16="http://schemas.microsoft.com/office/drawing/2014/main" id="{A94A3171-73DF-4291-9737-DF0608A916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543"/>
          <a:stretch/>
        </p:blipFill>
        <p:spPr bwMode="auto">
          <a:xfrm>
            <a:off x="179512" y="3759748"/>
            <a:ext cx="3245033" cy="1922228"/>
          </a:xfrm>
          <a:prstGeom prst="rect">
            <a:avLst/>
          </a:prstGeom>
          <a:noFill/>
          <a:extLst>
            <a:ext uri="{909E8E84-426E-40DD-AFC4-6F175D3DCCD1}">
              <a14:hiddenFill xmlns:a14="http://schemas.microsoft.com/office/drawing/2010/main">
                <a:solidFill>
                  <a:srgbClr val="FFFFFF"/>
                </a:solidFill>
              </a14:hiddenFill>
            </a:ext>
          </a:extLst>
        </p:spPr>
      </p:pic>
      <p:sp>
        <p:nvSpPr>
          <p:cNvPr id="11" name="Text Box 2">
            <a:extLst>
              <a:ext uri="{FF2B5EF4-FFF2-40B4-BE49-F238E27FC236}">
                <a16:creationId xmlns:a16="http://schemas.microsoft.com/office/drawing/2014/main" id="{A5BFC64A-BE31-4902-A9A4-4582215352F8}"/>
              </a:ext>
            </a:extLst>
          </p:cNvPr>
          <p:cNvSpPr txBox="1">
            <a:spLocks noChangeArrowheads="1"/>
          </p:cNvSpPr>
          <p:nvPr/>
        </p:nvSpPr>
        <p:spPr bwMode="auto">
          <a:xfrm>
            <a:off x="144906" y="5841463"/>
            <a:ext cx="87042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atinLnBrk="0"/>
            <a:r>
              <a:rPr kumimoji="0" lang="zh-CN" altLang="en-US" sz="2000" b="1" dirty="0">
                <a:latin typeface="Times New Roman" panose="02020603050405020304" pitchFamily="18" charset="0"/>
                <a:ea typeface="宋体" panose="02010600030101010101" pitchFamily="2" charset="-122"/>
              </a:rPr>
              <a:t>       耗尽层的空间电荷数量随外加</a:t>
            </a:r>
            <a:r>
              <a:rPr kumimoji="0" lang="en-US" altLang="zh-CN" sz="2000" b="1" dirty="0">
                <a:latin typeface="Times New Roman" panose="02020603050405020304" pitchFamily="18" charset="0"/>
                <a:ea typeface="宋体" panose="02010600030101010101" pitchFamily="2" charset="-122"/>
              </a:rPr>
              <a:t>V</a:t>
            </a:r>
            <a:r>
              <a:rPr kumimoji="0" lang="zh-CN" altLang="en-US" sz="2000" b="1" dirty="0">
                <a:latin typeface="Times New Roman" panose="02020603050405020304" pitchFamily="18" charset="0"/>
                <a:ea typeface="宋体" panose="02010600030101010101" pitchFamily="2" charset="-122"/>
              </a:rPr>
              <a:t>而变化，和一个电容器的充放电作用相似，这种</a:t>
            </a:r>
            <a:r>
              <a:rPr kumimoji="0" lang="en-US" altLang="zh-CN" sz="2000" b="1" dirty="0" err="1">
                <a:latin typeface="Times New Roman" panose="02020603050405020304" pitchFamily="18" charset="0"/>
                <a:ea typeface="宋体" panose="02010600030101010101" pitchFamily="2" charset="-122"/>
              </a:rPr>
              <a:t>pn</a:t>
            </a:r>
            <a:r>
              <a:rPr kumimoji="0" lang="zh-CN" altLang="en-US" sz="2000" b="1" dirty="0">
                <a:latin typeface="Times New Roman" panose="02020603050405020304" pitchFamily="18" charset="0"/>
                <a:ea typeface="宋体" panose="02010600030101010101" pitchFamily="2" charset="-122"/>
              </a:rPr>
              <a:t>结的电容效应称为耗尽层</a:t>
            </a:r>
            <a:r>
              <a:rPr kumimoji="0" lang="en-US" altLang="zh-CN" sz="2000" b="1" dirty="0">
                <a:latin typeface="Times New Roman" panose="02020603050405020304" pitchFamily="18" charset="0"/>
                <a:ea typeface="宋体" panose="02010600030101010101" pitchFamily="2" charset="-122"/>
              </a:rPr>
              <a:t>(</a:t>
            </a:r>
            <a:r>
              <a:rPr kumimoji="0" lang="zh-CN" altLang="en-US" sz="2000" b="1" dirty="0">
                <a:latin typeface="Times New Roman" panose="02020603050405020304" pitchFamily="18" charset="0"/>
                <a:ea typeface="宋体" panose="02010600030101010101" pitchFamily="2" charset="-122"/>
              </a:rPr>
              <a:t>势垒</a:t>
            </a:r>
            <a:r>
              <a:rPr kumimoji="0" lang="en-US" altLang="zh-CN" sz="2000" b="1" dirty="0">
                <a:latin typeface="Times New Roman" panose="02020603050405020304" pitchFamily="18" charset="0"/>
                <a:ea typeface="宋体" panose="02010600030101010101" pitchFamily="2" charset="-122"/>
              </a:rPr>
              <a:t>)</a:t>
            </a:r>
            <a:r>
              <a:rPr kumimoji="0" lang="zh-CN" altLang="en-US" sz="2000" b="1" dirty="0">
                <a:latin typeface="Times New Roman" panose="02020603050405020304" pitchFamily="18" charset="0"/>
                <a:ea typeface="宋体" panose="02010600030101010101" pitchFamily="2" charset="-122"/>
              </a:rPr>
              <a:t>电容。</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9" name="Rectangle 3">
            <a:extLst>
              <a:ext uri="{FF2B5EF4-FFF2-40B4-BE49-F238E27FC236}">
                <a16:creationId xmlns:a16="http://schemas.microsoft.com/office/drawing/2014/main" id="{0980C0E4-3313-4815-BBC3-7FB82B75AF33}"/>
              </a:ext>
            </a:extLst>
          </p:cNvPr>
          <p:cNvSpPr>
            <a:spLocks noChangeArrowheads="1"/>
          </p:cNvSpPr>
          <p:nvPr/>
        </p:nvSpPr>
        <p:spPr bwMode="auto">
          <a:xfrm>
            <a:off x="532741" y="808747"/>
            <a:ext cx="79914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5000"/>
              </a:lnSpc>
              <a:spcBef>
                <a:spcPct val="20000"/>
              </a:spcBef>
              <a:buFont typeface="Wingdings" panose="05000000000000000000" pitchFamily="2" charset="2"/>
              <a:buNone/>
            </a:pPr>
            <a:r>
              <a:rPr kumimoji="0" lang="zh-CN" altLang="en-US" sz="2000" b="1" dirty="0">
                <a:solidFill>
                  <a:srgbClr val="000066"/>
                </a:solidFill>
                <a:latin typeface="Times New Roman" panose="02020603050405020304" pitchFamily="18" charset="0"/>
              </a:rPr>
              <a:t>已经证明耗尽层宽度是偏置电压的函数，由于在结的两个半边内空间电荷直接正比于耗尽层宽度，则有： </a:t>
            </a:r>
          </a:p>
        </p:txBody>
      </p:sp>
      <p:graphicFrame>
        <p:nvGraphicFramePr>
          <p:cNvPr id="464902" name="Object 6">
            <a:extLst>
              <a:ext uri="{FF2B5EF4-FFF2-40B4-BE49-F238E27FC236}">
                <a16:creationId xmlns:a16="http://schemas.microsoft.com/office/drawing/2014/main" id="{D95EB05E-BBF7-45BA-B438-D943F80186F6}"/>
              </a:ext>
            </a:extLst>
          </p:cNvPr>
          <p:cNvGraphicFramePr>
            <a:graphicFrameLocks noChangeAspect="1"/>
          </p:cNvGraphicFramePr>
          <p:nvPr>
            <p:extLst>
              <p:ext uri="{D42A27DB-BD31-4B8C-83A1-F6EECF244321}">
                <p14:modId xmlns:p14="http://schemas.microsoft.com/office/powerpoint/2010/main" val="2924858575"/>
              </p:ext>
            </p:extLst>
          </p:nvPr>
        </p:nvGraphicFramePr>
        <p:xfrm>
          <a:off x="2161948" y="1846973"/>
          <a:ext cx="3425825" cy="425450"/>
        </p:xfrm>
        <a:graphic>
          <a:graphicData uri="http://schemas.openxmlformats.org/presentationml/2006/ole">
            <mc:AlternateContent xmlns:mc="http://schemas.openxmlformats.org/markup-compatibility/2006">
              <mc:Choice xmlns:v="urn:schemas-microsoft-com:vml" Requires="v">
                <p:oleObj spid="_x0000_s107612" name="公式" r:id="rId3" imgW="2145960" imgH="266400" progId="Equation.3">
                  <p:embed/>
                </p:oleObj>
              </mc:Choice>
              <mc:Fallback>
                <p:oleObj name="公式" r:id="rId3" imgW="2145960" imgH="266400" progId="Equation.3">
                  <p:embed/>
                  <p:pic>
                    <p:nvPicPr>
                      <p:cNvPr id="464902" name="Object 6">
                        <a:extLst>
                          <a:ext uri="{FF2B5EF4-FFF2-40B4-BE49-F238E27FC236}">
                            <a16:creationId xmlns:a16="http://schemas.microsoft.com/office/drawing/2014/main" id="{D95EB05E-BBF7-45BA-B438-D943F80186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1948" y="1846973"/>
                        <a:ext cx="342582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4903" name="Object 7">
            <a:extLst>
              <a:ext uri="{FF2B5EF4-FFF2-40B4-BE49-F238E27FC236}">
                <a16:creationId xmlns:a16="http://schemas.microsoft.com/office/drawing/2014/main" id="{24F856FD-4A92-4079-A113-CD7114CA9764}"/>
              </a:ext>
            </a:extLst>
          </p:cNvPr>
          <p:cNvGraphicFramePr>
            <a:graphicFrameLocks noChangeAspect="1"/>
          </p:cNvGraphicFramePr>
          <p:nvPr>
            <p:extLst>
              <p:ext uri="{D42A27DB-BD31-4B8C-83A1-F6EECF244321}">
                <p14:modId xmlns:p14="http://schemas.microsoft.com/office/powerpoint/2010/main" val="2814065087"/>
              </p:ext>
            </p:extLst>
          </p:nvPr>
        </p:nvGraphicFramePr>
        <p:xfrm>
          <a:off x="3286125" y="3060700"/>
          <a:ext cx="1008063" cy="752475"/>
        </p:xfrm>
        <a:graphic>
          <a:graphicData uri="http://schemas.openxmlformats.org/presentationml/2006/ole">
            <mc:AlternateContent xmlns:mc="http://schemas.openxmlformats.org/markup-compatibility/2006">
              <mc:Choice xmlns:v="urn:schemas-microsoft-com:vml" Requires="v">
                <p:oleObj spid="_x0000_s107613" name="Equation" r:id="rId5" imgW="596641" imgH="444307" progId="Equation.DSMT4">
                  <p:embed/>
                </p:oleObj>
              </mc:Choice>
              <mc:Fallback>
                <p:oleObj name="Equation" r:id="rId5" imgW="596641" imgH="444307" progId="Equation.DSMT4">
                  <p:embed/>
                  <p:pic>
                    <p:nvPicPr>
                      <p:cNvPr id="464903" name="Object 7">
                        <a:extLst>
                          <a:ext uri="{FF2B5EF4-FFF2-40B4-BE49-F238E27FC236}">
                            <a16:creationId xmlns:a16="http://schemas.microsoft.com/office/drawing/2014/main" id="{24F856FD-4A92-4079-A113-CD7114CA976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86125" y="3060700"/>
                        <a:ext cx="1008063"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4904" name="Object 8">
            <a:extLst>
              <a:ext uri="{FF2B5EF4-FFF2-40B4-BE49-F238E27FC236}">
                <a16:creationId xmlns:a16="http://schemas.microsoft.com/office/drawing/2014/main" id="{36574332-E186-4C68-A78A-F36DBBC2E751}"/>
              </a:ext>
            </a:extLst>
          </p:cNvPr>
          <p:cNvGraphicFramePr>
            <a:graphicFrameLocks noChangeAspect="1"/>
          </p:cNvGraphicFramePr>
          <p:nvPr>
            <p:extLst>
              <p:ext uri="{D42A27DB-BD31-4B8C-83A1-F6EECF244321}">
                <p14:modId xmlns:p14="http://schemas.microsoft.com/office/powerpoint/2010/main" val="1950811159"/>
              </p:ext>
            </p:extLst>
          </p:nvPr>
        </p:nvGraphicFramePr>
        <p:xfrm>
          <a:off x="2616200" y="3776663"/>
          <a:ext cx="2349500" cy="877887"/>
        </p:xfrm>
        <a:graphic>
          <a:graphicData uri="http://schemas.openxmlformats.org/presentationml/2006/ole">
            <mc:AlternateContent xmlns:mc="http://schemas.openxmlformats.org/markup-compatibility/2006">
              <mc:Choice xmlns:v="urn:schemas-microsoft-com:vml" Requires="v">
                <p:oleObj spid="_x0000_s107614" name="Equation" r:id="rId7" imgW="1422360" imgH="533160" progId="Equation.DSMT4">
                  <p:embed/>
                </p:oleObj>
              </mc:Choice>
              <mc:Fallback>
                <p:oleObj name="Equation" r:id="rId7" imgW="1422360" imgH="533160" progId="Equation.DSMT4">
                  <p:embed/>
                  <p:pic>
                    <p:nvPicPr>
                      <p:cNvPr id="464904" name="Object 8">
                        <a:extLst>
                          <a:ext uri="{FF2B5EF4-FFF2-40B4-BE49-F238E27FC236}">
                            <a16:creationId xmlns:a16="http://schemas.microsoft.com/office/drawing/2014/main" id="{36574332-E186-4C68-A78A-F36DBBC2E751}"/>
                          </a:ext>
                        </a:extLst>
                      </p:cNvPr>
                      <p:cNvPicPr>
                        <a:picLocks noChangeAspect="1" noChangeArrowheads="1"/>
                      </p:cNvPicPr>
                      <p:nvPr/>
                    </p:nvPicPr>
                    <p:blipFill>
                      <a:blip r:embed="rId8"/>
                      <a:srcRect/>
                      <a:stretch>
                        <a:fillRect/>
                      </a:stretch>
                    </p:blipFill>
                    <p:spPr bwMode="auto">
                      <a:xfrm>
                        <a:off x="2616200" y="3776663"/>
                        <a:ext cx="2349500"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4907" name="Rectangle 11">
            <a:extLst>
              <a:ext uri="{FF2B5EF4-FFF2-40B4-BE49-F238E27FC236}">
                <a16:creationId xmlns:a16="http://schemas.microsoft.com/office/drawing/2014/main" id="{539FCB7E-E69B-4A04-AC17-CC1AA3779C8A}"/>
              </a:ext>
            </a:extLst>
          </p:cNvPr>
          <p:cNvSpPr>
            <a:spLocks noChangeArrowheads="1"/>
          </p:cNvSpPr>
          <p:nvPr/>
        </p:nvSpPr>
        <p:spPr bwMode="auto">
          <a:xfrm>
            <a:off x="576975" y="3874616"/>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latin typeface="Times New Roman" panose="02020603050405020304" pitchFamily="18" charset="0"/>
              </a:rPr>
              <a:t>得：</a:t>
            </a:r>
          </a:p>
        </p:txBody>
      </p:sp>
      <p:sp>
        <p:nvSpPr>
          <p:cNvPr id="464909" name="Rectangle 13">
            <a:extLst>
              <a:ext uri="{FF2B5EF4-FFF2-40B4-BE49-F238E27FC236}">
                <a16:creationId xmlns:a16="http://schemas.microsoft.com/office/drawing/2014/main" id="{9DFF32EB-0A08-4914-BC95-B58AB825AEB0}"/>
              </a:ext>
            </a:extLst>
          </p:cNvPr>
          <p:cNvSpPr>
            <a:spLocks noChangeArrowheads="1"/>
          </p:cNvSpPr>
          <p:nvPr/>
        </p:nvSpPr>
        <p:spPr bwMode="auto">
          <a:xfrm>
            <a:off x="576975" y="4882679"/>
            <a:ext cx="6408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a:solidFill>
                  <a:srgbClr val="000066"/>
                </a:solidFill>
                <a:latin typeface="Times New Roman" panose="02020603050405020304" pitchFamily="18" charset="0"/>
              </a:rPr>
              <a:t>C</a:t>
            </a:r>
            <a:r>
              <a:rPr lang="zh-CN" altLang="en-US" sz="2000" b="1">
                <a:solidFill>
                  <a:srgbClr val="000066"/>
                </a:solidFill>
                <a:latin typeface="Times New Roman" panose="02020603050405020304" pitchFamily="18" charset="0"/>
              </a:rPr>
              <a:t>称为</a:t>
            </a:r>
            <a:r>
              <a:rPr lang="zh-CN" altLang="en-US" sz="2000" b="1">
                <a:solidFill>
                  <a:srgbClr val="FF3300"/>
                </a:solidFill>
                <a:latin typeface="Times New Roman" panose="02020603050405020304" pitchFamily="18" charset="0"/>
              </a:rPr>
              <a:t>过渡电容</a:t>
            </a:r>
            <a:r>
              <a:rPr lang="zh-CN" altLang="en-US" sz="2000" b="1">
                <a:solidFill>
                  <a:srgbClr val="000066"/>
                </a:solidFill>
                <a:latin typeface="Times New Roman" panose="02020603050405020304" pitchFamily="18" charset="0"/>
              </a:rPr>
              <a:t>或</a:t>
            </a:r>
            <a:r>
              <a:rPr lang="zh-CN" altLang="en-US" sz="2000" b="1">
                <a:solidFill>
                  <a:srgbClr val="FF3300"/>
                </a:solidFill>
                <a:latin typeface="Times New Roman" panose="02020603050405020304" pitchFamily="18" charset="0"/>
              </a:rPr>
              <a:t>耗尽层电容</a:t>
            </a:r>
            <a:r>
              <a:rPr lang="zh-CN" altLang="en-US" sz="2000" b="1">
                <a:solidFill>
                  <a:srgbClr val="000066"/>
                </a:solidFill>
                <a:latin typeface="Times New Roman" panose="02020603050405020304" pitchFamily="18" charset="0"/>
              </a:rPr>
              <a:t>有时亦称为</a:t>
            </a:r>
            <a:r>
              <a:rPr lang="zh-CN" altLang="en-US" sz="2000" b="1">
                <a:solidFill>
                  <a:srgbClr val="FF3300"/>
                </a:solidFill>
                <a:latin typeface="Times New Roman" panose="02020603050405020304" pitchFamily="18" charset="0"/>
              </a:rPr>
              <a:t>势垒电容</a:t>
            </a:r>
          </a:p>
        </p:txBody>
      </p:sp>
      <p:sp>
        <p:nvSpPr>
          <p:cNvPr id="15" name="Rectangle 2">
            <a:extLst>
              <a:ext uri="{FF2B5EF4-FFF2-40B4-BE49-F238E27FC236}">
                <a16:creationId xmlns:a16="http://schemas.microsoft.com/office/drawing/2014/main" id="{008AECC2-51F6-49F3-BE0E-49F7D163C35C}"/>
              </a:ext>
            </a:extLst>
          </p:cNvPr>
          <p:cNvSpPr>
            <a:spLocks noChangeArrowheads="1"/>
          </p:cNvSpPr>
          <p:nvPr/>
        </p:nvSpPr>
        <p:spPr bwMode="auto">
          <a:xfrm>
            <a:off x="395288" y="5718176"/>
            <a:ext cx="3024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dirty="0">
                <a:solidFill>
                  <a:srgbClr val="993300"/>
                </a:solidFill>
                <a:latin typeface="Times New Roman" panose="02020603050405020304" pitchFamily="18" charset="0"/>
              </a:rPr>
              <a:t>耗尽层（势垒）电容</a:t>
            </a:r>
            <a:r>
              <a:rPr kumimoji="0" lang="zh-CN" altLang="en-US" dirty="0">
                <a:solidFill>
                  <a:srgbClr val="993300"/>
                </a:solidFill>
                <a:latin typeface="Times New Roman" panose="02020603050405020304" pitchFamily="18" charset="0"/>
              </a:rPr>
              <a:t> </a:t>
            </a:r>
            <a:endParaRPr kumimoji="0" lang="en-US" altLang="zh-CN" dirty="0">
              <a:solidFill>
                <a:srgbClr val="993300"/>
              </a:solidFill>
              <a:latin typeface="Times New Roman" panose="02020603050405020304" pitchFamily="18" charset="0"/>
            </a:endParaRPr>
          </a:p>
        </p:txBody>
      </p:sp>
      <p:sp>
        <p:nvSpPr>
          <p:cNvPr id="16" name="Rectangle 13">
            <a:extLst>
              <a:ext uri="{FF2B5EF4-FFF2-40B4-BE49-F238E27FC236}">
                <a16:creationId xmlns:a16="http://schemas.microsoft.com/office/drawing/2014/main" id="{244100AB-ABD7-4B03-93FF-565A1AF04EA9}"/>
              </a:ext>
            </a:extLst>
          </p:cNvPr>
          <p:cNvSpPr>
            <a:spLocks noChangeArrowheads="1"/>
          </p:cNvSpPr>
          <p:nvPr/>
        </p:nvSpPr>
        <p:spPr bwMode="auto">
          <a:xfrm>
            <a:off x="375444" y="6229062"/>
            <a:ext cx="81962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dirty="0">
                <a:solidFill>
                  <a:srgbClr val="FF0000"/>
                </a:solidFill>
                <a:latin typeface="Times New Roman" panose="02020603050405020304" pitchFamily="18" charset="0"/>
              </a:rPr>
              <a:t>PN</a:t>
            </a:r>
            <a:r>
              <a:rPr lang="zh-CN" altLang="en-US" b="1" dirty="0">
                <a:solidFill>
                  <a:srgbClr val="FF0000"/>
                </a:solidFill>
                <a:latin typeface="Times New Roman" panose="02020603050405020304" pitchFamily="18" charset="0"/>
              </a:rPr>
              <a:t>结空间电荷区空间电荷随外加偏压变化所引起的电容。</a:t>
            </a:r>
            <a:r>
              <a:rPr lang="ko-KR" altLang="en-US" sz="1000" dirty="0">
                <a:solidFill>
                  <a:srgbClr val="FF0000"/>
                </a:solidFill>
                <a:latin typeface="Times New Roman" panose="02020603050405020304" pitchFamily="18" charset="0"/>
              </a:rPr>
              <a:t> </a:t>
            </a:r>
            <a:endParaRPr lang="ko-KR" altLang="en-US" sz="2800" dirty="0">
              <a:solidFill>
                <a:srgbClr val="FF0000"/>
              </a:solidFill>
              <a:latin typeface="Times New Roman" panose="02020603050405020304" pitchFamily="18" charset="0"/>
              <a:ea typeface="Gulim" panose="020B0600000101010101" pitchFamily="34" charset="-127"/>
            </a:endParaRPr>
          </a:p>
        </p:txBody>
      </p:sp>
      <p:sp>
        <p:nvSpPr>
          <p:cNvPr id="17" name="Text Box 3">
            <a:extLst>
              <a:ext uri="{FF2B5EF4-FFF2-40B4-BE49-F238E27FC236}">
                <a16:creationId xmlns:a16="http://schemas.microsoft.com/office/drawing/2014/main" id="{4D271CEC-8FDF-4D3D-922F-C2153097846A}"/>
              </a:ext>
            </a:extLst>
          </p:cNvPr>
          <p:cNvSpPr txBox="1">
            <a:spLocks noChangeArrowheads="1"/>
          </p:cNvSpPr>
          <p:nvPr/>
        </p:nvSpPr>
        <p:spPr bwMode="auto">
          <a:xfrm>
            <a:off x="899592" y="2521661"/>
            <a:ext cx="60837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kumimoji="0" lang="zh-CN" altLang="en-US" sz="2000" b="1" dirty="0">
                <a:latin typeface="Times New Roman" panose="02020603050405020304" pitchFamily="18" charset="0"/>
                <a:ea typeface="宋体" panose="02010600030101010101" pitchFamily="2" charset="-122"/>
              </a:rPr>
              <a:t>势垒电容是可变电容，可引入微分电容的概念来描述</a:t>
            </a:r>
          </a:p>
        </p:txBody>
      </p:sp>
      <p:sp>
        <p:nvSpPr>
          <p:cNvPr id="18" name="Rectangle 10">
            <a:extLst>
              <a:ext uri="{FF2B5EF4-FFF2-40B4-BE49-F238E27FC236}">
                <a16:creationId xmlns:a16="http://schemas.microsoft.com/office/drawing/2014/main" id="{3D9C76C3-C001-47C9-9F04-175EDB137E53}"/>
              </a:ext>
            </a:extLst>
          </p:cNvPr>
          <p:cNvSpPr>
            <a:spLocks noChangeArrowheads="1"/>
          </p:cNvSpPr>
          <p:nvPr/>
        </p:nvSpPr>
        <p:spPr bwMode="auto">
          <a:xfrm>
            <a:off x="5093760" y="3260758"/>
            <a:ext cx="3779098" cy="1372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indent="2667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nSpc>
                <a:spcPct val="130000"/>
              </a:lnSpc>
              <a:spcBef>
                <a:spcPct val="0"/>
              </a:spcBef>
              <a:buClrTx/>
            </a:pPr>
            <a:r>
              <a:rPr lang="zh-CN" altLang="en-US" sz="1600" dirty="0">
                <a:solidFill>
                  <a:schemeClr val="tx1"/>
                </a:solidFill>
              </a:rPr>
              <a:t>势垒电容的大小与材料、掺杂水平及反偏电压等因素有关。</a:t>
            </a:r>
          </a:p>
          <a:p>
            <a:pPr>
              <a:lnSpc>
                <a:spcPct val="130000"/>
              </a:lnSpc>
              <a:spcBef>
                <a:spcPct val="0"/>
              </a:spcBef>
              <a:buClrTx/>
            </a:pPr>
            <a:r>
              <a:rPr lang="zh-CN" altLang="en-US" sz="1600" dirty="0">
                <a:solidFill>
                  <a:schemeClr val="accent2"/>
                </a:solidFill>
              </a:rPr>
              <a:t>势垒电容相当于一个介质厚度为</a:t>
            </a:r>
            <a:r>
              <a:rPr lang="en-US" altLang="zh-CN" sz="1600" dirty="0">
                <a:solidFill>
                  <a:schemeClr val="accent2"/>
                </a:solidFill>
              </a:rPr>
              <a:t>W</a:t>
            </a:r>
            <a:r>
              <a:rPr lang="zh-CN" altLang="en-US" sz="1600" dirty="0">
                <a:solidFill>
                  <a:schemeClr val="accent2"/>
                </a:solidFill>
              </a:rPr>
              <a:t>的平板电容</a:t>
            </a:r>
            <a:r>
              <a:rPr lang="zh-CN" altLang="en-US" sz="1600" dirty="0">
                <a:solidFill>
                  <a:schemeClr val="tx1"/>
                </a:solidFill>
              </a:rPr>
              <a:t>。</a:t>
            </a:r>
          </a:p>
        </p:txBody>
      </p:sp>
      <p:sp>
        <p:nvSpPr>
          <p:cNvPr id="2" name="文本框 1">
            <a:extLst>
              <a:ext uri="{FF2B5EF4-FFF2-40B4-BE49-F238E27FC236}">
                <a16:creationId xmlns:a16="http://schemas.microsoft.com/office/drawing/2014/main" id="{F1E68415-AE82-4B27-8306-BD3AB506AB38}"/>
              </a:ext>
            </a:extLst>
          </p:cNvPr>
          <p:cNvSpPr txBox="1"/>
          <p:nvPr/>
        </p:nvSpPr>
        <p:spPr>
          <a:xfrm>
            <a:off x="6081805" y="1838778"/>
            <a:ext cx="1800493" cy="369332"/>
          </a:xfrm>
          <a:prstGeom prst="rect">
            <a:avLst/>
          </a:prstGeom>
          <a:noFill/>
        </p:spPr>
        <p:txBody>
          <a:bodyPr wrap="none" rtlCol="0">
            <a:spAutoFit/>
          </a:bodyPr>
          <a:lstStyle/>
          <a:p>
            <a:r>
              <a:rPr lang="zh-CN" altLang="en-US" dirty="0"/>
              <a:t>（单边突变节）</a:t>
            </a:r>
          </a:p>
        </p:txBody>
      </p:sp>
    </p:spTree>
    <p:extLst>
      <p:ext uri="{BB962C8B-B14F-4D97-AF65-F5344CB8AC3E}">
        <p14:creationId xmlns:p14="http://schemas.microsoft.com/office/powerpoint/2010/main" val="932562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a:extLst>
              <a:ext uri="{FF2B5EF4-FFF2-40B4-BE49-F238E27FC236}">
                <a16:creationId xmlns:a16="http://schemas.microsoft.com/office/drawing/2014/main" id="{494007A9-55EE-4507-B018-FC8CC2F3E9AB}"/>
              </a:ext>
            </a:extLst>
          </p:cNvPr>
          <p:cNvGrpSpPr>
            <a:grpSpLocks/>
          </p:cNvGrpSpPr>
          <p:nvPr/>
        </p:nvGrpSpPr>
        <p:grpSpPr bwMode="auto">
          <a:xfrm>
            <a:off x="552450" y="2449519"/>
            <a:ext cx="2579688" cy="407988"/>
            <a:chOff x="302" y="1543"/>
            <a:chExt cx="1625" cy="257"/>
          </a:xfrm>
        </p:grpSpPr>
        <p:sp>
          <p:nvSpPr>
            <p:cNvPr id="63523" name="Rectangle 14">
              <a:extLst>
                <a:ext uri="{FF2B5EF4-FFF2-40B4-BE49-F238E27FC236}">
                  <a16:creationId xmlns:a16="http://schemas.microsoft.com/office/drawing/2014/main" id="{838E168B-927B-4CF9-B6F5-FED70379819A}"/>
                </a:ext>
              </a:extLst>
            </p:cNvPr>
            <p:cNvSpPr>
              <a:spLocks noChangeArrowheads="1"/>
            </p:cNvSpPr>
            <p:nvPr/>
          </p:nvSpPr>
          <p:spPr bwMode="auto">
            <a:xfrm>
              <a:off x="302" y="1543"/>
              <a:ext cx="162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dirty="0">
                  <a:solidFill>
                    <a:srgbClr val="000066"/>
                  </a:solidFill>
                  <a:latin typeface="Times New Roman" panose="02020603050405020304" pitchFamily="18" charset="0"/>
                </a:rPr>
                <a:t>常用            关系：</a:t>
              </a:r>
              <a:r>
                <a:rPr lang="ko-KR" altLang="en-US" sz="900" dirty="0">
                  <a:latin typeface="Times New Roman" panose="02020603050405020304" pitchFamily="18" charset="0"/>
                </a:rPr>
                <a:t> </a:t>
              </a:r>
              <a:endParaRPr lang="ko-KR" altLang="en-US" dirty="0">
                <a:latin typeface="Times New Roman" panose="02020603050405020304" pitchFamily="18" charset="0"/>
                <a:ea typeface="Gulim" panose="020B0600000101010101" pitchFamily="34" charset="-127"/>
              </a:endParaRPr>
            </a:p>
          </p:txBody>
        </p:sp>
        <p:graphicFrame>
          <p:nvGraphicFramePr>
            <p:cNvPr id="63524" name="Object 15">
              <a:extLst>
                <a:ext uri="{FF2B5EF4-FFF2-40B4-BE49-F238E27FC236}">
                  <a16:creationId xmlns:a16="http://schemas.microsoft.com/office/drawing/2014/main" id="{51B0767D-3018-4B3C-BFF1-B3EA2FB8D873}"/>
                </a:ext>
              </a:extLst>
            </p:cNvPr>
            <p:cNvGraphicFramePr>
              <a:graphicFrameLocks noChangeAspect="1"/>
            </p:cNvGraphicFramePr>
            <p:nvPr>
              <p:extLst>
                <p:ext uri="{D42A27DB-BD31-4B8C-83A1-F6EECF244321}">
                  <p14:modId xmlns:p14="http://schemas.microsoft.com/office/powerpoint/2010/main" val="2487933315"/>
                </p:ext>
              </p:extLst>
            </p:nvPr>
          </p:nvGraphicFramePr>
          <p:xfrm>
            <a:off x="703" y="1570"/>
            <a:ext cx="564" cy="230"/>
          </p:xfrm>
          <a:graphic>
            <a:graphicData uri="http://schemas.openxmlformats.org/presentationml/2006/ole">
              <mc:AlternateContent xmlns:mc="http://schemas.openxmlformats.org/markup-compatibility/2006">
                <mc:Choice xmlns:v="urn:schemas-microsoft-com:vml" Requires="v">
                  <p:oleObj spid="_x0000_s108636" name="Equation" r:id="rId3" imgW="596900" imgH="241300" progId="Equation.DSMT4">
                    <p:embed/>
                  </p:oleObj>
                </mc:Choice>
                <mc:Fallback>
                  <p:oleObj name="Equation" r:id="rId3" imgW="596900" imgH="241300" progId="Equation.DSMT4">
                    <p:embed/>
                    <p:pic>
                      <p:nvPicPr>
                        <p:cNvPr id="63524" name="Object 15">
                          <a:extLst>
                            <a:ext uri="{FF2B5EF4-FFF2-40B4-BE49-F238E27FC236}">
                              <a16:creationId xmlns:a16="http://schemas.microsoft.com/office/drawing/2014/main" id="{51B0767D-3018-4B3C-BFF1-B3EA2FB8D8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 y="1570"/>
                          <a:ext cx="56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65936" name="Object 16">
            <a:extLst>
              <a:ext uri="{FF2B5EF4-FFF2-40B4-BE49-F238E27FC236}">
                <a16:creationId xmlns:a16="http://schemas.microsoft.com/office/drawing/2014/main" id="{E2BF56C2-D4E1-46F6-8BF4-FC0CBEEC9E50}"/>
              </a:ext>
            </a:extLst>
          </p:cNvPr>
          <p:cNvGraphicFramePr>
            <a:graphicFrameLocks noChangeAspect="1"/>
          </p:cNvGraphicFramePr>
          <p:nvPr/>
        </p:nvGraphicFramePr>
        <p:xfrm>
          <a:off x="3430588" y="2381250"/>
          <a:ext cx="2098675" cy="620713"/>
        </p:xfrm>
        <a:graphic>
          <a:graphicData uri="http://schemas.openxmlformats.org/presentationml/2006/ole">
            <mc:AlternateContent xmlns:mc="http://schemas.openxmlformats.org/markup-compatibility/2006">
              <mc:Choice xmlns:v="urn:schemas-microsoft-com:vml" Requires="v">
                <p:oleObj spid="_x0000_s108637" name="公式" r:id="rId5" imgW="1473120" imgH="431640" progId="Equation.3">
                  <p:embed/>
                </p:oleObj>
              </mc:Choice>
              <mc:Fallback>
                <p:oleObj name="公式" r:id="rId5" imgW="1473120" imgH="431640" progId="Equation.3">
                  <p:embed/>
                  <p:pic>
                    <p:nvPicPr>
                      <p:cNvPr id="465936" name="Object 16">
                        <a:extLst>
                          <a:ext uri="{FF2B5EF4-FFF2-40B4-BE49-F238E27FC236}">
                            <a16:creationId xmlns:a16="http://schemas.microsoft.com/office/drawing/2014/main" id="{E2BF56C2-D4E1-46F6-8BF4-FC0CBEEC9E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0588" y="2381250"/>
                        <a:ext cx="2098675"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5938" name="Rectangle 18">
            <a:extLst>
              <a:ext uri="{FF2B5EF4-FFF2-40B4-BE49-F238E27FC236}">
                <a16:creationId xmlns:a16="http://schemas.microsoft.com/office/drawing/2014/main" id="{D1888ACE-06E0-4FA9-8DEF-CC1FB5B151CE}"/>
              </a:ext>
            </a:extLst>
          </p:cNvPr>
          <p:cNvSpPr>
            <a:spLocks noChangeArrowheads="1"/>
          </p:cNvSpPr>
          <p:nvPr/>
        </p:nvSpPr>
        <p:spPr bwMode="auto">
          <a:xfrm>
            <a:off x="6084888" y="2420938"/>
            <a:ext cx="1352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ko-KR" altLang="en-US" sz="2000" b="1" dirty="0">
                <a:solidFill>
                  <a:srgbClr val="000066"/>
                </a:solidFill>
                <a:latin typeface="Times New Roman" panose="02020603050405020304" pitchFamily="18" charset="0"/>
              </a:rPr>
              <a:t>（</a:t>
            </a:r>
            <a:r>
              <a:rPr lang="en-US" altLang="ko-KR" sz="2000" b="1" dirty="0">
                <a:solidFill>
                  <a:srgbClr val="000066"/>
                </a:solidFill>
                <a:latin typeface="Times New Roman" panose="02020603050405020304" pitchFamily="18" charset="0"/>
              </a:rPr>
              <a:t>2-</a:t>
            </a:r>
            <a:r>
              <a:rPr lang="en-US" altLang="zh-CN" sz="2000" b="1" dirty="0">
                <a:solidFill>
                  <a:srgbClr val="000066"/>
                </a:solidFill>
                <a:latin typeface="Times New Roman" panose="02020603050405020304" pitchFamily="18" charset="0"/>
              </a:rPr>
              <a:t>7-7</a:t>
            </a:r>
            <a:r>
              <a:rPr lang="ko-KR" altLang="en-US" sz="2000" b="1" dirty="0">
                <a:solidFill>
                  <a:srgbClr val="000066"/>
                </a:solidFill>
                <a:latin typeface="Times New Roman" panose="02020603050405020304" pitchFamily="18" charset="0"/>
              </a:rPr>
              <a:t>）</a:t>
            </a:r>
            <a:endParaRPr lang="zh-CN" altLang="en-US" sz="2000" b="1" dirty="0">
              <a:solidFill>
                <a:srgbClr val="000066"/>
              </a:solidFill>
              <a:latin typeface="Times New Roman" panose="02020603050405020304" pitchFamily="18" charset="0"/>
            </a:endParaRPr>
          </a:p>
        </p:txBody>
      </p:sp>
      <p:grpSp>
        <p:nvGrpSpPr>
          <p:cNvPr id="3" name="Group 19">
            <a:extLst>
              <a:ext uri="{FF2B5EF4-FFF2-40B4-BE49-F238E27FC236}">
                <a16:creationId xmlns:a16="http://schemas.microsoft.com/office/drawing/2014/main" id="{59F00795-BAFF-4FA7-9D46-045C622CD496}"/>
              </a:ext>
            </a:extLst>
          </p:cNvPr>
          <p:cNvGrpSpPr>
            <a:grpSpLocks/>
          </p:cNvGrpSpPr>
          <p:nvPr/>
        </p:nvGrpSpPr>
        <p:grpSpPr bwMode="auto">
          <a:xfrm>
            <a:off x="250825" y="3141663"/>
            <a:ext cx="3856038" cy="2735262"/>
            <a:chOff x="545" y="1090"/>
            <a:chExt cx="2429" cy="1723"/>
          </a:xfrm>
        </p:grpSpPr>
        <p:sp>
          <p:nvSpPr>
            <p:cNvPr id="63501" name="Line 20">
              <a:extLst>
                <a:ext uri="{FF2B5EF4-FFF2-40B4-BE49-F238E27FC236}">
                  <a16:creationId xmlns:a16="http://schemas.microsoft.com/office/drawing/2014/main" id="{641AC9FD-9647-41DD-8A0E-6418F64D1341}"/>
                </a:ext>
              </a:extLst>
            </p:cNvPr>
            <p:cNvSpPr>
              <a:spLocks noChangeShapeType="1"/>
            </p:cNvSpPr>
            <p:nvPr/>
          </p:nvSpPr>
          <p:spPr bwMode="auto">
            <a:xfrm>
              <a:off x="545" y="2457"/>
              <a:ext cx="2350" cy="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2" name="Freeform 21">
              <a:extLst>
                <a:ext uri="{FF2B5EF4-FFF2-40B4-BE49-F238E27FC236}">
                  <a16:creationId xmlns:a16="http://schemas.microsoft.com/office/drawing/2014/main" id="{FFC651F7-AB28-45F8-B50C-00F0EBBDAE47}"/>
                </a:ext>
              </a:extLst>
            </p:cNvPr>
            <p:cNvSpPr>
              <a:spLocks/>
            </p:cNvSpPr>
            <p:nvPr/>
          </p:nvSpPr>
          <p:spPr bwMode="auto">
            <a:xfrm>
              <a:off x="2888" y="2437"/>
              <a:ext cx="86" cy="54"/>
            </a:xfrm>
            <a:custGeom>
              <a:avLst/>
              <a:gdLst>
                <a:gd name="T0" fmla="*/ 0 w 174"/>
                <a:gd name="T1" fmla="*/ 1 h 108"/>
                <a:gd name="T2" fmla="*/ 0 w 174"/>
                <a:gd name="T3" fmla="*/ 1 h 108"/>
                <a:gd name="T4" fmla="*/ 0 w 174"/>
                <a:gd name="T5" fmla="*/ 0 h 108"/>
                <a:gd name="T6" fmla="*/ 0 w 174"/>
                <a:gd name="T7" fmla="*/ 1 h 108"/>
                <a:gd name="T8" fmla="*/ 0 60000 65536"/>
                <a:gd name="T9" fmla="*/ 0 60000 65536"/>
                <a:gd name="T10" fmla="*/ 0 60000 65536"/>
                <a:gd name="T11" fmla="*/ 0 60000 65536"/>
                <a:gd name="T12" fmla="*/ 0 w 174"/>
                <a:gd name="T13" fmla="*/ 0 h 108"/>
                <a:gd name="T14" fmla="*/ 174 w 174"/>
                <a:gd name="T15" fmla="*/ 108 h 108"/>
              </a:gdLst>
              <a:ahLst/>
              <a:cxnLst>
                <a:cxn ang="T8">
                  <a:pos x="T0" y="T1"/>
                </a:cxn>
                <a:cxn ang="T9">
                  <a:pos x="T2" y="T3"/>
                </a:cxn>
                <a:cxn ang="T10">
                  <a:pos x="T4" y="T5"/>
                </a:cxn>
                <a:cxn ang="T11">
                  <a:pos x="T6" y="T7"/>
                </a:cxn>
              </a:cxnLst>
              <a:rect l="T12" t="T13" r="T14" b="T15"/>
              <a:pathLst>
                <a:path w="174" h="108">
                  <a:moveTo>
                    <a:pt x="0" y="108"/>
                  </a:moveTo>
                  <a:lnTo>
                    <a:pt x="174" y="49"/>
                  </a:lnTo>
                  <a:lnTo>
                    <a:pt x="0" y="0"/>
                  </a:lnTo>
                  <a:lnTo>
                    <a:pt x="0"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a typeface="宋体" panose="02010600030101010101" pitchFamily="2" charset="-122"/>
              </a:endParaRPr>
            </a:p>
          </p:txBody>
        </p:sp>
        <p:sp>
          <p:nvSpPr>
            <p:cNvPr id="63503" name="Line 22">
              <a:extLst>
                <a:ext uri="{FF2B5EF4-FFF2-40B4-BE49-F238E27FC236}">
                  <a16:creationId xmlns:a16="http://schemas.microsoft.com/office/drawing/2014/main" id="{B625FDE7-4724-4659-A0D0-4F584493A07F}"/>
                </a:ext>
              </a:extLst>
            </p:cNvPr>
            <p:cNvSpPr>
              <a:spLocks noChangeShapeType="1"/>
            </p:cNvSpPr>
            <p:nvPr/>
          </p:nvSpPr>
          <p:spPr bwMode="auto">
            <a:xfrm flipV="1">
              <a:off x="1439" y="1193"/>
              <a:ext cx="0" cy="162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4" name="Freeform 23">
              <a:extLst>
                <a:ext uri="{FF2B5EF4-FFF2-40B4-BE49-F238E27FC236}">
                  <a16:creationId xmlns:a16="http://schemas.microsoft.com/office/drawing/2014/main" id="{8AD77F9C-FFE6-4E8E-B4B1-9154F4097729}"/>
                </a:ext>
              </a:extLst>
            </p:cNvPr>
            <p:cNvSpPr>
              <a:spLocks/>
            </p:cNvSpPr>
            <p:nvPr/>
          </p:nvSpPr>
          <p:spPr bwMode="auto">
            <a:xfrm>
              <a:off x="1414" y="1115"/>
              <a:ext cx="52" cy="90"/>
            </a:xfrm>
            <a:custGeom>
              <a:avLst/>
              <a:gdLst>
                <a:gd name="T0" fmla="*/ 1 w 103"/>
                <a:gd name="T1" fmla="*/ 0 h 181"/>
                <a:gd name="T2" fmla="*/ 1 w 103"/>
                <a:gd name="T3" fmla="*/ 0 h 181"/>
                <a:gd name="T4" fmla="*/ 0 w 103"/>
                <a:gd name="T5" fmla="*/ 0 h 181"/>
                <a:gd name="T6" fmla="*/ 1 w 103"/>
                <a:gd name="T7" fmla="*/ 0 h 181"/>
                <a:gd name="T8" fmla="*/ 0 60000 65536"/>
                <a:gd name="T9" fmla="*/ 0 60000 65536"/>
                <a:gd name="T10" fmla="*/ 0 60000 65536"/>
                <a:gd name="T11" fmla="*/ 0 60000 65536"/>
                <a:gd name="T12" fmla="*/ 0 w 103"/>
                <a:gd name="T13" fmla="*/ 0 h 181"/>
                <a:gd name="T14" fmla="*/ 103 w 103"/>
                <a:gd name="T15" fmla="*/ 181 h 181"/>
              </a:gdLst>
              <a:ahLst/>
              <a:cxnLst>
                <a:cxn ang="T8">
                  <a:pos x="T0" y="T1"/>
                </a:cxn>
                <a:cxn ang="T9">
                  <a:pos x="T2" y="T3"/>
                </a:cxn>
                <a:cxn ang="T10">
                  <a:pos x="T4" y="T5"/>
                </a:cxn>
                <a:cxn ang="T11">
                  <a:pos x="T6" y="T7"/>
                </a:cxn>
              </a:cxnLst>
              <a:rect l="T12" t="T13" r="T14" b="T15"/>
              <a:pathLst>
                <a:path w="103" h="181">
                  <a:moveTo>
                    <a:pt x="103" y="181"/>
                  </a:moveTo>
                  <a:lnTo>
                    <a:pt x="56" y="0"/>
                  </a:lnTo>
                  <a:lnTo>
                    <a:pt x="0" y="181"/>
                  </a:lnTo>
                  <a:lnTo>
                    <a:pt x="103"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a typeface="宋体" panose="02010600030101010101" pitchFamily="2" charset="-122"/>
              </a:endParaRPr>
            </a:p>
          </p:txBody>
        </p:sp>
        <p:sp>
          <p:nvSpPr>
            <p:cNvPr id="63505" name="Freeform 24">
              <a:extLst>
                <a:ext uri="{FF2B5EF4-FFF2-40B4-BE49-F238E27FC236}">
                  <a16:creationId xmlns:a16="http://schemas.microsoft.com/office/drawing/2014/main" id="{78124038-5D94-4F02-8A07-61127B42B7ED}"/>
                </a:ext>
              </a:extLst>
            </p:cNvPr>
            <p:cNvSpPr>
              <a:spLocks noEditPoints="1"/>
            </p:cNvSpPr>
            <p:nvPr/>
          </p:nvSpPr>
          <p:spPr bwMode="auto">
            <a:xfrm>
              <a:off x="1065" y="2160"/>
              <a:ext cx="397" cy="309"/>
            </a:xfrm>
            <a:custGeom>
              <a:avLst/>
              <a:gdLst>
                <a:gd name="T0" fmla="*/ 0 w 795"/>
                <a:gd name="T1" fmla="*/ 0 h 619"/>
                <a:gd name="T2" fmla="*/ 0 w 795"/>
                <a:gd name="T3" fmla="*/ 0 h 619"/>
                <a:gd name="T4" fmla="*/ 0 w 795"/>
                <a:gd name="T5" fmla="*/ 0 h 619"/>
                <a:gd name="T6" fmla="*/ 0 w 795"/>
                <a:gd name="T7" fmla="*/ 0 h 619"/>
                <a:gd name="T8" fmla="*/ 0 w 795"/>
                <a:gd name="T9" fmla="*/ 0 h 619"/>
                <a:gd name="T10" fmla="*/ 0 w 795"/>
                <a:gd name="T11" fmla="*/ 0 h 619"/>
                <a:gd name="T12" fmla="*/ 0 w 795"/>
                <a:gd name="T13" fmla="*/ 0 h 619"/>
                <a:gd name="T14" fmla="*/ 0 w 795"/>
                <a:gd name="T15" fmla="*/ 0 h 619"/>
                <a:gd name="T16" fmla="*/ 0 w 795"/>
                <a:gd name="T17" fmla="*/ 0 h 619"/>
                <a:gd name="T18" fmla="*/ 0 w 795"/>
                <a:gd name="T19" fmla="*/ 0 h 619"/>
                <a:gd name="T20" fmla="*/ 0 w 795"/>
                <a:gd name="T21" fmla="*/ 0 h 619"/>
                <a:gd name="T22" fmla="*/ 0 w 795"/>
                <a:gd name="T23" fmla="*/ 0 h 619"/>
                <a:gd name="T24" fmla="*/ 0 w 795"/>
                <a:gd name="T25" fmla="*/ 0 h 619"/>
                <a:gd name="T26" fmla="*/ 0 w 795"/>
                <a:gd name="T27" fmla="*/ 0 h 619"/>
                <a:gd name="T28" fmla="*/ 0 w 795"/>
                <a:gd name="T29" fmla="*/ 0 h 619"/>
                <a:gd name="T30" fmla="*/ 0 w 795"/>
                <a:gd name="T31" fmla="*/ 0 h 619"/>
                <a:gd name="T32" fmla="*/ 0 w 795"/>
                <a:gd name="T33" fmla="*/ 0 h 619"/>
                <a:gd name="T34" fmla="*/ 0 w 795"/>
                <a:gd name="T35" fmla="*/ 0 h 619"/>
                <a:gd name="T36" fmla="*/ 0 w 795"/>
                <a:gd name="T37" fmla="*/ 0 h 619"/>
                <a:gd name="T38" fmla="*/ 0 w 795"/>
                <a:gd name="T39" fmla="*/ 0 h 619"/>
                <a:gd name="T40" fmla="*/ 0 w 795"/>
                <a:gd name="T41" fmla="*/ 0 h 619"/>
                <a:gd name="T42" fmla="*/ 0 w 795"/>
                <a:gd name="T43" fmla="*/ 0 h 619"/>
                <a:gd name="T44" fmla="*/ 0 w 795"/>
                <a:gd name="T45" fmla="*/ 0 h 619"/>
                <a:gd name="T46" fmla="*/ 0 w 795"/>
                <a:gd name="T47" fmla="*/ 0 h 619"/>
                <a:gd name="T48" fmla="*/ 0 w 795"/>
                <a:gd name="T49" fmla="*/ 0 h 619"/>
                <a:gd name="T50" fmla="*/ 0 w 795"/>
                <a:gd name="T51" fmla="*/ 0 h 619"/>
                <a:gd name="T52" fmla="*/ 0 w 795"/>
                <a:gd name="T53" fmla="*/ 0 h 619"/>
                <a:gd name="T54" fmla="*/ 0 w 795"/>
                <a:gd name="T55" fmla="*/ 0 h 619"/>
                <a:gd name="T56" fmla="*/ 0 w 795"/>
                <a:gd name="T57" fmla="*/ 0 h 619"/>
                <a:gd name="T58" fmla="*/ 0 w 795"/>
                <a:gd name="T59" fmla="*/ 0 h 619"/>
                <a:gd name="T60" fmla="*/ 0 w 795"/>
                <a:gd name="T61" fmla="*/ 0 h 619"/>
                <a:gd name="T62" fmla="*/ 0 w 795"/>
                <a:gd name="T63" fmla="*/ 0 h 619"/>
                <a:gd name="T64" fmla="*/ 0 w 795"/>
                <a:gd name="T65" fmla="*/ 0 h 619"/>
                <a:gd name="T66" fmla="*/ 0 w 795"/>
                <a:gd name="T67" fmla="*/ 0 h 619"/>
                <a:gd name="T68" fmla="*/ 0 w 795"/>
                <a:gd name="T69" fmla="*/ 0 h 619"/>
                <a:gd name="T70" fmla="*/ 0 w 795"/>
                <a:gd name="T71" fmla="*/ 0 h 619"/>
                <a:gd name="T72" fmla="*/ 0 w 795"/>
                <a:gd name="T73" fmla="*/ 0 h 619"/>
                <a:gd name="T74" fmla="*/ 0 w 795"/>
                <a:gd name="T75" fmla="*/ 0 h 619"/>
                <a:gd name="T76" fmla="*/ 0 w 795"/>
                <a:gd name="T77" fmla="*/ 0 h 619"/>
                <a:gd name="T78" fmla="*/ 0 w 795"/>
                <a:gd name="T79" fmla="*/ 0 h 619"/>
                <a:gd name="T80" fmla="*/ 0 w 795"/>
                <a:gd name="T81" fmla="*/ 0 h 619"/>
                <a:gd name="T82" fmla="*/ 0 w 795"/>
                <a:gd name="T83" fmla="*/ 0 h 619"/>
                <a:gd name="T84" fmla="*/ 0 w 795"/>
                <a:gd name="T85" fmla="*/ 0 h 619"/>
                <a:gd name="T86" fmla="*/ 0 w 795"/>
                <a:gd name="T87" fmla="*/ 0 h 619"/>
                <a:gd name="T88" fmla="*/ 0 w 795"/>
                <a:gd name="T89" fmla="*/ 0 h 619"/>
                <a:gd name="T90" fmla="*/ 0 w 795"/>
                <a:gd name="T91" fmla="*/ 0 h 619"/>
                <a:gd name="T92" fmla="*/ 0 w 795"/>
                <a:gd name="T93" fmla="*/ 0 h 619"/>
                <a:gd name="T94" fmla="*/ 0 w 795"/>
                <a:gd name="T95" fmla="*/ 0 h 619"/>
                <a:gd name="T96" fmla="*/ 0 w 795"/>
                <a:gd name="T97" fmla="*/ 0 h 619"/>
                <a:gd name="T98" fmla="*/ 0 w 795"/>
                <a:gd name="T99" fmla="*/ 0 h 619"/>
                <a:gd name="T100" fmla="*/ 0 w 795"/>
                <a:gd name="T101" fmla="*/ 0 h 619"/>
                <a:gd name="T102" fmla="*/ 0 w 795"/>
                <a:gd name="T103" fmla="*/ 0 h 619"/>
                <a:gd name="T104" fmla="*/ 0 w 795"/>
                <a:gd name="T105" fmla="*/ 0 h 619"/>
                <a:gd name="T106" fmla="*/ 0 w 795"/>
                <a:gd name="T107" fmla="*/ 0 h 619"/>
                <a:gd name="T108" fmla="*/ 0 w 795"/>
                <a:gd name="T109" fmla="*/ 0 h 619"/>
                <a:gd name="T110" fmla="*/ 0 w 795"/>
                <a:gd name="T111" fmla="*/ 0 h 619"/>
                <a:gd name="T112" fmla="*/ 0 w 795"/>
                <a:gd name="T113" fmla="*/ 0 h 619"/>
                <a:gd name="T114" fmla="*/ 0 w 795"/>
                <a:gd name="T115" fmla="*/ 0 h 619"/>
                <a:gd name="T116" fmla="*/ 0 w 795"/>
                <a:gd name="T117" fmla="*/ 0 h 619"/>
                <a:gd name="T118" fmla="*/ 0 w 795"/>
                <a:gd name="T119" fmla="*/ 0 h 61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795"/>
                <a:gd name="T181" fmla="*/ 0 h 619"/>
                <a:gd name="T182" fmla="*/ 795 w 795"/>
                <a:gd name="T183" fmla="*/ 619 h 61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795" h="619">
                  <a:moveTo>
                    <a:pt x="4" y="604"/>
                  </a:moveTo>
                  <a:lnTo>
                    <a:pt x="93" y="535"/>
                  </a:lnTo>
                  <a:lnTo>
                    <a:pt x="97" y="533"/>
                  </a:lnTo>
                  <a:lnTo>
                    <a:pt x="100" y="533"/>
                  </a:lnTo>
                  <a:lnTo>
                    <a:pt x="102" y="535"/>
                  </a:lnTo>
                  <a:lnTo>
                    <a:pt x="105" y="536"/>
                  </a:lnTo>
                  <a:lnTo>
                    <a:pt x="107" y="540"/>
                  </a:lnTo>
                  <a:lnTo>
                    <a:pt x="107" y="543"/>
                  </a:lnTo>
                  <a:lnTo>
                    <a:pt x="105" y="545"/>
                  </a:lnTo>
                  <a:lnTo>
                    <a:pt x="103" y="548"/>
                  </a:lnTo>
                  <a:lnTo>
                    <a:pt x="14" y="617"/>
                  </a:lnTo>
                  <a:lnTo>
                    <a:pt x="11" y="619"/>
                  </a:lnTo>
                  <a:lnTo>
                    <a:pt x="7" y="619"/>
                  </a:lnTo>
                  <a:lnTo>
                    <a:pt x="6" y="617"/>
                  </a:lnTo>
                  <a:lnTo>
                    <a:pt x="2" y="616"/>
                  </a:lnTo>
                  <a:lnTo>
                    <a:pt x="0" y="612"/>
                  </a:lnTo>
                  <a:lnTo>
                    <a:pt x="0" y="610"/>
                  </a:lnTo>
                  <a:lnTo>
                    <a:pt x="2" y="607"/>
                  </a:lnTo>
                  <a:lnTo>
                    <a:pt x="4" y="604"/>
                  </a:lnTo>
                  <a:close/>
                  <a:moveTo>
                    <a:pt x="157" y="486"/>
                  </a:moveTo>
                  <a:lnTo>
                    <a:pt x="247" y="416"/>
                  </a:lnTo>
                  <a:lnTo>
                    <a:pt x="250" y="415"/>
                  </a:lnTo>
                  <a:lnTo>
                    <a:pt x="254" y="415"/>
                  </a:lnTo>
                  <a:lnTo>
                    <a:pt x="255" y="415"/>
                  </a:lnTo>
                  <a:lnTo>
                    <a:pt x="259" y="416"/>
                  </a:lnTo>
                  <a:lnTo>
                    <a:pt x="260" y="420"/>
                  </a:lnTo>
                  <a:lnTo>
                    <a:pt x="260" y="423"/>
                  </a:lnTo>
                  <a:lnTo>
                    <a:pt x="259" y="427"/>
                  </a:lnTo>
                  <a:lnTo>
                    <a:pt x="257" y="428"/>
                  </a:lnTo>
                  <a:lnTo>
                    <a:pt x="168" y="497"/>
                  </a:lnTo>
                  <a:lnTo>
                    <a:pt x="164" y="499"/>
                  </a:lnTo>
                  <a:lnTo>
                    <a:pt x="161" y="499"/>
                  </a:lnTo>
                  <a:lnTo>
                    <a:pt x="159" y="499"/>
                  </a:lnTo>
                  <a:lnTo>
                    <a:pt x="156" y="497"/>
                  </a:lnTo>
                  <a:lnTo>
                    <a:pt x="154" y="494"/>
                  </a:lnTo>
                  <a:lnTo>
                    <a:pt x="154" y="491"/>
                  </a:lnTo>
                  <a:lnTo>
                    <a:pt x="156" y="487"/>
                  </a:lnTo>
                  <a:lnTo>
                    <a:pt x="157" y="486"/>
                  </a:lnTo>
                  <a:close/>
                  <a:moveTo>
                    <a:pt x="311" y="366"/>
                  </a:moveTo>
                  <a:lnTo>
                    <a:pt x="400" y="297"/>
                  </a:lnTo>
                  <a:lnTo>
                    <a:pt x="404" y="295"/>
                  </a:lnTo>
                  <a:lnTo>
                    <a:pt x="407" y="295"/>
                  </a:lnTo>
                  <a:lnTo>
                    <a:pt x="409" y="297"/>
                  </a:lnTo>
                  <a:lnTo>
                    <a:pt x="412" y="298"/>
                  </a:lnTo>
                  <a:lnTo>
                    <a:pt x="414" y="302"/>
                  </a:lnTo>
                  <a:lnTo>
                    <a:pt x="414" y="303"/>
                  </a:lnTo>
                  <a:lnTo>
                    <a:pt x="412" y="307"/>
                  </a:lnTo>
                  <a:lnTo>
                    <a:pt x="411" y="310"/>
                  </a:lnTo>
                  <a:lnTo>
                    <a:pt x="321" y="379"/>
                  </a:lnTo>
                  <a:lnTo>
                    <a:pt x="318" y="381"/>
                  </a:lnTo>
                  <a:lnTo>
                    <a:pt x="314" y="381"/>
                  </a:lnTo>
                  <a:lnTo>
                    <a:pt x="313" y="379"/>
                  </a:lnTo>
                  <a:lnTo>
                    <a:pt x="309" y="378"/>
                  </a:lnTo>
                  <a:lnTo>
                    <a:pt x="308" y="374"/>
                  </a:lnTo>
                  <a:lnTo>
                    <a:pt x="308" y="371"/>
                  </a:lnTo>
                  <a:lnTo>
                    <a:pt x="309" y="369"/>
                  </a:lnTo>
                  <a:lnTo>
                    <a:pt x="311" y="366"/>
                  </a:lnTo>
                  <a:close/>
                  <a:moveTo>
                    <a:pt x="465" y="248"/>
                  </a:moveTo>
                  <a:lnTo>
                    <a:pt x="554" y="177"/>
                  </a:lnTo>
                  <a:lnTo>
                    <a:pt x="557" y="177"/>
                  </a:lnTo>
                  <a:lnTo>
                    <a:pt x="561" y="175"/>
                  </a:lnTo>
                  <a:lnTo>
                    <a:pt x="564" y="177"/>
                  </a:lnTo>
                  <a:lnTo>
                    <a:pt x="566" y="179"/>
                  </a:lnTo>
                  <a:lnTo>
                    <a:pt x="568" y="182"/>
                  </a:lnTo>
                  <a:lnTo>
                    <a:pt x="568" y="185"/>
                  </a:lnTo>
                  <a:lnTo>
                    <a:pt x="566" y="189"/>
                  </a:lnTo>
                  <a:lnTo>
                    <a:pt x="564" y="190"/>
                  </a:lnTo>
                  <a:lnTo>
                    <a:pt x="475" y="260"/>
                  </a:lnTo>
                  <a:lnTo>
                    <a:pt x="471" y="261"/>
                  </a:lnTo>
                  <a:lnTo>
                    <a:pt x="468" y="261"/>
                  </a:lnTo>
                  <a:lnTo>
                    <a:pt x="466" y="261"/>
                  </a:lnTo>
                  <a:lnTo>
                    <a:pt x="463" y="258"/>
                  </a:lnTo>
                  <a:lnTo>
                    <a:pt x="461" y="256"/>
                  </a:lnTo>
                  <a:lnTo>
                    <a:pt x="461" y="253"/>
                  </a:lnTo>
                  <a:lnTo>
                    <a:pt x="463" y="250"/>
                  </a:lnTo>
                  <a:lnTo>
                    <a:pt x="465" y="248"/>
                  </a:lnTo>
                  <a:close/>
                  <a:moveTo>
                    <a:pt x="618" y="128"/>
                  </a:moveTo>
                  <a:lnTo>
                    <a:pt x="708" y="59"/>
                  </a:lnTo>
                  <a:lnTo>
                    <a:pt x="711" y="57"/>
                  </a:lnTo>
                  <a:lnTo>
                    <a:pt x="714" y="57"/>
                  </a:lnTo>
                  <a:lnTo>
                    <a:pt x="718" y="57"/>
                  </a:lnTo>
                  <a:lnTo>
                    <a:pt x="719" y="61"/>
                  </a:lnTo>
                  <a:lnTo>
                    <a:pt x="721" y="62"/>
                  </a:lnTo>
                  <a:lnTo>
                    <a:pt x="721" y="66"/>
                  </a:lnTo>
                  <a:lnTo>
                    <a:pt x="719" y="69"/>
                  </a:lnTo>
                  <a:lnTo>
                    <a:pt x="718" y="71"/>
                  </a:lnTo>
                  <a:lnTo>
                    <a:pt x="628" y="142"/>
                  </a:lnTo>
                  <a:lnTo>
                    <a:pt x="625" y="142"/>
                  </a:lnTo>
                  <a:lnTo>
                    <a:pt x="623" y="143"/>
                  </a:lnTo>
                  <a:lnTo>
                    <a:pt x="620" y="142"/>
                  </a:lnTo>
                  <a:lnTo>
                    <a:pt x="616" y="140"/>
                  </a:lnTo>
                  <a:lnTo>
                    <a:pt x="616" y="136"/>
                  </a:lnTo>
                  <a:lnTo>
                    <a:pt x="615" y="133"/>
                  </a:lnTo>
                  <a:lnTo>
                    <a:pt x="616" y="130"/>
                  </a:lnTo>
                  <a:lnTo>
                    <a:pt x="618" y="128"/>
                  </a:lnTo>
                  <a:close/>
                  <a:moveTo>
                    <a:pt x="772" y="8"/>
                  </a:moveTo>
                  <a:lnTo>
                    <a:pt x="782" y="2"/>
                  </a:lnTo>
                  <a:lnTo>
                    <a:pt x="785" y="0"/>
                  </a:lnTo>
                  <a:lnTo>
                    <a:pt x="789" y="0"/>
                  </a:lnTo>
                  <a:lnTo>
                    <a:pt x="790" y="2"/>
                  </a:lnTo>
                  <a:lnTo>
                    <a:pt x="794" y="3"/>
                  </a:lnTo>
                  <a:lnTo>
                    <a:pt x="795" y="5"/>
                  </a:lnTo>
                  <a:lnTo>
                    <a:pt x="795" y="8"/>
                  </a:lnTo>
                  <a:lnTo>
                    <a:pt x="794" y="12"/>
                  </a:lnTo>
                  <a:lnTo>
                    <a:pt x="792" y="15"/>
                  </a:lnTo>
                  <a:lnTo>
                    <a:pt x="782" y="22"/>
                  </a:lnTo>
                  <a:lnTo>
                    <a:pt x="779" y="23"/>
                  </a:lnTo>
                  <a:lnTo>
                    <a:pt x="777" y="23"/>
                  </a:lnTo>
                  <a:lnTo>
                    <a:pt x="773" y="22"/>
                  </a:lnTo>
                  <a:lnTo>
                    <a:pt x="770" y="20"/>
                  </a:lnTo>
                  <a:lnTo>
                    <a:pt x="770" y="17"/>
                  </a:lnTo>
                  <a:lnTo>
                    <a:pt x="768" y="15"/>
                  </a:lnTo>
                  <a:lnTo>
                    <a:pt x="770" y="12"/>
                  </a:lnTo>
                  <a:lnTo>
                    <a:pt x="772" y="8"/>
                  </a:lnTo>
                  <a:close/>
                </a:path>
              </a:pathLst>
            </a:custGeom>
            <a:solidFill>
              <a:srgbClr val="000000"/>
            </a:solidFill>
            <a:ln w="1588">
              <a:solidFill>
                <a:srgbClr val="000000"/>
              </a:solidFill>
              <a:round/>
              <a:headEnd/>
              <a:tailEnd/>
            </a:ln>
          </p:spPr>
          <p:txBody>
            <a:bodyPr/>
            <a:lstStyle/>
            <a:p>
              <a:endParaRPr lang="zh-CN" altLang="en-US">
                <a:latin typeface="Times New Roman" panose="02020603050405020304" pitchFamily="18" charset="0"/>
                <a:ea typeface="宋体" panose="02010600030101010101" pitchFamily="2" charset="-122"/>
              </a:endParaRPr>
            </a:p>
          </p:txBody>
        </p:sp>
        <p:sp>
          <p:nvSpPr>
            <p:cNvPr id="63506" name="Freeform 25">
              <a:extLst>
                <a:ext uri="{FF2B5EF4-FFF2-40B4-BE49-F238E27FC236}">
                  <a16:creationId xmlns:a16="http://schemas.microsoft.com/office/drawing/2014/main" id="{BECA5336-7A01-41C4-B25D-5ABF598C4E0D}"/>
                </a:ext>
              </a:extLst>
            </p:cNvPr>
            <p:cNvSpPr>
              <a:spLocks/>
            </p:cNvSpPr>
            <p:nvPr/>
          </p:nvSpPr>
          <p:spPr bwMode="auto">
            <a:xfrm>
              <a:off x="1239" y="1209"/>
              <a:ext cx="1458" cy="1248"/>
            </a:xfrm>
            <a:custGeom>
              <a:avLst/>
              <a:gdLst>
                <a:gd name="T0" fmla="*/ 1 w 2915"/>
                <a:gd name="T1" fmla="*/ 1 h 2495"/>
                <a:gd name="T2" fmla="*/ 1 w 2915"/>
                <a:gd name="T3" fmla="*/ 1 h 2495"/>
                <a:gd name="T4" fmla="*/ 1 w 2915"/>
                <a:gd name="T5" fmla="*/ 1 h 2495"/>
                <a:gd name="T6" fmla="*/ 1 w 2915"/>
                <a:gd name="T7" fmla="*/ 1 h 2495"/>
                <a:gd name="T8" fmla="*/ 1 w 2915"/>
                <a:gd name="T9" fmla="*/ 1 h 2495"/>
                <a:gd name="T10" fmla="*/ 1 w 2915"/>
                <a:gd name="T11" fmla="*/ 1 h 2495"/>
                <a:gd name="T12" fmla="*/ 1 w 2915"/>
                <a:gd name="T13" fmla="*/ 1 h 2495"/>
                <a:gd name="T14" fmla="*/ 1 w 2915"/>
                <a:gd name="T15" fmla="*/ 1 h 2495"/>
                <a:gd name="T16" fmla="*/ 1 w 2915"/>
                <a:gd name="T17" fmla="*/ 1 h 2495"/>
                <a:gd name="T18" fmla="*/ 1 w 2915"/>
                <a:gd name="T19" fmla="*/ 1 h 2495"/>
                <a:gd name="T20" fmla="*/ 1 w 2915"/>
                <a:gd name="T21" fmla="*/ 1 h 2495"/>
                <a:gd name="T22" fmla="*/ 1 w 2915"/>
                <a:gd name="T23" fmla="*/ 1 h 2495"/>
                <a:gd name="T24" fmla="*/ 1 w 2915"/>
                <a:gd name="T25" fmla="*/ 1 h 2495"/>
                <a:gd name="T26" fmla="*/ 1 w 2915"/>
                <a:gd name="T27" fmla="*/ 1 h 2495"/>
                <a:gd name="T28" fmla="*/ 1 w 2915"/>
                <a:gd name="T29" fmla="*/ 1 h 2495"/>
                <a:gd name="T30" fmla="*/ 1 w 2915"/>
                <a:gd name="T31" fmla="*/ 1 h 2495"/>
                <a:gd name="T32" fmla="*/ 1 w 2915"/>
                <a:gd name="T33" fmla="*/ 1 h 2495"/>
                <a:gd name="T34" fmla="*/ 1 w 2915"/>
                <a:gd name="T35" fmla="*/ 1 h 2495"/>
                <a:gd name="T36" fmla="*/ 1 w 2915"/>
                <a:gd name="T37" fmla="*/ 1 h 2495"/>
                <a:gd name="T38" fmla="*/ 1 w 2915"/>
                <a:gd name="T39" fmla="*/ 1 h 2495"/>
                <a:gd name="T40" fmla="*/ 1 w 2915"/>
                <a:gd name="T41" fmla="*/ 1 h 2495"/>
                <a:gd name="T42" fmla="*/ 1 w 2915"/>
                <a:gd name="T43" fmla="*/ 1 h 2495"/>
                <a:gd name="T44" fmla="*/ 1 w 2915"/>
                <a:gd name="T45" fmla="*/ 1 h 2495"/>
                <a:gd name="T46" fmla="*/ 1 w 2915"/>
                <a:gd name="T47" fmla="*/ 1 h 2495"/>
                <a:gd name="T48" fmla="*/ 1 w 2915"/>
                <a:gd name="T49" fmla="*/ 1 h 2495"/>
                <a:gd name="T50" fmla="*/ 1 w 2915"/>
                <a:gd name="T51" fmla="*/ 1 h 2495"/>
                <a:gd name="T52" fmla="*/ 1 w 2915"/>
                <a:gd name="T53" fmla="*/ 1 h 2495"/>
                <a:gd name="T54" fmla="*/ 1 w 2915"/>
                <a:gd name="T55" fmla="*/ 1 h 2495"/>
                <a:gd name="T56" fmla="*/ 1 w 2915"/>
                <a:gd name="T57" fmla="*/ 1 h 2495"/>
                <a:gd name="T58" fmla="*/ 1 w 2915"/>
                <a:gd name="T59" fmla="*/ 1 h 2495"/>
                <a:gd name="T60" fmla="*/ 1 w 2915"/>
                <a:gd name="T61" fmla="*/ 1 h 2495"/>
                <a:gd name="T62" fmla="*/ 1 w 2915"/>
                <a:gd name="T63" fmla="*/ 1 h 2495"/>
                <a:gd name="T64" fmla="*/ 1 w 2915"/>
                <a:gd name="T65" fmla="*/ 1 h 2495"/>
                <a:gd name="T66" fmla="*/ 1 w 2915"/>
                <a:gd name="T67" fmla="*/ 1 h 2495"/>
                <a:gd name="T68" fmla="*/ 1 w 2915"/>
                <a:gd name="T69" fmla="*/ 1 h 2495"/>
                <a:gd name="T70" fmla="*/ 1 w 2915"/>
                <a:gd name="T71" fmla="*/ 1 h 2495"/>
                <a:gd name="T72" fmla="*/ 1 w 2915"/>
                <a:gd name="T73" fmla="*/ 1 h 2495"/>
                <a:gd name="T74" fmla="*/ 1 w 2915"/>
                <a:gd name="T75" fmla="*/ 1 h 2495"/>
                <a:gd name="T76" fmla="*/ 1 w 2915"/>
                <a:gd name="T77" fmla="*/ 1 h 2495"/>
                <a:gd name="T78" fmla="*/ 1 w 2915"/>
                <a:gd name="T79" fmla="*/ 1 h 2495"/>
                <a:gd name="T80" fmla="*/ 1 w 2915"/>
                <a:gd name="T81" fmla="*/ 1 h 2495"/>
                <a:gd name="T82" fmla="*/ 1 w 2915"/>
                <a:gd name="T83" fmla="*/ 1 h 2495"/>
                <a:gd name="T84" fmla="*/ 1 w 2915"/>
                <a:gd name="T85" fmla="*/ 1 h 2495"/>
                <a:gd name="T86" fmla="*/ 1 w 2915"/>
                <a:gd name="T87" fmla="*/ 1 h 2495"/>
                <a:gd name="T88" fmla="*/ 1 w 2915"/>
                <a:gd name="T89" fmla="*/ 1 h 2495"/>
                <a:gd name="T90" fmla="*/ 1 w 2915"/>
                <a:gd name="T91" fmla="*/ 1 h 2495"/>
                <a:gd name="T92" fmla="*/ 1 w 2915"/>
                <a:gd name="T93" fmla="*/ 1 h 2495"/>
                <a:gd name="T94" fmla="*/ 1 w 2915"/>
                <a:gd name="T95" fmla="*/ 1 h 2495"/>
                <a:gd name="T96" fmla="*/ 1 w 2915"/>
                <a:gd name="T97" fmla="*/ 1 h 2495"/>
                <a:gd name="T98" fmla="*/ 1 w 2915"/>
                <a:gd name="T99" fmla="*/ 1 h 2495"/>
                <a:gd name="T100" fmla="*/ 1 w 2915"/>
                <a:gd name="T101" fmla="*/ 1 h 24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915"/>
                <a:gd name="T154" fmla="*/ 0 h 2495"/>
                <a:gd name="T155" fmla="*/ 2915 w 2915"/>
                <a:gd name="T156" fmla="*/ 2495 h 24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915" h="2495">
                  <a:moveTo>
                    <a:pt x="0" y="2495"/>
                  </a:moveTo>
                  <a:lnTo>
                    <a:pt x="7" y="2468"/>
                  </a:lnTo>
                  <a:lnTo>
                    <a:pt x="12" y="2439"/>
                  </a:lnTo>
                  <a:lnTo>
                    <a:pt x="18" y="2410"/>
                  </a:lnTo>
                  <a:lnTo>
                    <a:pt x="22" y="2397"/>
                  </a:lnTo>
                  <a:lnTo>
                    <a:pt x="25" y="2382"/>
                  </a:lnTo>
                  <a:lnTo>
                    <a:pt x="30" y="2366"/>
                  </a:lnTo>
                  <a:lnTo>
                    <a:pt x="34" y="2351"/>
                  </a:lnTo>
                  <a:lnTo>
                    <a:pt x="40" y="2336"/>
                  </a:lnTo>
                  <a:lnTo>
                    <a:pt x="45" y="2321"/>
                  </a:lnTo>
                  <a:lnTo>
                    <a:pt x="54" y="2306"/>
                  </a:lnTo>
                  <a:lnTo>
                    <a:pt x="61" y="2289"/>
                  </a:lnTo>
                  <a:lnTo>
                    <a:pt x="69" y="2272"/>
                  </a:lnTo>
                  <a:lnTo>
                    <a:pt x="79" y="2255"/>
                  </a:lnTo>
                  <a:lnTo>
                    <a:pt x="91" y="2238"/>
                  </a:lnTo>
                  <a:lnTo>
                    <a:pt x="103" y="2221"/>
                  </a:lnTo>
                  <a:lnTo>
                    <a:pt x="116" y="2203"/>
                  </a:lnTo>
                  <a:lnTo>
                    <a:pt x="131" y="2184"/>
                  </a:lnTo>
                  <a:lnTo>
                    <a:pt x="147" y="2166"/>
                  </a:lnTo>
                  <a:lnTo>
                    <a:pt x="164" y="2147"/>
                  </a:lnTo>
                  <a:lnTo>
                    <a:pt x="180" y="2129"/>
                  </a:lnTo>
                  <a:lnTo>
                    <a:pt x="197" y="2108"/>
                  </a:lnTo>
                  <a:lnTo>
                    <a:pt x="231" y="2073"/>
                  </a:lnTo>
                  <a:lnTo>
                    <a:pt x="248" y="2054"/>
                  </a:lnTo>
                  <a:lnTo>
                    <a:pt x="265" y="2037"/>
                  </a:lnTo>
                  <a:lnTo>
                    <a:pt x="282" y="2021"/>
                  </a:lnTo>
                  <a:lnTo>
                    <a:pt x="297" y="2005"/>
                  </a:lnTo>
                  <a:lnTo>
                    <a:pt x="312" y="1989"/>
                  </a:lnTo>
                  <a:lnTo>
                    <a:pt x="326" y="1975"/>
                  </a:lnTo>
                  <a:lnTo>
                    <a:pt x="329" y="1972"/>
                  </a:lnTo>
                  <a:lnTo>
                    <a:pt x="332" y="1968"/>
                  </a:lnTo>
                  <a:lnTo>
                    <a:pt x="334" y="1967"/>
                  </a:lnTo>
                  <a:lnTo>
                    <a:pt x="337" y="1965"/>
                  </a:lnTo>
                  <a:lnTo>
                    <a:pt x="339" y="1963"/>
                  </a:lnTo>
                  <a:lnTo>
                    <a:pt x="339" y="1962"/>
                  </a:lnTo>
                  <a:lnTo>
                    <a:pt x="341" y="1960"/>
                  </a:lnTo>
                  <a:lnTo>
                    <a:pt x="339" y="1960"/>
                  </a:lnTo>
                  <a:lnTo>
                    <a:pt x="337" y="1962"/>
                  </a:lnTo>
                  <a:lnTo>
                    <a:pt x="334" y="1963"/>
                  </a:lnTo>
                  <a:lnTo>
                    <a:pt x="331" y="1965"/>
                  </a:lnTo>
                  <a:lnTo>
                    <a:pt x="326" y="1968"/>
                  </a:lnTo>
                  <a:lnTo>
                    <a:pt x="319" y="1975"/>
                  </a:lnTo>
                  <a:lnTo>
                    <a:pt x="315" y="1977"/>
                  </a:lnTo>
                  <a:lnTo>
                    <a:pt x="312" y="1980"/>
                  </a:lnTo>
                  <a:lnTo>
                    <a:pt x="309" y="1982"/>
                  </a:lnTo>
                  <a:lnTo>
                    <a:pt x="307" y="1984"/>
                  </a:lnTo>
                  <a:lnTo>
                    <a:pt x="305" y="1985"/>
                  </a:lnTo>
                  <a:lnTo>
                    <a:pt x="307" y="1985"/>
                  </a:lnTo>
                  <a:lnTo>
                    <a:pt x="309" y="1984"/>
                  </a:lnTo>
                  <a:lnTo>
                    <a:pt x="310" y="1984"/>
                  </a:lnTo>
                  <a:lnTo>
                    <a:pt x="312" y="1982"/>
                  </a:lnTo>
                  <a:lnTo>
                    <a:pt x="315" y="1980"/>
                  </a:lnTo>
                  <a:lnTo>
                    <a:pt x="317" y="1978"/>
                  </a:lnTo>
                  <a:lnTo>
                    <a:pt x="320" y="1975"/>
                  </a:lnTo>
                  <a:lnTo>
                    <a:pt x="326" y="1973"/>
                  </a:lnTo>
                  <a:lnTo>
                    <a:pt x="329" y="1970"/>
                  </a:lnTo>
                  <a:lnTo>
                    <a:pt x="334" y="1967"/>
                  </a:lnTo>
                  <a:lnTo>
                    <a:pt x="341" y="1962"/>
                  </a:lnTo>
                  <a:lnTo>
                    <a:pt x="348" y="1958"/>
                  </a:lnTo>
                  <a:lnTo>
                    <a:pt x="354" y="1953"/>
                  </a:lnTo>
                  <a:lnTo>
                    <a:pt x="361" y="1946"/>
                  </a:lnTo>
                  <a:lnTo>
                    <a:pt x="369" y="1940"/>
                  </a:lnTo>
                  <a:lnTo>
                    <a:pt x="380" y="1933"/>
                  </a:lnTo>
                  <a:lnTo>
                    <a:pt x="390" y="1926"/>
                  </a:lnTo>
                  <a:lnTo>
                    <a:pt x="400" y="1918"/>
                  </a:lnTo>
                  <a:lnTo>
                    <a:pt x="412" y="1909"/>
                  </a:lnTo>
                  <a:lnTo>
                    <a:pt x="423" y="1901"/>
                  </a:lnTo>
                  <a:lnTo>
                    <a:pt x="437" y="1891"/>
                  </a:lnTo>
                  <a:lnTo>
                    <a:pt x="450" y="1881"/>
                  </a:lnTo>
                  <a:lnTo>
                    <a:pt x="466" y="1869"/>
                  </a:lnTo>
                  <a:lnTo>
                    <a:pt x="483" y="1857"/>
                  </a:lnTo>
                  <a:lnTo>
                    <a:pt x="499" y="1844"/>
                  </a:lnTo>
                  <a:lnTo>
                    <a:pt x="516" y="1830"/>
                  </a:lnTo>
                  <a:lnTo>
                    <a:pt x="537" y="1817"/>
                  </a:lnTo>
                  <a:lnTo>
                    <a:pt x="555" y="1801"/>
                  </a:lnTo>
                  <a:lnTo>
                    <a:pt x="597" y="1769"/>
                  </a:lnTo>
                  <a:lnTo>
                    <a:pt x="643" y="1736"/>
                  </a:lnTo>
                  <a:lnTo>
                    <a:pt x="690" y="1700"/>
                  </a:lnTo>
                  <a:lnTo>
                    <a:pt x="741" y="1661"/>
                  </a:lnTo>
                  <a:lnTo>
                    <a:pt x="795" y="1621"/>
                  </a:lnTo>
                  <a:lnTo>
                    <a:pt x="850" y="1579"/>
                  </a:lnTo>
                  <a:lnTo>
                    <a:pt x="910" y="1533"/>
                  </a:lnTo>
                  <a:lnTo>
                    <a:pt x="970" y="1488"/>
                  </a:lnTo>
                  <a:lnTo>
                    <a:pt x="1034" y="1439"/>
                  </a:lnTo>
                  <a:lnTo>
                    <a:pt x="1100" y="1390"/>
                  </a:lnTo>
                  <a:lnTo>
                    <a:pt x="1168" y="1338"/>
                  </a:lnTo>
                  <a:lnTo>
                    <a:pt x="1237" y="1284"/>
                  </a:lnTo>
                  <a:lnTo>
                    <a:pt x="1310" y="1230"/>
                  </a:lnTo>
                  <a:lnTo>
                    <a:pt x="1384" y="1172"/>
                  </a:lnTo>
                  <a:lnTo>
                    <a:pt x="1458" y="1115"/>
                  </a:lnTo>
                  <a:lnTo>
                    <a:pt x="1536" y="1056"/>
                  </a:lnTo>
                  <a:lnTo>
                    <a:pt x="1615" y="995"/>
                  </a:lnTo>
                  <a:lnTo>
                    <a:pt x="1694" y="934"/>
                  </a:lnTo>
                  <a:lnTo>
                    <a:pt x="1777" y="872"/>
                  </a:lnTo>
                  <a:lnTo>
                    <a:pt x="1860" y="808"/>
                  </a:lnTo>
                  <a:lnTo>
                    <a:pt x="1942" y="744"/>
                  </a:lnTo>
                  <a:lnTo>
                    <a:pt x="2029" y="680"/>
                  </a:lnTo>
                  <a:lnTo>
                    <a:pt x="2201" y="546"/>
                  </a:lnTo>
                  <a:lnTo>
                    <a:pt x="2376" y="412"/>
                  </a:lnTo>
                  <a:lnTo>
                    <a:pt x="2555" y="277"/>
                  </a:lnTo>
                  <a:lnTo>
                    <a:pt x="2734" y="138"/>
                  </a:lnTo>
                  <a:lnTo>
                    <a:pt x="2915"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宋体" panose="02010600030101010101" pitchFamily="2" charset="-122"/>
              </a:endParaRPr>
            </a:p>
          </p:txBody>
        </p:sp>
        <p:sp>
          <p:nvSpPr>
            <p:cNvPr id="63507" name="Line 26">
              <a:extLst>
                <a:ext uri="{FF2B5EF4-FFF2-40B4-BE49-F238E27FC236}">
                  <a16:creationId xmlns:a16="http://schemas.microsoft.com/office/drawing/2014/main" id="{D890D266-0057-4A63-994F-5DAF3E2F0F9F}"/>
                </a:ext>
              </a:extLst>
            </p:cNvPr>
            <p:cNvSpPr>
              <a:spLocks noChangeShapeType="1"/>
            </p:cNvSpPr>
            <p:nvPr/>
          </p:nvSpPr>
          <p:spPr bwMode="auto">
            <a:xfrm>
              <a:off x="1069" y="2457"/>
              <a:ext cx="0" cy="23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8" name="Line 27">
              <a:extLst>
                <a:ext uri="{FF2B5EF4-FFF2-40B4-BE49-F238E27FC236}">
                  <a16:creationId xmlns:a16="http://schemas.microsoft.com/office/drawing/2014/main" id="{97F33286-2E23-48BC-8F0F-598EF6C3BE85}"/>
                </a:ext>
              </a:extLst>
            </p:cNvPr>
            <p:cNvSpPr>
              <a:spLocks noChangeShapeType="1"/>
            </p:cNvSpPr>
            <p:nvPr/>
          </p:nvSpPr>
          <p:spPr bwMode="auto">
            <a:xfrm>
              <a:off x="1190" y="1262"/>
              <a:ext cx="1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9" name="Rectangle 28">
              <a:extLst>
                <a:ext uri="{FF2B5EF4-FFF2-40B4-BE49-F238E27FC236}">
                  <a16:creationId xmlns:a16="http://schemas.microsoft.com/office/drawing/2014/main" id="{E20D9450-5BFC-4C8B-AC16-E5A30B61F765}"/>
                </a:ext>
              </a:extLst>
            </p:cNvPr>
            <p:cNvSpPr>
              <a:spLocks noChangeArrowheads="1"/>
            </p:cNvSpPr>
            <p:nvPr/>
          </p:nvSpPr>
          <p:spPr bwMode="auto">
            <a:xfrm>
              <a:off x="1328" y="1277"/>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000">
                  <a:solidFill>
                    <a:srgbClr val="000000"/>
                  </a:solidFill>
                  <a:latin typeface="Times New Roman" panose="02020603050405020304" pitchFamily="18" charset="0"/>
                </a:rPr>
                <a:t>2</a:t>
              </a:r>
              <a:endParaRPr kumimoji="0" lang="en-US" altLang="zh-CN" sz="4800" b="1">
                <a:solidFill>
                  <a:srgbClr val="000066"/>
                </a:solidFill>
                <a:latin typeface="Times New Roman" panose="02020603050405020304" pitchFamily="18" charset="0"/>
              </a:endParaRPr>
            </a:p>
          </p:txBody>
        </p:sp>
        <p:sp>
          <p:nvSpPr>
            <p:cNvPr id="63510" name="Rectangle 29">
              <a:extLst>
                <a:ext uri="{FF2B5EF4-FFF2-40B4-BE49-F238E27FC236}">
                  <a16:creationId xmlns:a16="http://schemas.microsoft.com/office/drawing/2014/main" id="{EA63F342-B330-4172-8EC0-1118D023295B}"/>
                </a:ext>
              </a:extLst>
            </p:cNvPr>
            <p:cNvSpPr>
              <a:spLocks noChangeArrowheads="1"/>
            </p:cNvSpPr>
            <p:nvPr/>
          </p:nvSpPr>
          <p:spPr bwMode="auto">
            <a:xfrm>
              <a:off x="1279" y="1090"/>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700">
                  <a:solidFill>
                    <a:srgbClr val="000000"/>
                  </a:solidFill>
                  <a:latin typeface="Times New Roman" panose="02020603050405020304" pitchFamily="18" charset="0"/>
                </a:rPr>
                <a:t>1</a:t>
              </a:r>
              <a:endParaRPr kumimoji="0" lang="en-US" altLang="zh-CN" sz="4800" b="1">
                <a:solidFill>
                  <a:srgbClr val="000066"/>
                </a:solidFill>
                <a:latin typeface="Times New Roman" panose="02020603050405020304" pitchFamily="18" charset="0"/>
              </a:endParaRPr>
            </a:p>
          </p:txBody>
        </p:sp>
        <p:sp>
          <p:nvSpPr>
            <p:cNvPr id="63511" name="Rectangle 30">
              <a:extLst>
                <a:ext uri="{FF2B5EF4-FFF2-40B4-BE49-F238E27FC236}">
                  <a16:creationId xmlns:a16="http://schemas.microsoft.com/office/drawing/2014/main" id="{4968AB3C-2355-4F00-B6FA-99D7DF4BA9BE}"/>
                </a:ext>
              </a:extLst>
            </p:cNvPr>
            <p:cNvSpPr>
              <a:spLocks noChangeArrowheads="1"/>
            </p:cNvSpPr>
            <p:nvPr/>
          </p:nvSpPr>
          <p:spPr bwMode="auto">
            <a:xfrm>
              <a:off x="1227" y="1288"/>
              <a:ext cx="9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700" i="1">
                  <a:solidFill>
                    <a:srgbClr val="000000"/>
                  </a:solidFill>
                  <a:latin typeface="Times New Roman" panose="02020603050405020304" pitchFamily="18" charset="0"/>
                </a:rPr>
                <a:t>C</a:t>
              </a:r>
              <a:endParaRPr kumimoji="0" lang="en-US" altLang="zh-CN" sz="4800" b="1">
                <a:solidFill>
                  <a:srgbClr val="000066"/>
                </a:solidFill>
                <a:latin typeface="Times New Roman" panose="02020603050405020304" pitchFamily="18" charset="0"/>
              </a:endParaRPr>
            </a:p>
          </p:txBody>
        </p:sp>
        <p:sp>
          <p:nvSpPr>
            <p:cNvPr id="63512" name="Rectangle 31">
              <a:extLst>
                <a:ext uri="{FF2B5EF4-FFF2-40B4-BE49-F238E27FC236}">
                  <a16:creationId xmlns:a16="http://schemas.microsoft.com/office/drawing/2014/main" id="{86C5E6D9-BFC4-42F2-8878-54556AD21CA3}"/>
                </a:ext>
              </a:extLst>
            </p:cNvPr>
            <p:cNvSpPr>
              <a:spLocks noChangeArrowheads="1"/>
            </p:cNvSpPr>
            <p:nvPr/>
          </p:nvSpPr>
          <p:spPr bwMode="auto">
            <a:xfrm>
              <a:off x="1441" y="1211"/>
              <a:ext cx="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300">
                  <a:solidFill>
                    <a:srgbClr val="000000"/>
                  </a:solidFill>
                  <a:latin typeface="Times New Roman" panose="02020603050405020304" pitchFamily="18" charset="0"/>
                </a:rPr>
                <a:t> </a:t>
              </a:r>
              <a:endParaRPr kumimoji="0" lang="zh-CN" altLang="en-US" sz="4800" b="1">
                <a:solidFill>
                  <a:srgbClr val="000066"/>
                </a:solidFill>
                <a:latin typeface="Times New Roman" panose="02020603050405020304" pitchFamily="18" charset="0"/>
              </a:endParaRPr>
            </a:p>
          </p:txBody>
        </p:sp>
        <p:sp>
          <p:nvSpPr>
            <p:cNvPr id="63513" name="Rectangle 32">
              <a:extLst>
                <a:ext uri="{FF2B5EF4-FFF2-40B4-BE49-F238E27FC236}">
                  <a16:creationId xmlns:a16="http://schemas.microsoft.com/office/drawing/2014/main" id="{A8C8290E-18B1-4A37-A617-071EA74A0E09}"/>
                </a:ext>
              </a:extLst>
            </p:cNvPr>
            <p:cNvSpPr>
              <a:spLocks noChangeArrowheads="1"/>
            </p:cNvSpPr>
            <p:nvPr/>
          </p:nvSpPr>
          <p:spPr bwMode="auto">
            <a:xfrm>
              <a:off x="1325" y="2609"/>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000">
                  <a:solidFill>
                    <a:srgbClr val="000000"/>
                  </a:solidFill>
                  <a:latin typeface="Times New Roman" panose="02020603050405020304" pitchFamily="18" charset="0"/>
                </a:rPr>
                <a:t>0</a:t>
              </a:r>
              <a:endParaRPr kumimoji="0" lang="en-US" altLang="zh-CN" sz="4800" b="1">
                <a:solidFill>
                  <a:srgbClr val="000066"/>
                </a:solidFill>
                <a:latin typeface="Times New Roman" panose="02020603050405020304" pitchFamily="18" charset="0"/>
              </a:endParaRPr>
            </a:p>
          </p:txBody>
        </p:sp>
        <p:sp>
          <p:nvSpPr>
            <p:cNvPr id="63514" name="Rectangle 33">
              <a:extLst>
                <a:ext uri="{FF2B5EF4-FFF2-40B4-BE49-F238E27FC236}">
                  <a16:creationId xmlns:a16="http://schemas.microsoft.com/office/drawing/2014/main" id="{C0886EC5-0CB1-40E1-9A95-B50B70AAB8E2}"/>
                </a:ext>
              </a:extLst>
            </p:cNvPr>
            <p:cNvSpPr>
              <a:spLocks noChangeArrowheads="1"/>
            </p:cNvSpPr>
            <p:nvPr/>
          </p:nvSpPr>
          <p:spPr bwMode="auto">
            <a:xfrm>
              <a:off x="1221" y="2511"/>
              <a:ext cx="6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700" i="1">
                  <a:solidFill>
                    <a:srgbClr val="000000"/>
                  </a:solidFill>
                  <a:latin typeface="Times New Roman" panose="02020603050405020304" pitchFamily="18" charset="0"/>
                </a:rPr>
                <a:t>y</a:t>
              </a:r>
              <a:endParaRPr kumimoji="0" lang="en-US" altLang="zh-CN" sz="4800" b="1">
                <a:solidFill>
                  <a:srgbClr val="000066"/>
                </a:solidFill>
                <a:latin typeface="Times New Roman" panose="02020603050405020304" pitchFamily="18" charset="0"/>
              </a:endParaRPr>
            </a:p>
          </p:txBody>
        </p:sp>
        <p:sp>
          <p:nvSpPr>
            <p:cNvPr id="63515" name="Rectangle 34">
              <a:extLst>
                <a:ext uri="{FF2B5EF4-FFF2-40B4-BE49-F238E27FC236}">
                  <a16:creationId xmlns:a16="http://schemas.microsoft.com/office/drawing/2014/main" id="{340CEE24-0F4C-44F1-8EC6-1E9342D985A5}"/>
                </a:ext>
              </a:extLst>
            </p:cNvPr>
            <p:cNvSpPr>
              <a:spLocks noChangeArrowheads="1"/>
            </p:cNvSpPr>
            <p:nvPr/>
          </p:nvSpPr>
          <p:spPr bwMode="auto">
            <a:xfrm>
              <a:off x="1401" y="2561"/>
              <a:ext cx="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300">
                  <a:solidFill>
                    <a:srgbClr val="000000"/>
                  </a:solidFill>
                  <a:latin typeface="Times New Roman" panose="02020603050405020304" pitchFamily="18" charset="0"/>
                </a:rPr>
                <a:t> </a:t>
              </a:r>
              <a:endParaRPr kumimoji="0" lang="zh-CN" altLang="en-US" sz="4800" b="1">
                <a:solidFill>
                  <a:srgbClr val="000066"/>
                </a:solidFill>
                <a:latin typeface="Times New Roman" panose="02020603050405020304" pitchFamily="18" charset="0"/>
              </a:endParaRPr>
            </a:p>
          </p:txBody>
        </p:sp>
        <p:sp>
          <p:nvSpPr>
            <p:cNvPr id="63516" name="Line 35">
              <a:extLst>
                <a:ext uri="{FF2B5EF4-FFF2-40B4-BE49-F238E27FC236}">
                  <a16:creationId xmlns:a16="http://schemas.microsoft.com/office/drawing/2014/main" id="{83F0A47B-A66F-4FA3-8201-941EA7A97511}"/>
                </a:ext>
              </a:extLst>
            </p:cNvPr>
            <p:cNvSpPr>
              <a:spLocks noChangeShapeType="1"/>
            </p:cNvSpPr>
            <p:nvPr/>
          </p:nvSpPr>
          <p:spPr bwMode="auto">
            <a:xfrm>
              <a:off x="1343" y="2631"/>
              <a:ext cx="9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17" name="Freeform 36">
              <a:extLst>
                <a:ext uri="{FF2B5EF4-FFF2-40B4-BE49-F238E27FC236}">
                  <a16:creationId xmlns:a16="http://schemas.microsoft.com/office/drawing/2014/main" id="{79BFCE3A-AB13-4A06-9D4C-633028466495}"/>
                </a:ext>
              </a:extLst>
            </p:cNvPr>
            <p:cNvSpPr>
              <a:spLocks/>
            </p:cNvSpPr>
            <p:nvPr/>
          </p:nvSpPr>
          <p:spPr bwMode="auto">
            <a:xfrm>
              <a:off x="1347" y="2606"/>
              <a:ext cx="87" cy="53"/>
            </a:xfrm>
            <a:custGeom>
              <a:avLst/>
              <a:gdLst>
                <a:gd name="T0" fmla="*/ 0 w 176"/>
                <a:gd name="T1" fmla="*/ 1 h 106"/>
                <a:gd name="T2" fmla="*/ 0 w 176"/>
                <a:gd name="T3" fmla="*/ 1 h 106"/>
                <a:gd name="T4" fmla="*/ 0 w 176"/>
                <a:gd name="T5" fmla="*/ 0 h 106"/>
                <a:gd name="T6" fmla="*/ 0 60000 65536"/>
                <a:gd name="T7" fmla="*/ 0 60000 65536"/>
                <a:gd name="T8" fmla="*/ 0 60000 65536"/>
                <a:gd name="T9" fmla="*/ 0 w 176"/>
                <a:gd name="T10" fmla="*/ 0 h 106"/>
                <a:gd name="T11" fmla="*/ 176 w 176"/>
                <a:gd name="T12" fmla="*/ 106 h 106"/>
              </a:gdLst>
              <a:ahLst/>
              <a:cxnLst>
                <a:cxn ang="T6">
                  <a:pos x="T0" y="T1"/>
                </a:cxn>
                <a:cxn ang="T7">
                  <a:pos x="T2" y="T3"/>
                </a:cxn>
                <a:cxn ang="T8">
                  <a:pos x="T4" y="T5"/>
                </a:cxn>
              </a:cxnLst>
              <a:rect l="T9" t="T10" r="T11" b="T12"/>
              <a:pathLst>
                <a:path w="176" h="106">
                  <a:moveTo>
                    <a:pt x="0" y="106"/>
                  </a:moveTo>
                  <a:lnTo>
                    <a:pt x="176" y="57"/>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宋体" panose="02010600030101010101" pitchFamily="2" charset="-122"/>
              </a:endParaRPr>
            </a:p>
          </p:txBody>
        </p:sp>
        <p:sp>
          <p:nvSpPr>
            <p:cNvPr id="63518" name="Line 37">
              <a:extLst>
                <a:ext uri="{FF2B5EF4-FFF2-40B4-BE49-F238E27FC236}">
                  <a16:creationId xmlns:a16="http://schemas.microsoft.com/office/drawing/2014/main" id="{8A11F636-C946-4A95-B6D1-4E97D524D4C0}"/>
                </a:ext>
              </a:extLst>
            </p:cNvPr>
            <p:cNvSpPr>
              <a:spLocks noChangeShapeType="1"/>
            </p:cNvSpPr>
            <p:nvPr/>
          </p:nvSpPr>
          <p:spPr bwMode="auto">
            <a:xfrm flipH="1">
              <a:off x="1061" y="2631"/>
              <a:ext cx="9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19" name="Freeform 38">
              <a:extLst>
                <a:ext uri="{FF2B5EF4-FFF2-40B4-BE49-F238E27FC236}">
                  <a16:creationId xmlns:a16="http://schemas.microsoft.com/office/drawing/2014/main" id="{F591B697-6416-40E9-A22F-651D94E21EAB}"/>
                </a:ext>
              </a:extLst>
            </p:cNvPr>
            <p:cNvSpPr>
              <a:spLocks/>
            </p:cNvSpPr>
            <p:nvPr/>
          </p:nvSpPr>
          <p:spPr bwMode="auto">
            <a:xfrm>
              <a:off x="1061" y="2606"/>
              <a:ext cx="91" cy="53"/>
            </a:xfrm>
            <a:custGeom>
              <a:avLst/>
              <a:gdLst>
                <a:gd name="T0" fmla="*/ 0 w 184"/>
                <a:gd name="T1" fmla="*/ 0 h 106"/>
                <a:gd name="T2" fmla="*/ 0 w 184"/>
                <a:gd name="T3" fmla="*/ 1 h 106"/>
                <a:gd name="T4" fmla="*/ 0 w 184"/>
                <a:gd name="T5" fmla="*/ 1 h 106"/>
                <a:gd name="T6" fmla="*/ 0 60000 65536"/>
                <a:gd name="T7" fmla="*/ 0 60000 65536"/>
                <a:gd name="T8" fmla="*/ 0 60000 65536"/>
                <a:gd name="T9" fmla="*/ 0 w 184"/>
                <a:gd name="T10" fmla="*/ 0 h 106"/>
                <a:gd name="T11" fmla="*/ 184 w 184"/>
                <a:gd name="T12" fmla="*/ 106 h 106"/>
              </a:gdLst>
              <a:ahLst/>
              <a:cxnLst>
                <a:cxn ang="T6">
                  <a:pos x="T0" y="T1"/>
                </a:cxn>
                <a:cxn ang="T7">
                  <a:pos x="T2" y="T3"/>
                </a:cxn>
                <a:cxn ang="T8">
                  <a:pos x="T4" y="T5"/>
                </a:cxn>
              </a:cxnLst>
              <a:rect l="T9" t="T10" r="T11" b="T12"/>
              <a:pathLst>
                <a:path w="184" h="106">
                  <a:moveTo>
                    <a:pt x="184" y="0"/>
                  </a:moveTo>
                  <a:lnTo>
                    <a:pt x="0" y="57"/>
                  </a:lnTo>
                  <a:lnTo>
                    <a:pt x="184" y="106"/>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宋体" panose="02010600030101010101" pitchFamily="2" charset="-122"/>
              </a:endParaRPr>
            </a:p>
          </p:txBody>
        </p:sp>
        <p:sp>
          <p:nvSpPr>
            <p:cNvPr id="63520" name="Rectangle 39">
              <a:extLst>
                <a:ext uri="{FF2B5EF4-FFF2-40B4-BE49-F238E27FC236}">
                  <a16:creationId xmlns:a16="http://schemas.microsoft.com/office/drawing/2014/main" id="{3424E7FF-5566-4489-81EA-8E1FC75E461C}"/>
                </a:ext>
              </a:extLst>
            </p:cNvPr>
            <p:cNvSpPr>
              <a:spLocks noChangeArrowheads="1"/>
            </p:cNvSpPr>
            <p:nvPr/>
          </p:nvSpPr>
          <p:spPr bwMode="auto">
            <a:xfrm>
              <a:off x="2704" y="2613"/>
              <a:ext cx="4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000" i="1">
                  <a:solidFill>
                    <a:srgbClr val="000000"/>
                  </a:solidFill>
                  <a:latin typeface="Times New Roman" panose="02020603050405020304" pitchFamily="18" charset="0"/>
                </a:rPr>
                <a:t>R</a:t>
              </a:r>
              <a:endParaRPr kumimoji="0" lang="en-US" altLang="zh-CN" sz="4800" b="1">
                <a:solidFill>
                  <a:srgbClr val="000066"/>
                </a:solidFill>
                <a:latin typeface="Times New Roman" panose="02020603050405020304" pitchFamily="18" charset="0"/>
              </a:endParaRPr>
            </a:p>
          </p:txBody>
        </p:sp>
        <p:sp>
          <p:nvSpPr>
            <p:cNvPr id="63521" name="Rectangle 40">
              <a:extLst>
                <a:ext uri="{FF2B5EF4-FFF2-40B4-BE49-F238E27FC236}">
                  <a16:creationId xmlns:a16="http://schemas.microsoft.com/office/drawing/2014/main" id="{FC9A9DA2-FA38-4E90-AED0-6A5A4C52820C}"/>
                </a:ext>
              </a:extLst>
            </p:cNvPr>
            <p:cNvSpPr>
              <a:spLocks noChangeArrowheads="1"/>
            </p:cNvSpPr>
            <p:nvPr/>
          </p:nvSpPr>
          <p:spPr bwMode="auto">
            <a:xfrm>
              <a:off x="2623" y="2530"/>
              <a:ext cx="8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700" i="1">
                  <a:solidFill>
                    <a:srgbClr val="000000"/>
                  </a:solidFill>
                  <a:latin typeface="Times New Roman" panose="02020603050405020304" pitchFamily="18" charset="0"/>
                </a:rPr>
                <a:t>V</a:t>
              </a:r>
              <a:endParaRPr kumimoji="0" lang="en-US" altLang="zh-CN" sz="4800" b="1">
                <a:solidFill>
                  <a:srgbClr val="000066"/>
                </a:solidFill>
                <a:latin typeface="Times New Roman" panose="02020603050405020304" pitchFamily="18" charset="0"/>
              </a:endParaRPr>
            </a:p>
          </p:txBody>
        </p:sp>
        <p:sp>
          <p:nvSpPr>
            <p:cNvPr id="63522" name="Rectangle 41">
              <a:extLst>
                <a:ext uri="{FF2B5EF4-FFF2-40B4-BE49-F238E27FC236}">
                  <a16:creationId xmlns:a16="http://schemas.microsoft.com/office/drawing/2014/main" id="{8D43D9B0-BFF8-4407-B652-8F38A9F50A4C}"/>
                </a:ext>
              </a:extLst>
            </p:cNvPr>
            <p:cNvSpPr>
              <a:spLocks noChangeArrowheads="1"/>
            </p:cNvSpPr>
            <p:nvPr/>
          </p:nvSpPr>
          <p:spPr bwMode="auto">
            <a:xfrm>
              <a:off x="2790" y="2561"/>
              <a:ext cx="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300">
                  <a:solidFill>
                    <a:srgbClr val="000000"/>
                  </a:solidFill>
                  <a:latin typeface="Times New Roman" panose="02020603050405020304" pitchFamily="18" charset="0"/>
                </a:rPr>
                <a:t> </a:t>
              </a:r>
              <a:endParaRPr kumimoji="0" lang="zh-CN" altLang="en-US" sz="4800" b="1">
                <a:solidFill>
                  <a:srgbClr val="000066"/>
                </a:solidFill>
                <a:latin typeface="Times New Roman" panose="02020603050405020304" pitchFamily="18" charset="0"/>
              </a:endParaRPr>
            </a:p>
          </p:txBody>
        </p:sp>
      </p:grpSp>
      <p:sp>
        <p:nvSpPr>
          <p:cNvPr id="465962" name="Rectangle 42">
            <a:extLst>
              <a:ext uri="{FF2B5EF4-FFF2-40B4-BE49-F238E27FC236}">
                <a16:creationId xmlns:a16="http://schemas.microsoft.com/office/drawing/2014/main" id="{7B17E34B-6AC6-40FD-AC9F-B428CF9207C3}"/>
              </a:ext>
            </a:extLst>
          </p:cNvPr>
          <p:cNvSpPr>
            <a:spLocks noChangeArrowheads="1"/>
          </p:cNvSpPr>
          <p:nvPr/>
        </p:nvSpPr>
        <p:spPr bwMode="auto">
          <a:xfrm>
            <a:off x="4500563" y="3284538"/>
            <a:ext cx="4175125" cy="79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lang="en-US" altLang="ko-KR" sz="2000" b="1">
                <a:solidFill>
                  <a:srgbClr val="000066"/>
                </a:solidFill>
                <a:latin typeface="Times New Roman" panose="02020603050405020304" pitchFamily="18" charset="0"/>
              </a:rPr>
              <a:t>1</a:t>
            </a:r>
            <a:r>
              <a:rPr lang="ko-KR" altLang="en-US" sz="2000" b="1">
                <a:solidFill>
                  <a:srgbClr val="000066"/>
                </a:solidFill>
                <a:latin typeface="Times New Roman" panose="02020603050405020304" pitchFamily="18" charset="0"/>
              </a:rPr>
              <a:t>、根据该图中的直线斜率可以计算出施主浓度。</a:t>
            </a:r>
            <a:endParaRPr lang="zh-CN" altLang="en-US" sz="2000" b="1">
              <a:solidFill>
                <a:srgbClr val="000066"/>
              </a:solidFill>
              <a:latin typeface="Times New Roman" panose="02020603050405020304" pitchFamily="18" charset="0"/>
            </a:endParaRPr>
          </a:p>
        </p:txBody>
      </p:sp>
      <p:grpSp>
        <p:nvGrpSpPr>
          <p:cNvPr id="4" name="Group 47">
            <a:extLst>
              <a:ext uri="{FF2B5EF4-FFF2-40B4-BE49-F238E27FC236}">
                <a16:creationId xmlns:a16="http://schemas.microsoft.com/office/drawing/2014/main" id="{82675BA2-F5A0-4C6D-A722-5778E3A45AC8}"/>
              </a:ext>
            </a:extLst>
          </p:cNvPr>
          <p:cNvGrpSpPr>
            <a:grpSpLocks/>
          </p:cNvGrpSpPr>
          <p:nvPr/>
        </p:nvGrpSpPr>
        <p:grpSpPr bwMode="auto">
          <a:xfrm>
            <a:off x="4500563" y="4437066"/>
            <a:ext cx="4248150" cy="795338"/>
            <a:chOff x="2835" y="2795"/>
            <a:chExt cx="2676" cy="501"/>
          </a:xfrm>
        </p:grpSpPr>
        <p:sp>
          <p:nvSpPr>
            <p:cNvPr id="63499" name="Rectangle 43">
              <a:extLst>
                <a:ext uri="{FF2B5EF4-FFF2-40B4-BE49-F238E27FC236}">
                  <a16:creationId xmlns:a16="http://schemas.microsoft.com/office/drawing/2014/main" id="{12885F80-75C4-45BC-8607-F4051CA6B6B0}"/>
                </a:ext>
              </a:extLst>
            </p:cNvPr>
            <p:cNvSpPr>
              <a:spLocks noChangeArrowheads="1"/>
            </p:cNvSpPr>
            <p:nvPr/>
          </p:nvSpPr>
          <p:spPr bwMode="auto">
            <a:xfrm>
              <a:off x="2835" y="2795"/>
              <a:ext cx="2676"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lang="en-US" altLang="ko-KR" sz="2000" b="1">
                  <a:solidFill>
                    <a:srgbClr val="000066"/>
                  </a:solidFill>
                  <a:latin typeface="Times New Roman" panose="02020603050405020304" pitchFamily="18" charset="0"/>
                </a:rPr>
                <a:t>2</a:t>
              </a:r>
              <a:r>
                <a:rPr lang="ko-KR" altLang="en-US" sz="2000" b="1">
                  <a:solidFill>
                    <a:srgbClr val="000066"/>
                  </a:solidFill>
                  <a:latin typeface="Times New Roman" panose="02020603050405020304" pitchFamily="18" charset="0"/>
                </a:rPr>
                <a:t>、使直线外推至电压轴可求出自建电压。在截距处</a:t>
              </a:r>
              <a:endParaRPr lang="zh-CN" altLang="en-US" sz="2000" b="1">
                <a:solidFill>
                  <a:srgbClr val="000066"/>
                </a:solidFill>
                <a:latin typeface="Times New Roman" panose="02020603050405020304" pitchFamily="18" charset="0"/>
              </a:endParaRPr>
            </a:p>
          </p:txBody>
        </p:sp>
        <p:graphicFrame>
          <p:nvGraphicFramePr>
            <p:cNvPr id="63500" name="Object 46">
              <a:extLst>
                <a:ext uri="{FF2B5EF4-FFF2-40B4-BE49-F238E27FC236}">
                  <a16:creationId xmlns:a16="http://schemas.microsoft.com/office/drawing/2014/main" id="{86D8D130-9296-46FE-9B29-83113F8534D3}"/>
                </a:ext>
              </a:extLst>
            </p:cNvPr>
            <p:cNvGraphicFramePr>
              <a:graphicFrameLocks noChangeAspect="1"/>
            </p:cNvGraphicFramePr>
            <p:nvPr/>
          </p:nvGraphicFramePr>
          <p:xfrm>
            <a:off x="4059" y="3067"/>
            <a:ext cx="576" cy="216"/>
          </p:xfrm>
          <a:graphic>
            <a:graphicData uri="http://schemas.openxmlformats.org/presentationml/2006/ole">
              <mc:AlternateContent xmlns:mc="http://schemas.openxmlformats.org/markup-compatibility/2006">
                <mc:Choice xmlns:v="urn:schemas-microsoft-com:vml" Requires="v">
                  <p:oleObj spid="_x0000_s108638" r:id="rId7" imgW="609600" imgH="228600" progId="Equation.3">
                    <p:embed/>
                  </p:oleObj>
                </mc:Choice>
                <mc:Fallback>
                  <p:oleObj r:id="rId7" imgW="609600" imgH="228600" progId="Equation.3">
                    <p:embed/>
                    <p:pic>
                      <p:nvPicPr>
                        <p:cNvPr id="63500" name="Object 46">
                          <a:extLst>
                            <a:ext uri="{FF2B5EF4-FFF2-40B4-BE49-F238E27FC236}">
                              <a16:creationId xmlns:a16="http://schemas.microsoft.com/office/drawing/2014/main" id="{86D8D130-9296-46FE-9B29-83113F8534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59" y="3067"/>
                          <a:ext cx="57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3372633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a:extLst>
              <a:ext uri="{FF2B5EF4-FFF2-40B4-BE49-F238E27FC236}">
                <a16:creationId xmlns:a16="http://schemas.microsoft.com/office/drawing/2014/main" id="{EFBE3F09-DFFF-4C8F-90AD-EDEB224D0B58}"/>
              </a:ext>
            </a:extLst>
          </p:cNvPr>
          <p:cNvSpPr>
            <a:spLocks noGrp="1" noChangeArrowheads="1"/>
          </p:cNvSpPr>
          <p:nvPr>
            <p:ph type="body" sz="half" idx="1"/>
          </p:nvPr>
        </p:nvSpPr>
        <p:spPr>
          <a:xfrm>
            <a:off x="827584" y="1196752"/>
            <a:ext cx="3605213" cy="835025"/>
          </a:xfrm>
        </p:spPr>
        <p:txBody>
          <a:bodyPr>
            <a:normAutofit fontScale="92500" lnSpcReduction="10000"/>
          </a:bodyPr>
          <a:lstStyle/>
          <a:p>
            <a:pPr>
              <a:lnSpc>
                <a:spcPct val="120000"/>
              </a:lnSpc>
              <a:spcBef>
                <a:spcPts val="0"/>
              </a:spcBef>
            </a:pPr>
            <a:r>
              <a:rPr lang="zh-CN" altLang="en-US" sz="2400">
                <a:latin typeface="Times New Roman" panose="02020603050405020304" pitchFamily="18" charset="0"/>
                <a:ea typeface="宋体" panose="02010600030101010101" pitchFamily="2" charset="-122"/>
              </a:rPr>
              <a:t>突变结势垒电容</a:t>
            </a:r>
          </a:p>
          <a:p>
            <a:pPr>
              <a:lnSpc>
                <a:spcPct val="120000"/>
              </a:lnSpc>
              <a:spcBef>
                <a:spcPts val="0"/>
              </a:spcBef>
              <a:buFont typeface="Wingdings" panose="05000000000000000000" pitchFamily="2" charset="2"/>
              <a:buNone/>
            </a:pPr>
            <a:r>
              <a:rPr lang="zh-CN" altLang="en-US" sz="2400">
                <a:latin typeface="Times New Roman" panose="02020603050405020304" pitchFamily="18" charset="0"/>
                <a:ea typeface="宋体" panose="02010600030101010101" pitchFamily="2" charset="-122"/>
              </a:rPr>
              <a:t>	表达式为</a:t>
            </a:r>
          </a:p>
        </p:txBody>
      </p:sp>
      <p:graphicFrame>
        <p:nvGraphicFramePr>
          <p:cNvPr id="104452" name="Object 4">
            <a:extLst>
              <a:ext uri="{FF2B5EF4-FFF2-40B4-BE49-F238E27FC236}">
                <a16:creationId xmlns:a16="http://schemas.microsoft.com/office/drawing/2014/main" id="{33CE89A6-8FE7-4BCB-A099-8C136CF290AC}"/>
              </a:ext>
            </a:extLst>
          </p:cNvPr>
          <p:cNvGraphicFramePr>
            <a:graphicFrameLocks noGrp="1" noChangeAspect="1"/>
          </p:cNvGraphicFramePr>
          <p:nvPr>
            <p:ph sz="half" idx="2"/>
            <p:extLst>
              <p:ext uri="{D42A27DB-BD31-4B8C-83A1-F6EECF244321}">
                <p14:modId xmlns:p14="http://schemas.microsoft.com/office/powerpoint/2010/main" val="3419377632"/>
              </p:ext>
            </p:extLst>
          </p:nvPr>
        </p:nvGraphicFramePr>
        <p:xfrm>
          <a:off x="4788397" y="1125314"/>
          <a:ext cx="2446337" cy="917575"/>
        </p:xfrm>
        <a:graphic>
          <a:graphicData uri="http://schemas.openxmlformats.org/presentationml/2006/ole">
            <mc:AlternateContent xmlns:mc="http://schemas.openxmlformats.org/markup-compatibility/2006">
              <mc:Choice xmlns:v="urn:schemas-microsoft-com:vml" Requires="v">
                <p:oleObj spid="_x0000_s104545" name="Equation" r:id="rId3" imgW="1422360" imgH="533160" progId="Equation.DSMT4">
                  <p:embed/>
                </p:oleObj>
              </mc:Choice>
              <mc:Fallback>
                <p:oleObj name="Equation" r:id="rId3" imgW="1422360" imgH="53316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8397" y="1125314"/>
                        <a:ext cx="2446337"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4455" name="Picture 7" descr="0254">
            <a:extLst>
              <a:ext uri="{FF2B5EF4-FFF2-40B4-BE49-F238E27FC236}">
                <a16:creationId xmlns:a16="http://schemas.microsoft.com/office/drawing/2014/main" id="{C9417DEC-E10E-417A-BA39-AD41C1E258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284" y="2204814"/>
            <a:ext cx="5400675" cy="3332163"/>
          </a:xfrm>
          <a:prstGeom prst="rect">
            <a:avLst/>
          </a:prstGeom>
          <a:noFill/>
          <a:extLst>
            <a:ext uri="{909E8E84-426E-40DD-AFC4-6F175D3DCCD1}">
              <a14:hiddenFill xmlns:a14="http://schemas.microsoft.com/office/drawing/2010/main">
                <a:solidFill>
                  <a:srgbClr val="FFFFFF"/>
                </a:solidFill>
              </a14:hiddenFill>
            </a:ext>
          </a:extLst>
        </p:spPr>
      </p:pic>
      <p:sp>
        <p:nvSpPr>
          <p:cNvPr id="104456" name="Text Box 8">
            <a:extLst>
              <a:ext uri="{FF2B5EF4-FFF2-40B4-BE49-F238E27FC236}">
                <a16:creationId xmlns:a16="http://schemas.microsoft.com/office/drawing/2014/main" id="{A439A63A-10D2-4A64-B9A1-AAFC169BA1DA}"/>
              </a:ext>
            </a:extLst>
          </p:cNvPr>
          <p:cNvSpPr txBox="1">
            <a:spLocks noChangeArrowheads="1"/>
          </p:cNvSpPr>
          <p:nvPr/>
        </p:nvSpPr>
        <p:spPr bwMode="auto">
          <a:xfrm>
            <a:off x="1980109" y="5589364"/>
            <a:ext cx="5256213"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a:latin typeface="Times New Roman" panose="02020603050405020304" pitchFamily="18" charset="0"/>
                <a:ea typeface="宋体" panose="02010600030101010101" pitchFamily="2" charset="-122"/>
              </a:rPr>
              <a:t>硅突变结</a:t>
            </a:r>
            <a:r>
              <a:rPr lang="en-US" altLang="zh-CN">
                <a:latin typeface="Times New Roman" panose="02020603050405020304" pitchFamily="18" charset="0"/>
                <a:ea typeface="宋体" panose="02010600030101010101" pitchFamily="2" charset="-122"/>
              </a:rPr>
              <a:t>C</a:t>
            </a:r>
            <a:r>
              <a:rPr lang="en-US" altLang="zh-CN" baseline="-25000">
                <a:latin typeface="Times New Roman" panose="02020603050405020304" pitchFamily="18" charset="0"/>
                <a:ea typeface="宋体" panose="02010600030101010101" pitchFamily="2" charset="-122"/>
              </a:rPr>
              <a:t>T</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X</a:t>
            </a:r>
            <a:r>
              <a:rPr lang="en-US" altLang="zh-CN" baseline="-25000">
                <a:latin typeface="Times New Roman" panose="02020603050405020304" pitchFamily="18" charset="0"/>
                <a:ea typeface="宋体" panose="02010600030101010101" pitchFamily="2" charset="-122"/>
              </a:rPr>
              <a:t>m</a:t>
            </a:r>
            <a:r>
              <a:rPr lang="zh-CN" altLang="en-US">
                <a:latin typeface="Times New Roman" panose="02020603050405020304" pitchFamily="18" charset="0"/>
                <a:ea typeface="宋体" panose="02010600030101010101" pitchFamily="2" charset="-122"/>
              </a:rPr>
              <a:t>与（</a:t>
            </a:r>
            <a:r>
              <a:rPr lang="en-US" altLang="zh-CN">
                <a:latin typeface="Times New Roman" panose="02020603050405020304" pitchFamily="18" charset="0"/>
                <a:ea typeface="宋体" panose="02010600030101010101" pitchFamily="2" charset="-122"/>
              </a:rPr>
              <a:t>U</a:t>
            </a:r>
            <a:r>
              <a:rPr lang="en-US" altLang="zh-CN" baseline="-25000">
                <a:latin typeface="Times New Roman" panose="02020603050405020304" pitchFamily="18" charset="0"/>
                <a:ea typeface="宋体" panose="02010600030101010101" pitchFamily="2" charset="-122"/>
              </a:rPr>
              <a:t>D</a:t>
            </a:r>
            <a:r>
              <a:rPr lang="en-US" altLang="zh-CN">
                <a:latin typeface="Times New Roman" panose="02020603050405020304" pitchFamily="18" charset="0"/>
                <a:ea typeface="宋体" panose="02010600030101010101" pitchFamily="2" charset="-122"/>
              </a:rPr>
              <a:t>-U</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/N0</a:t>
            </a:r>
            <a:r>
              <a:rPr lang="zh-CN" altLang="en-US">
                <a:latin typeface="Times New Roman" panose="02020603050405020304" pitchFamily="18" charset="0"/>
                <a:ea typeface="宋体" panose="02010600030101010101" pitchFamily="2" charset="-122"/>
              </a:rPr>
              <a:t>的关系曲线</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a:extLst>
              <a:ext uri="{FF2B5EF4-FFF2-40B4-BE49-F238E27FC236}">
                <a16:creationId xmlns:a16="http://schemas.microsoft.com/office/drawing/2014/main" id="{5AC097C4-5EEC-482B-B820-6988B801BFDF}"/>
              </a:ext>
            </a:extLst>
          </p:cNvPr>
          <p:cNvSpPr>
            <a:spLocks noChangeArrowheads="1"/>
          </p:cNvSpPr>
          <p:nvPr/>
        </p:nvSpPr>
        <p:spPr bwMode="auto">
          <a:xfrm>
            <a:off x="179388" y="1268413"/>
            <a:ext cx="3024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a:solidFill>
                  <a:srgbClr val="993300"/>
                </a:solidFill>
                <a:latin typeface="Times New Roman" panose="02020603050405020304" pitchFamily="18" charset="0"/>
              </a:rPr>
              <a:t>2.</a:t>
            </a:r>
            <a:r>
              <a:rPr kumimoji="0" lang="zh-CN" altLang="en-US" b="1">
                <a:solidFill>
                  <a:srgbClr val="993300"/>
                </a:solidFill>
                <a:latin typeface="Times New Roman" panose="02020603050405020304" pitchFamily="18" charset="0"/>
              </a:rPr>
              <a:t>求杂质分布</a:t>
            </a:r>
            <a:r>
              <a:rPr kumimoji="0" lang="zh-CN" altLang="en-US">
                <a:solidFill>
                  <a:srgbClr val="993300"/>
                </a:solidFill>
                <a:latin typeface="Times New Roman" panose="02020603050405020304" pitchFamily="18" charset="0"/>
              </a:rPr>
              <a:t> </a:t>
            </a:r>
            <a:endParaRPr kumimoji="0" lang="en-US" altLang="zh-CN">
              <a:solidFill>
                <a:srgbClr val="993300"/>
              </a:solidFill>
              <a:latin typeface="Times New Roman" panose="02020603050405020304" pitchFamily="18" charset="0"/>
            </a:endParaRPr>
          </a:p>
        </p:txBody>
      </p:sp>
      <p:sp>
        <p:nvSpPr>
          <p:cNvPr id="467972" name="Rectangle 4">
            <a:extLst>
              <a:ext uri="{FF2B5EF4-FFF2-40B4-BE49-F238E27FC236}">
                <a16:creationId xmlns:a16="http://schemas.microsoft.com/office/drawing/2014/main" id="{652504AE-0F10-44DE-ACAC-E471ACFC7F3C}"/>
              </a:ext>
            </a:extLst>
          </p:cNvPr>
          <p:cNvSpPr>
            <a:spLocks noChangeArrowheads="1"/>
          </p:cNvSpPr>
          <p:nvPr/>
        </p:nvSpPr>
        <p:spPr bwMode="auto">
          <a:xfrm>
            <a:off x="538163" y="1844675"/>
            <a:ext cx="8355012" cy="79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kumimoji="0" lang="zh-CN" altLang="en-US" sz="2000" b="1">
                <a:solidFill>
                  <a:srgbClr val="000066"/>
                </a:solidFill>
                <a:latin typeface="Times New Roman" panose="02020603050405020304" pitchFamily="18" charset="0"/>
              </a:rPr>
              <a:t>在杂质分布未知的</a:t>
            </a:r>
            <a:r>
              <a:rPr kumimoji="0" lang="en-US" altLang="zh-CN" sz="2000" b="1">
                <a:solidFill>
                  <a:srgbClr val="000066"/>
                </a:solidFill>
                <a:latin typeface="Times New Roman" panose="02020603050405020304" pitchFamily="18" charset="0"/>
              </a:rPr>
              <a:t>PN</a:t>
            </a:r>
            <a:r>
              <a:rPr kumimoji="0" lang="zh-CN" altLang="en-US" sz="2000" b="1">
                <a:solidFill>
                  <a:srgbClr val="000066"/>
                </a:solidFill>
                <a:latin typeface="Times New Roman" panose="02020603050405020304" pitchFamily="18" charset="0"/>
              </a:rPr>
              <a:t>结中，可以利用电容</a:t>
            </a:r>
            <a:r>
              <a:rPr kumimoji="0" lang="zh-CN" altLang="en-US" sz="2000" b="1">
                <a:solidFill>
                  <a:srgbClr val="000066"/>
                </a:solidFill>
                <a:latin typeface="Times New Roman" panose="02020603050405020304" pitchFamily="18" charset="0"/>
                <a:sym typeface="Symbol" panose="05050102010706020507" pitchFamily="18" charset="2"/>
              </a:rPr>
              <a:t></a:t>
            </a:r>
            <a:r>
              <a:rPr kumimoji="0" lang="zh-CN" altLang="en-US" sz="2000" b="1">
                <a:solidFill>
                  <a:srgbClr val="000066"/>
                </a:solidFill>
                <a:latin typeface="Times New Roman" panose="02020603050405020304" pitchFamily="18" charset="0"/>
              </a:rPr>
              <a:t>电压曲线描绘出轻掺杂一边的杂质分布，此称求杂质分布。考虑任意杂质分布：</a:t>
            </a:r>
            <a:endParaRPr kumimoji="0" lang="ko-KR" altLang="en-US" sz="2000" b="1">
              <a:solidFill>
                <a:srgbClr val="000066"/>
              </a:solidFill>
              <a:latin typeface="Times New Roman" panose="02020603050405020304" pitchFamily="18" charset="0"/>
            </a:endParaRPr>
          </a:p>
        </p:txBody>
      </p:sp>
      <p:sp>
        <p:nvSpPr>
          <p:cNvPr id="467977" name="Rectangle 9">
            <a:extLst>
              <a:ext uri="{FF2B5EF4-FFF2-40B4-BE49-F238E27FC236}">
                <a16:creationId xmlns:a16="http://schemas.microsoft.com/office/drawing/2014/main" id="{344E9EE3-B834-45BA-A6DE-82E1B0243198}"/>
              </a:ext>
            </a:extLst>
          </p:cNvPr>
          <p:cNvSpPr>
            <a:spLocks noChangeArrowheads="1"/>
          </p:cNvSpPr>
          <p:nvPr/>
        </p:nvSpPr>
        <p:spPr bwMode="auto">
          <a:xfrm>
            <a:off x="6659563" y="2744788"/>
            <a:ext cx="1352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ko-KR" altLang="en-US" sz="2000" b="1">
                <a:solidFill>
                  <a:srgbClr val="000066"/>
                </a:solidFill>
                <a:latin typeface="Times New Roman" panose="02020603050405020304" pitchFamily="18" charset="0"/>
              </a:rPr>
              <a:t>（</a:t>
            </a:r>
            <a:r>
              <a:rPr lang="en-US" altLang="ko-KR" sz="2000" b="1">
                <a:solidFill>
                  <a:srgbClr val="000066"/>
                </a:solidFill>
                <a:latin typeface="Times New Roman" panose="02020603050405020304" pitchFamily="18" charset="0"/>
              </a:rPr>
              <a:t>2-</a:t>
            </a:r>
            <a:r>
              <a:rPr lang="en-US" altLang="zh-CN" sz="2000" b="1">
                <a:solidFill>
                  <a:srgbClr val="000066"/>
                </a:solidFill>
                <a:latin typeface="Times New Roman" panose="02020603050405020304" pitchFamily="18" charset="0"/>
              </a:rPr>
              <a:t>7-8</a:t>
            </a:r>
            <a:r>
              <a:rPr lang="ko-KR" altLang="en-US" sz="2000" b="1">
                <a:solidFill>
                  <a:srgbClr val="000066"/>
                </a:solidFill>
                <a:latin typeface="Times New Roman" panose="02020603050405020304" pitchFamily="18" charset="0"/>
              </a:rPr>
              <a:t>）</a:t>
            </a:r>
            <a:endParaRPr lang="zh-CN" altLang="en-US" sz="2000" b="1">
              <a:solidFill>
                <a:srgbClr val="000066"/>
              </a:solidFill>
              <a:latin typeface="Times New Roman" panose="02020603050405020304" pitchFamily="18" charset="0"/>
            </a:endParaRPr>
          </a:p>
        </p:txBody>
      </p:sp>
      <p:grpSp>
        <p:nvGrpSpPr>
          <p:cNvPr id="2" name="Group 36">
            <a:extLst>
              <a:ext uri="{FF2B5EF4-FFF2-40B4-BE49-F238E27FC236}">
                <a16:creationId xmlns:a16="http://schemas.microsoft.com/office/drawing/2014/main" id="{1EF51AC2-8C66-4357-8DA7-AAAE6A4731D9}"/>
              </a:ext>
            </a:extLst>
          </p:cNvPr>
          <p:cNvGrpSpPr>
            <a:grpSpLocks/>
          </p:cNvGrpSpPr>
          <p:nvPr/>
        </p:nvGrpSpPr>
        <p:grpSpPr bwMode="auto">
          <a:xfrm>
            <a:off x="611188" y="2708275"/>
            <a:ext cx="3673475" cy="2451121"/>
            <a:chOff x="3060" y="1149"/>
            <a:chExt cx="2206" cy="1534"/>
          </a:xfrm>
        </p:grpSpPr>
        <p:sp>
          <p:nvSpPr>
            <p:cNvPr id="64528" name="Rectangle 37">
              <a:extLst>
                <a:ext uri="{FF2B5EF4-FFF2-40B4-BE49-F238E27FC236}">
                  <a16:creationId xmlns:a16="http://schemas.microsoft.com/office/drawing/2014/main" id="{60579424-0570-40F8-A08D-EABB077C3181}"/>
                </a:ext>
              </a:extLst>
            </p:cNvPr>
            <p:cNvSpPr>
              <a:spLocks noChangeArrowheads="1"/>
            </p:cNvSpPr>
            <p:nvPr/>
          </p:nvSpPr>
          <p:spPr bwMode="auto">
            <a:xfrm>
              <a:off x="5150" y="2519"/>
              <a:ext cx="5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700" i="1">
                  <a:solidFill>
                    <a:srgbClr val="000000"/>
                  </a:solidFill>
                  <a:latin typeface="Times New Roman" panose="02020603050405020304" pitchFamily="18" charset="0"/>
                </a:rPr>
                <a:t>x</a:t>
              </a:r>
              <a:endParaRPr kumimoji="0" lang="en-US" altLang="zh-CN" sz="4800" b="1">
                <a:solidFill>
                  <a:srgbClr val="000066"/>
                </a:solidFill>
                <a:latin typeface="Times New Roman" panose="02020603050405020304" pitchFamily="18" charset="0"/>
              </a:endParaRPr>
            </a:p>
          </p:txBody>
        </p:sp>
        <p:sp>
          <p:nvSpPr>
            <p:cNvPr id="64529" name="Rectangle 38">
              <a:extLst>
                <a:ext uri="{FF2B5EF4-FFF2-40B4-BE49-F238E27FC236}">
                  <a16:creationId xmlns:a16="http://schemas.microsoft.com/office/drawing/2014/main" id="{CD70F4BD-A5A0-4110-8C94-87527F0929F9}"/>
                </a:ext>
              </a:extLst>
            </p:cNvPr>
            <p:cNvSpPr>
              <a:spLocks noChangeArrowheads="1"/>
            </p:cNvSpPr>
            <p:nvPr/>
          </p:nvSpPr>
          <p:spPr bwMode="auto">
            <a:xfrm>
              <a:off x="5240" y="2553"/>
              <a:ext cx="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300">
                  <a:solidFill>
                    <a:srgbClr val="000000"/>
                  </a:solidFill>
                  <a:latin typeface="Times New Roman" panose="02020603050405020304" pitchFamily="18" charset="0"/>
                </a:rPr>
                <a:t> </a:t>
              </a:r>
              <a:endParaRPr kumimoji="0" lang="zh-CN" altLang="en-US" sz="4800" b="1">
                <a:solidFill>
                  <a:srgbClr val="000066"/>
                </a:solidFill>
                <a:latin typeface="Times New Roman" panose="02020603050405020304" pitchFamily="18" charset="0"/>
              </a:endParaRPr>
            </a:p>
          </p:txBody>
        </p:sp>
        <p:sp>
          <p:nvSpPr>
            <p:cNvPr id="64530" name="Line 39">
              <a:extLst>
                <a:ext uri="{FF2B5EF4-FFF2-40B4-BE49-F238E27FC236}">
                  <a16:creationId xmlns:a16="http://schemas.microsoft.com/office/drawing/2014/main" id="{219B038C-7AAF-49CC-B9E3-7963FD1DB763}"/>
                </a:ext>
              </a:extLst>
            </p:cNvPr>
            <p:cNvSpPr>
              <a:spLocks noChangeShapeType="1"/>
            </p:cNvSpPr>
            <p:nvPr/>
          </p:nvSpPr>
          <p:spPr bwMode="auto">
            <a:xfrm>
              <a:off x="3352" y="2577"/>
              <a:ext cx="172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31" name="Freeform 40">
              <a:extLst>
                <a:ext uri="{FF2B5EF4-FFF2-40B4-BE49-F238E27FC236}">
                  <a16:creationId xmlns:a16="http://schemas.microsoft.com/office/drawing/2014/main" id="{1C5646AD-84BA-4497-B1FB-EA5275AB9685}"/>
                </a:ext>
              </a:extLst>
            </p:cNvPr>
            <p:cNvSpPr>
              <a:spLocks/>
            </p:cNvSpPr>
            <p:nvPr/>
          </p:nvSpPr>
          <p:spPr bwMode="auto">
            <a:xfrm>
              <a:off x="5067" y="2552"/>
              <a:ext cx="91" cy="54"/>
            </a:xfrm>
            <a:custGeom>
              <a:avLst/>
              <a:gdLst>
                <a:gd name="T0" fmla="*/ 0 w 182"/>
                <a:gd name="T1" fmla="*/ 1 h 108"/>
                <a:gd name="T2" fmla="*/ 1 w 182"/>
                <a:gd name="T3" fmla="*/ 1 h 108"/>
                <a:gd name="T4" fmla="*/ 0 w 182"/>
                <a:gd name="T5" fmla="*/ 0 h 108"/>
                <a:gd name="T6" fmla="*/ 0 w 182"/>
                <a:gd name="T7" fmla="*/ 1 h 108"/>
                <a:gd name="T8" fmla="*/ 0 60000 65536"/>
                <a:gd name="T9" fmla="*/ 0 60000 65536"/>
                <a:gd name="T10" fmla="*/ 0 60000 65536"/>
                <a:gd name="T11" fmla="*/ 0 60000 65536"/>
                <a:gd name="T12" fmla="*/ 0 w 182"/>
                <a:gd name="T13" fmla="*/ 0 h 108"/>
                <a:gd name="T14" fmla="*/ 182 w 182"/>
                <a:gd name="T15" fmla="*/ 108 h 108"/>
              </a:gdLst>
              <a:ahLst/>
              <a:cxnLst>
                <a:cxn ang="T8">
                  <a:pos x="T0" y="T1"/>
                </a:cxn>
                <a:cxn ang="T9">
                  <a:pos x="T2" y="T3"/>
                </a:cxn>
                <a:cxn ang="T10">
                  <a:pos x="T4" y="T5"/>
                </a:cxn>
                <a:cxn ang="T11">
                  <a:pos x="T6" y="T7"/>
                </a:cxn>
              </a:cxnLst>
              <a:rect l="T12" t="T13" r="T14" b="T15"/>
              <a:pathLst>
                <a:path w="182" h="108">
                  <a:moveTo>
                    <a:pt x="0" y="108"/>
                  </a:moveTo>
                  <a:lnTo>
                    <a:pt x="182" y="51"/>
                  </a:lnTo>
                  <a:lnTo>
                    <a:pt x="0" y="0"/>
                  </a:lnTo>
                  <a:lnTo>
                    <a:pt x="0"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a typeface="宋体" panose="02010600030101010101" pitchFamily="2" charset="-122"/>
              </a:endParaRPr>
            </a:p>
          </p:txBody>
        </p:sp>
        <p:sp>
          <p:nvSpPr>
            <p:cNvPr id="64532" name="Line 41">
              <a:extLst>
                <a:ext uri="{FF2B5EF4-FFF2-40B4-BE49-F238E27FC236}">
                  <a16:creationId xmlns:a16="http://schemas.microsoft.com/office/drawing/2014/main" id="{81842B43-5036-4344-ADD1-8DC6335D147E}"/>
                </a:ext>
              </a:extLst>
            </p:cNvPr>
            <p:cNvSpPr>
              <a:spLocks noChangeShapeType="1"/>
            </p:cNvSpPr>
            <p:nvPr/>
          </p:nvSpPr>
          <p:spPr bwMode="auto">
            <a:xfrm flipV="1">
              <a:off x="3360" y="1247"/>
              <a:ext cx="0" cy="132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33" name="Freeform 42">
              <a:extLst>
                <a:ext uri="{FF2B5EF4-FFF2-40B4-BE49-F238E27FC236}">
                  <a16:creationId xmlns:a16="http://schemas.microsoft.com/office/drawing/2014/main" id="{B936BF27-CBDB-4072-9544-393983CAFCA8}"/>
                </a:ext>
              </a:extLst>
            </p:cNvPr>
            <p:cNvSpPr>
              <a:spLocks/>
            </p:cNvSpPr>
            <p:nvPr/>
          </p:nvSpPr>
          <p:spPr bwMode="auto">
            <a:xfrm>
              <a:off x="3336" y="1165"/>
              <a:ext cx="52" cy="94"/>
            </a:xfrm>
            <a:custGeom>
              <a:avLst/>
              <a:gdLst>
                <a:gd name="T0" fmla="*/ 0 w 105"/>
                <a:gd name="T1" fmla="*/ 1 h 188"/>
                <a:gd name="T2" fmla="*/ 0 w 105"/>
                <a:gd name="T3" fmla="*/ 0 h 188"/>
                <a:gd name="T4" fmla="*/ 0 w 105"/>
                <a:gd name="T5" fmla="*/ 1 h 188"/>
                <a:gd name="T6" fmla="*/ 0 w 105"/>
                <a:gd name="T7" fmla="*/ 1 h 188"/>
                <a:gd name="T8" fmla="*/ 0 60000 65536"/>
                <a:gd name="T9" fmla="*/ 0 60000 65536"/>
                <a:gd name="T10" fmla="*/ 0 60000 65536"/>
                <a:gd name="T11" fmla="*/ 0 60000 65536"/>
                <a:gd name="T12" fmla="*/ 0 w 105"/>
                <a:gd name="T13" fmla="*/ 0 h 188"/>
                <a:gd name="T14" fmla="*/ 105 w 105"/>
                <a:gd name="T15" fmla="*/ 188 h 188"/>
              </a:gdLst>
              <a:ahLst/>
              <a:cxnLst>
                <a:cxn ang="T8">
                  <a:pos x="T0" y="T1"/>
                </a:cxn>
                <a:cxn ang="T9">
                  <a:pos x="T2" y="T3"/>
                </a:cxn>
                <a:cxn ang="T10">
                  <a:pos x="T4" y="T5"/>
                </a:cxn>
                <a:cxn ang="T11">
                  <a:pos x="T6" y="T7"/>
                </a:cxn>
              </a:cxnLst>
              <a:rect l="T12" t="T13" r="T14" b="T15"/>
              <a:pathLst>
                <a:path w="105" h="188">
                  <a:moveTo>
                    <a:pt x="105" y="188"/>
                  </a:moveTo>
                  <a:lnTo>
                    <a:pt x="56" y="0"/>
                  </a:lnTo>
                  <a:lnTo>
                    <a:pt x="0" y="188"/>
                  </a:lnTo>
                  <a:lnTo>
                    <a:pt x="105" y="1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a typeface="宋体" panose="02010600030101010101" pitchFamily="2" charset="-122"/>
              </a:endParaRPr>
            </a:p>
          </p:txBody>
        </p:sp>
        <p:sp>
          <p:nvSpPr>
            <p:cNvPr id="64534" name="Rectangle 43">
              <a:extLst>
                <a:ext uri="{FF2B5EF4-FFF2-40B4-BE49-F238E27FC236}">
                  <a16:creationId xmlns:a16="http://schemas.microsoft.com/office/drawing/2014/main" id="{0D624FF9-A728-4BBF-9073-058C2392E047}"/>
                </a:ext>
              </a:extLst>
            </p:cNvPr>
            <p:cNvSpPr>
              <a:spLocks noChangeArrowheads="1"/>
            </p:cNvSpPr>
            <p:nvPr/>
          </p:nvSpPr>
          <p:spPr bwMode="auto">
            <a:xfrm>
              <a:off x="3190" y="1149"/>
              <a:ext cx="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2200">
                  <a:solidFill>
                    <a:srgbClr val="000000"/>
                  </a:solidFill>
                  <a:latin typeface="Times New Roman" panose="02020603050405020304" pitchFamily="18" charset="0"/>
                </a:rPr>
                <a:t>(</a:t>
              </a:r>
              <a:endParaRPr kumimoji="0" lang="en-US" altLang="zh-CN" sz="4800" b="1">
                <a:solidFill>
                  <a:srgbClr val="000066"/>
                </a:solidFill>
                <a:latin typeface="Times New Roman" panose="02020603050405020304" pitchFamily="18" charset="0"/>
              </a:endParaRPr>
            </a:p>
          </p:txBody>
        </p:sp>
        <p:sp>
          <p:nvSpPr>
            <p:cNvPr id="64535" name="Rectangle 44">
              <a:extLst>
                <a:ext uri="{FF2B5EF4-FFF2-40B4-BE49-F238E27FC236}">
                  <a16:creationId xmlns:a16="http://schemas.microsoft.com/office/drawing/2014/main" id="{DA632063-B173-47CC-AE19-9FFA5DBECF70}"/>
                </a:ext>
              </a:extLst>
            </p:cNvPr>
            <p:cNvSpPr>
              <a:spLocks noChangeArrowheads="1"/>
            </p:cNvSpPr>
            <p:nvPr/>
          </p:nvSpPr>
          <p:spPr bwMode="auto">
            <a:xfrm>
              <a:off x="3306" y="1149"/>
              <a:ext cx="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2200">
                  <a:solidFill>
                    <a:srgbClr val="000000"/>
                  </a:solidFill>
                  <a:latin typeface="Times New Roman" panose="02020603050405020304" pitchFamily="18" charset="0"/>
                </a:rPr>
                <a:t>)</a:t>
              </a:r>
              <a:endParaRPr kumimoji="0" lang="en-US" altLang="zh-CN" sz="4800" b="1">
                <a:solidFill>
                  <a:srgbClr val="000066"/>
                </a:solidFill>
                <a:latin typeface="Times New Roman" panose="02020603050405020304" pitchFamily="18" charset="0"/>
              </a:endParaRPr>
            </a:p>
          </p:txBody>
        </p:sp>
        <p:sp>
          <p:nvSpPr>
            <p:cNvPr id="64536" name="Rectangle 45">
              <a:extLst>
                <a:ext uri="{FF2B5EF4-FFF2-40B4-BE49-F238E27FC236}">
                  <a16:creationId xmlns:a16="http://schemas.microsoft.com/office/drawing/2014/main" id="{E1FA2107-E4AB-4EF4-90A1-7886760E0EE8}"/>
                </a:ext>
              </a:extLst>
            </p:cNvPr>
            <p:cNvSpPr>
              <a:spLocks noChangeArrowheads="1"/>
            </p:cNvSpPr>
            <p:nvPr/>
          </p:nvSpPr>
          <p:spPr bwMode="auto">
            <a:xfrm>
              <a:off x="3232" y="1208"/>
              <a:ext cx="5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700" i="1">
                  <a:solidFill>
                    <a:srgbClr val="000000"/>
                  </a:solidFill>
                  <a:latin typeface="Times New Roman" panose="02020603050405020304" pitchFamily="18" charset="0"/>
                </a:rPr>
                <a:t>x</a:t>
              </a:r>
              <a:endParaRPr kumimoji="0" lang="en-US" altLang="zh-CN" sz="4800" b="1">
                <a:solidFill>
                  <a:srgbClr val="000066"/>
                </a:solidFill>
                <a:latin typeface="Times New Roman" panose="02020603050405020304" pitchFamily="18" charset="0"/>
              </a:endParaRPr>
            </a:p>
          </p:txBody>
        </p:sp>
        <p:sp>
          <p:nvSpPr>
            <p:cNvPr id="64537" name="Rectangle 46">
              <a:extLst>
                <a:ext uri="{FF2B5EF4-FFF2-40B4-BE49-F238E27FC236}">
                  <a16:creationId xmlns:a16="http://schemas.microsoft.com/office/drawing/2014/main" id="{920B41C1-D3CD-4DB4-ABDC-AD430ED653B8}"/>
                </a:ext>
              </a:extLst>
            </p:cNvPr>
            <p:cNvSpPr>
              <a:spLocks noChangeArrowheads="1"/>
            </p:cNvSpPr>
            <p:nvPr/>
          </p:nvSpPr>
          <p:spPr bwMode="auto">
            <a:xfrm>
              <a:off x="3080" y="1208"/>
              <a:ext cx="8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700" i="1">
                  <a:solidFill>
                    <a:srgbClr val="000000"/>
                  </a:solidFill>
                  <a:latin typeface="Times New Roman" panose="02020603050405020304" pitchFamily="18" charset="0"/>
                </a:rPr>
                <a:t>N</a:t>
              </a:r>
              <a:endParaRPr kumimoji="0" lang="en-US" altLang="zh-CN" sz="4800" b="1">
                <a:solidFill>
                  <a:srgbClr val="000066"/>
                </a:solidFill>
                <a:latin typeface="Times New Roman" panose="02020603050405020304" pitchFamily="18" charset="0"/>
              </a:endParaRPr>
            </a:p>
          </p:txBody>
        </p:sp>
        <p:sp>
          <p:nvSpPr>
            <p:cNvPr id="64538" name="Rectangle 47">
              <a:extLst>
                <a:ext uri="{FF2B5EF4-FFF2-40B4-BE49-F238E27FC236}">
                  <a16:creationId xmlns:a16="http://schemas.microsoft.com/office/drawing/2014/main" id="{6DA9D03E-020C-4C36-AFAD-801725F78D04}"/>
                </a:ext>
              </a:extLst>
            </p:cNvPr>
            <p:cNvSpPr>
              <a:spLocks noChangeArrowheads="1"/>
            </p:cNvSpPr>
            <p:nvPr/>
          </p:nvSpPr>
          <p:spPr bwMode="auto">
            <a:xfrm>
              <a:off x="3363" y="1240"/>
              <a:ext cx="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300">
                  <a:solidFill>
                    <a:srgbClr val="000000"/>
                  </a:solidFill>
                  <a:latin typeface="Times New Roman" panose="02020603050405020304" pitchFamily="18" charset="0"/>
                </a:rPr>
                <a:t> </a:t>
              </a:r>
              <a:endParaRPr kumimoji="0" lang="zh-CN" altLang="en-US" sz="4800" b="1">
                <a:solidFill>
                  <a:srgbClr val="000066"/>
                </a:solidFill>
                <a:latin typeface="Times New Roman" panose="02020603050405020304" pitchFamily="18" charset="0"/>
              </a:endParaRPr>
            </a:p>
          </p:txBody>
        </p:sp>
        <p:sp>
          <p:nvSpPr>
            <p:cNvPr id="64539" name="Freeform 48">
              <a:extLst>
                <a:ext uri="{FF2B5EF4-FFF2-40B4-BE49-F238E27FC236}">
                  <a16:creationId xmlns:a16="http://schemas.microsoft.com/office/drawing/2014/main" id="{22FD8B49-2B25-4D21-8A00-F1ED16592DF6}"/>
                </a:ext>
              </a:extLst>
            </p:cNvPr>
            <p:cNvSpPr>
              <a:spLocks/>
            </p:cNvSpPr>
            <p:nvPr/>
          </p:nvSpPr>
          <p:spPr bwMode="auto">
            <a:xfrm>
              <a:off x="3348" y="1586"/>
              <a:ext cx="1806" cy="797"/>
            </a:xfrm>
            <a:custGeom>
              <a:avLst/>
              <a:gdLst>
                <a:gd name="T0" fmla="*/ 1 w 3612"/>
                <a:gd name="T1" fmla="*/ 1 h 1594"/>
                <a:gd name="T2" fmla="*/ 1 w 3612"/>
                <a:gd name="T3" fmla="*/ 1 h 1594"/>
                <a:gd name="T4" fmla="*/ 1 w 3612"/>
                <a:gd name="T5" fmla="*/ 1 h 1594"/>
                <a:gd name="T6" fmla="*/ 1 w 3612"/>
                <a:gd name="T7" fmla="*/ 1 h 1594"/>
                <a:gd name="T8" fmla="*/ 1 w 3612"/>
                <a:gd name="T9" fmla="*/ 1 h 1594"/>
                <a:gd name="T10" fmla="*/ 1 w 3612"/>
                <a:gd name="T11" fmla="*/ 1 h 1594"/>
                <a:gd name="T12" fmla="*/ 1 w 3612"/>
                <a:gd name="T13" fmla="*/ 1 h 1594"/>
                <a:gd name="T14" fmla="*/ 1 w 3612"/>
                <a:gd name="T15" fmla="*/ 1 h 1594"/>
                <a:gd name="T16" fmla="*/ 1 w 3612"/>
                <a:gd name="T17" fmla="*/ 1 h 1594"/>
                <a:gd name="T18" fmla="*/ 1 w 3612"/>
                <a:gd name="T19" fmla="*/ 1 h 1594"/>
                <a:gd name="T20" fmla="*/ 1 w 3612"/>
                <a:gd name="T21" fmla="*/ 1 h 1594"/>
                <a:gd name="T22" fmla="*/ 1 w 3612"/>
                <a:gd name="T23" fmla="*/ 1 h 1594"/>
                <a:gd name="T24" fmla="*/ 1 w 3612"/>
                <a:gd name="T25" fmla="*/ 1 h 1594"/>
                <a:gd name="T26" fmla="*/ 1 w 3612"/>
                <a:gd name="T27" fmla="*/ 1 h 1594"/>
                <a:gd name="T28" fmla="*/ 1 w 3612"/>
                <a:gd name="T29" fmla="*/ 1 h 1594"/>
                <a:gd name="T30" fmla="*/ 1 w 3612"/>
                <a:gd name="T31" fmla="*/ 1 h 1594"/>
                <a:gd name="T32" fmla="*/ 1 w 3612"/>
                <a:gd name="T33" fmla="*/ 1 h 1594"/>
                <a:gd name="T34" fmla="*/ 1 w 3612"/>
                <a:gd name="T35" fmla="*/ 1 h 1594"/>
                <a:gd name="T36" fmla="*/ 1 w 3612"/>
                <a:gd name="T37" fmla="*/ 1 h 1594"/>
                <a:gd name="T38" fmla="*/ 1 w 3612"/>
                <a:gd name="T39" fmla="*/ 1 h 1594"/>
                <a:gd name="T40" fmla="*/ 1 w 3612"/>
                <a:gd name="T41" fmla="*/ 1 h 1594"/>
                <a:gd name="T42" fmla="*/ 1 w 3612"/>
                <a:gd name="T43" fmla="*/ 1 h 1594"/>
                <a:gd name="T44" fmla="*/ 1 w 3612"/>
                <a:gd name="T45" fmla="*/ 1 h 1594"/>
                <a:gd name="T46" fmla="*/ 1 w 3612"/>
                <a:gd name="T47" fmla="*/ 1 h 1594"/>
                <a:gd name="T48" fmla="*/ 1 w 3612"/>
                <a:gd name="T49" fmla="*/ 1 h 1594"/>
                <a:gd name="T50" fmla="*/ 1 w 3612"/>
                <a:gd name="T51" fmla="*/ 1 h 1594"/>
                <a:gd name="T52" fmla="*/ 1 w 3612"/>
                <a:gd name="T53" fmla="*/ 1 h 1594"/>
                <a:gd name="T54" fmla="*/ 1 w 3612"/>
                <a:gd name="T55" fmla="*/ 1 h 1594"/>
                <a:gd name="T56" fmla="*/ 1 w 3612"/>
                <a:gd name="T57" fmla="*/ 1 h 1594"/>
                <a:gd name="T58" fmla="*/ 1 w 3612"/>
                <a:gd name="T59" fmla="*/ 1 h 1594"/>
                <a:gd name="T60" fmla="*/ 1 w 3612"/>
                <a:gd name="T61" fmla="*/ 1 h 1594"/>
                <a:gd name="T62" fmla="*/ 1 w 3612"/>
                <a:gd name="T63" fmla="*/ 1 h 1594"/>
                <a:gd name="T64" fmla="*/ 1 w 3612"/>
                <a:gd name="T65" fmla="*/ 1 h 1594"/>
                <a:gd name="T66" fmla="*/ 1 w 3612"/>
                <a:gd name="T67" fmla="*/ 1 h 1594"/>
                <a:gd name="T68" fmla="*/ 1 w 3612"/>
                <a:gd name="T69" fmla="*/ 1 h 1594"/>
                <a:gd name="T70" fmla="*/ 1 w 3612"/>
                <a:gd name="T71" fmla="*/ 1 h 1594"/>
                <a:gd name="T72" fmla="*/ 1 w 3612"/>
                <a:gd name="T73" fmla="*/ 1 h 1594"/>
                <a:gd name="T74" fmla="*/ 1 w 3612"/>
                <a:gd name="T75" fmla="*/ 1 h 1594"/>
                <a:gd name="T76" fmla="*/ 1 w 3612"/>
                <a:gd name="T77" fmla="*/ 1 h 1594"/>
                <a:gd name="T78" fmla="*/ 1 w 3612"/>
                <a:gd name="T79" fmla="*/ 1 h 1594"/>
                <a:gd name="T80" fmla="*/ 1 w 3612"/>
                <a:gd name="T81" fmla="*/ 1 h 1594"/>
                <a:gd name="T82" fmla="*/ 1 w 3612"/>
                <a:gd name="T83" fmla="*/ 1 h 1594"/>
                <a:gd name="T84" fmla="*/ 1 w 3612"/>
                <a:gd name="T85" fmla="*/ 1 h 1594"/>
                <a:gd name="T86" fmla="*/ 1 w 3612"/>
                <a:gd name="T87" fmla="*/ 1 h 1594"/>
                <a:gd name="T88" fmla="*/ 1 w 3612"/>
                <a:gd name="T89" fmla="*/ 0 h 159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612"/>
                <a:gd name="T136" fmla="*/ 0 h 1594"/>
                <a:gd name="T137" fmla="*/ 3612 w 3612"/>
                <a:gd name="T138" fmla="*/ 1594 h 159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612" h="1594">
                  <a:moveTo>
                    <a:pt x="0" y="1594"/>
                  </a:moveTo>
                  <a:lnTo>
                    <a:pt x="74" y="1474"/>
                  </a:lnTo>
                  <a:lnTo>
                    <a:pt x="111" y="1414"/>
                  </a:lnTo>
                  <a:lnTo>
                    <a:pt x="148" y="1355"/>
                  </a:lnTo>
                  <a:lnTo>
                    <a:pt x="187" y="1296"/>
                  </a:lnTo>
                  <a:lnTo>
                    <a:pt x="224" y="1238"/>
                  </a:lnTo>
                  <a:lnTo>
                    <a:pt x="261" y="1181"/>
                  </a:lnTo>
                  <a:lnTo>
                    <a:pt x="298" y="1125"/>
                  </a:lnTo>
                  <a:lnTo>
                    <a:pt x="335" y="1071"/>
                  </a:lnTo>
                  <a:lnTo>
                    <a:pt x="354" y="1044"/>
                  </a:lnTo>
                  <a:lnTo>
                    <a:pt x="373" y="1019"/>
                  </a:lnTo>
                  <a:lnTo>
                    <a:pt x="391" y="994"/>
                  </a:lnTo>
                  <a:lnTo>
                    <a:pt x="410" y="968"/>
                  </a:lnTo>
                  <a:lnTo>
                    <a:pt x="428" y="943"/>
                  </a:lnTo>
                  <a:lnTo>
                    <a:pt x="445" y="919"/>
                  </a:lnTo>
                  <a:lnTo>
                    <a:pt x="464" y="894"/>
                  </a:lnTo>
                  <a:lnTo>
                    <a:pt x="482" y="872"/>
                  </a:lnTo>
                  <a:lnTo>
                    <a:pt x="499" y="849"/>
                  </a:lnTo>
                  <a:lnTo>
                    <a:pt x="518" y="827"/>
                  </a:lnTo>
                  <a:lnTo>
                    <a:pt x="535" y="805"/>
                  </a:lnTo>
                  <a:lnTo>
                    <a:pt x="552" y="785"/>
                  </a:lnTo>
                  <a:lnTo>
                    <a:pt x="570" y="764"/>
                  </a:lnTo>
                  <a:lnTo>
                    <a:pt x="587" y="744"/>
                  </a:lnTo>
                  <a:lnTo>
                    <a:pt x="604" y="726"/>
                  </a:lnTo>
                  <a:lnTo>
                    <a:pt x="621" y="707"/>
                  </a:lnTo>
                  <a:lnTo>
                    <a:pt x="638" y="688"/>
                  </a:lnTo>
                  <a:lnTo>
                    <a:pt x="654" y="670"/>
                  </a:lnTo>
                  <a:lnTo>
                    <a:pt x="670" y="653"/>
                  </a:lnTo>
                  <a:lnTo>
                    <a:pt x="687" y="636"/>
                  </a:lnTo>
                  <a:lnTo>
                    <a:pt x="703" y="619"/>
                  </a:lnTo>
                  <a:lnTo>
                    <a:pt x="719" y="604"/>
                  </a:lnTo>
                  <a:lnTo>
                    <a:pt x="736" y="589"/>
                  </a:lnTo>
                  <a:lnTo>
                    <a:pt x="751" y="574"/>
                  </a:lnTo>
                  <a:lnTo>
                    <a:pt x="766" y="559"/>
                  </a:lnTo>
                  <a:lnTo>
                    <a:pt x="783" y="545"/>
                  </a:lnTo>
                  <a:lnTo>
                    <a:pt x="815" y="518"/>
                  </a:lnTo>
                  <a:lnTo>
                    <a:pt x="845" y="493"/>
                  </a:lnTo>
                  <a:lnTo>
                    <a:pt x="877" y="467"/>
                  </a:lnTo>
                  <a:lnTo>
                    <a:pt x="909" y="446"/>
                  </a:lnTo>
                  <a:lnTo>
                    <a:pt x="941" y="425"/>
                  </a:lnTo>
                  <a:lnTo>
                    <a:pt x="973" y="405"/>
                  </a:lnTo>
                  <a:lnTo>
                    <a:pt x="1007" y="386"/>
                  </a:lnTo>
                  <a:lnTo>
                    <a:pt x="1041" y="370"/>
                  </a:lnTo>
                  <a:lnTo>
                    <a:pt x="1075" y="354"/>
                  </a:lnTo>
                  <a:lnTo>
                    <a:pt x="1110" y="339"/>
                  </a:lnTo>
                  <a:lnTo>
                    <a:pt x="1147" y="326"/>
                  </a:lnTo>
                  <a:lnTo>
                    <a:pt x="1183" y="314"/>
                  </a:lnTo>
                  <a:lnTo>
                    <a:pt x="1220" y="304"/>
                  </a:lnTo>
                  <a:lnTo>
                    <a:pt x="1257" y="295"/>
                  </a:lnTo>
                  <a:lnTo>
                    <a:pt x="1294" y="289"/>
                  </a:lnTo>
                  <a:lnTo>
                    <a:pt x="1333" y="284"/>
                  </a:lnTo>
                  <a:lnTo>
                    <a:pt x="1372" y="280"/>
                  </a:lnTo>
                  <a:lnTo>
                    <a:pt x="1409" y="277"/>
                  </a:lnTo>
                  <a:lnTo>
                    <a:pt x="1448" y="277"/>
                  </a:lnTo>
                  <a:lnTo>
                    <a:pt x="1487" y="277"/>
                  </a:lnTo>
                  <a:lnTo>
                    <a:pt x="1524" y="280"/>
                  </a:lnTo>
                  <a:lnTo>
                    <a:pt x="1563" y="284"/>
                  </a:lnTo>
                  <a:lnTo>
                    <a:pt x="1601" y="289"/>
                  </a:lnTo>
                  <a:lnTo>
                    <a:pt x="1638" y="295"/>
                  </a:lnTo>
                  <a:lnTo>
                    <a:pt x="1677" y="304"/>
                  </a:lnTo>
                  <a:lnTo>
                    <a:pt x="1714" y="314"/>
                  </a:lnTo>
                  <a:lnTo>
                    <a:pt x="1733" y="321"/>
                  </a:lnTo>
                  <a:lnTo>
                    <a:pt x="1753" y="329"/>
                  </a:lnTo>
                  <a:lnTo>
                    <a:pt x="1772" y="338"/>
                  </a:lnTo>
                  <a:lnTo>
                    <a:pt x="1792" y="346"/>
                  </a:lnTo>
                  <a:lnTo>
                    <a:pt x="1812" y="356"/>
                  </a:lnTo>
                  <a:lnTo>
                    <a:pt x="1833" y="368"/>
                  </a:lnTo>
                  <a:lnTo>
                    <a:pt x="1853" y="380"/>
                  </a:lnTo>
                  <a:lnTo>
                    <a:pt x="1871" y="392"/>
                  </a:lnTo>
                  <a:lnTo>
                    <a:pt x="1892" y="403"/>
                  </a:lnTo>
                  <a:lnTo>
                    <a:pt x="1912" y="417"/>
                  </a:lnTo>
                  <a:lnTo>
                    <a:pt x="1952" y="444"/>
                  </a:lnTo>
                  <a:lnTo>
                    <a:pt x="1991" y="473"/>
                  </a:lnTo>
                  <a:lnTo>
                    <a:pt x="2032" y="503"/>
                  </a:lnTo>
                  <a:lnTo>
                    <a:pt x="2071" y="532"/>
                  </a:lnTo>
                  <a:lnTo>
                    <a:pt x="2109" y="560"/>
                  </a:lnTo>
                  <a:lnTo>
                    <a:pt x="2148" y="589"/>
                  </a:lnTo>
                  <a:lnTo>
                    <a:pt x="2167" y="602"/>
                  </a:lnTo>
                  <a:lnTo>
                    <a:pt x="2185" y="616"/>
                  </a:lnTo>
                  <a:lnTo>
                    <a:pt x="2204" y="629"/>
                  </a:lnTo>
                  <a:lnTo>
                    <a:pt x="2222" y="641"/>
                  </a:lnTo>
                  <a:lnTo>
                    <a:pt x="2239" y="653"/>
                  </a:lnTo>
                  <a:lnTo>
                    <a:pt x="2258" y="665"/>
                  </a:lnTo>
                  <a:lnTo>
                    <a:pt x="2275" y="675"/>
                  </a:lnTo>
                  <a:lnTo>
                    <a:pt x="2292" y="685"/>
                  </a:lnTo>
                  <a:lnTo>
                    <a:pt x="2309" y="695"/>
                  </a:lnTo>
                  <a:lnTo>
                    <a:pt x="2325" y="704"/>
                  </a:lnTo>
                  <a:lnTo>
                    <a:pt x="2357" y="715"/>
                  </a:lnTo>
                  <a:lnTo>
                    <a:pt x="2388" y="727"/>
                  </a:lnTo>
                  <a:lnTo>
                    <a:pt x="2418" y="737"/>
                  </a:lnTo>
                  <a:lnTo>
                    <a:pt x="2447" y="746"/>
                  </a:lnTo>
                  <a:lnTo>
                    <a:pt x="2476" y="754"/>
                  </a:lnTo>
                  <a:lnTo>
                    <a:pt x="2503" y="761"/>
                  </a:lnTo>
                  <a:lnTo>
                    <a:pt x="2530" y="764"/>
                  </a:lnTo>
                  <a:lnTo>
                    <a:pt x="2557" y="769"/>
                  </a:lnTo>
                  <a:lnTo>
                    <a:pt x="2584" y="771"/>
                  </a:lnTo>
                  <a:lnTo>
                    <a:pt x="2609" y="773"/>
                  </a:lnTo>
                  <a:lnTo>
                    <a:pt x="2636" y="773"/>
                  </a:lnTo>
                  <a:lnTo>
                    <a:pt x="2661" y="773"/>
                  </a:lnTo>
                  <a:lnTo>
                    <a:pt x="2688" y="771"/>
                  </a:lnTo>
                  <a:lnTo>
                    <a:pt x="2715" y="768"/>
                  </a:lnTo>
                  <a:lnTo>
                    <a:pt x="2742" y="764"/>
                  </a:lnTo>
                  <a:lnTo>
                    <a:pt x="2771" y="761"/>
                  </a:lnTo>
                  <a:lnTo>
                    <a:pt x="2798" y="758"/>
                  </a:lnTo>
                  <a:lnTo>
                    <a:pt x="2827" y="753"/>
                  </a:lnTo>
                  <a:lnTo>
                    <a:pt x="2857" y="746"/>
                  </a:lnTo>
                  <a:lnTo>
                    <a:pt x="2886" y="739"/>
                  </a:lnTo>
                  <a:lnTo>
                    <a:pt x="2914" y="731"/>
                  </a:lnTo>
                  <a:lnTo>
                    <a:pt x="2945" y="720"/>
                  </a:lnTo>
                  <a:lnTo>
                    <a:pt x="2974" y="710"/>
                  </a:lnTo>
                  <a:lnTo>
                    <a:pt x="3004" y="697"/>
                  </a:lnTo>
                  <a:lnTo>
                    <a:pt x="3033" y="683"/>
                  </a:lnTo>
                  <a:lnTo>
                    <a:pt x="3061" y="670"/>
                  </a:lnTo>
                  <a:lnTo>
                    <a:pt x="3092" y="653"/>
                  </a:lnTo>
                  <a:lnTo>
                    <a:pt x="3120" y="636"/>
                  </a:lnTo>
                  <a:lnTo>
                    <a:pt x="3147" y="618"/>
                  </a:lnTo>
                  <a:lnTo>
                    <a:pt x="3176" y="597"/>
                  </a:lnTo>
                  <a:lnTo>
                    <a:pt x="3203" y="577"/>
                  </a:lnTo>
                  <a:lnTo>
                    <a:pt x="3230" y="553"/>
                  </a:lnTo>
                  <a:lnTo>
                    <a:pt x="3244" y="542"/>
                  </a:lnTo>
                  <a:lnTo>
                    <a:pt x="3257" y="528"/>
                  </a:lnTo>
                  <a:lnTo>
                    <a:pt x="3271" y="515"/>
                  </a:lnTo>
                  <a:lnTo>
                    <a:pt x="3282" y="501"/>
                  </a:lnTo>
                  <a:lnTo>
                    <a:pt x="3309" y="471"/>
                  </a:lnTo>
                  <a:lnTo>
                    <a:pt x="3333" y="440"/>
                  </a:lnTo>
                  <a:lnTo>
                    <a:pt x="3358" y="408"/>
                  </a:lnTo>
                  <a:lnTo>
                    <a:pt x="3382" y="375"/>
                  </a:lnTo>
                  <a:lnTo>
                    <a:pt x="3407" y="341"/>
                  </a:lnTo>
                  <a:lnTo>
                    <a:pt x="3431" y="306"/>
                  </a:lnTo>
                  <a:lnTo>
                    <a:pt x="3453" y="268"/>
                  </a:lnTo>
                  <a:lnTo>
                    <a:pt x="3476" y="231"/>
                  </a:lnTo>
                  <a:lnTo>
                    <a:pt x="3500" y="194"/>
                  </a:lnTo>
                  <a:lnTo>
                    <a:pt x="3522" y="155"/>
                  </a:lnTo>
                  <a:lnTo>
                    <a:pt x="3568" y="78"/>
                  </a:lnTo>
                  <a:lnTo>
                    <a:pt x="361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宋体" panose="02010600030101010101" pitchFamily="2" charset="-122"/>
              </a:endParaRPr>
            </a:p>
          </p:txBody>
        </p:sp>
        <p:sp>
          <p:nvSpPr>
            <p:cNvPr id="64540" name="Freeform 49">
              <a:extLst>
                <a:ext uri="{FF2B5EF4-FFF2-40B4-BE49-F238E27FC236}">
                  <a16:creationId xmlns:a16="http://schemas.microsoft.com/office/drawing/2014/main" id="{3266F377-4124-41F3-ABEB-1C02E512B9AD}"/>
                </a:ext>
              </a:extLst>
            </p:cNvPr>
            <p:cNvSpPr>
              <a:spLocks noEditPoints="1"/>
            </p:cNvSpPr>
            <p:nvPr/>
          </p:nvSpPr>
          <p:spPr bwMode="auto">
            <a:xfrm>
              <a:off x="3346" y="1856"/>
              <a:ext cx="1199" cy="5"/>
            </a:xfrm>
            <a:custGeom>
              <a:avLst/>
              <a:gdLst>
                <a:gd name="T0" fmla="*/ 1 w 2398"/>
                <a:gd name="T1" fmla="*/ 1 h 8"/>
                <a:gd name="T2" fmla="*/ 0 w 2398"/>
                <a:gd name="T3" fmla="*/ 1 h 8"/>
                <a:gd name="T4" fmla="*/ 1 w 2398"/>
                <a:gd name="T5" fmla="*/ 1 h 8"/>
                <a:gd name="T6" fmla="*/ 1 w 2398"/>
                <a:gd name="T7" fmla="*/ 1 h 8"/>
                <a:gd name="T8" fmla="*/ 1 w 2398"/>
                <a:gd name="T9" fmla="*/ 0 h 8"/>
                <a:gd name="T10" fmla="*/ 1 w 2398"/>
                <a:gd name="T11" fmla="*/ 1 h 8"/>
                <a:gd name="T12" fmla="*/ 1 w 2398"/>
                <a:gd name="T13" fmla="*/ 1 h 8"/>
                <a:gd name="T14" fmla="*/ 1 w 2398"/>
                <a:gd name="T15" fmla="*/ 1 h 8"/>
                <a:gd name="T16" fmla="*/ 1 w 2398"/>
                <a:gd name="T17" fmla="*/ 1 h 8"/>
                <a:gd name="T18" fmla="*/ 1 w 2398"/>
                <a:gd name="T19" fmla="*/ 0 h 8"/>
                <a:gd name="T20" fmla="*/ 1 w 2398"/>
                <a:gd name="T21" fmla="*/ 1 h 8"/>
                <a:gd name="T22" fmla="*/ 1 w 2398"/>
                <a:gd name="T23" fmla="*/ 1 h 8"/>
                <a:gd name="T24" fmla="*/ 1 w 2398"/>
                <a:gd name="T25" fmla="*/ 1 h 8"/>
                <a:gd name="T26" fmla="*/ 1 w 2398"/>
                <a:gd name="T27" fmla="*/ 1 h 8"/>
                <a:gd name="T28" fmla="*/ 1 w 2398"/>
                <a:gd name="T29" fmla="*/ 0 h 8"/>
                <a:gd name="T30" fmla="*/ 1 w 2398"/>
                <a:gd name="T31" fmla="*/ 1 h 8"/>
                <a:gd name="T32" fmla="*/ 1 w 2398"/>
                <a:gd name="T33" fmla="*/ 1 h 8"/>
                <a:gd name="T34" fmla="*/ 1 w 2398"/>
                <a:gd name="T35" fmla="*/ 1 h 8"/>
                <a:gd name="T36" fmla="*/ 1 w 2398"/>
                <a:gd name="T37" fmla="*/ 1 h 8"/>
                <a:gd name="T38" fmla="*/ 1 w 2398"/>
                <a:gd name="T39" fmla="*/ 0 h 8"/>
                <a:gd name="T40" fmla="*/ 1 w 2398"/>
                <a:gd name="T41" fmla="*/ 1 h 8"/>
                <a:gd name="T42" fmla="*/ 1 w 2398"/>
                <a:gd name="T43" fmla="*/ 1 h 8"/>
                <a:gd name="T44" fmla="*/ 1 w 2398"/>
                <a:gd name="T45" fmla="*/ 1 h 8"/>
                <a:gd name="T46" fmla="*/ 1 w 2398"/>
                <a:gd name="T47" fmla="*/ 1 h 8"/>
                <a:gd name="T48" fmla="*/ 1 w 2398"/>
                <a:gd name="T49" fmla="*/ 0 h 8"/>
                <a:gd name="T50" fmla="*/ 1 w 2398"/>
                <a:gd name="T51" fmla="*/ 1 h 8"/>
                <a:gd name="T52" fmla="*/ 1 w 2398"/>
                <a:gd name="T53" fmla="*/ 1 h 8"/>
                <a:gd name="T54" fmla="*/ 1 w 2398"/>
                <a:gd name="T55" fmla="*/ 1 h 8"/>
                <a:gd name="T56" fmla="*/ 1 w 2398"/>
                <a:gd name="T57" fmla="*/ 1 h 8"/>
                <a:gd name="T58" fmla="*/ 1 w 2398"/>
                <a:gd name="T59" fmla="*/ 0 h 8"/>
                <a:gd name="T60" fmla="*/ 1 w 2398"/>
                <a:gd name="T61" fmla="*/ 1 h 8"/>
                <a:gd name="T62" fmla="*/ 1 w 2398"/>
                <a:gd name="T63" fmla="*/ 1 h 8"/>
                <a:gd name="T64" fmla="*/ 1 w 2398"/>
                <a:gd name="T65" fmla="*/ 1 h 8"/>
                <a:gd name="T66" fmla="*/ 1 w 2398"/>
                <a:gd name="T67" fmla="*/ 1 h 8"/>
                <a:gd name="T68" fmla="*/ 1 w 2398"/>
                <a:gd name="T69" fmla="*/ 0 h 8"/>
                <a:gd name="T70" fmla="*/ 1 w 2398"/>
                <a:gd name="T71" fmla="*/ 1 h 8"/>
                <a:gd name="T72" fmla="*/ 1 w 2398"/>
                <a:gd name="T73" fmla="*/ 1 h 8"/>
                <a:gd name="T74" fmla="*/ 1 w 2398"/>
                <a:gd name="T75" fmla="*/ 1 h 8"/>
                <a:gd name="T76" fmla="*/ 1 w 2398"/>
                <a:gd name="T77" fmla="*/ 1 h 8"/>
                <a:gd name="T78" fmla="*/ 1 w 2398"/>
                <a:gd name="T79" fmla="*/ 0 h 8"/>
                <a:gd name="T80" fmla="*/ 1 w 2398"/>
                <a:gd name="T81" fmla="*/ 1 h 8"/>
                <a:gd name="T82" fmla="*/ 1 w 2398"/>
                <a:gd name="T83" fmla="*/ 1 h 8"/>
                <a:gd name="T84" fmla="*/ 1 w 2398"/>
                <a:gd name="T85" fmla="*/ 1 h 8"/>
                <a:gd name="T86" fmla="*/ 1 w 2398"/>
                <a:gd name="T87" fmla="*/ 1 h 8"/>
                <a:gd name="T88" fmla="*/ 1 w 2398"/>
                <a:gd name="T89" fmla="*/ 0 h 8"/>
                <a:gd name="T90" fmla="*/ 1 w 2398"/>
                <a:gd name="T91" fmla="*/ 1 h 8"/>
                <a:gd name="T92" fmla="*/ 1 w 2398"/>
                <a:gd name="T93" fmla="*/ 1 h 8"/>
                <a:gd name="T94" fmla="*/ 1 w 2398"/>
                <a:gd name="T95" fmla="*/ 1 h 8"/>
                <a:gd name="T96" fmla="*/ 1 w 2398"/>
                <a:gd name="T97" fmla="*/ 1 h 8"/>
                <a:gd name="T98" fmla="*/ 1 w 2398"/>
                <a:gd name="T99" fmla="*/ 0 h 8"/>
                <a:gd name="T100" fmla="*/ 1 w 2398"/>
                <a:gd name="T101" fmla="*/ 1 h 8"/>
                <a:gd name="T102" fmla="*/ 1 w 2398"/>
                <a:gd name="T103" fmla="*/ 1 h 8"/>
                <a:gd name="T104" fmla="*/ 1 w 2398"/>
                <a:gd name="T105" fmla="*/ 1 h 8"/>
                <a:gd name="T106" fmla="*/ 1 w 2398"/>
                <a:gd name="T107" fmla="*/ 1 h 8"/>
                <a:gd name="T108" fmla="*/ 1 w 2398"/>
                <a:gd name="T109" fmla="*/ 0 h 8"/>
                <a:gd name="T110" fmla="*/ 1 w 2398"/>
                <a:gd name="T111" fmla="*/ 1 h 8"/>
                <a:gd name="T112" fmla="*/ 1 w 2398"/>
                <a:gd name="T113" fmla="*/ 1 h 8"/>
                <a:gd name="T114" fmla="*/ 1 w 2398"/>
                <a:gd name="T115" fmla="*/ 1 h 8"/>
                <a:gd name="T116" fmla="*/ 1 w 2398"/>
                <a:gd name="T117" fmla="*/ 1 h 8"/>
                <a:gd name="T118" fmla="*/ 1 w 2398"/>
                <a:gd name="T119" fmla="*/ 0 h 8"/>
                <a:gd name="T120" fmla="*/ 1 w 2398"/>
                <a:gd name="T121" fmla="*/ 1 h 8"/>
                <a:gd name="T122" fmla="*/ 1 w 2398"/>
                <a:gd name="T123" fmla="*/ 1 h 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398"/>
                <a:gd name="T187" fmla="*/ 0 h 8"/>
                <a:gd name="T188" fmla="*/ 2398 w 2398"/>
                <a:gd name="T189" fmla="*/ 8 h 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398" h="8">
                  <a:moveTo>
                    <a:pt x="5" y="0"/>
                  </a:moveTo>
                  <a:lnTo>
                    <a:pt x="60" y="0"/>
                  </a:lnTo>
                  <a:lnTo>
                    <a:pt x="62" y="0"/>
                  </a:lnTo>
                  <a:lnTo>
                    <a:pt x="64" y="1"/>
                  </a:lnTo>
                  <a:lnTo>
                    <a:pt x="65" y="3"/>
                  </a:lnTo>
                  <a:lnTo>
                    <a:pt x="64" y="5"/>
                  </a:lnTo>
                  <a:lnTo>
                    <a:pt x="64" y="6"/>
                  </a:lnTo>
                  <a:lnTo>
                    <a:pt x="62" y="8"/>
                  </a:lnTo>
                  <a:lnTo>
                    <a:pt x="60" y="8"/>
                  </a:lnTo>
                  <a:lnTo>
                    <a:pt x="5" y="8"/>
                  </a:lnTo>
                  <a:lnTo>
                    <a:pt x="3" y="8"/>
                  </a:lnTo>
                  <a:lnTo>
                    <a:pt x="1" y="6"/>
                  </a:lnTo>
                  <a:lnTo>
                    <a:pt x="0" y="5"/>
                  </a:lnTo>
                  <a:lnTo>
                    <a:pt x="0" y="3"/>
                  </a:lnTo>
                  <a:lnTo>
                    <a:pt x="0" y="1"/>
                  </a:lnTo>
                  <a:lnTo>
                    <a:pt x="1" y="1"/>
                  </a:lnTo>
                  <a:lnTo>
                    <a:pt x="3" y="0"/>
                  </a:lnTo>
                  <a:lnTo>
                    <a:pt x="5" y="0"/>
                  </a:lnTo>
                  <a:close/>
                  <a:moveTo>
                    <a:pt x="101" y="0"/>
                  </a:moveTo>
                  <a:lnTo>
                    <a:pt x="158" y="0"/>
                  </a:lnTo>
                  <a:lnTo>
                    <a:pt x="160" y="0"/>
                  </a:lnTo>
                  <a:lnTo>
                    <a:pt x="160" y="1"/>
                  </a:lnTo>
                  <a:lnTo>
                    <a:pt x="162" y="1"/>
                  </a:lnTo>
                  <a:lnTo>
                    <a:pt x="162" y="3"/>
                  </a:lnTo>
                  <a:lnTo>
                    <a:pt x="162" y="5"/>
                  </a:lnTo>
                  <a:lnTo>
                    <a:pt x="160" y="6"/>
                  </a:lnTo>
                  <a:lnTo>
                    <a:pt x="160" y="8"/>
                  </a:lnTo>
                  <a:lnTo>
                    <a:pt x="158" y="8"/>
                  </a:lnTo>
                  <a:lnTo>
                    <a:pt x="101" y="8"/>
                  </a:lnTo>
                  <a:lnTo>
                    <a:pt x="99" y="8"/>
                  </a:lnTo>
                  <a:lnTo>
                    <a:pt x="97" y="6"/>
                  </a:lnTo>
                  <a:lnTo>
                    <a:pt x="97" y="5"/>
                  </a:lnTo>
                  <a:lnTo>
                    <a:pt x="97" y="3"/>
                  </a:lnTo>
                  <a:lnTo>
                    <a:pt x="97" y="1"/>
                  </a:lnTo>
                  <a:lnTo>
                    <a:pt x="99" y="0"/>
                  </a:lnTo>
                  <a:lnTo>
                    <a:pt x="101" y="0"/>
                  </a:lnTo>
                  <a:close/>
                  <a:moveTo>
                    <a:pt x="199" y="0"/>
                  </a:moveTo>
                  <a:lnTo>
                    <a:pt x="254" y="0"/>
                  </a:lnTo>
                  <a:lnTo>
                    <a:pt x="256" y="0"/>
                  </a:lnTo>
                  <a:lnTo>
                    <a:pt x="258" y="1"/>
                  </a:lnTo>
                  <a:lnTo>
                    <a:pt x="259" y="1"/>
                  </a:lnTo>
                  <a:lnTo>
                    <a:pt x="259" y="3"/>
                  </a:lnTo>
                  <a:lnTo>
                    <a:pt x="259" y="5"/>
                  </a:lnTo>
                  <a:lnTo>
                    <a:pt x="258" y="6"/>
                  </a:lnTo>
                  <a:lnTo>
                    <a:pt x="256" y="8"/>
                  </a:lnTo>
                  <a:lnTo>
                    <a:pt x="254" y="8"/>
                  </a:lnTo>
                  <a:lnTo>
                    <a:pt x="199" y="8"/>
                  </a:lnTo>
                  <a:lnTo>
                    <a:pt x="197" y="8"/>
                  </a:lnTo>
                  <a:lnTo>
                    <a:pt x="195" y="6"/>
                  </a:lnTo>
                  <a:lnTo>
                    <a:pt x="194" y="5"/>
                  </a:lnTo>
                  <a:lnTo>
                    <a:pt x="194" y="3"/>
                  </a:lnTo>
                  <a:lnTo>
                    <a:pt x="194" y="1"/>
                  </a:lnTo>
                  <a:lnTo>
                    <a:pt x="195" y="1"/>
                  </a:lnTo>
                  <a:lnTo>
                    <a:pt x="197" y="0"/>
                  </a:lnTo>
                  <a:lnTo>
                    <a:pt x="199" y="0"/>
                  </a:lnTo>
                  <a:close/>
                  <a:moveTo>
                    <a:pt x="295" y="0"/>
                  </a:moveTo>
                  <a:lnTo>
                    <a:pt x="352" y="0"/>
                  </a:lnTo>
                  <a:lnTo>
                    <a:pt x="354" y="0"/>
                  </a:lnTo>
                  <a:lnTo>
                    <a:pt x="356" y="1"/>
                  </a:lnTo>
                  <a:lnTo>
                    <a:pt x="356" y="3"/>
                  </a:lnTo>
                  <a:lnTo>
                    <a:pt x="356" y="5"/>
                  </a:lnTo>
                  <a:lnTo>
                    <a:pt x="356" y="6"/>
                  </a:lnTo>
                  <a:lnTo>
                    <a:pt x="354" y="8"/>
                  </a:lnTo>
                  <a:lnTo>
                    <a:pt x="352" y="8"/>
                  </a:lnTo>
                  <a:lnTo>
                    <a:pt x="295" y="8"/>
                  </a:lnTo>
                  <a:lnTo>
                    <a:pt x="293" y="8"/>
                  </a:lnTo>
                  <a:lnTo>
                    <a:pt x="293" y="6"/>
                  </a:lnTo>
                  <a:lnTo>
                    <a:pt x="292" y="5"/>
                  </a:lnTo>
                  <a:lnTo>
                    <a:pt x="292" y="3"/>
                  </a:lnTo>
                  <a:lnTo>
                    <a:pt x="292" y="1"/>
                  </a:lnTo>
                  <a:lnTo>
                    <a:pt x="293" y="1"/>
                  </a:lnTo>
                  <a:lnTo>
                    <a:pt x="293" y="0"/>
                  </a:lnTo>
                  <a:lnTo>
                    <a:pt x="295" y="0"/>
                  </a:lnTo>
                  <a:close/>
                  <a:moveTo>
                    <a:pt x="393" y="0"/>
                  </a:moveTo>
                  <a:lnTo>
                    <a:pt x="450" y="0"/>
                  </a:lnTo>
                  <a:lnTo>
                    <a:pt x="452" y="0"/>
                  </a:lnTo>
                  <a:lnTo>
                    <a:pt x="452" y="1"/>
                  </a:lnTo>
                  <a:lnTo>
                    <a:pt x="454" y="1"/>
                  </a:lnTo>
                  <a:lnTo>
                    <a:pt x="454" y="3"/>
                  </a:lnTo>
                  <a:lnTo>
                    <a:pt x="454" y="5"/>
                  </a:lnTo>
                  <a:lnTo>
                    <a:pt x="452" y="6"/>
                  </a:lnTo>
                  <a:lnTo>
                    <a:pt x="452" y="8"/>
                  </a:lnTo>
                  <a:lnTo>
                    <a:pt x="450" y="8"/>
                  </a:lnTo>
                  <a:lnTo>
                    <a:pt x="393" y="8"/>
                  </a:lnTo>
                  <a:lnTo>
                    <a:pt x="391" y="8"/>
                  </a:lnTo>
                  <a:lnTo>
                    <a:pt x="389" y="6"/>
                  </a:lnTo>
                  <a:lnTo>
                    <a:pt x="389" y="5"/>
                  </a:lnTo>
                  <a:lnTo>
                    <a:pt x="389" y="3"/>
                  </a:lnTo>
                  <a:lnTo>
                    <a:pt x="389" y="1"/>
                  </a:lnTo>
                  <a:lnTo>
                    <a:pt x="391" y="0"/>
                  </a:lnTo>
                  <a:lnTo>
                    <a:pt x="393" y="0"/>
                  </a:lnTo>
                  <a:close/>
                  <a:moveTo>
                    <a:pt x="491" y="0"/>
                  </a:moveTo>
                  <a:lnTo>
                    <a:pt x="546" y="0"/>
                  </a:lnTo>
                  <a:lnTo>
                    <a:pt x="548" y="0"/>
                  </a:lnTo>
                  <a:lnTo>
                    <a:pt x="550" y="1"/>
                  </a:lnTo>
                  <a:lnTo>
                    <a:pt x="551" y="3"/>
                  </a:lnTo>
                  <a:lnTo>
                    <a:pt x="550" y="5"/>
                  </a:lnTo>
                  <a:lnTo>
                    <a:pt x="550" y="6"/>
                  </a:lnTo>
                  <a:lnTo>
                    <a:pt x="548" y="8"/>
                  </a:lnTo>
                  <a:lnTo>
                    <a:pt x="546" y="8"/>
                  </a:lnTo>
                  <a:lnTo>
                    <a:pt x="491" y="8"/>
                  </a:lnTo>
                  <a:lnTo>
                    <a:pt x="489" y="8"/>
                  </a:lnTo>
                  <a:lnTo>
                    <a:pt x="487" y="6"/>
                  </a:lnTo>
                  <a:lnTo>
                    <a:pt x="486" y="5"/>
                  </a:lnTo>
                  <a:lnTo>
                    <a:pt x="486" y="3"/>
                  </a:lnTo>
                  <a:lnTo>
                    <a:pt x="486" y="1"/>
                  </a:lnTo>
                  <a:lnTo>
                    <a:pt x="487" y="1"/>
                  </a:lnTo>
                  <a:lnTo>
                    <a:pt x="489" y="0"/>
                  </a:lnTo>
                  <a:lnTo>
                    <a:pt x="491" y="0"/>
                  </a:lnTo>
                  <a:close/>
                  <a:moveTo>
                    <a:pt x="587" y="0"/>
                  </a:moveTo>
                  <a:lnTo>
                    <a:pt x="644" y="0"/>
                  </a:lnTo>
                  <a:lnTo>
                    <a:pt x="646" y="0"/>
                  </a:lnTo>
                  <a:lnTo>
                    <a:pt x="648" y="1"/>
                  </a:lnTo>
                  <a:lnTo>
                    <a:pt x="648" y="3"/>
                  </a:lnTo>
                  <a:lnTo>
                    <a:pt x="648" y="5"/>
                  </a:lnTo>
                  <a:lnTo>
                    <a:pt x="648" y="6"/>
                  </a:lnTo>
                  <a:lnTo>
                    <a:pt x="646" y="8"/>
                  </a:lnTo>
                  <a:lnTo>
                    <a:pt x="644" y="8"/>
                  </a:lnTo>
                  <a:lnTo>
                    <a:pt x="587" y="8"/>
                  </a:lnTo>
                  <a:lnTo>
                    <a:pt x="585" y="8"/>
                  </a:lnTo>
                  <a:lnTo>
                    <a:pt x="584" y="6"/>
                  </a:lnTo>
                  <a:lnTo>
                    <a:pt x="584" y="5"/>
                  </a:lnTo>
                  <a:lnTo>
                    <a:pt x="584" y="3"/>
                  </a:lnTo>
                  <a:lnTo>
                    <a:pt x="584" y="1"/>
                  </a:lnTo>
                  <a:lnTo>
                    <a:pt x="585" y="0"/>
                  </a:lnTo>
                  <a:lnTo>
                    <a:pt x="587" y="0"/>
                  </a:lnTo>
                  <a:close/>
                  <a:moveTo>
                    <a:pt x="685" y="0"/>
                  </a:moveTo>
                  <a:lnTo>
                    <a:pt x="742" y="0"/>
                  </a:lnTo>
                  <a:lnTo>
                    <a:pt x="744" y="1"/>
                  </a:lnTo>
                  <a:lnTo>
                    <a:pt x="746" y="1"/>
                  </a:lnTo>
                  <a:lnTo>
                    <a:pt x="746" y="3"/>
                  </a:lnTo>
                  <a:lnTo>
                    <a:pt x="746" y="5"/>
                  </a:lnTo>
                  <a:lnTo>
                    <a:pt x="744" y="6"/>
                  </a:lnTo>
                  <a:lnTo>
                    <a:pt x="742" y="8"/>
                  </a:lnTo>
                  <a:lnTo>
                    <a:pt x="685" y="8"/>
                  </a:lnTo>
                  <a:lnTo>
                    <a:pt x="683" y="8"/>
                  </a:lnTo>
                  <a:lnTo>
                    <a:pt x="681" y="6"/>
                  </a:lnTo>
                  <a:lnTo>
                    <a:pt x="681" y="5"/>
                  </a:lnTo>
                  <a:lnTo>
                    <a:pt x="681" y="3"/>
                  </a:lnTo>
                  <a:lnTo>
                    <a:pt x="681" y="1"/>
                  </a:lnTo>
                  <a:lnTo>
                    <a:pt x="683" y="0"/>
                  </a:lnTo>
                  <a:lnTo>
                    <a:pt x="685" y="0"/>
                  </a:lnTo>
                  <a:close/>
                  <a:moveTo>
                    <a:pt x="783" y="0"/>
                  </a:moveTo>
                  <a:lnTo>
                    <a:pt x="838" y="0"/>
                  </a:lnTo>
                  <a:lnTo>
                    <a:pt x="840" y="0"/>
                  </a:lnTo>
                  <a:lnTo>
                    <a:pt x="842" y="1"/>
                  </a:lnTo>
                  <a:lnTo>
                    <a:pt x="843" y="3"/>
                  </a:lnTo>
                  <a:lnTo>
                    <a:pt x="842" y="5"/>
                  </a:lnTo>
                  <a:lnTo>
                    <a:pt x="842" y="6"/>
                  </a:lnTo>
                  <a:lnTo>
                    <a:pt x="840" y="8"/>
                  </a:lnTo>
                  <a:lnTo>
                    <a:pt x="838" y="8"/>
                  </a:lnTo>
                  <a:lnTo>
                    <a:pt x="783" y="8"/>
                  </a:lnTo>
                  <a:lnTo>
                    <a:pt x="779" y="8"/>
                  </a:lnTo>
                  <a:lnTo>
                    <a:pt x="779" y="6"/>
                  </a:lnTo>
                  <a:lnTo>
                    <a:pt x="778" y="5"/>
                  </a:lnTo>
                  <a:lnTo>
                    <a:pt x="778" y="3"/>
                  </a:lnTo>
                  <a:lnTo>
                    <a:pt x="778" y="1"/>
                  </a:lnTo>
                  <a:lnTo>
                    <a:pt x="779" y="1"/>
                  </a:lnTo>
                  <a:lnTo>
                    <a:pt x="779" y="0"/>
                  </a:lnTo>
                  <a:lnTo>
                    <a:pt x="783" y="0"/>
                  </a:lnTo>
                  <a:close/>
                  <a:moveTo>
                    <a:pt x="879" y="0"/>
                  </a:moveTo>
                  <a:lnTo>
                    <a:pt x="936" y="0"/>
                  </a:lnTo>
                  <a:lnTo>
                    <a:pt x="938" y="0"/>
                  </a:lnTo>
                  <a:lnTo>
                    <a:pt x="938" y="1"/>
                  </a:lnTo>
                  <a:lnTo>
                    <a:pt x="940" y="1"/>
                  </a:lnTo>
                  <a:lnTo>
                    <a:pt x="940" y="3"/>
                  </a:lnTo>
                  <a:lnTo>
                    <a:pt x="940" y="5"/>
                  </a:lnTo>
                  <a:lnTo>
                    <a:pt x="938" y="6"/>
                  </a:lnTo>
                  <a:lnTo>
                    <a:pt x="938" y="8"/>
                  </a:lnTo>
                  <a:lnTo>
                    <a:pt x="936" y="8"/>
                  </a:lnTo>
                  <a:lnTo>
                    <a:pt x="879" y="8"/>
                  </a:lnTo>
                  <a:lnTo>
                    <a:pt x="877" y="8"/>
                  </a:lnTo>
                  <a:lnTo>
                    <a:pt x="876" y="6"/>
                  </a:lnTo>
                  <a:lnTo>
                    <a:pt x="876" y="5"/>
                  </a:lnTo>
                  <a:lnTo>
                    <a:pt x="876" y="3"/>
                  </a:lnTo>
                  <a:lnTo>
                    <a:pt x="876" y="1"/>
                  </a:lnTo>
                  <a:lnTo>
                    <a:pt x="877" y="0"/>
                  </a:lnTo>
                  <a:lnTo>
                    <a:pt x="879" y="0"/>
                  </a:lnTo>
                  <a:close/>
                  <a:moveTo>
                    <a:pt x="977" y="0"/>
                  </a:moveTo>
                  <a:lnTo>
                    <a:pt x="1032" y="0"/>
                  </a:lnTo>
                  <a:lnTo>
                    <a:pt x="1034" y="0"/>
                  </a:lnTo>
                  <a:lnTo>
                    <a:pt x="1036" y="1"/>
                  </a:lnTo>
                  <a:lnTo>
                    <a:pt x="1038" y="1"/>
                  </a:lnTo>
                  <a:lnTo>
                    <a:pt x="1038" y="3"/>
                  </a:lnTo>
                  <a:lnTo>
                    <a:pt x="1038" y="5"/>
                  </a:lnTo>
                  <a:lnTo>
                    <a:pt x="1036" y="6"/>
                  </a:lnTo>
                  <a:lnTo>
                    <a:pt x="1034" y="8"/>
                  </a:lnTo>
                  <a:lnTo>
                    <a:pt x="1032" y="8"/>
                  </a:lnTo>
                  <a:lnTo>
                    <a:pt x="977" y="8"/>
                  </a:lnTo>
                  <a:lnTo>
                    <a:pt x="975" y="8"/>
                  </a:lnTo>
                  <a:lnTo>
                    <a:pt x="973" y="6"/>
                  </a:lnTo>
                  <a:lnTo>
                    <a:pt x="972" y="5"/>
                  </a:lnTo>
                  <a:lnTo>
                    <a:pt x="972" y="3"/>
                  </a:lnTo>
                  <a:lnTo>
                    <a:pt x="972" y="1"/>
                  </a:lnTo>
                  <a:lnTo>
                    <a:pt x="973" y="1"/>
                  </a:lnTo>
                  <a:lnTo>
                    <a:pt x="975" y="0"/>
                  </a:lnTo>
                  <a:lnTo>
                    <a:pt x="977" y="0"/>
                  </a:lnTo>
                  <a:close/>
                  <a:moveTo>
                    <a:pt x="1073" y="0"/>
                  </a:moveTo>
                  <a:lnTo>
                    <a:pt x="1130" y="0"/>
                  </a:lnTo>
                  <a:lnTo>
                    <a:pt x="1132" y="0"/>
                  </a:lnTo>
                  <a:lnTo>
                    <a:pt x="1134" y="1"/>
                  </a:lnTo>
                  <a:lnTo>
                    <a:pt x="1134" y="3"/>
                  </a:lnTo>
                  <a:lnTo>
                    <a:pt x="1134" y="5"/>
                  </a:lnTo>
                  <a:lnTo>
                    <a:pt x="1134" y="6"/>
                  </a:lnTo>
                  <a:lnTo>
                    <a:pt x="1132" y="8"/>
                  </a:lnTo>
                  <a:lnTo>
                    <a:pt x="1130" y="8"/>
                  </a:lnTo>
                  <a:lnTo>
                    <a:pt x="1073" y="8"/>
                  </a:lnTo>
                  <a:lnTo>
                    <a:pt x="1071" y="8"/>
                  </a:lnTo>
                  <a:lnTo>
                    <a:pt x="1071" y="6"/>
                  </a:lnTo>
                  <a:lnTo>
                    <a:pt x="1070" y="5"/>
                  </a:lnTo>
                  <a:lnTo>
                    <a:pt x="1070" y="3"/>
                  </a:lnTo>
                  <a:lnTo>
                    <a:pt x="1070" y="1"/>
                  </a:lnTo>
                  <a:lnTo>
                    <a:pt x="1071" y="1"/>
                  </a:lnTo>
                  <a:lnTo>
                    <a:pt x="1071" y="0"/>
                  </a:lnTo>
                  <a:lnTo>
                    <a:pt x="1073" y="0"/>
                  </a:lnTo>
                  <a:close/>
                  <a:moveTo>
                    <a:pt x="1171" y="0"/>
                  </a:moveTo>
                  <a:lnTo>
                    <a:pt x="1228" y="0"/>
                  </a:lnTo>
                  <a:lnTo>
                    <a:pt x="1230" y="1"/>
                  </a:lnTo>
                  <a:lnTo>
                    <a:pt x="1232" y="1"/>
                  </a:lnTo>
                  <a:lnTo>
                    <a:pt x="1232" y="3"/>
                  </a:lnTo>
                  <a:lnTo>
                    <a:pt x="1232" y="5"/>
                  </a:lnTo>
                  <a:lnTo>
                    <a:pt x="1230" y="6"/>
                  </a:lnTo>
                  <a:lnTo>
                    <a:pt x="1228" y="8"/>
                  </a:lnTo>
                  <a:lnTo>
                    <a:pt x="1171" y="8"/>
                  </a:lnTo>
                  <a:lnTo>
                    <a:pt x="1169" y="8"/>
                  </a:lnTo>
                  <a:lnTo>
                    <a:pt x="1168" y="6"/>
                  </a:lnTo>
                  <a:lnTo>
                    <a:pt x="1168" y="5"/>
                  </a:lnTo>
                  <a:lnTo>
                    <a:pt x="1168" y="3"/>
                  </a:lnTo>
                  <a:lnTo>
                    <a:pt x="1168" y="1"/>
                  </a:lnTo>
                  <a:lnTo>
                    <a:pt x="1169" y="0"/>
                  </a:lnTo>
                  <a:lnTo>
                    <a:pt x="1171" y="0"/>
                  </a:lnTo>
                  <a:close/>
                  <a:moveTo>
                    <a:pt x="1269" y="0"/>
                  </a:moveTo>
                  <a:lnTo>
                    <a:pt x="1324" y="0"/>
                  </a:lnTo>
                  <a:lnTo>
                    <a:pt x="1326" y="0"/>
                  </a:lnTo>
                  <a:lnTo>
                    <a:pt x="1328" y="1"/>
                  </a:lnTo>
                  <a:lnTo>
                    <a:pt x="1330" y="3"/>
                  </a:lnTo>
                  <a:lnTo>
                    <a:pt x="1328" y="5"/>
                  </a:lnTo>
                  <a:lnTo>
                    <a:pt x="1328" y="6"/>
                  </a:lnTo>
                  <a:lnTo>
                    <a:pt x="1326" y="8"/>
                  </a:lnTo>
                  <a:lnTo>
                    <a:pt x="1324" y="8"/>
                  </a:lnTo>
                  <a:lnTo>
                    <a:pt x="1269" y="8"/>
                  </a:lnTo>
                  <a:lnTo>
                    <a:pt x="1267" y="8"/>
                  </a:lnTo>
                  <a:lnTo>
                    <a:pt x="1265" y="6"/>
                  </a:lnTo>
                  <a:lnTo>
                    <a:pt x="1264" y="5"/>
                  </a:lnTo>
                  <a:lnTo>
                    <a:pt x="1264" y="3"/>
                  </a:lnTo>
                  <a:lnTo>
                    <a:pt x="1264" y="1"/>
                  </a:lnTo>
                  <a:lnTo>
                    <a:pt x="1265" y="1"/>
                  </a:lnTo>
                  <a:lnTo>
                    <a:pt x="1267" y="0"/>
                  </a:lnTo>
                  <a:lnTo>
                    <a:pt x="1269" y="0"/>
                  </a:lnTo>
                  <a:close/>
                  <a:moveTo>
                    <a:pt x="1365" y="0"/>
                  </a:moveTo>
                  <a:lnTo>
                    <a:pt x="1422" y="0"/>
                  </a:lnTo>
                  <a:lnTo>
                    <a:pt x="1424" y="0"/>
                  </a:lnTo>
                  <a:lnTo>
                    <a:pt x="1424" y="1"/>
                  </a:lnTo>
                  <a:lnTo>
                    <a:pt x="1426" y="1"/>
                  </a:lnTo>
                  <a:lnTo>
                    <a:pt x="1426" y="3"/>
                  </a:lnTo>
                  <a:lnTo>
                    <a:pt x="1426" y="5"/>
                  </a:lnTo>
                  <a:lnTo>
                    <a:pt x="1424" y="6"/>
                  </a:lnTo>
                  <a:lnTo>
                    <a:pt x="1424" y="8"/>
                  </a:lnTo>
                  <a:lnTo>
                    <a:pt x="1422" y="8"/>
                  </a:lnTo>
                  <a:lnTo>
                    <a:pt x="1365" y="8"/>
                  </a:lnTo>
                  <a:lnTo>
                    <a:pt x="1363" y="8"/>
                  </a:lnTo>
                  <a:lnTo>
                    <a:pt x="1362" y="6"/>
                  </a:lnTo>
                  <a:lnTo>
                    <a:pt x="1362" y="5"/>
                  </a:lnTo>
                  <a:lnTo>
                    <a:pt x="1362" y="3"/>
                  </a:lnTo>
                  <a:lnTo>
                    <a:pt x="1362" y="1"/>
                  </a:lnTo>
                  <a:lnTo>
                    <a:pt x="1363" y="0"/>
                  </a:lnTo>
                  <a:lnTo>
                    <a:pt x="1365" y="0"/>
                  </a:lnTo>
                  <a:close/>
                  <a:moveTo>
                    <a:pt x="1463" y="0"/>
                  </a:moveTo>
                  <a:lnTo>
                    <a:pt x="1519" y="0"/>
                  </a:lnTo>
                  <a:lnTo>
                    <a:pt x="1520" y="0"/>
                  </a:lnTo>
                  <a:lnTo>
                    <a:pt x="1522" y="1"/>
                  </a:lnTo>
                  <a:lnTo>
                    <a:pt x="1524" y="1"/>
                  </a:lnTo>
                  <a:lnTo>
                    <a:pt x="1524" y="3"/>
                  </a:lnTo>
                  <a:lnTo>
                    <a:pt x="1524" y="5"/>
                  </a:lnTo>
                  <a:lnTo>
                    <a:pt x="1522" y="6"/>
                  </a:lnTo>
                  <a:lnTo>
                    <a:pt x="1520" y="8"/>
                  </a:lnTo>
                  <a:lnTo>
                    <a:pt x="1519" y="8"/>
                  </a:lnTo>
                  <a:lnTo>
                    <a:pt x="1463" y="8"/>
                  </a:lnTo>
                  <a:lnTo>
                    <a:pt x="1461" y="8"/>
                  </a:lnTo>
                  <a:lnTo>
                    <a:pt x="1460" y="6"/>
                  </a:lnTo>
                  <a:lnTo>
                    <a:pt x="1458" y="5"/>
                  </a:lnTo>
                  <a:lnTo>
                    <a:pt x="1458" y="3"/>
                  </a:lnTo>
                  <a:lnTo>
                    <a:pt x="1458" y="1"/>
                  </a:lnTo>
                  <a:lnTo>
                    <a:pt x="1460" y="1"/>
                  </a:lnTo>
                  <a:lnTo>
                    <a:pt x="1461" y="0"/>
                  </a:lnTo>
                  <a:lnTo>
                    <a:pt x="1463" y="0"/>
                  </a:lnTo>
                  <a:close/>
                  <a:moveTo>
                    <a:pt x="1559" y="0"/>
                  </a:moveTo>
                  <a:lnTo>
                    <a:pt x="1616" y="0"/>
                  </a:lnTo>
                  <a:lnTo>
                    <a:pt x="1618" y="0"/>
                  </a:lnTo>
                  <a:lnTo>
                    <a:pt x="1620" y="1"/>
                  </a:lnTo>
                  <a:lnTo>
                    <a:pt x="1620" y="3"/>
                  </a:lnTo>
                  <a:lnTo>
                    <a:pt x="1620" y="5"/>
                  </a:lnTo>
                  <a:lnTo>
                    <a:pt x="1620" y="6"/>
                  </a:lnTo>
                  <a:lnTo>
                    <a:pt x="1618" y="8"/>
                  </a:lnTo>
                  <a:lnTo>
                    <a:pt x="1616" y="8"/>
                  </a:lnTo>
                  <a:lnTo>
                    <a:pt x="1559" y="8"/>
                  </a:lnTo>
                  <a:lnTo>
                    <a:pt x="1557" y="8"/>
                  </a:lnTo>
                  <a:lnTo>
                    <a:pt x="1557" y="6"/>
                  </a:lnTo>
                  <a:lnTo>
                    <a:pt x="1556" y="5"/>
                  </a:lnTo>
                  <a:lnTo>
                    <a:pt x="1556" y="3"/>
                  </a:lnTo>
                  <a:lnTo>
                    <a:pt x="1556" y="1"/>
                  </a:lnTo>
                  <a:lnTo>
                    <a:pt x="1557" y="1"/>
                  </a:lnTo>
                  <a:lnTo>
                    <a:pt x="1557" y="0"/>
                  </a:lnTo>
                  <a:lnTo>
                    <a:pt x="1559" y="0"/>
                  </a:lnTo>
                  <a:close/>
                  <a:moveTo>
                    <a:pt x="1657" y="0"/>
                  </a:moveTo>
                  <a:lnTo>
                    <a:pt x="1714" y="0"/>
                  </a:lnTo>
                  <a:lnTo>
                    <a:pt x="1716" y="0"/>
                  </a:lnTo>
                  <a:lnTo>
                    <a:pt x="1716" y="1"/>
                  </a:lnTo>
                  <a:lnTo>
                    <a:pt x="1718" y="1"/>
                  </a:lnTo>
                  <a:lnTo>
                    <a:pt x="1718" y="3"/>
                  </a:lnTo>
                  <a:lnTo>
                    <a:pt x="1718" y="5"/>
                  </a:lnTo>
                  <a:lnTo>
                    <a:pt x="1716" y="6"/>
                  </a:lnTo>
                  <a:lnTo>
                    <a:pt x="1716" y="8"/>
                  </a:lnTo>
                  <a:lnTo>
                    <a:pt x="1714" y="8"/>
                  </a:lnTo>
                  <a:lnTo>
                    <a:pt x="1657" y="8"/>
                  </a:lnTo>
                  <a:lnTo>
                    <a:pt x="1655" y="8"/>
                  </a:lnTo>
                  <a:lnTo>
                    <a:pt x="1654" y="6"/>
                  </a:lnTo>
                  <a:lnTo>
                    <a:pt x="1654" y="5"/>
                  </a:lnTo>
                  <a:lnTo>
                    <a:pt x="1654" y="3"/>
                  </a:lnTo>
                  <a:lnTo>
                    <a:pt x="1654" y="1"/>
                  </a:lnTo>
                  <a:lnTo>
                    <a:pt x="1655" y="0"/>
                  </a:lnTo>
                  <a:lnTo>
                    <a:pt x="1657" y="0"/>
                  </a:lnTo>
                  <a:close/>
                  <a:moveTo>
                    <a:pt x="1755" y="0"/>
                  </a:moveTo>
                  <a:lnTo>
                    <a:pt x="1811" y="0"/>
                  </a:lnTo>
                  <a:lnTo>
                    <a:pt x="1812" y="0"/>
                  </a:lnTo>
                  <a:lnTo>
                    <a:pt x="1814" y="1"/>
                  </a:lnTo>
                  <a:lnTo>
                    <a:pt x="1816" y="3"/>
                  </a:lnTo>
                  <a:lnTo>
                    <a:pt x="1814" y="5"/>
                  </a:lnTo>
                  <a:lnTo>
                    <a:pt x="1814" y="6"/>
                  </a:lnTo>
                  <a:lnTo>
                    <a:pt x="1812" y="8"/>
                  </a:lnTo>
                  <a:lnTo>
                    <a:pt x="1811" y="8"/>
                  </a:lnTo>
                  <a:lnTo>
                    <a:pt x="1755" y="8"/>
                  </a:lnTo>
                  <a:lnTo>
                    <a:pt x="1753" y="8"/>
                  </a:lnTo>
                  <a:lnTo>
                    <a:pt x="1751" y="6"/>
                  </a:lnTo>
                  <a:lnTo>
                    <a:pt x="1750" y="5"/>
                  </a:lnTo>
                  <a:lnTo>
                    <a:pt x="1750" y="3"/>
                  </a:lnTo>
                  <a:lnTo>
                    <a:pt x="1750" y="1"/>
                  </a:lnTo>
                  <a:lnTo>
                    <a:pt x="1751" y="1"/>
                  </a:lnTo>
                  <a:lnTo>
                    <a:pt x="1753" y="0"/>
                  </a:lnTo>
                  <a:lnTo>
                    <a:pt x="1755" y="0"/>
                  </a:lnTo>
                  <a:close/>
                  <a:moveTo>
                    <a:pt x="1851" y="0"/>
                  </a:moveTo>
                  <a:lnTo>
                    <a:pt x="1908" y="0"/>
                  </a:lnTo>
                  <a:lnTo>
                    <a:pt x="1910" y="0"/>
                  </a:lnTo>
                  <a:lnTo>
                    <a:pt x="1910" y="1"/>
                  </a:lnTo>
                  <a:lnTo>
                    <a:pt x="1912" y="1"/>
                  </a:lnTo>
                  <a:lnTo>
                    <a:pt x="1912" y="3"/>
                  </a:lnTo>
                  <a:lnTo>
                    <a:pt x="1912" y="5"/>
                  </a:lnTo>
                  <a:lnTo>
                    <a:pt x="1910" y="6"/>
                  </a:lnTo>
                  <a:lnTo>
                    <a:pt x="1910" y="8"/>
                  </a:lnTo>
                  <a:lnTo>
                    <a:pt x="1908" y="8"/>
                  </a:lnTo>
                  <a:lnTo>
                    <a:pt x="1851" y="8"/>
                  </a:lnTo>
                  <a:lnTo>
                    <a:pt x="1849" y="8"/>
                  </a:lnTo>
                  <a:lnTo>
                    <a:pt x="1848" y="6"/>
                  </a:lnTo>
                  <a:lnTo>
                    <a:pt x="1848" y="5"/>
                  </a:lnTo>
                  <a:lnTo>
                    <a:pt x="1848" y="3"/>
                  </a:lnTo>
                  <a:lnTo>
                    <a:pt x="1848" y="1"/>
                  </a:lnTo>
                  <a:lnTo>
                    <a:pt x="1849" y="0"/>
                  </a:lnTo>
                  <a:lnTo>
                    <a:pt x="1851" y="0"/>
                  </a:lnTo>
                  <a:close/>
                  <a:moveTo>
                    <a:pt x="1949" y="0"/>
                  </a:moveTo>
                  <a:lnTo>
                    <a:pt x="2006" y="0"/>
                  </a:lnTo>
                  <a:lnTo>
                    <a:pt x="2008" y="1"/>
                  </a:lnTo>
                  <a:lnTo>
                    <a:pt x="2010" y="1"/>
                  </a:lnTo>
                  <a:lnTo>
                    <a:pt x="2010" y="3"/>
                  </a:lnTo>
                  <a:lnTo>
                    <a:pt x="2010" y="5"/>
                  </a:lnTo>
                  <a:lnTo>
                    <a:pt x="2008" y="6"/>
                  </a:lnTo>
                  <a:lnTo>
                    <a:pt x="2006" y="8"/>
                  </a:lnTo>
                  <a:lnTo>
                    <a:pt x="1949" y="8"/>
                  </a:lnTo>
                  <a:lnTo>
                    <a:pt x="1947" y="8"/>
                  </a:lnTo>
                  <a:lnTo>
                    <a:pt x="1946" y="6"/>
                  </a:lnTo>
                  <a:lnTo>
                    <a:pt x="1946" y="5"/>
                  </a:lnTo>
                  <a:lnTo>
                    <a:pt x="1946" y="3"/>
                  </a:lnTo>
                  <a:lnTo>
                    <a:pt x="1946" y="1"/>
                  </a:lnTo>
                  <a:lnTo>
                    <a:pt x="1947" y="0"/>
                  </a:lnTo>
                  <a:lnTo>
                    <a:pt x="1949" y="0"/>
                  </a:lnTo>
                  <a:close/>
                  <a:moveTo>
                    <a:pt x="2047" y="0"/>
                  </a:moveTo>
                  <a:lnTo>
                    <a:pt x="2103" y="0"/>
                  </a:lnTo>
                  <a:lnTo>
                    <a:pt x="2104" y="0"/>
                  </a:lnTo>
                  <a:lnTo>
                    <a:pt x="2106" y="1"/>
                  </a:lnTo>
                  <a:lnTo>
                    <a:pt x="2108" y="3"/>
                  </a:lnTo>
                  <a:lnTo>
                    <a:pt x="2106" y="5"/>
                  </a:lnTo>
                  <a:lnTo>
                    <a:pt x="2106" y="6"/>
                  </a:lnTo>
                  <a:lnTo>
                    <a:pt x="2104" y="8"/>
                  </a:lnTo>
                  <a:lnTo>
                    <a:pt x="2103" y="8"/>
                  </a:lnTo>
                  <a:lnTo>
                    <a:pt x="2047" y="8"/>
                  </a:lnTo>
                  <a:lnTo>
                    <a:pt x="2043" y="8"/>
                  </a:lnTo>
                  <a:lnTo>
                    <a:pt x="2043" y="6"/>
                  </a:lnTo>
                  <a:lnTo>
                    <a:pt x="2042" y="5"/>
                  </a:lnTo>
                  <a:lnTo>
                    <a:pt x="2042" y="3"/>
                  </a:lnTo>
                  <a:lnTo>
                    <a:pt x="2042" y="1"/>
                  </a:lnTo>
                  <a:lnTo>
                    <a:pt x="2043" y="1"/>
                  </a:lnTo>
                  <a:lnTo>
                    <a:pt x="2043" y="0"/>
                  </a:lnTo>
                  <a:lnTo>
                    <a:pt x="2047" y="0"/>
                  </a:lnTo>
                  <a:close/>
                  <a:moveTo>
                    <a:pt x="2143" y="0"/>
                  </a:moveTo>
                  <a:lnTo>
                    <a:pt x="2200" y="0"/>
                  </a:lnTo>
                  <a:lnTo>
                    <a:pt x="2202" y="0"/>
                  </a:lnTo>
                  <a:lnTo>
                    <a:pt x="2202" y="1"/>
                  </a:lnTo>
                  <a:lnTo>
                    <a:pt x="2204" y="1"/>
                  </a:lnTo>
                  <a:lnTo>
                    <a:pt x="2204" y="3"/>
                  </a:lnTo>
                  <a:lnTo>
                    <a:pt x="2204" y="5"/>
                  </a:lnTo>
                  <a:lnTo>
                    <a:pt x="2202" y="6"/>
                  </a:lnTo>
                  <a:lnTo>
                    <a:pt x="2202" y="8"/>
                  </a:lnTo>
                  <a:lnTo>
                    <a:pt x="2200" y="8"/>
                  </a:lnTo>
                  <a:lnTo>
                    <a:pt x="2143" y="8"/>
                  </a:lnTo>
                  <a:lnTo>
                    <a:pt x="2141" y="8"/>
                  </a:lnTo>
                  <a:lnTo>
                    <a:pt x="2140" y="6"/>
                  </a:lnTo>
                  <a:lnTo>
                    <a:pt x="2140" y="5"/>
                  </a:lnTo>
                  <a:lnTo>
                    <a:pt x="2140" y="3"/>
                  </a:lnTo>
                  <a:lnTo>
                    <a:pt x="2140" y="1"/>
                  </a:lnTo>
                  <a:lnTo>
                    <a:pt x="2141" y="0"/>
                  </a:lnTo>
                  <a:lnTo>
                    <a:pt x="2143" y="0"/>
                  </a:lnTo>
                  <a:close/>
                  <a:moveTo>
                    <a:pt x="2241" y="0"/>
                  </a:moveTo>
                  <a:lnTo>
                    <a:pt x="2297" y="0"/>
                  </a:lnTo>
                  <a:lnTo>
                    <a:pt x="2298" y="0"/>
                  </a:lnTo>
                  <a:lnTo>
                    <a:pt x="2300" y="1"/>
                  </a:lnTo>
                  <a:lnTo>
                    <a:pt x="2302" y="1"/>
                  </a:lnTo>
                  <a:lnTo>
                    <a:pt x="2302" y="3"/>
                  </a:lnTo>
                  <a:lnTo>
                    <a:pt x="2302" y="5"/>
                  </a:lnTo>
                  <a:lnTo>
                    <a:pt x="2300" y="6"/>
                  </a:lnTo>
                  <a:lnTo>
                    <a:pt x="2298" y="8"/>
                  </a:lnTo>
                  <a:lnTo>
                    <a:pt x="2297" y="8"/>
                  </a:lnTo>
                  <a:lnTo>
                    <a:pt x="2241" y="8"/>
                  </a:lnTo>
                  <a:lnTo>
                    <a:pt x="2239" y="8"/>
                  </a:lnTo>
                  <a:lnTo>
                    <a:pt x="2238" y="6"/>
                  </a:lnTo>
                  <a:lnTo>
                    <a:pt x="2236" y="5"/>
                  </a:lnTo>
                  <a:lnTo>
                    <a:pt x="2236" y="3"/>
                  </a:lnTo>
                  <a:lnTo>
                    <a:pt x="2236" y="1"/>
                  </a:lnTo>
                  <a:lnTo>
                    <a:pt x="2238" y="1"/>
                  </a:lnTo>
                  <a:lnTo>
                    <a:pt x="2239" y="0"/>
                  </a:lnTo>
                  <a:lnTo>
                    <a:pt x="2241" y="0"/>
                  </a:lnTo>
                  <a:close/>
                  <a:moveTo>
                    <a:pt x="2337" y="0"/>
                  </a:moveTo>
                  <a:lnTo>
                    <a:pt x="2395" y="0"/>
                  </a:lnTo>
                  <a:lnTo>
                    <a:pt x="2396" y="0"/>
                  </a:lnTo>
                  <a:lnTo>
                    <a:pt x="2398" y="1"/>
                  </a:lnTo>
                  <a:lnTo>
                    <a:pt x="2398" y="3"/>
                  </a:lnTo>
                  <a:lnTo>
                    <a:pt x="2398" y="5"/>
                  </a:lnTo>
                  <a:lnTo>
                    <a:pt x="2398" y="6"/>
                  </a:lnTo>
                  <a:lnTo>
                    <a:pt x="2396" y="8"/>
                  </a:lnTo>
                  <a:lnTo>
                    <a:pt x="2395" y="8"/>
                  </a:lnTo>
                  <a:lnTo>
                    <a:pt x="2337" y="8"/>
                  </a:lnTo>
                  <a:lnTo>
                    <a:pt x="2335" y="8"/>
                  </a:lnTo>
                  <a:lnTo>
                    <a:pt x="2335" y="6"/>
                  </a:lnTo>
                  <a:lnTo>
                    <a:pt x="2334" y="5"/>
                  </a:lnTo>
                  <a:lnTo>
                    <a:pt x="2334" y="3"/>
                  </a:lnTo>
                  <a:lnTo>
                    <a:pt x="2334" y="1"/>
                  </a:lnTo>
                  <a:lnTo>
                    <a:pt x="2335" y="1"/>
                  </a:lnTo>
                  <a:lnTo>
                    <a:pt x="2335" y="0"/>
                  </a:lnTo>
                  <a:lnTo>
                    <a:pt x="2337" y="0"/>
                  </a:lnTo>
                  <a:close/>
                </a:path>
              </a:pathLst>
            </a:custGeom>
            <a:solidFill>
              <a:srgbClr val="000000"/>
            </a:solidFill>
            <a:ln w="1588">
              <a:solidFill>
                <a:srgbClr val="000000"/>
              </a:solidFill>
              <a:round/>
              <a:headEnd/>
              <a:tailEnd/>
            </a:ln>
          </p:spPr>
          <p:txBody>
            <a:bodyPr/>
            <a:lstStyle/>
            <a:p>
              <a:endParaRPr lang="zh-CN" altLang="en-US">
                <a:latin typeface="Times New Roman" panose="02020603050405020304" pitchFamily="18" charset="0"/>
                <a:ea typeface="宋体" panose="02010600030101010101" pitchFamily="2" charset="-122"/>
              </a:endParaRPr>
            </a:p>
          </p:txBody>
        </p:sp>
        <p:sp>
          <p:nvSpPr>
            <p:cNvPr id="64541" name="Line 50">
              <a:extLst>
                <a:ext uri="{FF2B5EF4-FFF2-40B4-BE49-F238E27FC236}">
                  <a16:creationId xmlns:a16="http://schemas.microsoft.com/office/drawing/2014/main" id="{79D46ECE-8945-4209-BC39-EC27A0FB0E10}"/>
                </a:ext>
              </a:extLst>
            </p:cNvPr>
            <p:cNvSpPr>
              <a:spLocks noChangeShapeType="1"/>
            </p:cNvSpPr>
            <p:nvPr/>
          </p:nvSpPr>
          <p:spPr bwMode="auto">
            <a:xfrm>
              <a:off x="4297" y="1809"/>
              <a:ext cx="0" cy="76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42" name="Line 51">
              <a:extLst>
                <a:ext uri="{FF2B5EF4-FFF2-40B4-BE49-F238E27FC236}">
                  <a16:creationId xmlns:a16="http://schemas.microsoft.com/office/drawing/2014/main" id="{45D87256-CA25-43EA-B811-A8E0E60DEB05}"/>
                </a:ext>
              </a:extLst>
            </p:cNvPr>
            <p:cNvSpPr>
              <a:spLocks noChangeShapeType="1"/>
            </p:cNvSpPr>
            <p:nvPr/>
          </p:nvSpPr>
          <p:spPr bwMode="auto">
            <a:xfrm>
              <a:off x="4360" y="1858"/>
              <a:ext cx="0" cy="71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43" name="Rectangle 52">
              <a:extLst>
                <a:ext uri="{FF2B5EF4-FFF2-40B4-BE49-F238E27FC236}">
                  <a16:creationId xmlns:a16="http://schemas.microsoft.com/office/drawing/2014/main" id="{20974EDE-E0E6-4907-AF0D-69AD5F4E36E5}"/>
                </a:ext>
              </a:extLst>
            </p:cNvPr>
            <p:cNvSpPr>
              <a:spLocks noChangeArrowheads="1"/>
            </p:cNvSpPr>
            <p:nvPr/>
          </p:nvSpPr>
          <p:spPr bwMode="auto">
            <a:xfrm>
              <a:off x="3169" y="1736"/>
              <a:ext cx="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2200">
                  <a:solidFill>
                    <a:srgbClr val="000000"/>
                  </a:solidFill>
                  <a:latin typeface="Times New Roman" panose="02020603050405020304" pitchFamily="18" charset="0"/>
                </a:rPr>
                <a:t>(</a:t>
              </a:r>
              <a:endParaRPr kumimoji="0" lang="en-US" altLang="zh-CN" sz="4800" b="1">
                <a:solidFill>
                  <a:srgbClr val="000066"/>
                </a:solidFill>
                <a:latin typeface="Times New Roman" panose="02020603050405020304" pitchFamily="18" charset="0"/>
              </a:endParaRPr>
            </a:p>
          </p:txBody>
        </p:sp>
        <p:sp>
          <p:nvSpPr>
            <p:cNvPr id="64544" name="Rectangle 53">
              <a:extLst>
                <a:ext uri="{FF2B5EF4-FFF2-40B4-BE49-F238E27FC236}">
                  <a16:creationId xmlns:a16="http://schemas.microsoft.com/office/drawing/2014/main" id="{7E987D7B-3383-4DAD-889D-F6D51639ECDE}"/>
                </a:ext>
              </a:extLst>
            </p:cNvPr>
            <p:cNvSpPr>
              <a:spLocks noChangeArrowheads="1"/>
            </p:cNvSpPr>
            <p:nvPr/>
          </p:nvSpPr>
          <p:spPr bwMode="auto">
            <a:xfrm>
              <a:off x="3336" y="1736"/>
              <a:ext cx="5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2200">
                  <a:solidFill>
                    <a:srgbClr val="000000"/>
                  </a:solidFill>
                  <a:latin typeface="Times New Roman" panose="02020603050405020304" pitchFamily="18" charset="0"/>
                </a:rPr>
                <a:t>)</a:t>
              </a:r>
              <a:endParaRPr kumimoji="0" lang="en-US" altLang="zh-CN" sz="4800" b="1">
                <a:solidFill>
                  <a:srgbClr val="000066"/>
                </a:solidFill>
                <a:latin typeface="Times New Roman" panose="02020603050405020304" pitchFamily="18" charset="0"/>
              </a:endParaRPr>
            </a:p>
          </p:txBody>
        </p:sp>
        <p:sp>
          <p:nvSpPr>
            <p:cNvPr id="64545" name="Rectangle 54">
              <a:extLst>
                <a:ext uri="{FF2B5EF4-FFF2-40B4-BE49-F238E27FC236}">
                  <a16:creationId xmlns:a16="http://schemas.microsoft.com/office/drawing/2014/main" id="{358D2DC3-BCF6-49A1-B0CC-0E96311668BD}"/>
                </a:ext>
              </a:extLst>
            </p:cNvPr>
            <p:cNvSpPr>
              <a:spLocks noChangeArrowheads="1"/>
            </p:cNvSpPr>
            <p:nvPr/>
          </p:nvSpPr>
          <p:spPr bwMode="auto">
            <a:xfrm>
              <a:off x="3196" y="1795"/>
              <a:ext cx="109"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700" i="1">
                  <a:solidFill>
                    <a:srgbClr val="000000"/>
                  </a:solidFill>
                  <a:latin typeface="Times New Roman" panose="02020603050405020304" pitchFamily="18" charset="0"/>
                </a:rPr>
                <a:t>W</a:t>
              </a:r>
              <a:endParaRPr kumimoji="0" lang="en-US" altLang="zh-CN" sz="4800" b="1">
                <a:solidFill>
                  <a:srgbClr val="000066"/>
                </a:solidFill>
                <a:latin typeface="Times New Roman" panose="02020603050405020304" pitchFamily="18" charset="0"/>
              </a:endParaRPr>
            </a:p>
          </p:txBody>
        </p:sp>
        <p:sp>
          <p:nvSpPr>
            <p:cNvPr id="64546" name="Rectangle 55">
              <a:extLst>
                <a:ext uri="{FF2B5EF4-FFF2-40B4-BE49-F238E27FC236}">
                  <a16:creationId xmlns:a16="http://schemas.microsoft.com/office/drawing/2014/main" id="{09D942B7-FDA5-48BB-B4B9-27A9BE8B4098}"/>
                </a:ext>
              </a:extLst>
            </p:cNvPr>
            <p:cNvSpPr>
              <a:spLocks noChangeArrowheads="1"/>
            </p:cNvSpPr>
            <p:nvPr/>
          </p:nvSpPr>
          <p:spPr bwMode="auto">
            <a:xfrm>
              <a:off x="3060" y="1795"/>
              <a:ext cx="8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700" i="1">
                  <a:solidFill>
                    <a:srgbClr val="000000"/>
                  </a:solidFill>
                  <a:latin typeface="Times New Roman" panose="02020603050405020304" pitchFamily="18" charset="0"/>
                </a:rPr>
                <a:t>N</a:t>
              </a:r>
              <a:endParaRPr kumimoji="0" lang="en-US" altLang="zh-CN" sz="4800" b="1">
                <a:solidFill>
                  <a:srgbClr val="000066"/>
                </a:solidFill>
                <a:latin typeface="Times New Roman" panose="02020603050405020304" pitchFamily="18" charset="0"/>
              </a:endParaRPr>
            </a:p>
          </p:txBody>
        </p:sp>
        <p:sp>
          <p:nvSpPr>
            <p:cNvPr id="64547" name="Rectangle 56">
              <a:extLst>
                <a:ext uri="{FF2B5EF4-FFF2-40B4-BE49-F238E27FC236}">
                  <a16:creationId xmlns:a16="http://schemas.microsoft.com/office/drawing/2014/main" id="{E050DDA8-D32B-4CBC-86B3-DF2BD4D1E2A0}"/>
                </a:ext>
              </a:extLst>
            </p:cNvPr>
            <p:cNvSpPr>
              <a:spLocks noChangeArrowheads="1"/>
            </p:cNvSpPr>
            <p:nvPr/>
          </p:nvSpPr>
          <p:spPr bwMode="auto">
            <a:xfrm>
              <a:off x="3398" y="1826"/>
              <a:ext cx="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300">
                  <a:solidFill>
                    <a:srgbClr val="000000"/>
                  </a:solidFill>
                  <a:latin typeface="Times New Roman" panose="02020603050405020304" pitchFamily="18" charset="0"/>
                </a:rPr>
                <a:t> </a:t>
              </a:r>
              <a:endParaRPr kumimoji="0" lang="zh-CN" altLang="en-US" sz="4800" b="1">
                <a:solidFill>
                  <a:srgbClr val="000066"/>
                </a:solidFill>
                <a:latin typeface="Times New Roman" panose="02020603050405020304" pitchFamily="18" charset="0"/>
              </a:endParaRPr>
            </a:p>
          </p:txBody>
        </p:sp>
        <p:sp>
          <p:nvSpPr>
            <p:cNvPr id="64548" name="Line 57">
              <a:extLst>
                <a:ext uri="{FF2B5EF4-FFF2-40B4-BE49-F238E27FC236}">
                  <a16:creationId xmlns:a16="http://schemas.microsoft.com/office/drawing/2014/main" id="{462729DE-C5FA-4381-9450-822FFF229DD0}"/>
                </a:ext>
              </a:extLst>
            </p:cNvPr>
            <p:cNvSpPr>
              <a:spLocks noChangeShapeType="1"/>
            </p:cNvSpPr>
            <p:nvPr/>
          </p:nvSpPr>
          <p:spPr bwMode="auto">
            <a:xfrm>
              <a:off x="3428" y="2412"/>
              <a:ext cx="249"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49" name="Freeform 58">
              <a:extLst>
                <a:ext uri="{FF2B5EF4-FFF2-40B4-BE49-F238E27FC236}">
                  <a16:creationId xmlns:a16="http://schemas.microsoft.com/office/drawing/2014/main" id="{863A23EA-BF06-472C-95C6-192C7FE52233}"/>
                </a:ext>
              </a:extLst>
            </p:cNvPr>
            <p:cNvSpPr>
              <a:spLocks/>
            </p:cNvSpPr>
            <p:nvPr/>
          </p:nvSpPr>
          <p:spPr bwMode="auto">
            <a:xfrm>
              <a:off x="3348" y="2387"/>
              <a:ext cx="91" cy="54"/>
            </a:xfrm>
            <a:custGeom>
              <a:avLst/>
              <a:gdLst>
                <a:gd name="T0" fmla="*/ 1 w 182"/>
                <a:gd name="T1" fmla="*/ 0 h 108"/>
                <a:gd name="T2" fmla="*/ 0 w 182"/>
                <a:gd name="T3" fmla="*/ 1 h 108"/>
                <a:gd name="T4" fmla="*/ 1 w 182"/>
                <a:gd name="T5" fmla="*/ 1 h 108"/>
                <a:gd name="T6" fmla="*/ 1 w 182"/>
                <a:gd name="T7" fmla="*/ 0 h 108"/>
                <a:gd name="T8" fmla="*/ 0 60000 65536"/>
                <a:gd name="T9" fmla="*/ 0 60000 65536"/>
                <a:gd name="T10" fmla="*/ 0 60000 65536"/>
                <a:gd name="T11" fmla="*/ 0 60000 65536"/>
                <a:gd name="T12" fmla="*/ 0 w 182"/>
                <a:gd name="T13" fmla="*/ 0 h 108"/>
                <a:gd name="T14" fmla="*/ 182 w 182"/>
                <a:gd name="T15" fmla="*/ 108 h 108"/>
              </a:gdLst>
              <a:ahLst/>
              <a:cxnLst>
                <a:cxn ang="T8">
                  <a:pos x="T0" y="T1"/>
                </a:cxn>
                <a:cxn ang="T9">
                  <a:pos x="T2" y="T3"/>
                </a:cxn>
                <a:cxn ang="T10">
                  <a:pos x="T4" y="T5"/>
                </a:cxn>
                <a:cxn ang="T11">
                  <a:pos x="T6" y="T7"/>
                </a:cxn>
              </a:cxnLst>
              <a:rect l="T12" t="T13" r="T14" b="T15"/>
              <a:pathLst>
                <a:path w="182" h="108">
                  <a:moveTo>
                    <a:pt x="182" y="0"/>
                  </a:moveTo>
                  <a:lnTo>
                    <a:pt x="0" y="50"/>
                  </a:lnTo>
                  <a:lnTo>
                    <a:pt x="182" y="108"/>
                  </a:lnTo>
                  <a:lnTo>
                    <a:pt x="18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a typeface="宋体" panose="02010600030101010101" pitchFamily="2" charset="-122"/>
              </a:endParaRPr>
            </a:p>
          </p:txBody>
        </p:sp>
        <p:sp>
          <p:nvSpPr>
            <p:cNvPr id="64550" name="Line 59">
              <a:extLst>
                <a:ext uri="{FF2B5EF4-FFF2-40B4-BE49-F238E27FC236}">
                  <a16:creationId xmlns:a16="http://schemas.microsoft.com/office/drawing/2014/main" id="{5D04EB33-3199-4417-8908-ACA878E7BEFC}"/>
                </a:ext>
              </a:extLst>
            </p:cNvPr>
            <p:cNvSpPr>
              <a:spLocks noChangeShapeType="1"/>
            </p:cNvSpPr>
            <p:nvPr/>
          </p:nvSpPr>
          <p:spPr bwMode="auto">
            <a:xfrm flipH="1">
              <a:off x="3983" y="2412"/>
              <a:ext cx="25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51" name="Freeform 60">
              <a:extLst>
                <a:ext uri="{FF2B5EF4-FFF2-40B4-BE49-F238E27FC236}">
                  <a16:creationId xmlns:a16="http://schemas.microsoft.com/office/drawing/2014/main" id="{4C14F9F6-61A3-469A-9359-33A3057A4016}"/>
                </a:ext>
              </a:extLst>
            </p:cNvPr>
            <p:cNvSpPr>
              <a:spLocks/>
            </p:cNvSpPr>
            <p:nvPr/>
          </p:nvSpPr>
          <p:spPr bwMode="auto">
            <a:xfrm>
              <a:off x="4225" y="2387"/>
              <a:ext cx="92" cy="54"/>
            </a:xfrm>
            <a:custGeom>
              <a:avLst/>
              <a:gdLst>
                <a:gd name="T0" fmla="*/ 0 w 184"/>
                <a:gd name="T1" fmla="*/ 1 h 108"/>
                <a:gd name="T2" fmla="*/ 1 w 184"/>
                <a:gd name="T3" fmla="*/ 1 h 108"/>
                <a:gd name="T4" fmla="*/ 0 w 184"/>
                <a:gd name="T5" fmla="*/ 0 h 108"/>
                <a:gd name="T6" fmla="*/ 0 w 184"/>
                <a:gd name="T7" fmla="*/ 1 h 108"/>
                <a:gd name="T8" fmla="*/ 0 60000 65536"/>
                <a:gd name="T9" fmla="*/ 0 60000 65536"/>
                <a:gd name="T10" fmla="*/ 0 60000 65536"/>
                <a:gd name="T11" fmla="*/ 0 60000 65536"/>
                <a:gd name="T12" fmla="*/ 0 w 184"/>
                <a:gd name="T13" fmla="*/ 0 h 108"/>
                <a:gd name="T14" fmla="*/ 184 w 184"/>
                <a:gd name="T15" fmla="*/ 108 h 108"/>
              </a:gdLst>
              <a:ahLst/>
              <a:cxnLst>
                <a:cxn ang="T8">
                  <a:pos x="T0" y="T1"/>
                </a:cxn>
                <a:cxn ang="T9">
                  <a:pos x="T2" y="T3"/>
                </a:cxn>
                <a:cxn ang="T10">
                  <a:pos x="T4" y="T5"/>
                </a:cxn>
                <a:cxn ang="T11">
                  <a:pos x="T6" y="T7"/>
                </a:cxn>
              </a:cxnLst>
              <a:rect l="T12" t="T13" r="T14" b="T15"/>
              <a:pathLst>
                <a:path w="184" h="108">
                  <a:moveTo>
                    <a:pt x="0" y="108"/>
                  </a:moveTo>
                  <a:lnTo>
                    <a:pt x="184" y="50"/>
                  </a:lnTo>
                  <a:lnTo>
                    <a:pt x="0" y="0"/>
                  </a:lnTo>
                  <a:lnTo>
                    <a:pt x="0"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a typeface="宋体" panose="02010600030101010101" pitchFamily="2" charset="-122"/>
              </a:endParaRPr>
            </a:p>
          </p:txBody>
        </p:sp>
        <p:sp>
          <p:nvSpPr>
            <p:cNvPr id="64552" name="Rectangle 61">
              <a:extLst>
                <a:ext uri="{FF2B5EF4-FFF2-40B4-BE49-F238E27FC236}">
                  <a16:creationId xmlns:a16="http://schemas.microsoft.com/office/drawing/2014/main" id="{6BAAFEB2-67F5-4493-A14D-7FA30557554A}"/>
                </a:ext>
              </a:extLst>
            </p:cNvPr>
            <p:cNvSpPr>
              <a:spLocks noChangeArrowheads="1"/>
            </p:cNvSpPr>
            <p:nvPr/>
          </p:nvSpPr>
          <p:spPr bwMode="auto">
            <a:xfrm>
              <a:off x="3817" y="2345"/>
              <a:ext cx="109"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700" i="1">
                  <a:solidFill>
                    <a:srgbClr val="000000"/>
                  </a:solidFill>
                  <a:latin typeface="Times New Roman" panose="02020603050405020304" pitchFamily="18" charset="0"/>
                </a:rPr>
                <a:t>W</a:t>
              </a:r>
              <a:endParaRPr kumimoji="0" lang="en-US" altLang="zh-CN" sz="4800" b="1">
                <a:solidFill>
                  <a:srgbClr val="000066"/>
                </a:solidFill>
                <a:latin typeface="Times New Roman" panose="02020603050405020304" pitchFamily="18" charset="0"/>
              </a:endParaRPr>
            </a:p>
          </p:txBody>
        </p:sp>
        <p:sp>
          <p:nvSpPr>
            <p:cNvPr id="64553" name="Rectangle 62">
              <a:extLst>
                <a:ext uri="{FF2B5EF4-FFF2-40B4-BE49-F238E27FC236}">
                  <a16:creationId xmlns:a16="http://schemas.microsoft.com/office/drawing/2014/main" id="{AC9F76D7-4E98-4888-9F78-DABE358FF737}"/>
                </a:ext>
              </a:extLst>
            </p:cNvPr>
            <p:cNvSpPr>
              <a:spLocks noChangeArrowheads="1"/>
            </p:cNvSpPr>
            <p:nvPr/>
          </p:nvSpPr>
          <p:spPr bwMode="auto">
            <a:xfrm>
              <a:off x="3970" y="2380"/>
              <a:ext cx="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300">
                  <a:solidFill>
                    <a:srgbClr val="000000"/>
                  </a:solidFill>
                  <a:latin typeface="Times New Roman" panose="02020603050405020304" pitchFamily="18" charset="0"/>
                </a:rPr>
                <a:t> </a:t>
              </a:r>
              <a:endParaRPr kumimoji="0" lang="zh-CN" altLang="en-US" sz="4800" b="1">
                <a:solidFill>
                  <a:srgbClr val="000066"/>
                </a:solidFill>
                <a:latin typeface="Times New Roman" panose="02020603050405020304" pitchFamily="18" charset="0"/>
              </a:endParaRPr>
            </a:p>
          </p:txBody>
        </p:sp>
        <p:sp>
          <p:nvSpPr>
            <p:cNvPr id="64554" name="Line 63">
              <a:extLst>
                <a:ext uri="{FF2B5EF4-FFF2-40B4-BE49-F238E27FC236}">
                  <a16:creationId xmlns:a16="http://schemas.microsoft.com/office/drawing/2014/main" id="{F93D156A-DDC1-4466-9C35-9841F45E7233}"/>
                </a:ext>
              </a:extLst>
            </p:cNvPr>
            <p:cNvSpPr>
              <a:spLocks noChangeShapeType="1"/>
            </p:cNvSpPr>
            <p:nvPr/>
          </p:nvSpPr>
          <p:spPr bwMode="auto">
            <a:xfrm>
              <a:off x="4448" y="2408"/>
              <a:ext cx="250"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55" name="Freeform 64">
              <a:extLst>
                <a:ext uri="{FF2B5EF4-FFF2-40B4-BE49-F238E27FC236}">
                  <a16:creationId xmlns:a16="http://schemas.microsoft.com/office/drawing/2014/main" id="{6E71D98B-87D4-4435-9CAF-07AEF3524532}"/>
                </a:ext>
              </a:extLst>
            </p:cNvPr>
            <p:cNvSpPr>
              <a:spLocks/>
            </p:cNvSpPr>
            <p:nvPr/>
          </p:nvSpPr>
          <p:spPr bwMode="auto">
            <a:xfrm>
              <a:off x="4372" y="2383"/>
              <a:ext cx="88" cy="54"/>
            </a:xfrm>
            <a:custGeom>
              <a:avLst/>
              <a:gdLst>
                <a:gd name="T0" fmla="*/ 1 w 175"/>
                <a:gd name="T1" fmla="*/ 0 h 108"/>
                <a:gd name="T2" fmla="*/ 0 w 175"/>
                <a:gd name="T3" fmla="*/ 1 h 108"/>
                <a:gd name="T4" fmla="*/ 1 w 175"/>
                <a:gd name="T5" fmla="*/ 1 h 108"/>
                <a:gd name="T6" fmla="*/ 1 w 175"/>
                <a:gd name="T7" fmla="*/ 0 h 108"/>
                <a:gd name="T8" fmla="*/ 0 60000 65536"/>
                <a:gd name="T9" fmla="*/ 0 60000 65536"/>
                <a:gd name="T10" fmla="*/ 0 60000 65536"/>
                <a:gd name="T11" fmla="*/ 0 60000 65536"/>
                <a:gd name="T12" fmla="*/ 0 w 175"/>
                <a:gd name="T13" fmla="*/ 0 h 108"/>
                <a:gd name="T14" fmla="*/ 175 w 175"/>
                <a:gd name="T15" fmla="*/ 108 h 108"/>
              </a:gdLst>
              <a:ahLst/>
              <a:cxnLst>
                <a:cxn ang="T8">
                  <a:pos x="T0" y="T1"/>
                </a:cxn>
                <a:cxn ang="T9">
                  <a:pos x="T2" y="T3"/>
                </a:cxn>
                <a:cxn ang="T10">
                  <a:pos x="T4" y="T5"/>
                </a:cxn>
                <a:cxn ang="T11">
                  <a:pos x="T6" y="T7"/>
                </a:cxn>
              </a:cxnLst>
              <a:rect l="T12" t="T13" r="T14" b="T15"/>
              <a:pathLst>
                <a:path w="175" h="108">
                  <a:moveTo>
                    <a:pt x="175" y="0"/>
                  </a:moveTo>
                  <a:lnTo>
                    <a:pt x="0" y="59"/>
                  </a:lnTo>
                  <a:lnTo>
                    <a:pt x="175" y="108"/>
                  </a:lnTo>
                  <a:lnTo>
                    <a:pt x="17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Times New Roman" panose="02020603050405020304" pitchFamily="18" charset="0"/>
                <a:ea typeface="宋体" panose="02010600030101010101" pitchFamily="2" charset="-122"/>
              </a:endParaRPr>
            </a:p>
          </p:txBody>
        </p:sp>
        <p:sp>
          <p:nvSpPr>
            <p:cNvPr id="64556" name="Rectangle 65">
              <a:extLst>
                <a:ext uri="{FF2B5EF4-FFF2-40B4-BE49-F238E27FC236}">
                  <a16:creationId xmlns:a16="http://schemas.microsoft.com/office/drawing/2014/main" id="{BDB823A1-9272-44B2-AC63-283079010587}"/>
                </a:ext>
              </a:extLst>
            </p:cNvPr>
            <p:cNvSpPr>
              <a:spLocks noChangeArrowheads="1"/>
            </p:cNvSpPr>
            <p:nvPr/>
          </p:nvSpPr>
          <p:spPr bwMode="auto">
            <a:xfrm>
              <a:off x="4537" y="2242"/>
              <a:ext cx="174"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en-US" altLang="zh-CN" sz="1700" i="1">
                  <a:solidFill>
                    <a:srgbClr val="000000"/>
                  </a:solidFill>
                  <a:latin typeface="Times New Roman" panose="02020603050405020304" pitchFamily="18" charset="0"/>
                </a:rPr>
                <a:t>dW</a:t>
              </a:r>
              <a:endParaRPr kumimoji="0" lang="en-US" altLang="zh-CN" sz="4800" b="1">
                <a:solidFill>
                  <a:srgbClr val="000066"/>
                </a:solidFill>
                <a:latin typeface="Times New Roman" panose="02020603050405020304" pitchFamily="18" charset="0"/>
              </a:endParaRPr>
            </a:p>
          </p:txBody>
        </p:sp>
        <p:sp>
          <p:nvSpPr>
            <p:cNvPr id="64557" name="Rectangle 66">
              <a:extLst>
                <a:ext uri="{FF2B5EF4-FFF2-40B4-BE49-F238E27FC236}">
                  <a16:creationId xmlns:a16="http://schemas.microsoft.com/office/drawing/2014/main" id="{29E29D85-8775-4347-8E34-F4393CE682B4}"/>
                </a:ext>
              </a:extLst>
            </p:cNvPr>
            <p:cNvSpPr>
              <a:spLocks noChangeArrowheads="1"/>
            </p:cNvSpPr>
            <p:nvPr/>
          </p:nvSpPr>
          <p:spPr bwMode="auto">
            <a:xfrm>
              <a:off x="4760" y="2276"/>
              <a:ext cx="2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300">
                  <a:solidFill>
                    <a:srgbClr val="000000"/>
                  </a:solidFill>
                  <a:latin typeface="Times New Roman" panose="02020603050405020304" pitchFamily="18" charset="0"/>
                </a:rPr>
                <a:t> </a:t>
              </a:r>
              <a:endParaRPr kumimoji="0" lang="zh-CN" altLang="en-US" sz="4800" b="1">
                <a:solidFill>
                  <a:srgbClr val="000066"/>
                </a:solidFill>
                <a:latin typeface="Times New Roman" panose="02020603050405020304" pitchFamily="18" charset="0"/>
              </a:endParaRPr>
            </a:p>
          </p:txBody>
        </p:sp>
      </p:grpSp>
      <p:graphicFrame>
        <p:nvGraphicFramePr>
          <p:cNvPr id="468037" name="Object 69">
            <a:extLst>
              <a:ext uri="{FF2B5EF4-FFF2-40B4-BE49-F238E27FC236}">
                <a16:creationId xmlns:a16="http://schemas.microsoft.com/office/drawing/2014/main" id="{E610D3C9-A263-4339-8544-09794B000438}"/>
              </a:ext>
            </a:extLst>
          </p:cNvPr>
          <p:cNvGraphicFramePr>
            <a:graphicFrameLocks noChangeAspect="1"/>
          </p:cNvGraphicFramePr>
          <p:nvPr/>
        </p:nvGraphicFramePr>
        <p:xfrm>
          <a:off x="4583113" y="2781300"/>
          <a:ext cx="1993900" cy="388938"/>
        </p:xfrm>
        <a:graphic>
          <a:graphicData uri="http://schemas.openxmlformats.org/presentationml/2006/ole">
            <mc:AlternateContent xmlns:mc="http://schemas.openxmlformats.org/markup-compatibility/2006">
              <mc:Choice xmlns:v="urn:schemas-microsoft-com:vml" Requires="v">
                <p:oleObj spid="_x0000_s109720" name="公式" r:id="rId3" imgW="1130040" imgH="215640" progId="Equation.3">
                  <p:embed/>
                </p:oleObj>
              </mc:Choice>
              <mc:Fallback>
                <p:oleObj name="公式" r:id="rId3" imgW="1130040" imgH="215640" progId="Equation.3">
                  <p:embed/>
                  <p:pic>
                    <p:nvPicPr>
                      <p:cNvPr id="468037" name="Object 69">
                        <a:extLst>
                          <a:ext uri="{FF2B5EF4-FFF2-40B4-BE49-F238E27FC236}">
                            <a16:creationId xmlns:a16="http://schemas.microsoft.com/office/drawing/2014/main" id="{E610D3C9-A263-4339-8544-09794B0004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113" y="2781300"/>
                        <a:ext cx="199390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79">
            <a:extLst>
              <a:ext uri="{FF2B5EF4-FFF2-40B4-BE49-F238E27FC236}">
                <a16:creationId xmlns:a16="http://schemas.microsoft.com/office/drawing/2014/main" id="{BDB606FC-9703-4AFB-A294-F2CB81578551}"/>
              </a:ext>
            </a:extLst>
          </p:cNvPr>
          <p:cNvGrpSpPr>
            <a:grpSpLocks/>
          </p:cNvGrpSpPr>
          <p:nvPr/>
        </p:nvGrpSpPr>
        <p:grpSpPr bwMode="auto">
          <a:xfrm>
            <a:off x="4500563" y="3357563"/>
            <a:ext cx="4319587" cy="1200150"/>
            <a:chOff x="2835" y="2115"/>
            <a:chExt cx="2721" cy="756"/>
          </a:xfrm>
        </p:grpSpPr>
        <p:sp>
          <p:nvSpPr>
            <p:cNvPr id="64525" name="Rectangle 70">
              <a:extLst>
                <a:ext uri="{FF2B5EF4-FFF2-40B4-BE49-F238E27FC236}">
                  <a16:creationId xmlns:a16="http://schemas.microsoft.com/office/drawing/2014/main" id="{E1A443B7-077D-48C6-81D3-A0C08067EB2E}"/>
                </a:ext>
              </a:extLst>
            </p:cNvPr>
            <p:cNvSpPr>
              <a:spLocks noChangeArrowheads="1"/>
            </p:cNvSpPr>
            <p:nvPr/>
          </p:nvSpPr>
          <p:spPr bwMode="auto">
            <a:xfrm>
              <a:off x="2835" y="2115"/>
              <a:ext cx="2721"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lang="ko-KR" altLang="en-US" sz="2000" b="1" dirty="0">
                  <a:solidFill>
                    <a:srgbClr val="000066"/>
                  </a:solidFill>
                  <a:latin typeface="Times New Roman" panose="02020603050405020304" pitchFamily="18" charset="0"/>
                </a:rPr>
                <a:t>式中    </a:t>
              </a:r>
              <a:r>
                <a:rPr lang="ko-KR" altLang="zh-CN" sz="2000" b="1" dirty="0">
                  <a:solidFill>
                    <a:srgbClr val="000066"/>
                  </a:solidFill>
                  <a:latin typeface="Times New Roman" panose="02020603050405020304" pitchFamily="18" charset="0"/>
                </a:rPr>
                <a:t> </a:t>
              </a:r>
              <a:r>
                <a:rPr lang="ko-KR" altLang="en-US" sz="2000" b="1" dirty="0">
                  <a:solidFill>
                    <a:srgbClr val="000066"/>
                  </a:solidFill>
                  <a:latin typeface="Times New Roman" panose="02020603050405020304" pitchFamily="18" charset="0"/>
                </a:rPr>
                <a:t>    是在空间电荷层边缘   处的杂质浓度。由泊松方程，电场增量是与电荷增量之间</a:t>
              </a:r>
              <a:r>
                <a:rPr lang="zh-CN" altLang="en-US" sz="2000" b="1" dirty="0">
                  <a:solidFill>
                    <a:srgbClr val="000066"/>
                  </a:solidFill>
                  <a:latin typeface="Times New Roman" panose="02020603050405020304" pitchFamily="18" charset="0"/>
                </a:rPr>
                <a:t>具有如下关系：</a:t>
              </a:r>
            </a:p>
          </p:txBody>
        </p:sp>
        <p:graphicFrame>
          <p:nvGraphicFramePr>
            <p:cNvPr id="64526" name="Object 71">
              <a:extLst>
                <a:ext uri="{FF2B5EF4-FFF2-40B4-BE49-F238E27FC236}">
                  <a16:creationId xmlns:a16="http://schemas.microsoft.com/office/drawing/2014/main" id="{9F345CCC-83AB-460F-8C42-587B9DEB22CD}"/>
                </a:ext>
              </a:extLst>
            </p:cNvPr>
            <p:cNvGraphicFramePr>
              <a:graphicFrameLocks noChangeAspect="1"/>
            </p:cNvGraphicFramePr>
            <p:nvPr>
              <p:extLst>
                <p:ext uri="{D42A27DB-BD31-4B8C-83A1-F6EECF244321}">
                  <p14:modId xmlns:p14="http://schemas.microsoft.com/office/powerpoint/2010/main" val="2798936537"/>
                </p:ext>
              </p:extLst>
            </p:nvPr>
          </p:nvGraphicFramePr>
          <p:xfrm>
            <a:off x="3265" y="2140"/>
            <a:ext cx="384" cy="205"/>
          </p:xfrm>
          <a:graphic>
            <a:graphicData uri="http://schemas.openxmlformats.org/presentationml/2006/ole">
              <mc:AlternateContent xmlns:mc="http://schemas.openxmlformats.org/markup-compatibility/2006">
                <mc:Choice xmlns:v="urn:schemas-microsoft-com:vml" Requires="v">
                  <p:oleObj spid="_x0000_s109721" r:id="rId5" imgW="406048" imgH="215713" progId="Equation.3">
                    <p:embed/>
                  </p:oleObj>
                </mc:Choice>
                <mc:Fallback>
                  <p:oleObj r:id="rId5" imgW="406048" imgH="215713" progId="Equation.3">
                    <p:embed/>
                    <p:pic>
                      <p:nvPicPr>
                        <p:cNvPr id="64526" name="Object 71">
                          <a:extLst>
                            <a:ext uri="{FF2B5EF4-FFF2-40B4-BE49-F238E27FC236}">
                              <a16:creationId xmlns:a16="http://schemas.microsoft.com/office/drawing/2014/main" id="{9F345CCC-83AB-460F-8C42-587B9DEB22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5" y="2140"/>
                          <a:ext cx="38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7" name="Object 72">
              <a:extLst>
                <a:ext uri="{FF2B5EF4-FFF2-40B4-BE49-F238E27FC236}">
                  <a16:creationId xmlns:a16="http://schemas.microsoft.com/office/drawing/2014/main" id="{D6FA3721-40E6-4E81-BCB1-F9DB266D2B4C}"/>
                </a:ext>
              </a:extLst>
            </p:cNvPr>
            <p:cNvGraphicFramePr>
              <a:graphicFrameLocks noChangeAspect="1"/>
            </p:cNvGraphicFramePr>
            <p:nvPr/>
          </p:nvGraphicFramePr>
          <p:xfrm>
            <a:off x="5092" y="2160"/>
            <a:ext cx="192" cy="192"/>
          </p:xfrm>
          <a:graphic>
            <a:graphicData uri="http://schemas.openxmlformats.org/presentationml/2006/ole">
              <mc:AlternateContent xmlns:mc="http://schemas.openxmlformats.org/markup-compatibility/2006">
                <mc:Choice xmlns:v="urn:schemas-microsoft-com:vml" Requires="v">
                  <p:oleObj spid="_x0000_s109722" r:id="rId7" imgW="177492" imgH="177492" progId="Equation.3">
                    <p:embed/>
                  </p:oleObj>
                </mc:Choice>
                <mc:Fallback>
                  <p:oleObj r:id="rId7" imgW="177492" imgH="177492" progId="Equation.3">
                    <p:embed/>
                    <p:pic>
                      <p:nvPicPr>
                        <p:cNvPr id="64527" name="Object 72">
                          <a:extLst>
                            <a:ext uri="{FF2B5EF4-FFF2-40B4-BE49-F238E27FC236}">
                              <a16:creationId xmlns:a16="http://schemas.microsoft.com/office/drawing/2014/main" id="{D6FA3721-40E6-4E81-BCB1-F9DB266D2B4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92" y="216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68044" name="Rectangle 76">
            <a:extLst>
              <a:ext uri="{FF2B5EF4-FFF2-40B4-BE49-F238E27FC236}">
                <a16:creationId xmlns:a16="http://schemas.microsoft.com/office/drawing/2014/main" id="{104B755E-812E-4E56-8327-B90B34ABF5B9}"/>
              </a:ext>
            </a:extLst>
          </p:cNvPr>
          <p:cNvSpPr>
            <a:spLocks noChangeArrowheads="1"/>
          </p:cNvSpPr>
          <p:nvPr/>
        </p:nvSpPr>
        <p:spPr bwMode="auto">
          <a:xfrm>
            <a:off x="611188" y="5516563"/>
            <a:ext cx="426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rPr>
              <a:t>电场增量偏压增量的具有如下关系：</a:t>
            </a:r>
            <a:r>
              <a:rPr lang="ko-KR" altLang="en-US" sz="900">
                <a:latin typeface="Times New Roman" panose="02020603050405020304" pitchFamily="18" charset="0"/>
              </a:rPr>
              <a:t> </a:t>
            </a:r>
            <a:endParaRPr lang="ko-KR" altLang="en-US">
              <a:latin typeface="Times New Roman" panose="02020603050405020304" pitchFamily="18" charset="0"/>
              <a:ea typeface="Gulim" panose="020B0600000101010101" pitchFamily="34" charset="-127"/>
            </a:endParaRPr>
          </a:p>
        </p:txBody>
      </p:sp>
      <p:graphicFrame>
        <p:nvGraphicFramePr>
          <p:cNvPr id="468045" name="Object 77">
            <a:extLst>
              <a:ext uri="{FF2B5EF4-FFF2-40B4-BE49-F238E27FC236}">
                <a16:creationId xmlns:a16="http://schemas.microsoft.com/office/drawing/2014/main" id="{C1DE27DB-8F9C-4B0E-B02B-78FF10A96372}"/>
              </a:ext>
            </a:extLst>
          </p:cNvPr>
          <p:cNvGraphicFramePr>
            <a:graphicFrameLocks noChangeAspect="1"/>
          </p:cNvGraphicFramePr>
          <p:nvPr/>
        </p:nvGraphicFramePr>
        <p:xfrm>
          <a:off x="5065713" y="5373688"/>
          <a:ext cx="1089025" cy="717550"/>
        </p:xfrm>
        <a:graphic>
          <a:graphicData uri="http://schemas.openxmlformats.org/presentationml/2006/ole">
            <mc:AlternateContent xmlns:mc="http://schemas.openxmlformats.org/markup-compatibility/2006">
              <mc:Choice xmlns:v="urn:schemas-microsoft-com:vml" Requires="v">
                <p:oleObj spid="_x0000_s109723" name="Equation" r:id="rId9" imgW="596641" imgH="393529" progId="Equation.DSMT4">
                  <p:embed/>
                </p:oleObj>
              </mc:Choice>
              <mc:Fallback>
                <p:oleObj name="Equation" r:id="rId9" imgW="596641" imgH="393529" progId="Equation.DSMT4">
                  <p:embed/>
                  <p:pic>
                    <p:nvPicPr>
                      <p:cNvPr id="468045" name="Object 77">
                        <a:extLst>
                          <a:ext uri="{FF2B5EF4-FFF2-40B4-BE49-F238E27FC236}">
                            <a16:creationId xmlns:a16="http://schemas.microsoft.com/office/drawing/2014/main" id="{C1DE27DB-8F9C-4B0E-B02B-78FF10A9637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65713" y="5373688"/>
                        <a:ext cx="108902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8046" name="Rectangle 78">
            <a:extLst>
              <a:ext uri="{FF2B5EF4-FFF2-40B4-BE49-F238E27FC236}">
                <a16:creationId xmlns:a16="http://schemas.microsoft.com/office/drawing/2014/main" id="{97E4B849-A92C-432F-8597-60CEE205D3F6}"/>
              </a:ext>
            </a:extLst>
          </p:cNvPr>
          <p:cNvSpPr>
            <a:spLocks noChangeArrowheads="1"/>
          </p:cNvSpPr>
          <p:nvPr/>
        </p:nvSpPr>
        <p:spPr bwMode="auto">
          <a:xfrm>
            <a:off x="6516688" y="5516563"/>
            <a:ext cx="1352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ko-KR" altLang="en-US" sz="2000" b="1">
                <a:solidFill>
                  <a:srgbClr val="000066"/>
                </a:solidFill>
                <a:latin typeface="Times New Roman" panose="02020603050405020304" pitchFamily="18" charset="0"/>
              </a:rPr>
              <a:t>（</a:t>
            </a:r>
            <a:r>
              <a:rPr lang="en-US" altLang="ko-KR" sz="2000" b="1">
                <a:solidFill>
                  <a:srgbClr val="000066"/>
                </a:solidFill>
                <a:latin typeface="Times New Roman" panose="02020603050405020304" pitchFamily="18" charset="0"/>
              </a:rPr>
              <a:t>2-7-9</a:t>
            </a:r>
            <a:r>
              <a:rPr lang="ko-KR" altLang="en-US" sz="2000" b="1">
                <a:solidFill>
                  <a:srgbClr val="000066"/>
                </a:solidFill>
                <a:latin typeface="Times New Roman" panose="02020603050405020304" pitchFamily="18" charset="0"/>
              </a:rPr>
              <a:t>）</a:t>
            </a:r>
            <a:endParaRPr lang="zh-CN" altLang="en-US" sz="2000" b="1">
              <a:solidFill>
                <a:srgbClr val="000066"/>
              </a:solidFill>
              <a:latin typeface="Times New Roman" panose="02020603050405020304" pitchFamily="18" charset="0"/>
            </a:endParaRPr>
          </a:p>
        </p:txBody>
      </p:sp>
      <p:graphicFrame>
        <p:nvGraphicFramePr>
          <p:cNvPr id="64559" name="Object 47">
            <a:extLst>
              <a:ext uri="{FF2B5EF4-FFF2-40B4-BE49-F238E27FC236}">
                <a16:creationId xmlns:a16="http://schemas.microsoft.com/office/drawing/2014/main" id="{D7883C37-BE7D-4489-89DB-BEC39015C08A}"/>
              </a:ext>
            </a:extLst>
          </p:cNvPr>
          <p:cNvGraphicFramePr>
            <a:graphicFrameLocks noChangeAspect="1"/>
          </p:cNvGraphicFramePr>
          <p:nvPr/>
        </p:nvGraphicFramePr>
        <p:xfrm>
          <a:off x="5508625" y="4508500"/>
          <a:ext cx="1296988" cy="855663"/>
        </p:xfrm>
        <a:graphic>
          <a:graphicData uri="http://schemas.openxmlformats.org/presentationml/2006/ole">
            <mc:AlternateContent xmlns:mc="http://schemas.openxmlformats.org/markup-compatibility/2006">
              <mc:Choice xmlns:v="urn:schemas-microsoft-com:vml" Requires="v">
                <p:oleObj spid="_x0000_s109724" name="公式" r:id="rId11" imgW="596880" imgH="393480" progId="Equation.3">
                  <p:embed/>
                </p:oleObj>
              </mc:Choice>
              <mc:Fallback>
                <p:oleObj name="公式" r:id="rId11" imgW="596880" imgH="393480" progId="Equation.3">
                  <p:embed/>
                  <p:pic>
                    <p:nvPicPr>
                      <p:cNvPr id="64559" name="Object 47">
                        <a:extLst>
                          <a:ext uri="{FF2B5EF4-FFF2-40B4-BE49-F238E27FC236}">
                            <a16:creationId xmlns:a16="http://schemas.microsoft.com/office/drawing/2014/main" id="{D7883C37-BE7D-4489-89DB-BEC39015C08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08625" y="4508500"/>
                        <a:ext cx="1296988"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53500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17FFF999-95E4-44F6-B130-A92D21ABEB41}"/>
              </a:ext>
            </a:extLst>
          </p:cNvPr>
          <p:cNvSpPr>
            <a:spLocks noChangeArrowheads="1"/>
          </p:cNvSpPr>
          <p:nvPr/>
        </p:nvSpPr>
        <p:spPr bwMode="auto">
          <a:xfrm>
            <a:off x="179388" y="1268413"/>
            <a:ext cx="3024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a:solidFill>
                  <a:srgbClr val="993300"/>
                </a:solidFill>
                <a:latin typeface="Times New Roman" panose="02020603050405020304" pitchFamily="18" charset="0"/>
              </a:rPr>
              <a:t>2.</a:t>
            </a:r>
            <a:r>
              <a:rPr kumimoji="0" lang="zh-CN" altLang="en-US" b="1">
                <a:solidFill>
                  <a:srgbClr val="993300"/>
                </a:solidFill>
                <a:latin typeface="Times New Roman" panose="02020603050405020304" pitchFamily="18" charset="0"/>
              </a:rPr>
              <a:t>求杂质分布</a:t>
            </a:r>
            <a:r>
              <a:rPr kumimoji="0" lang="zh-CN" altLang="en-US">
                <a:solidFill>
                  <a:srgbClr val="993300"/>
                </a:solidFill>
                <a:latin typeface="Times New Roman" panose="02020603050405020304" pitchFamily="18" charset="0"/>
              </a:rPr>
              <a:t> </a:t>
            </a:r>
            <a:endParaRPr kumimoji="0" lang="en-US" altLang="zh-CN">
              <a:solidFill>
                <a:srgbClr val="993300"/>
              </a:solidFill>
              <a:latin typeface="Times New Roman" panose="02020603050405020304" pitchFamily="18" charset="0"/>
            </a:endParaRPr>
          </a:p>
        </p:txBody>
      </p:sp>
      <p:graphicFrame>
        <p:nvGraphicFramePr>
          <p:cNvPr id="471081" name="Object 41">
            <a:extLst>
              <a:ext uri="{FF2B5EF4-FFF2-40B4-BE49-F238E27FC236}">
                <a16:creationId xmlns:a16="http://schemas.microsoft.com/office/drawing/2014/main" id="{A2BE7F98-66E9-4F40-9993-32F37F7CABB8}"/>
              </a:ext>
            </a:extLst>
          </p:cNvPr>
          <p:cNvGraphicFramePr>
            <a:graphicFrameLocks noChangeAspect="1"/>
          </p:cNvGraphicFramePr>
          <p:nvPr/>
        </p:nvGraphicFramePr>
        <p:xfrm>
          <a:off x="900113" y="1700213"/>
          <a:ext cx="1219200" cy="731837"/>
        </p:xfrm>
        <a:graphic>
          <a:graphicData uri="http://schemas.openxmlformats.org/presentationml/2006/ole">
            <mc:AlternateContent xmlns:mc="http://schemas.openxmlformats.org/markup-compatibility/2006">
              <mc:Choice xmlns:v="urn:schemas-microsoft-com:vml" Requires="v">
                <p:oleObj spid="_x0000_s110714" name="Equation" r:id="rId3" imgW="710891" imgH="431613" progId="Equation.DSMT4">
                  <p:embed/>
                </p:oleObj>
              </mc:Choice>
              <mc:Fallback>
                <p:oleObj name="Equation" r:id="rId3" imgW="710891" imgH="431613" progId="Equation.DSMT4">
                  <p:embed/>
                  <p:pic>
                    <p:nvPicPr>
                      <p:cNvPr id="471081" name="Object 41">
                        <a:extLst>
                          <a:ext uri="{FF2B5EF4-FFF2-40B4-BE49-F238E27FC236}">
                            <a16:creationId xmlns:a16="http://schemas.microsoft.com/office/drawing/2014/main" id="{A2BE7F98-66E9-4F40-9993-32F37F7CAB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700213"/>
                        <a:ext cx="1219200"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085" name="Rectangle 45">
            <a:extLst>
              <a:ext uri="{FF2B5EF4-FFF2-40B4-BE49-F238E27FC236}">
                <a16:creationId xmlns:a16="http://schemas.microsoft.com/office/drawing/2014/main" id="{F671B703-31FD-49AA-8FDB-11B90F3ED916}"/>
              </a:ext>
            </a:extLst>
          </p:cNvPr>
          <p:cNvSpPr>
            <a:spLocks noChangeArrowheads="1"/>
          </p:cNvSpPr>
          <p:nvPr/>
        </p:nvSpPr>
        <p:spPr bwMode="auto">
          <a:xfrm>
            <a:off x="468313" y="1844675"/>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rPr>
              <a:t>由</a:t>
            </a:r>
            <a:r>
              <a:rPr lang="ko-KR" altLang="en-US" sz="900">
                <a:latin typeface="Times New Roman" panose="02020603050405020304" pitchFamily="18" charset="0"/>
              </a:rPr>
              <a:t> </a:t>
            </a:r>
            <a:endParaRPr lang="ko-KR" altLang="en-US">
              <a:latin typeface="Times New Roman" panose="02020603050405020304" pitchFamily="18" charset="0"/>
              <a:ea typeface="Gulim" panose="020B0600000101010101" pitchFamily="34" charset="-127"/>
            </a:endParaRPr>
          </a:p>
        </p:txBody>
      </p:sp>
      <p:grpSp>
        <p:nvGrpSpPr>
          <p:cNvPr id="2" name="Group 56">
            <a:extLst>
              <a:ext uri="{FF2B5EF4-FFF2-40B4-BE49-F238E27FC236}">
                <a16:creationId xmlns:a16="http://schemas.microsoft.com/office/drawing/2014/main" id="{57F6E899-E982-4AAE-BE3F-9868B50BCFAA}"/>
              </a:ext>
            </a:extLst>
          </p:cNvPr>
          <p:cNvGrpSpPr>
            <a:grpSpLocks/>
          </p:cNvGrpSpPr>
          <p:nvPr/>
        </p:nvGrpSpPr>
        <p:grpSpPr bwMode="auto">
          <a:xfrm>
            <a:off x="2259013" y="1700213"/>
            <a:ext cx="1881187" cy="717550"/>
            <a:chOff x="1423" y="1071"/>
            <a:chExt cx="1185" cy="452"/>
          </a:xfrm>
        </p:grpSpPr>
        <p:graphicFrame>
          <p:nvGraphicFramePr>
            <p:cNvPr id="65549" name="Object 43">
              <a:extLst>
                <a:ext uri="{FF2B5EF4-FFF2-40B4-BE49-F238E27FC236}">
                  <a16:creationId xmlns:a16="http://schemas.microsoft.com/office/drawing/2014/main" id="{B17691AA-0972-4863-AF69-C3FBFD1383B5}"/>
                </a:ext>
              </a:extLst>
            </p:cNvPr>
            <p:cNvGraphicFramePr>
              <a:graphicFrameLocks noChangeAspect="1"/>
            </p:cNvGraphicFramePr>
            <p:nvPr/>
          </p:nvGraphicFramePr>
          <p:xfrm>
            <a:off x="1423" y="1071"/>
            <a:ext cx="686" cy="452"/>
          </p:xfrm>
          <a:graphic>
            <a:graphicData uri="http://schemas.openxmlformats.org/presentationml/2006/ole">
              <mc:AlternateContent xmlns:mc="http://schemas.openxmlformats.org/markup-compatibility/2006">
                <mc:Choice xmlns:v="urn:schemas-microsoft-com:vml" Requires="v">
                  <p:oleObj spid="_x0000_s110715" name="Equation" r:id="rId5" imgW="596641" imgH="393529" progId="Equation.DSMT4">
                    <p:embed/>
                  </p:oleObj>
                </mc:Choice>
                <mc:Fallback>
                  <p:oleObj name="Equation" r:id="rId5" imgW="596641" imgH="393529" progId="Equation.DSMT4">
                    <p:embed/>
                    <p:pic>
                      <p:nvPicPr>
                        <p:cNvPr id="65549" name="Object 43">
                          <a:extLst>
                            <a:ext uri="{FF2B5EF4-FFF2-40B4-BE49-F238E27FC236}">
                              <a16:creationId xmlns:a16="http://schemas.microsoft.com/office/drawing/2014/main" id="{B17691AA-0972-4863-AF69-C3FBFD1383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3" y="1071"/>
                          <a:ext cx="686"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550" name="Rectangle 46">
              <a:extLst>
                <a:ext uri="{FF2B5EF4-FFF2-40B4-BE49-F238E27FC236}">
                  <a16:creationId xmlns:a16="http://schemas.microsoft.com/office/drawing/2014/main" id="{8B8881CE-F1C4-4169-A207-D949EAC82430}"/>
                </a:ext>
              </a:extLst>
            </p:cNvPr>
            <p:cNvSpPr>
              <a:spLocks noChangeArrowheads="1"/>
            </p:cNvSpPr>
            <p:nvPr/>
          </p:nvSpPr>
          <p:spPr bwMode="auto">
            <a:xfrm>
              <a:off x="2109" y="1162"/>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rPr>
                <a:t>得：</a:t>
              </a:r>
              <a:r>
                <a:rPr lang="ko-KR" altLang="en-US" sz="900">
                  <a:latin typeface="Times New Roman" panose="02020603050405020304" pitchFamily="18" charset="0"/>
                </a:rPr>
                <a:t> </a:t>
              </a:r>
              <a:endParaRPr lang="ko-KR" altLang="en-US">
                <a:latin typeface="Times New Roman" panose="02020603050405020304" pitchFamily="18" charset="0"/>
                <a:ea typeface="Gulim" panose="020B0600000101010101" pitchFamily="34" charset="-127"/>
              </a:endParaRPr>
            </a:p>
          </p:txBody>
        </p:sp>
      </p:grpSp>
      <p:graphicFrame>
        <p:nvGraphicFramePr>
          <p:cNvPr id="471089" name="Object 49">
            <a:extLst>
              <a:ext uri="{FF2B5EF4-FFF2-40B4-BE49-F238E27FC236}">
                <a16:creationId xmlns:a16="http://schemas.microsoft.com/office/drawing/2014/main" id="{0423093F-1B1C-49DB-ABF7-5536F7EEF2DF}"/>
              </a:ext>
            </a:extLst>
          </p:cNvPr>
          <p:cNvGraphicFramePr>
            <a:graphicFrameLocks noChangeAspect="1"/>
          </p:cNvGraphicFramePr>
          <p:nvPr/>
        </p:nvGraphicFramePr>
        <p:xfrm>
          <a:off x="1009650" y="2640013"/>
          <a:ext cx="1433513" cy="633412"/>
        </p:xfrm>
        <a:graphic>
          <a:graphicData uri="http://schemas.openxmlformats.org/presentationml/2006/ole">
            <mc:AlternateContent xmlns:mc="http://schemas.openxmlformats.org/markup-compatibility/2006">
              <mc:Choice xmlns:v="urn:schemas-microsoft-com:vml" Requires="v">
                <p:oleObj spid="_x0000_s110716" name="公式" r:id="rId7" imgW="901440" imgH="393480" progId="Equation.3">
                  <p:embed/>
                </p:oleObj>
              </mc:Choice>
              <mc:Fallback>
                <p:oleObj name="公式" r:id="rId7" imgW="901440" imgH="393480" progId="Equation.3">
                  <p:embed/>
                  <p:pic>
                    <p:nvPicPr>
                      <p:cNvPr id="471089" name="Object 49">
                        <a:extLst>
                          <a:ext uri="{FF2B5EF4-FFF2-40B4-BE49-F238E27FC236}">
                            <a16:creationId xmlns:a16="http://schemas.microsoft.com/office/drawing/2014/main" id="{0423093F-1B1C-49DB-ABF7-5536F7EEF2D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9650" y="2640013"/>
                        <a:ext cx="1433513"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090" name="Rectangle 50">
            <a:extLst>
              <a:ext uri="{FF2B5EF4-FFF2-40B4-BE49-F238E27FC236}">
                <a16:creationId xmlns:a16="http://schemas.microsoft.com/office/drawing/2014/main" id="{764BCDD6-BFF2-4612-AEF9-40922E789978}"/>
              </a:ext>
            </a:extLst>
          </p:cNvPr>
          <p:cNvSpPr>
            <a:spLocks noChangeArrowheads="1"/>
          </p:cNvSpPr>
          <p:nvPr/>
        </p:nvSpPr>
        <p:spPr bwMode="auto">
          <a:xfrm>
            <a:off x="2628900" y="2774950"/>
            <a:ext cx="2447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a:solidFill>
                  <a:srgbClr val="000066"/>
                </a:solidFill>
                <a:latin typeface="Times New Roman" panose="02020603050405020304" pitchFamily="18" charset="0"/>
              </a:rPr>
              <a:t>——</a:t>
            </a:r>
            <a:r>
              <a:rPr lang="zh-CN" altLang="en-US" sz="2000" b="1">
                <a:solidFill>
                  <a:srgbClr val="000066"/>
                </a:solidFill>
                <a:latin typeface="Times New Roman" panose="02020603050405020304" pitchFamily="18" charset="0"/>
              </a:rPr>
              <a:t>势垒电容</a:t>
            </a:r>
          </a:p>
        </p:txBody>
      </p:sp>
      <p:sp>
        <p:nvSpPr>
          <p:cNvPr id="471091" name="Rectangle 51">
            <a:extLst>
              <a:ext uri="{FF2B5EF4-FFF2-40B4-BE49-F238E27FC236}">
                <a16:creationId xmlns:a16="http://schemas.microsoft.com/office/drawing/2014/main" id="{DA4505DC-9993-46E5-87E5-EEBEB9929A03}"/>
              </a:ext>
            </a:extLst>
          </p:cNvPr>
          <p:cNvSpPr>
            <a:spLocks noChangeArrowheads="1"/>
          </p:cNvSpPr>
          <p:nvPr/>
        </p:nvSpPr>
        <p:spPr bwMode="auto">
          <a:xfrm>
            <a:off x="468313" y="3546475"/>
            <a:ext cx="77755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dirty="0">
                <a:solidFill>
                  <a:srgbClr val="000066"/>
                </a:solidFill>
                <a:latin typeface="Times New Roman" panose="02020603050405020304" pitchFamily="18" charset="0"/>
              </a:rPr>
              <a:t>通过空点电荷区宽度可得掺杂浓度</a:t>
            </a:r>
          </a:p>
        </p:txBody>
      </p:sp>
      <p:graphicFrame>
        <p:nvGraphicFramePr>
          <p:cNvPr id="471094" name="Object 54">
            <a:extLst>
              <a:ext uri="{FF2B5EF4-FFF2-40B4-BE49-F238E27FC236}">
                <a16:creationId xmlns:a16="http://schemas.microsoft.com/office/drawing/2014/main" id="{A8517891-0E7B-44FC-ABC0-192FB8964D54}"/>
              </a:ext>
            </a:extLst>
          </p:cNvPr>
          <p:cNvGraphicFramePr>
            <a:graphicFrameLocks noChangeAspect="1"/>
          </p:cNvGraphicFramePr>
          <p:nvPr/>
        </p:nvGraphicFramePr>
        <p:xfrm>
          <a:off x="2336800" y="4222750"/>
          <a:ext cx="2344738" cy="873125"/>
        </p:xfrm>
        <a:graphic>
          <a:graphicData uri="http://schemas.openxmlformats.org/presentationml/2006/ole">
            <mc:AlternateContent xmlns:mc="http://schemas.openxmlformats.org/markup-compatibility/2006">
              <mc:Choice xmlns:v="urn:schemas-microsoft-com:vml" Requires="v">
                <p:oleObj spid="_x0000_s110717" name="公式" r:id="rId9" imgW="1676160" imgH="622080" progId="Equation.3">
                  <p:embed/>
                </p:oleObj>
              </mc:Choice>
              <mc:Fallback>
                <p:oleObj name="公式" r:id="rId9" imgW="1676160" imgH="622080" progId="Equation.3">
                  <p:embed/>
                  <p:pic>
                    <p:nvPicPr>
                      <p:cNvPr id="471094" name="Object 54">
                        <a:extLst>
                          <a:ext uri="{FF2B5EF4-FFF2-40B4-BE49-F238E27FC236}">
                            <a16:creationId xmlns:a16="http://schemas.microsoft.com/office/drawing/2014/main" id="{A8517891-0E7B-44FC-ABC0-192FB8964D5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36800" y="4222750"/>
                        <a:ext cx="2344738"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75591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9A8A17F7-B83E-449D-BF21-0181B1436831}"/>
              </a:ext>
            </a:extLst>
          </p:cNvPr>
          <p:cNvSpPr>
            <a:spLocks noChangeArrowheads="1"/>
          </p:cNvSpPr>
          <p:nvPr/>
        </p:nvSpPr>
        <p:spPr bwMode="auto">
          <a:xfrm>
            <a:off x="179388" y="1268413"/>
            <a:ext cx="3024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a:solidFill>
                  <a:srgbClr val="993300"/>
                </a:solidFill>
                <a:latin typeface="Times New Roman" panose="02020603050405020304" pitchFamily="18" charset="0"/>
              </a:rPr>
              <a:t>3.</a:t>
            </a:r>
            <a:r>
              <a:rPr kumimoji="0" lang="zh-CN" altLang="en-US" b="1">
                <a:solidFill>
                  <a:srgbClr val="993300"/>
                </a:solidFill>
                <a:latin typeface="Times New Roman" panose="02020603050405020304" pitchFamily="18" charset="0"/>
              </a:rPr>
              <a:t>求杂质分布的程序</a:t>
            </a:r>
            <a:r>
              <a:rPr kumimoji="0" lang="zh-CN" altLang="en-US">
                <a:solidFill>
                  <a:srgbClr val="993300"/>
                </a:solidFill>
                <a:latin typeface="Times New Roman" panose="02020603050405020304" pitchFamily="18" charset="0"/>
              </a:rPr>
              <a:t> </a:t>
            </a:r>
            <a:endParaRPr kumimoji="0" lang="en-US" altLang="zh-CN">
              <a:solidFill>
                <a:srgbClr val="993300"/>
              </a:solidFill>
              <a:latin typeface="Times New Roman" panose="02020603050405020304" pitchFamily="18" charset="0"/>
            </a:endParaRPr>
          </a:p>
        </p:txBody>
      </p:sp>
      <p:sp>
        <p:nvSpPr>
          <p:cNvPr id="474125" name="Rectangle 13">
            <a:extLst>
              <a:ext uri="{FF2B5EF4-FFF2-40B4-BE49-F238E27FC236}">
                <a16:creationId xmlns:a16="http://schemas.microsoft.com/office/drawing/2014/main" id="{255AC74B-B7AF-4E28-A476-D45EF2E8617B}"/>
              </a:ext>
            </a:extLst>
          </p:cNvPr>
          <p:cNvSpPr>
            <a:spLocks noChangeArrowheads="1"/>
          </p:cNvSpPr>
          <p:nvPr/>
        </p:nvSpPr>
        <p:spPr bwMode="auto">
          <a:xfrm>
            <a:off x="468313" y="1844675"/>
            <a:ext cx="3959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just" eaLnBrk="1" hangingPunct="1">
              <a:buFont typeface="Wingdings" panose="05000000000000000000" pitchFamily="2" charset="2"/>
              <a:buChar char="Ø"/>
            </a:pPr>
            <a:r>
              <a:rPr lang="ko-KR" altLang="en-US" sz="2000" b="1">
                <a:solidFill>
                  <a:srgbClr val="000066"/>
                </a:solidFill>
                <a:latin typeface="Times New Roman" panose="02020603050405020304" pitchFamily="18" charset="0"/>
              </a:rPr>
              <a:t>在不同反偏压下测量电容</a:t>
            </a:r>
            <a:r>
              <a:rPr lang="zh-CN" altLang="en-US" sz="2000" b="1">
                <a:solidFill>
                  <a:srgbClr val="000066"/>
                </a:solidFill>
                <a:latin typeface="Times New Roman" panose="02020603050405020304" pitchFamily="18" charset="0"/>
              </a:rPr>
              <a:t>：</a:t>
            </a:r>
            <a:endParaRPr lang="ko-KR" altLang="en-US">
              <a:latin typeface="Times New Roman" panose="02020603050405020304" pitchFamily="18" charset="0"/>
              <a:ea typeface="Gulim" panose="020B0600000101010101" pitchFamily="34" charset="-127"/>
            </a:endParaRPr>
          </a:p>
        </p:txBody>
      </p:sp>
      <p:graphicFrame>
        <p:nvGraphicFramePr>
          <p:cNvPr id="474126" name="Object 14">
            <a:extLst>
              <a:ext uri="{FF2B5EF4-FFF2-40B4-BE49-F238E27FC236}">
                <a16:creationId xmlns:a16="http://schemas.microsoft.com/office/drawing/2014/main" id="{83830F23-4BC0-460D-86E4-06E543DE0F06}"/>
              </a:ext>
            </a:extLst>
          </p:cNvPr>
          <p:cNvGraphicFramePr>
            <a:graphicFrameLocks noChangeAspect="1"/>
          </p:cNvGraphicFramePr>
          <p:nvPr/>
        </p:nvGraphicFramePr>
        <p:xfrm>
          <a:off x="4932363" y="1844675"/>
          <a:ext cx="1219200" cy="401638"/>
        </p:xfrm>
        <a:graphic>
          <a:graphicData uri="http://schemas.openxmlformats.org/presentationml/2006/ole">
            <mc:AlternateContent xmlns:mc="http://schemas.openxmlformats.org/markup-compatibility/2006">
              <mc:Choice xmlns:v="urn:schemas-microsoft-com:vml" Requires="v">
                <p:oleObj spid="_x0000_s111888" r:id="rId3" imgW="723586" imgH="241195" progId="Equation.DSMT4">
                  <p:embed/>
                </p:oleObj>
              </mc:Choice>
              <mc:Fallback>
                <p:oleObj r:id="rId3" imgW="723586" imgH="241195" progId="Equation.DSMT4">
                  <p:embed/>
                  <p:pic>
                    <p:nvPicPr>
                      <p:cNvPr id="474126" name="Object 14">
                        <a:extLst>
                          <a:ext uri="{FF2B5EF4-FFF2-40B4-BE49-F238E27FC236}">
                            <a16:creationId xmlns:a16="http://schemas.microsoft.com/office/drawing/2014/main" id="{83830F23-4BC0-460D-86E4-06E543DE0F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363" y="1844675"/>
                        <a:ext cx="12192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4127" name="Object 15">
            <a:extLst>
              <a:ext uri="{FF2B5EF4-FFF2-40B4-BE49-F238E27FC236}">
                <a16:creationId xmlns:a16="http://schemas.microsoft.com/office/drawing/2014/main" id="{CD1D9AC1-06FC-448A-B0FE-55AB3E91DE9D}"/>
              </a:ext>
            </a:extLst>
          </p:cNvPr>
          <p:cNvGraphicFramePr>
            <a:graphicFrameLocks noChangeAspect="1"/>
          </p:cNvGraphicFramePr>
          <p:nvPr/>
        </p:nvGraphicFramePr>
        <p:xfrm>
          <a:off x="3779838" y="1844675"/>
          <a:ext cx="1066800" cy="355600"/>
        </p:xfrm>
        <a:graphic>
          <a:graphicData uri="http://schemas.openxmlformats.org/presentationml/2006/ole">
            <mc:AlternateContent xmlns:mc="http://schemas.openxmlformats.org/markup-compatibility/2006">
              <mc:Choice xmlns:v="urn:schemas-microsoft-com:vml" Requires="v">
                <p:oleObj spid="_x0000_s111889" r:id="rId5" imgW="685800" imgH="228600" progId="Equation.DSMT4">
                  <p:embed/>
                </p:oleObj>
              </mc:Choice>
              <mc:Fallback>
                <p:oleObj r:id="rId5" imgW="685800" imgH="228600" progId="Equation.DSMT4">
                  <p:embed/>
                  <p:pic>
                    <p:nvPicPr>
                      <p:cNvPr id="474127" name="Object 15">
                        <a:extLst>
                          <a:ext uri="{FF2B5EF4-FFF2-40B4-BE49-F238E27FC236}">
                            <a16:creationId xmlns:a16="http://schemas.microsoft.com/office/drawing/2014/main" id="{CD1D9AC1-06FC-448A-B0FE-55AB3E91DE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838" y="1844675"/>
                        <a:ext cx="10668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4128" name="Rectangle 16">
            <a:extLst>
              <a:ext uri="{FF2B5EF4-FFF2-40B4-BE49-F238E27FC236}">
                <a16:creationId xmlns:a16="http://schemas.microsoft.com/office/drawing/2014/main" id="{165AC453-A85D-4EB4-B17D-9C0AAEC066C6}"/>
              </a:ext>
            </a:extLst>
          </p:cNvPr>
          <p:cNvSpPr>
            <a:spLocks noChangeArrowheads="1"/>
          </p:cNvSpPr>
          <p:nvPr/>
        </p:nvSpPr>
        <p:spPr bwMode="auto">
          <a:xfrm>
            <a:off x="468313" y="2420938"/>
            <a:ext cx="5549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Char char="Ø"/>
            </a:pPr>
            <a:r>
              <a:rPr kumimoji="0" lang="zh-CN" altLang="en-US" sz="2000" b="1" dirty="0">
                <a:solidFill>
                  <a:srgbClr val="000066"/>
                </a:solidFill>
                <a:latin typeface="Times New Roman" panose="02020603050405020304" pitchFamily="18" charset="0"/>
              </a:rPr>
              <a:t>用求出以上不同反偏压下的空间电荷区宽度：</a:t>
            </a:r>
          </a:p>
        </p:txBody>
      </p:sp>
      <p:graphicFrame>
        <p:nvGraphicFramePr>
          <p:cNvPr id="474129" name="Object 17">
            <a:extLst>
              <a:ext uri="{FF2B5EF4-FFF2-40B4-BE49-F238E27FC236}">
                <a16:creationId xmlns:a16="http://schemas.microsoft.com/office/drawing/2014/main" id="{2AA671A1-AB2B-44D7-9AA0-DB084EF4D9B1}"/>
              </a:ext>
            </a:extLst>
          </p:cNvPr>
          <p:cNvGraphicFramePr>
            <a:graphicFrameLocks noChangeAspect="1"/>
          </p:cNvGraphicFramePr>
          <p:nvPr>
            <p:extLst>
              <p:ext uri="{D42A27DB-BD31-4B8C-83A1-F6EECF244321}">
                <p14:modId xmlns:p14="http://schemas.microsoft.com/office/powerpoint/2010/main" val="2479271924"/>
              </p:ext>
            </p:extLst>
          </p:nvPr>
        </p:nvGraphicFramePr>
        <p:xfrm>
          <a:off x="6031511" y="2453481"/>
          <a:ext cx="1219200" cy="352425"/>
        </p:xfrm>
        <a:graphic>
          <a:graphicData uri="http://schemas.openxmlformats.org/presentationml/2006/ole">
            <mc:AlternateContent xmlns:mc="http://schemas.openxmlformats.org/markup-compatibility/2006">
              <mc:Choice xmlns:v="urn:schemas-microsoft-com:vml" Requires="v">
                <p:oleObj spid="_x0000_s111890" r:id="rId7" imgW="787400" imgH="228600" progId="Equation.DSMT4">
                  <p:embed/>
                </p:oleObj>
              </mc:Choice>
              <mc:Fallback>
                <p:oleObj r:id="rId7" imgW="787400" imgH="228600" progId="Equation.DSMT4">
                  <p:embed/>
                  <p:pic>
                    <p:nvPicPr>
                      <p:cNvPr id="474129" name="Object 17">
                        <a:extLst>
                          <a:ext uri="{FF2B5EF4-FFF2-40B4-BE49-F238E27FC236}">
                            <a16:creationId xmlns:a16="http://schemas.microsoft.com/office/drawing/2014/main" id="{2AA671A1-AB2B-44D7-9AA0-DB084EF4D9B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31511" y="2453481"/>
                        <a:ext cx="12192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32">
            <a:extLst>
              <a:ext uri="{FF2B5EF4-FFF2-40B4-BE49-F238E27FC236}">
                <a16:creationId xmlns:a16="http://schemas.microsoft.com/office/drawing/2014/main" id="{6D4B1479-9580-4F50-9B3D-00AD0822704A}"/>
              </a:ext>
            </a:extLst>
          </p:cNvPr>
          <p:cNvGrpSpPr>
            <a:grpSpLocks/>
          </p:cNvGrpSpPr>
          <p:nvPr/>
        </p:nvGrpSpPr>
        <p:grpSpPr bwMode="auto">
          <a:xfrm>
            <a:off x="468313" y="3032125"/>
            <a:ext cx="3351214" cy="431800"/>
            <a:chOff x="295" y="1910"/>
            <a:chExt cx="2111" cy="272"/>
          </a:xfrm>
        </p:grpSpPr>
        <p:grpSp>
          <p:nvGrpSpPr>
            <p:cNvPr id="66579" name="Group 25">
              <a:extLst>
                <a:ext uri="{FF2B5EF4-FFF2-40B4-BE49-F238E27FC236}">
                  <a16:creationId xmlns:a16="http://schemas.microsoft.com/office/drawing/2014/main" id="{608EF30F-ECD0-4F37-82F1-E87927260157}"/>
                </a:ext>
              </a:extLst>
            </p:cNvPr>
            <p:cNvGrpSpPr>
              <a:grpSpLocks/>
            </p:cNvGrpSpPr>
            <p:nvPr/>
          </p:nvGrpSpPr>
          <p:grpSpPr bwMode="auto">
            <a:xfrm>
              <a:off x="295" y="1910"/>
              <a:ext cx="2111" cy="252"/>
              <a:chOff x="295" y="1933"/>
              <a:chExt cx="2111" cy="252"/>
            </a:xfrm>
          </p:grpSpPr>
          <p:graphicFrame>
            <p:nvGraphicFramePr>
              <p:cNvPr id="66581" name="Object 19">
                <a:extLst>
                  <a:ext uri="{FF2B5EF4-FFF2-40B4-BE49-F238E27FC236}">
                    <a16:creationId xmlns:a16="http://schemas.microsoft.com/office/drawing/2014/main" id="{098081AC-36B8-41B7-9191-CADB41CB55B1}"/>
                  </a:ext>
                </a:extLst>
              </p:cNvPr>
              <p:cNvGraphicFramePr>
                <a:graphicFrameLocks noChangeAspect="1"/>
              </p:cNvGraphicFramePr>
              <p:nvPr/>
            </p:nvGraphicFramePr>
            <p:xfrm>
              <a:off x="1565" y="1979"/>
              <a:ext cx="161" cy="192"/>
            </p:xfrm>
            <a:graphic>
              <a:graphicData uri="http://schemas.openxmlformats.org/presentationml/2006/ole">
                <mc:AlternateContent xmlns:mc="http://schemas.openxmlformats.org/markup-compatibility/2006">
                  <mc:Choice xmlns:v="urn:schemas-microsoft-com:vml" Requires="v">
                    <p:oleObj spid="_x0000_s111891" r:id="rId9" imgW="152202" imgH="177569" progId="Equation.3">
                      <p:embed/>
                    </p:oleObj>
                  </mc:Choice>
                  <mc:Fallback>
                    <p:oleObj r:id="rId9" imgW="152202" imgH="177569" progId="Equation.3">
                      <p:embed/>
                      <p:pic>
                        <p:nvPicPr>
                          <p:cNvPr id="66581" name="Object 19">
                            <a:extLst>
                              <a:ext uri="{FF2B5EF4-FFF2-40B4-BE49-F238E27FC236}">
                                <a16:creationId xmlns:a16="http://schemas.microsoft.com/office/drawing/2014/main" id="{098081AC-36B8-41B7-9191-CADB41CB55B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65" y="1979"/>
                            <a:ext cx="16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82" name="Rectangle 24">
                <a:extLst>
                  <a:ext uri="{FF2B5EF4-FFF2-40B4-BE49-F238E27FC236}">
                    <a16:creationId xmlns:a16="http://schemas.microsoft.com/office/drawing/2014/main" id="{0A8C22C2-5CB5-490E-8461-DFD54801CB74}"/>
                  </a:ext>
                </a:extLst>
              </p:cNvPr>
              <p:cNvSpPr>
                <a:spLocks noChangeArrowheads="1"/>
              </p:cNvSpPr>
              <p:nvPr/>
            </p:nvSpPr>
            <p:spPr bwMode="auto">
              <a:xfrm>
                <a:off x="295" y="1933"/>
                <a:ext cx="21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Char char="Ø"/>
                </a:pPr>
                <a:r>
                  <a:rPr kumimoji="0" lang="zh-CN" altLang="en-US" sz="2000" b="1" dirty="0">
                    <a:solidFill>
                      <a:srgbClr val="000066"/>
                    </a:solidFill>
                    <a:latin typeface="Times New Roman" panose="02020603050405020304" pitchFamily="18" charset="0"/>
                  </a:rPr>
                  <a:t>画出           相对   的曲线。</a:t>
                </a:r>
              </a:p>
            </p:txBody>
          </p:sp>
        </p:grpSp>
        <p:graphicFrame>
          <p:nvGraphicFramePr>
            <p:cNvPr id="66580" name="Object 18">
              <a:extLst>
                <a:ext uri="{FF2B5EF4-FFF2-40B4-BE49-F238E27FC236}">
                  <a16:creationId xmlns:a16="http://schemas.microsoft.com/office/drawing/2014/main" id="{9DDEE9D9-6079-46D6-9750-55C03D93D581}"/>
                </a:ext>
              </a:extLst>
            </p:cNvPr>
            <p:cNvGraphicFramePr>
              <a:graphicFrameLocks noChangeAspect="1"/>
            </p:cNvGraphicFramePr>
            <p:nvPr/>
          </p:nvGraphicFramePr>
          <p:xfrm>
            <a:off x="839" y="1933"/>
            <a:ext cx="384" cy="249"/>
          </p:xfrm>
          <a:graphic>
            <a:graphicData uri="http://schemas.openxmlformats.org/presentationml/2006/ole">
              <mc:AlternateContent xmlns:mc="http://schemas.openxmlformats.org/markup-compatibility/2006">
                <mc:Choice xmlns:v="urn:schemas-microsoft-com:vml" Requires="v">
                  <p:oleObj spid="_x0000_s111892" r:id="rId11" imgW="355446" imgH="228501" progId="Equation.3">
                    <p:embed/>
                  </p:oleObj>
                </mc:Choice>
                <mc:Fallback>
                  <p:oleObj r:id="rId11" imgW="355446" imgH="228501" progId="Equation.3">
                    <p:embed/>
                    <p:pic>
                      <p:nvPicPr>
                        <p:cNvPr id="66580" name="Object 18">
                          <a:extLst>
                            <a:ext uri="{FF2B5EF4-FFF2-40B4-BE49-F238E27FC236}">
                              <a16:creationId xmlns:a16="http://schemas.microsoft.com/office/drawing/2014/main" id="{9DDEE9D9-6079-46D6-9750-55C03D93D58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9" y="1933"/>
                          <a:ext cx="384"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 name="Group 27">
            <a:extLst>
              <a:ext uri="{FF2B5EF4-FFF2-40B4-BE49-F238E27FC236}">
                <a16:creationId xmlns:a16="http://schemas.microsoft.com/office/drawing/2014/main" id="{8CA475C3-44BE-4CC3-959C-EE66C71DBE7E}"/>
              </a:ext>
            </a:extLst>
          </p:cNvPr>
          <p:cNvGrpSpPr>
            <a:grpSpLocks/>
          </p:cNvGrpSpPr>
          <p:nvPr/>
        </p:nvGrpSpPr>
        <p:grpSpPr bwMode="auto">
          <a:xfrm>
            <a:off x="279401" y="3746500"/>
            <a:ext cx="8574088" cy="403225"/>
            <a:chOff x="176" y="2336"/>
            <a:chExt cx="5401" cy="254"/>
          </a:xfrm>
        </p:grpSpPr>
        <p:graphicFrame>
          <p:nvGraphicFramePr>
            <p:cNvPr id="66575" name="Object 20">
              <a:extLst>
                <a:ext uri="{FF2B5EF4-FFF2-40B4-BE49-F238E27FC236}">
                  <a16:creationId xmlns:a16="http://schemas.microsoft.com/office/drawing/2014/main" id="{29A71229-A9D7-456E-8659-6FB4473B3682}"/>
                </a:ext>
              </a:extLst>
            </p:cNvPr>
            <p:cNvGraphicFramePr>
              <a:graphicFrameLocks noChangeAspect="1"/>
            </p:cNvGraphicFramePr>
            <p:nvPr/>
          </p:nvGraphicFramePr>
          <p:xfrm>
            <a:off x="839" y="2341"/>
            <a:ext cx="384" cy="249"/>
          </p:xfrm>
          <a:graphic>
            <a:graphicData uri="http://schemas.openxmlformats.org/presentationml/2006/ole">
              <mc:AlternateContent xmlns:mc="http://schemas.openxmlformats.org/markup-compatibility/2006">
                <mc:Choice xmlns:v="urn:schemas-microsoft-com:vml" Requires="v">
                  <p:oleObj spid="_x0000_s111893" r:id="rId13" imgW="355446" imgH="228501" progId="Equation.3">
                    <p:embed/>
                  </p:oleObj>
                </mc:Choice>
                <mc:Fallback>
                  <p:oleObj r:id="rId13" imgW="355446" imgH="228501" progId="Equation.3">
                    <p:embed/>
                    <p:pic>
                      <p:nvPicPr>
                        <p:cNvPr id="66575" name="Object 20">
                          <a:extLst>
                            <a:ext uri="{FF2B5EF4-FFF2-40B4-BE49-F238E27FC236}">
                              <a16:creationId xmlns:a16="http://schemas.microsoft.com/office/drawing/2014/main" id="{29A71229-A9D7-456E-8659-6FB4473B368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9" y="2341"/>
                          <a:ext cx="384"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76" name="Object 21">
              <a:extLst>
                <a:ext uri="{FF2B5EF4-FFF2-40B4-BE49-F238E27FC236}">
                  <a16:creationId xmlns:a16="http://schemas.microsoft.com/office/drawing/2014/main" id="{B3B5D4B8-7703-4215-8F3B-E30C89D9C070}"/>
                </a:ext>
              </a:extLst>
            </p:cNvPr>
            <p:cNvGraphicFramePr>
              <a:graphicFrameLocks noChangeAspect="1"/>
            </p:cNvGraphicFramePr>
            <p:nvPr/>
          </p:nvGraphicFramePr>
          <p:xfrm>
            <a:off x="1882" y="2341"/>
            <a:ext cx="864" cy="247"/>
          </p:xfrm>
          <a:graphic>
            <a:graphicData uri="http://schemas.openxmlformats.org/presentationml/2006/ole">
              <mc:AlternateContent xmlns:mc="http://schemas.openxmlformats.org/markup-compatibility/2006">
                <mc:Choice xmlns:v="urn:schemas-microsoft-com:vml" Requires="v">
                  <p:oleObj spid="_x0000_s111894" r:id="rId14" imgW="800100" imgH="228600" progId="Equation.3">
                    <p:embed/>
                  </p:oleObj>
                </mc:Choice>
                <mc:Fallback>
                  <p:oleObj r:id="rId14" imgW="800100" imgH="228600" progId="Equation.3">
                    <p:embed/>
                    <p:pic>
                      <p:nvPicPr>
                        <p:cNvPr id="66576" name="Object 21">
                          <a:extLst>
                            <a:ext uri="{FF2B5EF4-FFF2-40B4-BE49-F238E27FC236}">
                              <a16:creationId xmlns:a16="http://schemas.microsoft.com/office/drawing/2014/main" id="{B3B5D4B8-7703-4215-8F3B-E30C89D9C07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82" y="2341"/>
                          <a:ext cx="864"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77" name="Object 22">
              <a:extLst>
                <a:ext uri="{FF2B5EF4-FFF2-40B4-BE49-F238E27FC236}">
                  <a16:creationId xmlns:a16="http://schemas.microsoft.com/office/drawing/2014/main" id="{746FA8BC-00AF-40CE-8C95-DFA70F2D6940}"/>
                </a:ext>
              </a:extLst>
            </p:cNvPr>
            <p:cNvGraphicFramePr>
              <a:graphicFrameLocks noChangeAspect="1"/>
            </p:cNvGraphicFramePr>
            <p:nvPr/>
          </p:nvGraphicFramePr>
          <p:xfrm>
            <a:off x="5193" y="2362"/>
            <a:ext cx="384" cy="206"/>
          </p:xfrm>
          <a:graphic>
            <a:graphicData uri="http://schemas.openxmlformats.org/presentationml/2006/ole">
              <mc:AlternateContent xmlns:mc="http://schemas.openxmlformats.org/markup-compatibility/2006">
                <mc:Choice xmlns:v="urn:schemas-microsoft-com:vml" Requires="v">
                  <p:oleObj spid="_x0000_s111895" r:id="rId16" imgW="406048" imgH="215713" progId="Equation.3">
                    <p:embed/>
                  </p:oleObj>
                </mc:Choice>
                <mc:Fallback>
                  <p:oleObj r:id="rId16" imgW="406048" imgH="215713" progId="Equation.3">
                    <p:embed/>
                    <p:pic>
                      <p:nvPicPr>
                        <p:cNvPr id="66577" name="Object 22">
                          <a:extLst>
                            <a:ext uri="{FF2B5EF4-FFF2-40B4-BE49-F238E27FC236}">
                              <a16:creationId xmlns:a16="http://schemas.microsoft.com/office/drawing/2014/main" id="{746FA8BC-00AF-40CE-8C95-DFA70F2D694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93" y="2362"/>
                          <a:ext cx="38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78" name="Rectangle 26">
              <a:extLst>
                <a:ext uri="{FF2B5EF4-FFF2-40B4-BE49-F238E27FC236}">
                  <a16:creationId xmlns:a16="http://schemas.microsoft.com/office/drawing/2014/main" id="{5D47E445-281D-4A07-BAFC-BF50FE9EA58F}"/>
                </a:ext>
              </a:extLst>
            </p:cNvPr>
            <p:cNvSpPr>
              <a:spLocks noChangeArrowheads="1"/>
            </p:cNvSpPr>
            <p:nvPr/>
          </p:nvSpPr>
          <p:spPr bwMode="auto">
            <a:xfrm>
              <a:off x="176" y="2336"/>
              <a:ext cx="52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Char char="Ø"/>
              </a:pPr>
              <a:r>
                <a:rPr kumimoji="0" lang="zh-CN" altLang="en-US" sz="2000" b="1" dirty="0">
                  <a:solidFill>
                    <a:srgbClr val="000066"/>
                  </a:solidFill>
                  <a:latin typeface="Times New Roman" panose="02020603050405020304" pitchFamily="18" charset="0"/>
                </a:rPr>
                <a:t>从此           曲线中取                         并将其结果代入（</a:t>
              </a:r>
              <a:r>
                <a:rPr kumimoji="0" lang="en-US" altLang="zh-CN" sz="2000" b="1" dirty="0">
                  <a:solidFill>
                    <a:srgbClr val="000066"/>
                  </a:solidFill>
                  <a:latin typeface="Times New Roman" panose="02020603050405020304" pitchFamily="18" charset="0"/>
                </a:rPr>
                <a:t>2-7-12</a:t>
              </a:r>
              <a:r>
                <a:rPr kumimoji="0" lang="zh-CN" altLang="en-US" sz="2000" b="1" dirty="0">
                  <a:solidFill>
                    <a:srgbClr val="000066"/>
                  </a:solidFill>
                  <a:latin typeface="Times New Roman" panose="02020603050405020304" pitchFamily="18" charset="0"/>
                </a:rPr>
                <a:t>）式计算出   </a:t>
              </a:r>
            </a:p>
          </p:txBody>
        </p:sp>
      </p:grpSp>
      <p:grpSp>
        <p:nvGrpSpPr>
          <p:cNvPr id="5" name="Group 30">
            <a:extLst>
              <a:ext uri="{FF2B5EF4-FFF2-40B4-BE49-F238E27FC236}">
                <a16:creationId xmlns:a16="http://schemas.microsoft.com/office/drawing/2014/main" id="{7F846BE6-5A9B-44CB-A1B2-F08CE10F0FA5}"/>
              </a:ext>
            </a:extLst>
          </p:cNvPr>
          <p:cNvGrpSpPr>
            <a:grpSpLocks/>
          </p:cNvGrpSpPr>
          <p:nvPr/>
        </p:nvGrpSpPr>
        <p:grpSpPr bwMode="auto">
          <a:xfrm>
            <a:off x="508000" y="4365625"/>
            <a:ext cx="3200400" cy="396875"/>
            <a:chOff x="295" y="2750"/>
            <a:chExt cx="2016" cy="250"/>
          </a:xfrm>
        </p:grpSpPr>
        <p:sp>
          <p:nvSpPr>
            <p:cNvPr id="66573" name="Rectangle 28">
              <a:extLst>
                <a:ext uri="{FF2B5EF4-FFF2-40B4-BE49-F238E27FC236}">
                  <a16:creationId xmlns:a16="http://schemas.microsoft.com/office/drawing/2014/main" id="{CA3C1DE5-7120-487D-8855-09170D247135}"/>
                </a:ext>
              </a:extLst>
            </p:cNvPr>
            <p:cNvSpPr>
              <a:spLocks noChangeArrowheads="1"/>
            </p:cNvSpPr>
            <p:nvPr/>
          </p:nvSpPr>
          <p:spPr bwMode="auto">
            <a:xfrm>
              <a:off x="295" y="2750"/>
              <a:ext cx="16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Char char="Ø"/>
              </a:pPr>
              <a:r>
                <a:rPr kumimoji="0" lang="zh-CN" altLang="en-US" sz="2000" b="1">
                  <a:solidFill>
                    <a:srgbClr val="000066"/>
                  </a:solidFill>
                  <a:latin typeface="Times New Roman" panose="02020603050405020304" pitchFamily="18" charset="0"/>
                </a:rPr>
                <a:t>画出完整的杂质分布</a:t>
              </a:r>
            </a:p>
          </p:txBody>
        </p:sp>
        <p:graphicFrame>
          <p:nvGraphicFramePr>
            <p:cNvPr id="66574" name="Object 29">
              <a:extLst>
                <a:ext uri="{FF2B5EF4-FFF2-40B4-BE49-F238E27FC236}">
                  <a16:creationId xmlns:a16="http://schemas.microsoft.com/office/drawing/2014/main" id="{4B213AFA-A4A1-49EA-9EB9-A22DB6D69173}"/>
                </a:ext>
              </a:extLst>
            </p:cNvPr>
            <p:cNvGraphicFramePr>
              <a:graphicFrameLocks noChangeAspect="1"/>
            </p:cNvGraphicFramePr>
            <p:nvPr/>
          </p:nvGraphicFramePr>
          <p:xfrm>
            <a:off x="1927" y="2770"/>
            <a:ext cx="384" cy="206"/>
          </p:xfrm>
          <a:graphic>
            <a:graphicData uri="http://schemas.openxmlformats.org/presentationml/2006/ole">
              <mc:AlternateContent xmlns:mc="http://schemas.openxmlformats.org/markup-compatibility/2006">
                <mc:Choice xmlns:v="urn:schemas-microsoft-com:vml" Requires="v">
                  <p:oleObj spid="_x0000_s111896" r:id="rId18" imgW="406048" imgH="215713" progId="Equation.3">
                    <p:embed/>
                  </p:oleObj>
                </mc:Choice>
                <mc:Fallback>
                  <p:oleObj r:id="rId18" imgW="406048" imgH="215713" progId="Equation.3">
                    <p:embed/>
                    <p:pic>
                      <p:nvPicPr>
                        <p:cNvPr id="66574" name="Object 29">
                          <a:extLst>
                            <a:ext uri="{FF2B5EF4-FFF2-40B4-BE49-F238E27FC236}">
                              <a16:creationId xmlns:a16="http://schemas.microsoft.com/office/drawing/2014/main" id="{4B213AFA-A4A1-49EA-9EB9-A22DB6D69173}"/>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27" y="2770"/>
                          <a:ext cx="38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74143" name="Rectangle 31">
            <a:extLst>
              <a:ext uri="{FF2B5EF4-FFF2-40B4-BE49-F238E27FC236}">
                <a16:creationId xmlns:a16="http://schemas.microsoft.com/office/drawing/2014/main" id="{C0C14576-BC9E-4941-8EDD-0930E1005F24}"/>
              </a:ext>
            </a:extLst>
          </p:cNvPr>
          <p:cNvSpPr>
            <a:spLocks noChangeArrowheads="1"/>
          </p:cNvSpPr>
          <p:nvPr/>
        </p:nvSpPr>
        <p:spPr bwMode="auto">
          <a:xfrm>
            <a:off x="468313" y="5157788"/>
            <a:ext cx="8280400" cy="79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50000"/>
              </a:spcBef>
              <a:buFont typeface="Wingdings" panose="05000000000000000000" pitchFamily="2" charset="2"/>
              <a:buNone/>
            </a:pPr>
            <a:r>
              <a:rPr kumimoji="0" lang="zh-CN" altLang="en-US" sz="2000" b="1">
                <a:solidFill>
                  <a:srgbClr val="000066"/>
                </a:solidFill>
                <a:latin typeface="Times New Roman" panose="02020603050405020304" pitchFamily="18" charset="0"/>
              </a:rPr>
              <a:t>注意：倘若出现高密度的陷阱中心和界面态，如硅中掺金情形，前面的分析必须加以修正，以适应这些荷电的状态。</a:t>
            </a:r>
            <a:r>
              <a:rPr kumimoji="0" lang="zh-CN" altLang="en-US" sz="2000">
                <a:latin typeface="Times New Roman" panose="02020603050405020304" pitchFamily="18" charset="0"/>
              </a:rPr>
              <a:t> </a:t>
            </a:r>
          </a:p>
        </p:txBody>
      </p:sp>
    </p:spTree>
    <p:extLst>
      <p:ext uri="{BB962C8B-B14F-4D97-AF65-F5344CB8AC3E}">
        <p14:creationId xmlns:p14="http://schemas.microsoft.com/office/powerpoint/2010/main" val="59009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A155BB3D-CF69-40CA-9AAF-DF9C6BD578C4}"/>
              </a:ext>
            </a:extLst>
          </p:cNvPr>
          <p:cNvSpPr>
            <a:spLocks noChangeArrowheads="1"/>
          </p:cNvSpPr>
          <p:nvPr/>
        </p:nvSpPr>
        <p:spPr bwMode="auto">
          <a:xfrm>
            <a:off x="179388" y="1268413"/>
            <a:ext cx="3024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a:solidFill>
                  <a:srgbClr val="993300"/>
                </a:solidFill>
                <a:latin typeface="Times New Roman" panose="02020603050405020304" pitchFamily="18" charset="0"/>
              </a:rPr>
              <a:t>4.</a:t>
            </a:r>
            <a:r>
              <a:rPr kumimoji="0" lang="zh-CN" altLang="en-US" b="1">
                <a:solidFill>
                  <a:srgbClr val="993300"/>
                </a:solidFill>
                <a:latin typeface="Times New Roman" panose="02020603050405020304" pitchFamily="18" charset="0"/>
              </a:rPr>
              <a:t>变容二极管</a:t>
            </a:r>
            <a:r>
              <a:rPr kumimoji="0" lang="zh-CN" altLang="en-US">
                <a:solidFill>
                  <a:srgbClr val="993300"/>
                </a:solidFill>
                <a:latin typeface="Times New Roman" panose="02020603050405020304" pitchFamily="18" charset="0"/>
              </a:rPr>
              <a:t> </a:t>
            </a:r>
            <a:endParaRPr kumimoji="0" lang="en-US" altLang="zh-CN">
              <a:solidFill>
                <a:srgbClr val="993300"/>
              </a:solidFill>
              <a:latin typeface="Times New Roman" panose="02020603050405020304" pitchFamily="18" charset="0"/>
            </a:endParaRPr>
          </a:p>
        </p:txBody>
      </p:sp>
      <p:sp>
        <p:nvSpPr>
          <p:cNvPr id="477206" name="Rectangle 22">
            <a:extLst>
              <a:ext uri="{FF2B5EF4-FFF2-40B4-BE49-F238E27FC236}">
                <a16:creationId xmlns:a16="http://schemas.microsoft.com/office/drawing/2014/main" id="{1FD1E53B-8B2C-4AA0-8238-01A069ABEC5F}"/>
              </a:ext>
            </a:extLst>
          </p:cNvPr>
          <p:cNvSpPr>
            <a:spLocks noChangeArrowheads="1"/>
          </p:cNvSpPr>
          <p:nvPr/>
        </p:nvSpPr>
        <p:spPr bwMode="auto">
          <a:xfrm>
            <a:off x="611188" y="184467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latin typeface="Times New Roman" panose="02020603050405020304" pitchFamily="18" charset="0"/>
              </a:rPr>
              <a:t>根据</a:t>
            </a:r>
          </a:p>
        </p:txBody>
      </p:sp>
      <p:graphicFrame>
        <p:nvGraphicFramePr>
          <p:cNvPr id="477209" name="Object 25">
            <a:extLst>
              <a:ext uri="{FF2B5EF4-FFF2-40B4-BE49-F238E27FC236}">
                <a16:creationId xmlns:a16="http://schemas.microsoft.com/office/drawing/2014/main" id="{8633C2A8-3D2E-47EC-9A6E-2D30ABC3CE72}"/>
              </a:ext>
            </a:extLst>
          </p:cNvPr>
          <p:cNvGraphicFramePr>
            <a:graphicFrameLocks noChangeAspect="1"/>
          </p:cNvGraphicFramePr>
          <p:nvPr/>
        </p:nvGraphicFramePr>
        <p:xfrm>
          <a:off x="1577975" y="2266950"/>
          <a:ext cx="2073275" cy="801688"/>
        </p:xfrm>
        <a:graphic>
          <a:graphicData uri="http://schemas.openxmlformats.org/presentationml/2006/ole">
            <mc:AlternateContent xmlns:mc="http://schemas.openxmlformats.org/markup-compatibility/2006">
              <mc:Choice xmlns:v="urn:schemas-microsoft-com:vml" Requires="v">
                <p:oleObj spid="_x0000_s114780" name="公式" r:id="rId3" imgW="1307880" imgH="507960" progId="Equation.3">
                  <p:embed/>
                </p:oleObj>
              </mc:Choice>
              <mc:Fallback>
                <p:oleObj name="公式" r:id="rId3" imgW="1307880" imgH="507960" progId="Equation.3">
                  <p:embed/>
                  <p:pic>
                    <p:nvPicPr>
                      <p:cNvPr id="477209" name="Object 25">
                        <a:extLst>
                          <a:ext uri="{FF2B5EF4-FFF2-40B4-BE49-F238E27FC236}">
                            <a16:creationId xmlns:a16="http://schemas.microsoft.com/office/drawing/2014/main" id="{8633C2A8-3D2E-47EC-9A6E-2D30ABC3CE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7975" y="2266950"/>
                        <a:ext cx="2073275"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7210" name="Rectangle 26">
            <a:extLst>
              <a:ext uri="{FF2B5EF4-FFF2-40B4-BE49-F238E27FC236}">
                <a16:creationId xmlns:a16="http://schemas.microsoft.com/office/drawing/2014/main" id="{15C6A8B6-4218-4816-B555-99922ECE6B1C}"/>
              </a:ext>
            </a:extLst>
          </p:cNvPr>
          <p:cNvSpPr>
            <a:spLocks noChangeArrowheads="1"/>
          </p:cNvSpPr>
          <p:nvPr/>
        </p:nvSpPr>
        <p:spPr bwMode="auto">
          <a:xfrm>
            <a:off x="3851275" y="2555875"/>
            <a:ext cx="1352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ko-KR" altLang="en-US" sz="2000" b="1">
                <a:solidFill>
                  <a:srgbClr val="000066"/>
                </a:solidFill>
                <a:latin typeface="Times New Roman" panose="02020603050405020304" pitchFamily="18" charset="0"/>
              </a:rPr>
              <a:t>（</a:t>
            </a:r>
            <a:r>
              <a:rPr lang="en-US" altLang="ko-KR" sz="2000" b="1">
                <a:solidFill>
                  <a:srgbClr val="000066"/>
                </a:solidFill>
                <a:latin typeface="Times New Roman" panose="02020603050405020304" pitchFamily="18" charset="0"/>
              </a:rPr>
              <a:t>2-</a:t>
            </a:r>
            <a:r>
              <a:rPr lang="en-US" altLang="zh-CN" sz="2000" b="1">
                <a:solidFill>
                  <a:srgbClr val="000066"/>
                </a:solidFill>
                <a:latin typeface="Times New Roman" panose="02020603050405020304" pitchFamily="18" charset="0"/>
              </a:rPr>
              <a:t>7-3</a:t>
            </a:r>
            <a:r>
              <a:rPr lang="ko-KR" altLang="en-US" sz="2000" b="1">
                <a:solidFill>
                  <a:srgbClr val="000066"/>
                </a:solidFill>
                <a:latin typeface="Times New Roman" panose="02020603050405020304" pitchFamily="18" charset="0"/>
              </a:rPr>
              <a:t>）</a:t>
            </a:r>
            <a:endParaRPr lang="zh-CN" altLang="en-US" sz="2000" b="1">
              <a:solidFill>
                <a:srgbClr val="000066"/>
              </a:solidFill>
              <a:latin typeface="Times New Roman" panose="02020603050405020304" pitchFamily="18" charset="0"/>
            </a:endParaRPr>
          </a:p>
        </p:txBody>
      </p:sp>
      <p:sp>
        <p:nvSpPr>
          <p:cNvPr id="477211" name="Rectangle 27">
            <a:extLst>
              <a:ext uri="{FF2B5EF4-FFF2-40B4-BE49-F238E27FC236}">
                <a16:creationId xmlns:a16="http://schemas.microsoft.com/office/drawing/2014/main" id="{2DB9CEF1-F866-462C-BC93-63A137CBE725}"/>
              </a:ext>
            </a:extLst>
          </p:cNvPr>
          <p:cNvSpPr>
            <a:spLocks noChangeArrowheads="1"/>
          </p:cNvSpPr>
          <p:nvPr/>
        </p:nvSpPr>
        <p:spPr bwMode="auto">
          <a:xfrm>
            <a:off x="611188" y="3254375"/>
            <a:ext cx="8208962" cy="79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lang="ko-KR" altLang="en-US" sz="2000" b="1">
                <a:solidFill>
                  <a:srgbClr val="000066"/>
                </a:solidFill>
                <a:latin typeface="Times New Roman" panose="02020603050405020304" pitchFamily="18" charset="0"/>
              </a:rPr>
              <a:t>可见反向偏置的</a:t>
            </a:r>
            <a:r>
              <a:rPr lang="en-US" altLang="ko-KR" sz="2000" b="1">
                <a:solidFill>
                  <a:srgbClr val="000066"/>
                </a:solidFill>
                <a:latin typeface="Times New Roman" panose="02020603050405020304" pitchFamily="18" charset="0"/>
              </a:rPr>
              <a:t>PN</a:t>
            </a:r>
            <a:r>
              <a:rPr lang="ko-KR" altLang="en-US" sz="2000" b="1">
                <a:solidFill>
                  <a:srgbClr val="000066"/>
                </a:solidFill>
                <a:latin typeface="Times New Roman" panose="02020603050405020304" pitchFamily="18" charset="0"/>
              </a:rPr>
              <a:t>结可以作为电容使用在</a:t>
            </a:r>
            <a:r>
              <a:rPr lang="en-US" altLang="ko-KR" sz="2000" b="1">
                <a:solidFill>
                  <a:srgbClr val="000066"/>
                </a:solidFill>
                <a:latin typeface="Times New Roman" panose="02020603050405020304" pitchFamily="18" charset="0"/>
              </a:rPr>
              <a:t>LC</a:t>
            </a:r>
            <a:r>
              <a:rPr lang="ko-KR" altLang="en-US" sz="2000" b="1">
                <a:solidFill>
                  <a:srgbClr val="000066"/>
                </a:solidFill>
                <a:latin typeface="Times New Roman" panose="02020603050405020304" pitchFamily="18" charset="0"/>
              </a:rPr>
              <a:t>调谐电路中。专门为此目的制造的二极管称为变容二极管。</a:t>
            </a:r>
            <a:endParaRPr lang="zh-CN" altLang="en-US" sz="2000" b="1">
              <a:solidFill>
                <a:srgbClr val="000066"/>
              </a:solidFill>
              <a:latin typeface="Times New Roman" panose="02020603050405020304" pitchFamily="18" charset="0"/>
            </a:endParaRPr>
          </a:p>
        </p:txBody>
      </p:sp>
      <p:sp>
        <p:nvSpPr>
          <p:cNvPr id="477212" name="Rectangle 28">
            <a:extLst>
              <a:ext uri="{FF2B5EF4-FFF2-40B4-BE49-F238E27FC236}">
                <a16:creationId xmlns:a16="http://schemas.microsoft.com/office/drawing/2014/main" id="{F3835119-BCA8-4C36-9E91-536C5233D4C0}"/>
              </a:ext>
            </a:extLst>
          </p:cNvPr>
          <p:cNvSpPr>
            <a:spLocks noChangeArrowheads="1"/>
          </p:cNvSpPr>
          <p:nvPr/>
        </p:nvSpPr>
        <p:spPr bwMode="auto">
          <a:xfrm>
            <a:off x="611188" y="4184650"/>
            <a:ext cx="453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rPr>
              <a:t>结型二极管的电容</a:t>
            </a:r>
            <a:r>
              <a:rPr lang="zh-CN" altLang="en-US" sz="2000" b="1">
                <a:solidFill>
                  <a:srgbClr val="000066"/>
                </a:solidFill>
                <a:latin typeface="Times New Roman" panose="02020603050405020304" pitchFamily="18" charset="0"/>
                <a:sym typeface="Symbol" panose="05050102010706020507" pitchFamily="18" charset="2"/>
              </a:rPr>
              <a:t></a:t>
            </a:r>
            <a:r>
              <a:rPr lang="zh-CN" altLang="en-US" sz="2000" b="1">
                <a:solidFill>
                  <a:srgbClr val="000066"/>
                </a:solidFill>
                <a:latin typeface="Times New Roman" panose="02020603050405020304" pitchFamily="18" charset="0"/>
              </a:rPr>
              <a:t>电压方程可写成</a:t>
            </a:r>
            <a:r>
              <a:rPr lang="ko-KR" altLang="en-US" sz="2000" b="1">
                <a:solidFill>
                  <a:srgbClr val="000066"/>
                </a:solidFill>
                <a:latin typeface="Times New Roman" panose="02020603050405020304" pitchFamily="18" charset="0"/>
                <a:sym typeface="Symbol" panose="05050102010706020507" pitchFamily="18" charset="2"/>
              </a:rPr>
              <a:t> </a:t>
            </a:r>
            <a:r>
              <a:rPr lang="zh-CN" altLang="en-US" sz="2000" b="1">
                <a:solidFill>
                  <a:srgbClr val="000066"/>
                </a:solidFill>
                <a:latin typeface="Times New Roman" panose="02020603050405020304" pitchFamily="18" charset="0"/>
                <a:sym typeface="Symbol" panose="05050102010706020507" pitchFamily="18" charset="2"/>
              </a:rPr>
              <a:t>：</a:t>
            </a:r>
            <a:endParaRPr lang="ko-KR" altLang="en-US" sz="2000" b="1">
              <a:solidFill>
                <a:srgbClr val="000066"/>
              </a:solidFill>
              <a:latin typeface="Times New Roman" panose="02020603050405020304" pitchFamily="18" charset="0"/>
              <a:sym typeface="Symbol" panose="05050102010706020507" pitchFamily="18" charset="2"/>
            </a:endParaRPr>
          </a:p>
        </p:txBody>
      </p:sp>
      <p:graphicFrame>
        <p:nvGraphicFramePr>
          <p:cNvPr id="477213" name="Object 29">
            <a:extLst>
              <a:ext uri="{FF2B5EF4-FFF2-40B4-BE49-F238E27FC236}">
                <a16:creationId xmlns:a16="http://schemas.microsoft.com/office/drawing/2014/main" id="{5CD0444B-C0D5-4EDF-881D-DC5F2E97B177}"/>
              </a:ext>
            </a:extLst>
          </p:cNvPr>
          <p:cNvGraphicFramePr>
            <a:graphicFrameLocks noChangeAspect="1"/>
          </p:cNvGraphicFramePr>
          <p:nvPr/>
        </p:nvGraphicFramePr>
        <p:xfrm>
          <a:off x="1908175" y="4789488"/>
          <a:ext cx="2016125" cy="439737"/>
        </p:xfrm>
        <a:graphic>
          <a:graphicData uri="http://schemas.openxmlformats.org/presentationml/2006/ole">
            <mc:AlternateContent xmlns:mc="http://schemas.openxmlformats.org/markup-compatibility/2006">
              <mc:Choice xmlns:v="urn:schemas-microsoft-com:vml" Requires="v">
                <p:oleObj spid="_x0000_s114781" r:id="rId5" imgW="1180588" imgH="253890" progId="Equation.3">
                  <p:embed/>
                </p:oleObj>
              </mc:Choice>
              <mc:Fallback>
                <p:oleObj r:id="rId5" imgW="1180588" imgH="253890" progId="Equation.3">
                  <p:embed/>
                  <p:pic>
                    <p:nvPicPr>
                      <p:cNvPr id="477213" name="Object 29">
                        <a:extLst>
                          <a:ext uri="{FF2B5EF4-FFF2-40B4-BE49-F238E27FC236}">
                            <a16:creationId xmlns:a16="http://schemas.microsoft.com/office/drawing/2014/main" id="{5CD0444B-C0D5-4EDF-881D-DC5F2E97B1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4789488"/>
                        <a:ext cx="201612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33">
            <a:extLst>
              <a:ext uri="{FF2B5EF4-FFF2-40B4-BE49-F238E27FC236}">
                <a16:creationId xmlns:a16="http://schemas.microsoft.com/office/drawing/2014/main" id="{A293B1D6-34A8-4217-939E-CBA0AC5863CD}"/>
              </a:ext>
            </a:extLst>
          </p:cNvPr>
          <p:cNvGrpSpPr>
            <a:grpSpLocks/>
          </p:cNvGrpSpPr>
          <p:nvPr/>
        </p:nvGrpSpPr>
        <p:grpSpPr bwMode="auto">
          <a:xfrm>
            <a:off x="611188" y="5551488"/>
            <a:ext cx="7278687" cy="685800"/>
            <a:chOff x="385" y="3497"/>
            <a:chExt cx="4585" cy="432"/>
          </a:xfrm>
        </p:grpSpPr>
        <p:sp>
          <p:nvSpPr>
            <p:cNvPr id="69643" name="Rectangle 30">
              <a:extLst>
                <a:ext uri="{FF2B5EF4-FFF2-40B4-BE49-F238E27FC236}">
                  <a16:creationId xmlns:a16="http://schemas.microsoft.com/office/drawing/2014/main" id="{7BA7E36A-13DB-4A52-AEC7-B2AB7CC9D733}"/>
                </a:ext>
              </a:extLst>
            </p:cNvPr>
            <p:cNvSpPr>
              <a:spLocks noChangeArrowheads="1"/>
            </p:cNvSpPr>
            <p:nvPr/>
          </p:nvSpPr>
          <p:spPr bwMode="auto">
            <a:xfrm>
              <a:off x="385" y="3593"/>
              <a:ext cx="45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dirty="0">
                  <a:solidFill>
                    <a:srgbClr val="000066"/>
                  </a:solidFill>
                  <a:latin typeface="Times New Roman" panose="02020603050405020304" pitchFamily="18" charset="0"/>
                </a:rPr>
                <a:t>对于单边突变结，     ，</a:t>
              </a:r>
              <a:endParaRPr lang="ko-KR" altLang="en-US" dirty="0">
                <a:latin typeface="Times New Roman" panose="02020603050405020304" pitchFamily="18" charset="0"/>
                <a:ea typeface="Gulim" panose="020B0600000101010101" pitchFamily="34" charset="-127"/>
              </a:endParaRPr>
            </a:p>
          </p:txBody>
        </p:sp>
        <p:graphicFrame>
          <p:nvGraphicFramePr>
            <p:cNvPr id="69644" name="Object 31">
              <a:extLst>
                <a:ext uri="{FF2B5EF4-FFF2-40B4-BE49-F238E27FC236}">
                  <a16:creationId xmlns:a16="http://schemas.microsoft.com/office/drawing/2014/main" id="{2FCF35CC-19C2-48C4-B3B7-2027920EF61D}"/>
                </a:ext>
              </a:extLst>
            </p:cNvPr>
            <p:cNvGraphicFramePr>
              <a:graphicFrameLocks noChangeAspect="1"/>
            </p:cNvGraphicFramePr>
            <p:nvPr/>
          </p:nvGraphicFramePr>
          <p:xfrm>
            <a:off x="1681" y="3497"/>
            <a:ext cx="432" cy="432"/>
          </p:xfrm>
          <a:graphic>
            <a:graphicData uri="http://schemas.openxmlformats.org/presentationml/2006/ole">
              <mc:AlternateContent xmlns:mc="http://schemas.openxmlformats.org/markup-compatibility/2006">
                <mc:Choice xmlns:v="urn:schemas-microsoft-com:vml" Requires="v">
                  <p:oleObj spid="_x0000_s114782" r:id="rId7" imgW="393529" imgH="393529" progId="Equation.3">
                    <p:embed/>
                  </p:oleObj>
                </mc:Choice>
                <mc:Fallback>
                  <p:oleObj r:id="rId7" imgW="393529" imgH="393529" progId="Equation.3">
                    <p:embed/>
                    <p:pic>
                      <p:nvPicPr>
                        <p:cNvPr id="69644" name="Object 31">
                          <a:extLst>
                            <a:ext uri="{FF2B5EF4-FFF2-40B4-BE49-F238E27FC236}">
                              <a16:creationId xmlns:a16="http://schemas.microsoft.com/office/drawing/2014/main" id="{2FCF35CC-19C2-48C4-B3B7-2027920EF61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1" y="3497"/>
                          <a:ext cx="43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2738699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6" name="Rectangle 4">
            <a:extLst>
              <a:ext uri="{FF2B5EF4-FFF2-40B4-BE49-F238E27FC236}">
                <a16:creationId xmlns:a16="http://schemas.microsoft.com/office/drawing/2014/main" id="{048BDE51-EFE8-440E-BA77-91D72C5F0A8D}"/>
              </a:ext>
            </a:extLst>
          </p:cNvPr>
          <p:cNvSpPr>
            <a:spLocks noChangeArrowheads="1"/>
          </p:cNvSpPr>
          <p:nvPr/>
        </p:nvSpPr>
        <p:spPr bwMode="auto">
          <a:xfrm>
            <a:off x="611188" y="1844675"/>
            <a:ext cx="61318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a:solidFill>
                  <a:srgbClr val="000066"/>
                </a:solidFill>
                <a:latin typeface="Times New Roman" panose="02020603050405020304" pitchFamily="18" charset="0"/>
              </a:rPr>
              <a:t>包括一个</a:t>
            </a:r>
            <a:r>
              <a:rPr kumimoji="0" lang="en-US" altLang="zh-CN" sz="2000" b="1">
                <a:solidFill>
                  <a:srgbClr val="000066"/>
                </a:solidFill>
                <a:latin typeface="Times New Roman" panose="02020603050405020304" pitchFamily="18" charset="0"/>
              </a:rPr>
              <a:t>P-N</a:t>
            </a:r>
            <a:r>
              <a:rPr kumimoji="0" lang="zh-CN" altLang="en-US" sz="2000" b="1">
                <a:solidFill>
                  <a:srgbClr val="000066"/>
                </a:solidFill>
                <a:latin typeface="Times New Roman" panose="02020603050405020304" pitchFamily="18" charset="0"/>
              </a:rPr>
              <a:t>结电容的</a:t>
            </a:r>
            <a:r>
              <a:rPr kumimoji="0" lang="en-US" altLang="zh-CN" sz="2000" b="1">
                <a:solidFill>
                  <a:srgbClr val="000066"/>
                </a:solidFill>
                <a:latin typeface="Times New Roman" panose="02020603050405020304" pitchFamily="18" charset="0"/>
              </a:rPr>
              <a:t>LC</a:t>
            </a:r>
            <a:r>
              <a:rPr kumimoji="0" lang="zh-CN" altLang="en-US" sz="2000" b="1">
                <a:solidFill>
                  <a:srgbClr val="000066"/>
                </a:solidFill>
                <a:latin typeface="Times New Roman" panose="02020603050405020304" pitchFamily="18" charset="0"/>
              </a:rPr>
              <a:t>电路，其谐振频率可表示为</a:t>
            </a:r>
          </a:p>
        </p:txBody>
      </p:sp>
      <p:graphicFrame>
        <p:nvGraphicFramePr>
          <p:cNvPr id="479247" name="Object 15">
            <a:extLst>
              <a:ext uri="{FF2B5EF4-FFF2-40B4-BE49-F238E27FC236}">
                <a16:creationId xmlns:a16="http://schemas.microsoft.com/office/drawing/2014/main" id="{ED3D9D37-B3CB-4709-83E0-764D86A253A1}"/>
              </a:ext>
            </a:extLst>
          </p:cNvPr>
          <p:cNvGraphicFramePr>
            <a:graphicFrameLocks noChangeAspect="1"/>
          </p:cNvGraphicFramePr>
          <p:nvPr/>
        </p:nvGraphicFramePr>
        <p:xfrm>
          <a:off x="1476375" y="2349500"/>
          <a:ext cx="2663825" cy="804863"/>
        </p:xfrm>
        <a:graphic>
          <a:graphicData uri="http://schemas.openxmlformats.org/presentationml/2006/ole">
            <mc:AlternateContent xmlns:mc="http://schemas.openxmlformats.org/markup-compatibility/2006">
              <mc:Choice xmlns:v="urn:schemas-microsoft-com:vml" Requires="v">
                <p:oleObj spid="_x0000_s115774" r:id="rId3" imgW="1637589" imgH="495085" progId="Equation.3">
                  <p:embed/>
                </p:oleObj>
              </mc:Choice>
              <mc:Fallback>
                <p:oleObj r:id="rId3" imgW="1637589" imgH="495085" progId="Equation.3">
                  <p:embed/>
                  <p:pic>
                    <p:nvPicPr>
                      <p:cNvPr id="479247" name="Object 15">
                        <a:extLst>
                          <a:ext uri="{FF2B5EF4-FFF2-40B4-BE49-F238E27FC236}">
                            <a16:creationId xmlns:a16="http://schemas.microsoft.com/office/drawing/2014/main" id="{ED3D9D37-B3CB-4709-83E0-764D86A253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2349500"/>
                        <a:ext cx="2663825"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20">
            <a:extLst>
              <a:ext uri="{FF2B5EF4-FFF2-40B4-BE49-F238E27FC236}">
                <a16:creationId xmlns:a16="http://schemas.microsoft.com/office/drawing/2014/main" id="{B56EFECE-9039-4ABA-BDA4-2AD8FA8DD7FA}"/>
              </a:ext>
            </a:extLst>
          </p:cNvPr>
          <p:cNvGrpSpPr>
            <a:grpSpLocks/>
          </p:cNvGrpSpPr>
          <p:nvPr/>
        </p:nvGrpSpPr>
        <p:grpSpPr bwMode="auto">
          <a:xfrm>
            <a:off x="611188" y="3357565"/>
            <a:ext cx="7993062" cy="795338"/>
            <a:chOff x="385" y="2115"/>
            <a:chExt cx="5035" cy="501"/>
          </a:xfrm>
        </p:grpSpPr>
        <p:sp>
          <p:nvSpPr>
            <p:cNvPr id="70664" name="Rectangle 16">
              <a:extLst>
                <a:ext uri="{FF2B5EF4-FFF2-40B4-BE49-F238E27FC236}">
                  <a16:creationId xmlns:a16="http://schemas.microsoft.com/office/drawing/2014/main" id="{1F0818D9-0308-4D19-AC17-832D729C7F0C}"/>
                </a:ext>
              </a:extLst>
            </p:cNvPr>
            <p:cNvSpPr>
              <a:spLocks noChangeArrowheads="1"/>
            </p:cNvSpPr>
            <p:nvPr/>
          </p:nvSpPr>
          <p:spPr bwMode="auto">
            <a:xfrm>
              <a:off x="385" y="2115"/>
              <a:ext cx="5035"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lang="ko-KR" altLang="en-US" sz="2000" b="1">
                  <a:solidFill>
                    <a:srgbClr val="000066"/>
                  </a:solidFill>
                  <a:latin typeface="Times New Roman" panose="02020603050405020304" pitchFamily="18" charset="0"/>
                </a:rPr>
                <a:t>在电路应用中，总是希望在谐振频率和控制电压之间有线性关系，也就是说，要求      。</a:t>
              </a:r>
            </a:p>
          </p:txBody>
        </p:sp>
        <p:graphicFrame>
          <p:nvGraphicFramePr>
            <p:cNvPr id="70665" name="Object 19">
              <a:extLst>
                <a:ext uri="{FF2B5EF4-FFF2-40B4-BE49-F238E27FC236}">
                  <a16:creationId xmlns:a16="http://schemas.microsoft.com/office/drawing/2014/main" id="{863B9C1B-D81E-440F-9D6F-B8A739E4DCAB}"/>
                </a:ext>
              </a:extLst>
            </p:cNvPr>
            <p:cNvGraphicFramePr>
              <a:graphicFrameLocks noChangeAspect="1"/>
            </p:cNvGraphicFramePr>
            <p:nvPr/>
          </p:nvGraphicFramePr>
          <p:xfrm>
            <a:off x="1429" y="2387"/>
            <a:ext cx="432" cy="210"/>
          </p:xfrm>
          <a:graphic>
            <a:graphicData uri="http://schemas.openxmlformats.org/presentationml/2006/ole">
              <mc:AlternateContent xmlns:mc="http://schemas.openxmlformats.org/markup-compatibility/2006">
                <mc:Choice xmlns:v="urn:schemas-microsoft-com:vml" Requires="v">
                  <p:oleObj spid="_x0000_s115775" r:id="rId5" imgW="368140" imgH="177723" progId="Equation.3">
                    <p:embed/>
                  </p:oleObj>
                </mc:Choice>
                <mc:Fallback>
                  <p:oleObj r:id="rId5" imgW="368140" imgH="177723" progId="Equation.3">
                    <p:embed/>
                    <p:pic>
                      <p:nvPicPr>
                        <p:cNvPr id="70665" name="Object 19">
                          <a:extLst>
                            <a:ext uri="{FF2B5EF4-FFF2-40B4-BE49-F238E27FC236}">
                              <a16:creationId xmlns:a16="http://schemas.microsoft.com/office/drawing/2014/main" id="{863B9C1B-D81E-440F-9D6F-B8A739E4DC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9" y="2387"/>
                          <a:ext cx="43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 name="标题 3">
            <a:extLst>
              <a:ext uri="{FF2B5EF4-FFF2-40B4-BE49-F238E27FC236}">
                <a16:creationId xmlns:a16="http://schemas.microsoft.com/office/drawing/2014/main" id="{7653A054-69AC-424B-9051-D2E5E3300FDC}"/>
              </a:ext>
            </a:extLst>
          </p:cNvPr>
          <p:cNvSpPr>
            <a:spLocks noGrp="1"/>
          </p:cNvSpPr>
          <p:nvPr>
            <p:ph type="title"/>
          </p:nvPr>
        </p:nvSpPr>
        <p:spPr/>
        <p:txBody>
          <a:bodyPr/>
          <a:lstStyle/>
          <a:p>
            <a:endParaRPr lang="zh-CN" altLang="en-US">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497605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5E824328-5372-463E-8320-036ADB74ED3C}"/>
              </a:ext>
            </a:extLst>
          </p:cNvPr>
          <p:cNvSpPr>
            <a:spLocks noGrp="1" noChangeArrowheads="1"/>
          </p:cNvSpPr>
          <p:nvPr>
            <p:ph type="title"/>
          </p:nvPr>
        </p:nvSpPr>
        <p:spPr>
          <a:xfrm>
            <a:off x="251520" y="-9089"/>
            <a:ext cx="7886700" cy="1325563"/>
          </a:xfrm>
        </p:spPr>
        <p:txBody>
          <a:bodyPr/>
          <a:lstStyle/>
          <a:p>
            <a:pPr>
              <a:lnSpc>
                <a:spcPct val="110000"/>
              </a:lnSpc>
              <a:spcBef>
                <a:spcPts val="0"/>
              </a:spcBef>
            </a:pPr>
            <a:r>
              <a:rPr lang="en-US" altLang="zh-CN" sz="3200" dirty="0">
                <a:latin typeface="Times New Roman" panose="02020603050405020304" pitchFamily="18" charset="0"/>
                <a:ea typeface="宋体" panose="02010600030101010101" pitchFamily="2" charset="-122"/>
              </a:rPr>
              <a:t>2.6.2 PN</a:t>
            </a:r>
            <a:r>
              <a:rPr lang="zh-CN" altLang="en-US" sz="3200" dirty="0">
                <a:latin typeface="Times New Roman" panose="02020603050405020304" pitchFamily="18" charset="0"/>
                <a:ea typeface="宋体" panose="02010600030101010101" pitchFamily="2" charset="-122"/>
              </a:rPr>
              <a:t>结的扩散电容</a:t>
            </a:r>
          </a:p>
        </p:txBody>
      </p:sp>
      <p:sp>
        <p:nvSpPr>
          <p:cNvPr id="108547" name="Rectangle 3">
            <a:extLst>
              <a:ext uri="{FF2B5EF4-FFF2-40B4-BE49-F238E27FC236}">
                <a16:creationId xmlns:a16="http://schemas.microsoft.com/office/drawing/2014/main" id="{528925A7-2A1F-40DE-9F65-7FCB23B352FA}"/>
              </a:ext>
            </a:extLst>
          </p:cNvPr>
          <p:cNvSpPr>
            <a:spLocks noGrp="1" noChangeArrowheads="1"/>
          </p:cNvSpPr>
          <p:nvPr>
            <p:ph idx="1"/>
          </p:nvPr>
        </p:nvSpPr>
        <p:spPr>
          <a:xfrm>
            <a:off x="80368" y="1081223"/>
            <a:ext cx="8964488" cy="913968"/>
          </a:xfrm>
        </p:spPr>
        <p:txBody>
          <a:bodyPr>
            <a:normAutofit/>
          </a:bodyPr>
          <a:lstStyle/>
          <a:p>
            <a:pPr>
              <a:lnSpc>
                <a:spcPct val="110000"/>
              </a:lnSpc>
              <a:spcBef>
                <a:spcPts val="0"/>
              </a:spcBef>
              <a:buFont typeface="Wingdings" panose="05000000000000000000" pitchFamily="2" charset="2"/>
              <a:buNone/>
            </a:pPr>
            <a:r>
              <a:rPr lang="en-US" altLang="zh-CN" sz="2000" b="1" dirty="0">
                <a:solidFill>
                  <a:srgbClr val="FF0000"/>
                </a:solidFill>
                <a:latin typeface="Times New Roman" panose="02020603050405020304" pitchFamily="18" charset="0"/>
                <a:ea typeface="宋体" panose="02010600030101010101" pitchFamily="2" charset="-122"/>
              </a:rPr>
              <a:t>	</a:t>
            </a:r>
            <a:r>
              <a:rPr lang="zh-CN" altLang="en-US" sz="2000" b="1" dirty="0">
                <a:solidFill>
                  <a:srgbClr val="FF0000"/>
                </a:solidFill>
                <a:latin typeface="Times New Roman" panose="02020603050405020304" pitchFamily="18" charset="0"/>
                <a:ea typeface="宋体" panose="02010600030101010101" pitchFamily="2" charset="-122"/>
              </a:rPr>
              <a:t>当</a:t>
            </a:r>
            <a:r>
              <a:rPr lang="en-US" altLang="zh-CN" sz="2000" b="1" dirty="0">
                <a:solidFill>
                  <a:srgbClr val="FF0000"/>
                </a:solidFill>
                <a:latin typeface="Times New Roman" panose="02020603050405020304" pitchFamily="18" charset="0"/>
                <a:ea typeface="宋体" panose="02010600030101010101" pitchFamily="2" charset="-122"/>
              </a:rPr>
              <a:t>PN</a:t>
            </a:r>
            <a:r>
              <a:rPr lang="zh-CN" altLang="en-US" sz="2000" b="1" dirty="0">
                <a:solidFill>
                  <a:srgbClr val="FF0000"/>
                </a:solidFill>
                <a:latin typeface="Times New Roman" panose="02020603050405020304" pitchFamily="18" charset="0"/>
                <a:ea typeface="宋体" panose="02010600030101010101" pitchFamily="2" charset="-122"/>
              </a:rPr>
              <a:t>处于正偏状态时，由电荷在扩散区存储所形成的电容称扩散电容，反应了积累在扩散区中的非平衡载流子电荷随电压的变化规律。</a:t>
            </a:r>
          </a:p>
        </p:txBody>
      </p:sp>
      <p:graphicFrame>
        <p:nvGraphicFramePr>
          <p:cNvPr id="4" name="Object 6">
            <a:extLst>
              <a:ext uri="{FF2B5EF4-FFF2-40B4-BE49-F238E27FC236}">
                <a16:creationId xmlns:a16="http://schemas.microsoft.com/office/drawing/2014/main" id="{FFECBEF3-8001-4F1F-9E3A-F74AB4DC61AA}"/>
              </a:ext>
            </a:extLst>
          </p:cNvPr>
          <p:cNvGraphicFramePr>
            <a:graphicFrameLocks noChangeAspect="1"/>
          </p:cNvGraphicFramePr>
          <p:nvPr>
            <p:extLst>
              <p:ext uri="{D42A27DB-BD31-4B8C-83A1-F6EECF244321}">
                <p14:modId xmlns:p14="http://schemas.microsoft.com/office/powerpoint/2010/main" val="4232233611"/>
              </p:ext>
            </p:extLst>
          </p:nvPr>
        </p:nvGraphicFramePr>
        <p:xfrm>
          <a:off x="1851125" y="2854027"/>
          <a:ext cx="2652712" cy="781050"/>
        </p:xfrm>
        <a:graphic>
          <a:graphicData uri="http://schemas.openxmlformats.org/presentationml/2006/ole">
            <mc:AlternateContent xmlns:mc="http://schemas.openxmlformats.org/markup-compatibility/2006">
              <mc:Choice xmlns:v="urn:schemas-microsoft-com:vml" Requires="v">
                <p:oleObj spid="_x0000_s118864" name="Equation" r:id="rId3" imgW="1651000" imgH="482600" progId="Equation.DSMT4">
                  <p:embed/>
                </p:oleObj>
              </mc:Choice>
              <mc:Fallback>
                <p:oleObj name="Equation" r:id="rId3" imgW="1651000" imgH="482600" progId="Equation.DSMT4">
                  <p:embed/>
                  <p:pic>
                    <p:nvPicPr>
                      <p:cNvPr id="152582" name="Object 6">
                        <a:extLst>
                          <a:ext uri="{FF2B5EF4-FFF2-40B4-BE49-F238E27FC236}">
                            <a16:creationId xmlns:a16="http://schemas.microsoft.com/office/drawing/2014/main" id="{5A828FA6-40E5-4BEB-AD76-DA89305D07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1125" y="2854027"/>
                        <a:ext cx="2652712"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a:extLst>
              <a:ext uri="{FF2B5EF4-FFF2-40B4-BE49-F238E27FC236}">
                <a16:creationId xmlns:a16="http://schemas.microsoft.com/office/drawing/2014/main" id="{E2A2C43C-0CCD-45E4-9360-15916CE72271}"/>
              </a:ext>
            </a:extLst>
          </p:cNvPr>
          <p:cNvGraphicFramePr>
            <a:graphicFrameLocks noChangeAspect="1"/>
          </p:cNvGraphicFramePr>
          <p:nvPr>
            <p:extLst>
              <p:ext uri="{D42A27DB-BD31-4B8C-83A1-F6EECF244321}">
                <p14:modId xmlns:p14="http://schemas.microsoft.com/office/powerpoint/2010/main" val="2767616095"/>
              </p:ext>
            </p:extLst>
          </p:nvPr>
        </p:nvGraphicFramePr>
        <p:xfrm>
          <a:off x="2719487" y="4454227"/>
          <a:ext cx="1905000" cy="433388"/>
        </p:xfrm>
        <a:graphic>
          <a:graphicData uri="http://schemas.openxmlformats.org/presentationml/2006/ole">
            <mc:AlternateContent xmlns:mc="http://schemas.openxmlformats.org/markup-compatibility/2006">
              <mc:Choice xmlns:v="urn:schemas-microsoft-com:vml" Requires="v">
                <p:oleObj spid="_x0000_s118865" name="Equation" r:id="rId5" imgW="1167893" imgH="266584" progId="Equation.DSMT4">
                  <p:embed/>
                </p:oleObj>
              </mc:Choice>
              <mc:Fallback>
                <p:oleObj name="Equation" r:id="rId5" imgW="1167893" imgH="266584" progId="Equation.DSMT4">
                  <p:embed/>
                  <p:pic>
                    <p:nvPicPr>
                      <p:cNvPr id="152580" name="Object 4">
                        <a:extLst>
                          <a:ext uri="{FF2B5EF4-FFF2-40B4-BE49-F238E27FC236}">
                            <a16:creationId xmlns:a16="http://schemas.microsoft.com/office/drawing/2014/main" id="{E1DCCC7F-1B6F-4DCF-9F95-C064D293B2D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9487" y="4454227"/>
                        <a:ext cx="190500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 name="Picture 7">
            <a:extLst>
              <a:ext uri="{FF2B5EF4-FFF2-40B4-BE49-F238E27FC236}">
                <a16:creationId xmlns:a16="http://schemas.microsoft.com/office/drawing/2014/main" id="{C5CAA1CF-4917-4244-BCBB-464E17F3A9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34526" y="1875704"/>
            <a:ext cx="2209800"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1">
            <a:extLst>
              <a:ext uri="{FF2B5EF4-FFF2-40B4-BE49-F238E27FC236}">
                <a16:creationId xmlns:a16="http://schemas.microsoft.com/office/drawing/2014/main" id="{49192A15-97E3-45ED-8515-87394F7F73E8}"/>
              </a:ext>
            </a:extLst>
          </p:cNvPr>
          <p:cNvSpPr>
            <a:spLocks noChangeArrowheads="1"/>
          </p:cNvSpPr>
          <p:nvPr/>
        </p:nvSpPr>
        <p:spPr bwMode="auto">
          <a:xfrm>
            <a:off x="471587" y="3934154"/>
            <a:ext cx="4495800" cy="403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r>
              <a:rPr lang="zh-CN" altLang="en-US" dirty="0">
                <a:solidFill>
                  <a:schemeClr val="tx1"/>
                </a:solidFill>
              </a:rPr>
              <a:t>偏置电压</a:t>
            </a:r>
            <a:r>
              <a:rPr lang="en-US" altLang="zh-CN" i="1" dirty="0">
                <a:solidFill>
                  <a:schemeClr val="tx1"/>
                </a:solidFill>
              </a:rPr>
              <a:t>v</a:t>
            </a:r>
            <a:r>
              <a:rPr lang="zh-CN" altLang="en-US" dirty="0">
                <a:solidFill>
                  <a:schemeClr val="tx1"/>
                </a:solidFill>
              </a:rPr>
              <a:t>随时间而变化</a:t>
            </a:r>
          </a:p>
        </p:txBody>
      </p:sp>
      <p:sp>
        <p:nvSpPr>
          <p:cNvPr id="9" name="Rectangle 12">
            <a:extLst>
              <a:ext uri="{FF2B5EF4-FFF2-40B4-BE49-F238E27FC236}">
                <a16:creationId xmlns:a16="http://schemas.microsoft.com/office/drawing/2014/main" id="{F22E02CD-6E01-420C-AD26-7D7E88AAA400}"/>
              </a:ext>
            </a:extLst>
          </p:cNvPr>
          <p:cNvSpPr>
            <a:spLocks noChangeArrowheads="1"/>
          </p:cNvSpPr>
          <p:nvPr/>
        </p:nvSpPr>
        <p:spPr bwMode="auto">
          <a:xfrm>
            <a:off x="433487" y="5063827"/>
            <a:ext cx="624840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zh-CN" altLang="en-US">
                <a:solidFill>
                  <a:schemeClr val="tx1"/>
                </a:solidFill>
              </a:rPr>
              <a:t>也将随着时间而不断地发生变化</a:t>
            </a:r>
            <a:endParaRPr lang="en-US" altLang="zh-CN">
              <a:solidFill>
                <a:schemeClr val="tx1"/>
              </a:solidFill>
            </a:endParaRPr>
          </a:p>
          <a:p>
            <a:pPr eaLnBrk="1" hangingPunct="1">
              <a:lnSpc>
                <a:spcPct val="130000"/>
              </a:lnSpc>
              <a:spcBef>
                <a:spcPct val="0"/>
              </a:spcBef>
              <a:buClrTx/>
              <a:buFontTx/>
              <a:buNone/>
            </a:pPr>
            <a:r>
              <a:rPr lang="zh-CN" altLang="en-US">
                <a:solidFill>
                  <a:schemeClr val="tx1"/>
                </a:solidFill>
              </a:rPr>
              <a:t>将少子浓度代入连续性方程，可得反映</a:t>
            </a:r>
            <a:r>
              <a:rPr lang="en-US" altLang="zh-CN">
                <a:solidFill>
                  <a:schemeClr val="tx1"/>
                </a:solidFill>
              </a:rPr>
              <a:t>PN</a:t>
            </a:r>
            <a:r>
              <a:rPr lang="zh-CN" altLang="en-US">
                <a:solidFill>
                  <a:schemeClr val="tx1"/>
                </a:solidFill>
              </a:rPr>
              <a:t>结频率特性的参量</a:t>
            </a:r>
            <a:r>
              <a:rPr lang="en-US" altLang="zh-CN">
                <a:solidFill>
                  <a:schemeClr val="tx1"/>
                </a:solidFill>
              </a:rPr>
              <a:t>——</a:t>
            </a:r>
            <a:r>
              <a:rPr lang="zh-CN" altLang="en-US">
                <a:solidFill>
                  <a:schemeClr val="tx1"/>
                </a:solidFill>
              </a:rPr>
              <a:t>交流导纳</a:t>
            </a:r>
          </a:p>
        </p:txBody>
      </p:sp>
      <p:sp>
        <p:nvSpPr>
          <p:cNvPr id="10" name="Rectangle 14">
            <a:extLst>
              <a:ext uri="{FF2B5EF4-FFF2-40B4-BE49-F238E27FC236}">
                <a16:creationId xmlns:a16="http://schemas.microsoft.com/office/drawing/2014/main" id="{59A78BDD-5BC9-4418-A01B-366D2D4E8992}"/>
              </a:ext>
            </a:extLst>
          </p:cNvPr>
          <p:cNvSpPr>
            <a:spLocks noChangeArrowheads="1"/>
          </p:cNvSpPr>
          <p:nvPr/>
        </p:nvSpPr>
        <p:spPr bwMode="auto">
          <a:xfrm>
            <a:off x="509687" y="4530427"/>
            <a:ext cx="1991251" cy="403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r>
              <a:rPr lang="zh-CN" altLang="en-US">
                <a:solidFill>
                  <a:schemeClr val="tx1"/>
                </a:solidFill>
              </a:rPr>
              <a:t>注入的少子浓度</a:t>
            </a:r>
          </a:p>
        </p:txBody>
      </p:sp>
      <p:pic>
        <p:nvPicPr>
          <p:cNvPr id="11" name="Picture 15">
            <a:extLst>
              <a:ext uri="{FF2B5EF4-FFF2-40B4-BE49-F238E27FC236}">
                <a16:creationId xmlns:a16="http://schemas.microsoft.com/office/drawing/2014/main" id="{FFA087DD-CA07-45EF-9A4A-9A46CB2E140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62046" y="3683126"/>
            <a:ext cx="2704178" cy="1746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7">
            <a:extLst>
              <a:ext uri="{FF2B5EF4-FFF2-40B4-BE49-F238E27FC236}">
                <a16:creationId xmlns:a16="http://schemas.microsoft.com/office/drawing/2014/main" id="{7D283CB7-CBCE-4567-A225-3A156BF71A92}"/>
              </a:ext>
            </a:extLst>
          </p:cNvPr>
          <p:cNvSpPr>
            <a:spLocks noChangeArrowheads="1"/>
          </p:cNvSpPr>
          <p:nvPr/>
        </p:nvSpPr>
        <p:spPr bwMode="auto">
          <a:xfrm>
            <a:off x="204924" y="2188869"/>
            <a:ext cx="4398961" cy="403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r>
              <a:rPr lang="zh-CN" altLang="en-US" dirty="0">
                <a:solidFill>
                  <a:schemeClr val="tx1"/>
                </a:solidFill>
              </a:rPr>
              <a:t>施加在</a:t>
            </a:r>
            <a:r>
              <a:rPr lang="en-US" altLang="zh-CN" dirty="0">
                <a:solidFill>
                  <a:schemeClr val="tx1"/>
                </a:solidFill>
              </a:rPr>
              <a:t>PN</a:t>
            </a:r>
            <a:r>
              <a:rPr lang="zh-CN" altLang="en-US" dirty="0">
                <a:solidFill>
                  <a:schemeClr val="tx1"/>
                </a:solidFill>
              </a:rPr>
              <a:t>结上的电压和流过的电流：</a:t>
            </a:r>
          </a:p>
        </p:txBody>
      </p:sp>
      <p:graphicFrame>
        <p:nvGraphicFramePr>
          <p:cNvPr id="14" name="Object 14">
            <a:extLst>
              <a:ext uri="{FF2B5EF4-FFF2-40B4-BE49-F238E27FC236}">
                <a16:creationId xmlns:a16="http://schemas.microsoft.com/office/drawing/2014/main" id="{8AA3D3E5-B23A-4B01-B9A2-47B9B528BF50}"/>
              </a:ext>
            </a:extLst>
          </p:cNvPr>
          <p:cNvGraphicFramePr>
            <a:graphicFrameLocks noChangeAspect="1"/>
          </p:cNvGraphicFramePr>
          <p:nvPr>
            <p:extLst>
              <p:ext uri="{D42A27DB-BD31-4B8C-83A1-F6EECF244321}">
                <p14:modId xmlns:p14="http://schemas.microsoft.com/office/powerpoint/2010/main" val="2196678312"/>
              </p:ext>
            </p:extLst>
          </p:nvPr>
        </p:nvGraphicFramePr>
        <p:xfrm>
          <a:off x="3176687" y="5902027"/>
          <a:ext cx="1997075" cy="685800"/>
        </p:xfrm>
        <a:graphic>
          <a:graphicData uri="http://schemas.openxmlformats.org/presentationml/2006/ole">
            <mc:AlternateContent xmlns:mc="http://schemas.openxmlformats.org/markup-compatibility/2006">
              <mc:Choice xmlns:v="urn:schemas-microsoft-com:vml" Requires="v">
                <p:oleObj spid="_x0000_s118866" name="Equation" r:id="rId9" imgW="1257300" imgH="431800" progId="Equation.DSMT4">
                  <p:embed/>
                </p:oleObj>
              </mc:Choice>
              <mc:Fallback>
                <p:oleObj name="Equation" r:id="rId9" imgW="1257300" imgH="431800" progId="Equation.DSMT4">
                  <p:embed/>
                  <p:pic>
                    <p:nvPicPr>
                      <p:cNvPr id="45070" name="Object 14">
                        <a:extLst>
                          <a:ext uri="{FF2B5EF4-FFF2-40B4-BE49-F238E27FC236}">
                            <a16:creationId xmlns:a16="http://schemas.microsoft.com/office/drawing/2014/main" id="{35DE5050-8DA3-457F-8E75-1A85BDFB850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76687" y="5902027"/>
                        <a:ext cx="19970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a:extLst>
              <a:ext uri="{FF2B5EF4-FFF2-40B4-BE49-F238E27FC236}">
                <a16:creationId xmlns:a16="http://schemas.microsoft.com/office/drawing/2014/main" id="{713B1F92-2EA6-4E76-BD95-43D98B53D7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57200"/>
            <a:ext cx="35814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5">
            <a:extLst>
              <a:ext uri="{FF2B5EF4-FFF2-40B4-BE49-F238E27FC236}">
                <a16:creationId xmlns:a16="http://schemas.microsoft.com/office/drawing/2014/main" id="{5D5156F9-4680-46B1-B240-1DB83BEA700A}"/>
              </a:ext>
            </a:extLst>
          </p:cNvPr>
          <p:cNvSpPr>
            <a:spLocks noChangeArrowheads="1"/>
          </p:cNvSpPr>
          <p:nvPr/>
        </p:nvSpPr>
        <p:spPr bwMode="auto">
          <a:xfrm>
            <a:off x="3810000" y="474663"/>
            <a:ext cx="4953000"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indent="304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zh-CN" altLang="en-US" sz="1600">
                <a:solidFill>
                  <a:schemeClr val="tx1"/>
                </a:solidFill>
              </a:rPr>
              <a:t>以空穴由</a:t>
            </a:r>
            <a:r>
              <a:rPr lang="en-US" altLang="zh-CN" sz="1600">
                <a:solidFill>
                  <a:schemeClr val="tx1"/>
                </a:solidFill>
              </a:rPr>
              <a:t>P</a:t>
            </a:r>
            <a:r>
              <a:rPr lang="zh-CN" altLang="en-US" sz="1600">
                <a:solidFill>
                  <a:schemeClr val="tx1"/>
                </a:solidFill>
              </a:rPr>
              <a:t>型区注入</a:t>
            </a:r>
            <a:r>
              <a:rPr lang="en-US" altLang="zh-CN" sz="1600">
                <a:solidFill>
                  <a:schemeClr val="tx1"/>
                </a:solidFill>
              </a:rPr>
              <a:t>N</a:t>
            </a:r>
            <a:r>
              <a:rPr lang="zh-CN" altLang="en-US" sz="1600">
                <a:solidFill>
                  <a:schemeClr val="tx1"/>
                </a:solidFill>
              </a:rPr>
              <a:t>型区为例，在</a:t>
            </a:r>
            <a:r>
              <a:rPr lang="en-US" altLang="zh-CN" sz="1600" i="1">
                <a:solidFill>
                  <a:schemeClr val="tx1"/>
                </a:solidFill>
              </a:rPr>
              <a:t>t</a:t>
            </a:r>
            <a:r>
              <a:rPr lang="en-US" altLang="zh-CN" sz="1600" i="1" baseline="-30000">
                <a:solidFill>
                  <a:schemeClr val="tx1"/>
                </a:solidFill>
              </a:rPr>
              <a:t>0</a:t>
            </a:r>
            <a:r>
              <a:rPr lang="zh-CN" altLang="en-US" sz="1600">
                <a:solidFill>
                  <a:schemeClr val="tx1"/>
                </a:solidFill>
              </a:rPr>
              <a:t>、</a:t>
            </a:r>
            <a:r>
              <a:rPr lang="en-US" altLang="zh-CN" sz="1600" i="1">
                <a:solidFill>
                  <a:schemeClr val="tx1"/>
                </a:solidFill>
              </a:rPr>
              <a:t>t</a:t>
            </a:r>
            <a:r>
              <a:rPr lang="en-US" altLang="zh-CN" sz="1600" i="1" baseline="-30000">
                <a:solidFill>
                  <a:schemeClr val="tx1"/>
                </a:solidFill>
              </a:rPr>
              <a:t>1</a:t>
            </a:r>
            <a:r>
              <a:rPr lang="zh-CN" altLang="en-US" sz="1600">
                <a:solidFill>
                  <a:schemeClr val="tx1"/>
                </a:solidFill>
              </a:rPr>
              <a:t>、</a:t>
            </a:r>
            <a:r>
              <a:rPr lang="en-US" altLang="zh-CN" sz="1600" i="1">
                <a:solidFill>
                  <a:schemeClr val="tx1"/>
                </a:solidFill>
              </a:rPr>
              <a:t>t</a:t>
            </a:r>
            <a:r>
              <a:rPr lang="en-US" altLang="zh-CN" sz="1600" i="1" baseline="-30000">
                <a:solidFill>
                  <a:schemeClr val="tx1"/>
                </a:solidFill>
              </a:rPr>
              <a:t>2</a:t>
            </a:r>
            <a:r>
              <a:rPr lang="zh-CN" altLang="en-US" sz="1600">
                <a:solidFill>
                  <a:schemeClr val="tx1"/>
                </a:solidFill>
              </a:rPr>
              <a:t>三个时刻，</a:t>
            </a:r>
            <a:r>
              <a:rPr lang="en-US" altLang="zh-CN" sz="1600">
                <a:solidFill>
                  <a:schemeClr val="tx1"/>
                </a:solidFill>
              </a:rPr>
              <a:t>N</a:t>
            </a:r>
            <a:r>
              <a:rPr lang="zh-CN" altLang="en-US" sz="1600">
                <a:solidFill>
                  <a:schemeClr val="tx1"/>
                </a:solidFill>
              </a:rPr>
              <a:t>型区一侧空间电荷区边界处少子空穴的浓度分别如图。</a:t>
            </a:r>
          </a:p>
          <a:p>
            <a:pPr eaLnBrk="1" hangingPunct="1">
              <a:lnSpc>
                <a:spcPct val="150000"/>
              </a:lnSpc>
              <a:spcBef>
                <a:spcPct val="0"/>
              </a:spcBef>
              <a:buClrTx/>
              <a:buFontTx/>
              <a:buNone/>
            </a:pPr>
            <a:r>
              <a:rPr lang="zh-CN" altLang="en-US" sz="1600">
                <a:solidFill>
                  <a:schemeClr val="tx1"/>
                </a:solidFill>
              </a:rPr>
              <a:t>空间电荷区边界处少子空穴的浓度也在直流稳态的基础上叠加了一个随时间变化的交流分量。</a:t>
            </a:r>
          </a:p>
        </p:txBody>
      </p:sp>
      <p:pic>
        <p:nvPicPr>
          <p:cNvPr id="153606" name="Picture 6" descr="图片q5">
            <a:extLst>
              <a:ext uri="{FF2B5EF4-FFF2-40B4-BE49-F238E27FC236}">
                <a16:creationId xmlns:a16="http://schemas.microsoft.com/office/drawing/2014/main" id="{1C8BD4D1-D84A-4A45-932A-93073634B4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048000"/>
            <a:ext cx="32766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7" name="Rectangle 7">
            <a:extLst>
              <a:ext uri="{FF2B5EF4-FFF2-40B4-BE49-F238E27FC236}">
                <a16:creationId xmlns:a16="http://schemas.microsoft.com/office/drawing/2014/main" id="{BC1F6DF5-8842-4E80-AD3C-32E8E108962A}"/>
              </a:ext>
            </a:extLst>
          </p:cNvPr>
          <p:cNvSpPr>
            <a:spLocks noChangeArrowheads="1"/>
          </p:cNvSpPr>
          <p:nvPr/>
        </p:nvSpPr>
        <p:spPr bwMode="auto">
          <a:xfrm>
            <a:off x="3886200" y="3078163"/>
            <a:ext cx="5029200"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indent="3048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zh-CN" altLang="en-US" sz="1600">
                <a:solidFill>
                  <a:schemeClr val="tx1"/>
                </a:solidFill>
              </a:rPr>
              <a:t>空穴从耗尽区边界处开始将不断地向</a:t>
            </a:r>
            <a:r>
              <a:rPr lang="en-US" altLang="zh-CN" sz="1600">
                <a:solidFill>
                  <a:schemeClr val="tx1"/>
                </a:solidFill>
              </a:rPr>
              <a:t>N</a:t>
            </a:r>
            <a:r>
              <a:rPr lang="zh-CN" altLang="en-US" sz="1600">
                <a:solidFill>
                  <a:schemeClr val="tx1"/>
                </a:solidFill>
              </a:rPr>
              <a:t>中性区扩散，并在</a:t>
            </a:r>
            <a:r>
              <a:rPr lang="en-US" altLang="zh-CN" sz="1600">
                <a:solidFill>
                  <a:schemeClr val="tx1"/>
                </a:solidFill>
              </a:rPr>
              <a:t>N</a:t>
            </a:r>
            <a:r>
              <a:rPr lang="zh-CN" altLang="en-US" sz="1600">
                <a:solidFill>
                  <a:schemeClr val="tx1"/>
                </a:solidFill>
              </a:rPr>
              <a:t>型区中与多子电子相复合。一般交流电压信号的周期远大于过剩载流子的扩散时间，因此空穴浓度在</a:t>
            </a:r>
            <a:r>
              <a:rPr lang="en-US" altLang="zh-CN" sz="1600">
                <a:solidFill>
                  <a:schemeClr val="tx1"/>
                </a:solidFill>
              </a:rPr>
              <a:t>N</a:t>
            </a:r>
            <a:r>
              <a:rPr lang="zh-CN" altLang="en-US" sz="1600">
                <a:solidFill>
                  <a:schemeClr val="tx1"/>
                </a:solidFill>
              </a:rPr>
              <a:t>型区中随空间位置的分布可以近似为一种稳态分布</a:t>
            </a:r>
          </a:p>
        </p:txBody>
      </p:sp>
      <p:sp>
        <p:nvSpPr>
          <p:cNvPr id="153608" name="Rectangle 8">
            <a:extLst>
              <a:ext uri="{FF2B5EF4-FFF2-40B4-BE49-F238E27FC236}">
                <a16:creationId xmlns:a16="http://schemas.microsoft.com/office/drawing/2014/main" id="{A851EBAF-F150-468A-AB2E-FA0DE1EE0C18}"/>
              </a:ext>
            </a:extLst>
          </p:cNvPr>
          <p:cNvSpPr>
            <a:spLocks noChangeArrowheads="1"/>
          </p:cNvSpPr>
          <p:nvPr/>
        </p:nvSpPr>
        <p:spPr bwMode="auto">
          <a:xfrm>
            <a:off x="914400" y="5461000"/>
            <a:ext cx="67056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Tx/>
              <a:buNone/>
            </a:pPr>
            <a:r>
              <a:rPr lang="zh-CN" altLang="en-US" sz="1600">
                <a:solidFill>
                  <a:schemeClr val="tx1"/>
                </a:solidFill>
              </a:rPr>
              <a:t>对于电子由</a:t>
            </a:r>
            <a:r>
              <a:rPr lang="en-US" altLang="zh-CN" sz="1600">
                <a:solidFill>
                  <a:schemeClr val="tx1"/>
                </a:solidFill>
              </a:rPr>
              <a:t>N</a:t>
            </a:r>
            <a:r>
              <a:rPr lang="zh-CN" altLang="en-US" sz="1600">
                <a:solidFill>
                  <a:schemeClr val="tx1"/>
                </a:solidFill>
              </a:rPr>
              <a:t>型区注入到</a:t>
            </a:r>
            <a:r>
              <a:rPr lang="en-US" altLang="zh-CN" sz="1600">
                <a:solidFill>
                  <a:schemeClr val="tx1"/>
                </a:solidFill>
              </a:rPr>
              <a:t>P</a:t>
            </a:r>
            <a:r>
              <a:rPr lang="zh-CN" altLang="en-US" sz="1600">
                <a:solidFill>
                  <a:schemeClr val="tx1"/>
                </a:solidFill>
              </a:rPr>
              <a:t>型区中之后，过剩少子电子在</a:t>
            </a:r>
            <a:r>
              <a:rPr lang="en-US" altLang="zh-CN" sz="1600">
                <a:solidFill>
                  <a:schemeClr val="tx1"/>
                </a:solidFill>
              </a:rPr>
              <a:t>P</a:t>
            </a:r>
            <a:r>
              <a:rPr lang="zh-CN" altLang="en-US" sz="1600">
                <a:solidFill>
                  <a:schemeClr val="tx1"/>
                </a:solidFill>
              </a:rPr>
              <a:t>型区中的分布也表现出完全类似的情形。</a:t>
            </a:r>
          </a:p>
        </p:txBody>
      </p:sp>
    </p:spTree>
    <p:extLst>
      <p:ext uri="{BB962C8B-B14F-4D97-AF65-F5344CB8AC3E}">
        <p14:creationId xmlns:p14="http://schemas.microsoft.com/office/powerpoint/2010/main" val="2023878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1" name="Rectangle 3">
            <a:extLst>
              <a:ext uri="{FF2B5EF4-FFF2-40B4-BE49-F238E27FC236}">
                <a16:creationId xmlns:a16="http://schemas.microsoft.com/office/drawing/2014/main" id="{743E094F-C2F4-474F-A02B-CCEB051B3CB5}"/>
              </a:ext>
            </a:extLst>
          </p:cNvPr>
          <p:cNvSpPr>
            <a:spLocks noChangeArrowheads="1"/>
          </p:cNvSpPr>
          <p:nvPr/>
        </p:nvSpPr>
        <p:spPr bwMode="auto">
          <a:xfrm>
            <a:off x="2771800" y="792163"/>
            <a:ext cx="38877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3200" b="1" dirty="0">
                <a:solidFill>
                  <a:srgbClr val="FF0000"/>
                </a:solidFill>
                <a:latin typeface="Times New Roman" panose="02020603050405020304" pitchFamily="18" charset="0"/>
                <a:sym typeface="Symbol" panose="05050102010706020507" pitchFamily="18" charset="2"/>
              </a:rPr>
              <a:t>二极管的等效电路</a:t>
            </a:r>
            <a:r>
              <a:rPr kumimoji="0" lang="zh-CN" altLang="en-US" sz="3200" dirty="0">
                <a:solidFill>
                  <a:srgbClr val="FF0000"/>
                </a:solidFill>
                <a:latin typeface="Times New Roman" panose="02020603050405020304" pitchFamily="18" charset="0"/>
                <a:sym typeface="Symbol" panose="05050102010706020507" pitchFamily="18" charset="2"/>
              </a:rPr>
              <a:t> </a:t>
            </a:r>
            <a:endParaRPr kumimoji="0" lang="en-US" altLang="zh-CN" sz="3200" dirty="0">
              <a:solidFill>
                <a:srgbClr val="FF0000"/>
              </a:solidFill>
              <a:latin typeface="Times New Roman" panose="02020603050405020304" pitchFamily="18" charset="0"/>
              <a:sym typeface="Symbol" panose="05050102010706020507" pitchFamily="18" charset="2"/>
            </a:endParaRPr>
          </a:p>
        </p:txBody>
      </p:sp>
      <p:sp>
        <p:nvSpPr>
          <p:cNvPr id="493573" name="Rectangle 5">
            <a:extLst>
              <a:ext uri="{FF2B5EF4-FFF2-40B4-BE49-F238E27FC236}">
                <a16:creationId xmlns:a16="http://schemas.microsoft.com/office/drawing/2014/main" id="{3485185F-E1F4-46BB-BACC-BC65AE8FB3E3}"/>
              </a:ext>
            </a:extLst>
          </p:cNvPr>
          <p:cNvSpPr>
            <a:spLocks noChangeArrowheads="1"/>
          </p:cNvSpPr>
          <p:nvPr/>
        </p:nvSpPr>
        <p:spPr bwMode="auto">
          <a:xfrm>
            <a:off x="468313" y="1773238"/>
            <a:ext cx="8280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kumimoji="0" lang="zh-CN" altLang="en-US" sz="2000" b="1">
                <a:solidFill>
                  <a:srgbClr val="000066"/>
                </a:solidFill>
                <a:latin typeface="Times New Roman" panose="02020603050405020304" pitchFamily="18" charset="0"/>
                <a:sym typeface="Symbol" panose="05050102010706020507" pitchFamily="18" charset="2"/>
              </a:rPr>
              <a:t>在许多应用中，总是根据在使用条件下半导体器件各部分的物理作用，用电阻，电容，电流源和电压源等组成一定的电路来达到等效器件的功能。这种电路叫做等效电路。</a:t>
            </a:r>
            <a:r>
              <a:rPr kumimoji="0" lang="en-US" altLang="zh-CN" sz="2000" b="1">
                <a:solidFill>
                  <a:srgbClr val="000066"/>
                </a:solidFill>
                <a:latin typeface="Times New Roman" panose="02020603050405020304" pitchFamily="18" charset="0"/>
                <a:sym typeface="Symbol" panose="05050102010706020507" pitchFamily="18" charset="2"/>
              </a:rPr>
              <a:t>PN</a:t>
            </a:r>
            <a:r>
              <a:rPr kumimoji="0" lang="zh-CN" altLang="en-US" sz="2000" b="1">
                <a:solidFill>
                  <a:srgbClr val="000066"/>
                </a:solidFill>
                <a:latin typeface="Times New Roman" panose="02020603050405020304" pitchFamily="18" charset="0"/>
                <a:sym typeface="Symbol" panose="05050102010706020507" pitchFamily="18" charset="2"/>
              </a:rPr>
              <a:t>结小信号交流等效电路如图</a:t>
            </a:r>
            <a:r>
              <a:rPr kumimoji="0" lang="en-US" altLang="zh-CN" sz="2000" b="1">
                <a:solidFill>
                  <a:srgbClr val="000066"/>
                </a:solidFill>
                <a:latin typeface="Times New Roman" panose="02020603050405020304" pitchFamily="18" charset="0"/>
                <a:sym typeface="Symbol" panose="05050102010706020507" pitchFamily="18" charset="2"/>
              </a:rPr>
              <a:t>2-20</a:t>
            </a:r>
            <a:r>
              <a:rPr kumimoji="0" lang="zh-CN" altLang="en-US" sz="2000" b="1">
                <a:solidFill>
                  <a:srgbClr val="000066"/>
                </a:solidFill>
                <a:latin typeface="Times New Roman" panose="02020603050405020304" pitchFamily="18" charset="0"/>
                <a:sym typeface="Symbol" panose="05050102010706020507" pitchFamily="18" charset="2"/>
              </a:rPr>
              <a:t>所示。</a:t>
            </a:r>
          </a:p>
        </p:txBody>
      </p:sp>
      <p:pic>
        <p:nvPicPr>
          <p:cNvPr id="493588" name="Picture 20">
            <a:extLst>
              <a:ext uri="{FF2B5EF4-FFF2-40B4-BE49-F238E27FC236}">
                <a16:creationId xmlns:a16="http://schemas.microsoft.com/office/drawing/2014/main" id="{5554593D-80AB-47B1-A8D2-D54A0F95A7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997200"/>
            <a:ext cx="8077200"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34">
            <a:extLst>
              <a:ext uri="{FF2B5EF4-FFF2-40B4-BE49-F238E27FC236}">
                <a16:creationId xmlns:a16="http://schemas.microsoft.com/office/drawing/2014/main" id="{A169C4FE-A31C-4730-9D1E-FAB76FC794B0}"/>
              </a:ext>
            </a:extLst>
          </p:cNvPr>
          <p:cNvGrpSpPr>
            <a:grpSpLocks/>
          </p:cNvGrpSpPr>
          <p:nvPr/>
        </p:nvGrpSpPr>
        <p:grpSpPr bwMode="auto">
          <a:xfrm>
            <a:off x="1081088" y="5349875"/>
            <a:ext cx="5649912" cy="958850"/>
            <a:chOff x="681" y="3370"/>
            <a:chExt cx="3559" cy="604"/>
          </a:xfrm>
        </p:grpSpPr>
        <p:graphicFrame>
          <p:nvGraphicFramePr>
            <p:cNvPr id="79879" name="Object 26">
              <a:extLst>
                <a:ext uri="{FF2B5EF4-FFF2-40B4-BE49-F238E27FC236}">
                  <a16:creationId xmlns:a16="http://schemas.microsoft.com/office/drawing/2014/main" id="{6C25B48A-1EFD-4D3A-B9C0-0BA1493CC0A7}"/>
                </a:ext>
              </a:extLst>
            </p:cNvPr>
            <p:cNvGraphicFramePr>
              <a:graphicFrameLocks noChangeAspect="1"/>
            </p:cNvGraphicFramePr>
            <p:nvPr/>
          </p:nvGraphicFramePr>
          <p:xfrm>
            <a:off x="2524" y="3702"/>
            <a:ext cx="217" cy="243"/>
          </p:xfrm>
          <a:graphic>
            <a:graphicData uri="http://schemas.openxmlformats.org/presentationml/2006/ole">
              <mc:AlternateContent xmlns:mc="http://schemas.openxmlformats.org/markup-compatibility/2006">
                <mc:Choice xmlns:v="urn:schemas-microsoft-com:vml" Requires="v">
                  <p:oleObj spid="_x0000_s127062" name="Equation" r:id="rId4" imgW="203112" imgH="228501" progId="Equation.DSMT4">
                    <p:embed/>
                  </p:oleObj>
                </mc:Choice>
                <mc:Fallback>
                  <p:oleObj name="Equation" r:id="rId4" imgW="203112" imgH="228501" progId="Equation.DSMT4">
                    <p:embed/>
                    <p:pic>
                      <p:nvPicPr>
                        <p:cNvPr id="79879" name="Object 26">
                          <a:extLst>
                            <a:ext uri="{FF2B5EF4-FFF2-40B4-BE49-F238E27FC236}">
                              <a16:creationId xmlns:a16="http://schemas.microsoft.com/office/drawing/2014/main" id="{6C25B48A-1EFD-4D3A-B9C0-0BA1493CC0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4" y="3702"/>
                          <a:ext cx="21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9880" name="Group 33">
              <a:extLst>
                <a:ext uri="{FF2B5EF4-FFF2-40B4-BE49-F238E27FC236}">
                  <a16:creationId xmlns:a16="http://schemas.microsoft.com/office/drawing/2014/main" id="{5ED2CB8B-25B0-4C90-B56F-2B8F51F707A6}"/>
                </a:ext>
              </a:extLst>
            </p:cNvPr>
            <p:cNvGrpSpPr>
              <a:grpSpLocks/>
            </p:cNvGrpSpPr>
            <p:nvPr/>
          </p:nvGrpSpPr>
          <p:grpSpPr bwMode="auto">
            <a:xfrm>
              <a:off x="681" y="3370"/>
              <a:ext cx="3559" cy="604"/>
              <a:chOff x="681" y="3370"/>
              <a:chExt cx="3559" cy="604"/>
            </a:xfrm>
          </p:grpSpPr>
          <p:graphicFrame>
            <p:nvGraphicFramePr>
              <p:cNvPr id="79881" name="Object 24">
                <a:extLst>
                  <a:ext uri="{FF2B5EF4-FFF2-40B4-BE49-F238E27FC236}">
                    <a16:creationId xmlns:a16="http://schemas.microsoft.com/office/drawing/2014/main" id="{DEE79389-D21B-4C36-9FB1-6E3B42F088E6}"/>
                  </a:ext>
                </a:extLst>
              </p:cNvPr>
              <p:cNvGraphicFramePr>
                <a:graphicFrameLocks noChangeAspect="1"/>
              </p:cNvGraphicFramePr>
              <p:nvPr/>
            </p:nvGraphicFramePr>
            <p:xfrm>
              <a:off x="2517" y="3385"/>
              <a:ext cx="231" cy="243"/>
            </p:xfrm>
            <a:graphic>
              <a:graphicData uri="http://schemas.openxmlformats.org/presentationml/2006/ole">
                <mc:AlternateContent xmlns:mc="http://schemas.openxmlformats.org/markup-compatibility/2006">
                  <mc:Choice xmlns:v="urn:schemas-microsoft-com:vml" Requires="v">
                    <p:oleObj spid="_x0000_s127063" name="Equation" r:id="rId6" imgW="215806" imgH="228501" progId="Equation.DSMT4">
                      <p:embed/>
                    </p:oleObj>
                  </mc:Choice>
                  <mc:Fallback>
                    <p:oleObj name="Equation" r:id="rId6" imgW="215806" imgH="228501" progId="Equation.DSMT4">
                      <p:embed/>
                      <p:pic>
                        <p:nvPicPr>
                          <p:cNvPr id="79881" name="Object 24">
                            <a:extLst>
                              <a:ext uri="{FF2B5EF4-FFF2-40B4-BE49-F238E27FC236}">
                                <a16:creationId xmlns:a16="http://schemas.microsoft.com/office/drawing/2014/main" id="{DEE79389-D21B-4C36-9FB1-6E3B42F088E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7" y="3385"/>
                            <a:ext cx="231"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9882" name="Group 32">
                <a:extLst>
                  <a:ext uri="{FF2B5EF4-FFF2-40B4-BE49-F238E27FC236}">
                    <a16:creationId xmlns:a16="http://schemas.microsoft.com/office/drawing/2014/main" id="{0452807E-46A4-4343-88E0-E2C6CA865A75}"/>
                  </a:ext>
                </a:extLst>
              </p:cNvPr>
              <p:cNvGrpSpPr>
                <a:grpSpLocks/>
              </p:cNvGrpSpPr>
              <p:nvPr/>
            </p:nvGrpSpPr>
            <p:grpSpPr bwMode="auto">
              <a:xfrm>
                <a:off x="681" y="3370"/>
                <a:ext cx="3559" cy="604"/>
                <a:chOff x="681" y="3370"/>
                <a:chExt cx="3559" cy="604"/>
              </a:xfrm>
            </p:grpSpPr>
            <p:graphicFrame>
              <p:nvGraphicFramePr>
                <p:cNvPr id="79883" name="Object 25">
                  <a:extLst>
                    <a:ext uri="{FF2B5EF4-FFF2-40B4-BE49-F238E27FC236}">
                      <a16:creationId xmlns:a16="http://schemas.microsoft.com/office/drawing/2014/main" id="{3CC3E2EF-3C39-4E07-B98A-37E1F8155A4D}"/>
                    </a:ext>
                  </a:extLst>
                </p:cNvPr>
                <p:cNvGraphicFramePr>
                  <a:graphicFrameLocks noChangeAspect="1"/>
                </p:cNvGraphicFramePr>
                <p:nvPr/>
              </p:nvGraphicFramePr>
              <p:xfrm>
                <a:off x="691" y="3702"/>
                <a:ext cx="150" cy="243"/>
              </p:xfrm>
              <a:graphic>
                <a:graphicData uri="http://schemas.openxmlformats.org/presentationml/2006/ole">
                  <mc:AlternateContent xmlns:mc="http://schemas.openxmlformats.org/markup-compatibility/2006">
                    <mc:Choice xmlns:v="urn:schemas-microsoft-com:vml" Requires="v">
                      <p:oleObj spid="_x0000_s127064" name="Equation" r:id="rId8" imgW="139700" imgH="228600" progId="Equation.DSMT4">
                        <p:embed/>
                      </p:oleObj>
                    </mc:Choice>
                    <mc:Fallback>
                      <p:oleObj name="Equation" r:id="rId8" imgW="139700" imgH="228600" progId="Equation.DSMT4">
                        <p:embed/>
                        <p:pic>
                          <p:nvPicPr>
                            <p:cNvPr id="79883" name="Object 25">
                              <a:extLst>
                                <a:ext uri="{FF2B5EF4-FFF2-40B4-BE49-F238E27FC236}">
                                  <a16:creationId xmlns:a16="http://schemas.microsoft.com/office/drawing/2014/main" id="{3CC3E2EF-3C39-4E07-B98A-37E1F8155A4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1" y="3702"/>
                              <a:ext cx="150"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9884" name="Group 31">
                  <a:extLst>
                    <a:ext uri="{FF2B5EF4-FFF2-40B4-BE49-F238E27FC236}">
                      <a16:creationId xmlns:a16="http://schemas.microsoft.com/office/drawing/2014/main" id="{87302FDE-4C68-4850-A0B3-72B32A6C7F3C}"/>
                    </a:ext>
                  </a:extLst>
                </p:cNvPr>
                <p:cNvGrpSpPr>
                  <a:grpSpLocks/>
                </p:cNvGrpSpPr>
                <p:nvPr/>
              </p:nvGrpSpPr>
              <p:grpSpPr bwMode="auto">
                <a:xfrm>
                  <a:off x="681" y="3370"/>
                  <a:ext cx="1745" cy="265"/>
                  <a:chOff x="681" y="3370"/>
                  <a:chExt cx="1745" cy="265"/>
                </a:xfrm>
              </p:grpSpPr>
              <p:graphicFrame>
                <p:nvGraphicFramePr>
                  <p:cNvPr id="79888" name="Object 23">
                    <a:extLst>
                      <a:ext uri="{FF2B5EF4-FFF2-40B4-BE49-F238E27FC236}">
                        <a16:creationId xmlns:a16="http://schemas.microsoft.com/office/drawing/2014/main" id="{EB7A3359-6530-4B4C-94EA-2C56E19117F2}"/>
                      </a:ext>
                    </a:extLst>
                  </p:cNvPr>
                  <p:cNvGraphicFramePr>
                    <a:graphicFrameLocks noChangeAspect="1"/>
                  </p:cNvGraphicFramePr>
                  <p:nvPr/>
                </p:nvGraphicFramePr>
                <p:xfrm>
                  <a:off x="681" y="3370"/>
                  <a:ext cx="218" cy="243"/>
                </p:xfrm>
                <a:graphic>
                  <a:graphicData uri="http://schemas.openxmlformats.org/presentationml/2006/ole">
                    <mc:AlternateContent xmlns:mc="http://schemas.openxmlformats.org/markup-compatibility/2006">
                      <mc:Choice xmlns:v="urn:schemas-microsoft-com:vml" Requires="v">
                        <p:oleObj spid="_x0000_s127065" name="Equation" r:id="rId10" imgW="203112" imgH="228501" progId="Equation.DSMT4">
                          <p:embed/>
                        </p:oleObj>
                      </mc:Choice>
                      <mc:Fallback>
                        <p:oleObj name="Equation" r:id="rId10" imgW="203112" imgH="228501" progId="Equation.DSMT4">
                          <p:embed/>
                          <p:pic>
                            <p:nvPicPr>
                              <p:cNvPr id="79888" name="Object 23">
                                <a:extLst>
                                  <a:ext uri="{FF2B5EF4-FFF2-40B4-BE49-F238E27FC236}">
                                    <a16:creationId xmlns:a16="http://schemas.microsoft.com/office/drawing/2014/main" id="{EB7A3359-6530-4B4C-94EA-2C56E19117F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1" y="3370"/>
                                <a:ext cx="21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889" name="Rectangle 27">
                    <a:extLst>
                      <a:ext uri="{FF2B5EF4-FFF2-40B4-BE49-F238E27FC236}">
                        <a16:creationId xmlns:a16="http://schemas.microsoft.com/office/drawing/2014/main" id="{7A10E517-98A8-42AC-BA66-29CFCB79226D}"/>
                      </a:ext>
                    </a:extLst>
                  </p:cNvPr>
                  <p:cNvSpPr>
                    <a:spLocks noChangeArrowheads="1"/>
                  </p:cNvSpPr>
                  <p:nvPr/>
                </p:nvSpPr>
                <p:spPr bwMode="auto">
                  <a:xfrm>
                    <a:off x="930" y="3385"/>
                    <a:ext cx="14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a:solidFill>
                          <a:srgbClr val="000066"/>
                        </a:solidFill>
                        <a:latin typeface="Times New Roman" panose="02020603050405020304" pitchFamily="18" charset="0"/>
                        <a:cs typeface="Times New Roman" panose="02020603050405020304" pitchFamily="18" charset="0"/>
                      </a:rPr>
                      <a:t>——</a:t>
                    </a:r>
                    <a:r>
                      <a:rPr lang="zh-CN" altLang="en-US" sz="2000" b="1">
                        <a:solidFill>
                          <a:srgbClr val="000066"/>
                        </a:solidFill>
                        <a:latin typeface="Times New Roman" panose="02020603050405020304" pitchFamily="18" charset="0"/>
                        <a:cs typeface="Times New Roman" panose="02020603050405020304" pitchFamily="18" charset="0"/>
                      </a:rPr>
                      <a:t>耗尽层电容 </a:t>
                    </a:r>
                    <a:endParaRPr lang="ko-KR" altLang="en-US" sz="2000" b="1">
                      <a:solidFill>
                        <a:srgbClr val="000066"/>
                      </a:solidFill>
                      <a:latin typeface="Times New Roman" panose="02020603050405020304" pitchFamily="18" charset="0"/>
                      <a:cs typeface="Times New Roman" panose="02020603050405020304" pitchFamily="18" charset="0"/>
                    </a:endParaRPr>
                  </a:p>
                </p:txBody>
              </p:sp>
            </p:grpSp>
            <p:sp>
              <p:nvSpPr>
                <p:cNvPr id="79885" name="Rectangle 28">
                  <a:extLst>
                    <a:ext uri="{FF2B5EF4-FFF2-40B4-BE49-F238E27FC236}">
                      <a16:creationId xmlns:a16="http://schemas.microsoft.com/office/drawing/2014/main" id="{0680D4A7-B7B1-4E03-A3CE-8C5E73A58CEA}"/>
                    </a:ext>
                  </a:extLst>
                </p:cNvPr>
                <p:cNvSpPr>
                  <a:spLocks noChangeArrowheads="1"/>
                </p:cNvSpPr>
                <p:nvPr/>
              </p:nvSpPr>
              <p:spPr bwMode="auto">
                <a:xfrm>
                  <a:off x="930" y="3724"/>
                  <a:ext cx="14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a:solidFill>
                        <a:srgbClr val="000066"/>
                      </a:solidFill>
                      <a:latin typeface="Times New Roman" panose="02020603050405020304" pitchFamily="18" charset="0"/>
                      <a:cs typeface="Times New Roman" panose="02020603050405020304" pitchFamily="18" charset="0"/>
                    </a:rPr>
                    <a:t>——</a:t>
                  </a:r>
                  <a:r>
                    <a:rPr lang="zh-CN" altLang="en-US" sz="2000" b="1">
                      <a:solidFill>
                        <a:srgbClr val="000066"/>
                      </a:solidFill>
                      <a:latin typeface="Times New Roman" panose="02020603050405020304" pitchFamily="18" charset="0"/>
                      <a:cs typeface="Times New Roman" panose="02020603050405020304" pitchFamily="18" charset="0"/>
                    </a:rPr>
                    <a:t>串联电阻 </a:t>
                  </a:r>
                  <a:endParaRPr lang="ko-KR" altLang="en-US" sz="2000" b="1">
                    <a:solidFill>
                      <a:srgbClr val="000066"/>
                    </a:solidFill>
                    <a:latin typeface="Times New Roman" panose="02020603050405020304" pitchFamily="18" charset="0"/>
                    <a:cs typeface="Times New Roman" panose="02020603050405020304" pitchFamily="18" charset="0"/>
                  </a:endParaRPr>
                </a:p>
              </p:txBody>
            </p:sp>
            <p:sp>
              <p:nvSpPr>
                <p:cNvPr id="79886" name="Rectangle 29">
                  <a:extLst>
                    <a:ext uri="{FF2B5EF4-FFF2-40B4-BE49-F238E27FC236}">
                      <a16:creationId xmlns:a16="http://schemas.microsoft.com/office/drawing/2014/main" id="{D7DE75C4-D27C-4173-8DAF-F5EDBBF36138}"/>
                    </a:ext>
                  </a:extLst>
                </p:cNvPr>
                <p:cNvSpPr>
                  <a:spLocks noChangeArrowheads="1"/>
                </p:cNvSpPr>
                <p:nvPr/>
              </p:nvSpPr>
              <p:spPr bwMode="auto">
                <a:xfrm>
                  <a:off x="2744" y="3385"/>
                  <a:ext cx="14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a:solidFill>
                        <a:srgbClr val="000066"/>
                      </a:solidFill>
                      <a:latin typeface="Times New Roman" panose="02020603050405020304" pitchFamily="18" charset="0"/>
                      <a:cs typeface="Times New Roman" panose="02020603050405020304" pitchFamily="18" charset="0"/>
                    </a:rPr>
                    <a:t>——</a:t>
                  </a:r>
                  <a:r>
                    <a:rPr lang="zh-CN" altLang="en-US" sz="2000" b="1">
                      <a:solidFill>
                        <a:srgbClr val="000066"/>
                      </a:solidFill>
                      <a:latin typeface="Times New Roman" panose="02020603050405020304" pitchFamily="18" charset="0"/>
                      <a:cs typeface="Times New Roman" panose="02020603050405020304" pitchFamily="18" charset="0"/>
                    </a:rPr>
                    <a:t>扩散电容 </a:t>
                  </a:r>
                  <a:endParaRPr lang="ko-KR" altLang="en-US" sz="2000" b="1">
                    <a:solidFill>
                      <a:srgbClr val="000066"/>
                    </a:solidFill>
                    <a:latin typeface="Times New Roman" panose="02020603050405020304" pitchFamily="18" charset="0"/>
                    <a:cs typeface="Times New Roman" panose="02020603050405020304" pitchFamily="18" charset="0"/>
                  </a:endParaRPr>
                </a:p>
              </p:txBody>
            </p:sp>
            <p:sp>
              <p:nvSpPr>
                <p:cNvPr id="79887" name="Rectangle 30">
                  <a:extLst>
                    <a:ext uri="{FF2B5EF4-FFF2-40B4-BE49-F238E27FC236}">
                      <a16:creationId xmlns:a16="http://schemas.microsoft.com/office/drawing/2014/main" id="{1584C5FB-4266-46F9-ACA5-1DFF2FFD692E}"/>
                    </a:ext>
                  </a:extLst>
                </p:cNvPr>
                <p:cNvSpPr>
                  <a:spLocks noChangeArrowheads="1"/>
                </p:cNvSpPr>
                <p:nvPr/>
              </p:nvSpPr>
              <p:spPr bwMode="auto">
                <a:xfrm>
                  <a:off x="2744" y="3702"/>
                  <a:ext cx="14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a:solidFill>
                        <a:srgbClr val="000066"/>
                      </a:solidFill>
                      <a:latin typeface="Times New Roman" panose="02020603050405020304" pitchFamily="18" charset="0"/>
                      <a:cs typeface="Times New Roman" panose="02020603050405020304" pitchFamily="18" charset="0"/>
                    </a:rPr>
                    <a:t>——</a:t>
                  </a:r>
                  <a:r>
                    <a:rPr lang="zh-CN" altLang="en-US" sz="2000" b="1">
                      <a:solidFill>
                        <a:srgbClr val="000066"/>
                      </a:solidFill>
                      <a:latin typeface="Times New Roman" panose="02020603050405020304" pitchFamily="18" charset="0"/>
                      <a:cs typeface="Times New Roman" panose="02020603050405020304" pitchFamily="18" charset="0"/>
                    </a:rPr>
                    <a:t>直流电导 </a:t>
                  </a:r>
                  <a:endParaRPr lang="ko-KR" altLang="en-US" sz="2000" b="1">
                    <a:solidFill>
                      <a:srgbClr val="000066"/>
                    </a:solidFill>
                    <a:latin typeface="Times New Roman" panose="02020603050405020304" pitchFamily="18" charset="0"/>
                    <a:cs typeface="Times New Roman" panose="02020603050405020304" pitchFamily="18" charset="0"/>
                  </a:endParaRPr>
                </a:p>
              </p:txBody>
            </p:sp>
          </p:grpSp>
        </p:grpSp>
      </p:grpSp>
    </p:spTree>
    <p:extLst>
      <p:ext uri="{BB962C8B-B14F-4D97-AF65-F5344CB8AC3E}">
        <p14:creationId xmlns:p14="http://schemas.microsoft.com/office/powerpoint/2010/main" val="3033712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3" name="Rectangle 3">
            <a:extLst>
              <a:ext uri="{FF2B5EF4-FFF2-40B4-BE49-F238E27FC236}">
                <a16:creationId xmlns:a16="http://schemas.microsoft.com/office/drawing/2014/main" id="{D9D9222C-62B4-4EE2-A165-D79B8949C93D}"/>
              </a:ext>
            </a:extLst>
          </p:cNvPr>
          <p:cNvSpPr>
            <a:spLocks noChangeArrowheads="1"/>
          </p:cNvSpPr>
          <p:nvPr/>
        </p:nvSpPr>
        <p:spPr bwMode="auto">
          <a:xfrm>
            <a:off x="324644" y="532022"/>
            <a:ext cx="3887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b="1" dirty="0">
                <a:solidFill>
                  <a:srgbClr val="993300"/>
                </a:solidFill>
                <a:latin typeface="Times New Roman" panose="02020603050405020304" pitchFamily="18" charset="0"/>
                <a:sym typeface="Symbol" panose="05050102010706020507" pitchFamily="18" charset="2"/>
              </a:rPr>
              <a:t>二极管的交流导纳</a:t>
            </a:r>
            <a:endParaRPr kumimoji="0" lang="en-US" altLang="zh-CN" b="1" dirty="0">
              <a:solidFill>
                <a:srgbClr val="993300"/>
              </a:solidFill>
              <a:latin typeface="Times New Roman" panose="02020603050405020304" pitchFamily="18" charset="0"/>
              <a:sym typeface="Symbol" panose="05050102010706020507" pitchFamily="18" charset="2"/>
            </a:endParaRPr>
          </a:p>
        </p:txBody>
      </p:sp>
      <p:sp>
        <p:nvSpPr>
          <p:cNvPr id="491541" name="Rectangle 21">
            <a:extLst>
              <a:ext uri="{FF2B5EF4-FFF2-40B4-BE49-F238E27FC236}">
                <a16:creationId xmlns:a16="http://schemas.microsoft.com/office/drawing/2014/main" id="{3AC41B48-1A9D-4419-A856-6985AA1D5A51}"/>
              </a:ext>
            </a:extLst>
          </p:cNvPr>
          <p:cNvSpPr>
            <a:spLocks noChangeArrowheads="1"/>
          </p:cNvSpPr>
          <p:nvPr/>
        </p:nvSpPr>
        <p:spPr bwMode="auto">
          <a:xfrm>
            <a:off x="265419" y="1083022"/>
            <a:ext cx="60626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dirty="0">
                <a:solidFill>
                  <a:srgbClr val="000066"/>
                </a:solidFill>
                <a:latin typeface="Times New Roman" panose="02020603050405020304" pitchFamily="18" charset="0"/>
                <a:sym typeface="Symbol" panose="05050102010706020507" pitchFamily="18" charset="2"/>
              </a:rPr>
              <a:t>二极管的交流导纳定义为交流电流与交流电压之比：</a:t>
            </a:r>
          </a:p>
        </p:txBody>
      </p:sp>
      <p:graphicFrame>
        <p:nvGraphicFramePr>
          <p:cNvPr id="491542" name="Object 22">
            <a:extLst>
              <a:ext uri="{FF2B5EF4-FFF2-40B4-BE49-F238E27FC236}">
                <a16:creationId xmlns:a16="http://schemas.microsoft.com/office/drawing/2014/main" id="{966D7BD4-E53D-47B4-B1E5-FC17800C9B02}"/>
              </a:ext>
            </a:extLst>
          </p:cNvPr>
          <p:cNvGraphicFramePr>
            <a:graphicFrameLocks noChangeAspect="1"/>
          </p:cNvGraphicFramePr>
          <p:nvPr>
            <p:extLst>
              <p:ext uri="{D42A27DB-BD31-4B8C-83A1-F6EECF244321}">
                <p14:modId xmlns:p14="http://schemas.microsoft.com/office/powerpoint/2010/main" val="555883252"/>
              </p:ext>
            </p:extLst>
          </p:nvPr>
        </p:nvGraphicFramePr>
        <p:xfrm>
          <a:off x="6217345" y="918992"/>
          <a:ext cx="838200" cy="769937"/>
        </p:xfrm>
        <a:graphic>
          <a:graphicData uri="http://schemas.openxmlformats.org/presentationml/2006/ole">
            <mc:AlternateContent xmlns:mc="http://schemas.openxmlformats.org/markup-compatibility/2006">
              <mc:Choice xmlns:v="urn:schemas-microsoft-com:vml" Requires="v">
                <p:oleObj spid="_x0000_s128149" r:id="rId3" imgW="469696" imgH="431613" progId="Equation.3">
                  <p:embed/>
                </p:oleObj>
              </mc:Choice>
              <mc:Fallback>
                <p:oleObj r:id="rId3" imgW="469696" imgH="431613" progId="Equation.3">
                  <p:embed/>
                  <p:pic>
                    <p:nvPicPr>
                      <p:cNvPr id="491542" name="Object 22">
                        <a:extLst>
                          <a:ext uri="{FF2B5EF4-FFF2-40B4-BE49-F238E27FC236}">
                            <a16:creationId xmlns:a16="http://schemas.microsoft.com/office/drawing/2014/main" id="{966D7BD4-E53D-47B4-B1E5-FC17800C9B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7345" y="918992"/>
                        <a:ext cx="8382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543" name="Object 23">
            <a:extLst>
              <a:ext uri="{FF2B5EF4-FFF2-40B4-BE49-F238E27FC236}">
                <a16:creationId xmlns:a16="http://schemas.microsoft.com/office/drawing/2014/main" id="{6CD099F5-64C1-43D8-B731-D6159B32C942}"/>
              </a:ext>
            </a:extLst>
          </p:cNvPr>
          <p:cNvGraphicFramePr>
            <a:graphicFrameLocks noChangeAspect="1"/>
          </p:cNvGraphicFramePr>
          <p:nvPr>
            <p:extLst>
              <p:ext uri="{D42A27DB-BD31-4B8C-83A1-F6EECF244321}">
                <p14:modId xmlns:p14="http://schemas.microsoft.com/office/powerpoint/2010/main" val="3677171466"/>
              </p:ext>
            </p:extLst>
          </p:nvPr>
        </p:nvGraphicFramePr>
        <p:xfrm>
          <a:off x="502345" y="1702147"/>
          <a:ext cx="3276600" cy="819150"/>
        </p:xfrm>
        <a:graphic>
          <a:graphicData uri="http://schemas.openxmlformats.org/presentationml/2006/ole">
            <mc:AlternateContent xmlns:mc="http://schemas.openxmlformats.org/markup-compatibility/2006">
              <mc:Choice xmlns:v="urn:schemas-microsoft-com:vml" Requires="v">
                <p:oleObj spid="_x0000_s128150" r:id="rId5" imgW="1866900" imgH="469900" progId="Equation.3">
                  <p:embed/>
                </p:oleObj>
              </mc:Choice>
              <mc:Fallback>
                <p:oleObj r:id="rId5" imgW="1866900" imgH="469900" progId="Equation.3">
                  <p:embed/>
                  <p:pic>
                    <p:nvPicPr>
                      <p:cNvPr id="491543" name="Object 23">
                        <a:extLst>
                          <a:ext uri="{FF2B5EF4-FFF2-40B4-BE49-F238E27FC236}">
                            <a16:creationId xmlns:a16="http://schemas.microsoft.com/office/drawing/2014/main" id="{6CD099F5-64C1-43D8-B731-D6159B32C9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345" y="1702147"/>
                        <a:ext cx="32766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544" name="Object 24">
            <a:extLst>
              <a:ext uri="{FF2B5EF4-FFF2-40B4-BE49-F238E27FC236}">
                <a16:creationId xmlns:a16="http://schemas.microsoft.com/office/drawing/2014/main" id="{6024B037-60AF-4A22-BFBF-5575FF8F3524}"/>
              </a:ext>
            </a:extLst>
          </p:cNvPr>
          <p:cNvGraphicFramePr>
            <a:graphicFrameLocks noChangeAspect="1"/>
          </p:cNvGraphicFramePr>
          <p:nvPr>
            <p:extLst>
              <p:ext uri="{D42A27DB-BD31-4B8C-83A1-F6EECF244321}">
                <p14:modId xmlns:p14="http://schemas.microsoft.com/office/powerpoint/2010/main" val="4102803844"/>
              </p:ext>
            </p:extLst>
          </p:nvPr>
        </p:nvGraphicFramePr>
        <p:xfrm>
          <a:off x="3802757" y="1711672"/>
          <a:ext cx="1752600" cy="792163"/>
        </p:xfrm>
        <a:graphic>
          <a:graphicData uri="http://schemas.openxmlformats.org/presentationml/2006/ole">
            <mc:AlternateContent xmlns:mc="http://schemas.openxmlformats.org/markup-compatibility/2006">
              <mc:Choice xmlns:v="urn:schemas-microsoft-com:vml" Requires="v">
                <p:oleObj spid="_x0000_s128151" r:id="rId7" imgW="1079032" imgH="482391" progId="Equation.3">
                  <p:embed/>
                </p:oleObj>
              </mc:Choice>
              <mc:Fallback>
                <p:oleObj r:id="rId7" imgW="1079032" imgH="482391" progId="Equation.3">
                  <p:embed/>
                  <p:pic>
                    <p:nvPicPr>
                      <p:cNvPr id="491544" name="Object 24">
                        <a:extLst>
                          <a:ext uri="{FF2B5EF4-FFF2-40B4-BE49-F238E27FC236}">
                            <a16:creationId xmlns:a16="http://schemas.microsoft.com/office/drawing/2014/main" id="{6024B037-60AF-4A22-BFBF-5575FF8F352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02757" y="1711672"/>
                        <a:ext cx="1752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37">
            <a:extLst>
              <a:ext uri="{FF2B5EF4-FFF2-40B4-BE49-F238E27FC236}">
                <a16:creationId xmlns:a16="http://schemas.microsoft.com/office/drawing/2014/main" id="{8DFC5829-1095-4FE3-8A51-7E88ACB9D28A}"/>
              </a:ext>
            </a:extLst>
          </p:cNvPr>
          <p:cNvGrpSpPr>
            <a:grpSpLocks/>
          </p:cNvGrpSpPr>
          <p:nvPr/>
        </p:nvGrpSpPr>
        <p:grpSpPr bwMode="auto">
          <a:xfrm>
            <a:off x="5568057" y="1816447"/>
            <a:ext cx="3092450" cy="460375"/>
            <a:chOff x="3644" y="1411"/>
            <a:chExt cx="1948" cy="290"/>
          </a:xfrm>
        </p:grpSpPr>
        <p:sp>
          <p:nvSpPr>
            <p:cNvPr id="78865" name="Rectangle 4">
              <a:extLst>
                <a:ext uri="{FF2B5EF4-FFF2-40B4-BE49-F238E27FC236}">
                  <a16:creationId xmlns:a16="http://schemas.microsoft.com/office/drawing/2014/main" id="{B4B57725-A214-424F-A90E-D4BE21BDC7F4}"/>
                </a:ext>
              </a:extLst>
            </p:cNvPr>
            <p:cNvSpPr>
              <a:spLocks noChangeArrowheads="1"/>
            </p:cNvSpPr>
            <p:nvPr/>
          </p:nvSpPr>
          <p:spPr bwMode="auto">
            <a:xfrm>
              <a:off x="4740" y="1411"/>
              <a:ext cx="8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ko-KR" altLang="en-US" sz="2000" b="1">
                  <a:solidFill>
                    <a:srgbClr val="000066"/>
                  </a:solidFill>
                  <a:latin typeface="Times New Roman" panose="02020603050405020304" pitchFamily="18" charset="0"/>
                </a:rPr>
                <a:t>（</a:t>
              </a:r>
              <a:r>
                <a:rPr lang="en-US" altLang="ko-KR" sz="2000" b="1">
                  <a:solidFill>
                    <a:srgbClr val="000066"/>
                  </a:solidFill>
                  <a:latin typeface="Times New Roman" panose="02020603050405020304" pitchFamily="18" charset="0"/>
                </a:rPr>
                <a:t>2-8-22</a:t>
              </a:r>
              <a:r>
                <a:rPr lang="ko-KR" altLang="en-US" sz="2000" b="1">
                  <a:solidFill>
                    <a:srgbClr val="000066"/>
                  </a:solidFill>
                  <a:latin typeface="Times New Roman" panose="02020603050405020304" pitchFamily="18" charset="0"/>
                </a:rPr>
                <a:t>）</a:t>
              </a:r>
              <a:endParaRPr lang="zh-CN" altLang="en-US" sz="2000" b="1">
                <a:solidFill>
                  <a:srgbClr val="000066"/>
                </a:solidFill>
                <a:latin typeface="Times New Roman" panose="02020603050405020304" pitchFamily="18" charset="0"/>
              </a:endParaRPr>
            </a:p>
          </p:txBody>
        </p:sp>
        <p:graphicFrame>
          <p:nvGraphicFramePr>
            <p:cNvPr id="78866" name="Object 25">
              <a:extLst>
                <a:ext uri="{FF2B5EF4-FFF2-40B4-BE49-F238E27FC236}">
                  <a16:creationId xmlns:a16="http://schemas.microsoft.com/office/drawing/2014/main" id="{F10A4239-FAED-4ED9-BFA3-4880E6940E3C}"/>
                </a:ext>
              </a:extLst>
            </p:cNvPr>
            <p:cNvGraphicFramePr>
              <a:graphicFrameLocks noChangeAspect="1"/>
            </p:cNvGraphicFramePr>
            <p:nvPr/>
          </p:nvGraphicFramePr>
          <p:xfrm>
            <a:off x="3644" y="1440"/>
            <a:ext cx="1008" cy="261"/>
          </p:xfrm>
          <a:graphic>
            <a:graphicData uri="http://schemas.openxmlformats.org/presentationml/2006/ole">
              <mc:AlternateContent xmlns:mc="http://schemas.openxmlformats.org/markup-compatibility/2006">
                <mc:Choice xmlns:v="urn:schemas-microsoft-com:vml" Requires="v">
                  <p:oleObj spid="_x0000_s128152" r:id="rId9" imgW="850531" imgH="215806" progId="Equation.3">
                    <p:embed/>
                  </p:oleObj>
                </mc:Choice>
                <mc:Fallback>
                  <p:oleObj r:id="rId9" imgW="850531" imgH="215806" progId="Equation.3">
                    <p:embed/>
                    <p:pic>
                      <p:nvPicPr>
                        <p:cNvPr id="78866" name="Object 25">
                          <a:extLst>
                            <a:ext uri="{FF2B5EF4-FFF2-40B4-BE49-F238E27FC236}">
                              <a16:creationId xmlns:a16="http://schemas.microsoft.com/office/drawing/2014/main" id="{F10A4239-FAED-4ED9-BFA3-4880E6940E3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4" y="1440"/>
                          <a:ext cx="1008"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91546" name="Rectangle 26">
            <a:extLst>
              <a:ext uri="{FF2B5EF4-FFF2-40B4-BE49-F238E27FC236}">
                <a16:creationId xmlns:a16="http://schemas.microsoft.com/office/drawing/2014/main" id="{C8413CED-A2E3-45AD-809F-9358132F9863}"/>
              </a:ext>
            </a:extLst>
          </p:cNvPr>
          <p:cNvSpPr>
            <a:spLocks noChangeArrowheads="1"/>
          </p:cNvSpPr>
          <p:nvPr/>
        </p:nvSpPr>
        <p:spPr bwMode="auto">
          <a:xfrm>
            <a:off x="240407" y="2540347"/>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rPr>
              <a:t>其中</a:t>
            </a:r>
            <a:endParaRPr lang="ko-KR" altLang="en-US" sz="2000" b="1">
              <a:solidFill>
                <a:srgbClr val="000066"/>
              </a:solidFill>
              <a:latin typeface="Times New Roman" panose="02020603050405020304" pitchFamily="18" charset="0"/>
            </a:endParaRPr>
          </a:p>
        </p:txBody>
      </p:sp>
      <p:graphicFrame>
        <p:nvGraphicFramePr>
          <p:cNvPr id="491547" name="Object 27">
            <a:extLst>
              <a:ext uri="{FF2B5EF4-FFF2-40B4-BE49-F238E27FC236}">
                <a16:creationId xmlns:a16="http://schemas.microsoft.com/office/drawing/2014/main" id="{9C0ACC52-131C-496D-943A-7800F2A5E378}"/>
              </a:ext>
            </a:extLst>
          </p:cNvPr>
          <p:cNvGraphicFramePr>
            <a:graphicFrameLocks noChangeAspect="1"/>
          </p:cNvGraphicFramePr>
          <p:nvPr>
            <p:extLst>
              <p:ext uri="{D42A27DB-BD31-4B8C-83A1-F6EECF244321}">
                <p14:modId xmlns:p14="http://schemas.microsoft.com/office/powerpoint/2010/main" val="3858039773"/>
              </p:ext>
            </p:extLst>
          </p:nvPr>
        </p:nvGraphicFramePr>
        <p:xfrm>
          <a:off x="1112306" y="2450062"/>
          <a:ext cx="1683327" cy="657225"/>
        </p:xfrm>
        <a:graphic>
          <a:graphicData uri="http://schemas.openxmlformats.org/presentationml/2006/ole">
            <mc:AlternateContent xmlns:mc="http://schemas.openxmlformats.org/markup-compatibility/2006">
              <mc:Choice xmlns:v="urn:schemas-microsoft-com:vml" Requires="v">
                <p:oleObj spid="_x0000_s128153" r:id="rId11" imgW="1168400" imgH="457200" progId="Equation.3">
                  <p:embed/>
                </p:oleObj>
              </mc:Choice>
              <mc:Fallback>
                <p:oleObj r:id="rId11" imgW="1168400" imgH="457200" progId="Equation.3">
                  <p:embed/>
                  <p:pic>
                    <p:nvPicPr>
                      <p:cNvPr id="491547" name="Object 27">
                        <a:extLst>
                          <a:ext uri="{FF2B5EF4-FFF2-40B4-BE49-F238E27FC236}">
                            <a16:creationId xmlns:a16="http://schemas.microsoft.com/office/drawing/2014/main" id="{9C0ACC52-131C-496D-943A-7800F2A5E37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2306" y="2450062"/>
                        <a:ext cx="1683327" cy="657225"/>
                      </a:xfrm>
                      <a:prstGeom prst="rect">
                        <a:avLst/>
                      </a:prstGeom>
                      <a:noFill/>
                      <a:ln>
                        <a:noFill/>
                      </a:ln>
                    </p:spPr>
                  </p:pic>
                </p:oleObj>
              </mc:Fallback>
            </mc:AlternateContent>
          </a:graphicData>
        </a:graphic>
      </p:graphicFrame>
      <p:graphicFrame>
        <p:nvGraphicFramePr>
          <p:cNvPr id="491548" name="Object 28">
            <a:extLst>
              <a:ext uri="{FF2B5EF4-FFF2-40B4-BE49-F238E27FC236}">
                <a16:creationId xmlns:a16="http://schemas.microsoft.com/office/drawing/2014/main" id="{D482B23A-1ABE-4159-8654-006E49AB0E2B}"/>
              </a:ext>
            </a:extLst>
          </p:cNvPr>
          <p:cNvGraphicFramePr>
            <a:graphicFrameLocks noChangeAspect="1"/>
          </p:cNvGraphicFramePr>
          <p:nvPr>
            <p:extLst>
              <p:ext uri="{D42A27DB-BD31-4B8C-83A1-F6EECF244321}">
                <p14:modId xmlns:p14="http://schemas.microsoft.com/office/powerpoint/2010/main" val="3701631033"/>
              </p:ext>
            </p:extLst>
          </p:nvPr>
        </p:nvGraphicFramePr>
        <p:xfrm>
          <a:off x="1060484" y="3041882"/>
          <a:ext cx="803275" cy="593446"/>
        </p:xfrm>
        <a:graphic>
          <a:graphicData uri="http://schemas.openxmlformats.org/presentationml/2006/ole">
            <mc:AlternateContent xmlns:mc="http://schemas.openxmlformats.org/markup-compatibility/2006">
              <mc:Choice xmlns:v="urn:schemas-microsoft-com:vml" Requires="v">
                <p:oleObj spid="_x0000_s128154" r:id="rId13" imgW="583947" imgH="431613" progId="Equation.3">
                  <p:embed/>
                </p:oleObj>
              </mc:Choice>
              <mc:Fallback>
                <p:oleObj r:id="rId13" imgW="583947" imgH="431613" progId="Equation.3">
                  <p:embed/>
                  <p:pic>
                    <p:nvPicPr>
                      <p:cNvPr id="491548" name="Object 28">
                        <a:extLst>
                          <a:ext uri="{FF2B5EF4-FFF2-40B4-BE49-F238E27FC236}">
                            <a16:creationId xmlns:a16="http://schemas.microsoft.com/office/drawing/2014/main" id="{D482B23A-1ABE-4159-8654-006E49AB0E2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0484" y="3041882"/>
                        <a:ext cx="803275" cy="593446"/>
                      </a:xfrm>
                      <a:prstGeom prst="rect">
                        <a:avLst/>
                      </a:prstGeom>
                      <a:noFill/>
                      <a:ln>
                        <a:noFill/>
                      </a:ln>
                    </p:spPr>
                  </p:pic>
                </p:oleObj>
              </mc:Fallback>
            </mc:AlternateContent>
          </a:graphicData>
        </a:graphic>
      </p:graphicFrame>
      <p:sp>
        <p:nvSpPr>
          <p:cNvPr id="491549" name="Rectangle 29">
            <a:extLst>
              <a:ext uri="{FF2B5EF4-FFF2-40B4-BE49-F238E27FC236}">
                <a16:creationId xmlns:a16="http://schemas.microsoft.com/office/drawing/2014/main" id="{D1B1610A-21E9-4BE6-91E8-A23C9D7CBF3F}"/>
              </a:ext>
            </a:extLst>
          </p:cNvPr>
          <p:cNvSpPr>
            <a:spLocks noChangeArrowheads="1"/>
          </p:cNvSpPr>
          <p:nvPr/>
        </p:nvSpPr>
        <p:spPr bwMode="auto">
          <a:xfrm>
            <a:off x="2915345" y="2503835"/>
            <a:ext cx="3527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rPr>
              <a:t>为二极管正向电流直流成分。</a:t>
            </a:r>
            <a:r>
              <a:rPr lang="ko-KR" altLang="en-US" sz="2000" b="1">
                <a:solidFill>
                  <a:srgbClr val="000066"/>
                </a:solidFill>
                <a:latin typeface="Times New Roman" panose="02020603050405020304" pitchFamily="18" charset="0"/>
              </a:rPr>
              <a:t> </a:t>
            </a:r>
          </a:p>
        </p:txBody>
      </p:sp>
      <p:sp>
        <p:nvSpPr>
          <p:cNvPr id="491550" name="Rectangle 30">
            <a:extLst>
              <a:ext uri="{FF2B5EF4-FFF2-40B4-BE49-F238E27FC236}">
                <a16:creationId xmlns:a16="http://schemas.microsoft.com/office/drawing/2014/main" id="{17208AE1-E821-4FC1-8280-64D9CDD52E78}"/>
              </a:ext>
            </a:extLst>
          </p:cNvPr>
          <p:cNvSpPr>
            <a:spLocks noChangeArrowheads="1"/>
          </p:cNvSpPr>
          <p:nvPr/>
        </p:nvSpPr>
        <p:spPr bwMode="auto">
          <a:xfrm>
            <a:off x="2051745" y="3213447"/>
            <a:ext cx="62023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cs typeface="Times New Roman" panose="02020603050405020304" pitchFamily="18" charset="0"/>
              </a:rPr>
              <a:t>直流电导也叫做扩散电导，其倒数叫做</a:t>
            </a:r>
            <a:r>
              <a:rPr lang="en-US" altLang="zh-CN" sz="2000" b="1">
                <a:solidFill>
                  <a:srgbClr val="000066"/>
                </a:solidFill>
                <a:latin typeface="Times New Roman" panose="02020603050405020304" pitchFamily="18" charset="0"/>
                <a:cs typeface="Times New Roman" panose="02020603050405020304" pitchFamily="18" charset="0"/>
              </a:rPr>
              <a:t>PN</a:t>
            </a:r>
            <a:r>
              <a:rPr lang="zh-CN" altLang="en-US" sz="2000" b="1">
                <a:solidFill>
                  <a:srgbClr val="000066"/>
                </a:solidFill>
                <a:latin typeface="Times New Roman" panose="02020603050405020304" pitchFamily="18" charset="0"/>
                <a:cs typeface="Times New Roman" panose="02020603050405020304" pitchFamily="18" charset="0"/>
              </a:rPr>
              <a:t>结扩散电阻。 </a:t>
            </a:r>
            <a:endParaRPr lang="ko-KR" altLang="en-US" sz="2000" b="1">
              <a:solidFill>
                <a:srgbClr val="000066"/>
              </a:solidFill>
              <a:latin typeface="Times New Roman" panose="02020603050405020304" pitchFamily="18" charset="0"/>
              <a:cs typeface="Times New Roman" panose="02020603050405020304" pitchFamily="18" charset="0"/>
            </a:endParaRPr>
          </a:p>
        </p:txBody>
      </p:sp>
      <p:graphicFrame>
        <p:nvGraphicFramePr>
          <p:cNvPr id="491553" name="Object 33">
            <a:extLst>
              <a:ext uri="{FF2B5EF4-FFF2-40B4-BE49-F238E27FC236}">
                <a16:creationId xmlns:a16="http://schemas.microsoft.com/office/drawing/2014/main" id="{60D83198-CDAE-47C6-960D-DE1600F919B6}"/>
              </a:ext>
            </a:extLst>
          </p:cNvPr>
          <p:cNvGraphicFramePr>
            <a:graphicFrameLocks noChangeAspect="1"/>
          </p:cNvGraphicFramePr>
          <p:nvPr>
            <p:extLst>
              <p:ext uri="{D42A27DB-BD31-4B8C-83A1-F6EECF244321}">
                <p14:modId xmlns:p14="http://schemas.microsoft.com/office/powerpoint/2010/main" val="549490167"/>
              </p:ext>
            </p:extLst>
          </p:nvPr>
        </p:nvGraphicFramePr>
        <p:xfrm>
          <a:off x="980182" y="3699465"/>
          <a:ext cx="883577" cy="596414"/>
        </p:xfrm>
        <a:graphic>
          <a:graphicData uri="http://schemas.openxmlformats.org/presentationml/2006/ole">
            <mc:AlternateContent xmlns:mc="http://schemas.openxmlformats.org/markup-compatibility/2006">
              <mc:Choice xmlns:v="urn:schemas-microsoft-com:vml" Requires="v">
                <p:oleObj spid="_x0000_s128155" r:id="rId15" imgW="672808" imgH="457002" progId="Equation.3">
                  <p:embed/>
                </p:oleObj>
              </mc:Choice>
              <mc:Fallback>
                <p:oleObj r:id="rId15" imgW="672808" imgH="457002" progId="Equation.3">
                  <p:embed/>
                  <p:pic>
                    <p:nvPicPr>
                      <p:cNvPr id="491553" name="Object 33">
                        <a:extLst>
                          <a:ext uri="{FF2B5EF4-FFF2-40B4-BE49-F238E27FC236}">
                            <a16:creationId xmlns:a16="http://schemas.microsoft.com/office/drawing/2014/main" id="{60D83198-CDAE-47C6-960D-DE1600F919B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80182" y="3699465"/>
                        <a:ext cx="883577" cy="596414"/>
                      </a:xfrm>
                      <a:prstGeom prst="rect">
                        <a:avLst/>
                      </a:prstGeom>
                      <a:noFill/>
                      <a:ln>
                        <a:noFill/>
                      </a:ln>
                    </p:spPr>
                  </p:pic>
                </p:oleObj>
              </mc:Fallback>
            </mc:AlternateContent>
          </a:graphicData>
        </a:graphic>
      </p:graphicFrame>
      <p:sp>
        <p:nvSpPr>
          <p:cNvPr id="491554" name="Rectangle 34">
            <a:extLst>
              <a:ext uri="{FF2B5EF4-FFF2-40B4-BE49-F238E27FC236}">
                <a16:creationId xmlns:a16="http://schemas.microsoft.com/office/drawing/2014/main" id="{B471B6B4-A875-482D-AA54-AA65666E6391}"/>
              </a:ext>
            </a:extLst>
          </p:cNvPr>
          <p:cNvSpPr>
            <a:spLocks noChangeArrowheads="1"/>
          </p:cNvSpPr>
          <p:nvPr/>
        </p:nvSpPr>
        <p:spPr bwMode="auto">
          <a:xfrm>
            <a:off x="2051745" y="3764310"/>
            <a:ext cx="6480175" cy="426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pPr>
            <a:r>
              <a:rPr lang="zh-CN" altLang="en-US" sz="2000" b="1">
                <a:solidFill>
                  <a:srgbClr val="000066"/>
                </a:solidFill>
                <a:latin typeface="Times New Roman" panose="02020603050405020304" pitchFamily="18" charset="0"/>
              </a:rPr>
              <a:t>称为</a:t>
            </a:r>
            <a:r>
              <a:rPr lang="en-US" altLang="zh-CN" sz="2000" b="1">
                <a:solidFill>
                  <a:srgbClr val="000066"/>
                </a:solidFill>
                <a:latin typeface="Times New Roman" panose="02020603050405020304" pitchFamily="18" charset="0"/>
              </a:rPr>
              <a:t>P-N</a:t>
            </a:r>
            <a:r>
              <a:rPr lang="zh-CN" altLang="en-US" sz="2000" b="1">
                <a:solidFill>
                  <a:srgbClr val="000066"/>
                </a:solidFill>
                <a:latin typeface="Times New Roman" panose="02020603050405020304" pitchFamily="18" charset="0"/>
              </a:rPr>
              <a:t>结扩散电容。其性质如下：</a:t>
            </a:r>
          </a:p>
        </p:txBody>
      </p:sp>
      <p:sp>
        <p:nvSpPr>
          <p:cNvPr id="491556" name="Rectangle 36">
            <a:extLst>
              <a:ext uri="{FF2B5EF4-FFF2-40B4-BE49-F238E27FC236}">
                <a16:creationId xmlns:a16="http://schemas.microsoft.com/office/drawing/2014/main" id="{3D354582-19C1-4E1F-BF0B-D1F45AA39414}"/>
              </a:ext>
            </a:extLst>
          </p:cNvPr>
          <p:cNvSpPr>
            <a:spLocks noChangeArrowheads="1"/>
          </p:cNvSpPr>
          <p:nvPr/>
        </p:nvSpPr>
        <p:spPr bwMode="auto">
          <a:xfrm>
            <a:off x="291999" y="4535835"/>
            <a:ext cx="8158162"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spcBef>
                <a:spcPct val="20000"/>
              </a:spcBef>
              <a:buFont typeface="Wingdings" panose="05000000000000000000" pitchFamily="2" charset="2"/>
              <a:buNone/>
            </a:pPr>
            <a:r>
              <a:rPr kumimoji="0" lang="en-US" altLang="zh-CN" sz="2000" b="1" dirty="0">
                <a:solidFill>
                  <a:srgbClr val="FF3300"/>
                </a:solidFill>
                <a:latin typeface="Times New Roman" panose="02020603050405020304" pitchFamily="18" charset="0"/>
              </a:rPr>
              <a:t>1</a:t>
            </a:r>
            <a:r>
              <a:rPr kumimoji="0" lang="zh-CN" altLang="en-US" sz="2000" b="1" dirty="0">
                <a:solidFill>
                  <a:srgbClr val="FF3300"/>
                </a:solidFill>
                <a:latin typeface="Times New Roman" panose="02020603050405020304" pitchFamily="18" charset="0"/>
              </a:rPr>
              <a:t>、</a:t>
            </a:r>
            <a:r>
              <a:rPr kumimoji="0" lang="zh-CN" altLang="en-US" sz="2000" b="1" dirty="0">
                <a:solidFill>
                  <a:srgbClr val="16165D"/>
                </a:solidFill>
                <a:latin typeface="Times New Roman" panose="02020603050405020304" pitchFamily="18" charset="0"/>
              </a:rPr>
              <a:t>扩散电容在</a:t>
            </a:r>
            <a:r>
              <a:rPr kumimoji="0" lang="en-US" altLang="zh-CN" sz="2000" b="1" dirty="0">
                <a:solidFill>
                  <a:srgbClr val="16165D"/>
                </a:solidFill>
                <a:latin typeface="Times New Roman" panose="02020603050405020304" pitchFamily="18" charset="0"/>
              </a:rPr>
              <a:t>PN</a:t>
            </a:r>
            <a:r>
              <a:rPr kumimoji="0" lang="zh-CN" altLang="en-US" sz="2000" b="1" dirty="0">
                <a:solidFill>
                  <a:srgbClr val="16165D"/>
                </a:solidFill>
                <a:latin typeface="Times New Roman" panose="02020603050405020304" pitchFamily="18" charset="0"/>
              </a:rPr>
              <a:t>结正偏压情况下出现。偏压愈高，扩散电容愈大。反偏</a:t>
            </a:r>
            <a:r>
              <a:rPr kumimoji="0" lang="en-US" altLang="zh-CN" sz="2000" b="1" dirty="0">
                <a:solidFill>
                  <a:srgbClr val="16165D"/>
                </a:solidFill>
                <a:latin typeface="Times New Roman" panose="02020603050405020304" pitchFamily="18" charset="0"/>
              </a:rPr>
              <a:t>PN</a:t>
            </a:r>
            <a:r>
              <a:rPr kumimoji="0" lang="zh-CN" altLang="en-US" sz="2000" b="1" dirty="0">
                <a:solidFill>
                  <a:srgbClr val="16165D"/>
                </a:solidFill>
                <a:latin typeface="Times New Roman" panose="02020603050405020304" pitchFamily="18" charset="0"/>
              </a:rPr>
              <a:t>结不存在贮存电荷，因此不表现出扩散电容；</a:t>
            </a:r>
            <a:endParaRPr kumimoji="0" lang="en-US" altLang="zh-CN" sz="2000" b="1" dirty="0">
              <a:solidFill>
                <a:srgbClr val="16165D"/>
              </a:solidFill>
              <a:latin typeface="Times New Roman" panose="02020603050405020304" pitchFamily="18" charset="0"/>
            </a:endParaRPr>
          </a:p>
          <a:p>
            <a:pPr>
              <a:spcBef>
                <a:spcPct val="20000"/>
              </a:spcBef>
              <a:buFont typeface="Wingdings" panose="05000000000000000000" pitchFamily="2" charset="2"/>
              <a:buNone/>
            </a:pPr>
            <a:r>
              <a:rPr kumimoji="0" lang="en-US" altLang="zh-CN" sz="2000" b="1" dirty="0">
                <a:solidFill>
                  <a:srgbClr val="FF3300"/>
                </a:solidFill>
                <a:latin typeface="Times New Roman" panose="02020603050405020304" pitchFamily="18" charset="0"/>
              </a:rPr>
              <a:t>2</a:t>
            </a:r>
            <a:r>
              <a:rPr kumimoji="0" lang="zh-CN" altLang="en-US" sz="2000" b="1" dirty="0">
                <a:solidFill>
                  <a:srgbClr val="FF3300"/>
                </a:solidFill>
                <a:latin typeface="Times New Roman" panose="02020603050405020304" pitchFamily="18" charset="0"/>
              </a:rPr>
              <a:t>、</a:t>
            </a:r>
            <a:r>
              <a:rPr kumimoji="0" lang="zh-CN" altLang="en-US" sz="2000" b="1" dirty="0">
                <a:solidFill>
                  <a:srgbClr val="16165D"/>
                </a:solidFill>
                <a:latin typeface="Times New Roman" panose="02020603050405020304" pitchFamily="18" charset="0"/>
              </a:rPr>
              <a:t>工作电流愈大，扩散电容愈大；</a:t>
            </a:r>
            <a:endParaRPr kumimoji="0" lang="en-US" altLang="zh-CN" sz="2000" b="1" dirty="0">
              <a:solidFill>
                <a:srgbClr val="16165D"/>
              </a:solidFill>
              <a:latin typeface="Times New Roman" panose="02020603050405020304" pitchFamily="18" charset="0"/>
            </a:endParaRPr>
          </a:p>
          <a:p>
            <a:pPr>
              <a:spcBef>
                <a:spcPct val="20000"/>
              </a:spcBef>
              <a:buFont typeface="Wingdings" panose="05000000000000000000" pitchFamily="2" charset="2"/>
              <a:buNone/>
            </a:pPr>
            <a:r>
              <a:rPr kumimoji="0" lang="en-US" altLang="zh-CN" sz="2000" b="1" dirty="0">
                <a:solidFill>
                  <a:srgbClr val="FF3300"/>
                </a:solidFill>
                <a:latin typeface="Times New Roman" panose="02020603050405020304" pitchFamily="18" charset="0"/>
              </a:rPr>
              <a:t>3</a:t>
            </a:r>
            <a:r>
              <a:rPr kumimoji="0" lang="zh-CN" altLang="en-US" sz="2000" b="1" dirty="0">
                <a:solidFill>
                  <a:srgbClr val="FF3300"/>
                </a:solidFill>
                <a:latin typeface="Times New Roman" panose="02020603050405020304" pitchFamily="18" charset="0"/>
              </a:rPr>
              <a:t>、</a:t>
            </a:r>
            <a:r>
              <a:rPr kumimoji="0" lang="zh-CN" altLang="en-US" sz="2000" b="1" dirty="0">
                <a:solidFill>
                  <a:srgbClr val="16165D"/>
                </a:solidFill>
                <a:latin typeface="Times New Roman" panose="02020603050405020304" pitchFamily="18" charset="0"/>
              </a:rPr>
              <a:t>对于高频情形，存贮电荷跟不上结电压的变化、很小，对于</a:t>
            </a:r>
            <a:r>
              <a:rPr kumimoji="0" lang="en-US" altLang="zh-CN" sz="2000" b="1" dirty="0">
                <a:solidFill>
                  <a:srgbClr val="16165D"/>
                </a:solidFill>
                <a:latin typeface="Times New Roman" panose="02020603050405020304" pitchFamily="18" charset="0"/>
              </a:rPr>
              <a:t> </a:t>
            </a:r>
            <a:r>
              <a:rPr kumimoji="0" lang="zh-CN" altLang="en-US" sz="2000" b="1" dirty="0">
                <a:solidFill>
                  <a:srgbClr val="16165D"/>
                </a:solidFill>
                <a:latin typeface="Times New Roman" panose="02020603050405020304" pitchFamily="18" charset="0"/>
              </a:rPr>
              <a:t>低频情况，扩散电容特别重要；</a:t>
            </a:r>
            <a:endParaRPr kumimoji="0" lang="en-US" altLang="zh-CN" sz="2000" b="1" dirty="0">
              <a:solidFill>
                <a:srgbClr val="16165D"/>
              </a:solidFill>
              <a:latin typeface="Times New Roman" panose="02020603050405020304" pitchFamily="18" charset="0"/>
            </a:endParaRPr>
          </a:p>
          <a:p>
            <a:pPr>
              <a:spcBef>
                <a:spcPct val="20000"/>
              </a:spcBef>
              <a:buFont typeface="Wingdings" panose="05000000000000000000" pitchFamily="2" charset="2"/>
              <a:buNone/>
            </a:pPr>
            <a:r>
              <a:rPr kumimoji="0" lang="en-US" altLang="zh-CN" sz="2000" b="1" dirty="0">
                <a:solidFill>
                  <a:srgbClr val="FF3300"/>
                </a:solidFill>
                <a:latin typeface="Times New Roman" panose="02020603050405020304" pitchFamily="18" charset="0"/>
              </a:rPr>
              <a:t>4</a:t>
            </a:r>
            <a:r>
              <a:rPr kumimoji="0" lang="zh-CN" altLang="en-US" sz="2000" b="1" dirty="0">
                <a:solidFill>
                  <a:srgbClr val="FF3300"/>
                </a:solidFill>
                <a:latin typeface="Times New Roman" panose="02020603050405020304" pitchFamily="18" charset="0"/>
              </a:rPr>
              <a:t>、</a:t>
            </a:r>
            <a:r>
              <a:rPr kumimoji="0" lang="zh-CN" altLang="en-US" sz="2000" b="1" dirty="0">
                <a:solidFill>
                  <a:srgbClr val="16165D"/>
                </a:solidFill>
                <a:latin typeface="Times New Roman" panose="02020603050405020304" pitchFamily="18" charset="0"/>
              </a:rPr>
              <a:t>减少少子寿命（硅材料中掺金）可以有效地减小扩散电容。</a:t>
            </a:r>
          </a:p>
        </p:txBody>
      </p:sp>
    </p:spTree>
    <p:extLst>
      <p:ext uri="{BB962C8B-B14F-4D97-AF65-F5344CB8AC3E}">
        <p14:creationId xmlns:p14="http://schemas.microsoft.com/office/powerpoint/2010/main" val="195594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a:extLst>
              <a:ext uri="{FF2B5EF4-FFF2-40B4-BE49-F238E27FC236}">
                <a16:creationId xmlns:a16="http://schemas.microsoft.com/office/drawing/2014/main" id="{559DD35B-A8D9-46AA-8782-CAFAD263E1BD}"/>
              </a:ext>
            </a:extLst>
          </p:cNvPr>
          <p:cNvSpPr>
            <a:spLocks noChangeArrowheads="1"/>
          </p:cNvSpPr>
          <p:nvPr/>
        </p:nvSpPr>
        <p:spPr bwMode="auto">
          <a:xfrm>
            <a:off x="304800" y="1307976"/>
            <a:ext cx="4122738" cy="5217368"/>
          </a:xfrm>
          <a:prstGeom prst="foldedCorner">
            <a:avLst>
              <a:gd name="adj" fmla="val 10569"/>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endParaRPr>
          </a:p>
        </p:txBody>
      </p:sp>
      <p:sp>
        <p:nvSpPr>
          <p:cNvPr id="5" name="AutoShape 3">
            <a:extLst>
              <a:ext uri="{FF2B5EF4-FFF2-40B4-BE49-F238E27FC236}">
                <a16:creationId xmlns:a16="http://schemas.microsoft.com/office/drawing/2014/main" id="{41465080-5ABA-4C75-98BD-5B1808FFA385}"/>
              </a:ext>
            </a:extLst>
          </p:cNvPr>
          <p:cNvSpPr>
            <a:spLocks noChangeArrowheads="1"/>
          </p:cNvSpPr>
          <p:nvPr/>
        </p:nvSpPr>
        <p:spPr bwMode="auto">
          <a:xfrm>
            <a:off x="4572000" y="1307976"/>
            <a:ext cx="4343400" cy="5217368"/>
          </a:xfrm>
          <a:prstGeom prst="foldedCorner">
            <a:avLst>
              <a:gd name="adj" fmla="val 10069"/>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Times New Roman" panose="02020603050405020304" pitchFamily="18" charset="0"/>
              <a:ea typeface="宋体" panose="02010600030101010101" pitchFamily="2" charset="-122"/>
            </a:endParaRPr>
          </a:p>
        </p:txBody>
      </p:sp>
      <p:sp>
        <p:nvSpPr>
          <p:cNvPr id="6" name="Text Box 4">
            <a:extLst>
              <a:ext uri="{FF2B5EF4-FFF2-40B4-BE49-F238E27FC236}">
                <a16:creationId xmlns:a16="http://schemas.microsoft.com/office/drawing/2014/main" id="{AD4C5D7D-75E6-4BE8-A220-4EA909EC8503}"/>
              </a:ext>
            </a:extLst>
          </p:cNvPr>
          <p:cNvSpPr txBox="1">
            <a:spLocks noChangeArrowheads="1"/>
          </p:cNvSpPr>
          <p:nvPr/>
        </p:nvSpPr>
        <p:spPr bwMode="auto">
          <a:xfrm>
            <a:off x="2208779" y="543577"/>
            <a:ext cx="548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atinLnBrk="0"/>
            <a:r>
              <a:rPr lang="zh-CN" altLang="en-US" sz="2800" b="1" dirty="0">
                <a:latin typeface="Times New Roman" panose="02020603050405020304" pitchFamily="18" charset="0"/>
                <a:ea typeface="宋体" panose="02010600030101010101" pitchFamily="2" charset="-122"/>
              </a:rPr>
              <a:t>势垒电容与扩散电容的特点</a:t>
            </a:r>
          </a:p>
        </p:txBody>
      </p:sp>
      <p:sp>
        <p:nvSpPr>
          <p:cNvPr id="7" name="Text Box 5">
            <a:extLst>
              <a:ext uri="{FF2B5EF4-FFF2-40B4-BE49-F238E27FC236}">
                <a16:creationId xmlns:a16="http://schemas.microsoft.com/office/drawing/2014/main" id="{598CDEB9-BBF4-45AE-AA21-580538B7C7B0}"/>
              </a:ext>
            </a:extLst>
          </p:cNvPr>
          <p:cNvSpPr txBox="1">
            <a:spLocks noChangeArrowheads="1"/>
          </p:cNvSpPr>
          <p:nvPr/>
        </p:nvSpPr>
        <p:spPr bwMode="auto">
          <a:xfrm>
            <a:off x="304800" y="2450976"/>
            <a:ext cx="42672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latinLnBrk="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 机制：耗尽层宽度变化   </a:t>
            </a:r>
            <a:endParaRPr lang="en-US" altLang="zh-CN" sz="2200" b="1" dirty="0">
              <a:latin typeface="Times New Roman" panose="02020603050405020304" pitchFamily="18" charset="0"/>
              <a:ea typeface="宋体" panose="02010600030101010101" pitchFamily="2" charset="-122"/>
            </a:endParaRPr>
          </a:p>
          <a:p>
            <a:pPr marL="342900" indent="-342900" latinLnBrk="0">
              <a:buFont typeface="Arial" panose="020B0604020202020204" pitchFamily="34" charset="0"/>
              <a:buChar char="•"/>
            </a:pPr>
            <a:endParaRPr lang="en-US" altLang="zh-CN" sz="2200" b="1" dirty="0">
              <a:latin typeface="Times New Roman" panose="02020603050405020304" pitchFamily="18" charset="0"/>
              <a:ea typeface="宋体" panose="02010600030101010101" pitchFamily="2" charset="-122"/>
            </a:endParaRPr>
          </a:p>
          <a:p>
            <a:pPr marL="342900" indent="-342900" latinLnBrk="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势垒区中电离杂质电荷随外加电压的变化率；</a:t>
            </a:r>
          </a:p>
          <a:p>
            <a:pPr marL="342900" indent="-342900" latinLnBrk="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正负电荷在空间上是分离的；</a:t>
            </a:r>
          </a:p>
          <a:p>
            <a:pPr marL="342900" indent="-342900" latinLnBrk="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与直流偏压成幂函数关系；</a:t>
            </a:r>
          </a:p>
          <a:p>
            <a:pPr marL="342900" indent="-342900" latinLnBrk="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正偏反偏下均存在，可作电容器使用；</a:t>
            </a:r>
          </a:p>
          <a:p>
            <a:pPr marL="342900" indent="-342900" latinLnBrk="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    要使</a:t>
            </a:r>
            <a:r>
              <a:rPr lang="zh-CN" altLang="en-US" sz="1200" b="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C</a:t>
            </a:r>
            <a:r>
              <a:rPr lang="en-US" altLang="zh-CN" sz="2200" b="1" baseline="-25000" dirty="0">
                <a:latin typeface="Times New Roman" panose="02020603050405020304" pitchFamily="18" charset="0"/>
                <a:ea typeface="宋体" panose="02010600030101010101" pitchFamily="2" charset="-122"/>
              </a:rPr>
              <a:t>T</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 应使</a:t>
            </a:r>
            <a:r>
              <a:rPr lang="zh-CN" altLang="en-US" sz="1000" b="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A</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a:t>
            </a:r>
            <a:r>
              <a:rPr lang="en-US" altLang="zh-CN" sz="2200" b="1" i="1" dirty="0" err="1">
                <a:latin typeface="Times New Roman" panose="02020603050405020304" pitchFamily="18" charset="0"/>
                <a:ea typeface="宋体" panose="02010600030101010101" pitchFamily="2" charset="-122"/>
              </a:rPr>
              <a:t>x</a:t>
            </a:r>
            <a:r>
              <a:rPr lang="en-US" altLang="zh-CN" sz="2200" baseline="-25000" dirty="0" err="1">
                <a:latin typeface="Times New Roman" panose="02020603050405020304" pitchFamily="18" charset="0"/>
                <a:ea typeface="宋体" panose="02010600030101010101" pitchFamily="2" charset="-122"/>
              </a:rPr>
              <a:t>d</a:t>
            </a:r>
            <a:r>
              <a:rPr lang="en-US" altLang="zh-CN" sz="2200" b="1" dirty="0">
                <a:latin typeface="Times New Roman" panose="02020603050405020304" pitchFamily="18" charset="0"/>
                <a:ea typeface="宋体" panose="02010600030101010101" pitchFamily="2" charset="-122"/>
              </a:rPr>
              <a:t>↑</a:t>
            </a:r>
          </a:p>
          <a:p>
            <a:pPr marL="342900" indent="-342900" latinLnBrk="0">
              <a:buFont typeface="Arial" panose="020B0604020202020204" pitchFamily="34" charset="0"/>
              <a:buChar char="•"/>
            </a:pPr>
            <a:r>
              <a:rPr lang="en-US" altLang="zh-CN" sz="2200" b="1" dirty="0">
                <a:latin typeface="Times New Roman" panose="02020603050405020304" pitchFamily="18" charset="0"/>
                <a:ea typeface="宋体" panose="02010600030101010101" pitchFamily="2" charset="-122"/>
              </a:rPr>
              <a:t>  </a:t>
            </a:r>
            <a:endParaRPr lang="zh-CN" altLang="en-US" sz="2200" b="1" dirty="0">
              <a:latin typeface="Times New Roman" panose="02020603050405020304" pitchFamily="18" charset="0"/>
              <a:ea typeface="宋体" panose="02010600030101010101" pitchFamily="2" charset="-122"/>
            </a:endParaRPr>
          </a:p>
        </p:txBody>
      </p:sp>
      <p:sp>
        <p:nvSpPr>
          <p:cNvPr id="8" name="Text Box 6">
            <a:extLst>
              <a:ext uri="{FF2B5EF4-FFF2-40B4-BE49-F238E27FC236}">
                <a16:creationId xmlns:a16="http://schemas.microsoft.com/office/drawing/2014/main" id="{26E38083-B150-4153-BC16-2C7EECFBDAB5}"/>
              </a:ext>
            </a:extLst>
          </p:cNvPr>
          <p:cNvSpPr txBox="1">
            <a:spLocks noChangeArrowheads="1"/>
          </p:cNvSpPr>
          <p:nvPr/>
        </p:nvSpPr>
        <p:spPr bwMode="auto">
          <a:xfrm>
            <a:off x="4572000" y="2162779"/>
            <a:ext cx="419100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latinLnBrk="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机制：  电荷积累</a:t>
            </a:r>
            <a:endParaRPr lang="en-US" altLang="zh-CN" sz="2200" b="1" dirty="0">
              <a:latin typeface="Times New Roman" panose="02020603050405020304" pitchFamily="18" charset="0"/>
              <a:ea typeface="宋体" panose="02010600030101010101" pitchFamily="2" charset="-122"/>
            </a:endParaRPr>
          </a:p>
          <a:p>
            <a:pPr marL="342900" indent="-342900" latinLnBrk="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中性区中非平衡载流子电荷随外加电压的变化率；</a:t>
            </a:r>
          </a:p>
          <a:p>
            <a:pPr marL="342900" indent="-342900" latinLnBrk="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正负电荷在空间上是重叠的；</a:t>
            </a:r>
          </a:p>
          <a:p>
            <a:pPr marL="342900" indent="-342900" latinLnBrk="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与直流电流成线性关系，与直流偏压成指数关系；</a:t>
            </a:r>
          </a:p>
          <a:p>
            <a:pPr marL="342900" indent="-342900" latinLnBrk="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只存在于正偏下；</a:t>
            </a:r>
            <a:endParaRPr lang="en-US" altLang="zh-CN" sz="2200" b="1" dirty="0">
              <a:latin typeface="Times New Roman" panose="02020603050405020304" pitchFamily="18" charset="0"/>
              <a:ea typeface="宋体" panose="02010600030101010101" pitchFamily="2" charset="-122"/>
            </a:endParaRPr>
          </a:p>
          <a:p>
            <a:pPr marL="342900" indent="-34290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减少少子寿命（硅材料中掺金）可以有效地减小扩散电容</a:t>
            </a:r>
          </a:p>
          <a:p>
            <a:pPr marL="342900" indent="-342900" latinLnBrk="0">
              <a:buFont typeface="Arial" panose="020B0604020202020204" pitchFamily="34" charset="0"/>
              <a:buChar char="•"/>
            </a:pPr>
            <a:r>
              <a:rPr lang="zh-CN" altLang="en-US" sz="2200" b="1" dirty="0">
                <a:latin typeface="Times New Roman" panose="02020603050405020304" pitchFamily="18" charset="0"/>
                <a:ea typeface="宋体" panose="02010600030101010101" pitchFamily="2" charset="-122"/>
              </a:rPr>
              <a:t>要使</a:t>
            </a:r>
            <a:r>
              <a:rPr lang="zh-CN" altLang="en-US" sz="1000" b="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C</a:t>
            </a:r>
            <a:r>
              <a:rPr lang="en-US" altLang="zh-CN" sz="2200" b="1" baseline="-25000" dirty="0">
                <a:latin typeface="Times New Roman" panose="02020603050405020304" pitchFamily="18" charset="0"/>
                <a:ea typeface="宋体" panose="02010600030101010101" pitchFamily="2" charset="-122"/>
              </a:rPr>
              <a:t>D</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，应使</a:t>
            </a:r>
            <a:r>
              <a:rPr lang="zh-CN" altLang="en-US" sz="1000" b="1" i="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I</a:t>
            </a:r>
            <a:r>
              <a:rPr lang="en-US" altLang="zh-CN" sz="2200" b="1" baseline="-25000" dirty="0">
                <a:latin typeface="Times New Roman" panose="02020603050405020304" pitchFamily="18" charset="0"/>
                <a:ea typeface="宋体" panose="02010600030101010101" pitchFamily="2" charset="-122"/>
              </a:rPr>
              <a:t>F</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a:t>
            </a:r>
            <a:r>
              <a:rPr lang="en-US" altLang="zh-CN" sz="2200" b="1" i="1" dirty="0">
                <a:latin typeface="Times New Roman" panose="02020603050405020304" pitchFamily="18" charset="0"/>
                <a:ea typeface="宋体" panose="02010600030101010101" pitchFamily="2" charset="-122"/>
              </a:rPr>
              <a:t>A</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    正偏↓），</a:t>
            </a:r>
            <a:r>
              <a:rPr lang="zh-CN" altLang="en-US" b="1" i="1" dirty="0">
                <a:latin typeface="Times New Roman" panose="02020603050405020304" pitchFamily="18" charset="0"/>
                <a:ea typeface="宋体" panose="02010600030101010101" pitchFamily="2" charset="-122"/>
                <a:sym typeface="Symbol" panose="05050102010706020507" pitchFamily="18" charset="2"/>
              </a:rPr>
              <a:t></a:t>
            </a:r>
            <a:r>
              <a:rPr lang="zh-CN" altLang="en-US" dirty="0">
                <a:latin typeface="Times New Roman" panose="02020603050405020304" pitchFamily="18" charset="0"/>
                <a:ea typeface="宋体" panose="02010600030101010101" pitchFamily="2" charset="-122"/>
              </a:rPr>
              <a:t> </a:t>
            </a:r>
            <a:r>
              <a:rPr lang="zh-CN" altLang="en-US" sz="2200" b="1" dirty="0">
                <a:latin typeface="Times New Roman" panose="02020603050405020304" pitchFamily="18" charset="0"/>
                <a:ea typeface="宋体" panose="02010600030101010101" pitchFamily="2" charset="-122"/>
              </a:rPr>
              <a:t>↓。 </a:t>
            </a:r>
          </a:p>
        </p:txBody>
      </p:sp>
      <p:graphicFrame>
        <p:nvGraphicFramePr>
          <p:cNvPr id="9" name="Object 7">
            <a:extLst>
              <a:ext uri="{FF2B5EF4-FFF2-40B4-BE49-F238E27FC236}">
                <a16:creationId xmlns:a16="http://schemas.microsoft.com/office/drawing/2014/main" id="{3E036A29-E00F-4A80-BA66-03F4A8FBAEAF}"/>
              </a:ext>
            </a:extLst>
          </p:cNvPr>
          <p:cNvGraphicFramePr>
            <a:graphicFrameLocks noChangeAspect="1"/>
          </p:cNvGraphicFramePr>
          <p:nvPr>
            <p:extLst>
              <p:ext uri="{D42A27DB-BD31-4B8C-83A1-F6EECF244321}">
                <p14:modId xmlns:p14="http://schemas.microsoft.com/office/powerpoint/2010/main" val="2756865904"/>
              </p:ext>
            </p:extLst>
          </p:nvPr>
        </p:nvGraphicFramePr>
        <p:xfrm>
          <a:off x="1477963" y="1474664"/>
          <a:ext cx="1221829" cy="814980"/>
        </p:xfrm>
        <a:graphic>
          <a:graphicData uri="http://schemas.openxmlformats.org/presentationml/2006/ole">
            <mc:AlternateContent xmlns:mc="http://schemas.openxmlformats.org/markup-compatibility/2006">
              <mc:Choice xmlns:v="urn:schemas-microsoft-com:vml" Requires="v">
                <p:oleObj spid="_x0000_s119860" name="Equation" r:id="rId3" imgW="647640" imgH="431640" progId="Equation.DSMT4">
                  <p:embed/>
                </p:oleObj>
              </mc:Choice>
              <mc:Fallback>
                <p:oleObj name="Equation" r:id="rId3" imgW="647640" imgH="431640" progId="Equation.DSMT4">
                  <p:embed/>
                  <p:pic>
                    <p:nvPicPr>
                      <p:cNvPr id="168967" name="Object 7">
                        <a:extLst>
                          <a:ext uri="{FF2B5EF4-FFF2-40B4-BE49-F238E27FC236}">
                            <a16:creationId xmlns:a16="http://schemas.microsoft.com/office/drawing/2014/main" id="{B7FAA28F-8BF5-448D-A867-475DBE769A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7963" y="1474664"/>
                        <a:ext cx="1221829" cy="814980"/>
                      </a:xfrm>
                      <a:prstGeom prst="rect">
                        <a:avLst/>
                      </a:prstGeom>
                      <a:noFill/>
                      <a:ln>
                        <a:noFill/>
                      </a:ln>
                      <a:effectLst/>
                    </p:spPr>
                  </p:pic>
                </p:oleObj>
              </mc:Fallback>
            </mc:AlternateContent>
          </a:graphicData>
        </a:graphic>
      </p:graphicFrame>
      <p:graphicFrame>
        <p:nvGraphicFramePr>
          <p:cNvPr id="10" name="Object 8">
            <a:extLst>
              <a:ext uri="{FF2B5EF4-FFF2-40B4-BE49-F238E27FC236}">
                <a16:creationId xmlns:a16="http://schemas.microsoft.com/office/drawing/2014/main" id="{C0D08326-051F-46F0-8A6B-272EABA35A5F}"/>
              </a:ext>
            </a:extLst>
          </p:cNvPr>
          <p:cNvGraphicFramePr>
            <a:graphicFrameLocks noChangeAspect="1"/>
          </p:cNvGraphicFramePr>
          <p:nvPr>
            <p:extLst>
              <p:ext uri="{D42A27DB-BD31-4B8C-83A1-F6EECF244321}">
                <p14:modId xmlns:p14="http://schemas.microsoft.com/office/powerpoint/2010/main" val="2096604047"/>
              </p:ext>
            </p:extLst>
          </p:nvPr>
        </p:nvGraphicFramePr>
        <p:xfrm>
          <a:off x="5849938" y="1474664"/>
          <a:ext cx="1127501" cy="658192"/>
        </p:xfrm>
        <a:graphic>
          <a:graphicData uri="http://schemas.openxmlformats.org/presentationml/2006/ole">
            <mc:AlternateContent xmlns:mc="http://schemas.openxmlformats.org/markup-compatibility/2006">
              <mc:Choice xmlns:v="urn:schemas-microsoft-com:vml" Requires="v">
                <p:oleObj spid="_x0000_s119861" name="Equation" r:id="rId5" imgW="672840" imgH="393480" progId="Equation.DSMT4">
                  <p:embed/>
                </p:oleObj>
              </mc:Choice>
              <mc:Fallback>
                <p:oleObj name="Equation" r:id="rId5" imgW="672840" imgH="393480" progId="Equation.DSMT4">
                  <p:embed/>
                  <p:pic>
                    <p:nvPicPr>
                      <p:cNvPr id="168968" name="Object 8">
                        <a:extLst>
                          <a:ext uri="{FF2B5EF4-FFF2-40B4-BE49-F238E27FC236}">
                            <a16:creationId xmlns:a16="http://schemas.microsoft.com/office/drawing/2014/main" id="{C66C0282-2365-4F2C-9B8E-8D8615FE46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49938" y="1474664"/>
                        <a:ext cx="1127501" cy="65819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684163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F936AF3B-A7E1-44F1-B7E6-74596E955EE7}"/>
              </a:ext>
            </a:extLst>
          </p:cNvPr>
          <p:cNvSpPr>
            <a:spLocks noGrp="1" noChangeArrowheads="1"/>
          </p:cNvSpPr>
          <p:nvPr>
            <p:ph type="title"/>
          </p:nvPr>
        </p:nvSpPr>
        <p:spPr bwMode="auto">
          <a:xfrm>
            <a:off x="900113" y="44450"/>
            <a:ext cx="8208962"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ctr" eaLnBrk="1" hangingPunct="1"/>
            <a:r>
              <a:rPr lang="en-US" altLang="zh-CN" b="1" dirty="0">
                <a:solidFill>
                  <a:srgbClr val="FF3300"/>
                </a:solidFill>
                <a:latin typeface="Times New Roman" panose="02020603050405020304" pitchFamily="18" charset="0"/>
                <a:ea typeface="宋体" panose="02010600030101010101" pitchFamily="2" charset="-122"/>
              </a:rPr>
              <a:t>PN</a:t>
            </a:r>
            <a:r>
              <a:rPr lang="zh-CN" altLang="en-US" b="1" dirty="0">
                <a:solidFill>
                  <a:srgbClr val="FF3300"/>
                </a:solidFill>
                <a:latin typeface="Times New Roman" panose="02020603050405020304" pitchFamily="18" charset="0"/>
                <a:ea typeface="宋体" panose="02010600030101010101" pitchFamily="2" charset="-122"/>
              </a:rPr>
              <a:t>结二极管的开关特性</a:t>
            </a:r>
          </a:p>
        </p:txBody>
      </p:sp>
      <p:sp>
        <p:nvSpPr>
          <p:cNvPr id="496643" name="Rectangle 3">
            <a:extLst>
              <a:ext uri="{FF2B5EF4-FFF2-40B4-BE49-F238E27FC236}">
                <a16:creationId xmlns:a16="http://schemas.microsoft.com/office/drawing/2014/main" id="{7E3CB346-EACD-4AA1-A970-BDB58C9CBE2A}"/>
              </a:ext>
            </a:extLst>
          </p:cNvPr>
          <p:cNvSpPr>
            <a:spLocks noChangeArrowheads="1"/>
          </p:cNvSpPr>
          <p:nvPr/>
        </p:nvSpPr>
        <p:spPr bwMode="auto">
          <a:xfrm>
            <a:off x="251520" y="908050"/>
            <a:ext cx="3529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dirty="0">
                <a:solidFill>
                  <a:srgbClr val="993300"/>
                </a:solidFill>
                <a:latin typeface="Times New Roman" panose="02020603050405020304" pitchFamily="18" charset="0"/>
              </a:rPr>
              <a:t>1.</a:t>
            </a:r>
            <a:r>
              <a:rPr lang="zh-CN" altLang="en-US" b="1" dirty="0">
                <a:solidFill>
                  <a:srgbClr val="993300"/>
                </a:solidFill>
                <a:latin typeface="Times New Roman" panose="02020603050405020304" pitchFamily="18" charset="0"/>
              </a:rPr>
              <a:t>二极管的开关作用</a:t>
            </a:r>
            <a:endParaRPr lang="en-US" altLang="zh-CN" b="1" dirty="0">
              <a:solidFill>
                <a:srgbClr val="993300"/>
              </a:solidFill>
              <a:latin typeface="Times New Roman" panose="02020603050405020304" pitchFamily="18" charset="0"/>
            </a:endParaRPr>
          </a:p>
        </p:txBody>
      </p:sp>
      <p:sp>
        <p:nvSpPr>
          <p:cNvPr id="496644" name="Rectangle 4">
            <a:extLst>
              <a:ext uri="{FF2B5EF4-FFF2-40B4-BE49-F238E27FC236}">
                <a16:creationId xmlns:a16="http://schemas.microsoft.com/office/drawing/2014/main" id="{9211B419-4535-488A-9E0B-25FF9E741D65}"/>
              </a:ext>
            </a:extLst>
          </p:cNvPr>
          <p:cNvSpPr>
            <a:spLocks noChangeArrowheads="1"/>
          </p:cNvSpPr>
          <p:nvPr/>
        </p:nvSpPr>
        <p:spPr bwMode="auto">
          <a:xfrm>
            <a:off x="683568" y="1387797"/>
            <a:ext cx="80645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5000"/>
              </a:lnSpc>
              <a:spcBef>
                <a:spcPct val="20000"/>
              </a:spcBef>
              <a:buFont typeface="Wingdings" panose="05000000000000000000" pitchFamily="2" charset="2"/>
              <a:buNone/>
            </a:pPr>
            <a:r>
              <a:rPr kumimoji="0" lang="en-US" altLang="zh-CN" sz="2000" b="1" dirty="0">
                <a:solidFill>
                  <a:srgbClr val="000066"/>
                </a:solidFill>
                <a:latin typeface="Times New Roman" panose="02020603050405020304" pitchFamily="18" charset="0"/>
                <a:sym typeface="Symbol" panose="05050102010706020507" pitchFamily="18" charset="2"/>
              </a:rPr>
              <a:t>PN</a:t>
            </a:r>
            <a:r>
              <a:rPr kumimoji="0" lang="zh-CN" altLang="en-US" sz="2000" b="1" dirty="0">
                <a:solidFill>
                  <a:srgbClr val="000066"/>
                </a:solidFill>
                <a:latin typeface="Times New Roman" panose="02020603050405020304" pitchFamily="18" charset="0"/>
                <a:sym typeface="Symbol" panose="05050102010706020507" pitchFamily="18" charset="2"/>
              </a:rPr>
              <a:t>结二极管处于正向偏置时，允许通过较大的电流，处于反向偏置时通过二极管的电流很小，因此，常把处于正向偏置时二极管的工作状态称为开态，而把处于反向偏置时的工作状态叫作关态。可见结二极管能起到开关作用。</a:t>
            </a:r>
          </a:p>
        </p:txBody>
      </p:sp>
      <p:pic>
        <p:nvPicPr>
          <p:cNvPr id="6" name="Picture 4">
            <a:extLst>
              <a:ext uri="{FF2B5EF4-FFF2-40B4-BE49-F238E27FC236}">
                <a16:creationId xmlns:a16="http://schemas.microsoft.com/office/drawing/2014/main" id="{0F717CCC-FB48-452E-8397-D7DA826F4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6026" y="3026419"/>
            <a:ext cx="4538315" cy="3553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3347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03E2AAE4-5294-4BAC-A154-C03B531B43BF}"/>
              </a:ext>
            </a:extLst>
          </p:cNvPr>
          <p:cNvSpPr>
            <a:spLocks noChangeArrowheads="1"/>
          </p:cNvSpPr>
          <p:nvPr/>
        </p:nvSpPr>
        <p:spPr bwMode="auto">
          <a:xfrm>
            <a:off x="228600" y="990600"/>
            <a:ext cx="4724400" cy="525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marL="269875" indent="-269875">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 typeface="Wingdings" panose="05000000000000000000" pitchFamily="2" charset="2"/>
              <a:buChar char="Ø"/>
            </a:pPr>
            <a:r>
              <a:rPr lang="en-US" altLang="zh-CN" dirty="0">
                <a:solidFill>
                  <a:schemeClr val="accent2"/>
                </a:solidFill>
              </a:rPr>
              <a:t>PN</a:t>
            </a:r>
            <a:r>
              <a:rPr lang="zh-CN" altLang="en-US" dirty="0">
                <a:solidFill>
                  <a:schemeClr val="accent2"/>
                </a:solidFill>
              </a:rPr>
              <a:t>结的电荷存储效应：</a:t>
            </a:r>
            <a:r>
              <a:rPr lang="en-US" altLang="zh-CN" dirty="0">
                <a:solidFill>
                  <a:schemeClr val="tx1"/>
                </a:solidFill>
              </a:rPr>
              <a:t>PN</a:t>
            </a:r>
            <a:r>
              <a:rPr lang="zh-CN" altLang="en-US" dirty="0">
                <a:solidFill>
                  <a:schemeClr val="tx1"/>
                </a:solidFill>
              </a:rPr>
              <a:t>结加一恒定的正向偏压时，载流子被注入并保持在</a:t>
            </a:r>
            <a:r>
              <a:rPr lang="en-US" altLang="zh-CN" dirty="0">
                <a:solidFill>
                  <a:schemeClr val="tx1"/>
                </a:solidFill>
              </a:rPr>
              <a:t>PN</a:t>
            </a:r>
            <a:r>
              <a:rPr lang="zh-CN" altLang="en-US" dirty="0">
                <a:solidFill>
                  <a:schemeClr val="tx1"/>
                </a:solidFill>
              </a:rPr>
              <a:t>结二极管中。</a:t>
            </a:r>
          </a:p>
          <a:p>
            <a:pPr>
              <a:lnSpc>
                <a:spcPct val="130000"/>
              </a:lnSpc>
              <a:spcBef>
                <a:spcPct val="0"/>
              </a:spcBef>
              <a:buClrTx/>
              <a:buFont typeface="Wingdings" panose="05000000000000000000" pitchFamily="2" charset="2"/>
              <a:buChar char="Ø"/>
            </a:pPr>
            <a:r>
              <a:rPr lang="en-US" altLang="zh-CN" dirty="0">
                <a:solidFill>
                  <a:schemeClr val="accent2"/>
                </a:solidFill>
              </a:rPr>
              <a:t>PN</a:t>
            </a:r>
            <a:r>
              <a:rPr lang="zh-CN" altLang="en-US" dirty="0">
                <a:solidFill>
                  <a:schemeClr val="accent2"/>
                </a:solidFill>
              </a:rPr>
              <a:t>结的反向瞬变：</a:t>
            </a:r>
            <a:r>
              <a:rPr lang="zh-CN" altLang="en-US" dirty="0">
                <a:solidFill>
                  <a:schemeClr val="tx1"/>
                </a:solidFill>
              </a:rPr>
              <a:t>当正偏压突然转换至反偏压时（由“开”转向“关”态），在稳态条件下所存储的载流子并不能立刻消除，从而</a:t>
            </a:r>
            <a:r>
              <a:rPr lang="en-US" altLang="zh-CN" dirty="0">
                <a:solidFill>
                  <a:schemeClr val="tx1"/>
                </a:solidFill>
              </a:rPr>
              <a:t>PN</a:t>
            </a:r>
            <a:r>
              <a:rPr lang="zh-CN" altLang="en-US" dirty="0">
                <a:solidFill>
                  <a:schemeClr val="tx1"/>
                </a:solidFill>
              </a:rPr>
              <a:t>结在开关过程中表现出电流和电压的延迟现象。</a:t>
            </a:r>
          </a:p>
          <a:p>
            <a:pPr>
              <a:lnSpc>
                <a:spcPct val="130000"/>
              </a:lnSpc>
              <a:spcBef>
                <a:spcPct val="0"/>
              </a:spcBef>
              <a:buClrTx/>
              <a:buFont typeface="Wingdings" panose="05000000000000000000" pitchFamily="2" charset="2"/>
              <a:buNone/>
            </a:pPr>
            <a:r>
              <a:rPr lang="zh-CN" altLang="en-US" dirty="0">
                <a:solidFill>
                  <a:schemeClr val="tx1"/>
                </a:solidFill>
              </a:rPr>
              <a:t>        根源：电荷存储效应；</a:t>
            </a:r>
          </a:p>
          <a:p>
            <a:pPr>
              <a:lnSpc>
                <a:spcPct val="130000"/>
              </a:lnSpc>
              <a:spcBef>
                <a:spcPct val="0"/>
              </a:spcBef>
              <a:buClrTx/>
              <a:buFont typeface="Wingdings" panose="05000000000000000000" pitchFamily="2" charset="2"/>
              <a:buNone/>
            </a:pPr>
            <a:r>
              <a:rPr lang="zh-CN" altLang="en-US" dirty="0">
                <a:solidFill>
                  <a:schemeClr val="tx1"/>
                </a:solidFill>
              </a:rPr>
              <a:t>        影响：数字电路中二极管的速度</a:t>
            </a:r>
          </a:p>
          <a:p>
            <a:pPr>
              <a:lnSpc>
                <a:spcPct val="130000"/>
              </a:lnSpc>
              <a:spcBef>
                <a:spcPct val="0"/>
              </a:spcBef>
              <a:buClrTx/>
              <a:buFont typeface="Wingdings" panose="05000000000000000000" pitchFamily="2" charset="2"/>
              <a:buChar char="Ø"/>
            </a:pPr>
            <a:r>
              <a:rPr lang="zh-CN" altLang="en-US" dirty="0">
                <a:solidFill>
                  <a:schemeClr val="accent2"/>
                </a:solidFill>
              </a:rPr>
              <a:t>开瞬态：</a:t>
            </a:r>
            <a:r>
              <a:rPr lang="en-US" altLang="zh-CN" dirty="0">
                <a:solidFill>
                  <a:schemeClr val="tx1"/>
                </a:solidFill>
              </a:rPr>
              <a:t>PN</a:t>
            </a:r>
            <a:r>
              <a:rPr lang="zh-CN" altLang="en-US" dirty="0">
                <a:solidFill>
                  <a:schemeClr val="tx1"/>
                </a:solidFill>
              </a:rPr>
              <a:t>结由关态向开态转变时，一般时间较短。</a:t>
            </a:r>
          </a:p>
          <a:p>
            <a:pPr>
              <a:lnSpc>
                <a:spcPct val="130000"/>
              </a:lnSpc>
              <a:spcBef>
                <a:spcPct val="0"/>
              </a:spcBef>
              <a:buClrTx/>
              <a:buFont typeface="Wingdings" panose="05000000000000000000" pitchFamily="2" charset="2"/>
              <a:buChar char="Ø"/>
            </a:pPr>
            <a:endParaRPr lang="en-US" altLang="zh-CN" dirty="0">
              <a:solidFill>
                <a:schemeClr val="tx1"/>
              </a:solidFill>
            </a:endParaRPr>
          </a:p>
        </p:txBody>
      </p:sp>
      <p:pic>
        <p:nvPicPr>
          <p:cNvPr id="7" name="Picture 4" descr="2t20">
            <a:extLst>
              <a:ext uri="{FF2B5EF4-FFF2-40B4-BE49-F238E27FC236}">
                <a16:creationId xmlns:a16="http://schemas.microsoft.com/office/drawing/2014/main" id="{DA0C088D-6FDA-4BCF-82BA-F8ABA5B8BB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1600200"/>
            <a:ext cx="373380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5266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1" name="Rectangle 3">
            <a:extLst>
              <a:ext uri="{FF2B5EF4-FFF2-40B4-BE49-F238E27FC236}">
                <a16:creationId xmlns:a16="http://schemas.microsoft.com/office/drawing/2014/main" id="{76CB7D47-EE98-4E61-988B-418AAB7DDA20}"/>
              </a:ext>
            </a:extLst>
          </p:cNvPr>
          <p:cNvSpPr>
            <a:spLocks noChangeArrowheads="1"/>
          </p:cNvSpPr>
          <p:nvPr/>
        </p:nvSpPr>
        <p:spPr bwMode="auto">
          <a:xfrm>
            <a:off x="179388" y="1387475"/>
            <a:ext cx="5113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dirty="0">
                <a:solidFill>
                  <a:srgbClr val="993300"/>
                </a:solidFill>
                <a:latin typeface="Times New Roman" panose="02020603050405020304" pitchFamily="18" charset="0"/>
              </a:rPr>
              <a:t>3.</a:t>
            </a:r>
            <a:r>
              <a:rPr kumimoji="0" lang="en-US" altLang="zh-CN" b="1" dirty="0">
                <a:solidFill>
                  <a:srgbClr val="993300"/>
                </a:solidFill>
                <a:latin typeface="Times New Roman" panose="02020603050405020304" pitchFamily="18" charset="0"/>
              </a:rPr>
              <a:t>PN</a:t>
            </a:r>
            <a:r>
              <a:rPr kumimoji="0" lang="zh-CN" altLang="en-US" b="1" dirty="0">
                <a:solidFill>
                  <a:srgbClr val="993300"/>
                </a:solidFill>
                <a:latin typeface="Times New Roman" panose="02020603050405020304" pitchFamily="18" charset="0"/>
              </a:rPr>
              <a:t>结二极管的电荷存储效应</a:t>
            </a:r>
            <a:endParaRPr kumimoji="0" lang="en-US" altLang="zh-CN" b="1" dirty="0">
              <a:solidFill>
                <a:srgbClr val="993300"/>
              </a:solidFill>
              <a:latin typeface="Times New Roman" panose="02020603050405020304" pitchFamily="18" charset="0"/>
            </a:endParaRPr>
          </a:p>
        </p:txBody>
      </p:sp>
      <p:sp>
        <p:nvSpPr>
          <p:cNvPr id="498693" name="Rectangle 5">
            <a:extLst>
              <a:ext uri="{FF2B5EF4-FFF2-40B4-BE49-F238E27FC236}">
                <a16:creationId xmlns:a16="http://schemas.microsoft.com/office/drawing/2014/main" id="{4B0B40EE-E7A3-429A-A71C-DDB78FA596F1}"/>
              </a:ext>
            </a:extLst>
          </p:cNvPr>
          <p:cNvSpPr>
            <a:spLocks noChangeArrowheads="1"/>
          </p:cNvSpPr>
          <p:nvPr/>
        </p:nvSpPr>
        <p:spPr bwMode="auto">
          <a:xfrm>
            <a:off x="611188" y="1916113"/>
            <a:ext cx="8208962" cy="795667"/>
          </a:xfrm>
          <a:prstGeom prst="rect">
            <a:avLst/>
          </a:prstGeom>
          <a:solidFill>
            <a:srgbClr val="FFFF00"/>
          </a:solidFill>
          <a:ln>
            <a:noFill/>
          </a:ln>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20000"/>
              </a:spcBef>
            </a:pPr>
            <a:r>
              <a:rPr kumimoji="0" lang="en-US" altLang="zh-CN" sz="2000" b="1" dirty="0">
                <a:solidFill>
                  <a:srgbClr val="000066"/>
                </a:solidFill>
                <a:latin typeface="Times New Roman" panose="02020603050405020304" pitchFamily="18" charset="0"/>
              </a:rPr>
              <a:t>PN</a:t>
            </a:r>
            <a:r>
              <a:rPr kumimoji="0" lang="zh-CN" altLang="en-US" sz="2000" b="1" dirty="0">
                <a:solidFill>
                  <a:srgbClr val="000066"/>
                </a:solidFill>
                <a:latin typeface="Times New Roman" panose="02020603050405020304" pitchFamily="18" charset="0"/>
              </a:rPr>
              <a:t>结加一恒定的正向偏压时，载流子被注入并保持在结二极管中，在扩散区建立确定的非平衡少数载流子分布，这种现象称为电荷存储效应。</a:t>
            </a:r>
          </a:p>
        </p:txBody>
      </p:sp>
      <p:pic>
        <p:nvPicPr>
          <p:cNvPr id="498695" name="Picture 7">
            <a:extLst>
              <a:ext uri="{FF2B5EF4-FFF2-40B4-BE49-F238E27FC236}">
                <a16:creationId xmlns:a16="http://schemas.microsoft.com/office/drawing/2014/main" id="{1DBBBB1B-418A-4868-88F5-E138A0A8D3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1950" y="2852936"/>
            <a:ext cx="4648200" cy="377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pic>
      <p:sp>
        <p:nvSpPr>
          <p:cNvPr id="498696" name="Rectangle 8">
            <a:extLst>
              <a:ext uri="{FF2B5EF4-FFF2-40B4-BE49-F238E27FC236}">
                <a16:creationId xmlns:a16="http://schemas.microsoft.com/office/drawing/2014/main" id="{2122EC95-2425-479C-AF16-6889CC972EC7}"/>
              </a:ext>
            </a:extLst>
          </p:cNvPr>
          <p:cNvSpPr>
            <a:spLocks noChangeArrowheads="1"/>
          </p:cNvSpPr>
          <p:nvPr/>
        </p:nvSpPr>
        <p:spPr bwMode="auto">
          <a:xfrm>
            <a:off x="611188" y="3141663"/>
            <a:ext cx="3673475"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20000"/>
              </a:spcBef>
            </a:pPr>
            <a:r>
              <a:rPr kumimoji="0" lang="zh-CN" altLang="en-US" b="1">
                <a:solidFill>
                  <a:srgbClr val="FF0000"/>
                </a:solidFill>
                <a:latin typeface="Times New Roman" panose="02020603050405020304" pitchFamily="18" charset="0"/>
              </a:rPr>
              <a:t>当正向偏压突然转至反向偏压时，在稳态条件下所保持的载流子并不能立刻消除。</a:t>
            </a:r>
          </a:p>
        </p:txBody>
      </p:sp>
    </p:spTree>
    <p:extLst>
      <p:ext uri="{BB962C8B-B14F-4D97-AF65-F5344CB8AC3E}">
        <p14:creationId xmlns:p14="http://schemas.microsoft.com/office/powerpoint/2010/main" val="3016218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5" name="Rectangle 3">
            <a:extLst>
              <a:ext uri="{FF2B5EF4-FFF2-40B4-BE49-F238E27FC236}">
                <a16:creationId xmlns:a16="http://schemas.microsoft.com/office/drawing/2014/main" id="{8E4D1D9B-3975-4DBA-B7EA-BA45F9645710}"/>
              </a:ext>
            </a:extLst>
          </p:cNvPr>
          <p:cNvSpPr>
            <a:spLocks noChangeArrowheads="1"/>
          </p:cNvSpPr>
          <p:nvPr/>
        </p:nvSpPr>
        <p:spPr bwMode="auto">
          <a:xfrm>
            <a:off x="179388" y="1387475"/>
            <a:ext cx="5113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dirty="0">
                <a:solidFill>
                  <a:srgbClr val="993300"/>
                </a:solidFill>
                <a:latin typeface="Times New Roman" panose="02020603050405020304" pitchFamily="18" charset="0"/>
              </a:rPr>
              <a:t>4.PN</a:t>
            </a:r>
            <a:r>
              <a:rPr kumimoji="0" lang="zh-CN" altLang="en-US" b="1" dirty="0">
                <a:solidFill>
                  <a:srgbClr val="993300"/>
                </a:solidFill>
                <a:latin typeface="Times New Roman" panose="02020603050405020304" pitchFamily="18" charset="0"/>
              </a:rPr>
              <a:t>结反向瞬变的定性解释</a:t>
            </a:r>
            <a:r>
              <a:rPr kumimoji="0" lang="zh-CN" altLang="en-US" dirty="0">
                <a:solidFill>
                  <a:srgbClr val="993300"/>
                </a:solidFill>
                <a:latin typeface="Times New Roman" panose="02020603050405020304" pitchFamily="18" charset="0"/>
              </a:rPr>
              <a:t> </a:t>
            </a:r>
            <a:endParaRPr kumimoji="0" lang="en-US" altLang="zh-CN" dirty="0">
              <a:solidFill>
                <a:srgbClr val="993300"/>
              </a:solidFill>
              <a:latin typeface="Times New Roman" panose="02020603050405020304" pitchFamily="18" charset="0"/>
            </a:endParaRPr>
          </a:p>
        </p:txBody>
      </p:sp>
      <p:pic>
        <p:nvPicPr>
          <p:cNvPr id="84996" name="Picture 5">
            <a:extLst>
              <a:ext uri="{FF2B5EF4-FFF2-40B4-BE49-F238E27FC236}">
                <a16:creationId xmlns:a16="http://schemas.microsoft.com/office/drawing/2014/main" id="{34B7DE39-D5C5-4B8D-9345-D7C3C2E10F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863" y="1341438"/>
            <a:ext cx="3132137" cy="251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pic>
      <p:grpSp>
        <p:nvGrpSpPr>
          <p:cNvPr id="2" name="Group 13">
            <a:extLst>
              <a:ext uri="{FF2B5EF4-FFF2-40B4-BE49-F238E27FC236}">
                <a16:creationId xmlns:a16="http://schemas.microsoft.com/office/drawing/2014/main" id="{492F6A8D-0D6A-4D28-B1B8-7A91E7DFD74A}"/>
              </a:ext>
            </a:extLst>
          </p:cNvPr>
          <p:cNvGrpSpPr>
            <a:grpSpLocks/>
          </p:cNvGrpSpPr>
          <p:nvPr/>
        </p:nvGrpSpPr>
        <p:grpSpPr bwMode="auto">
          <a:xfrm>
            <a:off x="539750" y="1819275"/>
            <a:ext cx="1352550" cy="457200"/>
            <a:chOff x="340" y="1146"/>
            <a:chExt cx="852" cy="288"/>
          </a:xfrm>
        </p:grpSpPr>
        <p:sp>
          <p:nvSpPr>
            <p:cNvPr id="85046" name="Rectangle 6">
              <a:extLst>
                <a:ext uri="{FF2B5EF4-FFF2-40B4-BE49-F238E27FC236}">
                  <a16:creationId xmlns:a16="http://schemas.microsoft.com/office/drawing/2014/main" id="{FB28F815-218E-4C8A-9140-42C0F4705A81}"/>
                </a:ext>
              </a:extLst>
            </p:cNvPr>
            <p:cNvSpPr>
              <a:spLocks noChangeArrowheads="1"/>
            </p:cNvSpPr>
            <p:nvPr/>
          </p:nvSpPr>
          <p:spPr bwMode="auto">
            <a:xfrm>
              <a:off x="612" y="1146"/>
              <a:ext cx="22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20000"/>
                </a:spcBef>
              </a:pPr>
              <a:r>
                <a:rPr kumimoji="0" lang="zh-CN" altLang="en-US" sz="2000" b="1">
                  <a:solidFill>
                    <a:srgbClr val="000066"/>
                  </a:solidFill>
                  <a:latin typeface="Times New Roman" panose="02020603050405020304" pitchFamily="18" charset="0"/>
                </a:rPr>
                <a:t>到</a:t>
              </a:r>
            </a:p>
          </p:txBody>
        </p:sp>
        <p:graphicFrame>
          <p:nvGraphicFramePr>
            <p:cNvPr id="85047" name="Object 11">
              <a:extLst>
                <a:ext uri="{FF2B5EF4-FFF2-40B4-BE49-F238E27FC236}">
                  <a16:creationId xmlns:a16="http://schemas.microsoft.com/office/drawing/2014/main" id="{87D16CC2-139D-46BE-AD4F-43447A732BCB}"/>
                </a:ext>
              </a:extLst>
            </p:cNvPr>
            <p:cNvGraphicFramePr>
              <a:graphicFrameLocks noChangeAspect="1"/>
            </p:cNvGraphicFramePr>
            <p:nvPr/>
          </p:nvGraphicFramePr>
          <p:xfrm>
            <a:off x="340" y="1207"/>
            <a:ext cx="339" cy="190"/>
          </p:xfrm>
          <a:graphic>
            <a:graphicData uri="http://schemas.openxmlformats.org/presentationml/2006/ole">
              <mc:AlternateContent xmlns:mc="http://schemas.openxmlformats.org/markup-compatibility/2006">
                <mc:Choice xmlns:v="urn:schemas-microsoft-com:vml" Requires="v">
                  <p:oleObj spid="_x0000_s125344" name="Equation" r:id="rId4" imgW="317087" imgH="177569" progId="Equation.DSMT4">
                    <p:embed/>
                  </p:oleObj>
                </mc:Choice>
                <mc:Fallback>
                  <p:oleObj name="Equation" r:id="rId4" imgW="317087" imgH="177569" progId="Equation.DSMT4">
                    <p:embed/>
                    <p:pic>
                      <p:nvPicPr>
                        <p:cNvPr id="85047" name="Object 11">
                          <a:extLst>
                            <a:ext uri="{FF2B5EF4-FFF2-40B4-BE49-F238E27FC236}">
                              <a16:creationId xmlns:a16="http://schemas.microsoft.com/office/drawing/2014/main" id="{87D16CC2-139D-46BE-AD4F-43447A732B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 y="1207"/>
                          <a:ext cx="3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48" name="Object 12">
              <a:extLst>
                <a:ext uri="{FF2B5EF4-FFF2-40B4-BE49-F238E27FC236}">
                  <a16:creationId xmlns:a16="http://schemas.microsoft.com/office/drawing/2014/main" id="{D85FCA67-AB18-418A-9032-C29240BB6BCF}"/>
                </a:ext>
              </a:extLst>
            </p:cNvPr>
            <p:cNvGraphicFramePr>
              <a:graphicFrameLocks noChangeAspect="1"/>
            </p:cNvGraphicFramePr>
            <p:nvPr/>
          </p:nvGraphicFramePr>
          <p:xfrm>
            <a:off x="839" y="1190"/>
            <a:ext cx="353" cy="244"/>
          </p:xfrm>
          <a:graphic>
            <a:graphicData uri="http://schemas.openxmlformats.org/presentationml/2006/ole">
              <mc:AlternateContent xmlns:mc="http://schemas.openxmlformats.org/markup-compatibility/2006">
                <mc:Choice xmlns:v="urn:schemas-microsoft-com:vml" Requires="v">
                  <p:oleObj spid="_x0000_s125345" name="Equation" r:id="rId6" imgW="330200" imgH="228600" progId="Equation.DSMT4">
                    <p:embed/>
                  </p:oleObj>
                </mc:Choice>
                <mc:Fallback>
                  <p:oleObj name="Equation" r:id="rId6" imgW="330200" imgH="228600" progId="Equation.DSMT4">
                    <p:embed/>
                    <p:pic>
                      <p:nvPicPr>
                        <p:cNvPr id="85048" name="Object 12">
                          <a:extLst>
                            <a:ext uri="{FF2B5EF4-FFF2-40B4-BE49-F238E27FC236}">
                              <a16:creationId xmlns:a16="http://schemas.microsoft.com/office/drawing/2014/main" id="{D85FCA67-AB18-418A-9032-C29240BB6B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9" y="1190"/>
                          <a:ext cx="353"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 name="Group 70">
            <a:extLst>
              <a:ext uri="{FF2B5EF4-FFF2-40B4-BE49-F238E27FC236}">
                <a16:creationId xmlns:a16="http://schemas.microsoft.com/office/drawing/2014/main" id="{2B346645-3AA2-4638-B230-D6084982C884}"/>
              </a:ext>
            </a:extLst>
          </p:cNvPr>
          <p:cNvGrpSpPr>
            <a:grpSpLocks/>
          </p:cNvGrpSpPr>
          <p:nvPr/>
        </p:nvGrpSpPr>
        <p:grpSpPr bwMode="auto">
          <a:xfrm>
            <a:off x="250825" y="2205038"/>
            <a:ext cx="5545138" cy="1119187"/>
            <a:chOff x="158" y="1389"/>
            <a:chExt cx="3493" cy="705"/>
          </a:xfrm>
        </p:grpSpPr>
        <p:sp>
          <p:nvSpPr>
            <p:cNvPr id="85036" name="Rectangle 20">
              <a:extLst>
                <a:ext uri="{FF2B5EF4-FFF2-40B4-BE49-F238E27FC236}">
                  <a16:creationId xmlns:a16="http://schemas.microsoft.com/office/drawing/2014/main" id="{ADCA6092-D5EE-4BDC-8674-CAD19D08B015}"/>
                </a:ext>
              </a:extLst>
            </p:cNvPr>
            <p:cNvSpPr>
              <a:spLocks noChangeArrowheads="1"/>
            </p:cNvSpPr>
            <p:nvPr/>
          </p:nvSpPr>
          <p:spPr bwMode="auto">
            <a:xfrm>
              <a:off x="385" y="1842"/>
              <a:ext cx="27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则沿</a:t>
              </a:r>
              <a:r>
                <a:rPr lang="en-US" altLang="zh-CN" sz="2000" b="1">
                  <a:solidFill>
                    <a:srgbClr val="000080"/>
                  </a:solidFill>
                  <a:latin typeface="Times New Roman" panose="02020603050405020304" pitchFamily="18" charset="0"/>
                  <a:cs typeface="Times New Roman" panose="02020603050405020304" pitchFamily="18" charset="0"/>
                </a:rPr>
                <a:t>X</a:t>
              </a:r>
              <a:r>
                <a:rPr lang="zh-CN" altLang="en-US" sz="2000" b="1">
                  <a:solidFill>
                    <a:srgbClr val="000080"/>
                  </a:solidFill>
                  <a:latin typeface="Times New Roman" panose="02020603050405020304" pitchFamily="18" charset="0"/>
                  <a:cs typeface="Times New Roman" panose="02020603050405020304" pitchFamily="18" charset="0"/>
                </a:rPr>
                <a:t>轴的正方向，于是电流反向。</a:t>
              </a:r>
              <a:r>
                <a:rPr lang="zh-CN" altLang="en-US" sz="2000" b="1">
                  <a:latin typeface="Times New Roman" panose="02020603050405020304" pitchFamily="18" charset="0"/>
                  <a:cs typeface="Times New Roman" panose="02020603050405020304" pitchFamily="18" charset="0"/>
                </a:rPr>
                <a:t> </a:t>
              </a:r>
            </a:p>
          </p:txBody>
        </p:sp>
        <p:grpSp>
          <p:nvGrpSpPr>
            <p:cNvPr id="85037" name="Group 32">
              <a:extLst>
                <a:ext uri="{FF2B5EF4-FFF2-40B4-BE49-F238E27FC236}">
                  <a16:creationId xmlns:a16="http://schemas.microsoft.com/office/drawing/2014/main" id="{C12183AE-C071-4266-A2DE-84933A69B76D}"/>
                </a:ext>
              </a:extLst>
            </p:cNvPr>
            <p:cNvGrpSpPr>
              <a:grpSpLocks/>
            </p:cNvGrpSpPr>
            <p:nvPr/>
          </p:nvGrpSpPr>
          <p:grpSpPr bwMode="auto">
            <a:xfrm>
              <a:off x="158" y="1389"/>
              <a:ext cx="3402" cy="250"/>
              <a:chOff x="158" y="1570"/>
              <a:chExt cx="3402" cy="250"/>
            </a:xfrm>
          </p:grpSpPr>
          <p:graphicFrame>
            <p:nvGraphicFramePr>
              <p:cNvPr id="85041" name="Object 16">
                <a:extLst>
                  <a:ext uri="{FF2B5EF4-FFF2-40B4-BE49-F238E27FC236}">
                    <a16:creationId xmlns:a16="http://schemas.microsoft.com/office/drawing/2014/main" id="{1F793934-9002-42CA-9A40-4B71102F1BCD}"/>
                  </a:ext>
                </a:extLst>
              </p:cNvPr>
              <p:cNvGraphicFramePr>
                <a:graphicFrameLocks noChangeAspect="1"/>
              </p:cNvGraphicFramePr>
              <p:nvPr/>
            </p:nvGraphicFramePr>
            <p:xfrm>
              <a:off x="657" y="1641"/>
              <a:ext cx="363" cy="160"/>
            </p:xfrm>
            <a:graphic>
              <a:graphicData uri="http://schemas.openxmlformats.org/presentationml/2006/ole">
                <mc:AlternateContent xmlns:mc="http://schemas.openxmlformats.org/markup-compatibility/2006">
                  <mc:Choice xmlns:v="urn:schemas-microsoft-com:vml" Requires="v">
                    <p:oleObj spid="_x0000_s125346" name="Equation" r:id="rId8" imgW="405872" imgH="177569" progId="Equation.DSMT4">
                      <p:embed/>
                    </p:oleObj>
                  </mc:Choice>
                  <mc:Fallback>
                    <p:oleObj name="Equation" r:id="rId8" imgW="405872" imgH="177569" progId="Equation.DSMT4">
                      <p:embed/>
                      <p:pic>
                        <p:nvPicPr>
                          <p:cNvPr id="85041" name="Object 16">
                            <a:extLst>
                              <a:ext uri="{FF2B5EF4-FFF2-40B4-BE49-F238E27FC236}">
                                <a16:creationId xmlns:a16="http://schemas.microsoft.com/office/drawing/2014/main" id="{1F793934-9002-42CA-9A40-4B71102F1BC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7" y="1641"/>
                            <a:ext cx="36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42" name="Object 15">
                <a:extLst>
                  <a:ext uri="{FF2B5EF4-FFF2-40B4-BE49-F238E27FC236}">
                    <a16:creationId xmlns:a16="http://schemas.microsoft.com/office/drawing/2014/main" id="{2C48EEA7-0B2B-4E1C-876B-BD581DB79F08}"/>
                  </a:ext>
                </a:extLst>
              </p:cNvPr>
              <p:cNvGraphicFramePr>
                <a:graphicFrameLocks noChangeAspect="1"/>
              </p:cNvGraphicFramePr>
              <p:nvPr/>
            </p:nvGraphicFramePr>
            <p:xfrm>
              <a:off x="1519" y="1570"/>
              <a:ext cx="454" cy="248"/>
            </p:xfrm>
            <a:graphic>
              <a:graphicData uri="http://schemas.openxmlformats.org/presentationml/2006/ole">
                <mc:AlternateContent xmlns:mc="http://schemas.openxmlformats.org/markup-compatibility/2006">
                  <mc:Choice xmlns:v="urn:schemas-microsoft-com:vml" Requires="v">
                    <p:oleObj spid="_x0000_s125347" name="Equation" r:id="rId10" imgW="419100" imgH="228600" progId="Equation.DSMT4">
                      <p:embed/>
                    </p:oleObj>
                  </mc:Choice>
                  <mc:Fallback>
                    <p:oleObj name="Equation" r:id="rId10" imgW="419100" imgH="228600" progId="Equation.DSMT4">
                      <p:embed/>
                      <p:pic>
                        <p:nvPicPr>
                          <p:cNvPr id="85042" name="Object 15">
                            <a:extLst>
                              <a:ext uri="{FF2B5EF4-FFF2-40B4-BE49-F238E27FC236}">
                                <a16:creationId xmlns:a16="http://schemas.microsoft.com/office/drawing/2014/main" id="{2C48EEA7-0B2B-4E1C-876B-BD581DB79F0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19" y="1570"/>
                            <a:ext cx="45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043" name="Rectangle 17">
                <a:extLst>
                  <a:ext uri="{FF2B5EF4-FFF2-40B4-BE49-F238E27FC236}">
                    <a16:creationId xmlns:a16="http://schemas.microsoft.com/office/drawing/2014/main" id="{5F571E30-9BCE-4A6D-91C6-FB15E58B9C46}"/>
                  </a:ext>
                </a:extLst>
              </p:cNvPr>
              <p:cNvSpPr>
                <a:spLocks noChangeArrowheads="1"/>
              </p:cNvSpPr>
              <p:nvPr/>
            </p:nvSpPr>
            <p:spPr bwMode="auto">
              <a:xfrm>
                <a:off x="158" y="1570"/>
                <a:ext cx="6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a:solidFill>
                      <a:srgbClr val="000080"/>
                    </a:solidFill>
                    <a:latin typeface="Times New Roman" panose="02020603050405020304" pitchFamily="18" charset="0"/>
                    <a:cs typeface="Times New Roman" panose="02020603050405020304" pitchFamily="18" charset="0"/>
                  </a:rPr>
                  <a:t>1</a:t>
                </a:r>
                <a:r>
                  <a:rPr lang="zh-CN" altLang="en-US" sz="2000" b="1">
                    <a:solidFill>
                      <a:srgbClr val="000080"/>
                    </a:solidFill>
                    <a:latin typeface="Times New Roman" panose="02020603050405020304" pitchFamily="18" charset="0"/>
                    <a:cs typeface="Times New Roman" panose="02020603050405020304" pitchFamily="18" charset="0"/>
                  </a:rPr>
                  <a:t>、在</a:t>
                </a:r>
              </a:p>
            </p:txBody>
          </p:sp>
          <p:sp>
            <p:nvSpPr>
              <p:cNvPr id="85044" name="Rectangle 19">
                <a:extLst>
                  <a:ext uri="{FF2B5EF4-FFF2-40B4-BE49-F238E27FC236}">
                    <a16:creationId xmlns:a16="http://schemas.microsoft.com/office/drawing/2014/main" id="{76CEB0AA-179A-4E08-97CC-7DECD8B085DD}"/>
                  </a:ext>
                </a:extLst>
              </p:cNvPr>
              <p:cNvSpPr>
                <a:spLocks noChangeArrowheads="1"/>
              </p:cNvSpPr>
              <p:nvPr/>
            </p:nvSpPr>
            <p:spPr bwMode="auto">
              <a:xfrm>
                <a:off x="1927" y="1570"/>
                <a:ext cx="16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处注入的载流子浓度</a:t>
                </a:r>
                <a:endParaRPr lang="zh-CN" altLang="en-US" sz="2000" b="1">
                  <a:latin typeface="Times New Roman" panose="02020603050405020304" pitchFamily="18" charset="0"/>
                  <a:cs typeface="Times New Roman" panose="02020603050405020304" pitchFamily="18" charset="0"/>
                </a:endParaRPr>
              </a:p>
            </p:txBody>
          </p:sp>
          <p:sp>
            <p:nvSpPr>
              <p:cNvPr id="85045" name="Rectangle 21">
                <a:extLst>
                  <a:ext uri="{FF2B5EF4-FFF2-40B4-BE49-F238E27FC236}">
                    <a16:creationId xmlns:a16="http://schemas.microsoft.com/office/drawing/2014/main" id="{B21CC3A3-4A10-40E3-8D79-8C2F3466C8F1}"/>
                  </a:ext>
                </a:extLst>
              </p:cNvPr>
              <p:cNvSpPr>
                <a:spLocks noChangeArrowheads="1"/>
              </p:cNvSpPr>
              <p:nvPr/>
            </p:nvSpPr>
            <p:spPr bwMode="auto">
              <a:xfrm>
                <a:off x="965" y="1570"/>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rPr>
                  <a:t>结界面</a:t>
                </a:r>
              </a:p>
            </p:txBody>
          </p:sp>
        </p:grpSp>
        <p:grpSp>
          <p:nvGrpSpPr>
            <p:cNvPr id="85038" name="Group 33">
              <a:extLst>
                <a:ext uri="{FF2B5EF4-FFF2-40B4-BE49-F238E27FC236}">
                  <a16:creationId xmlns:a16="http://schemas.microsoft.com/office/drawing/2014/main" id="{0FBBD42E-F4C9-4C72-93C3-41ECAAFE5BCE}"/>
                </a:ext>
              </a:extLst>
            </p:cNvPr>
            <p:cNvGrpSpPr>
              <a:grpSpLocks/>
            </p:cNvGrpSpPr>
            <p:nvPr/>
          </p:nvGrpSpPr>
          <p:grpSpPr bwMode="auto">
            <a:xfrm>
              <a:off x="385" y="1616"/>
              <a:ext cx="3266" cy="314"/>
              <a:chOff x="385" y="1888"/>
              <a:chExt cx="3266" cy="314"/>
            </a:xfrm>
          </p:grpSpPr>
          <p:graphicFrame>
            <p:nvGraphicFramePr>
              <p:cNvPr id="85039" name="Object 14">
                <a:extLst>
                  <a:ext uri="{FF2B5EF4-FFF2-40B4-BE49-F238E27FC236}">
                    <a16:creationId xmlns:a16="http://schemas.microsoft.com/office/drawing/2014/main" id="{CD3D6239-3537-47AD-93C7-93E47AD0BA35}"/>
                  </a:ext>
                </a:extLst>
              </p:cNvPr>
              <p:cNvGraphicFramePr>
                <a:graphicFrameLocks noChangeAspect="1"/>
              </p:cNvGraphicFramePr>
              <p:nvPr/>
            </p:nvGraphicFramePr>
            <p:xfrm>
              <a:off x="2744" y="1888"/>
              <a:ext cx="907" cy="314"/>
            </p:xfrm>
            <a:graphic>
              <a:graphicData uri="http://schemas.openxmlformats.org/presentationml/2006/ole">
                <mc:AlternateContent xmlns:mc="http://schemas.openxmlformats.org/markup-compatibility/2006">
                  <mc:Choice xmlns:v="urn:schemas-microsoft-com:vml" Requires="v">
                    <p:oleObj spid="_x0000_s125348" name="Equation" r:id="rId12" imgW="800100" imgH="279400" progId="Equation.DSMT4">
                      <p:embed/>
                    </p:oleObj>
                  </mc:Choice>
                  <mc:Fallback>
                    <p:oleObj name="Equation" r:id="rId12" imgW="800100" imgH="279400" progId="Equation.DSMT4">
                      <p:embed/>
                      <p:pic>
                        <p:nvPicPr>
                          <p:cNvPr id="85039" name="Object 14">
                            <a:extLst>
                              <a:ext uri="{FF2B5EF4-FFF2-40B4-BE49-F238E27FC236}">
                                <a16:creationId xmlns:a16="http://schemas.microsoft.com/office/drawing/2014/main" id="{CD3D6239-3537-47AD-93C7-93E47AD0BA3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44" y="1888"/>
                            <a:ext cx="907"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040" name="Rectangle 22">
                <a:extLst>
                  <a:ext uri="{FF2B5EF4-FFF2-40B4-BE49-F238E27FC236}">
                    <a16:creationId xmlns:a16="http://schemas.microsoft.com/office/drawing/2014/main" id="{30CD7C69-672B-4548-8B4D-E109D22E2CD9}"/>
                  </a:ext>
                </a:extLst>
              </p:cNvPr>
              <p:cNvSpPr>
                <a:spLocks noChangeArrowheads="1"/>
              </p:cNvSpPr>
              <p:nvPr/>
            </p:nvSpPr>
            <p:spPr bwMode="auto">
              <a:xfrm>
                <a:off x="385" y="1888"/>
                <a:ext cx="23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不断下降，注入载流浓度的梯度</a:t>
                </a:r>
                <a:endParaRPr lang="zh-CN" altLang="en-US" sz="2000" b="1">
                  <a:latin typeface="Times New Roman" panose="02020603050405020304" pitchFamily="18" charset="0"/>
                  <a:cs typeface="Times New Roman" panose="02020603050405020304" pitchFamily="18" charset="0"/>
                </a:endParaRPr>
              </a:p>
            </p:txBody>
          </p:sp>
        </p:grpSp>
      </p:grpSp>
      <p:grpSp>
        <p:nvGrpSpPr>
          <p:cNvPr id="6" name="Group 71">
            <a:extLst>
              <a:ext uri="{FF2B5EF4-FFF2-40B4-BE49-F238E27FC236}">
                <a16:creationId xmlns:a16="http://schemas.microsoft.com/office/drawing/2014/main" id="{EBE7AC68-4B2E-4663-ACC7-BDD377E39D9A}"/>
              </a:ext>
            </a:extLst>
          </p:cNvPr>
          <p:cNvGrpSpPr>
            <a:grpSpLocks/>
          </p:cNvGrpSpPr>
          <p:nvPr/>
        </p:nvGrpSpPr>
        <p:grpSpPr bwMode="auto">
          <a:xfrm>
            <a:off x="250825" y="3429000"/>
            <a:ext cx="8007350" cy="1117600"/>
            <a:chOff x="158" y="2205"/>
            <a:chExt cx="5044" cy="704"/>
          </a:xfrm>
        </p:grpSpPr>
        <p:sp>
          <p:nvSpPr>
            <p:cNvPr id="85023" name="Rectangle 39">
              <a:extLst>
                <a:ext uri="{FF2B5EF4-FFF2-40B4-BE49-F238E27FC236}">
                  <a16:creationId xmlns:a16="http://schemas.microsoft.com/office/drawing/2014/main" id="{98C7AC82-A40B-4479-A180-71228CAFDEAC}"/>
                </a:ext>
              </a:extLst>
            </p:cNvPr>
            <p:cNvSpPr>
              <a:spLocks noChangeArrowheads="1"/>
            </p:cNvSpPr>
            <p:nvPr/>
          </p:nvSpPr>
          <p:spPr bwMode="auto">
            <a:xfrm>
              <a:off x="158" y="2205"/>
              <a:ext cx="36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a:solidFill>
                    <a:srgbClr val="000080"/>
                  </a:solidFill>
                  <a:latin typeface="Times New Roman" panose="02020603050405020304" pitchFamily="18" charset="0"/>
                  <a:cs typeface="Times New Roman" panose="02020603050405020304" pitchFamily="18" charset="0"/>
                </a:rPr>
                <a:t>2</a:t>
              </a:r>
              <a:r>
                <a:rPr lang="zh-CN" altLang="en-US" sz="2000" b="1">
                  <a:solidFill>
                    <a:srgbClr val="000080"/>
                  </a:solidFill>
                  <a:latin typeface="Times New Roman" panose="02020603050405020304" pitchFamily="18" charset="0"/>
                  <a:cs typeface="Times New Roman" panose="02020603050405020304" pitchFamily="18" charset="0"/>
                </a:rPr>
                <a:t>、注入的非平衡少子的浓度梯度不变，因此反向</a:t>
              </a:r>
              <a:endParaRPr lang="zh-CN" altLang="en-US" sz="2000" b="1">
                <a:latin typeface="Times New Roman" panose="02020603050405020304" pitchFamily="18" charset="0"/>
                <a:cs typeface="Times New Roman" panose="02020603050405020304" pitchFamily="18" charset="0"/>
              </a:endParaRPr>
            </a:p>
          </p:txBody>
        </p:sp>
        <p:grpSp>
          <p:nvGrpSpPr>
            <p:cNvPr id="85024" name="Group 46">
              <a:extLst>
                <a:ext uri="{FF2B5EF4-FFF2-40B4-BE49-F238E27FC236}">
                  <a16:creationId xmlns:a16="http://schemas.microsoft.com/office/drawing/2014/main" id="{95241DB3-C5EB-4862-AC54-F6E48B340F3F}"/>
                </a:ext>
              </a:extLst>
            </p:cNvPr>
            <p:cNvGrpSpPr>
              <a:grpSpLocks/>
            </p:cNvGrpSpPr>
            <p:nvPr/>
          </p:nvGrpSpPr>
          <p:grpSpPr bwMode="auto">
            <a:xfrm>
              <a:off x="385" y="2659"/>
              <a:ext cx="2536" cy="250"/>
              <a:chOff x="390" y="2976"/>
              <a:chExt cx="2536" cy="250"/>
            </a:xfrm>
          </p:grpSpPr>
          <p:graphicFrame>
            <p:nvGraphicFramePr>
              <p:cNvPr id="85033" name="Object 35">
                <a:extLst>
                  <a:ext uri="{FF2B5EF4-FFF2-40B4-BE49-F238E27FC236}">
                    <a16:creationId xmlns:a16="http://schemas.microsoft.com/office/drawing/2014/main" id="{0AE2CE03-7CA8-4079-8EEF-B60C41F059C8}"/>
                  </a:ext>
                </a:extLst>
              </p:cNvPr>
              <p:cNvGraphicFramePr>
                <a:graphicFrameLocks noChangeAspect="1"/>
              </p:cNvGraphicFramePr>
              <p:nvPr/>
            </p:nvGraphicFramePr>
            <p:xfrm>
              <a:off x="1746" y="2976"/>
              <a:ext cx="251" cy="244"/>
            </p:xfrm>
            <a:graphic>
              <a:graphicData uri="http://schemas.openxmlformats.org/presentationml/2006/ole">
                <mc:AlternateContent xmlns:mc="http://schemas.openxmlformats.org/markup-compatibility/2006">
                  <mc:Choice xmlns:v="urn:schemas-microsoft-com:vml" Requires="v">
                    <p:oleObj spid="_x0000_s125349" name="Equation" r:id="rId14" imgW="241300" imgH="228600" progId="Equation.DSMT4">
                      <p:embed/>
                    </p:oleObj>
                  </mc:Choice>
                  <mc:Fallback>
                    <p:oleObj name="Equation" r:id="rId14" imgW="241300" imgH="228600" progId="Equation.DSMT4">
                      <p:embed/>
                      <p:pic>
                        <p:nvPicPr>
                          <p:cNvPr id="85033" name="Object 35">
                            <a:extLst>
                              <a:ext uri="{FF2B5EF4-FFF2-40B4-BE49-F238E27FC236}">
                                <a16:creationId xmlns:a16="http://schemas.microsoft.com/office/drawing/2014/main" id="{0AE2CE03-7CA8-4079-8EEF-B60C41F059C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46" y="2976"/>
                            <a:ext cx="25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034" name="Rectangle 42">
                <a:extLst>
                  <a:ext uri="{FF2B5EF4-FFF2-40B4-BE49-F238E27FC236}">
                    <a16:creationId xmlns:a16="http://schemas.microsoft.com/office/drawing/2014/main" id="{0E735796-3E6F-4556-85BE-606732E62464}"/>
                  </a:ext>
                </a:extLst>
              </p:cNvPr>
              <p:cNvSpPr>
                <a:spLocks noChangeArrowheads="1"/>
              </p:cNvSpPr>
              <p:nvPr/>
            </p:nvSpPr>
            <p:spPr bwMode="auto">
              <a:xfrm>
                <a:off x="390" y="2976"/>
                <a:ext cx="14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电流变成反向电流</a:t>
                </a:r>
                <a:endParaRPr lang="zh-CN" altLang="en-US" sz="2000" b="1">
                  <a:solidFill>
                    <a:srgbClr val="000080"/>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85035" name="Rectangle 43">
                <a:extLst>
                  <a:ext uri="{FF2B5EF4-FFF2-40B4-BE49-F238E27FC236}">
                    <a16:creationId xmlns:a16="http://schemas.microsoft.com/office/drawing/2014/main" id="{C7E4F41B-14DD-432C-ABD1-5302449E0CFB}"/>
                  </a:ext>
                </a:extLst>
              </p:cNvPr>
              <p:cNvSpPr>
                <a:spLocks noChangeArrowheads="1"/>
              </p:cNvSpPr>
              <p:nvPr/>
            </p:nvSpPr>
            <p:spPr bwMode="auto">
              <a:xfrm>
                <a:off x="1973" y="2976"/>
                <a:ext cx="95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的原因。</a:t>
                </a:r>
                <a:r>
                  <a:rPr lang="zh-CN" altLang="en-US" sz="2000" b="1">
                    <a:latin typeface="Times New Roman" panose="02020603050405020304" pitchFamily="18" charset="0"/>
                    <a:cs typeface="Times New Roman" panose="02020603050405020304" pitchFamily="18" charset="0"/>
                  </a:rPr>
                  <a:t> </a:t>
                </a:r>
              </a:p>
            </p:txBody>
          </p:sp>
        </p:grpSp>
        <p:grpSp>
          <p:nvGrpSpPr>
            <p:cNvPr id="85025" name="Group 47">
              <a:extLst>
                <a:ext uri="{FF2B5EF4-FFF2-40B4-BE49-F238E27FC236}">
                  <a16:creationId xmlns:a16="http://schemas.microsoft.com/office/drawing/2014/main" id="{3B31B1F5-D680-462D-AE5A-CA0CB18AD25B}"/>
                </a:ext>
              </a:extLst>
            </p:cNvPr>
            <p:cNvGrpSpPr>
              <a:grpSpLocks/>
            </p:cNvGrpSpPr>
            <p:nvPr/>
          </p:nvGrpSpPr>
          <p:grpSpPr bwMode="auto">
            <a:xfrm>
              <a:off x="385" y="2432"/>
              <a:ext cx="4817" cy="262"/>
              <a:chOff x="386" y="2647"/>
              <a:chExt cx="4817" cy="262"/>
            </a:xfrm>
          </p:grpSpPr>
          <p:graphicFrame>
            <p:nvGraphicFramePr>
              <p:cNvPr id="85026" name="Object 38">
                <a:extLst>
                  <a:ext uri="{FF2B5EF4-FFF2-40B4-BE49-F238E27FC236}">
                    <a16:creationId xmlns:a16="http://schemas.microsoft.com/office/drawing/2014/main" id="{8BE645AC-84D5-40A7-9569-245061D82F7F}"/>
                  </a:ext>
                </a:extLst>
              </p:cNvPr>
              <p:cNvGraphicFramePr>
                <a:graphicFrameLocks noChangeAspect="1"/>
              </p:cNvGraphicFramePr>
              <p:nvPr/>
            </p:nvGraphicFramePr>
            <p:xfrm>
              <a:off x="1112" y="2659"/>
              <a:ext cx="168" cy="227"/>
            </p:xfrm>
            <a:graphic>
              <a:graphicData uri="http://schemas.openxmlformats.org/presentationml/2006/ole">
                <mc:AlternateContent xmlns:mc="http://schemas.openxmlformats.org/markup-compatibility/2006">
                  <mc:Choice xmlns:v="urn:schemas-microsoft-com:vml" Requires="v">
                    <p:oleObj spid="_x0000_s125350" name="Equation" r:id="rId16" imgW="164885" imgH="215619" progId="Equation.DSMT4">
                      <p:embed/>
                    </p:oleObj>
                  </mc:Choice>
                  <mc:Fallback>
                    <p:oleObj name="Equation" r:id="rId16" imgW="164885" imgH="215619" progId="Equation.DSMT4">
                      <p:embed/>
                      <p:pic>
                        <p:nvPicPr>
                          <p:cNvPr id="85026" name="Object 38">
                            <a:extLst>
                              <a:ext uri="{FF2B5EF4-FFF2-40B4-BE49-F238E27FC236}">
                                <a16:creationId xmlns:a16="http://schemas.microsoft.com/office/drawing/2014/main" id="{8BE645AC-84D5-40A7-9569-245061D82F7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12" y="2659"/>
                            <a:ext cx="16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27" name="Object 37">
                <a:extLst>
                  <a:ext uri="{FF2B5EF4-FFF2-40B4-BE49-F238E27FC236}">
                    <a16:creationId xmlns:a16="http://schemas.microsoft.com/office/drawing/2014/main" id="{46558D3C-C84F-4376-8053-88DF9540E735}"/>
                  </a:ext>
                </a:extLst>
              </p:cNvPr>
              <p:cNvGraphicFramePr>
                <a:graphicFrameLocks noChangeAspect="1"/>
              </p:cNvGraphicFramePr>
              <p:nvPr/>
            </p:nvGraphicFramePr>
            <p:xfrm>
              <a:off x="3425" y="2659"/>
              <a:ext cx="191" cy="227"/>
            </p:xfrm>
            <a:graphic>
              <a:graphicData uri="http://schemas.openxmlformats.org/presentationml/2006/ole">
                <mc:AlternateContent xmlns:mc="http://schemas.openxmlformats.org/markup-compatibility/2006">
                  <mc:Choice xmlns:v="urn:schemas-microsoft-com:vml" Requires="v">
                    <p:oleObj spid="_x0000_s125351" name="Equation" r:id="rId18" imgW="203112" imgH="241195" progId="Equation.DSMT4">
                      <p:embed/>
                    </p:oleObj>
                  </mc:Choice>
                  <mc:Fallback>
                    <p:oleObj name="Equation" r:id="rId18" imgW="203112" imgH="241195" progId="Equation.DSMT4">
                      <p:embed/>
                      <p:pic>
                        <p:nvPicPr>
                          <p:cNvPr id="85027" name="Object 37">
                            <a:extLst>
                              <a:ext uri="{FF2B5EF4-FFF2-40B4-BE49-F238E27FC236}">
                                <a16:creationId xmlns:a16="http://schemas.microsoft.com/office/drawing/2014/main" id="{46558D3C-C84F-4376-8053-88DF9540E73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25" y="2659"/>
                            <a:ext cx="19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28" name="Object 36">
                <a:extLst>
                  <a:ext uri="{FF2B5EF4-FFF2-40B4-BE49-F238E27FC236}">
                    <a16:creationId xmlns:a16="http://schemas.microsoft.com/office/drawing/2014/main" id="{6B57C64C-8602-4804-B21F-826FD6D46F71}"/>
                  </a:ext>
                </a:extLst>
              </p:cNvPr>
              <p:cNvGraphicFramePr>
                <a:graphicFrameLocks noChangeAspect="1"/>
              </p:cNvGraphicFramePr>
              <p:nvPr/>
            </p:nvGraphicFramePr>
            <p:xfrm>
              <a:off x="4332" y="2659"/>
              <a:ext cx="272" cy="202"/>
            </p:xfrm>
            <a:graphic>
              <a:graphicData uri="http://schemas.openxmlformats.org/presentationml/2006/ole">
                <mc:AlternateContent xmlns:mc="http://schemas.openxmlformats.org/markup-compatibility/2006">
                  <mc:Choice xmlns:v="urn:schemas-microsoft-com:vml" Requires="v">
                    <p:oleObj spid="_x0000_s125352" name="Equation" r:id="rId20" imgW="291847" imgH="215713" progId="Equation.DSMT4">
                      <p:embed/>
                    </p:oleObj>
                  </mc:Choice>
                  <mc:Fallback>
                    <p:oleObj name="Equation" r:id="rId20" imgW="291847" imgH="215713" progId="Equation.DSMT4">
                      <p:embed/>
                      <p:pic>
                        <p:nvPicPr>
                          <p:cNvPr id="85028" name="Object 36">
                            <a:extLst>
                              <a:ext uri="{FF2B5EF4-FFF2-40B4-BE49-F238E27FC236}">
                                <a16:creationId xmlns:a16="http://schemas.microsoft.com/office/drawing/2014/main" id="{6B57C64C-8602-4804-B21F-826FD6D46F7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332" y="2659"/>
                            <a:ext cx="2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029" name="Rectangle 40">
                <a:extLst>
                  <a:ext uri="{FF2B5EF4-FFF2-40B4-BE49-F238E27FC236}">
                    <a16:creationId xmlns:a16="http://schemas.microsoft.com/office/drawing/2014/main" id="{CB0F0AE1-CFC6-47AD-8A73-82CE62CA5C74}"/>
                  </a:ext>
                </a:extLst>
              </p:cNvPr>
              <p:cNvSpPr>
                <a:spLocks noChangeArrowheads="1"/>
              </p:cNvSpPr>
              <p:nvPr/>
            </p:nvSpPr>
            <p:spPr bwMode="auto">
              <a:xfrm>
                <a:off x="1248" y="2659"/>
                <a:ext cx="2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为常量。这就解释了当偏压由</a:t>
                </a:r>
                <a:endParaRPr lang="zh-CN" altLang="en-US" sz="2000" b="1">
                  <a:latin typeface="Times New Roman" panose="02020603050405020304" pitchFamily="18" charset="0"/>
                  <a:cs typeface="Times New Roman" panose="02020603050405020304" pitchFamily="18" charset="0"/>
                </a:endParaRPr>
              </a:p>
            </p:txBody>
          </p:sp>
          <p:sp>
            <p:nvSpPr>
              <p:cNvPr id="85030" name="Rectangle 41">
                <a:extLst>
                  <a:ext uri="{FF2B5EF4-FFF2-40B4-BE49-F238E27FC236}">
                    <a16:creationId xmlns:a16="http://schemas.microsoft.com/office/drawing/2014/main" id="{FCBA0E60-0075-4C14-B81F-AF5918ABB38B}"/>
                  </a:ext>
                </a:extLst>
              </p:cNvPr>
              <p:cNvSpPr>
                <a:spLocks noChangeArrowheads="1"/>
              </p:cNvSpPr>
              <p:nvPr/>
            </p:nvSpPr>
            <p:spPr bwMode="auto">
              <a:xfrm>
                <a:off x="3606" y="2656"/>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立即变成</a:t>
                </a:r>
                <a:endParaRPr lang="zh-CN" altLang="en-US" sz="2000" b="1">
                  <a:latin typeface="Times New Roman" panose="02020603050405020304" pitchFamily="18" charset="0"/>
                  <a:cs typeface="Times New Roman" panose="02020603050405020304" pitchFamily="18" charset="0"/>
                </a:endParaRPr>
              </a:p>
            </p:txBody>
          </p:sp>
          <p:sp>
            <p:nvSpPr>
              <p:cNvPr id="85031" name="Rectangle 44">
                <a:extLst>
                  <a:ext uri="{FF2B5EF4-FFF2-40B4-BE49-F238E27FC236}">
                    <a16:creationId xmlns:a16="http://schemas.microsoft.com/office/drawing/2014/main" id="{F62A83ED-7E63-4E88-BB53-11865A73D115}"/>
                  </a:ext>
                </a:extLst>
              </p:cNvPr>
              <p:cNvSpPr>
                <a:spLocks noChangeArrowheads="1"/>
              </p:cNvSpPr>
              <p:nvPr/>
            </p:nvSpPr>
            <p:spPr bwMode="auto">
              <a:xfrm>
                <a:off x="386" y="2647"/>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rPr>
                  <a:t>扩散电流</a:t>
                </a:r>
              </a:p>
            </p:txBody>
          </p:sp>
          <p:sp>
            <p:nvSpPr>
              <p:cNvPr id="85032" name="Rectangle 45">
                <a:extLst>
                  <a:ext uri="{FF2B5EF4-FFF2-40B4-BE49-F238E27FC236}">
                    <a16:creationId xmlns:a16="http://schemas.microsoft.com/office/drawing/2014/main" id="{4167AB6A-645F-43D8-984E-8DC9F8F04F5C}"/>
                  </a:ext>
                </a:extLst>
              </p:cNvPr>
              <p:cNvSpPr>
                <a:spLocks noChangeArrowheads="1"/>
              </p:cNvSpPr>
              <p:nvPr/>
            </p:nvSpPr>
            <p:spPr bwMode="auto">
              <a:xfrm>
                <a:off x="4604" y="2659"/>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之后，</a:t>
                </a:r>
                <a:endParaRPr lang="zh-CN" altLang="en-US" sz="2000" b="1">
                  <a:solidFill>
                    <a:srgbClr val="000080"/>
                  </a:solidFill>
                  <a:latin typeface="Times New Roman" panose="02020603050405020304" pitchFamily="18" charset="0"/>
                  <a:cs typeface="Times New Roman" panose="02020603050405020304" pitchFamily="18" charset="0"/>
                  <a:sym typeface="Symbol" panose="05050102010706020507" pitchFamily="18" charset="2"/>
                </a:endParaRPr>
              </a:p>
            </p:txBody>
          </p:sp>
        </p:grpSp>
      </p:grpSp>
      <p:grpSp>
        <p:nvGrpSpPr>
          <p:cNvPr id="9" name="Group 72">
            <a:extLst>
              <a:ext uri="{FF2B5EF4-FFF2-40B4-BE49-F238E27FC236}">
                <a16:creationId xmlns:a16="http://schemas.microsoft.com/office/drawing/2014/main" id="{DE7CC5ED-C2CE-4D1E-B45F-62145A0D0E16}"/>
              </a:ext>
            </a:extLst>
          </p:cNvPr>
          <p:cNvGrpSpPr>
            <a:grpSpLocks/>
          </p:cNvGrpSpPr>
          <p:nvPr/>
        </p:nvGrpSpPr>
        <p:grpSpPr bwMode="auto">
          <a:xfrm>
            <a:off x="250825" y="4581525"/>
            <a:ext cx="8066088" cy="1620838"/>
            <a:chOff x="158" y="2886"/>
            <a:chExt cx="5081" cy="1021"/>
          </a:xfrm>
        </p:grpSpPr>
        <p:grpSp>
          <p:nvGrpSpPr>
            <p:cNvPr id="85001" name="Group 48">
              <a:extLst>
                <a:ext uri="{FF2B5EF4-FFF2-40B4-BE49-F238E27FC236}">
                  <a16:creationId xmlns:a16="http://schemas.microsoft.com/office/drawing/2014/main" id="{74B46A62-A3BB-496D-8084-A541980D7F40}"/>
                </a:ext>
              </a:extLst>
            </p:cNvPr>
            <p:cNvGrpSpPr>
              <a:grpSpLocks/>
            </p:cNvGrpSpPr>
            <p:nvPr/>
          </p:nvGrpSpPr>
          <p:grpSpPr bwMode="auto">
            <a:xfrm>
              <a:off x="476" y="3158"/>
              <a:ext cx="4665" cy="280"/>
              <a:chOff x="612" y="2379"/>
              <a:chExt cx="4665" cy="280"/>
            </a:xfrm>
          </p:grpSpPr>
          <p:graphicFrame>
            <p:nvGraphicFramePr>
              <p:cNvPr id="85019" name="Object 49">
                <a:extLst>
                  <a:ext uri="{FF2B5EF4-FFF2-40B4-BE49-F238E27FC236}">
                    <a16:creationId xmlns:a16="http://schemas.microsoft.com/office/drawing/2014/main" id="{E4D0D8DE-262C-4381-B0DE-9ED8721879AA}"/>
                  </a:ext>
                </a:extLst>
              </p:cNvPr>
              <p:cNvGraphicFramePr>
                <a:graphicFrameLocks noChangeAspect="1"/>
              </p:cNvGraphicFramePr>
              <p:nvPr/>
            </p:nvGraphicFramePr>
            <p:xfrm>
              <a:off x="612" y="2379"/>
              <a:ext cx="1361" cy="280"/>
            </p:xfrm>
            <a:graphic>
              <a:graphicData uri="http://schemas.openxmlformats.org/presentationml/2006/ole">
                <mc:AlternateContent xmlns:mc="http://schemas.openxmlformats.org/markup-compatibility/2006">
                  <mc:Choice xmlns:v="urn:schemas-microsoft-com:vml" Requires="v">
                    <p:oleObj spid="_x0000_s125353" name="Equation" r:id="rId22" imgW="1218671" imgH="253890" progId="Equation.DSMT4">
                      <p:embed/>
                    </p:oleObj>
                  </mc:Choice>
                  <mc:Fallback>
                    <p:oleObj name="Equation" r:id="rId22" imgW="1218671" imgH="253890" progId="Equation.DSMT4">
                      <p:embed/>
                      <p:pic>
                        <p:nvPicPr>
                          <p:cNvPr id="85019" name="Object 49">
                            <a:extLst>
                              <a:ext uri="{FF2B5EF4-FFF2-40B4-BE49-F238E27FC236}">
                                <a16:creationId xmlns:a16="http://schemas.microsoft.com/office/drawing/2014/main" id="{E4D0D8DE-262C-4381-B0DE-9ED8721879AA}"/>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12" y="2379"/>
                            <a:ext cx="1361"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20" name="Object 50">
                <a:extLst>
                  <a:ext uri="{FF2B5EF4-FFF2-40B4-BE49-F238E27FC236}">
                    <a16:creationId xmlns:a16="http://schemas.microsoft.com/office/drawing/2014/main" id="{9B9B9C41-4446-486D-9D83-543AFF7A1AE7}"/>
                  </a:ext>
                </a:extLst>
              </p:cNvPr>
              <p:cNvGraphicFramePr>
                <a:graphicFrameLocks noChangeAspect="1"/>
              </p:cNvGraphicFramePr>
              <p:nvPr/>
            </p:nvGraphicFramePr>
            <p:xfrm>
              <a:off x="3742" y="2387"/>
              <a:ext cx="499" cy="245"/>
            </p:xfrm>
            <a:graphic>
              <a:graphicData uri="http://schemas.openxmlformats.org/presentationml/2006/ole">
                <mc:AlternateContent xmlns:mc="http://schemas.openxmlformats.org/markup-compatibility/2006">
                  <mc:Choice xmlns:v="urn:schemas-microsoft-com:vml" Requires="v">
                    <p:oleObj spid="_x0000_s125354" name="Equation" r:id="rId24" imgW="469900" imgH="228600" progId="Equation.DSMT4">
                      <p:embed/>
                    </p:oleObj>
                  </mc:Choice>
                  <mc:Fallback>
                    <p:oleObj name="Equation" r:id="rId24" imgW="469900" imgH="228600" progId="Equation.DSMT4">
                      <p:embed/>
                      <p:pic>
                        <p:nvPicPr>
                          <p:cNvPr id="85020" name="Object 50">
                            <a:extLst>
                              <a:ext uri="{FF2B5EF4-FFF2-40B4-BE49-F238E27FC236}">
                                <a16:creationId xmlns:a16="http://schemas.microsoft.com/office/drawing/2014/main" id="{9B9B9C41-4446-486D-9D83-543AFF7A1AE7}"/>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742" y="2387"/>
                            <a:ext cx="499"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021" name="Rectangle 51">
                <a:extLst>
                  <a:ext uri="{FF2B5EF4-FFF2-40B4-BE49-F238E27FC236}">
                    <a16:creationId xmlns:a16="http://schemas.microsoft.com/office/drawing/2014/main" id="{702EC23D-EF3D-4214-A68C-734D5F9B051B}"/>
                  </a:ext>
                </a:extLst>
              </p:cNvPr>
              <p:cNvSpPr>
                <a:spLocks noChangeArrowheads="1"/>
              </p:cNvSpPr>
              <p:nvPr/>
            </p:nvSpPr>
            <p:spPr bwMode="auto">
              <a:xfrm>
                <a:off x="1927" y="2387"/>
                <a:ext cx="18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sym typeface="Symbol" panose="05050102010706020507" pitchFamily="18" charset="2"/>
                  </a:rPr>
                  <a:t>但在这一段时间内，由于</a:t>
                </a:r>
              </a:p>
            </p:txBody>
          </p:sp>
          <p:sp>
            <p:nvSpPr>
              <p:cNvPr id="85022" name="Rectangle 52">
                <a:extLst>
                  <a:ext uri="{FF2B5EF4-FFF2-40B4-BE49-F238E27FC236}">
                    <a16:creationId xmlns:a16="http://schemas.microsoft.com/office/drawing/2014/main" id="{16BD5D7A-E561-40A8-8BFB-490B24788A1C}"/>
                  </a:ext>
                </a:extLst>
              </p:cNvPr>
              <p:cNvSpPr>
                <a:spLocks noChangeArrowheads="1"/>
              </p:cNvSpPr>
              <p:nvPr/>
            </p:nvSpPr>
            <p:spPr bwMode="auto">
              <a:xfrm>
                <a:off x="4195" y="2387"/>
                <a:ext cx="10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在减小，因此</a:t>
                </a:r>
                <a:endParaRPr lang="zh-CN" altLang="en-US" sz="2000" b="1">
                  <a:latin typeface="Times New Roman" panose="02020603050405020304" pitchFamily="18" charset="0"/>
                  <a:cs typeface="Times New Roman" panose="02020603050405020304" pitchFamily="18" charset="0"/>
                </a:endParaRPr>
              </a:p>
            </p:txBody>
          </p:sp>
        </p:grpSp>
        <p:sp>
          <p:nvSpPr>
            <p:cNvPr id="85002" name="Rectangle 53">
              <a:extLst>
                <a:ext uri="{FF2B5EF4-FFF2-40B4-BE49-F238E27FC236}">
                  <a16:creationId xmlns:a16="http://schemas.microsoft.com/office/drawing/2014/main" id="{4E55ED81-AAC6-4BEF-81C7-D8AC8B6E8D88}"/>
                </a:ext>
              </a:extLst>
            </p:cNvPr>
            <p:cNvSpPr>
              <a:spLocks noChangeArrowheads="1"/>
            </p:cNvSpPr>
            <p:nvPr/>
          </p:nvSpPr>
          <p:spPr bwMode="auto">
            <a:xfrm>
              <a:off x="385" y="3657"/>
              <a:ext cx="30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平衡少子被去除完毕，于是结电压为零。</a:t>
              </a:r>
              <a:r>
                <a:rPr lang="zh-CN" altLang="en-US" sz="2000" b="1">
                  <a:latin typeface="Times New Roman" panose="02020603050405020304" pitchFamily="18" charset="0"/>
                  <a:cs typeface="Times New Roman" panose="02020603050405020304" pitchFamily="18" charset="0"/>
                </a:rPr>
                <a:t> </a:t>
              </a:r>
            </a:p>
          </p:txBody>
        </p:sp>
        <p:grpSp>
          <p:nvGrpSpPr>
            <p:cNvPr id="85003" name="Group 54">
              <a:extLst>
                <a:ext uri="{FF2B5EF4-FFF2-40B4-BE49-F238E27FC236}">
                  <a16:creationId xmlns:a16="http://schemas.microsoft.com/office/drawing/2014/main" id="{2190316E-1189-4BE5-8A2B-23BB5FAE2438}"/>
                </a:ext>
              </a:extLst>
            </p:cNvPr>
            <p:cNvGrpSpPr>
              <a:grpSpLocks/>
            </p:cNvGrpSpPr>
            <p:nvPr/>
          </p:nvGrpSpPr>
          <p:grpSpPr bwMode="auto">
            <a:xfrm>
              <a:off x="158" y="2886"/>
              <a:ext cx="4660" cy="265"/>
              <a:chOff x="295" y="2054"/>
              <a:chExt cx="4660" cy="265"/>
            </a:xfrm>
          </p:grpSpPr>
          <p:sp>
            <p:nvSpPr>
              <p:cNvPr id="85011" name="Rectangle 55">
                <a:extLst>
                  <a:ext uri="{FF2B5EF4-FFF2-40B4-BE49-F238E27FC236}">
                    <a16:creationId xmlns:a16="http://schemas.microsoft.com/office/drawing/2014/main" id="{15EAEB6C-E6B5-4E7B-95E1-2A70119E472C}"/>
                  </a:ext>
                </a:extLst>
              </p:cNvPr>
              <p:cNvSpPr>
                <a:spLocks noChangeArrowheads="1"/>
              </p:cNvSpPr>
              <p:nvPr/>
            </p:nvSpPr>
            <p:spPr bwMode="auto">
              <a:xfrm>
                <a:off x="1927" y="2067"/>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仍然大于</a:t>
                </a:r>
                <a:endParaRPr lang="zh-CN" altLang="en-US" sz="2000" b="1">
                  <a:latin typeface="Times New Roman" panose="02020603050405020304" pitchFamily="18" charset="0"/>
                  <a:cs typeface="Times New Roman" panose="02020603050405020304" pitchFamily="18" charset="0"/>
                </a:endParaRPr>
              </a:p>
            </p:txBody>
          </p:sp>
          <p:graphicFrame>
            <p:nvGraphicFramePr>
              <p:cNvPr id="85012" name="Object 56">
                <a:extLst>
                  <a:ext uri="{FF2B5EF4-FFF2-40B4-BE49-F238E27FC236}">
                    <a16:creationId xmlns:a16="http://schemas.microsoft.com/office/drawing/2014/main" id="{CE14C6F3-FC3E-433D-83EA-B9794131BE7F}"/>
                  </a:ext>
                </a:extLst>
              </p:cNvPr>
              <p:cNvGraphicFramePr>
                <a:graphicFrameLocks noChangeAspect="1"/>
              </p:cNvGraphicFramePr>
              <p:nvPr/>
            </p:nvGraphicFramePr>
            <p:xfrm>
              <a:off x="793" y="2069"/>
              <a:ext cx="409" cy="223"/>
            </p:xfrm>
            <a:graphic>
              <a:graphicData uri="http://schemas.openxmlformats.org/presentationml/2006/ole">
                <mc:AlternateContent xmlns:mc="http://schemas.openxmlformats.org/markup-compatibility/2006">
                  <mc:Choice xmlns:v="urn:schemas-microsoft-com:vml" Requires="v">
                    <p:oleObj spid="_x0000_s125355" name="Equation" r:id="rId26" imgW="419100" imgH="228600" progId="Equation.DSMT4">
                      <p:embed/>
                    </p:oleObj>
                  </mc:Choice>
                  <mc:Fallback>
                    <p:oleObj name="Equation" r:id="rId26" imgW="419100" imgH="228600" progId="Equation.DSMT4">
                      <p:embed/>
                      <p:pic>
                        <p:nvPicPr>
                          <p:cNvPr id="85012" name="Object 56">
                            <a:extLst>
                              <a:ext uri="{FF2B5EF4-FFF2-40B4-BE49-F238E27FC236}">
                                <a16:creationId xmlns:a16="http://schemas.microsoft.com/office/drawing/2014/main" id="{CE14C6F3-FC3E-433D-83EA-B9794131BE7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3" y="2069"/>
                            <a:ext cx="40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13" name="Object 57">
                <a:extLst>
                  <a:ext uri="{FF2B5EF4-FFF2-40B4-BE49-F238E27FC236}">
                    <a16:creationId xmlns:a16="http://schemas.microsoft.com/office/drawing/2014/main" id="{28B75124-7C54-4BBC-B0AB-0333116E6F59}"/>
                  </a:ext>
                </a:extLst>
              </p:cNvPr>
              <p:cNvGraphicFramePr>
                <a:graphicFrameLocks noChangeAspect="1"/>
              </p:cNvGraphicFramePr>
              <p:nvPr/>
            </p:nvGraphicFramePr>
            <p:xfrm>
              <a:off x="1519" y="2069"/>
              <a:ext cx="453" cy="222"/>
            </p:xfrm>
            <a:graphic>
              <a:graphicData uri="http://schemas.openxmlformats.org/presentationml/2006/ole">
                <mc:AlternateContent xmlns:mc="http://schemas.openxmlformats.org/markup-compatibility/2006">
                  <mc:Choice xmlns:v="urn:schemas-microsoft-com:vml" Requires="v">
                    <p:oleObj spid="_x0000_s125356" name="Equation" r:id="rId27" imgW="469900" imgH="228600" progId="Equation.DSMT4">
                      <p:embed/>
                    </p:oleObj>
                  </mc:Choice>
                  <mc:Fallback>
                    <p:oleObj name="Equation" r:id="rId27" imgW="469900" imgH="228600" progId="Equation.DSMT4">
                      <p:embed/>
                      <p:pic>
                        <p:nvPicPr>
                          <p:cNvPr id="85013" name="Object 57">
                            <a:extLst>
                              <a:ext uri="{FF2B5EF4-FFF2-40B4-BE49-F238E27FC236}">
                                <a16:creationId xmlns:a16="http://schemas.microsoft.com/office/drawing/2014/main" id="{28B75124-7C54-4BBC-B0AB-0333116E6F59}"/>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19" y="2069"/>
                            <a:ext cx="453"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14" name="Object 58">
                <a:extLst>
                  <a:ext uri="{FF2B5EF4-FFF2-40B4-BE49-F238E27FC236}">
                    <a16:creationId xmlns:a16="http://schemas.microsoft.com/office/drawing/2014/main" id="{7C8A6371-8937-4598-B606-7D757F257FEC}"/>
                  </a:ext>
                </a:extLst>
              </p:cNvPr>
              <p:cNvGraphicFramePr>
                <a:graphicFrameLocks noChangeAspect="1"/>
              </p:cNvGraphicFramePr>
              <p:nvPr/>
            </p:nvGraphicFramePr>
            <p:xfrm>
              <a:off x="2608" y="2054"/>
              <a:ext cx="272" cy="242"/>
            </p:xfrm>
            <a:graphic>
              <a:graphicData uri="http://schemas.openxmlformats.org/presentationml/2006/ole">
                <mc:AlternateContent xmlns:mc="http://schemas.openxmlformats.org/markup-compatibility/2006">
                  <mc:Choice xmlns:v="urn:schemas-microsoft-com:vml" Requires="v">
                    <p:oleObj spid="_x0000_s125357" name="Equation" r:id="rId29" imgW="253890" imgH="228501" progId="Equation.DSMT4">
                      <p:embed/>
                    </p:oleObj>
                  </mc:Choice>
                  <mc:Fallback>
                    <p:oleObj name="Equation" r:id="rId29" imgW="253890" imgH="228501" progId="Equation.DSMT4">
                      <p:embed/>
                      <p:pic>
                        <p:nvPicPr>
                          <p:cNvPr id="85014" name="Object 58">
                            <a:extLst>
                              <a:ext uri="{FF2B5EF4-FFF2-40B4-BE49-F238E27FC236}">
                                <a16:creationId xmlns:a16="http://schemas.microsoft.com/office/drawing/2014/main" id="{7C8A6371-8937-4598-B606-7D757F257FEC}"/>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608" y="2054"/>
                            <a:ext cx="27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015" name="Rectangle 59">
                <a:extLst>
                  <a:ext uri="{FF2B5EF4-FFF2-40B4-BE49-F238E27FC236}">
                    <a16:creationId xmlns:a16="http://schemas.microsoft.com/office/drawing/2014/main" id="{C1DEC972-CA22-4901-84F0-E32FF1D9F30C}"/>
                  </a:ext>
                </a:extLst>
              </p:cNvPr>
              <p:cNvSpPr>
                <a:spLocks noChangeArrowheads="1"/>
              </p:cNvSpPr>
              <p:nvPr/>
            </p:nvSpPr>
            <p:spPr bwMode="auto">
              <a:xfrm>
                <a:off x="1156" y="2069"/>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面上</a:t>
                </a:r>
                <a:endParaRPr lang="zh-CN" altLang="en-US" sz="2000" b="1">
                  <a:latin typeface="Times New Roman" panose="02020603050405020304" pitchFamily="18" charset="0"/>
                  <a:cs typeface="Times New Roman" panose="02020603050405020304" pitchFamily="18" charset="0"/>
                </a:endParaRPr>
              </a:p>
            </p:txBody>
          </p:sp>
          <p:sp>
            <p:nvSpPr>
              <p:cNvPr id="85016" name="Rectangle 60">
                <a:extLst>
                  <a:ext uri="{FF2B5EF4-FFF2-40B4-BE49-F238E27FC236}">
                    <a16:creationId xmlns:a16="http://schemas.microsoft.com/office/drawing/2014/main" id="{B4C8C602-5159-48AB-A2D1-3DA5C6275175}"/>
                  </a:ext>
                </a:extLst>
              </p:cNvPr>
              <p:cNvSpPr>
                <a:spLocks noChangeArrowheads="1"/>
              </p:cNvSpPr>
              <p:nvPr/>
            </p:nvSpPr>
            <p:spPr bwMode="auto">
              <a:xfrm>
                <a:off x="2789" y="2069"/>
                <a:ext cx="19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，因此</a:t>
                </a:r>
                <a:r>
                  <a:rPr lang="en-US" altLang="zh-CN" sz="2000" b="1">
                    <a:solidFill>
                      <a:srgbClr val="000080"/>
                    </a:solidFill>
                    <a:latin typeface="Times New Roman" panose="02020603050405020304" pitchFamily="18" charset="0"/>
                    <a:cs typeface="Times New Roman" panose="02020603050405020304" pitchFamily="18" charset="0"/>
                  </a:rPr>
                  <a:t>PN</a:t>
                </a:r>
                <a:r>
                  <a:rPr lang="zh-CN" altLang="en-US" sz="2000" b="1">
                    <a:solidFill>
                      <a:srgbClr val="000080"/>
                    </a:solidFill>
                    <a:latin typeface="Times New Roman" panose="02020603050405020304" pitchFamily="18" charset="0"/>
                    <a:cs typeface="Times New Roman" panose="02020603050405020304" pitchFamily="18" charset="0"/>
                  </a:rPr>
                  <a:t>结两端的电压</a:t>
                </a:r>
                <a:endParaRPr lang="zh-CN" altLang="en-US" sz="2000" b="1">
                  <a:latin typeface="Times New Roman" panose="02020603050405020304" pitchFamily="18" charset="0"/>
                  <a:cs typeface="Times New Roman" panose="02020603050405020304" pitchFamily="18" charset="0"/>
                </a:endParaRPr>
              </a:p>
            </p:txBody>
          </p:sp>
          <p:sp>
            <p:nvSpPr>
              <p:cNvPr id="85017" name="Rectangle 61">
                <a:extLst>
                  <a:ext uri="{FF2B5EF4-FFF2-40B4-BE49-F238E27FC236}">
                    <a16:creationId xmlns:a16="http://schemas.microsoft.com/office/drawing/2014/main" id="{D4A5A591-0AAC-438B-8902-63B01C48C131}"/>
                  </a:ext>
                </a:extLst>
              </p:cNvPr>
              <p:cNvSpPr>
                <a:spLocks noChangeArrowheads="1"/>
              </p:cNvSpPr>
              <p:nvPr/>
            </p:nvSpPr>
            <p:spPr bwMode="auto">
              <a:xfrm>
                <a:off x="295" y="2069"/>
                <a:ext cx="6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a:solidFill>
                      <a:srgbClr val="000080"/>
                    </a:solidFill>
                    <a:latin typeface="Times New Roman" panose="02020603050405020304" pitchFamily="18" charset="0"/>
                    <a:cs typeface="Times New Roman" panose="02020603050405020304" pitchFamily="18" charset="0"/>
                  </a:rPr>
                  <a:t>3</a:t>
                </a:r>
                <a:r>
                  <a:rPr lang="zh-CN" altLang="en-US" sz="2000" b="1">
                    <a:solidFill>
                      <a:srgbClr val="000080"/>
                    </a:solidFill>
                    <a:latin typeface="Times New Roman" panose="02020603050405020304" pitchFamily="18" charset="0"/>
                    <a:cs typeface="Times New Roman" panose="02020603050405020304" pitchFamily="18" charset="0"/>
                  </a:rPr>
                  <a:t>、在</a:t>
                </a:r>
                <a:endParaRPr lang="zh-CN" altLang="en-US" sz="2000" b="1">
                  <a:latin typeface="Times New Roman" panose="02020603050405020304" pitchFamily="18" charset="0"/>
                  <a:cs typeface="Times New Roman" panose="02020603050405020304" pitchFamily="18" charset="0"/>
                </a:endParaRPr>
              </a:p>
            </p:txBody>
          </p:sp>
          <p:graphicFrame>
            <p:nvGraphicFramePr>
              <p:cNvPr id="85018" name="Object 62">
                <a:extLst>
                  <a:ext uri="{FF2B5EF4-FFF2-40B4-BE49-F238E27FC236}">
                    <a16:creationId xmlns:a16="http://schemas.microsoft.com/office/drawing/2014/main" id="{23EF347A-E0DC-4064-AAB9-9D26EBD5FBE0}"/>
                  </a:ext>
                </a:extLst>
              </p:cNvPr>
              <p:cNvGraphicFramePr>
                <a:graphicFrameLocks noChangeAspect="1"/>
              </p:cNvGraphicFramePr>
              <p:nvPr/>
            </p:nvGraphicFramePr>
            <p:xfrm>
              <a:off x="4513" y="2069"/>
              <a:ext cx="442" cy="245"/>
            </p:xfrm>
            <a:graphic>
              <a:graphicData uri="http://schemas.openxmlformats.org/presentationml/2006/ole">
                <mc:AlternateContent xmlns:mc="http://schemas.openxmlformats.org/markup-compatibility/2006">
                  <mc:Choice xmlns:v="urn:schemas-microsoft-com:vml" Requires="v">
                    <p:oleObj spid="_x0000_s125358" name="Equation" r:id="rId31" imgW="406224" imgH="228501" progId="Equation.DSMT4">
                      <p:embed/>
                    </p:oleObj>
                  </mc:Choice>
                  <mc:Fallback>
                    <p:oleObj name="Equation" r:id="rId31" imgW="406224" imgH="228501" progId="Equation.DSMT4">
                      <p:embed/>
                      <p:pic>
                        <p:nvPicPr>
                          <p:cNvPr id="85018" name="Object 62">
                            <a:extLst>
                              <a:ext uri="{FF2B5EF4-FFF2-40B4-BE49-F238E27FC236}">
                                <a16:creationId xmlns:a16="http://schemas.microsoft.com/office/drawing/2014/main" id="{23EF347A-E0DC-4064-AAB9-9D26EBD5FBE0}"/>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513" y="2069"/>
                            <a:ext cx="442"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5004" name="Group 63">
              <a:extLst>
                <a:ext uri="{FF2B5EF4-FFF2-40B4-BE49-F238E27FC236}">
                  <a16:creationId xmlns:a16="http://schemas.microsoft.com/office/drawing/2014/main" id="{15F8F1E5-9C24-4C75-A4B0-ECDFAD24DBD0}"/>
                </a:ext>
              </a:extLst>
            </p:cNvPr>
            <p:cNvGrpSpPr>
              <a:grpSpLocks/>
            </p:cNvGrpSpPr>
            <p:nvPr/>
          </p:nvGrpSpPr>
          <p:grpSpPr bwMode="auto">
            <a:xfrm>
              <a:off x="476" y="3430"/>
              <a:ext cx="4763" cy="258"/>
              <a:chOff x="612" y="2704"/>
              <a:chExt cx="4763" cy="258"/>
            </a:xfrm>
          </p:grpSpPr>
          <p:graphicFrame>
            <p:nvGraphicFramePr>
              <p:cNvPr id="85005" name="Object 64">
                <a:extLst>
                  <a:ext uri="{FF2B5EF4-FFF2-40B4-BE49-F238E27FC236}">
                    <a16:creationId xmlns:a16="http://schemas.microsoft.com/office/drawing/2014/main" id="{20F6E4B4-8FAA-4DA2-9018-9C939D9D88D6}"/>
                  </a:ext>
                </a:extLst>
              </p:cNvPr>
              <p:cNvGraphicFramePr>
                <a:graphicFrameLocks noChangeAspect="1"/>
              </p:cNvGraphicFramePr>
              <p:nvPr/>
            </p:nvGraphicFramePr>
            <p:xfrm>
              <a:off x="612" y="2704"/>
              <a:ext cx="189" cy="227"/>
            </p:xfrm>
            <a:graphic>
              <a:graphicData uri="http://schemas.openxmlformats.org/presentationml/2006/ole">
                <mc:AlternateContent xmlns:mc="http://schemas.openxmlformats.org/markup-compatibility/2006">
                  <mc:Choice xmlns:v="urn:schemas-microsoft-com:vml" Requires="v">
                    <p:oleObj spid="_x0000_s125359" name="Equation" r:id="rId33" imgW="190500" imgH="228600" progId="Equation.DSMT4">
                      <p:embed/>
                    </p:oleObj>
                  </mc:Choice>
                  <mc:Fallback>
                    <p:oleObj name="Equation" r:id="rId33" imgW="190500" imgH="228600" progId="Equation.DSMT4">
                      <p:embed/>
                      <p:pic>
                        <p:nvPicPr>
                          <p:cNvPr id="85005" name="Object 64">
                            <a:extLst>
                              <a:ext uri="{FF2B5EF4-FFF2-40B4-BE49-F238E27FC236}">
                                <a16:creationId xmlns:a16="http://schemas.microsoft.com/office/drawing/2014/main" id="{20F6E4B4-8FAA-4DA2-9018-9C939D9D88D6}"/>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12" y="2704"/>
                            <a:ext cx="18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06" name="Object 65">
                <a:extLst>
                  <a:ext uri="{FF2B5EF4-FFF2-40B4-BE49-F238E27FC236}">
                    <a16:creationId xmlns:a16="http://schemas.microsoft.com/office/drawing/2014/main" id="{8364F270-13C7-47E0-90AE-94BB88F708BB}"/>
                  </a:ext>
                </a:extLst>
              </p:cNvPr>
              <p:cNvGraphicFramePr>
                <a:graphicFrameLocks noChangeAspect="1"/>
              </p:cNvGraphicFramePr>
              <p:nvPr/>
            </p:nvGraphicFramePr>
            <p:xfrm>
              <a:off x="1791" y="2720"/>
              <a:ext cx="363" cy="242"/>
            </p:xfrm>
            <a:graphic>
              <a:graphicData uri="http://schemas.openxmlformats.org/presentationml/2006/ole">
                <mc:AlternateContent xmlns:mc="http://schemas.openxmlformats.org/markup-compatibility/2006">
                  <mc:Choice xmlns:v="urn:schemas-microsoft-com:vml" Requires="v">
                    <p:oleObj spid="_x0000_s125360" name="Equation" r:id="rId35" imgW="342751" imgH="228501" progId="Equation.DSMT4">
                      <p:embed/>
                    </p:oleObj>
                  </mc:Choice>
                  <mc:Fallback>
                    <p:oleObj name="Equation" r:id="rId35" imgW="342751" imgH="228501" progId="Equation.DSMT4">
                      <p:embed/>
                      <p:pic>
                        <p:nvPicPr>
                          <p:cNvPr id="85006" name="Object 65">
                            <a:extLst>
                              <a:ext uri="{FF2B5EF4-FFF2-40B4-BE49-F238E27FC236}">
                                <a16:creationId xmlns:a16="http://schemas.microsoft.com/office/drawing/2014/main" id="{8364F270-13C7-47E0-90AE-94BB88F708BB}"/>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1791" y="2720"/>
                            <a:ext cx="363"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07" name="Object 66">
                <a:extLst>
                  <a:ext uri="{FF2B5EF4-FFF2-40B4-BE49-F238E27FC236}">
                    <a16:creationId xmlns:a16="http://schemas.microsoft.com/office/drawing/2014/main" id="{E07D100C-541A-4ADE-B333-630940BD766D}"/>
                  </a:ext>
                </a:extLst>
              </p:cNvPr>
              <p:cNvGraphicFramePr>
                <a:graphicFrameLocks noChangeAspect="1"/>
              </p:cNvGraphicFramePr>
              <p:nvPr/>
            </p:nvGraphicFramePr>
            <p:xfrm>
              <a:off x="3107" y="2704"/>
              <a:ext cx="817" cy="223"/>
            </p:xfrm>
            <a:graphic>
              <a:graphicData uri="http://schemas.openxmlformats.org/presentationml/2006/ole">
                <mc:AlternateContent xmlns:mc="http://schemas.openxmlformats.org/markup-compatibility/2006">
                  <mc:Choice xmlns:v="urn:schemas-microsoft-com:vml" Requires="v">
                    <p:oleObj spid="_x0000_s125361" name="Equation" r:id="rId37" imgW="838200" imgH="228600" progId="Equation.DSMT4">
                      <p:embed/>
                    </p:oleObj>
                  </mc:Choice>
                  <mc:Fallback>
                    <p:oleObj name="Equation" r:id="rId37" imgW="838200" imgH="228600" progId="Equation.DSMT4">
                      <p:embed/>
                      <p:pic>
                        <p:nvPicPr>
                          <p:cNvPr id="85007" name="Object 66">
                            <a:extLst>
                              <a:ext uri="{FF2B5EF4-FFF2-40B4-BE49-F238E27FC236}">
                                <a16:creationId xmlns:a16="http://schemas.microsoft.com/office/drawing/2014/main" id="{E07D100C-541A-4ADE-B333-630940BD766D}"/>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107" y="2704"/>
                            <a:ext cx="817"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008" name="Rectangle 67">
                <a:extLst>
                  <a:ext uri="{FF2B5EF4-FFF2-40B4-BE49-F238E27FC236}">
                    <a16:creationId xmlns:a16="http://schemas.microsoft.com/office/drawing/2014/main" id="{342ED1E0-6156-463E-9A8B-3E6D21B71674}"/>
                  </a:ext>
                </a:extLst>
              </p:cNvPr>
              <p:cNvSpPr>
                <a:spLocks noChangeArrowheads="1"/>
              </p:cNvSpPr>
              <p:nvPr/>
            </p:nvSpPr>
            <p:spPr bwMode="auto">
              <a:xfrm>
                <a:off x="748" y="2704"/>
                <a:ext cx="10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也在减小，当</a:t>
                </a:r>
                <a:endParaRPr lang="zh-CN" altLang="en-US" sz="2000" b="1">
                  <a:latin typeface="Times New Roman" panose="02020603050405020304" pitchFamily="18" charset="0"/>
                  <a:cs typeface="Times New Roman" panose="02020603050405020304" pitchFamily="18" charset="0"/>
                </a:endParaRPr>
              </a:p>
            </p:txBody>
          </p:sp>
          <p:sp>
            <p:nvSpPr>
              <p:cNvPr id="85009" name="Rectangle 68">
                <a:extLst>
                  <a:ext uri="{FF2B5EF4-FFF2-40B4-BE49-F238E27FC236}">
                    <a16:creationId xmlns:a16="http://schemas.microsoft.com/office/drawing/2014/main" id="{7F609866-012A-4B97-9EC1-23E7E7CBABFE}"/>
                  </a:ext>
                </a:extLst>
              </p:cNvPr>
              <p:cNvSpPr>
                <a:spLocks noChangeArrowheads="1"/>
              </p:cNvSpPr>
              <p:nvPr/>
            </p:nvSpPr>
            <p:spPr bwMode="auto">
              <a:xfrm>
                <a:off x="2109" y="2704"/>
                <a:ext cx="10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时，可以认为</a:t>
                </a:r>
                <a:endParaRPr lang="zh-CN" altLang="en-US" sz="2000" b="1">
                  <a:latin typeface="Times New Roman" panose="02020603050405020304" pitchFamily="18" charset="0"/>
                  <a:cs typeface="Times New Roman" panose="02020603050405020304" pitchFamily="18" charset="0"/>
                </a:endParaRPr>
              </a:p>
            </p:txBody>
          </p:sp>
          <p:sp>
            <p:nvSpPr>
              <p:cNvPr id="85010" name="Rectangle 69">
                <a:extLst>
                  <a:ext uri="{FF2B5EF4-FFF2-40B4-BE49-F238E27FC236}">
                    <a16:creationId xmlns:a16="http://schemas.microsoft.com/office/drawing/2014/main" id="{9E392913-D6D4-466D-B23A-8BDCDD15E999}"/>
                  </a:ext>
                </a:extLst>
              </p:cNvPr>
              <p:cNvSpPr>
                <a:spLocks noChangeArrowheads="1"/>
              </p:cNvSpPr>
              <p:nvPr/>
            </p:nvSpPr>
            <p:spPr bwMode="auto">
              <a:xfrm>
                <a:off x="3878" y="2704"/>
                <a:ext cx="14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，即全部注入的非</a:t>
                </a:r>
                <a:endParaRPr lang="zh-CN" altLang="en-US" sz="2000" b="1">
                  <a:latin typeface="Times New Roman" panose="02020603050405020304" pitchFamily="18" charset="0"/>
                  <a:cs typeface="Times New Roman" panose="02020603050405020304" pitchFamily="18" charset="0"/>
                </a:endParaRPr>
              </a:p>
            </p:txBody>
          </p:sp>
        </p:grpSp>
      </p:grpSp>
    </p:spTree>
    <p:extLst>
      <p:ext uri="{BB962C8B-B14F-4D97-AF65-F5344CB8AC3E}">
        <p14:creationId xmlns:p14="http://schemas.microsoft.com/office/powerpoint/2010/main" val="4294418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a:extLst>
              <a:ext uri="{FF2B5EF4-FFF2-40B4-BE49-F238E27FC236}">
                <a16:creationId xmlns:a16="http://schemas.microsoft.com/office/drawing/2014/main" id="{FA68439A-7B1F-480B-906D-446546CCDB3F}"/>
              </a:ext>
            </a:extLst>
          </p:cNvPr>
          <p:cNvSpPr>
            <a:spLocks noChangeArrowheads="1"/>
          </p:cNvSpPr>
          <p:nvPr/>
        </p:nvSpPr>
        <p:spPr bwMode="auto">
          <a:xfrm>
            <a:off x="179388" y="1387475"/>
            <a:ext cx="5113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b="1">
                <a:solidFill>
                  <a:srgbClr val="993300"/>
                </a:solidFill>
                <a:latin typeface="Times New Roman" panose="02020603050405020304" pitchFamily="18" charset="0"/>
              </a:rPr>
              <a:t>PN</a:t>
            </a:r>
            <a:r>
              <a:rPr kumimoji="0" lang="zh-CN" altLang="en-US" b="1">
                <a:solidFill>
                  <a:srgbClr val="993300"/>
                </a:solidFill>
                <a:latin typeface="Times New Roman" panose="02020603050405020304" pitchFamily="18" charset="0"/>
              </a:rPr>
              <a:t>结反向瞬变的定性解释</a:t>
            </a:r>
            <a:r>
              <a:rPr kumimoji="0" lang="zh-CN" altLang="en-US">
                <a:solidFill>
                  <a:srgbClr val="993300"/>
                </a:solidFill>
                <a:latin typeface="Times New Roman" panose="02020603050405020304" pitchFamily="18" charset="0"/>
              </a:rPr>
              <a:t> </a:t>
            </a:r>
            <a:endParaRPr kumimoji="0" lang="en-US" altLang="zh-CN">
              <a:solidFill>
                <a:srgbClr val="993300"/>
              </a:solidFill>
              <a:latin typeface="Times New Roman" panose="02020603050405020304" pitchFamily="18" charset="0"/>
            </a:endParaRPr>
          </a:p>
        </p:txBody>
      </p:sp>
      <p:graphicFrame>
        <p:nvGraphicFramePr>
          <p:cNvPr id="501823" name="Object 63">
            <a:extLst>
              <a:ext uri="{FF2B5EF4-FFF2-40B4-BE49-F238E27FC236}">
                <a16:creationId xmlns:a16="http://schemas.microsoft.com/office/drawing/2014/main" id="{5E6D4608-1B98-4535-A5AD-D619A9EA157A}"/>
              </a:ext>
            </a:extLst>
          </p:cNvPr>
          <p:cNvGraphicFramePr>
            <a:graphicFrameLocks noChangeAspect="1"/>
          </p:cNvGraphicFramePr>
          <p:nvPr/>
        </p:nvGraphicFramePr>
        <p:xfrm>
          <a:off x="539750" y="1916113"/>
          <a:ext cx="560388" cy="387350"/>
        </p:xfrm>
        <a:graphic>
          <a:graphicData uri="http://schemas.openxmlformats.org/presentationml/2006/ole">
            <mc:AlternateContent xmlns:mc="http://schemas.openxmlformats.org/markup-compatibility/2006">
              <mc:Choice xmlns:v="urn:schemas-microsoft-com:vml" Requires="v">
                <p:oleObj spid="_x0000_s126138" name="Equation" r:id="rId3" imgW="330200" imgH="228600" progId="Equation.DSMT4">
                  <p:embed/>
                </p:oleObj>
              </mc:Choice>
              <mc:Fallback>
                <p:oleObj name="Equation" r:id="rId3" imgW="330200" imgH="228600" progId="Equation.DSMT4">
                  <p:embed/>
                  <p:pic>
                    <p:nvPicPr>
                      <p:cNvPr id="501823" name="Object 63">
                        <a:extLst>
                          <a:ext uri="{FF2B5EF4-FFF2-40B4-BE49-F238E27FC236}">
                            <a16:creationId xmlns:a16="http://schemas.microsoft.com/office/drawing/2014/main" id="{5E6D4608-1B98-4535-A5AD-D619A9EA15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916113"/>
                        <a:ext cx="560388"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6022" name="Picture 64">
            <a:extLst>
              <a:ext uri="{FF2B5EF4-FFF2-40B4-BE49-F238E27FC236}">
                <a16:creationId xmlns:a16="http://schemas.microsoft.com/office/drawing/2014/main" id="{221284FC-389E-4576-93BB-179BB6EA08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1863" y="1341438"/>
            <a:ext cx="3132137" cy="251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pic>
      <p:grpSp>
        <p:nvGrpSpPr>
          <p:cNvPr id="2" name="Group 86">
            <a:extLst>
              <a:ext uri="{FF2B5EF4-FFF2-40B4-BE49-F238E27FC236}">
                <a16:creationId xmlns:a16="http://schemas.microsoft.com/office/drawing/2014/main" id="{B8C9D3F8-3C48-4A35-B272-146B7410F123}"/>
              </a:ext>
            </a:extLst>
          </p:cNvPr>
          <p:cNvGrpSpPr>
            <a:grpSpLocks/>
          </p:cNvGrpSpPr>
          <p:nvPr/>
        </p:nvGrpSpPr>
        <p:grpSpPr bwMode="auto">
          <a:xfrm>
            <a:off x="460375" y="2260600"/>
            <a:ext cx="5729288" cy="1239838"/>
            <a:chOff x="290" y="1424"/>
            <a:chExt cx="3609" cy="781"/>
          </a:xfrm>
        </p:grpSpPr>
        <p:graphicFrame>
          <p:nvGraphicFramePr>
            <p:cNvPr id="86035" name="Object 69">
              <a:extLst>
                <a:ext uri="{FF2B5EF4-FFF2-40B4-BE49-F238E27FC236}">
                  <a16:creationId xmlns:a16="http://schemas.microsoft.com/office/drawing/2014/main" id="{A5075894-3A1C-4885-9BFA-31C0145C1DDB}"/>
                </a:ext>
              </a:extLst>
            </p:cNvPr>
            <p:cNvGraphicFramePr>
              <a:graphicFrameLocks noChangeAspect="1"/>
            </p:cNvGraphicFramePr>
            <p:nvPr/>
          </p:nvGraphicFramePr>
          <p:xfrm>
            <a:off x="315" y="1517"/>
            <a:ext cx="705" cy="237"/>
          </p:xfrm>
          <a:graphic>
            <a:graphicData uri="http://schemas.openxmlformats.org/presentationml/2006/ole">
              <mc:AlternateContent xmlns:mc="http://schemas.openxmlformats.org/markup-compatibility/2006">
                <mc:Choice xmlns:v="urn:schemas-microsoft-com:vml" Requires="v">
                  <p:oleObj spid="_x0000_s126139" name="Equation" r:id="rId6" imgW="761669" imgH="253890" progId="Equation.DSMT4">
                    <p:embed/>
                  </p:oleObj>
                </mc:Choice>
                <mc:Fallback>
                  <p:oleObj name="Equation" r:id="rId6" imgW="761669" imgH="253890" progId="Equation.DSMT4">
                    <p:embed/>
                    <p:pic>
                      <p:nvPicPr>
                        <p:cNvPr id="86035" name="Object 69">
                          <a:extLst>
                            <a:ext uri="{FF2B5EF4-FFF2-40B4-BE49-F238E27FC236}">
                              <a16:creationId xmlns:a16="http://schemas.microsoft.com/office/drawing/2014/main" id="{A5075894-3A1C-4885-9BFA-31C0145C1D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 y="1517"/>
                          <a:ext cx="70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36" name="Object 67">
              <a:extLst>
                <a:ext uri="{FF2B5EF4-FFF2-40B4-BE49-F238E27FC236}">
                  <a16:creationId xmlns:a16="http://schemas.microsoft.com/office/drawing/2014/main" id="{70FEADEE-12C6-4A9B-B514-6101DD2FB04A}"/>
                </a:ext>
              </a:extLst>
            </p:cNvPr>
            <p:cNvGraphicFramePr>
              <a:graphicFrameLocks noChangeAspect="1"/>
            </p:cNvGraphicFramePr>
            <p:nvPr/>
          </p:nvGraphicFramePr>
          <p:xfrm>
            <a:off x="1510" y="1424"/>
            <a:ext cx="1007" cy="509"/>
          </p:xfrm>
          <a:graphic>
            <a:graphicData uri="http://schemas.openxmlformats.org/presentationml/2006/ole">
              <mc:AlternateContent xmlns:mc="http://schemas.openxmlformats.org/markup-compatibility/2006">
                <mc:Choice xmlns:v="urn:schemas-microsoft-com:vml" Requires="v">
                  <p:oleObj spid="_x0000_s126140" name="Equation" r:id="rId8" imgW="914400" imgH="469900" progId="Equation.DSMT4">
                    <p:embed/>
                  </p:oleObj>
                </mc:Choice>
                <mc:Fallback>
                  <p:oleObj name="Equation" r:id="rId8" imgW="914400" imgH="469900" progId="Equation.DSMT4">
                    <p:embed/>
                    <p:pic>
                      <p:nvPicPr>
                        <p:cNvPr id="86036" name="Object 67">
                          <a:extLst>
                            <a:ext uri="{FF2B5EF4-FFF2-40B4-BE49-F238E27FC236}">
                              <a16:creationId xmlns:a16="http://schemas.microsoft.com/office/drawing/2014/main" id="{70FEADEE-12C6-4A9B-B514-6101DD2FB0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10" y="1424"/>
                          <a:ext cx="1007" cy="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37" name="Object 65">
              <a:extLst>
                <a:ext uri="{FF2B5EF4-FFF2-40B4-BE49-F238E27FC236}">
                  <a16:creationId xmlns:a16="http://schemas.microsoft.com/office/drawing/2014/main" id="{C3BD400E-A274-49D3-8B17-8E479DDB616D}"/>
                </a:ext>
              </a:extLst>
            </p:cNvPr>
            <p:cNvGraphicFramePr>
              <a:graphicFrameLocks noChangeAspect="1"/>
            </p:cNvGraphicFramePr>
            <p:nvPr/>
          </p:nvGraphicFramePr>
          <p:xfrm>
            <a:off x="290" y="1933"/>
            <a:ext cx="186" cy="272"/>
          </p:xfrm>
          <a:graphic>
            <a:graphicData uri="http://schemas.openxmlformats.org/presentationml/2006/ole">
              <mc:AlternateContent xmlns:mc="http://schemas.openxmlformats.org/markup-compatibility/2006">
                <mc:Choice xmlns:v="urn:schemas-microsoft-com:vml" Requires="v">
                  <p:oleObj spid="_x0000_s126141" name="Equation" r:id="rId10" imgW="152334" imgH="228501" progId="Equation.DSMT4">
                    <p:embed/>
                  </p:oleObj>
                </mc:Choice>
                <mc:Fallback>
                  <p:oleObj name="Equation" r:id="rId10" imgW="152334" imgH="228501" progId="Equation.DSMT4">
                    <p:embed/>
                    <p:pic>
                      <p:nvPicPr>
                        <p:cNvPr id="86037" name="Object 65">
                          <a:extLst>
                            <a:ext uri="{FF2B5EF4-FFF2-40B4-BE49-F238E27FC236}">
                              <a16:creationId xmlns:a16="http://schemas.microsoft.com/office/drawing/2014/main" id="{C3BD400E-A274-49D3-8B17-8E479DDB616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0" y="1933"/>
                          <a:ext cx="18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38" name="Rectangle 72">
              <a:extLst>
                <a:ext uri="{FF2B5EF4-FFF2-40B4-BE49-F238E27FC236}">
                  <a16:creationId xmlns:a16="http://schemas.microsoft.com/office/drawing/2014/main" id="{F3EC074E-BEC6-4222-8C5F-03F25F5B3D19}"/>
                </a:ext>
              </a:extLst>
            </p:cNvPr>
            <p:cNvSpPr>
              <a:spLocks noChangeArrowheads="1"/>
            </p:cNvSpPr>
            <p:nvPr/>
          </p:nvSpPr>
          <p:spPr bwMode="auto">
            <a:xfrm>
              <a:off x="969" y="1525"/>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，因而</a:t>
              </a:r>
              <a:endParaRPr lang="zh-CN" altLang="en-US" sz="2000" b="1">
                <a:latin typeface="Times New Roman" panose="02020603050405020304" pitchFamily="18" charset="0"/>
                <a:cs typeface="Times New Roman" panose="02020603050405020304" pitchFamily="18" charset="0"/>
              </a:endParaRPr>
            </a:p>
          </p:txBody>
        </p:sp>
        <p:sp>
          <p:nvSpPr>
            <p:cNvPr id="86039" name="Rectangle 74">
              <a:extLst>
                <a:ext uri="{FF2B5EF4-FFF2-40B4-BE49-F238E27FC236}">
                  <a16:creationId xmlns:a16="http://schemas.microsoft.com/office/drawing/2014/main" id="{8BB6A92C-E5BF-428E-B43B-9EB04BCC977E}"/>
                </a:ext>
              </a:extLst>
            </p:cNvPr>
            <p:cNvSpPr>
              <a:spLocks noChangeArrowheads="1"/>
            </p:cNvSpPr>
            <p:nvPr/>
          </p:nvSpPr>
          <p:spPr bwMode="auto">
            <a:xfrm>
              <a:off x="2215" y="1525"/>
              <a:ext cx="14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也愈来愈小，因此</a:t>
              </a:r>
              <a:endParaRPr lang="zh-CN" altLang="en-US" sz="2000" b="1">
                <a:latin typeface="Times New Roman" panose="02020603050405020304" pitchFamily="18" charset="0"/>
                <a:cs typeface="Times New Roman" panose="02020603050405020304" pitchFamily="18" charset="0"/>
              </a:endParaRPr>
            </a:p>
          </p:txBody>
        </p:sp>
        <p:sp>
          <p:nvSpPr>
            <p:cNvPr id="86040" name="Rectangle 75">
              <a:extLst>
                <a:ext uri="{FF2B5EF4-FFF2-40B4-BE49-F238E27FC236}">
                  <a16:creationId xmlns:a16="http://schemas.microsoft.com/office/drawing/2014/main" id="{F9F6FACD-7128-483A-8F14-21F4E119ACA8}"/>
                </a:ext>
              </a:extLst>
            </p:cNvPr>
            <p:cNvSpPr>
              <a:spLocks noChangeArrowheads="1"/>
            </p:cNvSpPr>
            <p:nvPr/>
          </p:nvSpPr>
          <p:spPr bwMode="auto">
            <a:xfrm>
              <a:off x="402" y="1955"/>
              <a:ext cx="34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也愈来愈小，电流和电压波形中出现“尾巴”。</a:t>
              </a:r>
              <a:endParaRPr lang="zh-CN" altLang="en-US" sz="2000" b="1">
                <a:latin typeface="Times New Roman" panose="02020603050405020304" pitchFamily="18" charset="0"/>
                <a:cs typeface="Times New Roman" panose="02020603050405020304" pitchFamily="18" charset="0"/>
              </a:endParaRPr>
            </a:p>
          </p:txBody>
        </p:sp>
      </p:grpSp>
      <p:grpSp>
        <p:nvGrpSpPr>
          <p:cNvPr id="3" name="Group 87">
            <a:extLst>
              <a:ext uri="{FF2B5EF4-FFF2-40B4-BE49-F238E27FC236}">
                <a16:creationId xmlns:a16="http://schemas.microsoft.com/office/drawing/2014/main" id="{F4E42642-11C6-4DAF-A169-2A6408FDBD8B}"/>
              </a:ext>
            </a:extLst>
          </p:cNvPr>
          <p:cNvGrpSpPr>
            <a:grpSpLocks/>
          </p:cNvGrpSpPr>
          <p:nvPr/>
        </p:nvGrpSpPr>
        <p:grpSpPr bwMode="auto">
          <a:xfrm>
            <a:off x="539750" y="3752850"/>
            <a:ext cx="4349750" cy="396875"/>
            <a:chOff x="340" y="2364"/>
            <a:chExt cx="2740" cy="250"/>
          </a:xfrm>
        </p:grpSpPr>
        <p:sp>
          <p:nvSpPr>
            <p:cNvPr id="86033" name="Rectangle 76">
              <a:extLst>
                <a:ext uri="{FF2B5EF4-FFF2-40B4-BE49-F238E27FC236}">
                  <a16:creationId xmlns:a16="http://schemas.microsoft.com/office/drawing/2014/main" id="{0E926C51-9350-4D62-BE7A-267052610373}"/>
                </a:ext>
              </a:extLst>
            </p:cNvPr>
            <p:cNvSpPr>
              <a:spLocks noChangeArrowheads="1"/>
            </p:cNvSpPr>
            <p:nvPr/>
          </p:nvSpPr>
          <p:spPr bwMode="auto">
            <a:xfrm>
              <a:off x="629" y="2364"/>
              <a:ext cx="24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latin typeface="Times New Roman" panose="02020603050405020304" pitchFamily="18" charset="0"/>
                </a:rPr>
                <a:t>（即达到稳定的反偏状态之后） </a:t>
              </a:r>
            </a:p>
          </p:txBody>
        </p:sp>
        <p:graphicFrame>
          <p:nvGraphicFramePr>
            <p:cNvPr id="86034" name="Object 77">
              <a:extLst>
                <a:ext uri="{FF2B5EF4-FFF2-40B4-BE49-F238E27FC236}">
                  <a16:creationId xmlns:a16="http://schemas.microsoft.com/office/drawing/2014/main" id="{B4D7C5B9-8B75-4F81-A7CF-DBF424517F2E}"/>
                </a:ext>
              </a:extLst>
            </p:cNvPr>
            <p:cNvGraphicFramePr>
              <a:graphicFrameLocks noChangeAspect="1"/>
            </p:cNvGraphicFramePr>
            <p:nvPr/>
          </p:nvGraphicFramePr>
          <p:xfrm>
            <a:off x="340" y="2428"/>
            <a:ext cx="380" cy="163"/>
          </p:xfrm>
          <a:graphic>
            <a:graphicData uri="http://schemas.openxmlformats.org/presentationml/2006/ole">
              <mc:AlternateContent xmlns:mc="http://schemas.openxmlformats.org/markup-compatibility/2006">
                <mc:Choice xmlns:v="urn:schemas-microsoft-com:vml" Requires="v">
                  <p:oleObj spid="_x0000_s126142" name="Equation" r:id="rId12" imgW="355292" imgH="152268" progId="Equation.DSMT4">
                    <p:embed/>
                  </p:oleObj>
                </mc:Choice>
                <mc:Fallback>
                  <p:oleObj name="Equation" r:id="rId12" imgW="355292" imgH="152268" progId="Equation.DSMT4">
                    <p:embed/>
                    <p:pic>
                      <p:nvPicPr>
                        <p:cNvPr id="86034" name="Object 77">
                          <a:extLst>
                            <a:ext uri="{FF2B5EF4-FFF2-40B4-BE49-F238E27FC236}">
                              <a16:creationId xmlns:a16="http://schemas.microsoft.com/office/drawing/2014/main" id="{B4D7C5B9-8B75-4F81-A7CF-DBF424517F2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0" y="2428"/>
                          <a:ext cx="38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 name="Group 78">
            <a:extLst>
              <a:ext uri="{FF2B5EF4-FFF2-40B4-BE49-F238E27FC236}">
                <a16:creationId xmlns:a16="http://schemas.microsoft.com/office/drawing/2014/main" id="{C23B05FE-D454-43CB-91E9-4610E834551E}"/>
              </a:ext>
            </a:extLst>
          </p:cNvPr>
          <p:cNvGrpSpPr>
            <a:grpSpLocks/>
          </p:cNvGrpSpPr>
          <p:nvPr/>
        </p:nvGrpSpPr>
        <p:grpSpPr bwMode="auto">
          <a:xfrm>
            <a:off x="395288" y="4291014"/>
            <a:ext cx="8047037" cy="974726"/>
            <a:chOff x="249" y="1524"/>
            <a:chExt cx="5069" cy="614"/>
          </a:xfrm>
        </p:grpSpPr>
        <p:graphicFrame>
          <p:nvGraphicFramePr>
            <p:cNvPr id="86026" name="Object 79">
              <a:extLst>
                <a:ext uri="{FF2B5EF4-FFF2-40B4-BE49-F238E27FC236}">
                  <a16:creationId xmlns:a16="http://schemas.microsoft.com/office/drawing/2014/main" id="{9F9C40B2-0B5F-4ECD-8C10-CB0341DD491B}"/>
                </a:ext>
              </a:extLst>
            </p:cNvPr>
            <p:cNvGraphicFramePr>
              <a:graphicFrameLocks noChangeAspect="1"/>
            </p:cNvGraphicFramePr>
            <p:nvPr/>
          </p:nvGraphicFramePr>
          <p:xfrm>
            <a:off x="2744" y="1525"/>
            <a:ext cx="408" cy="223"/>
          </p:xfrm>
          <a:graphic>
            <a:graphicData uri="http://schemas.openxmlformats.org/presentationml/2006/ole">
              <mc:AlternateContent xmlns:mc="http://schemas.openxmlformats.org/markup-compatibility/2006">
                <mc:Choice xmlns:v="urn:schemas-microsoft-com:vml" Requires="v">
                  <p:oleObj spid="_x0000_s126143" name="Equation" r:id="rId14" imgW="419100" imgH="228600" progId="Equation.DSMT4">
                    <p:embed/>
                  </p:oleObj>
                </mc:Choice>
                <mc:Fallback>
                  <p:oleObj name="Equation" r:id="rId14" imgW="419100" imgH="228600" progId="Equation.DSMT4">
                    <p:embed/>
                    <p:pic>
                      <p:nvPicPr>
                        <p:cNvPr id="86026" name="Object 79">
                          <a:extLst>
                            <a:ext uri="{FF2B5EF4-FFF2-40B4-BE49-F238E27FC236}">
                              <a16:creationId xmlns:a16="http://schemas.microsoft.com/office/drawing/2014/main" id="{9F9C40B2-0B5F-4ECD-8C10-CB0341DD491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44" y="1525"/>
                          <a:ext cx="408"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7" name="Object 80">
              <a:extLst>
                <a:ext uri="{FF2B5EF4-FFF2-40B4-BE49-F238E27FC236}">
                  <a16:creationId xmlns:a16="http://schemas.microsoft.com/office/drawing/2014/main" id="{4E37A424-CE37-4235-AAA1-B9030F06D891}"/>
                </a:ext>
              </a:extLst>
            </p:cNvPr>
            <p:cNvGraphicFramePr>
              <a:graphicFrameLocks noChangeAspect="1"/>
            </p:cNvGraphicFramePr>
            <p:nvPr/>
          </p:nvGraphicFramePr>
          <p:xfrm>
            <a:off x="3515" y="1525"/>
            <a:ext cx="1100" cy="249"/>
          </p:xfrm>
          <a:graphic>
            <a:graphicData uri="http://schemas.openxmlformats.org/presentationml/2006/ole">
              <mc:AlternateContent xmlns:mc="http://schemas.openxmlformats.org/markup-compatibility/2006">
                <mc:Choice xmlns:v="urn:schemas-microsoft-com:vml" Requires="v">
                  <p:oleObj spid="_x0000_s126144" name="Equation" r:id="rId16" imgW="1129810" imgH="253890" progId="Equation.DSMT4">
                    <p:embed/>
                  </p:oleObj>
                </mc:Choice>
                <mc:Fallback>
                  <p:oleObj name="Equation" r:id="rId16" imgW="1129810" imgH="253890" progId="Equation.DSMT4">
                    <p:embed/>
                    <p:pic>
                      <p:nvPicPr>
                        <p:cNvPr id="86027" name="Object 80">
                          <a:extLst>
                            <a:ext uri="{FF2B5EF4-FFF2-40B4-BE49-F238E27FC236}">
                              <a16:creationId xmlns:a16="http://schemas.microsoft.com/office/drawing/2014/main" id="{4E37A424-CE37-4235-AAA1-B9030F06D891}"/>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15" y="1525"/>
                          <a:ext cx="11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8" name="Object 81">
              <a:extLst>
                <a:ext uri="{FF2B5EF4-FFF2-40B4-BE49-F238E27FC236}">
                  <a16:creationId xmlns:a16="http://schemas.microsoft.com/office/drawing/2014/main" id="{1C6EE313-938E-482A-B89D-D09C406F8FEF}"/>
                </a:ext>
              </a:extLst>
            </p:cNvPr>
            <p:cNvGraphicFramePr>
              <a:graphicFrameLocks noChangeAspect="1"/>
            </p:cNvGraphicFramePr>
            <p:nvPr/>
          </p:nvGraphicFramePr>
          <p:xfrm>
            <a:off x="2694" y="1929"/>
            <a:ext cx="1002" cy="209"/>
          </p:xfrm>
          <a:graphic>
            <a:graphicData uri="http://schemas.openxmlformats.org/presentationml/2006/ole">
              <mc:AlternateContent xmlns:mc="http://schemas.openxmlformats.org/markup-compatibility/2006">
                <mc:Choice xmlns:v="urn:schemas-microsoft-com:vml" Requires="v">
                  <p:oleObj spid="_x0000_s126145" name="Equation" r:id="rId18" imgW="1104900" imgH="228600" progId="Equation.DSMT4">
                    <p:embed/>
                  </p:oleObj>
                </mc:Choice>
                <mc:Fallback>
                  <p:oleObj name="Equation" r:id="rId18" imgW="1104900" imgH="228600" progId="Equation.DSMT4">
                    <p:embed/>
                    <p:pic>
                      <p:nvPicPr>
                        <p:cNvPr id="86028" name="Object 81">
                          <a:extLst>
                            <a:ext uri="{FF2B5EF4-FFF2-40B4-BE49-F238E27FC236}">
                              <a16:creationId xmlns:a16="http://schemas.microsoft.com/office/drawing/2014/main" id="{1C6EE313-938E-482A-B89D-D09C406F8FE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94" y="1929"/>
                          <a:ext cx="1002"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29" name="Rectangle 82">
              <a:extLst>
                <a:ext uri="{FF2B5EF4-FFF2-40B4-BE49-F238E27FC236}">
                  <a16:creationId xmlns:a16="http://schemas.microsoft.com/office/drawing/2014/main" id="{6D8B2C14-CFC1-4285-83C2-1EBA0079B3BD}"/>
                </a:ext>
              </a:extLst>
            </p:cNvPr>
            <p:cNvSpPr>
              <a:spLocks noChangeArrowheads="1"/>
            </p:cNvSpPr>
            <p:nvPr/>
          </p:nvSpPr>
          <p:spPr bwMode="auto">
            <a:xfrm>
              <a:off x="249" y="1524"/>
              <a:ext cx="26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由于反向偏压</a:t>
              </a:r>
              <a:r>
                <a:rPr lang="en-US" altLang="zh-CN" sz="2000" b="1">
                  <a:solidFill>
                    <a:srgbClr val="000080"/>
                  </a:solidFill>
                  <a:latin typeface="Times New Roman" panose="02020603050405020304" pitchFamily="18" charset="0"/>
                  <a:cs typeface="Times New Roman" panose="02020603050405020304" pitchFamily="18" charset="0"/>
                </a:rPr>
                <a:t>PN</a:t>
              </a:r>
              <a:r>
                <a:rPr lang="zh-CN" altLang="en-US" sz="2000" b="1">
                  <a:solidFill>
                    <a:srgbClr val="000080"/>
                  </a:solidFill>
                  <a:latin typeface="Times New Roman" panose="02020603050405020304" pitchFamily="18" charset="0"/>
                  <a:cs typeface="Times New Roman" panose="02020603050405020304" pitchFamily="18" charset="0"/>
                </a:rPr>
                <a:t>结的抽取作用，在</a:t>
              </a:r>
            </a:p>
          </p:txBody>
        </p:sp>
        <p:sp>
          <p:nvSpPr>
            <p:cNvPr id="86030" name="Rectangle 83">
              <a:extLst>
                <a:ext uri="{FF2B5EF4-FFF2-40B4-BE49-F238E27FC236}">
                  <a16:creationId xmlns:a16="http://schemas.microsoft.com/office/drawing/2014/main" id="{B63CD616-FCDF-4478-B367-826DE7672A27}"/>
                </a:ext>
              </a:extLst>
            </p:cNvPr>
            <p:cNvSpPr>
              <a:spLocks noChangeArrowheads="1"/>
            </p:cNvSpPr>
            <p:nvPr/>
          </p:nvSpPr>
          <p:spPr bwMode="auto">
            <a:xfrm>
              <a:off x="3107" y="1525"/>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面上</a:t>
              </a:r>
              <a:endParaRPr lang="zh-CN" altLang="en-US" sz="2000" b="1">
                <a:latin typeface="Times New Roman" panose="02020603050405020304" pitchFamily="18" charset="0"/>
                <a:cs typeface="Times New Roman" panose="02020603050405020304" pitchFamily="18" charset="0"/>
              </a:endParaRPr>
            </a:p>
          </p:txBody>
        </p:sp>
        <p:sp>
          <p:nvSpPr>
            <p:cNvPr id="86031" name="Rectangle 84">
              <a:extLst>
                <a:ext uri="{FF2B5EF4-FFF2-40B4-BE49-F238E27FC236}">
                  <a16:creationId xmlns:a16="http://schemas.microsoft.com/office/drawing/2014/main" id="{96FBC4C0-1BA4-46B3-9A1C-E701821C9362}"/>
                </a:ext>
              </a:extLst>
            </p:cNvPr>
            <p:cNvSpPr>
              <a:spLocks noChangeArrowheads="1"/>
            </p:cNvSpPr>
            <p:nvPr/>
          </p:nvSpPr>
          <p:spPr bwMode="auto">
            <a:xfrm>
              <a:off x="4558" y="1525"/>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达到反向</a:t>
              </a:r>
              <a:endParaRPr lang="zh-CN" altLang="en-US" sz="2000" b="1">
                <a:latin typeface="Times New Roman" panose="02020603050405020304" pitchFamily="18" charset="0"/>
                <a:cs typeface="Times New Roman" panose="02020603050405020304" pitchFamily="18" charset="0"/>
              </a:endParaRPr>
            </a:p>
          </p:txBody>
        </p:sp>
        <p:sp>
          <p:nvSpPr>
            <p:cNvPr id="86032" name="Rectangle 85">
              <a:extLst>
                <a:ext uri="{FF2B5EF4-FFF2-40B4-BE49-F238E27FC236}">
                  <a16:creationId xmlns:a16="http://schemas.microsoft.com/office/drawing/2014/main" id="{719915AA-3AAE-4B9D-BCBD-89A2DF3AD978}"/>
                </a:ext>
              </a:extLst>
            </p:cNvPr>
            <p:cNvSpPr>
              <a:spLocks noChangeArrowheads="1"/>
            </p:cNvSpPr>
            <p:nvPr/>
          </p:nvSpPr>
          <p:spPr bwMode="auto">
            <a:xfrm>
              <a:off x="295" y="1888"/>
              <a:ext cx="26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sz="2000" b="1">
                  <a:solidFill>
                    <a:srgbClr val="000080"/>
                  </a:solidFill>
                  <a:latin typeface="Times New Roman" panose="02020603050405020304" pitchFamily="18" charset="0"/>
                  <a:cs typeface="Times New Roman" panose="02020603050405020304" pitchFamily="18" charset="0"/>
                </a:rPr>
                <a:t>偏压</a:t>
              </a:r>
              <a:r>
                <a:rPr lang="en-US" altLang="zh-CN" sz="2000" b="1">
                  <a:solidFill>
                    <a:srgbClr val="000080"/>
                  </a:solidFill>
                  <a:latin typeface="Times New Roman" panose="02020603050405020304" pitchFamily="18" charset="0"/>
                  <a:cs typeface="Times New Roman" panose="02020603050405020304" pitchFamily="18" charset="0"/>
                </a:rPr>
                <a:t>PN</a:t>
              </a:r>
              <a:r>
                <a:rPr lang="zh-CN" altLang="en-US" sz="2000" b="1">
                  <a:solidFill>
                    <a:srgbClr val="000080"/>
                  </a:solidFill>
                  <a:latin typeface="Times New Roman" panose="02020603050405020304" pitchFamily="18" charset="0"/>
                  <a:cs typeface="Times New Roman" panose="02020603050405020304" pitchFamily="18" charset="0"/>
                </a:rPr>
                <a:t>结稳定状态时的分布状况，</a:t>
              </a:r>
              <a:endParaRPr lang="zh-CN" altLang="en-US" sz="2000" b="1">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898749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CA1D1E97-1923-41EA-91FC-BAFC08A77A85}"/>
              </a:ext>
            </a:extLst>
          </p:cNvPr>
          <p:cNvSpPr>
            <a:spLocks noChangeArrowheads="1"/>
          </p:cNvSpPr>
          <p:nvPr/>
        </p:nvSpPr>
        <p:spPr bwMode="auto">
          <a:xfrm>
            <a:off x="2777035" y="214678"/>
            <a:ext cx="352692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en-US" altLang="zh-CN" sz="4000" b="1" dirty="0">
                <a:solidFill>
                  <a:srgbClr val="0000FF"/>
                </a:solidFill>
                <a:latin typeface="Times New Roman" panose="02020603050405020304" pitchFamily="18" charset="0"/>
                <a:ea typeface="宋体" panose="02010600030101010101" pitchFamily="2" charset="-122"/>
              </a:rPr>
              <a:t>2.7 </a:t>
            </a:r>
            <a:r>
              <a:rPr lang="zh-CN" altLang="en-US" sz="4000" b="1" dirty="0">
                <a:solidFill>
                  <a:srgbClr val="0000FF"/>
                </a:solidFill>
                <a:latin typeface="Times New Roman" panose="02020603050405020304" pitchFamily="18" charset="0"/>
                <a:ea typeface="宋体" panose="02010600030101010101" pitchFamily="2" charset="-122"/>
              </a:rPr>
              <a:t>隧道二极管</a:t>
            </a:r>
          </a:p>
        </p:txBody>
      </p:sp>
      <p:sp>
        <p:nvSpPr>
          <p:cNvPr id="128003" name="Rectangle 3">
            <a:extLst>
              <a:ext uri="{FF2B5EF4-FFF2-40B4-BE49-F238E27FC236}">
                <a16:creationId xmlns:a16="http://schemas.microsoft.com/office/drawing/2014/main" id="{7E90743D-16A9-4ECE-8C04-9A54E7BC092E}"/>
              </a:ext>
            </a:extLst>
          </p:cNvPr>
          <p:cNvSpPr>
            <a:spLocks noChangeArrowheads="1"/>
          </p:cNvSpPr>
          <p:nvPr/>
        </p:nvSpPr>
        <p:spPr bwMode="auto">
          <a:xfrm>
            <a:off x="311399" y="1191440"/>
            <a:ext cx="8458200" cy="1449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5750" indent="-285750" algn="just">
              <a:lnSpc>
                <a:spcPct val="110000"/>
              </a:lnSpc>
              <a:spcBef>
                <a:spcPct val="50000"/>
              </a:spcBef>
              <a:buFont typeface="Wingdings" panose="05000000000000000000" pitchFamily="2" charset="2"/>
              <a:buChar char="Ø"/>
            </a:pPr>
            <a:r>
              <a:rPr lang="en-US" altLang="zh-CN" b="1" dirty="0">
                <a:solidFill>
                  <a:srgbClr val="000000"/>
                </a:solidFill>
                <a:latin typeface="Times New Roman" panose="02020603050405020304" pitchFamily="18" charset="0"/>
                <a:ea typeface="宋体" panose="02010600030101010101" pitchFamily="2" charset="-122"/>
              </a:rPr>
              <a:t>PN</a:t>
            </a:r>
            <a:r>
              <a:rPr lang="zh-CN" altLang="en-US" b="1" dirty="0">
                <a:solidFill>
                  <a:srgbClr val="000000"/>
                </a:solidFill>
                <a:latin typeface="Times New Roman" panose="02020603050405020304" pitchFamily="18" charset="0"/>
                <a:ea typeface="宋体" panose="02010600030101010101" pitchFamily="2" charset="-122"/>
              </a:rPr>
              <a:t>结两侧为轻掺杂时，结电流主要来源于注入少子通过结势垒后形成的扩散电流</a:t>
            </a:r>
          </a:p>
          <a:p>
            <a:pPr marL="285750" indent="-285750" algn="just">
              <a:lnSpc>
                <a:spcPct val="110000"/>
              </a:lnSpc>
              <a:spcBef>
                <a:spcPct val="50000"/>
              </a:spcBef>
              <a:buFont typeface="Wingdings" panose="05000000000000000000" pitchFamily="2" charset="2"/>
              <a:buChar char="Ø"/>
            </a:pPr>
            <a:r>
              <a:rPr lang="zh-CN" altLang="en-US" b="1" dirty="0">
                <a:solidFill>
                  <a:srgbClr val="000000"/>
                </a:solidFill>
                <a:latin typeface="Times New Roman" panose="02020603050405020304" pitchFamily="18" charset="0"/>
                <a:ea typeface="宋体" panose="02010600030101010101" pitchFamily="2" charset="-122"/>
              </a:rPr>
              <a:t>如</a:t>
            </a:r>
            <a:r>
              <a:rPr lang="en-US" altLang="zh-CN" b="1" dirty="0">
                <a:solidFill>
                  <a:srgbClr val="000000"/>
                </a:solidFill>
                <a:latin typeface="Times New Roman" panose="02020603050405020304" pitchFamily="18" charset="0"/>
                <a:ea typeface="宋体" panose="02010600030101010101" pitchFamily="2" charset="-122"/>
              </a:rPr>
              <a:t>PN</a:t>
            </a:r>
            <a:r>
              <a:rPr lang="zh-CN" altLang="en-US" b="1" dirty="0">
                <a:solidFill>
                  <a:srgbClr val="000000"/>
                </a:solidFill>
                <a:latin typeface="Times New Roman" panose="02020603050405020304" pitchFamily="18" charset="0"/>
                <a:ea typeface="宋体" panose="02010600030101010101" pitchFamily="2" charset="-122"/>
              </a:rPr>
              <a:t>结两侧均为重掺杂，有些载流子可能穿透（代替越过）势垒而产生额外的电流，这种机制称为量子力学的隧道效应。</a:t>
            </a:r>
          </a:p>
        </p:txBody>
      </p:sp>
      <p:sp>
        <p:nvSpPr>
          <p:cNvPr id="7" name="Rectangle 16">
            <a:extLst>
              <a:ext uri="{FF2B5EF4-FFF2-40B4-BE49-F238E27FC236}">
                <a16:creationId xmlns:a16="http://schemas.microsoft.com/office/drawing/2014/main" id="{A220D789-D137-4CC6-AE0E-1A9568632DA3}"/>
              </a:ext>
            </a:extLst>
          </p:cNvPr>
          <p:cNvSpPr>
            <a:spLocks noChangeArrowheads="1"/>
          </p:cNvSpPr>
          <p:nvPr/>
        </p:nvSpPr>
        <p:spPr bwMode="auto">
          <a:xfrm>
            <a:off x="-137864" y="2753405"/>
            <a:ext cx="184731" cy="40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endParaRPr lang="zh-CN" altLang="en-US">
              <a:solidFill>
                <a:schemeClr val="tx1"/>
              </a:solidFill>
            </a:endParaRPr>
          </a:p>
        </p:txBody>
      </p:sp>
      <p:sp>
        <p:nvSpPr>
          <p:cNvPr id="8" name="Rectangle 4">
            <a:extLst>
              <a:ext uri="{FF2B5EF4-FFF2-40B4-BE49-F238E27FC236}">
                <a16:creationId xmlns:a16="http://schemas.microsoft.com/office/drawing/2014/main" id="{F9D68EB1-87D3-4E13-B892-A33122D0012B}"/>
              </a:ext>
            </a:extLst>
          </p:cNvPr>
          <p:cNvSpPr>
            <a:spLocks noChangeArrowheads="1"/>
          </p:cNvSpPr>
          <p:nvPr/>
        </p:nvSpPr>
        <p:spPr bwMode="auto">
          <a:xfrm>
            <a:off x="158999" y="3178820"/>
            <a:ext cx="83058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marL="628650" indent="-62865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just" eaLnBrk="1" latinLnBrk="1" hangingPunct="1">
              <a:lnSpc>
                <a:spcPct val="150000"/>
              </a:lnSpc>
              <a:spcBef>
                <a:spcPct val="0"/>
              </a:spcBef>
              <a:buClrTx/>
              <a:buFontTx/>
              <a:buNone/>
            </a:pPr>
            <a:r>
              <a:rPr kumimoji="1" lang="ko-KR" altLang="en-US" dirty="0">
                <a:solidFill>
                  <a:srgbClr val="0000FF"/>
                </a:solidFill>
              </a:rPr>
              <a:t>（</a:t>
            </a:r>
            <a:r>
              <a:rPr kumimoji="1" lang="en-US" altLang="ko-KR" dirty="0">
                <a:solidFill>
                  <a:srgbClr val="0000FF"/>
                </a:solidFill>
              </a:rPr>
              <a:t>1</a:t>
            </a:r>
            <a:r>
              <a:rPr kumimoji="1" lang="ko-KR" altLang="en-US" dirty="0">
                <a:solidFill>
                  <a:srgbClr val="0000FF"/>
                </a:solidFill>
              </a:rPr>
              <a:t>）费米能级位于导带或价带的内部；</a:t>
            </a:r>
          </a:p>
          <a:p>
            <a:pPr algn="just">
              <a:lnSpc>
                <a:spcPct val="150000"/>
              </a:lnSpc>
              <a:spcBef>
                <a:spcPct val="0"/>
              </a:spcBef>
              <a:buClrTx/>
              <a:buFontTx/>
              <a:buNone/>
            </a:pPr>
            <a:r>
              <a:rPr kumimoji="1" lang="ko-KR" altLang="en-US" dirty="0">
                <a:solidFill>
                  <a:srgbClr val="0000FF"/>
                </a:solidFill>
              </a:rPr>
              <a:t>（</a:t>
            </a:r>
            <a:r>
              <a:rPr kumimoji="1" lang="en-US" altLang="ko-KR" dirty="0">
                <a:solidFill>
                  <a:srgbClr val="0000FF"/>
                </a:solidFill>
              </a:rPr>
              <a:t>2</a:t>
            </a:r>
            <a:r>
              <a:rPr kumimoji="1" lang="ko-KR" altLang="en-US" dirty="0">
                <a:solidFill>
                  <a:srgbClr val="0000FF"/>
                </a:solidFill>
              </a:rPr>
              <a:t>）空间电荷层的宽度很窄，</a:t>
            </a:r>
            <a:r>
              <a:rPr kumimoji="1" lang="zh-CN" altLang="en-US" dirty="0">
                <a:solidFill>
                  <a:srgbClr val="0000FF"/>
                </a:solidFill>
              </a:rPr>
              <a:t>势垒十分薄，</a:t>
            </a:r>
            <a:r>
              <a:rPr kumimoji="1" lang="ko-KR" altLang="en-US" dirty="0">
                <a:solidFill>
                  <a:srgbClr val="0000FF"/>
                </a:solidFill>
              </a:rPr>
              <a:t>因而有高的隧道穿透几率；</a:t>
            </a:r>
          </a:p>
          <a:p>
            <a:pPr algn="just">
              <a:lnSpc>
                <a:spcPct val="150000"/>
              </a:lnSpc>
              <a:spcBef>
                <a:spcPct val="0"/>
              </a:spcBef>
              <a:buClrTx/>
              <a:buFontTx/>
              <a:buNone/>
            </a:pPr>
            <a:r>
              <a:rPr kumimoji="1" lang="ko-KR" altLang="en-US" dirty="0">
                <a:solidFill>
                  <a:srgbClr val="0000FF"/>
                </a:solidFill>
              </a:rPr>
              <a:t>（</a:t>
            </a:r>
            <a:r>
              <a:rPr kumimoji="1" lang="en-US" altLang="ko-KR" dirty="0">
                <a:solidFill>
                  <a:srgbClr val="0000FF"/>
                </a:solidFill>
              </a:rPr>
              <a:t>3</a:t>
            </a:r>
            <a:r>
              <a:rPr kumimoji="1" lang="ko-KR" altLang="en-US" dirty="0">
                <a:solidFill>
                  <a:srgbClr val="0000FF"/>
                </a:solidFill>
              </a:rPr>
              <a:t>）</a:t>
            </a:r>
            <a:r>
              <a:rPr kumimoji="1" lang="en-US" altLang="zh-CN" dirty="0">
                <a:solidFill>
                  <a:srgbClr val="0000FF"/>
                </a:solidFill>
              </a:rPr>
              <a:t>n</a:t>
            </a:r>
            <a:r>
              <a:rPr kumimoji="1" lang="zh-CN" altLang="en-US" dirty="0">
                <a:solidFill>
                  <a:srgbClr val="0000FF"/>
                </a:solidFill>
              </a:rPr>
              <a:t>区的导带底部与</a:t>
            </a:r>
            <a:r>
              <a:rPr kumimoji="1" lang="en-US" altLang="zh-CN" dirty="0">
                <a:solidFill>
                  <a:srgbClr val="0000FF"/>
                </a:solidFill>
              </a:rPr>
              <a:t>p</a:t>
            </a:r>
            <a:r>
              <a:rPr kumimoji="1" lang="zh-CN" altLang="en-US" dirty="0">
                <a:solidFill>
                  <a:srgbClr val="0000FF"/>
                </a:solidFill>
              </a:rPr>
              <a:t>区的价带顶部在能量上交叠，</a:t>
            </a:r>
            <a:r>
              <a:rPr kumimoji="1" lang="ko-KR" altLang="en-US" dirty="0">
                <a:solidFill>
                  <a:srgbClr val="0000FF"/>
                </a:solidFill>
              </a:rPr>
              <a:t>在相同的能量水平上在一侧的能带中有电子而在另一侧的能带中 有空的状态。</a:t>
            </a:r>
          </a:p>
        </p:txBody>
      </p:sp>
      <p:sp>
        <p:nvSpPr>
          <p:cNvPr id="9" name="矩形 8">
            <a:extLst>
              <a:ext uri="{FF2B5EF4-FFF2-40B4-BE49-F238E27FC236}">
                <a16:creationId xmlns:a16="http://schemas.microsoft.com/office/drawing/2014/main" id="{DA8324CC-70B4-4B60-BFD7-09B519D2AAC3}"/>
              </a:ext>
            </a:extLst>
          </p:cNvPr>
          <p:cNvSpPr>
            <a:spLocks noChangeArrowheads="1"/>
          </p:cNvSpPr>
          <p:nvPr/>
        </p:nvSpPr>
        <p:spPr bwMode="auto">
          <a:xfrm>
            <a:off x="311399" y="5480695"/>
            <a:ext cx="8001000" cy="9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algn="just">
              <a:lnSpc>
                <a:spcPct val="150000"/>
              </a:lnSpc>
              <a:spcBef>
                <a:spcPct val="0"/>
              </a:spcBef>
              <a:buClrTx/>
              <a:buFont typeface="Wingdings" panose="05000000000000000000" pitchFamily="2" charset="2"/>
              <a:buChar char="Ø"/>
            </a:pPr>
            <a:r>
              <a:rPr kumimoji="1" lang="ko-KR" altLang="en-US"/>
              <a:t>结的两边均为</a:t>
            </a:r>
            <a:r>
              <a:rPr kumimoji="1" lang="ko-KR" altLang="en-US">
                <a:solidFill>
                  <a:srgbClr val="FF3300"/>
                </a:solidFill>
              </a:rPr>
              <a:t>重掺杂</a:t>
            </a:r>
            <a:r>
              <a:rPr kumimoji="1" lang="ko-KR" altLang="en-US"/>
              <a:t>，从而成为简并半导体时，（</a:t>
            </a:r>
            <a:r>
              <a:rPr kumimoji="1" lang="en-US" altLang="ko-KR"/>
              <a:t>1</a:t>
            </a:r>
            <a:r>
              <a:rPr kumimoji="1" lang="ko-KR" altLang="en-US"/>
              <a:t>）、（</a:t>
            </a:r>
            <a:r>
              <a:rPr kumimoji="1" lang="en-US" altLang="ko-KR"/>
              <a:t>2</a:t>
            </a:r>
            <a:r>
              <a:rPr kumimoji="1" lang="ko-KR" altLang="en-US"/>
              <a:t>）条件满足</a:t>
            </a:r>
            <a:r>
              <a:rPr kumimoji="1" lang="zh-CN" altLang="en-US"/>
              <a:t>；</a:t>
            </a:r>
            <a:r>
              <a:rPr kumimoji="1" lang="zh-CN" altLang="en-US">
                <a:solidFill>
                  <a:srgbClr val="FF3300"/>
                </a:solidFill>
              </a:rPr>
              <a:t>外加偏压</a:t>
            </a:r>
            <a:r>
              <a:rPr kumimoji="1" lang="zh-CN" altLang="en-US"/>
              <a:t>可使条件（</a:t>
            </a:r>
            <a:r>
              <a:rPr kumimoji="1" lang="en-US" altLang="zh-CN"/>
              <a:t>3</a:t>
            </a:r>
            <a:r>
              <a:rPr kumimoji="1" lang="zh-CN" altLang="en-US"/>
              <a:t>）满足。</a:t>
            </a:r>
            <a:r>
              <a:rPr kumimoji="1" lang="ko-KR" altLang="en-US"/>
              <a:t> </a:t>
            </a:r>
          </a:p>
        </p:txBody>
      </p:sp>
      <p:sp>
        <p:nvSpPr>
          <p:cNvPr id="10" name="矩形 9">
            <a:extLst>
              <a:ext uri="{FF2B5EF4-FFF2-40B4-BE49-F238E27FC236}">
                <a16:creationId xmlns:a16="http://schemas.microsoft.com/office/drawing/2014/main" id="{ADE8FAFC-5CE4-4AD4-BD7A-49F9F0A3ABC6}"/>
              </a:ext>
            </a:extLst>
          </p:cNvPr>
          <p:cNvSpPr>
            <a:spLocks noChangeArrowheads="1"/>
          </p:cNvSpPr>
          <p:nvPr/>
        </p:nvSpPr>
        <p:spPr bwMode="auto">
          <a:xfrm>
            <a:off x="395536" y="2708920"/>
            <a:ext cx="3916363" cy="49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5600" indent="-355600">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 typeface="Wingdings" panose="05000000000000000000" pitchFamily="2" charset="2"/>
              <a:buChar char="Ø"/>
            </a:pPr>
            <a:r>
              <a:rPr lang="zh-CN" altLang="en-US">
                <a:solidFill>
                  <a:srgbClr val="FF3300"/>
                </a:solidFill>
              </a:rPr>
              <a:t>产生隧道电流的条件</a:t>
            </a:r>
            <a:r>
              <a:rPr lang="zh-CN" altLang="en-US"/>
              <a:t>：</a:t>
            </a:r>
            <a:endParaRPr lang="en-US" altLang="zh-CN"/>
          </a:p>
        </p:txBody>
      </p:sp>
    </p:spTree>
    <p:extLst>
      <p:ext uri="{BB962C8B-B14F-4D97-AF65-F5344CB8AC3E}">
        <p14:creationId xmlns:p14="http://schemas.microsoft.com/office/powerpoint/2010/main" val="3653226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16">
            <a:extLst>
              <a:ext uri="{FF2B5EF4-FFF2-40B4-BE49-F238E27FC236}">
                <a16:creationId xmlns:a16="http://schemas.microsoft.com/office/drawing/2014/main" id="{5B322A2C-FC5E-426B-9F13-7B07084722C7}"/>
              </a:ext>
            </a:extLst>
          </p:cNvPr>
          <p:cNvSpPr>
            <a:spLocks noChangeArrowheads="1"/>
          </p:cNvSpPr>
          <p:nvPr/>
        </p:nvSpPr>
        <p:spPr bwMode="auto">
          <a:xfrm>
            <a:off x="0" y="3088631"/>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endParaRPr lang="zh-CN" altLang="en-US">
              <a:latin typeface="Times New Roman" panose="02020603050405020304" pitchFamily="18" charset="0"/>
            </a:endParaRPr>
          </a:p>
        </p:txBody>
      </p:sp>
      <p:sp>
        <p:nvSpPr>
          <p:cNvPr id="148483" name="Rectangle 17">
            <a:extLst>
              <a:ext uri="{FF2B5EF4-FFF2-40B4-BE49-F238E27FC236}">
                <a16:creationId xmlns:a16="http://schemas.microsoft.com/office/drawing/2014/main" id="{FB215157-760D-4862-84CD-D40CC7ADEE75}"/>
              </a:ext>
            </a:extLst>
          </p:cNvPr>
          <p:cNvSpPr>
            <a:spLocks noChangeArrowheads="1"/>
          </p:cNvSpPr>
          <p:nvPr/>
        </p:nvSpPr>
        <p:spPr bwMode="auto">
          <a:xfrm>
            <a:off x="0" y="3088631"/>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endParaRPr lang="zh-CN" altLang="en-US">
              <a:latin typeface="Times New Roman" panose="02020603050405020304" pitchFamily="18" charset="0"/>
            </a:endParaRPr>
          </a:p>
        </p:txBody>
      </p:sp>
      <p:sp>
        <p:nvSpPr>
          <p:cNvPr id="148484" name="Rectangle 18">
            <a:extLst>
              <a:ext uri="{FF2B5EF4-FFF2-40B4-BE49-F238E27FC236}">
                <a16:creationId xmlns:a16="http://schemas.microsoft.com/office/drawing/2014/main" id="{5CBD10D5-0FFB-4F41-9F21-8A955E941A14}"/>
              </a:ext>
            </a:extLst>
          </p:cNvPr>
          <p:cNvSpPr>
            <a:spLocks noChangeArrowheads="1"/>
          </p:cNvSpPr>
          <p:nvPr/>
        </p:nvSpPr>
        <p:spPr bwMode="auto">
          <a:xfrm>
            <a:off x="0" y="3126731"/>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endParaRPr lang="zh-CN" altLang="en-US">
              <a:latin typeface="Times New Roman" panose="02020603050405020304" pitchFamily="18" charset="0"/>
            </a:endParaRPr>
          </a:p>
        </p:txBody>
      </p:sp>
      <p:sp>
        <p:nvSpPr>
          <p:cNvPr id="148485" name="Rectangle 19">
            <a:extLst>
              <a:ext uri="{FF2B5EF4-FFF2-40B4-BE49-F238E27FC236}">
                <a16:creationId xmlns:a16="http://schemas.microsoft.com/office/drawing/2014/main" id="{D6171DAE-F8E1-4FDB-A709-816C428A6127}"/>
              </a:ext>
            </a:extLst>
          </p:cNvPr>
          <p:cNvSpPr>
            <a:spLocks noChangeArrowheads="1"/>
          </p:cNvSpPr>
          <p:nvPr/>
        </p:nvSpPr>
        <p:spPr bwMode="auto">
          <a:xfrm>
            <a:off x="0" y="2988618"/>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endParaRPr lang="zh-CN" altLang="en-US">
              <a:latin typeface="Times New Roman" panose="02020603050405020304" pitchFamily="18" charset="0"/>
            </a:endParaRPr>
          </a:p>
        </p:txBody>
      </p:sp>
      <p:sp>
        <p:nvSpPr>
          <p:cNvPr id="148487" name="Rectangle 21">
            <a:extLst>
              <a:ext uri="{FF2B5EF4-FFF2-40B4-BE49-F238E27FC236}">
                <a16:creationId xmlns:a16="http://schemas.microsoft.com/office/drawing/2014/main" id="{B23F584E-96B3-4A41-9281-383F980BC73B}"/>
              </a:ext>
            </a:extLst>
          </p:cNvPr>
          <p:cNvSpPr>
            <a:spLocks noChangeArrowheads="1"/>
          </p:cNvSpPr>
          <p:nvPr/>
        </p:nvSpPr>
        <p:spPr bwMode="auto">
          <a:xfrm>
            <a:off x="539750" y="891649"/>
            <a:ext cx="835273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2000" b="1" dirty="0">
                <a:latin typeface="Times New Roman" panose="02020603050405020304" pitchFamily="18" charset="0"/>
              </a:rPr>
              <a:t>        隧道二极管是因为用含有大量杂质的本征半导体制作</a:t>
            </a:r>
            <a:r>
              <a:rPr kumimoji="0" lang="en-US" altLang="zh-CN" sz="2000" b="1" dirty="0">
                <a:latin typeface="Times New Roman" panose="02020603050405020304" pitchFamily="18" charset="0"/>
              </a:rPr>
              <a:t>PN</a:t>
            </a:r>
            <a:r>
              <a:rPr kumimoji="0" lang="zh-CN" altLang="en-US" sz="2000" b="1" dirty="0">
                <a:latin typeface="Times New Roman" panose="02020603050405020304" pitchFamily="18" charset="0"/>
              </a:rPr>
              <a:t>结时，会产生极薄的耗尽层，若加正向偏压，则在达到扩散电位之前，由于隧道效应而发生电流流动。若接近扩散电位，则为通常的二极管特性，所以如图所示，在正向电压低的范围，显示出负的电阻。</a:t>
            </a:r>
          </a:p>
        </p:txBody>
      </p:sp>
      <p:pic>
        <p:nvPicPr>
          <p:cNvPr id="148488" name="Picture 22" descr="1-26">
            <a:extLst>
              <a:ext uri="{FF2B5EF4-FFF2-40B4-BE49-F238E27FC236}">
                <a16:creationId xmlns:a16="http://schemas.microsoft.com/office/drawing/2014/main" id="{4BFA3372-65EC-439C-9D93-D8F13D19A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2996952"/>
            <a:ext cx="324167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489" name="Rectangle 23">
            <a:extLst>
              <a:ext uri="{FF2B5EF4-FFF2-40B4-BE49-F238E27FC236}">
                <a16:creationId xmlns:a16="http://schemas.microsoft.com/office/drawing/2014/main" id="{4CDA44FD-CA63-48B6-83C6-540885059192}"/>
              </a:ext>
            </a:extLst>
          </p:cNvPr>
          <p:cNvSpPr>
            <a:spLocks noChangeArrowheads="1"/>
          </p:cNvSpPr>
          <p:nvPr/>
        </p:nvSpPr>
        <p:spPr bwMode="auto">
          <a:xfrm>
            <a:off x="5149056" y="5422433"/>
            <a:ext cx="294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ctr" eaLnBrk="1" latinLnBrk="0" hangingPunct="1"/>
            <a:r>
              <a:rPr kumimoji="0" lang="zh-CN" altLang="en-US" sz="1800" b="1" dirty="0">
                <a:solidFill>
                  <a:srgbClr val="FF0000"/>
                </a:solidFill>
                <a:latin typeface="Times New Roman" panose="02020603050405020304" pitchFamily="18" charset="0"/>
              </a:rPr>
              <a:t>隧道二极管的电压电流特性</a:t>
            </a:r>
          </a:p>
        </p:txBody>
      </p:sp>
      <p:sp>
        <p:nvSpPr>
          <p:cNvPr id="148490" name="Rectangle 24">
            <a:extLst>
              <a:ext uri="{FF2B5EF4-FFF2-40B4-BE49-F238E27FC236}">
                <a16:creationId xmlns:a16="http://schemas.microsoft.com/office/drawing/2014/main" id="{A86AF0AE-D0CF-4D8C-B138-261BE35D90D3}"/>
              </a:ext>
            </a:extLst>
          </p:cNvPr>
          <p:cNvSpPr>
            <a:spLocks noChangeArrowheads="1"/>
          </p:cNvSpPr>
          <p:nvPr/>
        </p:nvSpPr>
        <p:spPr bwMode="auto">
          <a:xfrm>
            <a:off x="539750" y="3749725"/>
            <a:ext cx="410527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latinLnBrk="0" hangingPunct="1"/>
            <a:r>
              <a:rPr kumimoji="0" lang="zh-CN" altLang="en-US" sz="1600" b="1" dirty="0">
                <a:latin typeface="Times New Roman" panose="02020603050405020304" pitchFamily="18" charset="0"/>
              </a:rPr>
              <a:t>          </a:t>
            </a:r>
            <a:r>
              <a:rPr kumimoji="0" lang="zh-CN" altLang="en-US" sz="2000" b="1" dirty="0">
                <a:latin typeface="Times New Roman" panose="02020603050405020304" pitchFamily="18" charset="0"/>
              </a:rPr>
              <a:t>隧道二极管的优点是开关特性好，速度快、工作频率高；缺点是热稳定性较差。一般应用于某些开关电路或高频振荡等电路中。</a:t>
            </a:r>
          </a:p>
        </p:txBody>
      </p:sp>
    </p:spTree>
    <p:extLst>
      <p:ext uri="{BB962C8B-B14F-4D97-AF65-F5344CB8AC3E}">
        <p14:creationId xmlns:p14="http://schemas.microsoft.com/office/powerpoint/2010/main" val="723128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3">
            <a:extLst>
              <a:ext uri="{FF2B5EF4-FFF2-40B4-BE49-F238E27FC236}">
                <a16:creationId xmlns:a16="http://schemas.microsoft.com/office/drawing/2014/main" id="{7A9BA1D9-1547-4101-8BE0-C15142C5DC2B}"/>
              </a:ext>
            </a:extLst>
          </p:cNvPr>
          <p:cNvSpPr>
            <a:spLocks noGrp="1" noChangeArrowheads="1"/>
          </p:cNvSpPr>
          <p:nvPr>
            <p:ph type="body" idx="1"/>
          </p:nvPr>
        </p:nvSpPr>
        <p:spPr bwMode="auto">
          <a:xfrm>
            <a:off x="457200" y="1600200"/>
            <a:ext cx="4670425" cy="463711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nSpc>
                <a:spcPct val="120000"/>
              </a:lnSpc>
              <a:buFontTx/>
              <a:buNone/>
            </a:pP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隧道结未加电压时的能带图如右图所示。这时</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区价带和</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区导带虽然具有相 同能量的量子态，但是</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区和</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区的费米能级相等，在结的两边，费米能级以下没有空量子态，费米能级以上的量子态没有电子占据， 所以，隧道电流为零，对应于特性曲线上的</a:t>
            </a:r>
            <a:r>
              <a:rPr lang="en-US" altLang="zh-CN" sz="2000" dirty="0">
                <a:latin typeface="Times New Roman" panose="02020603050405020304" pitchFamily="18" charset="0"/>
                <a:ea typeface="宋体" panose="02010600030101010101" pitchFamily="2" charset="-122"/>
              </a:rPr>
              <a:t>o</a:t>
            </a:r>
            <a:r>
              <a:rPr lang="zh-CN" altLang="en-US" sz="2000" dirty="0">
                <a:latin typeface="Times New Roman" panose="02020603050405020304" pitchFamily="18" charset="0"/>
                <a:ea typeface="宋体" panose="02010600030101010101" pitchFamily="2" charset="-122"/>
              </a:rPr>
              <a:t>点 </a:t>
            </a:r>
            <a:br>
              <a:rPr lang="zh-CN" altLang="en-US" sz="2000" dirty="0">
                <a:latin typeface="Times New Roman" panose="02020603050405020304" pitchFamily="18" charset="0"/>
                <a:ea typeface="宋体" panose="02010600030101010101" pitchFamily="2" charset="-122"/>
              </a:rPr>
            </a:br>
            <a:br>
              <a:rPr lang="zh-CN" altLang="en-US" sz="2000" dirty="0">
                <a:latin typeface="Times New Roman" panose="02020603050405020304" pitchFamily="18" charset="0"/>
                <a:ea typeface="宋体" panose="02010600030101010101" pitchFamily="2" charset="-122"/>
              </a:rPr>
            </a:br>
            <a:endParaRPr lang="zh-CN" altLang="en-US" sz="2000" dirty="0">
              <a:latin typeface="Times New Roman" panose="02020603050405020304" pitchFamily="18" charset="0"/>
              <a:ea typeface="宋体" panose="02010600030101010101" pitchFamily="2" charset="-122"/>
            </a:endParaRPr>
          </a:p>
        </p:txBody>
      </p:sp>
      <p:pic>
        <p:nvPicPr>
          <p:cNvPr id="151557" name="Picture 5">
            <a:extLst>
              <a:ext uri="{FF2B5EF4-FFF2-40B4-BE49-F238E27FC236}">
                <a16:creationId xmlns:a16="http://schemas.microsoft.com/office/drawing/2014/main" id="{28548E1B-BF52-4188-8B8A-E14A8F8469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6292" y="3464794"/>
            <a:ext cx="3387429" cy="29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a:extLst>
              <a:ext uri="{FF2B5EF4-FFF2-40B4-BE49-F238E27FC236}">
                <a16:creationId xmlns:a16="http://schemas.microsoft.com/office/drawing/2014/main" id="{C09980C4-AE92-4F8E-862F-4E9912C43A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3478"/>
          <a:stretch>
            <a:fillRect/>
          </a:stretch>
        </p:blipFill>
        <p:spPr bwMode="auto">
          <a:xfrm>
            <a:off x="5004048" y="1268760"/>
            <a:ext cx="35814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5">
            <a:extLst>
              <a:ext uri="{FF2B5EF4-FFF2-40B4-BE49-F238E27FC236}">
                <a16:creationId xmlns:a16="http://schemas.microsoft.com/office/drawing/2014/main" id="{C7EB3F24-2C65-459B-977F-87A16D0CE5C7}"/>
              </a:ext>
            </a:extLst>
          </p:cNvPr>
          <p:cNvSpPr txBox="1">
            <a:spLocks noChangeArrowheads="1"/>
          </p:cNvSpPr>
          <p:nvPr/>
        </p:nvSpPr>
        <p:spPr bwMode="auto">
          <a:xfrm>
            <a:off x="6223248" y="1192560"/>
            <a:ext cx="370614" cy="40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r>
              <a:rPr lang="en-US" altLang="zh-CN" dirty="0">
                <a:solidFill>
                  <a:schemeClr val="tx1"/>
                </a:solidFill>
              </a:rPr>
              <a:t>N</a:t>
            </a:r>
            <a:endParaRPr lang="zh-CN" altLang="en-US" dirty="0">
              <a:solidFill>
                <a:schemeClr val="tx1"/>
              </a:solidFill>
            </a:endParaRPr>
          </a:p>
        </p:txBody>
      </p:sp>
      <p:sp>
        <p:nvSpPr>
          <p:cNvPr id="10" name="TextBox 6">
            <a:extLst>
              <a:ext uri="{FF2B5EF4-FFF2-40B4-BE49-F238E27FC236}">
                <a16:creationId xmlns:a16="http://schemas.microsoft.com/office/drawing/2014/main" id="{27B5FF0C-9C42-4F2B-AC10-0520C8FA6FEB}"/>
              </a:ext>
            </a:extLst>
          </p:cNvPr>
          <p:cNvSpPr txBox="1">
            <a:spLocks noChangeArrowheads="1"/>
          </p:cNvSpPr>
          <p:nvPr/>
        </p:nvSpPr>
        <p:spPr bwMode="auto">
          <a:xfrm>
            <a:off x="7518648" y="1192560"/>
            <a:ext cx="341760" cy="40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00"/>
              </a:buClr>
              <a:buFont typeface="Verdana" panose="020B0604030504040204" pitchFamily="34" charset="0"/>
              <a:buChar char="−"/>
              <a:defRPr sz="2000" b="1">
                <a:solidFill>
                  <a:srgbClr val="000000"/>
                </a:solidFill>
                <a:latin typeface="Times New Roman" panose="02020603050405020304" pitchFamily="18" charset="0"/>
                <a:ea typeface="宋体" panose="02010600030101010101" pitchFamily="2" charset="-122"/>
              </a:defRPr>
            </a:lvl1pPr>
            <a:lvl2pPr marL="742950" indent="-285750">
              <a:spcBef>
                <a:spcPct val="20000"/>
              </a:spcBef>
              <a:buClr>
                <a:schemeClr val="accent1"/>
              </a:buClr>
              <a:buFont typeface="Wingdings 2" panose="05020102010507070707" pitchFamily="18" charset="2"/>
              <a:buChar char="¬"/>
              <a:defRPr sz="22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Char char="•"/>
              <a:defRPr sz="2000" b="1">
                <a:solidFill>
                  <a:srgbClr val="000000"/>
                </a:solidFill>
                <a:latin typeface="Times New Roman" panose="02020603050405020304" pitchFamily="18" charset="0"/>
                <a:ea typeface="宋体" panose="02010600030101010101" pitchFamily="2" charset="-122"/>
              </a:defRPr>
            </a:lvl3pPr>
            <a:lvl4pPr marL="16002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4pPr>
            <a:lvl5pPr marL="2057400" indent="-228600">
              <a:spcBef>
                <a:spcPct val="20000"/>
              </a:spcBef>
              <a:buChar char="»"/>
              <a:defRPr sz="2000" b="1">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ClrTx/>
              <a:buFontTx/>
              <a:buNone/>
            </a:pPr>
            <a:r>
              <a:rPr lang="en-US" altLang="zh-CN">
                <a:solidFill>
                  <a:schemeClr val="tx1"/>
                </a:solidFill>
              </a:rPr>
              <a:t>P</a:t>
            </a:r>
            <a:endParaRPr lang="zh-CN" altLang="en-US">
              <a:solidFill>
                <a:schemeClr val="tx1"/>
              </a:solidFill>
            </a:endParaRPr>
          </a:p>
        </p:txBody>
      </p:sp>
    </p:spTree>
    <p:extLst>
      <p:ext uri="{BB962C8B-B14F-4D97-AF65-F5344CB8AC3E}">
        <p14:creationId xmlns:p14="http://schemas.microsoft.com/office/powerpoint/2010/main" val="3543971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Rectangle 3">
            <a:extLst>
              <a:ext uri="{FF2B5EF4-FFF2-40B4-BE49-F238E27FC236}">
                <a16:creationId xmlns:a16="http://schemas.microsoft.com/office/drawing/2014/main" id="{206290DC-094B-4C9C-94FE-03E6FD53A7C7}"/>
              </a:ext>
            </a:extLst>
          </p:cNvPr>
          <p:cNvSpPr>
            <a:spLocks noGrp="1" noChangeArrowheads="1"/>
          </p:cNvSpPr>
          <p:nvPr>
            <p:ph type="body" idx="1"/>
          </p:nvPr>
        </p:nvSpPr>
        <p:spPr bwMode="auto">
          <a:xfrm>
            <a:off x="366525" y="1341438"/>
            <a:ext cx="4322763"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nSpc>
                <a:spcPct val="110000"/>
              </a:lnSpc>
              <a:buFontTx/>
              <a:buNone/>
            </a:pP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加一很小的正向电压</a:t>
            </a:r>
            <a:r>
              <a:rPr lang="en-US" altLang="zh-CN" sz="2000" dirty="0">
                <a:latin typeface="Times New Roman" panose="02020603050405020304" pitchFamily="18" charset="0"/>
                <a:ea typeface="宋体" panose="02010600030101010101" pitchFamily="2" charset="-122"/>
              </a:rPr>
              <a:t>v</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区能带相对于</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区将升高</a:t>
            </a:r>
            <a:r>
              <a:rPr lang="en-US" altLang="zh-CN" sz="2000" dirty="0">
                <a:latin typeface="Times New Roman" panose="02020603050405020304" pitchFamily="18" charset="0"/>
                <a:ea typeface="宋体" panose="02010600030101010101" pitchFamily="2" charset="-122"/>
              </a:rPr>
              <a:t>qv</a:t>
            </a:r>
            <a:r>
              <a:rPr lang="zh-CN" altLang="en-US" sz="2000" dirty="0">
                <a:latin typeface="Times New Roman" panose="02020603050405020304" pitchFamily="18" charset="0"/>
                <a:ea typeface="宋体" panose="02010600030101010101" pitchFamily="2" charset="-122"/>
              </a:rPr>
              <a:t>，如右图所示，这时结两边能量相等的量子态中，</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区价带的费米能级以上有空量子态，而</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区导带的费米能级以下有量子态被电子占据，因此</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区导带中的电子可能穿过隧道到</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区价带中，产生从</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区向</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区的正向隧道电流，这时对应于特性曲线上的点</a:t>
            </a:r>
            <a:r>
              <a:rPr lang="en-US" altLang="zh-CN" sz="2000" dirty="0">
                <a:latin typeface="Times New Roman" panose="02020603050405020304" pitchFamily="18" charset="0"/>
                <a:ea typeface="宋体" panose="02010600030101010101" pitchFamily="2" charset="-122"/>
              </a:rPr>
              <a:t>1</a:t>
            </a:r>
            <a:br>
              <a:rPr lang="en-US" altLang="zh-CN" sz="2000" dirty="0">
                <a:latin typeface="Times New Roman" panose="02020603050405020304" pitchFamily="18" charset="0"/>
                <a:ea typeface="宋体" panose="02010600030101010101" pitchFamily="2" charset="-122"/>
              </a:rPr>
            </a:br>
            <a:endParaRPr lang="en-US" altLang="zh-CN" sz="2000" dirty="0">
              <a:latin typeface="Times New Roman" panose="02020603050405020304" pitchFamily="18" charset="0"/>
              <a:ea typeface="宋体" panose="02010600030101010101" pitchFamily="2" charset="-122"/>
            </a:endParaRPr>
          </a:p>
        </p:txBody>
      </p:sp>
      <p:pic>
        <p:nvPicPr>
          <p:cNvPr id="152581" name="Picture 5">
            <a:extLst>
              <a:ext uri="{FF2B5EF4-FFF2-40B4-BE49-F238E27FC236}">
                <a16:creationId xmlns:a16="http://schemas.microsoft.com/office/drawing/2014/main" id="{FB3DB588-1B9F-421E-A56B-1A5318141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3644900"/>
            <a:ext cx="3024187" cy="2728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2583" name="Group 7">
            <a:extLst>
              <a:ext uri="{FF2B5EF4-FFF2-40B4-BE49-F238E27FC236}">
                <a16:creationId xmlns:a16="http://schemas.microsoft.com/office/drawing/2014/main" id="{9A86B15F-C99B-4B33-882F-CD9820011FDC}"/>
              </a:ext>
            </a:extLst>
          </p:cNvPr>
          <p:cNvGrpSpPr>
            <a:grpSpLocks/>
          </p:cNvGrpSpPr>
          <p:nvPr/>
        </p:nvGrpSpPr>
        <p:grpSpPr bwMode="auto">
          <a:xfrm>
            <a:off x="4716463" y="1341438"/>
            <a:ext cx="4175125" cy="2409825"/>
            <a:chOff x="1872" y="192"/>
            <a:chExt cx="4144" cy="2068"/>
          </a:xfrm>
        </p:grpSpPr>
        <p:grpSp>
          <p:nvGrpSpPr>
            <p:cNvPr id="152584" name="Group 8">
              <a:extLst>
                <a:ext uri="{FF2B5EF4-FFF2-40B4-BE49-F238E27FC236}">
                  <a16:creationId xmlns:a16="http://schemas.microsoft.com/office/drawing/2014/main" id="{F8BDA19C-F375-418C-9D49-4939FF5EB83A}"/>
                </a:ext>
              </a:extLst>
            </p:cNvPr>
            <p:cNvGrpSpPr>
              <a:grpSpLocks/>
            </p:cNvGrpSpPr>
            <p:nvPr/>
          </p:nvGrpSpPr>
          <p:grpSpPr bwMode="auto">
            <a:xfrm>
              <a:off x="1872" y="192"/>
              <a:ext cx="3216" cy="1718"/>
              <a:chOff x="2016" y="624"/>
              <a:chExt cx="3216" cy="1718"/>
            </a:xfrm>
          </p:grpSpPr>
          <p:graphicFrame>
            <p:nvGraphicFramePr>
              <p:cNvPr id="152585" name="Object 9">
                <a:extLst>
                  <a:ext uri="{FF2B5EF4-FFF2-40B4-BE49-F238E27FC236}">
                    <a16:creationId xmlns:a16="http://schemas.microsoft.com/office/drawing/2014/main" id="{CF9A076F-FD0C-42FF-B788-AA8DA81BA651}"/>
                  </a:ext>
                </a:extLst>
              </p:cNvPr>
              <p:cNvGraphicFramePr>
                <a:graphicFrameLocks noChangeAspect="1"/>
              </p:cNvGraphicFramePr>
              <p:nvPr/>
            </p:nvGraphicFramePr>
            <p:xfrm>
              <a:off x="2016" y="624"/>
              <a:ext cx="3216" cy="1718"/>
            </p:xfrm>
            <a:graphic>
              <a:graphicData uri="http://schemas.openxmlformats.org/presentationml/2006/ole">
                <mc:AlternateContent xmlns:mc="http://schemas.openxmlformats.org/markup-compatibility/2006">
                  <mc:Choice xmlns:v="urn:schemas-microsoft-com:vml" Requires="v">
                    <p:oleObj spid="_x0000_s131092" name="位图图像" r:id="rId4" imgW="4296375" imgH="2295238" progId="Paint.Picture">
                      <p:embed/>
                    </p:oleObj>
                  </mc:Choice>
                  <mc:Fallback>
                    <p:oleObj name="位图图像" r:id="rId4" imgW="4296375" imgH="2295238" progId="Paint.Picture">
                      <p:embed/>
                      <p:pic>
                        <p:nvPicPr>
                          <p:cNvPr id="152585" name="Object 9">
                            <a:extLst>
                              <a:ext uri="{FF2B5EF4-FFF2-40B4-BE49-F238E27FC236}">
                                <a16:creationId xmlns:a16="http://schemas.microsoft.com/office/drawing/2014/main" id="{CF9A076F-FD0C-42FF-B788-AA8DA81BA6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6" y="624"/>
                            <a:ext cx="3216" cy="1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2586" name="Rectangle 10">
                <a:extLst>
                  <a:ext uri="{FF2B5EF4-FFF2-40B4-BE49-F238E27FC236}">
                    <a16:creationId xmlns:a16="http://schemas.microsoft.com/office/drawing/2014/main" id="{C97E17D2-08EB-4B91-98AE-971BBCE41EB1}"/>
                  </a:ext>
                </a:extLst>
              </p:cNvPr>
              <p:cNvSpPr>
                <a:spLocks noChangeArrowheads="1"/>
              </p:cNvSpPr>
              <p:nvPr/>
            </p:nvSpPr>
            <p:spPr bwMode="auto">
              <a:xfrm>
                <a:off x="4320" y="1920"/>
                <a:ext cx="705"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2000">
                    <a:solidFill>
                      <a:srgbClr val="FF0000"/>
                    </a:solidFill>
                    <a:latin typeface="Times New Roman" panose="02020603050405020304" pitchFamily="18" charset="0"/>
                    <a:ea typeface="宋体" panose="02010600030101010101" pitchFamily="2" charset="-122"/>
                  </a:rPr>
                  <a:t>图</a:t>
                </a:r>
                <a:r>
                  <a:rPr lang="zh-CN" altLang="en-US">
                    <a:solidFill>
                      <a:srgbClr val="FF0000"/>
                    </a:solidFill>
                    <a:latin typeface="Times New Roman" panose="02020603050405020304" pitchFamily="18" charset="0"/>
                    <a:ea typeface="宋体" panose="02010600030101010101" pitchFamily="2" charset="-122"/>
                  </a:rPr>
                  <a:t>(</a:t>
                </a:r>
                <a:r>
                  <a:rPr lang="en-US" altLang="zh-CN" i="1">
                    <a:solidFill>
                      <a:srgbClr val="FF0000"/>
                    </a:solidFill>
                    <a:latin typeface="Times New Roman" panose="02020603050405020304" pitchFamily="18" charset="0"/>
                    <a:ea typeface="宋体" panose="02010600030101010101" pitchFamily="2" charset="-122"/>
                  </a:rPr>
                  <a:t>b</a:t>
                </a:r>
                <a:r>
                  <a:rPr lang="en-US" altLang="zh-CN">
                    <a:solidFill>
                      <a:srgbClr val="FF0000"/>
                    </a:solidFill>
                    <a:latin typeface="Times New Roman" panose="02020603050405020304" pitchFamily="18" charset="0"/>
                    <a:ea typeface="宋体" panose="02010600030101010101" pitchFamily="2" charset="-122"/>
                  </a:rPr>
                  <a:t>)</a:t>
                </a:r>
                <a:endParaRPr lang="zh-CN" altLang="en-US">
                  <a:solidFill>
                    <a:srgbClr val="FF0000"/>
                  </a:solidFill>
                  <a:latin typeface="Times New Roman" panose="02020603050405020304" pitchFamily="18" charset="0"/>
                  <a:ea typeface="宋体" panose="02010600030101010101" pitchFamily="2" charset="-122"/>
                </a:endParaRPr>
              </a:p>
            </p:txBody>
          </p:sp>
        </p:grpSp>
        <p:sp>
          <p:nvSpPr>
            <p:cNvPr id="152587" name="Rectangle 11">
              <a:extLst>
                <a:ext uri="{FF2B5EF4-FFF2-40B4-BE49-F238E27FC236}">
                  <a16:creationId xmlns:a16="http://schemas.microsoft.com/office/drawing/2014/main" id="{60EEBB1F-6747-4A72-BCC7-BBCB52C20FD2}"/>
                </a:ext>
              </a:extLst>
            </p:cNvPr>
            <p:cNvSpPr>
              <a:spLocks noChangeArrowheads="1"/>
            </p:cNvSpPr>
            <p:nvPr/>
          </p:nvSpPr>
          <p:spPr bwMode="auto">
            <a:xfrm>
              <a:off x="2304" y="1919"/>
              <a:ext cx="3712"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2000">
                  <a:solidFill>
                    <a:srgbClr val="0000FF"/>
                  </a:solidFill>
                  <a:latin typeface="Times New Roman" panose="02020603050405020304" pitchFamily="18" charset="0"/>
                  <a:ea typeface="宋体" panose="02010600030101010101" pitchFamily="2" charset="-122"/>
                </a:rPr>
                <a:t>各种偏压条件下隧道结的能带图</a:t>
              </a:r>
            </a:p>
          </p:txBody>
        </p:sp>
      </p:grpSp>
    </p:spTree>
    <p:extLst>
      <p:ext uri="{BB962C8B-B14F-4D97-AF65-F5344CB8AC3E}">
        <p14:creationId xmlns:p14="http://schemas.microsoft.com/office/powerpoint/2010/main" val="582676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3">
            <a:extLst>
              <a:ext uri="{FF2B5EF4-FFF2-40B4-BE49-F238E27FC236}">
                <a16:creationId xmlns:a16="http://schemas.microsoft.com/office/drawing/2014/main" id="{8236A452-70D9-4262-9C2E-B5D16803801B}"/>
              </a:ext>
            </a:extLst>
          </p:cNvPr>
          <p:cNvSpPr>
            <a:spLocks noGrp="1" noChangeArrowheads="1"/>
          </p:cNvSpPr>
          <p:nvPr>
            <p:ph type="body" idx="1"/>
          </p:nvPr>
        </p:nvSpPr>
        <p:spPr bwMode="auto">
          <a:xfrm>
            <a:off x="251520" y="836712"/>
            <a:ext cx="4896544" cy="340360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nSpc>
                <a:spcPct val="110000"/>
              </a:lnSpc>
              <a:buFontTx/>
              <a:buNone/>
            </a:pPr>
            <a:r>
              <a:rPr lang="en-US" altLang="zh-CN" sz="1800" dirty="0">
                <a:latin typeface="Times New Roman" panose="02020603050405020304" pitchFamily="18" charset="0"/>
                <a:ea typeface="宋体" panose="02010600030101010101" pitchFamily="2" charset="-122"/>
              </a:rPr>
              <a:t>(3)</a:t>
            </a:r>
            <a:r>
              <a:rPr lang="zh-CN" altLang="en-US" sz="1800" dirty="0">
                <a:latin typeface="Times New Roman" panose="02020603050405020304" pitchFamily="18" charset="0"/>
                <a:ea typeface="宋体" panose="02010600030101010101" pitchFamily="2" charset="-122"/>
              </a:rPr>
              <a:t>继续增大正向电压，势垒高度不断下降，有更多的电子从</a:t>
            </a:r>
            <a:r>
              <a:rPr lang="en-US" altLang="zh-CN" sz="1800" dirty="0">
                <a:latin typeface="Times New Roman" panose="02020603050405020304" pitchFamily="18" charset="0"/>
                <a:ea typeface="宋体" panose="02010600030101010101" pitchFamily="2" charset="-122"/>
              </a:rPr>
              <a:t>n</a:t>
            </a:r>
            <a:r>
              <a:rPr lang="zh-CN" altLang="en-US" sz="1800" dirty="0">
                <a:latin typeface="Times New Roman" panose="02020603050405020304" pitchFamily="18" charset="0"/>
                <a:ea typeface="宋体" panose="02010600030101010101" pitchFamily="2" charset="-122"/>
              </a:rPr>
              <a:t>区穿过隧道到</a:t>
            </a:r>
            <a:r>
              <a:rPr lang="en-US" altLang="zh-CN" sz="1800" dirty="0">
                <a:latin typeface="Times New Roman" panose="02020603050405020304" pitchFamily="18" charset="0"/>
                <a:ea typeface="宋体" panose="02010600030101010101" pitchFamily="2" charset="-122"/>
              </a:rPr>
              <a:t>p</a:t>
            </a:r>
            <a:r>
              <a:rPr lang="zh-CN" altLang="en-US" sz="1800" dirty="0">
                <a:latin typeface="Times New Roman" panose="02020603050405020304" pitchFamily="18" charset="0"/>
                <a:ea typeface="宋体" panose="02010600030101010101" pitchFamily="2" charset="-122"/>
              </a:rPr>
              <a:t>区的空量子态，使隧道电流不断增大。当正向电流增大到Ｉ</a:t>
            </a:r>
            <a:r>
              <a:rPr lang="en-US" altLang="zh-CN" sz="1800" dirty="0">
                <a:latin typeface="Times New Roman" panose="02020603050405020304" pitchFamily="18" charset="0"/>
                <a:ea typeface="宋体" panose="02010600030101010101" pitchFamily="2" charset="-122"/>
              </a:rPr>
              <a:t>p</a:t>
            </a:r>
            <a:r>
              <a:rPr lang="zh-CN" altLang="en-US" sz="1800" dirty="0">
                <a:latin typeface="Times New Roman" panose="02020603050405020304" pitchFamily="18" charset="0"/>
                <a:ea typeface="宋体" panose="02010600030101010101" pitchFamily="2" charset="-122"/>
              </a:rPr>
              <a:t>时，这时</a:t>
            </a:r>
            <a:r>
              <a:rPr lang="en-US" altLang="zh-CN" sz="1800" dirty="0">
                <a:latin typeface="Times New Roman" panose="02020603050405020304" pitchFamily="18" charset="0"/>
                <a:ea typeface="宋体" panose="02010600030101010101" pitchFamily="2" charset="-122"/>
              </a:rPr>
              <a:t>P</a:t>
            </a:r>
            <a:r>
              <a:rPr lang="zh-CN" altLang="en-US" sz="1800" dirty="0">
                <a:latin typeface="Times New Roman" panose="02020603050405020304" pitchFamily="18" charset="0"/>
                <a:ea typeface="宋体" panose="02010600030101010101" pitchFamily="2" charset="-122"/>
              </a:rPr>
              <a:t>区的费米能级与</a:t>
            </a:r>
            <a:r>
              <a:rPr lang="en-US" altLang="zh-CN" sz="1800" dirty="0">
                <a:latin typeface="Times New Roman" panose="02020603050405020304" pitchFamily="18" charset="0"/>
                <a:ea typeface="宋体" panose="02010600030101010101" pitchFamily="2" charset="-122"/>
              </a:rPr>
              <a:t>n</a:t>
            </a:r>
            <a:r>
              <a:rPr lang="zh-CN" altLang="en-US" sz="1800" dirty="0">
                <a:latin typeface="Times New Roman" panose="02020603050405020304" pitchFamily="18" charset="0"/>
                <a:ea typeface="宋体" panose="02010600030101010101" pitchFamily="2" charset="-122"/>
              </a:rPr>
              <a:t>区导带底一样高，</a:t>
            </a:r>
            <a:r>
              <a:rPr lang="en-US" altLang="zh-CN" sz="1800" dirty="0">
                <a:latin typeface="Times New Roman" panose="02020603050405020304" pitchFamily="18" charset="0"/>
                <a:ea typeface="宋体" panose="02010600030101010101" pitchFamily="2" charset="-122"/>
              </a:rPr>
              <a:t>n</a:t>
            </a:r>
            <a:r>
              <a:rPr lang="zh-CN" altLang="en-US" sz="1800" dirty="0">
                <a:latin typeface="Times New Roman" panose="02020603050405020304" pitchFamily="18" charset="0"/>
                <a:ea typeface="宋体" panose="02010600030101010101" pitchFamily="2" charset="-122"/>
              </a:rPr>
              <a:t>区的导带和</a:t>
            </a:r>
            <a:r>
              <a:rPr lang="en-US" altLang="zh-CN" sz="1800" dirty="0">
                <a:latin typeface="Times New Roman" panose="02020603050405020304" pitchFamily="18" charset="0"/>
                <a:ea typeface="宋体" panose="02010600030101010101" pitchFamily="2" charset="-122"/>
              </a:rPr>
              <a:t>p</a:t>
            </a:r>
            <a:r>
              <a:rPr lang="zh-CN" altLang="en-US" sz="1800" dirty="0">
                <a:latin typeface="Times New Roman" panose="02020603050405020304" pitchFamily="18" charset="0"/>
                <a:ea typeface="宋体" panose="02010600030101010101" pitchFamily="2" charset="-122"/>
              </a:rPr>
              <a:t>区的价带中能量相同的量子态达到最多，</a:t>
            </a:r>
            <a:r>
              <a:rPr lang="en-US" altLang="zh-CN" sz="1800" dirty="0">
                <a:latin typeface="Times New Roman" panose="02020603050405020304" pitchFamily="18" charset="0"/>
                <a:ea typeface="宋体" panose="02010600030101010101" pitchFamily="2" charset="-122"/>
              </a:rPr>
              <a:t>n</a:t>
            </a:r>
            <a:r>
              <a:rPr lang="zh-CN" altLang="en-US" sz="1800" dirty="0">
                <a:latin typeface="Times New Roman" panose="02020603050405020304" pitchFamily="18" charset="0"/>
                <a:ea typeface="宋体" panose="02010600030101010101" pitchFamily="2" charset="-122"/>
              </a:rPr>
              <a:t>区的导带中的电子可能全部穿过隧道到</a:t>
            </a:r>
            <a:r>
              <a:rPr lang="en-US" altLang="zh-CN" sz="1800" dirty="0">
                <a:latin typeface="Times New Roman" panose="02020603050405020304" pitchFamily="18" charset="0"/>
                <a:ea typeface="宋体" panose="02010600030101010101" pitchFamily="2" charset="-122"/>
              </a:rPr>
              <a:t>p</a:t>
            </a:r>
            <a:r>
              <a:rPr lang="zh-CN" altLang="en-US" sz="1800" dirty="0">
                <a:latin typeface="Times New Roman" panose="02020603050405020304" pitchFamily="18" charset="0"/>
                <a:ea typeface="宋体" panose="02010600030101010101" pitchFamily="2" charset="-122"/>
              </a:rPr>
              <a:t>区价带中的空量子态去，正向电流达到极大值Ｉ</a:t>
            </a:r>
            <a:r>
              <a:rPr lang="en-US" altLang="zh-CN" sz="1800" dirty="0">
                <a:latin typeface="Times New Roman" panose="02020603050405020304" pitchFamily="18" charset="0"/>
                <a:ea typeface="宋体" panose="02010600030101010101" pitchFamily="2" charset="-122"/>
              </a:rPr>
              <a:t>p</a:t>
            </a:r>
            <a:r>
              <a:rPr lang="zh-CN" altLang="en-US" sz="1800" dirty="0">
                <a:latin typeface="Times New Roman" panose="02020603050405020304" pitchFamily="18" charset="0"/>
                <a:ea typeface="宋体" panose="02010600030101010101" pitchFamily="2" charset="-122"/>
              </a:rPr>
              <a:t>，这时对应于特性曲线的点</a:t>
            </a:r>
            <a:r>
              <a:rPr lang="en-US" altLang="zh-CN" sz="1800" dirty="0">
                <a:latin typeface="Times New Roman" panose="02020603050405020304" pitchFamily="18" charset="0"/>
                <a:ea typeface="宋体" panose="02010600030101010101" pitchFamily="2" charset="-122"/>
              </a:rPr>
              <a:t>2.</a:t>
            </a:r>
          </a:p>
        </p:txBody>
      </p:sp>
      <p:pic>
        <p:nvPicPr>
          <p:cNvPr id="153605" name="Picture 5">
            <a:extLst>
              <a:ext uri="{FF2B5EF4-FFF2-40B4-BE49-F238E27FC236}">
                <a16:creationId xmlns:a16="http://schemas.microsoft.com/office/drawing/2014/main" id="{C90AA320-9266-4E4A-B815-C8236400D3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096" y="3068960"/>
            <a:ext cx="2951163" cy="266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08" name="Picture 8">
            <a:extLst>
              <a:ext uri="{FF2B5EF4-FFF2-40B4-BE49-F238E27FC236}">
                <a16:creationId xmlns:a16="http://schemas.microsoft.com/office/drawing/2014/main" id="{D18F811C-33C1-43BB-80F5-B32E3F33AC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1052736"/>
            <a:ext cx="3346450" cy="1725613"/>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9AE13C5C-3DB5-4201-8132-59E167C34584}"/>
              </a:ext>
            </a:extLst>
          </p:cNvPr>
          <p:cNvSpPr/>
          <p:nvPr/>
        </p:nvSpPr>
        <p:spPr>
          <a:xfrm>
            <a:off x="413792" y="3717032"/>
            <a:ext cx="4572000" cy="1569660"/>
          </a:xfrm>
          <a:prstGeom prst="rect">
            <a:avLst/>
          </a:prstGeom>
        </p:spPr>
        <p:txBody>
          <a:bodyPr>
            <a:spAutoFit/>
          </a:bodyPr>
          <a:lstStyle/>
          <a:p>
            <a:pPr marL="457200" indent="-457200">
              <a:lnSpc>
                <a:spcPct val="120000"/>
              </a:lnSpc>
              <a:buFont typeface="Wingdings" pitchFamily="2" charset="2"/>
              <a:buChar char="Ø"/>
              <a:defRPr/>
            </a:pPr>
            <a:r>
              <a:rPr lang="zh-CN" altLang="en-US" sz="2000" dirty="0">
                <a:solidFill>
                  <a:srgbClr val="000000"/>
                </a:solidFill>
                <a:latin typeface="Times New Roman" panose="02020603050405020304" pitchFamily="18" charset="0"/>
                <a:ea typeface="宋体" panose="02010600030101010101" pitchFamily="2" charset="-122"/>
              </a:rPr>
              <a:t>隧道电流受控因素：</a:t>
            </a:r>
            <a:endParaRPr lang="en-US" altLang="zh-CN" sz="2000" dirty="0">
              <a:solidFill>
                <a:srgbClr val="000000"/>
              </a:solidFill>
              <a:latin typeface="Times New Roman" panose="02020603050405020304" pitchFamily="18" charset="0"/>
              <a:ea typeface="宋体" panose="02010600030101010101" pitchFamily="2" charset="-122"/>
            </a:endParaRPr>
          </a:p>
          <a:p>
            <a:pPr marL="450850" indent="-450850">
              <a:lnSpc>
                <a:spcPct val="120000"/>
              </a:lnSpc>
              <a:defRPr/>
            </a:pPr>
            <a:r>
              <a:rPr lang="en-US" altLang="zh-CN" sz="2000" dirty="0">
                <a:solidFill>
                  <a:srgbClr val="000000"/>
                </a:solidFill>
                <a:latin typeface="Times New Roman" panose="02020603050405020304" pitchFamily="18" charset="0"/>
                <a:ea typeface="宋体" panose="02010600030101010101" pitchFamily="2" charset="-122"/>
              </a:rPr>
              <a:t>         - N</a:t>
            </a:r>
            <a:r>
              <a:rPr lang="zh-CN" altLang="en-US" sz="2000" dirty="0">
                <a:solidFill>
                  <a:srgbClr val="000000"/>
                </a:solidFill>
                <a:latin typeface="Times New Roman" panose="02020603050405020304" pitchFamily="18" charset="0"/>
                <a:ea typeface="宋体" panose="02010600030101010101" pitchFamily="2" charset="-122"/>
              </a:rPr>
              <a:t>侧提供的电子数</a:t>
            </a:r>
            <a:endParaRPr lang="en-US" altLang="zh-CN" sz="2000" dirty="0">
              <a:solidFill>
                <a:srgbClr val="000000"/>
              </a:solidFill>
              <a:latin typeface="Times New Roman" panose="02020603050405020304" pitchFamily="18" charset="0"/>
              <a:ea typeface="宋体" panose="02010600030101010101" pitchFamily="2" charset="-122"/>
            </a:endParaRPr>
          </a:p>
          <a:p>
            <a:pPr marL="450850" indent="-450850">
              <a:lnSpc>
                <a:spcPct val="120000"/>
              </a:lnSpc>
              <a:defRPr/>
            </a:pPr>
            <a:r>
              <a:rPr lang="en-US" altLang="zh-CN" sz="2000" dirty="0">
                <a:solidFill>
                  <a:srgbClr val="000000"/>
                </a:solidFill>
                <a:latin typeface="Times New Roman" panose="02020603050405020304" pitchFamily="18" charset="0"/>
                <a:ea typeface="宋体" panose="02010600030101010101" pitchFamily="2" charset="-122"/>
              </a:rPr>
              <a:t>         - P</a:t>
            </a:r>
            <a:r>
              <a:rPr lang="zh-CN" altLang="en-US" sz="2000" dirty="0">
                <a:solidFill>
                  <a:srgbClr val="000000"/>
                </a:solidFill>
                <a:latin typeface="Times New Roman" panose="02020603050405020304" pitchFamily="18" charset="0"/>
                <a:ea typeface="宋体" panose="02010600030101010101" pitchFamily="2" charset="-122"/>
              </a:rPr>
              <a:t>侧空状态数</a:t>
            </a:r>
            <a:endParaRPr lang="en-US" altLang="zh-CN" sz="2000" dirty="0">
              <a:solidFill>
                <a:srgbClr val="000000"/>
              </a:solidFill>
              <a:latin typeface="Times New Roman" panose="02020603050405020304" pitchFamily="18" charset="0"/>
              <a:ea typeface="宋体" panose="02010600030101010101" pitchFamily="2" charset="-122"/>
            </a:endParaRPr>
          </a:p>
          <a:p>
            <a:pPr marL="450850" indent="-450850">
              <a:lnSpc>
                <a:spcPct val="120000"/>
              </a:lnSpc>
              <a:defRPr/>
            </a:pPr>
            <a:r>
              <a:rPr lang="zh-CN" altLang="en-US" sz="2000" dirty="0">
                <a:solidFill>
                  <a:srgbClr val="000000"/>
                </a:solidFill>
                <a:latin typeface="Times New Roman" panose="02020603050405020304" pitchFamily="18" charset="0"/>
                <a:ea typeface="宋体" panose="02010600030101010101" pitchFamily="2" charset="-122"/>
              </a:rPr>
              <a:t>         </a:t>
            </a:r>
            <a:r>
              <a:rPr lang="en-US" altLang="zh-CN" sz="2000" dirty="0">
                <a:solidFill>
                  <a:srgbClr val="000000"/>
                </a:solidFill>
                <a:latin typeface="Times New Roman" panose="02020603050405020304" pitchFamily="18" charset="0"/>
                <a:ea typeface="宋体" panose="02010600030101010101" pitchFamily="2" charset="-122"/>
              </a:rPr>
              <a:t>-  </a:t>
            </a:r>
            <a:r>
              <a:rPr lang="zh-CN" altLang="en-US" sz="2000" dirty="0">
                <a:solidFill>
                  <a:srgbClr val="000000"/>
                </a:solidFill>
                <a:latin typeface="Times New Roman" panose="02020603050405020304" pitchFamily="18" charset="0"/>
                <a:ea typeface="宋体" panose="02010600030101010101" pitchFamily="2" charset="-122"/>
              </a:rPr>
              <a:t>隧穿几率</a:t>
            </a:r>
            <a:endParaRPr lang="en-US" altLang="zh-CN" sz="2000" dirty="0">
              <a:solidFill>
                <a:srgbClr val="00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333493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Rectangle 3">
            <a:extLst>
              <a:ext uri="{FF2B5EF4-FFF2-40B4-BE49-F238E27FC236}">
                <a16:creationId xmlns:a16="http://schemas.microsoft.com/office/drawing/2014/main" id="{C8DA95C3-D052-4DD9-9F92-DB76C3270D4D}"/>
              </a:ext>
            </a:extLst>
          </p:cNvPr>
          <p:cNvSpPr>
            <a:spLocks noGrp="1" noChangeArrowheads="1"/>
          </p:cNvSpPr>
          <p:nvPr>
            <p:ph type="body" idx="1"/>
          </p:nvPr>
        </p:nvSpPr>
        <p:spPr bwMode="auto">
          <a:xfrm>
            <a:off x="170308" y="1773237"/>
            <a:ext cx="5049392"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nSpc>
                <a:spcPct val="110000"/>
              </a:lnSpc>
              <a:buFontTx/>
              <a:buNone/>
            </a:pPr>
            <a:r>
              <a:rPr lang="en-US" altLang="zh-CN" sz="1800" dirty="0">
                <a:latin typeface="Times New Roman" panose="02020603050405020304" pitchFamily="18" charset="0"/>
                <a:ea typeface="宋体" panose="02010600030101010101" pitchFamily="2" charset="-122"/>
              </a:rPr>
              <a:t>(4)</a:t>
            </a:r>
            <a:r>
              <a:rPr lang="zh-CN" altLang="en-US" sz="1800" dirty="0">
                <a:latin typeface="Times New Roman" panose="02020603050405020304" pitchFamily="18" charset="0"/>
                <a:ea typeface="宋体" panose="02010600030101010101" pitchFamily="2" charset="-122"/>
              </a:rPr>
              <a:t>再增大正向电压，势垒高度进一步降低，在结两边能量相同的量子态减少，使</a:t>
            </a:r>
            <a:r>
              <a:rPr lang="en-US" altLang="zh-CN" sz="1800" dirty="0">
                <a:latin typeface="Times New Roman" panose="02020603050405020304" pitchFamily="18" charset="0"/>
                <a:ea typeface="宋体" panose="02010600030101010101" pitchFamily="2" charset="-122"/>
              </a:rPr>
              <a:t>n</a:t>
            </a:r>
            <a:r>
              <a:rPr lang="zh-CN" altLang="en-US" sz="1800" dirty="0">
                <a:latin typeface="Times New Roman" panose="02020603050405020304" pitchFamily="18" charset="0"/>
                <a:ea typeface="宋体" panose="02010600030101010101" pitchFamily="2" charset="-122"/>
              </a:rPr>
              <a:t>区导带中可能穿过隧道的电子数以及</a:t>
            </a:r>
            <a:r>
              <a:rPr lang="en-US" altLang="zh-CN" sz="1800" dirty="0">
                <a:latin typeface="Times New Roman" panose="02020603050405020304" pitchFamily="18" charset="0"/>
                <a:ea typeface="宋体" panose="02010600030101010101" pitchFamily="2" charset="-122"/>
              </a:rPr>
              <a:t>p</a:t>
            </a:r>
            <a:r>
              <a:rPr lang="zh-CN" altLang="en-US" sz="1800" dirty="0">
                <a:latin typeface="Times New Roman" panose="02020603050405020304" pitchFamily="18" charset="0"/>
                <a:ea typeface="宋体" panose="02010600030101010101" pitchFamily="2" charset="-122"/>
              </a:rPr>
              <a:t>区价带中可能接受穿过隧道的电子的空量子态均减少，如右图所示，这时隧道电流减小，出现负阻，如特性曲线上的点</a:t>
            </a:r>
            <a:r>
              <a:rPr lang="en-US" altLang="zh-CN" sz="1800" dirty="0">
                <a:latin typeface="Times New Roman" panose="02020603050405020304" pitchFamily="18" charset="0"/>
                <a:ea typeface="宋体" panose="02010600030101010101" pitchFamily="2" charset="-122"/>
              </a:rPr>
              <a:t>3 </a:t>
            </a:r>
            <a:br>
              <a:rPr lang="en-US" altLang="zh-CN" sz="1800" dirty="0">
                <a:latin typeface="Times New Roman" panose="02020603050405020304" pitchFamily="18" charset="0"/>
                <a:ea typeface="宋体" panose="02010600030101010101" pitchFamily="2" charset="-122"/>
              </a:rPr>
            </a:br>
            <a:endParaRPr lang="en-US" altLang="zh-CN" sz="1800" dirty="0">
              <a:latin typeface="Times New Roman" panose="02020603050405020304" pitchFamily="18" charset="0"/>
              <a:ea typeface="宋体" panose="02010600030101010101" pitchFamily="2" charset="-122"/>
            </a:endParaRPr>
          </a:p>
        </p:txBody>
      </p:sp>
      <p:pic>
        <p:nvPicPr>
          <p:cNvPr id="154629" name="Picture 5">
            <a:extLst>
              <a:ext uri="{FF2B5EF4-FFF2-40B4-BE49-F238E27FC236}">
                <a16:creationId xmlns:a16="http://schemas.microsoft.com/office/drawing/2014/main" id="{AC61E96C-EA5D-46C7-960F-0AC69F0D0E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3644900"/>
            <a:ext cx="2952750" cy="266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4631" name="Group 7">
            <a:extLst>
              <a:ext uri="{FF2B5EF4-FFF2-40B4-BE49-F238E27FC236}">
                <a16:creationId xmlns:a16="http://schemas.microsoft.com/office/drawing/2014/main" id="{5E6F860F-632A-408E-978C-38A988F8D0C1}"/>
              </a:ext>
            </a:extLst>
          </p:cNvPr>
          <p:cNvGrpSpPr>
            <a:grpSpLocks/>
          </p:cNvGrpSpPr>
          <p:nvPr/>
        </p:nvGrpSpPr>
        <p:grpSpPr bwMode="auto">
          <a:xfrm>
            <a:off x="5292725" y="1773237"/>
            <a:ext cx="3235325" cy="1551337"/>
            <a:chOff x="960" y="2256"/>
            <a:chExt cx="3312" cy="1748"/>
          </a:xfrm>
        </p:grpSpPr>
        <p:graphicFrame>
          <p:nvGraphicFramePr>
            <p:cNvPr id="154632" name="Object 8">
              <a:extLst>
                <a:ext uri="{FF2B5EF4-FFF2-40B4-BE49-F238E27FC236}">
                  <a16:creationId xmlns:a16="http://schemas.microsoft.com/office/drawing/2014/main" id="{22E7D68C-F31E-44B2-B76A-B442D50421DF}"/>
                </a:ext>
              </a:extLst>
            </p:cNvPr>
            <p:cNvGraphicFramePr>
              <a:graphicFrameLocks noChangeAspect="1"/>
            </p:cNvGraphicFramePr>
            <p:nvPr/>
          </p:nvGraphicFramePr>
          <p:xfrm>
            <a:off x="960" y="2256"/>
            <a:ext cx="3312" cy="1726"/>
          </p:xfrm>
          <a:graphic>
            <a:graphicData uri="http://schemas.openxmlformats.org/presentationml/2006/ole">
              <mc:AlternateContent xmlns:mc="http://schemas.openxmlformats.org/markup-compatibility/2006">
                <mc:Choice xmlns:v="urn:schemas-microsoft-com:vml" Requires="v">
                  <p:oleObj spid="_x0000_s132116" name="位图图像" r:id="rId4" imgW="4277322" imgH="2228571" progId="Paint.Picture">
                    <p:embed/>
                  </p:oleObj>
                </mc:Choice>
                <mc:Fallback>
                  <p:oleObj name="位图图像" r:id="rId4" imgW="4277322" imgH="2228571" progId="Paint.Picture">
                    <p:embed/>
                    <p:pic>
                      <p:nvPicPr>
                        <p:cNvPr id="154632" name="Object 8">
                          <a:extLst>
                            <a:ext uri="{FF2B5EF4-FFF2-40B4-BE49-F238E27FC236}">
                              <a16:creationId xmlns:a16="http://schemas.microsoft.com/office/drawing/2014/main" id="{22E7D68C-F31E-44B2-B76A-B442D50421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0" y="2256"/>
                          <a:ext cx="3312" cy="1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4633" name="Rectangle 9">
              <a:extLst>
                <a:ext uri="{FF2B5EF4-FFF2-40B4-BE49-F238E27FC236}">
                  <a16:creationId xmlns:a16="http://schemas.microsoft.com/office/drawing/2014/main" id="{6EAD3973-B092-464D-8E2E-D3AEE612ABB3}"/>
                </a:ext>
              </a:extLst>
            </p:cNvPr>
            <p:cNvSpPr>
              <a:spLocks noChangeArrowheads="1"/>
            </p:cNvSpPr>
            <p:nvPr/>
          </p:nvSpPr>
          <p:spPr bwMode="auto">
            <a:xfrm>
              <a:off x="3264" y="3553"/>
              <a:ext cx="727" cy="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atinLnBrk="0"/>
              <a:r>
                <a:rPr lang="zh-CN" altLang="en-US" sz="2000">
                  <a:solidFill>
                    <a:srgbClr val="FF0000"/>
                  </a:solidFill>
                  <a:latin typeface="Times New Roman" panose="02020603050405020304" pitchFamily="18" charset="0"/>
                  <a:ea typeface="宋体" panose="02010600030101010101" pitchFamily="2" charset="-122"/>
                </a:rPr>
                <a:t>图</a:t>
              </a:r>
              <a:r>
                <a:rPr lang="zh-CN" altLang="en-US">
                  <a:solidFill>
                    <a:srgbClr val="FF0000"/>
                  </a:solidFill>
                  <a:latin typeface="Times New Roman" panose="02020603050405020304" pitchFamily="18" charset="0"/>
                  <a:ea typeface="宋体" panose="02010600030101010101" pitchFamily="2" charset="-122"/>
                </a:rPr>
                <a:t>(</a:t>
              </a:r>
              <a:r>
                <a:rPr lang="en-US" altLang="zh-CN" i="1">
                  <a:solidFill>
                    <a:srgbClr val="FF0000"/>
                  </a:solidFill>
                  <a:latin typeface="Times New Roman" panose="02020603050405020304" pitchFamily="18" charset="0"/>
                  <a:ea typeface="宋体" panose="02010600030101010101" pitchFamily="2" charset="-122"/>
                </a:rPr>
                <a:t>d</a:t>
              </a:r>
              <a:r>
                <a:rPr lang="en-US" altLang="zh-CN">
                  <a:solidFill>
                    <a:srgbClr val="FF0000"/>
                  </a:solidFill>
                  <a:latin typeface="Times New Roman" panose="02020603050405020304" pitchFamily="18" charset="0"/>
                  <a:ea typeface="宋体" panose="02010600030101010101" pitchFamily="2" charset="-122"/>
                </a:rPr>
                <a:t>)</a:t>
              </a:r>
              <a:endParaRPr lang="zh-CN" altLang="en-US">
                <a:solidFill>
                  <a:srgbClr val="FF0000"/>
                </a:solidFill>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2925393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Rectangle 3">
            <a:extLst>
              <a:ext uri="{FF2B5EF4-FFF2-40B4-BE49-F238E27FC236}">
                <a16:creationId xmlns:a16="http://schemas.microsoft.com/office/drawing/2014/main" id="{DAFF2FCD-86AD-48C0-9954-3A77E97F70D2}"/>
              </a:ext>
            </a:extLst>
          </p:cNvPr>
          <p:cNvSpPr>
            <a:spLocks noGrp="1" noChangeArrowheads="1"/>
          </p:cNvSpPr>
          <p:nvPr>
            <p:ph type="body" idx="1"/>
          </p:nvPr>
        </p:nvSpPr>
        <p:spPr bwMode="auto">
          <a:xfrm>
            <a:off x="457200" y="1600200"/>
            <a:ext cx="4322763"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a:lnSpc>
                <a:spcPct val="110000"/>
              </a:lnSpc>
              <a:buFontTx/>
              <a:buNone/>
            </a:pPr>
            <a:r>
              <a:rPr lang="en-US" altLang="zh-CN" sz="2000" dirty="0">
                <a:latin typeface="Times New Roman" panose="02020603050405020304" pitchFamily="18" charset="0"/>
                <a:ea typeface="宋体" panose="02010600030101010101" pitchFamily="2" charset="-122"/>
              </a:rPr>
              <a:t>(5)</a:t>
            </a:r>
            <a:r>
              <a:rPr lang="zh-CN" altLang="en-US" sz="2000" dirty="0">
                <a:latin typeface="Times New Roman" panose="02020603050405020304" pitchFamily="18" charset="0"/>
                <a:ea typeface="宋体" panose="02010600030101010101" pitchFamily="2" charset="-122"/>
              </a:rPr>
              <a:t>正向偏压增大到</a:t>
            </a:r>
            <a:r>
              <a:rPr lang="en-US" altLang="zh-CN" sz="2000" dirty="0" err="1">
                <a:latin typeface="Times New Roman" panose="02020603050405020304" pitchFamily="18" charset="0"/>
                <a:ea typeface="宋体" panose="02010600030101010101" pitchFamily="2" charset="-122"/>
              </a:rPr>
              <a:t>v</a:t>
            </a:r>
            <a:r>
              <a:rPr lang="en-US" altLang="zh-CN" sz="2000" baseline="-25000" dirty="0" err="1">
                <a:latin typeface="Times New Roman" panose="02020603050405020304" pitchFamily="18" charset="0"/>
                <a:ea typeface="宋体" panose="02010600030101010101" pitchFamily="2" charset="-122"/>
              </a:rPr>
              <a:t>v</a:t>
            </a:r>
            <a:r>
              <a:rPr lang="zh-CN" altLang="en-US" sz="2000" dirty="0">
                <a:latin typeface="Times New Roman" panose="02020603050405020304" pitchFamily="18" charset="0"/>
                <a:ea typeface="宋体" panose="02010600030101010101" pitchFamily="2" charset="-122"/>
              </a:rPr>
              <a:t>时，</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区导带底和</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区价带顶一样高，如右图所示，这时 </a:t>
            </a:r>
            <a:r>
              <a:rPr lang="en-US" altLang="zh-CN" sz="2000" dirty="0">
                <a:latin typeface="Times New Roman" panose="02020603050405020304" pitchFamily="18" charset="0"/>
                <a:ea typeface="宋体" panose="02010600030101010101" pitchFamily="2" charset="-122"/>
              </a:rPr>
              <a:t>p</a:t>
            </a:r>
            <a:r>
              <a:rPr lang="zh-CN" altLang="en-US" sz="2000" dirty="0">
                <a:latin typeface="Times New Roman" panose="02020603050405020304" pitchFamily="18" charset="0"/>
                <a:ea typeface="宋体" panose="02010600030101010101" pitchFamily="2" charset="-122"/>
              </a:rPr>
              <a:t>区价带和 </a:t>
            </a:r>
            <a:r>
              <a:rPr lang="en-US" altLang="zh-CN" sz="2000" dirty="0">
                <a:latin typeface="Times New Roman" panose="02020603050405020304" pitchFamily="18" charset="0"/>
                <a:ea typeface="宋体" panose="02010600030101010101" pitchFamily="2" charset="-122"/>
              </a:rPr>
              <a:t>n</a:t>
            </a:r>
            <a:r>
              <a:rPr lang="zh-CN" altLang="en-US" sz="2000" dirty="0">
                <a:latin typeface="Times New Roman" panose="02020603050405020304" pitchFamily="18" charset="0"/>
                <a:ea typeface="宋体" panose="02010600030101010101" pitchFamily="2" charset="-122"/>
              </a:rPr>
              <a:t>区导带中没有能量相同的量子态，因此不能发生隧道穿通，隧道电流应该减少到零，对应于特性曲线上的点</a:t>
            </a:r>
            <a:r>
              <a:rPr lang="en-US" altLang="zh-CN" sz="2000" dirty="0">
                <a:latin typeface="Times New Roman" panose="02020603050405020304" pitchFamily="18" charset="0"/>
                <a:ea typeface="宋体" panose="02010600030101010101" pitchFamily="2" charset="-122"/>
              </a:rPr>
              <a:t>4</a:t>
            </a:r>
            <a:r>
              <a:rPr lang="zh-CN" altLang="en-US" sz="2000" dirty="0">
                <a:latin typeface="Times New Roman" panose="02020603050405020304" pitchFamily="18" charset="0"/>
                <a:ea typeface="宋体" panose="02010600030101010101" pitchFamily="2" charset="-122"/>
              </a:rPr>
              <a:t>。但实际上在</a:t>
            </a:r>
            <a:r>
              <a:rPr lang="en-US" altLang="zh-CN" sz="2000" dirty="0" err="1">
                <a:latin typeface="Times New Roman" panose="02020603050405020304" pitchFamily="18" charset="0"/>
                <a:ea typeface="宋体" panose="02010600030101010101" pitchFamily="2" charset="-122"/>
              </a:rPr>
              <a:t>v</a:t>
            </a:r>
            <a:r>
              <a:rPr lang="en-US" altLang="zh-CN" sz="2000" baseline="-25000" dirty="0" err="1">
                <a:latin typeface="Times New Roman" panose="02020603050405020304" pitchFamily="18" charset="0"/>
                <a:ea typeface="宋体" panose="02010600030101010101" pitchFamily="2" charset="-122"/>
              </a:rPr>
              <a:t>v</a:t>
            </a:r>
            <a:r>
              <a:rPr lang="zh-CN" altLang="en-US" sz="2000" dirty="0">
                <a:latin typeface="Times New Roman" panose="02020603050405020304" pitchFamily="18" charset="0"/>
                <a:ea typeface="宋体" panose="02010600030101010101" pitchFamily="2" charset="-122"/>
              </a:rPr>
              <a:t>时正向电流并不完全为零，而是有一个很小的谷值电流Ｉ</a:t>
            </a:r>
            <a:r>
              <a:rPr lang="en-US" altLang="zh-CN" sz="2000" dirty="0">
                <a:latin typeface="Times New Roman" panose="02020603050405020304" pitchFamily="18" charset="0"/>
                <a:ea typeface="宋体" panose="02010600030101010101" pitchFamily="2" charset="-122"/>
              </a:rPr>
              <a:t>v.</a:t>
            </a:r>
            <a:r>
              <a:rPr lang="zh-CN" altLang="en-US" sz="2000" dirty="0">
                <a:latin typeface="Times New Roman" panose="02020603050405020304" pitchFamily="18" charset="0"/>
                <a:ea typeface="宋体" panose="02010600030101010101" pitchFamily="2" charset="-122"/>
              </a:rPr>
              <a:t>实验证明，谷值电流基本上具有隧道电流的性质。</a:t>
            </a:r>
            <a:br>
              <a:rPr lang="zh-CN" altLang="en-US" sz="2000" dirty="0">
                <a:latin typeface="Times New Roman" panose="02020603050405020304" pitchFamily="18" charset="0"/>
                <a:ea typeface="宋体" panose="02010600030101010101" pitchFamily="2" charset="-122"/>
              </a:rPr>
            </a:br>
            <a:endParaRPr lang="zh-CN" altLang="en-US" sz="2000" dirty="0">
              <a:latin typeface="Times New Roman" panose="02020603050405020304" pitchFamily="18" charset="0"/>
              <a:ea typeface="宋体" panose="02010600030101010101" pitchFamily="2" charset="-122"/>
            </a:endParaRPr>
          </a:p>
        </p:txBody>
      </p:sp>
      <p:pic>
        <p:nvPicPr>
          <p:cNvPr id="155653" name="Picture 5">
            <a:extLst>
              <a:ext uri="{FF2B5EF4-FFF2-40B4-BE49-F238E27FC236}">
                <a16:creationId xmlns:a16="http://schemas.microsoft.com/office/drawing/2014/main" id="{90268199-7AF0-41D3-88F7-6F07EEC3C3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0012" y="3645024"/>
            <a:ext cx="3384550" cy="305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Object 8">
            <a:extLst>
              <a:ext uri="{FF2B5EF4-FFF2-40B4-BE49-F238E27FC236}">
                <a16:creationId xmlns:a16="http://schemas.microsoft.com/office/drawing/2014/main" id="{B7642D4F-85CD-498C-A2FE-40E8713C2260}"/>
              </a:ext>
            </a:extLst>
          </p:cNvPr>
          <p:cNvGraphicFramePr>
            <a:graphicFrameLocks noChangeAspect="1"/>
          </p:cNvGraphicFramePr>
          <p:nvPr/>
        </p:nvGraphicFramePr>
        <p:xfrm>
          <a:off x="5292725" y="1773238"/>
          <a:ext cx="3235325" cy="1531813"/>
        </p:xfrm>
        <a:graphic>
          <a:graphicData uri="http://schemas.openxmlformats.org/presentationml/2006/ole">
            <mc:AlternateContent xmlns:mc="http://schemas.openxmlformats.org/markup-compatibility/2006">
              <mc:Choice xmlns:v="urn:schemas-microsoft-com:vml" Requires="v">
                <p:oleObj spid="_x0000_s134163" name="位图图像" r:id="rId4" imgW="4277322" imgH="2228571" progId="Paint.Picture">
                  <p:embed/>
                </p:oleObj>
              </mc:Choice>
              <mc:Fallback>
                <p:oleObj name="位图图像" r:id="rId4" imgW="4277322" imgH="2228571" progId="Paint.Picture">
                  <p:embed/>
                  <p:pic>
                    <p:nvPicPr>
                      <p:cNvPr id="154632" name="Object 8">
                        <a:extLst>
                          <a:ext uri="{FF2B5EF4-FFF2-40B4-BE49-F238E27FC236}">
                            <a16:creationId xmlns:a16="http://schemas.microsoft.com/office/drawing/2014/main" id="{22E7D68C-F31E-44B2-B76A-B442D50421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2725" y="1773238"/>
                        <a:ext cx="3235325" cy="1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613421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Rectangle 3">
            <a:extLst>
              <a:ext uri="{FF2B5EF4-FFF2-40B4-BE49-F238E27FC236}">
                <a16:creationId xmlns:a16="http://schemas.microsoft.com/office/drawing/2014/main" id="{4FB5AF0E-95A5-41AA-80FC-E84CDC0F3E41}"/>
              </a:ext>
            </a:extLst>
          </p:cNvPr>
          <p:cNvSpPr>
            <a:spLocks noGrp="1" noChangeArrowheads="1"/>
          </p:cNvSpPr>
          <p:nvPr>
            <p:ph type="body" sz="half" idx="1"/>
          </p:nvPr>
        </p:nvSpPr>
        <p:spPr bwMode="auto">
          <a:xfrm>
            <a:off x="457200" y="1600200"/>
            <a:ext cx="4038600"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p>
            <a:pPr>
              <a:lnSpc>
                <a:spcPct val="110000"/>
              </a:lnSpc>
              <a:buFontTx/>
              <a:buNone/>
            </a:pPr>
            <a:r>
              <a:rPr lang="en-US" altLang="zh-CN" sz="2200" dirty="0">
                <a:latin typeface="Times New Roman" panose="02020603050405020304" pitchFamily="18" charset="0"/>
                <a:ea typeface="宋体" panose="02010600030101010101" pitchFamily="2" charset="-122"/>
              </a:rPr>
              <a:t>(6)</a:t>
            </a:r>
            <a:r>
              <a:rPr lang="zh-CN" altLang="en-US" sz="2200" dirty="0">
                <a:latin typeface="Times New Roman" panose="02020603050405020304" pitchFamily="18" charset="0"/>
                <a:ea typeface="宋体" panose="02010600030101010101" pitchFamily="2" charset="-122"/>
              </a:rPr>
              <a:t>对硅、锗</a:t>
            </a:r>
            <a:r>
              <a:rPr lang="en-US" altLang="zh-CN" sz="2200" dirty="0">
                <a:latin typeface="Times New Roman" panose="02020603050405020304" pitchFamily="18" charset="0"/>
                <a:ea typeface="宋体" panose="02010600030101010101" pitchFamily="2" charset="-122"/>
              </a:rPr>
              <a:t>p-n</a:t>
            </a:r>
            <a:r>
              <a:rPr lang="zh-CN" altLang="en-US" sz="2200" dirty="0">
                <a:latin typeface="Times New Roman" panose="02020603050405020304" pitchFamily="18" charset="0"/>
                <a:ea typeface="宋体" panose="02010600030101010101" pitchFamily="2" charset="-122"/>
              </a:rPr>
              <a:t>结来说，正向偏压大于</a:t>
            </a:r>
            <a:r>
              <a:rPr lang="en-US" altLang="zh-CN" sz="2200" dirty="0" err="1">
                <a:latin typeface="Times New Roman" panose="02020603050405020304" pitchFamily="18" charset="0"/>
                <a:ea typeface="宋体" panose="02010600030101010101" pitchFamily="2" charset="-122"/>
              </a:rPr>
              <a:t>v</a:t>
            </a:r>
            <a:r>
              <a:rPr lang="en-US" altLang="zh-CN" sz="2200" baseline="-25000" dirty="0" err="1">
                <a:latin typeface="Times New Roman" panose="02020603050405020304" pitchFamily="18" charset="0"/>
                <a:ea typeface="宋体" panose="02010600030101010101" pitchFamily="2" charset="-122"/>
              </a:rPr>
              <a:t>v</a:t>
            </a:r>
            <a:r>
              <a:rPr lang="zh-CN" altLang="en-US" sz="2200" dirty="0">
                <a:latin typeface="Times New Roman" panose="02020603050405020304" pitchFamily="18" charset="0"/>
                <a:ea typeface="宋体" panose="02010600030101010101" pitchFamily="2" charset="-122"/>
              </a:rPr>
              <a:t>时，一般地扩散电流就开始成为主要的，这时隧道结和一般</a:t>
            </a:r>
            <a:r>
              <a:rPr lang="en-US" altLang="zh-CN" sz="2200" dirty="0">
                <a:latin typeface="Times New Roman" panose="02020603050405020304" pitchFamily="18" charset="0"/>
                <a:ea typeface="宋体" panose="02010600030101010101" pitchFamily="2" charset="-122"/>
              </a:rPr>
              <a:t>p-n</a:t>
            </a:r>
            <a:r>
              <a:rPr lang="zh-CN" altLang="en-US" sz="2200" dirty="0">
                <a:latin typeface="Times New Roman" panose="02020603050405020304" pitchFamily="18" charset="0"/>
                <a:ea typeface="宋体" panose="02010600030101010101" pitchFamily="2" charset="-122"/>
              </a:rPr>
              <a:t>结 的正向特性基本一样；</a:t>
            </a:r>
          </a:p>
          <a:p>
            <a:pPr>
              <a:lnSpc>
                <a:spcPct val="110000"/>
              </a:lnSpc>
              <a:buFontTx/>
              <a:buNone/>
            </a:pPr>
            <a:r>
              <a:rPr lang="en-US" altLang="zh-CN" sz="2200" dirty="0">
                <a:latin typeface="Times New Roman" panose="02020603050405020304" pitchFamily="18" charset="0"/>
                <a:ea typeface="宋体" panose="02010600030101010101" pitchFamily="2" charset="-122"/>
              </a:rPr>
              <a:t>(7)</a:t>
            </a:r>
            <a:r>
              <a:rPr lang="zh-CN" altLang="en-US" sz="2200" dirty="0">
                <a:latin typeface="Times New Roman" panose="02020603050405020304" pitchFamily="18" charset="0"/>
                <a:ea typeface="宋体" panose="02010600030101010101" pitchFamily="2" charset="-122"/>
              </a:rPr>
              <a:t>加反向偏压时，</a:t>
            </a:r>
            <a:r>
              <a:rPr lang="en-US" altLang="zh-CN" sz="2200" dirty="0">
                <a:latin typeface="Times New Roman" panose="02020603050405020304" pitchFamily="18" charset="0"/>
                <a:ea typeface="宋体" panose="02010600030101010101" pitchFamily="2" charset="-122"/>
              </a:rPr>
              <a:t>p</a:t>
            </a:r>
            <a:r>
              <a:rPr lang="zh-CN" altLang="en-US" sz="2200" dirty="0">
                <a:latin typeface="Times New Roman" panose="02020603050405020304" pitchFamily="18" charset="0"/>
                <a:ea typeface="宋体" panose="02010600030101010101" pitchFamily="2" charset="-122"/>
              </a:rPr>
              <a:t>区能带相对</a:t>
            </a:r>
            <a:r>
              <a:rPr lang="en-US" altLang="zh-CN" sz="2200" dirty="0">
                <a:latin typeface="Times New Roman" panose="02020603050405020304" pitchFamily="18" charset="0"/>
                <a:ea typeface="宋体" panose="02010600030101010101" pitchFamily="2" charset="-122"/>
              </a:rPr>
              <a:t>n</a:t>
            </a:r>
            <a:r>
              <a:rPr lang="zh-CN" altLang="en-US" sz="2200" dirty="0">
                <a:latin typeface="Times New Roman" panose="02020603050405020304" pitchFamily="18" charset="0"/>
                <a:ea typeface="宋体" panose="02010600030101010101" pitchFamily="2" charset="-122"/>
              </a:rPr>
              <a:t>区能带升高，如图所示</a:t>
            </a:r>
            <a:r>
              <a:rPr lang="en-US" altLang="zh-CN" sz="2200" dirty="0">
                <a:latin typeface="Times New Roman" panose="02020603050405020304" pitchFamily="18" charset="0"/>
                <a:ea typeface="宋体" panose="02010600030101010101" pitchFamily="2" charset="-122"/>
              </a:rPr>
              <a:t>,p</a:t>
            </a:r>
            <a:r>
              <a:rPr lang="zh-CN" altLang="en-US" sz="2200" dirty="0">
                <a:latin typeface="Times New Roman" panose="02020603050405020304" pitchFamily="18" charset="0"/>
                <a:ea typeface="宋体" panose="02010600030101010101" pitchFamily="2" charset="-122"/>
              </a:rPr>
              <a:t>区中的价带电子可以穿过隧道到</a:t>
            </a:r>
            <a:r>
              <a:rPr lang="en-US" altLang="zh-CN" sz="2200" dirty="0">
                <a:latin typeface="Times New Roman" panose="02020603050405020304" pitchFamily="18" charset="0"/>
                <a:ea typeface="宋体" panose="02010600030101010101" pitchFamily="2" charset="-122"/>
              </a:rPr>
              <a:t>n</a:t>
            </a:r>
            <a:r>
              <a:rPr lang="zh-CN" altLang="en-US" sz="2200" dirty="0">
                <a:latin typeface="Times New Roman" panose="02020603050405020304" pitchFamily="18" charset="0"/>
                <a:ea typeface="宋体" panose="02010600030101010101" pitchFamily="2" charset="-122"/>
              </a:rPr>
              <a:t>区导带中，产生反向隧道电流。随着反向偏压的增加，</a:t>
            </a:r>
            <a:r>
              <a:rPr lang="en-US" altLang="zh-CN" sz="2200" dirty="0">
                <a:latin typeface="Times New Roman" panose="02020603050405020304" pitchFamily="18" charset="0"/>
                <a:ea typeface="宋体" panose="02010600030101010101" pitchFamily="2" charset="-122"/>
              </a:rPr>
              <a:t>p</a:t>
            </a:r>
            <a:r>
              <a:rPr lang="zh-CN" altLang="en-US" sz="2200" dirty="0">
                <a:latin typeface="Times New Roman" panose="02020603050405020304" pitchFamily="18" charset="0"/>
                <a:ea typeface="宋体" panose="02010600030101010101" pitchFamily="2" charset="-122"/>
              </a:rPr>
              <a:t>区价带中可以穿过隧道的电子数大大增加，故反向电流也迅速增加，如特性曲线上的点</a:t>
            </a:r>
            <a:r>
              <a:rPr lang="en-US" altLang="zh-CN" sz="2200" dirty="0">
                <a:latin typeface="Times New Roman" panose="02020603050405020304" pitchFamily="18" charset="0"/>
                <a:ea typeface="宋体" panose="02010600030101010101" pitchFamily="2" charset="-122"/>
              </a:rPr>
              <a:t>5</a:t>
            </a:r>
            <a:r>
              <a:rPr lang="zh-CN" altLang="en-US" sz="2200" dirty="0">
                <a:latin typeface="Times New Roman" panose="02020603050405020304" pitchFamily="18" charset="0"/>
                <a:ea typeface="宋体" panose="02010600030101010101" pitchFamily="2" charset="-122"/>
              </a:rPr>
              <a:t>所示。 </a:t>
            </a:r>
            <a:br>
              <a:rPr lang="zh-CN" altLang="en-US" sz="2200" dirty="0">
                <a:latin typeface="Times New Roman" panose="02020603050405020304" pitchFamily="18" charset="0"/>
                <a:ea typeface="宋体" panose="02010600030101010101" pitchFamily="2" charset="-122"/>
              </a:rPr>
            </a:br>
            <a:br>
              <a:rPr lang="zh-CN" altLang="en-US" sz="2000" dirty="0">
                <a:latin typeface="Times New Roman" panose="02020603050405020304" pitchFamily="18" charset="0"/>
                <a:ea typeface="宋体" panose="02010600030101010101" pitchFamily="2" charset="-122"/>
              </a:rPr>
            </a:br>
            <a:endParaRPr lang="zh-CN" altLang="en-US" sz="2000" dirty="0">
              <a:latin typeface="Times New Roman" panose="02020603050405020304" pitchFamily="18" charset="0"/>
              <a:ea typeface="宋体" panose="02010600030101010101" pitchFamily="2" charset="-122"/>
            </a:endParaRPr>
          </a:p>
        </p:txBody>
      </p:sp>
      <p:pic>
        <p:nvPicPr>
          <p:cNvPr id="156677" name="Picture 5">
            <a:extLst>
              <a:ext uri="{FF2B5EF4-FFF2-40B4-BE49-F238E27FC236}">
                <a16:creationId xmlns:a16="http://schemas.microsoft.com/office/drawing/2014/main" id="{C4595D5C-9490-4EED-B76F-51AD4C7B7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3644900"/>
            <a:ext cx="2951163" cy="266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56679" name="Object 7">
            <a:extLst>
              <a:ext uri="{FF2B5EF4-FFF2-40B4-BE49-F238E27FC236}">
                <a16:creationId xmlns:a16="http://schemas.microsoft.com/office/drawing/2014/main" id="{A9904D37-5362-4E74-8B91-0DFD0EA5ABC6}"/>
              </a:ext>
            </a:extLst>
          </p:cNvPr>
          <p:cNvGraphicFramePr>
            <a:graphicFrameLocks noGrp="1" noChangeAspect="1"/>
          </p:cNvGraphicFramePr>
          <p:nvPr>
            <p:ph sz="half" idx="2"/>
          </p:nvPr>
        </p:nvGraphicFramePr>
        <p:xfrm>
          <a:off x="5580063" y="1484313"/>
          <a:ext cx="3240087" cy="2300287"/>
        </p:xfrm>
        <a:graphic>
          <a:graphicData uri="http://schemas.openxmlformats.org/presentationml/2006/ole">
            <mc:AlternateContent xmlns:mc="http://schemas.openxmlformats.org/markup-compatibility/2006">
              <mc:Choice xmlns:v="urn:schemas-microsoft-com:vml" Requires="v">
                <p:oleObj spid="_x0000_s133140" name="位图图像" r:id="rId4" imgW="4238095" imgH="3010320" progId="Paint.Picture">
                  <p:embed/>
                </p:oleObj>
              </mc:Choice>
              <mc:Fallback>
                <p:oleObj name="位图图像" r:id="rId4" imgW="4238095" imgH="3010320" progId="Paint.Picture">
                  <p:embed/>
                  <p:pic>
                    <p:nvPicPr>
                      <p:cNvPr id="156679" name="Object 7">
                        <a:extLst>
                          <a:ext uri="{FF2B5EF4-FFF2-40B4-BE49-F238E27FC236}">
                            <a16:creationId xmlns:a16="http://schemas.microsoft.com/office/drawing/2014/main" id="{A9904D37-5362-4E74-8B91-0DFD0EA5ABC6}"/>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063" y="1484313"/>
                        <a:ext cx="3240087" cy="2300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358056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a:extLst>
              <a:ext uri="{FF2B5EF4-FFF2-40B4-BE49-F238E27FC236}">
                <a16:creationId xmlns:a16="http://schemas.microsoft.com/office/drawing/2014/main" id="{D0248C38-8D20-4FA6-9639-286BEC1DF527}"/>
              </a:ext>
            </a:extLst>
          </p:cNvPr>
          <p:cNvSpPr>
            <a:spLocks noChangeArrowheads="1"/>
          </p:cNvSpPr>
          <p:nvPr/>
        </p:nvSpPr>
        <p:spPr bwMode="auto">
          <a:xfrm>
            <a:off x="203469" y="432998"/>
            <a:ext cx="54006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en-US" altLang="zh-CN" sz="2000" b="1" dirty="0">
                <a:solidFill>
                  <a:srgbClr val="993300"/>
                </a:solidFill>
                <a:latin typeface="Times New Roman" panose="02020603050405020304" pitchFamily="18" charset="0"/>
              </a:rPr>
              <a:t>6.</a:t>
            </a:r>
            <a:r>
              <a:rPr kumimoji="0" lang="zh-CN" altLang="en-US" sz="2000" b="1" dirty="0">
                <a:solidFill>
                  <a:srgbClr val="993300"/>
                </a:solidFill>
                <a:latin typeface="Times New Roman" panose="02020603050405020304" pitchFamily="18" charset="0"/>
              </a:rPr>
              <a:t>隧道二极管的特点和应用上的局限性</a:t>
            </a:r>
          </a:p>
        </p:txBody>
      </p:sp>
      <p:sp>
        <p:nvSpPr>
          <p:cNvPr id="454660" name="Rectangle 4">
            <a:extLst>
              <a:ext uri="{FF2B5EF4-FFF2-40B4-BE49-F238E27FC236}">
                <a16:creationId xmlns:a16="http://schemas.microsoft.com/office/drawing/2014/main" id="{AC40A0D2-C42B-44FD-B971-A532F4DBE7BC}"/>
              </a:ext>
            </a:extLst>
          </p:cNvPr>
          <p:cNvSpPr>
            <a:spLocks noChangeArrowheads="1"/>
          </p:cNvSpPr>
          <p:nvPr/>
        </p:nvSpPr>
        <p:spPr bwMode="auto">
          <a:xfrm>
            <a:off x="214564" y="1350276"/>
            <a:ext cx="864076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dirty="0">
                <a:solidFill>
                  <a:srgbClr val="000066"/>
                </a:solidFill>
                <a:latin typeface="Times New Roman" panose="02020603050405020304" pitchFamily="18" charset="0"/>
              </a:rPr>
              <a:t>（</a:t>
            </a:r>
            <a:r>
              <a:rPr kumimoji="0" lang="en-US" altLang="zh-CN" sz="2000" b="1" dirty="0">
                <a:solidFill>
                  <a:srgbClr val="000066"/>
                </a:solidFill>
                <a:latin typeface="Times New Roman" panose="02020603050405020304" pitchFamily="18" charset="0"/>
              </a:rPr>
              <a:t>1</a:t>
            </a:r>
            <a:r>
              <a:rPr kumimoji="0" lang="zh-CN" altLang="en-US" sz="2000" b="1" dirty="0">
                <a:solidFill>
                  <a:srgbClr val="000066"/>
                </a:solidFill>
                <a:latin typeface="Times New Roman" panose="02020603050405020304" pitchFamily="18" charset="0"/>
              </a:rPr>
              <a:t>）隧道二极管是利用多子的隧道效应工作的。由于单位时间内通过结的多数载流子的数目起伏较小，因此隧道二极管具有</a:t>
            </a:r>
            <a:r>
              <a:rPr kumimoji="0" lang="zh-CN" altLang="en-US" sz="2000" b="1" dirty="0">
                <a:solidFill>
                  <a:srgbClr val="FF3300"/>
                </a:solidFill>
                <a:latin typeface="Times New Roman" panose="02020603050405020304" pitchFamily="18" charset="0"/>
              </a:rPr>
              <a:t>较低的噪声</a:t>
            </a:r>
            <a:r>
              <a:rPr kumimoji="0" lang="zh-CN" altLang="en-US" sz="2000" b="1" dirty="0">
                <a:solidFill>
                  <a:srgbClr val="000066"/>
                </a:solidFill>
                <a:latin typeface="Times New Roman" panose="02020603050405020304" pitchFamily="18" charset="0"/>
              </a:rPr>
              <a:t>。</a:t>
            </a:r>
          </a:p>
        </p:txBody>
      </p:sp>
      <p:sp>
        <p:nvSpPr>
          <p:cNvPr id="454664" name="Rectangle 8">
            <a:extLst>
              <a:ext uri="{FF2B5EF4-FFF2-40B4-BE49-F238E27FC236}">
                <a16:creationId xmlns:a16="http://schemas.microsoft.com/office/drawing/2014/main" id="{06CEE3BC-100A-4EC0-B55E-D1192CE7FDF1}"/>
              </a:ext>
            </a:extLst>
          </p:cNvPr>
          <p:cNvSpPr>
            <a:spLocks noChangeArrowheads="1"/>
          </p:cNvSpPr>
          <p:nvPr/>
        </p:nvSpPr>
        <p:spPr bwMode="auto">
          <a:xfrm>
            <a:off x="203469" y="2378174"/>
            <a:ext cx="879415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1800" b="1">
                <a:solidFill>
                  <a:srgbClr val="000066"/>
                </a:solidFill>
                <a:latin typeface="Times New Roman" panose="02020603050405020304" pitchFamily="18" charset="0"/>
              </a:rPr>
              <a:t>（</a:t>
            </a:r>
            <a:r>
              <a:rPr kumimoji="0" lang="en-US" altLang="zh-CN" sz="2000" b="1">
                <a:solidFill>
                  <a:srgbClr val="000066"/>
                </a:solidFill>
                <a:latin typeface="Times New Roman" panose="02020603050405020304" pitchFamily="18" charset="0"/>
              </a:rPr>
              <a:t>2</a:t>
            </a:r>
            <a:r>
              <a:rPr kumimoji="0" lang="zh-CN" altLang="en-US" sz="2000" b="1">
                <a:solidFill>
                  <a:srgbClr val="000066"/>
                </a:solidFill>
                <a:latin typeface="Times New Roman" panose="02020603050405020304" pitchFamily="18" charset="0"/>
              </a:rPr>
              <a:t>）隧道结是用重掺杂的简并半导体制成，由于温度对多子的影响小，使隧道二级管的</a:t>
            </a:r>
            <a:r>
              <a:rPr kumimoji="0" lang="zh-CN" altLang="en-US" sz="2000" b="1">
                <a:solidFill>
                  <a:srgbClr val="FF3300"/>
                </a:solidFill>
                <a:latin typeface="Times New Roman" panose="02020603050405020304" pitchFamily="18" charset="0"/>
              </a:rPr>
              <a:t>工作温度范围大</a:t>
            </a:r>
            <a:r>
              <a:rPr kumimoji="0" lang="zh-CN" altLang="en-US" sz="2000" b="1">
                <a:solidFill>
                  <a:srgbClr val="000066"/>
                </a:solidFill>
                <a:latin typeface="Times New Roman" panose="02020603050405020304" pitchFamily="18" charset="0"/>
              </a:rPr>
              <a:t>。</a:t>
            </a:r>
          </a:p>
        </p:txBody>
      </p:sp>
      <p:sp>
        <p:nvSpPr>
          <p:cNvPr id="454665" name="Rectangle 9">
            <a:extLst>
              <a:ext uri="{FF2B5EF4-FFF2-40B4-BE49-F238E27FC236}">
                <a16:creationId xmlns:a16="http://schemas.microsoft.com/office/drawing/2014/main" id="{F2489FD6-CBCD-4E0B-9E7A-C786AD73622F}"/>
              </a:ext>
            </a:extLst>
          </p:cNvPr>
          <p:cNvSpPr>
            <a:spLocks noChangeArrowheads="1"/>
          </p:cNvSpPr>
          <p:nvPr/>
        </p:nvSpPr>
        <p:spPr bwMode="auto">
          <a:xfrm>
            <a:off x="251619" y="3272858"/>
            <a:ext cx="864076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dirty="0">
                <a:solidFill>
                  <a:srgbClr val="000066"/>
                </a:solidFill>
                <a:latin typeface="Times New Roman" panose="02020603050405020304" pitchFamily="18" charset="0"/>
              </a:rPr>
              <a:t>（</a:t>
            </a:r>
            <a:r>
              <a:rPr kumimoji="0" lang="en-US" altLang="zh-CN" sz="2000" b="1" dirty="0">
                <a:solidFill>
                  <a:srgbClr val="000066"/>
                </a:solidFill>
                <a:latin typeface="Times New Roman" panose="02020603050405020304" pitchFamily="18" charset="0"/>
              </a:rPr>
              <a:t>3</a:t>
            </a:r>
            <a:r>
              <a:rPr kumimoji="0" lang="zh-CN" altLang="en-US" sz="2000" b="1" dirty="0">
                <a:solidFill>
                  <a:srgbClr val="000066"/>
                </a:solidFill>
                <a:latin typeface="Times New Roman" panose="02020603050405020304" pitchFamily="18" charset="0"/>
              </a:rPr>
              <a:t>）由于隧道效应的本质是量子跃迁过程，电子穿越势垒极其迅速，不受电子渡越时间的限制，因此</a:t>
            </a:r>
            <a:r>
              <a:rPr kumimoji="0" lang="zh-CN" altLang="en-US" sz="2000" b="1" dirty="0">
                <a:solidFill>
                  <a:srgbClr val="FF3300"/>
                </a:solidFill>
                <a:latin typeface="Times New Roman" panose="02020603050405020304" pitchFamily="18" charset="0"/>
              </a:rPr>
              <a:t>可以在极高频率下工作</a:t>
            </a:r>
            <a:r>
              <a:rPr kumimoji="0" lang="zh-CN" altLang="en-US" sz="2000" b="1" dirty="0">
                <a:solidFill>
                  <a:srgbClr val="000066"/>
                </a:solidFill>
                <a:latin typeface="Times New Roman" panose="02020603050405020304" pitchFamily="18" charset="0"/>
              </a:rPr>
              <a:t>。这种优越的性能，使隧道二级管能够应用于振荡器，双稳态触发器和单稳多谐振荡器，高速逻辑电路以及低噪音微波放大器。</a:t>
            </a:r>
          </a:p>
        </p:txBody>
      </p:sp>
      <p:sp>
        <p:nvSpPr>
          <p:cNvPr id="454666" name="Rectangle 10">
            <a:extLst>
              <a:ext uri="{FF2B5EF4-FFF2-40B4-BE49-F238E27FC236}">
                <a16:creationId xmlns:a16="http://schemas.microsoft.com/office/drawing/2014/main" id="{EBE1C722-267E-42A7-B46E-BDBAC5B3ADF1}"/>
              </a:ext>
            </a:extLst>
          </p:cNvPr>
          <p:cNvSpPr>
            <a:spLocks noChangeArrowheads="1"/>
          </p:cNvSpPr>
          <p:nvPr/>
        </p:nvSpPr>
        <p:spPr bwMode="auto">
          <a:xfrm>
            <a:off x="573339" y="4830589"/>
            <a:ext cx="82819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kumimoji="0" lang="zh-CN" altLang="en-US" sz="2000" b="1" dirty="0">
                <a:solidFill>
                  <a:srgbClr val="FF0000"/>
                </a:solidFill>
                <a:latin typeface="Times New Roman" panose="02020603050405020304" pitchFamily="18" charset="0"/>
              </a:rPr>
              <a:t>由于应用两端有源器件的困难以及难以把它们制成集成电路的形式，隧道二极管的利用受到限制</a:t>
            </a:r>
            <a:r>
              <a:rPr kumimoji="0" lang="zh-CN" altLang="en-US" sz="2000" dirty="0">
                <a:solidFill>
                  <a:srgbClr val="FF0000"/>
                </a:solidFill>
                <a:latin typeface="Times New Roman" panose="02020603050405020304" pitchFamily="18" charset="0"/>
              </a:rPr>
              <a:t> 。</a:t>
            </a:r>
          </a:p>
        </p:txBody>
      </p:sp>
    </p:spTree>
    <p:extLst>
      <p:ext uri="{BB962C8B-B14F-4D97-AF65-F5344CB8AC3E}">
        <p14:creationId xmlns:p14="http://schemas.microsoft.com/office/powerpoint/2010/main" val="26490736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F8E14843-44D3-42BE-9E4F-C09069EDE212}"/>
              </a:ext>
            </a:extLst>
          </p:cNvPr>
          <p:cNvSpPr>
            <a:spLocks noGrp="1" noChangeArrowheads="1"/>
          </p:cNvSpPr>
          <p:nvPr>
            <p:ph type="title"/>
          </p:nvPr>
        </p:nvSpPr>
        <p:spPr>
          <a:xfrm>
            <a:off x="1042988" y="214313"/>
            <a:ext cx="7900987" cy="1462087"/>
          </a:xfrm>
        </p:spPr>
        <p:txBody>
          <a:bodyPr/>
          <a:lstStyle/>
          <a:p>
            <a:pPr>
              <a:lnSpc>
                <a:spcPct val="110000"/>
              </a:lnSpc>
              <a:spcBef>
                <a:spcPts val="0"/>
              </a:spcBef>
            </a:pPr>
            <a:r>
              <a:rPr lang="en-US" altLang="zh-CN">
                <a:latin typeface="Times New Roman" panose="02020603050405020304" pitchFamily="18" charset="0"/>
                <a:ea typeface="宋体" panose="02010600030101010101" pitchFamily="2" charset="-122"/>
              </a:rPr>
              <a:t>2.7 </a:t>
            </a:r>
            <a:r>
              <a:rPr lang="zh-CN" altLang="en-US">
                <a:latin typeface="Times New Roman" panose="02020603050405020304" pitchFamily="18" charset="0"/>
                <a:ea typeface="宋体" panose="02010600030101010101" pitchFamily="2" charset="-122"/>
              </a:rPr>
              <a:t>晶体二极管特性与设计考虑</a:t>
            </a:r>
            <a:br>
              <a:rPr lang="zh-CN" altLang="en-US">
                <a:latin typeface="Times New Roman" panose="02020603050405020304" pitchFamily="18" charset="0"/>
                <a:ea typeface="宋体" panose="02010600030101010101" pitchFamily="2" charset="-122"/>
              </a:rPr>
            </a:br>
            <a:r>
              <a:rPr lang="en-US" altLang="zh-CN" sz="3200">
                <a:latin typeface="Times New Roman" panose="02020603050405020304" pitchFamily="18" charset="0"/>
                <a:ea typeface="宋体" panose="02010600030101010101" pitchFamily="2" charset="-122"/>
              </a:rPr>
              <a:t>2.7.1 </a:t>
            </a:r>
            <a:r>
              <a:rPr lang="zh-CN" altLang="en-US" sz="3200">
                <a:latin typeface="Times New Roman" panose="02020603050405020304" pitchFamily="18" charset="0"/>
                <a:ea typeface="宋体" panose="02010600030101010101" pitchFamily="2" charset="-122"/>
              </a:rPr>
              <a:t>晶体二极管的基本结构</a:t>
            </a:r>
            <a:endParaRPr lang="zh-CN" altLang="en-US">
              <a:latin typeface="Times New Roman" panose="02020603050405020304" pitchFamily="18" charset="0"/>
              <a:ea typeface="宋体" panose="02010600030101010101" pitchFamily="2" charset="-122"/>
            </a:endParaRPr>
          </a:p>
        </p:txBody>
      </p:sp>
      <p:sp>
        <p:nvSpPr>
          <p:cNvPr id="110595" name="Rectangle 3">
            <a:extLst>
              <a:ext uri="{FF2B5EF4-FFF2-40B4-BE49-F238E27FC236}">
                <a16:creationId xmlns:a16="http://schemas.microsoft.com/office/drawing/2014/main" id="{888D749B-5D8E-4423-A189-7E1154D9F9EB}"/>
              </a:ext>
            </a:extLst>
          </p:cNvPr>
          <p:cNvSpPr>
            <a:spLocks noGrp="1" noChangeArrowheads="1"/>
          </p:cNvSpPr>
          <p:nvPr>
            <p:ph idx="1"/>
          </p:nvPr>
        </p:nvSpPr>
        <p:spPr>
          <a:xfrm>
            <a:off x="1042988" y="2133600"/>
            <a:ext cx="7493000" cy="1627188"/>
          </a:xfrm>
        </p:spPr>
        <p:txBody>
          <a:bodyPr/>
          <a:lstStyle/>
          <a:p>
            <a:pPr>
              <a:lnSpc>
                <a:spcPct val="110000"/>
              </a:lnSpc>
              <a:spcBef>
                <a:spcPts val="0"/>
              </a:spcBef>
            </a:pPr>
            <a:r>
              <a:rPr lang="zh-CN" altLang="en-US" sz="2400">
                <a:latin typeface="Times New Roman" panose="02020603050405020304" pitchFamily="18" charset="0"/>
                <a:ea typeface="宋体" panose="02010600030101010101" pitchFamily="2" charset="-122"/>
              </a:rPr>
              <a:t>晶体二极管是由一个</a:t>
            </a:r>
            <a:r>
              <a:rPr lang="en-US" altLang="zh-CN" sz="2400">
                <a:latin typeface="Times New Roman" panose="02020603050405020304" pitchFamily="18" charset="0"/>
                <a:ea typeface="宋体" panose="02010600030101010101" pitchFamily="2" charset="-122"/>
              </a:rPr>
              <a:t>PN</a:t>
            </a:r>
            <a:r>
              <a:rPr lang="zh-CN" altLang="en-US" sz="2400">
                <a:latin typeface="Times New Roman" panose="02020603050405020304" pitchFamily="18" charset="0"/>
                <a:ea typeface="宋体" panose="02010600030101010101" pitchFamily="2" charset="-122"/>
              </a:rPr>
              <a:t>结、制备上相应的电极引线和管壳封装而成的。由</a:t>
            </a:r>
            <a:r>
              <a:rPr lang="en-US" altLang="zh-CN" sz="2400">
                <a:latin typeface="Times New Roman" panose="02020603050405020304" pitchFamily="18" charset="0"/>
                <a:ea typeface="宋体" panose="02010600030101010101" pitchFamily="2" charset="-122"/>
              </a:rPr>
              <a:t>P</a:t>
            </a:r>
            <a:r>
              <a:rPr lang="zh-CN" altLang="en-US" sz="2400">
                <a:latin typeface="Times New Roman" panose="02020603050405020304" pitchFamily="18" charset="0"/>
                <a:ea typeface="宋体" panose="02010600030101010101" pitchFamily="2" charset="-122"/>
              </a:rPr>
              <a:t>区引出的电极引线为正极，由</a:t>
            </a:r>
            <a:r>
              <a:rPr lang="en-US" altLang="zh-CN" sz="2400">
                <a:latin typeface="Times New Roman" panose="02020603050405020304" pitchFamily="18" charset="0"/>
                <a:ea typeface="宋体" panose="02010600030101010101" pitchFamily="2" charset="-122"/>
              </a:rPr>
              <a:t>N</a:t>
            </a:r>
            <a:r>
              <a:rPr lang="zh-CN" altLang="en-US" sz="2400">
                <a:latin typeface="Times New Roman" panose="02020603050405020304" pitchFamily="18" charset="0"/>
                <a:ea typeface="宋体" panose="02010600030101010101" pitchFamily="2" charset="-122"/>
              </a:rPr>
              <a:t>区引出的电极为负极。</a:t>
            </a:r>
          </a:p>
        </p:txBody>
      </p:sp>
      <p:pic>
        <p:nvPicPr>
          <p:cNvPr id="110596" name="Picture 4" descr="0256">
            <a:extLst>
              <a:ext uri="{FF2B5EF4-FFF2-40B4-BE49-F238E27FC236}">
                <a16:creationId xmlns:a16="http://schemas.microsoft.com/office/drawing/2014/main" id="{A89977AD-674F-4F58-AB96-C41A4E3138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4076700"/>
            <a:ext cx="6626225" cy="811213"/>
          </a:xfrm>
          <a:prstGeom prst="rect">
            <a:avLst/>
          </a:prstGeom>
          <a:noFill/>
          <a:extLst>
            <a:ext uri="{909E8E84-426E-40DD-AFC4-6F175D3DCCD1}">
              <a14:hiddenFill xmlns:a14="http://schemas.microsoft.com/office/drawing/2010/main">
                <a:solidFill>
                  <a:srgbClr val="FFFFFF"/>
                </a:solidFill>
              </a14:hiddenFill>
            </a:ext>
          </a:extLst>
        </p:spPr>
      </p:pic>
      <p:sp>
        <p:nvSpPr>
          <p:cNvPr id="110597" name="Text Box 5">
            <a:extLst>
              <a:ext uri="{FF2B5EF4-FFF2-40B4-BE49-F238E27FC236}">
                <a16:creationId xmlns:a16="http://schemas.microsoft.com/office/drawing/2014/main" id="{91E33594-B75B-41A1-A73C-E50E516EE947}"/>
              </a:ext>
            </a:extLst>
          </p:cNvPr>
          <p:cNvSpPr txBox="1">
            <a:spLocks noChangeArrowheads="1"/>
          </p:cNvSpPr>
          <p:nvPr/>
        </p:nvSpPr>
        <p:spPr bwMode="auto">
          <a:xfrm>
            <a:off x="1908175" y="5229225"/>
            <a:ext cx="6192838"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a:latin typeface="Times New Roman" panose="02020603050405020304" pitchFamily="18" charset="0"/>
                <a:ea typeface="宋体" panose="02010600030101010101" pitchFamily="2" charset="-122"/>
              </a:rPr>
              <a:t>晶体二极管的几种外形</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20" name="Picture 4" descr="0257">
            <a:extLst>
              <a:ext uri="{FF2B5EF4-FFF2-40B4-BE49-F238E27FC236}">
                <a16:creationId xmlns:a16="http://schemas.microsoft.com/office/drawing/2014/main" id="{BED95B34-5D9A-4544-858F-527E7C2819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1196975"/>
            <a:ext cx="5761038" cy="4778375"/>
          </a:xfrm>
          <a:prstGeom prst="rect">
            <a:avLst/>
          </a:prstGeom>
          <a:noFill/>
          <a:extLst>
            <a:ext uri="{909E8E84-426E-40DD-AFC4-6F175D3DCCD1}">
              <a14:hiddenFill xmlns:a14="http://schemas.microsoft.com/office/drawing/2010/main">
                <a:solidFill>
                  <a:srgbClr val="FFFFFF"/>
                </a:solidFill>
              </a14:hiddenFill>
            </a:ext>
          </a:extLst>
        </p:spPr>
      </p:pic>
      <p:sp>
        <p:nvSpPr>
          <p:cNvPr id="111621" name="Text Box 5">
            <a:extLst>
              <a:ext uri="{FF2B5EF4-FFF2-40B4-BE49-F238E27FC236}">
                <a16:creationId xmlns:a16="http://schemas.microsoft.com/office/drawing/2014/main" id="{FA27211D-E63E-4D38-86DD-C1FFF2217921}"/>
              </a:ext>
            </a:extLst>
          </p:cNvPr>
          <p:cNvSpPr txBox="1">
            <a:spLocks noChangeArrowheads="1"/>
          </p:cNvSpPr>
          <p:nvPr/>
        </p:nvSpPr>
        <p:spPr bwMode="auto">
          <a:xfrm>
            <a:off x="2339975" y="5876925"/>
            <a:ext cx="6119813"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a:latin typeface="Times New Roman" panose="02020603050405020304" pitchFamily="18" charset="0"/>
                <a:ea typeface="宋体" panose="02010600030101010101" pitchFamily="2" charset="-122"/>
              </a:rPr>
              <a:t>晶体二极管的基本结构与符号</a:t>
            </a:r>
          </a:p>
          <a:p>
            <a:pPr algn="ctr">
              <a:lnSpc>
                <a:spcPct val="110000"/>
              </a:lnSpc>
            </a:pPr>
            <a:r>
              <a:rPr lang="en-US" altLang="zh-CN">
                <a:latin typeface="Times New Roman" panose="02020603050405020304" pitchFamily="18" charset="0"/>
                <a:ea typeface="宋体" panose="02010600030101010101" pitchFamily="2" charset="-122"/>
              </a:rPr>
              <a:t>a</a:t>
            </a:r>
            <a:r>
              <a:rPr lang="zh-CN" altLang="en-US">
                <a:latin typeface="Times New Roman" panose="02020603050405020304" pitchFamily="18" charset="0"/>
                <a:ea typeface="宋体" panose="02010600030101010101" pitchFamily="2" charset="-122"/>
              </a:rPr>
              <a:t>） 点接触型 </a:t>
            </a:r>
            <a:r>
              <a:rPr lang="en-US" altLang="zh-CN">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 面接触型 </a:t>
            </a:r>
            <a:r>
              <a:rPr lang="en-US" altLang="zh-CN">
                <a:latin typeface="Times New Roman" panose="02020603050405020304" pitchFamily="18" charset="0"/>
                <a:ea typeface="宋体" panose="02010600030101010101" pitchFamily="2" charset="-122"/>
              </a:rPr>
              <a:t>c</a:t>
            </a:r>
            <a:r>
              <a:rPr lang="zh-CN" altLang="en-US">
                <a:latin typeface="Times New Roman" panose="02020603050405020304" pitchFamily="18" charset="0"/>
                <a:ea typeface="宋体" panose="02010600030101010101" pitchFamily="2" charset="-122"/>
              </a:rPr>
              <a:t>） 平面型 </a:t>
            </a:r>
            <a:r>
              <a:rPr lang="en-US" altLang="zh-CN">
                <a:latin typeface="Times New Roman" panose="02020603050405020304" pitchFamily="18" charset="0"/>
                <a:ea typeface="宋体" panose="02010600030101010101" pitchFamily="2" charset="-122"/>
              </a:rPr>
              <a:t>d</a:t>
            </a:r>
            <a:r>
              <a:rPr lang="zh-CN" altLang="en-US">
                <a:latin typeface="Times New Roman" panose="02020603050405020304" pitchFamily="18" charset="0"/>
                <a:ea typeface="宋体" panose="02010600030101010101" pitchFamily="2" charset="-122"/>
              </a:rPr>
              <a:t>）二极管的符号</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4600ECD0-2BAE-453C-9B9B-72D69B9A60C4}"/>
              </a:ext>
            </a:extLst>
          </p:cNvPr>
          <p:cNvSpPr>
            <a:spLocks noGrp="1" noChangeArrowheads="1"/>
          </p:cNvSpPr>
          <p:nvPr>
            <p:ph type="title"/>
          </p:nvPr>
        </p:nvSpPr>
        <p:spPr/>
        <p:txBody>
          <a:bodyPr/>
          <a:lstStyle/>
          <a:p>
            <a:pPr>
              <a:lnSpc>
                <a:spcPct val="110000"/>
              </a:lnSpc>
              <a:spcBef>
                <a:spcPts val="0"/>
              </a:spcBef>
            </a:pPr>
            <a:r>
              <a:rPr lang="en-US" altLang="zh-CN" sz="3200">
                <a:latin typeface="Times New Roman" panose="02020603050405020304" pitchFamily="18" charset="0"/>
                <a:ea typeface="宋体" panose="02010600030101010101" pitchFamily="2" charset="-122"/>
              </a:rPr>
              <a:t>2.7.2 </a:t>
            </a:r>
            <a:r>
              <a:rPr lang="zh-CN" altLang="en-US" sz="3200">
                <a:latin typeface="Times New Roman" panose="02020603050405020304" pitchFamily="18" charset="0"/>
                <a:ea typeface="宋体" panose="02010600030101010101" pitchFamily="2" charset="-122"/>
              </a:rPr>
              <a:t>晶体二极管的伏安特性与主要参数</a:t>
            </a:r>
          </a:p>
        </p:txBody>
      </p:sp>
      <p:sp>
        <p:nvSpPr>
          <p:cNvPr id="112643" name="Rectangle 3">
            <a:extLst>
              <a:ext uri="{FF2B5EF4-FFF2-40B4-BE49-F238E27FC236}">
                <a16:creationId xmlns:a16="http://schemas.microsoft.com/office/drawing/2014/main" id="{24E87EE4-E5F3-47FC-9DDC-7579D59AA128}"/>
              </a:ext>
            </a:extLst>
          </p:cNvPr>
          <p:cNvSpPr>
            <a:spLocks noGrp="1" noChangeArrowheads="1"/>
          </p:cNvSpPr>
          <p:nvPr>
            <p:ph idx="1"/>
          </p:nvPr>
        </p:nvSpPr>
        <p:spPr>
          <a:xfrm>
            <a:off x="683568" y="1543050"/>
            <a:ext cx="7566025" cy="1339850"/>
          </a:xfrm>
        </p:spPr>
        <p:txBody>
          <a:bodyPr/>
          <a:lstStyle/>
          <a:p>
            <a:pPr>
              <a:lnSpc>
                <a:spcPct val="110000"/>
              </a:lnSpc>
              <a:spcBef>
                <a:spcPts val="0"/>
              </a:spcBef>
            </a:pPr>
            <a:r>
              <a:rPr lang="zh-CN" altLang="en-US" sz="2400" dirty="0">
                <a:latin typeface="Times New Roman" panose="02020603050405020304" pitchFamily="18" charset="0"/>
                <a:ea typeface="宋体" panose="02010600030101010101" pitchFamily="2" charset="-122"/>
              </a:rPr>
              <a:t>二极管的伏安特性</a:t>
            </a:r>
          </a:p>
          <a:p>
            <a:pPr>
              <a:lnSpc>
                <a:spcPct val="110000"/>
              </a:lnSpc>
              <a:spcBef>
                <a:spcPts val="0"/>
              </a:spcBef>
              <a:buFont typeface="Wingdings" panose="05000000000000000000" pitchFamily="2" charset="2"/>
              <a:buNone/>
            </a:pPr>
            <a:r>
              <a:rPr lang="zh-CN" altLang="en-US" sz="2400" dirty="0">
                <a:latin typeface="Times New Roman" panose="02020603050405020304" pitchFamily="18" charset="0"/>
                <a:ea typeface="宋体" panose="02010600030101010101" pitchFamily="2" charset="-122"/>
              </a:rPr>
              <a:t>	二极管的伏安特性就是指流过二极管中的电流</a:t>
            </a:r>
            <a:r>
              <a:rPr lang="en-US" altLang="zh-CN" sz="2400" dirty="0">
                <a:latin typeface="Times New Roman" panose="02020603050405020304" pitchFamily="18" charset="0"/>
                <a:ea typeface="宋体" panose="02010600030101010101" pitchFamily="2" charset="-122"/>
              </a:rPr>
              <a:t>I</a:t>
            </a:r>
            <a:r>
              <a:rPr lang="zh-CN" altLang="en-US" sz="2400" dirty="0">
                <a:latin typeface="Times New Roman" panose="02020603050405020304" pitchFamily="18" charset="0"/>
                <a:ea typeface="宋体" panose="02010600030101010101" pitchFamily="2" charset="-122"/>
              </a:rPr>
              <a:t>与其端电压</a:t>
            </a:r>
            <a:r>
              <a:rPr lang="en-US" altLang="zh-CN" sz="2400" dirty="0">
                <a:latin typeface="Times New Roman" panose="02020603050405020304" pitchFamily="18" charset="0"/>
                <a:ea typeface="宋体" panose="02010600030101010101" pitchFamily="2" charset="-122"/>
              </a:rPr>
              <a:t>U</a:t>
            </a:r>
            <a:r>
              <a:rPr lang="zh-CN" altLang="en-US" sz="2400" dirty="0">
                <a:latin typeface="Times New Roman" panose="02020603050405020304" pitchFamily="18" charset="0"/>
                <a:ea typeface="宋体" panose="02010600030101010101" pitchFamily="2" charset="-122"/>
              </a:rPr>
              <a:t>之间的关系曲线</a:t>
            </a:r>
          </a:p>
        </p:txBody>
      </p:sp>
      <p:pic>
        <p:nvPicPr>
          <p:cNvPr id="112644" name="Picture 4" descr="0258">
            <a:extLst>
              <a:ext uri="{FF2B5EF4-FFF2-40B4-BE49-F238E27FC236}">
                <a16:creationId xmlns:a16="http://schemas.microsoft.com/office/drawing/2014/main" id="{FA2DEE76-CB94-438A-88E6-01675100E1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3744336"/>
            <a:ext cx="3465346" cy="2263751"/>
          </a:xfrm>
          <a:prstGeom prst="rect">
            <a:avLst/>
          </a:prstGeom>
          <a:noFill/>
          <a:extLst>
            <a:ext uri="{909E8E84-426E-40DD-AFC4-6F175D3DCCD1}">
              <a14:hiddenFill xmlns:a14="http://schemas.microsoft.com/office/drawing/2010/main">
                <a:solidFill>
                  <a:srgbClr val="FFFFFF"/>
                </a:solidFill>
              </a14:hiddenFill>
            </a:ext>
          </a:extLst>
        </p:spPr>
      </p:pic>
      <p:sp>
        <p:nvSpPr>
          <p:cNvPr id="112645" name="Text Box 5">
            <a:extLst>
              <a:ext uri="{FF2B5EF4-FFF2-40B4-BE49-F238E27FC236}">
                <a16:creationId xmlns:a16="http://schemas.microsoft.com/office/drawing/2014/main" id="{81A4F025-6848-43ED-A956-6594760A9E44}"/>
              </a:ext>
            </a:extLst>
          </p:cNvPr>
          <p:cNvSpPr txBox="1">
            <a:spLocks noChangeArrowheads="1"/>
          </p:cNvSpPr>
          <p:nvPr/>
        </p:nvSpPr>
        <p:spPr bwMode="auto">
          <a:xfrm>
            <a:off x="2124075" y="6381750"/>
            <a:ext cx="5472113"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a:latin typeface="Times New Roman" panose="02020603050405020304" pitchFamily="18" charset="0"/>
                <a:ea typeface="宋体" panose="02010600030101010101" pitchFamily="2" charset="-122"/>
              </a:rPr>
              <a:t>二极管的伏安特性曲线</a:t>
            </a:r>
          </a:p>
        </p:txBody>
      </p:sp>
      <p:sp>
        <p:nvSpPr>
          <p:cNvPr id="6" name="Rectangle 4">
            <a:extLst>
              <a:ext uri="{FF2B5EF4-FFF2-40B4-BE49-F238E27FC236}">
                <a16:creationId xmlns:a16="http://schemas.microsoft.com/office/drawing/2014/main" id="{30F970F7-1E46-4A16-BCDB-726FE4FDE293}"/>
              </a:ext>
            </a:extLst>
          </p:cNvPr>
          <p:cNvSpPr>
            <a:spLocks noChangeArrowheads="1"/>
          </p:cNvSpPr>
          <p:nvPr/>
        </p:nvSpPr>
        <p:spPr bwMode="auto">
          <a:xfrm>
            <a:off x="4840287" y="3256563"/>
            <a:ext cx="3694937"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110000"/>
              </a:lnSpc>
              <a:spcBef>
                <a:spcPts val="0"/>
              </a:spcBef>
            </a:pPr>
            <a:r>
              <a:rPr lang="zh-CN" altLang="en-US" sz="2400" dirty="0">
                <a:latin typeface="Times New Roman" panose="02020603050405020304" pitchFamily="18" charset="0"/>
              </a:rPr>
              <a:t>二极管的主要参数</a:t>
            </a:r>
          </a:p>
        </p:txBody>
      </p:sp>
      <p:sp>
        <p:nvSpPr>
          <p:cNvPr id="7" name="Rectangle 5">
            <a:extLst>
              <a:ext uri="{FF2B5EF4-FFF2-40B4-BE49-F238E27FC236}">
                <a16:creationId xmlns:a16="http://schemas.microsoft.com/office/drawing/2014/main" id="{65306462-89ED-4D5C-92A2-E8835965A8CE}"/>
              </a:ext>
            </a:extLst>
          </p:cNvPr>
          <p:cNvSpPr>
            <a:spLocks noChangeArrowheads="1"/>
          </p:cNvSpPr>
          <p:nvPr/>
        </p:nvSpPr>
        <p:spPr bwMode="auto">
          <a:xfrm>
            <a:off x="4911724" y="4048726"/>
            <a:ext cx="3836989" cy="252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990600" indent="-5334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371600" indent="-4572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752600" indent="-3810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209800" indent="-3810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667000" indent="-3810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3124200" indent="-3810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581400" indent="-3810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4038600" indent="-3810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110000"/>
              </a:lnSpc>
              <a:spcBef>
                <a:spcPts val="0"/>
              </a:spcBef>
              <a:buFont typeface="Wingdings" panose="05000000000000000000" pitchFamily="2" charset="2"/>
              <a:buAutoNum type="circleNumDbPlain"/>
            </a:pPr>
            <a:r>
              <a:rPr lang="zh-CN" altLang="en-US" sz="2400">
                <a:latin typeface="Times New Roman" panose="02020603050405020304" pitchFamily="18" charset="0"/>
              </a:rPr>
              <a:t>最大整流电流</a:t>
            </a:r>
            <a:r>
              <a:rPr lang="en-US" altLang="zh-CN" sz="2400">
                <a:latin typeface="Times New Roman" panose="02020603050405020304" pitchFamily="18" charset="0"/>
              </a:rPr>
              <a:t>I</a:t>
            </a:r>
            <a:r>
              <a:rPr lang="en-US" altLang="zh-CN" sz="2400" baseline="-25000">
                <a:latin typeface="Times New Roman" panose="02020603050405020304" pitchFamily="18" charset="0"/>
              </a:rPr>
              <a:t>CM</a:t>
            </a:r>
          </a:p>
          <a:p>
            <a:pPr>
              <a:lnSpc>
                <a:spcPct val="110000"/>
              </a:lnSpc>
              <a:spcBef>
                <a:spcPts val="0"/>
              </a:spcBef>
              <a:buFont typeface="Wingdings" panose="05000000000000000000" pitchFamily="2" charset="2"/>
              <a:buAutoNum type="circleNumDbPlain"/>
            </a:pPr>
            <a:r>
              <a:rPr lang="zh-CN" altLang="en-US" sz="2400">
                <a:latin typeface="Times New Roman" panose="02020603050405020304" pitchFamily="18" charset="0"/>
              </a:rPr>
              <a:t>最高反向工作电压</a:t>
            </a:r>
            <a:r>
              <a:rPr lang="en-US" altLang="zh-CN" sz="2400">
                <a:latin typeface="Times New Roman" panose="02020603050405020304" pitchFamily="18" charset="0"/>
              </a:rPr>
              <a:t>U</a:t>
            </a:r>
            <a:r>
              <a:rPr lang="en-US" altLang="zh-CN" sz="2400" baseline="-25000">
                <a:latin typeface="Times New Roman" panose="02020603050405020304" pitchFamily="18" charset="0"/>
              </a:rPr>
              <a:t>RM</a:t>
            </a:r>
          </a:p>
          <a:p>
            <a:pPr>
              <a:lnSpc>
                <a:spcPct val="110000"/>
              </a:lnSpc>
              <a:spcBef>
                <a:spcPts val="0"/>
              </a:spcBef>
              <a:buFont typeface="Wingdings" panose="05000000000000000000" pitchFamily="2" charset="2"/>
              <a:buAutoNum type="circleNumDbPlain"/>
            </a:pPr>
            <a:r>
              <a:rPr lang="zh-CN" altLang="en-US" sz="2400">
                <a:latin typeface="Times New Roman" panose="02020603050405020304" pitchFamily="18" charset="0"/>
              </a:rPr>
              <a:t>反向电流</a:t>
            </a:r>
            <a:r>
              <a:rPr lang="en-US" altLang="zh-CN" sz="2400">
                <a:latin typeface="Times New Roman" panose="02020603050405020304" pitchFamily="18" charset="0"/>
              </a:rPr>
              <a:t>I</a:t>
            </a:r>
            <a:r>
              <a:rPr lang="en-US" altLang="zh-CN" sz="2400" baseline="-25000">
                <a:latin typeface="Times New Roman" panose="02020603050405020304" pitchFamily="18" charset="0"/>
              </a:rPr>
              <a:t>R</a:t>
            </a:r>
          </a:p>
          <a:p>
            <a:pPr>
              <a:lnSpc>
                <a:spcPct val="110000"/>
              </a:lnSpc>
              <a:spcBef>
                <a:spcPts val="0"/>
              </a:spcBef>
              <a:buFont typeface="Wingdings" panose="05000000000000000000" pitchFamily="2" charset="2"/>
              <a:buAutoNum type="circleNumDbPlain"/>
            </a:pPr>
            <a:r>
              <a:rPr lang="zh-CN" altLang="en-US" sz="2400">
                <a:latin typeface="Times New Roman" panose="02020603050405020304" pitchFamily="18" charset="0"/>
              </a:rPr>
              <a:t>最高工作频率</a:t>
            </a:r>
            <a:r>
              <a:rPr lang="en-US" altLang="zh-CN" sz="2400">
                <a:latin typeface="Times New Roman" panose="02020603050405020304" pitchFamily="18" charset="0"/>
              </a:rPr>
              <a:t>f</a:t>
            </a:r>
            <a:r>
              <a:rPr lang="en-US" altLang="zh-CN" sz="2400" baseline="-25000">
                <a:latin typeface="Times New Roman" panose="02020603050405020304" pitchFamily="18" charset="0"/>
              </a:rPr>
              <a:t>M</a:t>
            </a:r>
          </a:p>
          <a:p>
            <a:pPr>
              <a:lnSpc>
                <a:spcPct val="110000"/>
              </a:lnSpc>
              <a:spcBef>
                <a:spcPts val="0"/>
              </a:spcBef>
              <a:buFont typeface="Wingdings" panose="05000000000000000000" pitchFamily="2" charset="2"/>
              <a:buAutoNum type="circleNumDbPlain"/>
            </a:pPr>
            <a:r>
              <a:rPr lang="zh-CN" altLang="en-US" sz="2400">
                <a:latin typeface="Times New Roman" panose="02020603050405020304" pitchFamily="18" charset="0"/>
              </a:rPr>
              <a:t>最大耗散功率</a:t>
            </a:r>
            <a:r>
              <a:rPr lang="en-US" altLang="zh-CN" sz="2400">
                <a:latin typeface="Times New Roman" panose="02020603050405020304" pitchFamily="18" charset="0"/>
              </a:rPr>
              <a:t>P</a:t>
            </a:r>
            <a:r>
              <a:rPr lang="en-US" altLang="zh-CN" sz="2400" baseline="-25000">
                <a:latin typeface="Times New Roman" panose="02020603050405020304" pitchFamily="18" charset="0"/>
              </a:rPr>
              <a:t>CM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692BA1F-D8FF-4AB3-9E5B-4E79FCB11450}"/>
              </a:ext>
            </a:extLst>
          </p:cNvPr>
          <p:cNvSpPr>
            <a:spLocks noGrp="1" noChangeArrowheads="1"/>
          </p:cNvSpPr>
          <p:nvPr>
            <p:ph type="title"/>
          </p:nvPr>
        </p:nvSpPr>
        <p:spPr>
          <a:xfrm>
            <a:off x="251520" y="71618"/>
            <a:ext cx="7886700" cy="1325563"/>
          </a:xfrm>
        </p:spPr>
        <p:txBody>
          <a:bodyPr/>
          <a:lstStyle/>
          <a:p>
            <a:pPr>
              <a:lnSpc>
                <a:spcPct val="110000"/>
              </a:lnSpc>
              <a:spcBef>
                <a:spcPts val="0"/>
              </a:spcBef>
            </a:pPr>
            <a:r>
              <a:rPr lang="en-US" altLang="zh-CN" sz="3200" dirty="0">
                <a:latin typeface="Times New Roman" panose="02020603050405020304" pitchFamily="18" charset="0"/>
                <a:ea typeface="宋体" panose="02010600030101010101" pitchFamily="2" charset="-122"/>
              </a:rPr>
              <a:t>2.7.3 </a:t>
            </a:r>
            <a:r>
              <a:rPr lang="zh-CN" altLang="en-US" sz="3200" dirty="0">
                <a:latin typeface="Times New Roman" panose="02020603050405020304" pitchFamily="18" charset="0"/>
                <a:ea typeface="宋体" panose="02010600030101010101" pitchFamily="2" charset="-122"/>
              </a:rPr>
              <a:t>几种特殊二极管</a:t>
            </a:r>
          </a:p>
        </p:txBody>
      </p:sp>
      <p:sp>
        <p:nvSpPr>
          <p:cNvPr id="114691" name="Rectangle 3">
            <a:extLst>
              <a:ext uri="{FF2B5EF4-FFF2-40B4-BE49-F238E27FC236}">
                <a16:creationId xmlns:a16="http://schemas.microsoft.com/office/drawing/2014/main" id="{1B4B5D53-5B6F-434B-AAA6-AE3B871F8C79}"/>
              </a:ext>
            </a:extLst>
          </p:cNvPr>
          <p:cNvSpPr>
            <a:spLocks noGrp="1" noChangeArrowheads="1"/>
          </p:cNvSpPr>
          <p:nvPr>
            <p:ph idx="1"/>
          </p:nvPr>
        </p:nvSpPr>
        <p:spPr>
          <a:xfrm>
            <a:off x="356295" y="1269107"/>
            <a:ext cx="7781925" cy="2447925"/>
          </a:xfrm>
        </p:spPr>
        <p:txBody>
          <a:bodyPr>
            <a:normAutofit lnSpcReduction="10000"/>
          </a:bodyPr>
          <a:lstStyle/>
          <a:p>
            <a:pPr marL="609600" indent="-609600">
              <a:lnSpc>
                <a:spcPct val="110000"/>
              </a:lnSpc>
              <a:spcBef>
                <a:spcPts val="0"/>
              </a:spcBef>
            </a:pPr>
            <a:r>
              <a:rPr lang="zh-CN" altLang="en-US" sz="2400" dirty="0">
                <a:solidFill>
                  <a:srgbClr val="FF0000"/>
                </a:solidFill>
                <a:latin typeface="Times New Roman" panose="02020603050405020304" pitchFamily="18" charset="0"/>
                <a:ea typeface="宋体" panose="02010600030101010101" pitchFamily="2" charset="-122"/>
              </a:rPr>
              <a:t>稳压二极管</a:t>
            </a:r>
          </a:p>
          <a:p>
            <a:pPr marL="609600" indent="-609600">
              <a:lnSpc>
                <a:spcPct val="110000"/>
              </a:lnSpc>
              <a:spcBef>
                <a:spcPts val="0"/>
              </a:spcBef>
              <a:buFont typeface="Wingdings" panose="05000000000000000000" pitchFamily="2" charset="2"/>
              <a:buNone/>
            </a:pPr>
            <a:r>
              <a:rPr lang="zh-CN" altLang="en-US" sz="2400" dirty="0">
                <a:latin typeface="Times New Roman" panose="02020603050405020304" pitchFamily="18" charset="0"/>
                <a:ea typeface="宋体" panose="02010600030101010101" pitchFamily="2" charset="-122"/>
              </a:rPr>
              <a:t>	稳压二极管是一种用特殊工艺制成的硅材料面接触型晶体二极管，它在反向击穿时，在一定的电流范围内，端电压几乎不变，表现出稳压特性，因而广泛应用于稳压电源与限幅电路中。</a:t>
            </a:r>
          </a:p>
          <a:p>
            <a:pPr marL="609600" indent="-609600">
              <a:lnSpc>
                <a:spcPct val="110000"/>
              </a:lnSpc>
              <a:spcBef>
                <a:spcPts val="0"/>
              </a:spcBef>
              <a:buFont typeface="Wingdings" panose="05000000000000000000" pitchFamily="2" charset="2"/>
              <a:buAutoNum type="circleNumDbPlain"/>
            </a:pPr>
            <a:r>
              <a:rPr lang="zh-CN" altLang="en-US" sz="2400" dirty="0">
                <a:latin typeface="Times New Roman" panose="02020603050405020304" pitchFamily="18" charset="0"/>
                <a:ea typeface="宋体" panose="02010600030101010101" pitchFamily="2" charset="-122"/>
              </a:rPr>
              <a:t>稳压二极管的伏安特性</a:t>
            </a:r>
          </a:p>
        </p:txBody>
      </p:sp>
      <p:pic>
        <p:nvPicPr>
          <p:cNvPr id="4" name="Picture 4" descr="0259">
            <a:extLst>
              <a:ext uri="{FF2B5EF4-FFF2-40B4-BE49-F238E27FC236}">
                <a16:creationId xmlns:a16="http://schemas.microsoft.com/office/drawing/2014/main" id="{9CA49CEA-2681-43C6-9652-D0F3468FEE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834816"/>
            <a:ext cx="4013738" cy="24479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80755E7A-DE37-46EF-8BBE-A0577165D058}"/>
              </a:ext>
            </a:extLst>
          </p:cNvPr>
          <p:cNvSpPr txBox="1">
            <a:spLocks noChangeArrowheads="1"/>
          </p:cNvSpPr>
          <p:nvPr/>
        </p:nvSpPr>
        <p:spPr>
          <a:xfrm>
            <a:off x="356295" y="3711809"/>
            <a:ext cx="3943350" cy="26834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10000"/>
              </a:lnSpc>
              <a:spcBef>
                <a:spcPts val="0"/>
              </a:spcBef>
              <a:buFont typeface="Wingdings" panose="05000000000000000000" pitchFamily="2" charset="2"/>
              <a:buAutoNum type="circleNumDbPlain" startAt="2"/>
            </a:pPr>
            <a:r>
              <a:rPr lang="zh-CN" altLang="en-US" sz="2400" dirty="0">
                <a:latin typeface="Times New Roman" panose="02020603050405020304" pitchFamily="18" charset="0"/>
                <a:ea typeface="宋体" panose="02010600030101010101" pitchFamily="2" charset="-122"/>
              </a:rPr>
              <a:t>稳压二极管的主要参数</a:t>
            </a:r>
          </a:p>
          <a:p>
            <a:pPr marL="609600" indent="-609600">
              <a:lnSpc>
                <a:spcPct val="110000"/>
              </a:lnSpc>
              <a:spcBef>
                <a:spcPts val="0"/>
              </a:spcBef>
              <a:buFont typeface="Wingdings" panose="05000000000000000000" pitchFamily="2" charset="2"/>
              <a:buNone/>
            </a:pPr>
            <a:r>
              <a:rPr lang="zh-CN" altLang="en-US" sz="2400" dirty="0">
                <a:latin typeface="Times New Roman" panose="02020603050405020304" pitchFamily="18" charset="0"/>
                <a:ea typeface="宋体" panose="02010600030101010101" pitchFamily="2" charset="-122"/>
              </a:rPr>
              <a:t>	稳压电压</a:t>
            </a:r>
            <a:r>
              <a:rPr lang="en-US" altLang="zh-CN" sz="2400" dirty="0">
                <a:latin typeface="Times New Roman" panose="02020603050405020304" pitchFamily="18" charset="0"/>
                <a:ea typeface="宋体" panose="02010600030101010101" pitchFamily="2" charset="-122"/>
              </a:rPr>
              <a:t>U</a:t>
            </a:r>
            <a:r>
              <a:rPr lang="en-US" altLang="zh-CN" sz="2400" baseline="-25000" dirty="0">
                <a:latin typeface="Times New Roman" panose="02020603050405020304" pitchFamily="18" charset="0"/>
                <a:ea typeface="宋体" panose="02010600030101010101" pitchFamily="2" charset="-122"/>
              </a:rPr>
              <a:t>Z</a:t>
            </a:r>
          </a:p>
          <a:p>
            <a:pPr marL="609600" indent="-609600">
              <a:lnSpc>
                <a:spcPct val="110000"/>
              </a:lnSpc>
              <a:spcBef>
                <a:spcPts val="0"/>
              </a:spcBef>
              <a:buFont typeface="Wingdings" panose="05000000000000000000" pitchFamily="2" charset="2"/>
              <a:buNone/>
            </a:pP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稳压电流</a:t>
            </a:r>
            <a:r>
              <a:rPr lang="en-US" altLang="zh-CN" sz="2400" dirty="0">
                <a:latin typeface="Times New Roman" panose="02020603050405020304" pitchFamily="18" charset="0"/>
                <a:ea typeface="宋体" panose="02010600030101010101" pitchFamily="2" charset="-122"/>
              </a:rPr>
              <a:t>I</a:t>
            </a:r>
            <a:r>
              <a:rPr lang="en-US" altLang="zh-CN" sz="2400" baseline="-25000" dirty="0">
                <a:latin typeface="Times New Roman" panose="02020603050405020304" pitchFamily="18" charset="0"/>
                <a:ea typeface="宋体" panose="02010600030101010101" pitchFamily="2" charset="-122"/>
              </a:rPr>
              <a:t>Z</a:t>
            </a:r>
          </a:p>
          <a:p>
            <a:pPr marL="609600" indent="-609600">
              <a:lnSpc>
                <a:spcPct val="110000"/>
              </a:lnSpc>
              <a:spcBef>
                <a:spcPts val="0"/>
              </a:spcBef>
              <a:buFont typeface="Wingdings" panose="05000000000000000000" pitchFamily="2" charset="2"/>
              <a:buNone/>
            </a:pP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额定功耗</a:t>
            </a:r>
            <a:r>
              <a:rPr lang="en-US" altLang="zh-CN" sz="2400" dirty="0">
                <a:latin typeface="Times New Roman" panose="02020603050405020304" pitchFamily="18" charset="0"/>
                <a:ea typeface="宋体" panose="02010600030101010101" pitchFamily="2" charset="-122"/>
              </a:rPr>
              <a:t>P</a:t>
            </a:r>
            <a:r>
              <a:rPr lang="en-US" altLang="zh-CN" sz="2400" baseline="-25000" dirty="0">
                <a:latin typeface="Times New Roman" panose="02020603050405020304" pitchFamily="18" charset="0"/>
                <a:ea typeface="宋体" panose="02010600030101010101" pitchFamily="2" charset="-122"/>
              </a:rPr>
              <a:t>ZM</a:t>
            </a:r>
          </a:p>
          <a:p>
            <a:pPr marL="609600" indent="-609600">
              <a:lnSpc>
                <a:spcPct val="110000"/>
              </a:lnSpc>
              <a:spcBef>
                <a:spcPts val="0"/>
              </a:spcBef>
              <a:buFont typeface="Wingdings" panose="05000000000000000000" pitchFamily="2" charset="2"/>
              <a:buNone/>
            </a:pP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动态电阻</a:t>
            </a:r>
            <a:r>
              <a:rPr lang="en-US" altLang="zh-CN" sz="2400" dirty="0" err="1">
                <a:latin typeface="Times New Roman" panose="02020603050405020304" pitchFamily="18" charset="0"/>
                <a:ea typeface="宋体" panose="02010600030101010101" pitchFamily="2" charset="-122"/>
              </a:rPr>
              <a:t>r</a:t>
            </a:r>
            <a:r>
              <a:rPr lang="en-US" altLang="zh-CN" sz="2400" baseline="-25000" dirty="0" err="1">
                <a:latin typeface="Times New Roman" panose="02020603050405020304" pitchFamily="18" charset="0"/>
                <a:ea typeface="宋体" panose="02010600030101010101" pitchFamily="2" charset="-122"/>
              </a:rPr>
              <a:t>Z</a:t>
            </a:r>
            <a:endParaRPr lang="en-US" altLang="zh-CN" sz="2400" baseline="-25000" dirty="0">
              <a:latin typeface="Times New Roman" panose="02020603050405020304" pitchFamily="18" charset="0"/>
              <a:ea typeface="宋体" panose="02010600030101010101" pitchFamily="2" charset="-122"/>
            </a:endParaRPr>
          </a:p>
          <a:p>
            <a:pPr marL="609600" indent="-609600">
              <a:lnSpc>
                <a:spcPct val="110000"/>
              </a:lnSpc>
              <a:spcBef>
                <a:spcPts val="0"/>
              </a:spcBef>
              <a:buFont typeface="Wingdings" panose="05000000000000000000" pitchFamily="2" charset="2"/>
              <a:buNone/>
            </a:pP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温度系数</a:t>
            </a:r>
            <a:r>
              <a:rPr lang="en-US" altLang="zh-CN" sz="2400" dirty="0">
                <a:latin typeface="Times New Roman" panose="02020603050405020304" pitchFamily="18" charset="0"/>
                <a:ea typeface="宋体" panose="02010600030101010101" pitchFamily="2" charset="-122"/>
              </a:rPr>
              <a:t>α</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3">
            <a:extLst>
              <a:ext uri="{FF2B5EF4-FFF2-40B4-BE49-F238E27FC236}">
                <a16:creationId xmlns:a16="http://schemas.microsoft.com/office/drawing/2014/main" id="{F173AC30-FF09-40F1-AB75-4079411C0EBF}"/>
              </a:ext>
            </a:extLst>
          </p:cNvPr>
          <p:cNvSpPr>
            <a:spLocks noGrp="1" noChangeArrowheads="1"/>
          </p:cNvSpPr>
          <p:nvPr>
            <p:ph idx="1"/>
          </p:nvPr>
        </p:nvSpPr>
        <p:spPr>
          <a:xfrm>
            <a:off x="699367" y="664585"/>
            <a:ext cx="7566025" cy="1627187"/>
          </a:xfrm>
        </p:spPr>
        <p:txBody>
          <a:bodyPr>
            <a:normAutofit lnSpcReduction="10000"/>
          </a:bodyPr>
          <a:lstStyle/>
          <a:p>
            <a:pPr>
              <a:lnSpc>
                <a:spcPct val="110000"/>
              </a:lnSpc>
              <a:spcBef>
                <a:spcPts val="0"/>
              </a:spcBef>
            </a:pPr>
            <a:r>
              <a:rPr lang="zh-CN" altLang="en-US" sz="2400" dirty="0">
                <a:solidFill>
                  <a:srgbClr val="FF0000"/>
                </a:solidFill>
                <a:latin typeface="Times New Roman" panose="02020603050405020304" pitchFamily="18" charset="0"/>
                <a:ea typeface="宋体" panose="02010600030101010101" pitchFamily="2" charset="-122"/>
              </a:rPr>
              <a:t>肖特基二极管</a:t>
            </a:r>
          </a:p>
          <a:p>
            <a:pPr>
              <a:lnSpc>
                <a:spcPct val="110000"/>
              </a:lnSpc>
              <a:spcBef>
                <a:spcPts val="0"/>
              </a:spcBef>
              <a:buFont typeface="Wingdings" panose="05000000000000000000" pitchFamily="2" charset="2"/>
              <a:buNone/>
            </a:pPr>
            <a:r>
              <a:rPr lang="zh-CN" altLang="en-US" sz="2400" dirty="0">
                <a:latin typeface="Times New Roman" panose="02020603050405020304" pitchFamily="18" charset="0"/>
                <a:ea typeface="宋体" panose="02010600030101010101" pitchFamily="2" charset="-122"/>
              </a:rPr>
              <a:t>	肖特基二极管是由一根金属丝经过特殊工艺与半导体表面紧密接触的点接触型二极管，在高速集成电路、微波技术等许多领域中有广泛的应用。</a:t>
            </a:r>
          </a:p>
        </p:txBody>
      </p:sp>
      <p:pic>
        <p:nvPicPr>
          <p:cNvPr id="117764" name="Picture 4" descr="0260">
            <a:extLst>
              <a:ext uri="{FF2B5EF4-FFF2-40B4-BE49-F238E27FC236}">
                <a16:creationId xmlns:a16="http://schemas.microsoft.com/office/drawing/2014/main" id="{F05913F0-0F2E-44BB-9CAF-52204C8ECC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831" y="2636912"/>
            <a:ext cx="7272338" cy="1339850"/>
          </a:xfrm>
          <a:prstGeom prst="rect">
            <a:avLst/>
          </a:prstGeom>
          <a:noFill/>
          <a:extLst>
            <a:ext uri="{909E8E84-426E-40DD-AFC4-6F175D3DCCD1}">
              <a14:hiddenFill xmlns:a14="http://schemas.microsoft.com/office/drawing/2010/main">
                <a:solidFill>
                  <a:srgbClr val="FFFFFF"/>
                </a:solidFill>
              </a14:hiddenFill>
            </a:ext>
          </a:extLst>
        </p:spPr>
      </p:pic>
      <p:sp>
        <p:nvSpPr>
          <p:cNvPr id="117765" name="Text Box 5">
            <a:extLst>
              <a:ext uri="{FF2B5EF4-FFF2-40B4-BE49-F238E27FC236}">
                <a16:creationId xmlns:a16="http://schemas.microsoft.com/office/drawing/2014/main" id="{6B733B66-556C-4D7D-BBC6-CEB68D7DB266}"/>
              </a:ext>
            </a:extLst>
          </p:cNvPr>
          <p:cNvSpPr txBox="1">
            <a:spLocks noChangeArrowheads="1"/>
          </p:cNvSpPr>
          <p:nvPr/>
        </p:nvSpPr>
        <p:spPr bwMode="auto">
          <a:xfrm>
            <a:off x="1871662" y="4581128"/>
            <a:ext cx="5400675"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dirty="0">
                <a:latin typeface="Times New Roman" panose="02020603050405020304" pitchFamily="18" charset="0"/>
                <a:ea typeface="宋体" panose="02010600030101010101" pitchFamily="2" charset="-122"/>
              </a:rPr>
              <a:t>肖特基二极管的伏安特性、结构与符号</a:t>
            </a:r>
          </a:p>
          <a:p>
            <a:pPr algn="ctr">
              <a:lnSpc>
                <a:spcPct val="110000"/>
              </a:lnSpc>
            </a:pP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 伏安特性 </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）结构 </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）符号</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3">
            <a:extLst>
              <a:ext uri="{FF2B5EF4-FFF2-40B4-BE49-F238E27FC236}">
                <a16:creationId xmlns:a16="http://schemas.microsoft.com/office/drawing/2014/main" id="{DCCBA93C-F960-4B83-A7DC-194A7ADAC219}"/>
              </a:ext>
            </a:extLst>
          </p:cNvPr>
          <p:cNvSpPr>
            <a:spLocks noGrp="1" noChangeArrowheads="1"/>
          </p:cNvSpPr>
          <p:nvPr>
            <p:ph idx="1"/>
          </p:nvPr>
        </p:nvSpPr>
        <p:spPr>
          <a:xfrm>
            <a:off x="933450" y="1124744"/>
            <a:ext cx="7277100" cy="3932237"/>
          </a:xfrm>
        </p:spPr>
        <p:txBody>
          <a:bodyPr/>
          <a:lstStyle/>
          <a:p>
            <a:pPr>
              <a:lnSpc>
                <a:spcPct val="110000"/>
              </a:lnSpc>
              <a:spcBef>
                <a:spcPts val="0"/>
              </a:spcBef>
            </a:pPr>
            <a:r>
              <a:rPr lang="zh-CN" altLang="en-US" sz="2400" dirty="0">
                <a:solidFill>
                  <a:srgbClr val="FF0000"/>
                </a:solidFill>
                <a:latin typeface="Times New Roman" panose="02020603050405020304" pitchFamily="18" charset="0"/>
                <a:ea typeface="宋体" panose="02010600030101010101" pitchFamily="2" charset="-122"/>
              </a:rPr>
              <a:t>开关二极管</a:t>
            </a:r>
          </a:p>
          <a:p>
            <a:pPr>
              <a:lnSpc>
                <a:spcPct val="110000"/>
              </a:lnSpc>
              <a:spcBef>
                <a:spcPts val="0"/>
              </a:spcBef>
              <a:buFont typeface="Wingdings" panose="05000000000000000000" pitchFamily="2" charset="2"/>
              <a:buNone/>
            </a:pPr>
            <a:r>
              <a:rPr lang="zh-CN" altLang="en-US" sz="2400" dirty="0">
                <a:latin typeface="Times New Roman" panose="02020603050405020304" pitchFamily="18" charset="0"/>
                <a:ea typeface="宋体" panose="02010600030101010101" pitchFamily="2" charset="-122"/>
              </a:rPr>
              <a:t>	二极管从截止到正向偏压后的导通需要一段时间，称为正向恢复时间。二极管从导通转为截止需要一段时间，称为截止时间。这两个时间的和称为开光时间，开关时间愈短愈好。正向恢复时间一般比反向恢复时间短得多。提高开关速度的途径有：减小正向导通时非平衡载流子的存储量</a:t>
            </a:r>
            <a:r>
              <a:rPr lang="en-US" altLang="zh-CN" sz="2400" dirty="0">
                <a:latin typeface="Times New Roman" panose="02020603050405020304" pitchFamily="18" charset="0"/>
                <a:ea typeface="宋体" panose="02010600030101010101" pitchFamily="2" charset="-122"/>
              </a:rPr>
              <a:t>Q</a:t>
            </a:r>
            <a:r>
              <a:rPr lang="zh-CN" altLang="en-US" sz="2400" dirty="0">
                <a:latin typeface="Times New Roman" panose="02020603050405020304" pitchFamily="18" charset="0"/>
                <a:ea typeface="宋体" panose="02010600030101010101" pitchFamily="2" charset="-122"/>
              </a:rPr>
              <a:t>；加速存储电荷量</a:t>
            </a:r>
            <a:r>
              <a:rPr lang="en-US" altLang="zh-CN" sz="2400" dirty="0">
                <a:latin typeface="Times New Roman" panose="02020603050405020304" pitchFamily="18" charset="0"/>
                <a:ea typeface="宋体" panose="02010600030101010101" pitchFamily="2" charset="-122"/>
              </a:rPr>
              <a:t>Q</a:t>
            </a:r>
            <a:r>
              <a:rPr lang="zh-CN" altLang="en-US" sz="2400" dirty="0">
                <a:latin typeface="Times New Roman" panose="02020603050405020304" pitchFamily="18" charset="0"/>
                <a:ea typeface="宋体" panose="02010600030101010101" pitchFamily="2" charset="-122"/>
              </a:rPr>
              <a:t>消失的过程。</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3">
            <a:extLst>
              <a:ext uri="{FF2B5EF4-FFF2-40B4-BE49-F238E27FC236}">
                <a16:creationId xmlns:a16="http://schemas.microsoft.com/office/drawing/2014/main" id="{0385164C-75B8-4519-BD51-267C0E598266}"/>
              </a:ext>
            </a:extLst>
          </p:cNvPr>
          <p:cNvSpPr>
            <a:spLocks noGrp="1" noChangeArrowheads="1"/>
          </p:cNvSpPr>
          <p:nvPr>
            <p:ph idx="1"/>
          </p:nvPr>
        </p:nvSpPr>
        <p:spPr>
          <a:xfrm>
            <a:off x="860425" y="908720"/>
            <a:ext cx="7710488" cy="1771650"/>
          </a:xfrm>
        </p:spPr>
        <p:txBody>
          <a:bodyPr/>
          <a:lstStyle/>
          <a:p>
            <a:pPr>
              <a:lnSpc>
                <a:spcPct val="110000"/>
              </a:lnSpc>
              <a:spcBef>
                <a:spcPts val="0"/>
              </a:spcBef>
            </a:pPr>
            <a:r>
              <a:rPr lang="zh-CN" altLang="en-US" sz="2400" dirty="0">
                <a:solidFill>
                  <a:srgbClr val="FF0000"/>
                </a:solidFill>
                <a:latin typeface="Times New Roman" panose="02020603050405020304" pitchFamily="18" charset="0"/>
                <a:ea typeface="宋体" panose="02010600030101010101" pitchFamily="2" charset="-122"/>
              </a:rPr>
              <a:t>发光二极管</a:t>
            </a:r>
          </a:p>
          <a:p>
            <a:pPr>
              <a:lnSpc>
                <a:spcPct val="110000"/>
              </a:lnSpc>
              <a:spcBef>
                <a:spcPts val="0"/>
              </a:spcBef>
              <a:buFont typeface="Wingdings" panose="05000000000000000000" pitchFamily="2" charset="2"/>
              <a:buNone/>
            </a:pPr>
            <a:r>
              <a:rPr lang="zh-CN" altLang="en-US" sz="2400" dirty="0">
                <a:latin typeface="Times New Roman" panose="02020603050405020304" pitchFamily="18" charset="0"/>
                <a:ea typeface="宋体" panose="02010600030101010101" pitchFamily="2" charset="-122"/>
              </a:rPr>
              <a:t>	简写为</a:t>
            </a:r>
            <a:r>
              <a:rPr lang="en-US" altLang="zh-CN" sz="2400" dirty="0">
                <a:latin typeface="Times New Roman" panose="02020603050405020304" pitchFamily="18" charset="0"/>
                <a:ea typeface="宋体" panose="02010600030101010101" pitchFamily="2" charset="-122"/>
              </a:rPr>
              <a:t>LED</a:t>
            </a:r>
            <a:r>
              <a:rPr lang="zh-CN" altLang="en-US" sz="2400" dirty="0">
                <a:latin typeface="Times New Roman" panose="02020603050405020304" pitchFamily="18" charset="0"/>
                <a:ea typeface="宋体" panose="02010600030101010101" pitchFamily="2" charset="-122"/>
              </a:rPr>
              <a:t>，是一种将电信号转换成光信号的特殊二极管。</a:t>
            </a:r>
          </a:p>
        </p:txBody>
      </p:sp>
      <p:pic>
        <p:nvPicPr>
          <p:cNvPr id="119812" name="Picture 4" descr="0263">
            <a:extLst>
              <a:ext uri="{FF2B5EF4-FFF2-40B4-BE49-F238E27FC236}">
                <a16:creationId xmlns:a16="http://schemas.microsoft.com/office/drawing/2014/main" id="{B8E64EC6-FB3D-4D44-A741-FBD6E4293F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492896"/>
            <a:ext cx="5905500" cy="2359025"/>
          </a:xfrm>
          <a:prstGeom prst="rect">
            <a:avLst/>
          </a:prstGeom>
          <a:noFill/>
          <a:extLst>
            <a:ext uri="{909E8E84-426E-40DD-AFC4-6F175D3DCCD1}">
              <a14:hiddenFill xmlns:a14="http://schemas.microsoft.com/office/drawing/2010/main">
                <a:solidFill>
                  <a:srgbClr val="FFFFFF"/>
                </a:solidFill>
              </a14:hiddenFill>
            </a:ext>
          </a:extLst>
        </p:spPr>
      </p:pic>
      <p:sp>
        <p:nvSpPr>
          <p:cNvPr id="119813" name="Text Box 5">
            <a:extLst>
              <a:ext uri="{FF2B5EF4-FFF2-40B4-BE49-F238E27FC236}">
                <a16:creationId xmlns:a16="http://schemas.microsoft.com/office/drawing/2014/main" id="{62AAAEAF-D55B-4708-8C17-150CD26632DC}"/>
              </a:ext>
            </a:extLst>
          </p:cNvPr>
          <p:cNvSpPr txBox="1">
            <a:spLocks noChangeArrowheads="1"/>
          </p:cNvSpPr>
          <p:nvPr/>
        </p:nvSpPr>
        <p:spPr bwMode="auto">
          <a:xfrm>
            <a:off x="1259632" y="5373216"/>
            <a:ext cx="5903912"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dirty="0">
                <a:latin typeface="Times New Roman" panose="02020603050405020304" pitchFamily="18" charset="0"/>
                <a:ea typeface="宋体" panose="02010600030101010101" pitchFamily="2" charset="-122"/>
              </a:rPr>
              <a:t>发光二极管的一般结构、管芯、外型和符号</a:t>
            </a:r>
          </a:p>
          <a:p>
            <a:pPr algn="ctr">
              <a:lnSpc>
                <a:spcPct val="110000"/>
              </a:lnSpc>
            </a:pP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）磷砷镓发光二极管的管芯 </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）封装结构 </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）符号</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a:extLst>
              <a:ext uri="{FF2B5EF4-FFF2-40B4-BE49-F238E27FC236}">
                <a16:creationId xmlns:a16="http://schemas.microsoft.com/office/drawing/2014/main" id="{9E5BF9ED-86A2-43B4-A0FE-9A056A915AA1}"/>
              </a:ext>
            </a:extLst>
          </p:cNvPr>
          <p:cNvSpPr>
            <a:spLocks noGrp="1" noChangeArrowheads="1"/>
          </p:cNvSpPr>
          <p:nvPr>
            <p:ph idx="1"/>
          </p:nvPr>
        </p:nvSpPr>
        <p:spPr>
          <a:xfrm>
            <a:off x="539552" y="251765"/>
            <a:ext cx="7421562" cy="1771650"/>
          </a:xfrm>
        </p:spPr>
        <p:txBody>
          <a:bodyPr/>
          <a:lstStyle/>
          <a:p>
            <a:pPr>
              <a:lnSpc>
                <a:spcPct val="110000"/>
              </a:lnSpc>
              <a:spcBef>
                <a:spcPts val="0"/>
              </a:spcBef>
            </a:pPr>
            <a:r>
              <a:rPr lang="zh-CN" altLang="en-US" sz="2400" dirty="0">
                <a:solidFill>
                  <a:srgbClr val="FF0000"/>
                </a:solidFill>
                <a:latin typeface="Times New Roman" panose="02020603050405020304" pitchFamily="18" charset="0"/>
                <a:ea typeface="宋体" panose="02010600030101010101" pitchFamily="2" charset="-122"/>
              </a:rPr>
              <a:t>光敏二极管</a:t>
            </a:r>
          </a:p>
          <a:p>
            <a:pPr>
              <a:lnSpc>
                <a:spcPct val="110000"/>
              </a:lnSpc>
              <a:spcBef>
                <a:spcPts val="0"/>
              </a:spcBef>
              <a:buFont typeface="Wingdings" panose="05000000000000000000" pitchFamily="2" charset="2"/>
              <a:buNone/>
            </a:pPr>
            <a:r>
              <a:rPr lang="zh-CN" altLang="en-US" sz="2400" dirty="0">
                <a:latin typeface="Times New Roman" panose="02020603050405020304" pitchFamily="18" charset="0"/>
                <a:ea typeface="宋体" panose="02010600030101010101" pitchFamily="2" charset="-122"/>
              </a:rPr>
              <a:t>	光敏二极管是一种光能与电能进行转换的器件。</a:t>
            </a:r>
            <a:r>
              <a:rPr lang="en-US" altLang="zh-CN" sz="2400" dirty="0">
                <a:latin typeface="Times New Roman" panose="02020603050405020304" pitchFamily="18" charset="0"/>
                <a:ea typeface="宋体" panose="02010600030101010101" pitchFamily="2" charset="-122"/>
              </a:rPr>
              <a:t>PN</a:t>
            </a:r>
            <a:r>
              <a:rPr lang="zh-CN" altLang="en-US" sz="2400" dirty="0">
                <a:latin typeface="Times New Roman" panose="02020603050405020304" pitchFamily="18" charset="0"/>
                <a:ea typeface="宋体" panose="02010600030101010101" pitchFamily="2" charset="-122"/>
              </a:rPr>
              <a:t>结型光敏二极管充分利用</a:t>
            </a:r>
            <a:r>
              <a:rPr lang="en-US" altLang="zh-CN" sz="2400" dirty="0">
                <a:latin typeface="Times New Roman" panose="02020603050405020304" pitchFamily="18" charset="0"/>
                <a:ea typeface="宋体" panose="02010600030101010101" pitchFamily="2" charset="-122"/>
              </a:rPr>
              <a:t>PN</a:t>
            </a:r>
            <a:r>
              <a:rPr lang="zh-CN" altLang="en-US" sz="2400" dirty="0">
                <a:latin typeface="Times New Roman" panose="02020603050405020304" pitchFamily="18" charset="0"/>
                <a:ea typeface="宋体" panose="02010600030101010101" pitchFamily="2" charset="-122"/>
              </a:rPr>
              <a:t>结的光敏特性，将接收到光的变化转换成电流的变化。</a:t>
            </a:r>
          </a:p>
          <a:p>
            <a:pPr>
              <a:lnSpc>
                <a:spcPct val="110000"/>
              </a:lnSpc>
              <a:spcBef>
                <a:spcPts val="0"/>
              </a:spcBef>
              <a:buFont typeface="Wingdings" panose="05000000000000000000" pitchFamily="2" charset="2"/>
              <a:buNone/>
            </a:pPr>
            <a:endParaRPr lang="en-US" altLang="zh-CN" sz="2400" dirty="0">
              <a:latin typeface="Times New Roman" panose="02020603050405020304" pitchFamily="18" charset="0"/>
              <a:ea typeface="宋体" panose="02010600030101010101" pitchFamily="2" charset="-122"/>
            </a:endParaRPr>
          </a:p>
        </p:txBody>
      </p:sp>
      <p:pic>
        <p:nvPicPr>
          <p:cNvPr id="120836" name="Picture 4" descr="0264">
            <a:extLst>
              <a:ext uri="{FF2B5EF4-FFF2-40B4-BE49-F238E27FC236}">
                <a16:creationId xmlns:a16="http://schemas.microsoft.com/office/drawing/2014/main" id="{35F9E63F-28B6-4DE4-BF62-3C03B360E2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132856"/>
            <a:ext cx="5040312" cy="224631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0265">
            <a:extLst>
              <a:ext uri="{FF2B5EF4-FFF2-40B4-BE49-F238E27FC236}">
                <a16:creationId xmlns:a16="http://schemas.microsoft.com/office/drawing/2014/main" id="{EA4966A2-1006-40CE-AF3E-A3861719D0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5114"/>
          <a:stretch/>
        </p:blipFill>
        <p:spPr bwMode="auto">
          <a:xfrm>
            <a:off x="5620979" y="3717032"/>
            <a:ext cx="2798089" cy="27523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a:extLst>
              <a:ext uri="{FF2B5EF4-FFF2-40B4-BE49-F238E27FC236}">
                <a16:creationId xmlns:a16="http://schemas.microsoft.com/office/drawing/2014/main" id="{0BFF7AFA-8CFD-4D11-ADF5-81BD5B165CCD}"/>
              </a:ext>
            </a:extLst>
          </p:cNvPr>
          <p:cNvSpPr>
            <a:spLocks noGrp="1" noChangeArrowheads="1"/>
          </p:cNvSpPr>
          <p:nvPr>
            <p:ph idx="1"/>
          </p:nvPr>
        </p:nvSpPr>
        <p:spPr>
          <a:xfrm>
            <a:off x="861219" y="980728"/>
            <a:ext cx="7421562" cy="1339850"/>
          </a:xfrm>
        </p:spPr>
        <p:txBody>
          <a:bodyPr/>
          <a:lstStyle/>
          <a:p>
            <a:pPr>
              <a:lnSpc>
                <a:spcPct val="110000"/>
              </a:lnSpc>
              <a:spcBef>
                <a:spcPts val="0"/>
              </a:spcBef>
            </a:pPr>
            <a:r>
              <a:rPr lang="zh-CN" altLang="en-US" sz="2400" dirty="0">
                <a:solidFill>
                  <a:srgbClr val="FF0000"/>
                </a:solidFill>
                <a:latin typeface="Times New Roman" panose="02020603050405020304" pitchFamily="18" charset="0"/>
                <a:ea typeface="宋体" panose="02010600030101010101" pitchFamily="2" charset="-122"/>
              </a:rPr>
              <a:t>变容二极管</a:t>
            </a:r>
          </a:p>
          <a:p>
            <a:pPr>
              <a:lnSpc>
                <a:spcPct val="110000"/>
              </a:lnSpc>
              <a:spcBef>
                <a:spcPts val="0"/>
              </a:spcBef>
              <a:buFont typeface="Wingdings" panose="05000000000000000000" pitchFamily="2" charset="2"/>
              <a:buNone/>
            </a:pPr>
            <a:r>
              <a:rPr lang="zh-CN" altLang="en-US" sz="2400" dirty="0">
                <a:latin typeface="Times New Roman" panose="02020603050405020304" pitchFamily="18" charset="0"/>
                <a:ea typeface="宋体" panose="02010600030101010101" pitchFamily="2" charset="-122"/>
              </a:rPr>
              <a:t>	变容二极管利用了</a:t>
            </a:r>
            <a:r>
              <a:rPr lang="en-US" altLang="zh-CN" sz="2400" dirty="0">
                <a:latin typeface="Times New Roman" panose="02020603050405020304" pitchFamily="18" charset="0"/>
                <a:ea typeface="宋体" panose="02010600030101010101" pitchFamily="2" charset="-122"/>
              </a:rPr>
              <a:t>PN</a:t>
            </a:r>
            <a:r>
              <a:rPr lang="zh-CN" altLang="en-US" sz="2400" dirty="0">
                <a:latin typeface="Times New Roman" panose="02020603050405020304" pitchFamily="18" charset="0"/>
                <a:ea typeface="宋体" panose="02010600030101010101" pitchFamily="2" charset="-122"/>
              </a:rPr>
              <a:t>结势垒电容可以利用改变反向电压即可改变电容大小的原理。</a:t>
            </a:r>
          </a:p>
        </p:txBody>
      </p:sp>
      <p:pic>
        <p:nvPicPr>
          <p:cNvPr id="122884" name="Picture 4" descr="0266">
            <a:extLst>
              <a:ext uri="{FF2B5EF4-FFF2-40B4-BE49-F238E27FC236}">
                <a16:creationId xmlns:a16="http://schemas.microsoft.com/office/drawing/2014/main" id="{479C7C57-396C-4F7F-9E7F-E81FB91D33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3284538"/>
            <a:ext cx="4608512" cy="2822575"/>
          </a:xfrm>
          <a:prstGeom prst="rect">
            <a:avLst/>
          </a:prstGeom>
          <a:noFill/>
          <a:extLst>
            <a:ext uri="{909E8E84-426E-40DD-AFC4-6F175D3DCCD1}">
              <a14:hiddenFill xmlns:a14="http://schemas.microsoft.com/office/drawing/2010/main">
                <a:solidFill>
                  <a:srgbClr val="FFFFFF"/>
                </a:solidFill>
              </a14:hiddenFill>
            </a:ext>
          </a:extLst>
        </p:spPr>
      </p:pic>
      <p:sp>
        <p:nvSpPr>
          <p:cNvPr id="122885" name="Text Box 5">
            <a:extLst>
              <a:ext uri="{FF2B5EF4-FFF2-40B4-BE49-F238E27FC236}">
                <a16:creationId xmlns:a16="http://schemas.microsoft.com/office/drawing/2014/main" id="{79F5DFAC-3C68-4F44-803C-B1628801C049}"/>
              </a:ext>
            </a:extLst>
          </p:cNvPr>
          <p:cNvSpPr txBox="1">
            <a:spLocks noChangeArrowheads="1"/>
          </p:cNvSpPr>
          <p:nvPr/>
        </p:nvSpPr>
        <p:spPr bwMode="auto">
          <a:xfrm>
            <a:off x="2195513" y="6078538"/>
            <a:ext cx="5113337"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zh-CN" altLang="en-US">
                <a:latin typeface="Times New Roman" panose="02020603050405020304" pitchFamily="18" charset="0"/>
                <a:ea typeface="宋体" panose="02010600030101010101" pitchFamily="2" charset="-122"/>
              </a:rPr>
              <a:t>变容二极管</a:t>
            </a:r>
          </a:p>
          <a:p>
            <a:pPr algn="ctr">
              <a:lnSpc>
                <a:spcPct val="110000"/>
              </a:lnSpc>
            </a:pPr>
            <a:r>
              <a:rPr lang="en-US" altLang="zh-CN">
                <a:latin typeface="Times New Roman" panose="02020603050405020304" pitchFamily="18" charset="0"/>
                <a:ea typeface="宋体" panose="02010600030101010101" pitchFamily="2" charset="-122"/>
              </a:rPr>
              <a:t>a</a:t>
            </a:r>
            <a:r>
              <a:rPr lang="zh-CN" altLang="en-US">
                <a:latin typeface="Times New Roman" panose="02020603050405020304" pitchFamily="18" charset="0"/>
                <a:ea typeface="宋体" panose="02010600030101010101" pitchFamily="2" charset="-122"/>
              </a:rPr>
              <a:t>）符号 </a:t>
            </a:r>
            <a:r>
              <a:rPr lang="en-US" altLang="zh-CN">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）结电容与电压的关系</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16">
            <a:extLst>
              <a:ext uri="{FF2B5EF4-FFF2-40B4-BE49-F238E27FC236}">
                <a16:creationId xmlns:a16="http://schemas.microsoft.com/office/drawing/2014/main" id="{9AB7C117-EE8A-49DB-8E3C-4AEAE6B17626}"/>
              </a:ext>
            </a:extLst>
          </p:cNvPr>
          <p:cNvSpPr>
            <a:spLocks noChangeArrowheads="1"/>
          </p:cNvSpPr>
          <p:nvPr/>
        </p:nvSpPr>
        <p:spPr bwMode="auto">
          <a:xfrm>
            <a:off x="3419872" y="1025262"/>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r>
              <a:rPr lang="zh-CN" altLang="en-US" b="1" dirty="0">
                <a:solidFill>
                  <a:srgbClr val="993300"/>
                </a:solidFill>
                <a:latin typeface="Times New Roman" panose="02020603050405020304" pitchFamily="18" charset="0"/>
              </a:rPr>
              <a:t>学习要求</a:t>
            </a:r>
            <a:endParaRPr lang="en-US" altLang="zh-CN" b="1" dirty="0">
              <a:solidFill>
                <a:srgbClr val="993300"/>
              </a:solidFill>
              <a:latin typeface="Times New Roman" panose="02020603050405020304" pitchFamily="18" charset="0"/>
            </a:endParaRPr>
          </a:p>
        </p:txBody>
      </p:sp>
      <p:sp>
        <p:nvSpPr>
          <p:cNvPr id="10" name="Rectangle 15">
            <a:extLst>
              <a:ext uri="{FF2B5EF4-FFF2-40B4-BE49-F238E27FC236}">
                <a16:creationId xmlns:a16="http://schemas.microsoft.com/office/drawing/2014/main" id="{94B3ACBC-13B3-4480-8F0D-32FAC593E783}"/>
              </a:ext>
            </a:extLst>
          </p:cNvPr>
          <p:cNvSpPr>
            <a:spLocks noChangeArrowheads="1"/>
          </p:cNvSpPr>
          <p:nvPr/>
        </p:nvSpPr>
        <p:spPr bwMode="auto">
          <a:xfrm>
            <a:off x="556441" y="2132856"/>
            <a:ext cx="7848103"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squar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lnSpc>
                <a:spcPct val="125000"/>
              </a:lnSpc>
              <a:spcBef>
                <a:spcPct val="20000"/>
              </a:spcBef>
              <a:buFont typeface="Wingdings" panose="05000000000000000000" pitchFamily="2" charset="2"/>
              <a:buChar char="ü"/>
            </a:pPr>
            <a:r>
              <a:rPr kumimoji="0" lang="zh-CN" altLang="en-US" sz="2000" b="1" dirty="0">
                <a:solidFill>
                  <a:srgbClr val="000066"/>
                </a:solidFill>
                <a:latin typeface="Times New Roman" panose="02020603050405020304" pitchFamily="18" charset="0"/>
              </a:rPr>
              <a:t>概念：齐纳击穿、雪崩击穿、势垒电容、</a:t>
            </a:r>
            <a:r>
              <a:rPr kumimoji="0" lang="zh-CN" altLang="en-US" sz="2000" b="1" dirty="0">
                <a:solidFill>
                  <a:srgbClr val="000066"/>
                </a:solidFill>
                <a:latin typeface="Times New Roman" panose="02020603050405020304" pitchFamily="18" charset="0"/>
                <a:sym typeface="Symbol" panose="05050102010706020507" pitchFamily="18" charset="2"/>
              </a:rPr>
              <a:t>扩散电容、</a:t>
            </a:r>
            <a:r>
              <a:rPr lang="en-US" altLang="zh-CN" sz="2000" b="1" dirty="0">
                <a:solidFill>
                  <a:srgbClr val="000080"/>
                </a:solidFill>
                <a:latin typeface="Times New Roman" panose="02020603050405020304" pitchFamily="18" charset="0"/>
              </a:rPr>
              <a:t> PN</a:t>
            </a:r>
            <a:r>
              <a:rPr lang="zh-CN" altLang="en-US" sz="2000" b="1" dirty="0">
                <a:solidFill>
                  <a:srgbClr val="000080"/>
                </a:solidFill>
                <a:latin typeface="Times New Roman" panose="02020603050405020304" pitchFamily="18" charset="0"/>
              </a:rPr>
              <a:t>结二极管的开关作用、电荷贮存效应</a:t>
            </a:r>
            <a:endParaRPr kumimoji="0" lang="zh-CN" altLang="en-US" sz="2000" b="1" dirty="0">
              <a:solidFill>
                <a:srgbClr val="000066"/>
              </a:solidFill>
              <a:latin typeface="Times New Roman" panose="02020603050405020304" pitchFamily="18" charset="0"/>
              <a:sym typeface="Symbol" panose="05050102010706020507" pitchFamily="18" charset="2"/>
            </a:endParaRPr>
          </a:p>
        </p:txBody>
      </p:sp>
      <p:sp>
        <p:nvSpPr>
          <p:cNvPr id="11" name="Rectangle 16">
            <a:extLst>
              <a:ext uri="{FF2B5EF4-FFF2-40B4-BE49-F238E27FC236}">
                <a16:creationId xmlns:a16="http://schemas.microsoft.com/office/drawing/2014/main" id="{E265E82F-7372-477F-A0EE-6D1613287192}"/>
              </a:ext>
            </a:extLst>
          </p:cNvPr>
          <p:cNvSpPr>
            <a:spLocks noChangeArrowheads="1"/>
          </p:cNvSpPr>
          <p:nvPr/>
        </p:nvSpPr>
        <p:spPr bwMode="auto">
          <a:xfrm>
            <a:off x="480680" y="3645024"/>
            <a:ext cx="34836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rgbClr val="000000"/>
                </a:solidFill>
                <a:miter lim="800000"/>
                <a:headEnd/>
                <a:tailEnd/>
              </a14:hiddenLine>
            </a:ext>
          </a:extLst>
        </p:spPr>
        <p:txBody>
          <a:bodyPr wrap="none">
            <a:spAutoFit/>
          </a:bodyPr>
          <a:lstStyle>
            <a:lvl1pPr eaLnBrk="0" hangingPunct="0">
              <a:defRPr kumimoji="1" sz="2400">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latinLnBrk="1"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eaLnBrk="1" hangingPunct="1">
              <a:buFont typeface="Wingdings" panose="05000000000000000000" pitchFamily="2" charset="2"/>
              <a:buChar char="ü"/>
            </a:pPr>
            <a:r>
              <a:rPr kumimoji="0" lang="zh-CN" altLang="en-US" sz="2000" b="1" dirty="0">
                <a:solidFill>
                  <a:srgbClr val="000066"/>
                </a:solidFill>
                <a:latin typeface="Times New Roman" panose="02020603050405020304" pitchFamily="18" charset="0"/>
              </a:rPr>
              <a:t>势垒电容、</a:t>
            </a:r>
            <a:r>
              <a:rPr kumimoji="0" lang="zh-CN" altLang="en-US" sz="2000" b="1" dirty="0">
                <a:solidFill>
                  <a:srgbClr val="000066"/>
                </a:solidFill>
                <a:latin typeface="Times New Roman" panose="02020603050405020304" pitchFamily="18" charset="0"/>
                <a:sym typeface="Symbol" panose="05050102010706020507" pitchFamily="18" charset="2"/>
              </a:rPr>
              <a:t>扩散电容的特点</a:t>
            </a:r>
            <a:endParaRPr kumimoji="0" lang="en-US" altLang="zh-CN" sz="2000" b="1" dirty="0">
              <a:solidFill>
                <a:srgbClr val="000066"/>
              </a:solidFill>
              <a:latin typeface="Times New Roman" panose="02020603050405020304" pitchFamily="18" charset="0"/>
              <a:sym typeface="Symbol" panose="05050102010706020507" pitchFamily="18" charset="2"/>
            </a:endParaRPr>
          </a:p>
          <a:p>
            <a:pPr indent="-342900" eaLnBrk="1" hangingPunct="1">
              <a:buFont typeface="Wingdings" panose="05000000000000000000" pitchFamily="2" charset="2"/>
              <a:buChar char="ü"/>
            </a:pPr>
            <a:r>
              <a:rPr kumimoji="0" lang="en-US" altLang="zh-CN" sz="2000" b="1" dirty="0">
                <a:solidFill>
                  <a:srgbClr val="000066"/>
                </a:solidFill>
                <a:latin typeface="Times New Roman" panose="02020603050405020304" pitchFamily="18" charset="0"/>
              </a:rPr>
              <a:t>PN</a:t>
            </a:r>
            <a:r>
              <a:rPr kumimoji="0" lang="zh-CN" altLang="en-US" sz="2000" b="1" dirty="0">
                <a:solidFill>
                  <a:srgbClr val="000066"/>
                </a:solidFill>
                <a:latin typeface="Times New Roman" panose="02020603050405020304" pitchFamily="18" charset="0"/>
              </a:rPr>
              <a:t>结反向瞬变延迟的原因</a:t>
            </a:r>
            <a:endParaRPr kumimoji="0" lang="en-US" altLang="zh-CN" sz="2000" b="1" dirty="0">
              <a:solidFill>
                <a:srgbClr val="000066"/>
              </a:solidFill>
              <a:latin typeface="Times New Roman" panose="02020603050405020304" pitchFamily="18" charset="0"/>
            </a:endParaRPr>
          </a:p>
          <a:p>
            <a:pPr indent="-342900" eaLnBrk="1" hangingPunct="1">
              <a:buFont typeface="Wingdings" panose="05000000000000000000" pitchFamily="2" charset="2"/>
              <a:buChar char="ü"/>
            </a:pPr>
            <a:endParaRPr kumimoji="0" lang="zh-CN" altLang="en-US" sz="2000" b="1" dirty="0">
              <a:solidFill>
                <a:srgbClr val="000066"/>
              </a:solidFill>
              <a:latin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4060314494"/>
      </p:ext>
    </p:extLst>
  </p:cSld>
  <p:clrMapOvr>
    <a:masterClrMapping/>
  </p:clrMapOvr>
</p:sld>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1766</TotalTime>
  <Words>3496</Words>
  <Application>Microsoft Office PowerPoint</Application>
  <PresentationFormat>全屏显示(4:3)</PresentationFormat>
  <Paragraphs>276</Paragraphs>
  <Slides>44</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5</vt:i4>
      </vt:variant>
      <vt:variant>
        <vt:lpstr>幻灯片标题</vt:lpstr>
      </vt:variant>
      <vt:variant>
        <vt:i4>44</vt:i4>
      </vt:variant>
    </vt:vector>
  </HeadingPairs>
  <TitlesOfParts>
    <vt:vector size="57" baseType="lpstr">
      <vt:lpstr>等线</vt:lpstr>
      <vt:lpstr>Arial</vt:lpstr>
      <vt:lpstr>Calibri</vt:lpstr>
      <vt:lpstr>Calibri Light</vt:lpstr>
      <vt:lpstr>Times New Roman</vt:lpstr>
      <vt:lpstr>Verdana</vt:lpstr>
      <vt:lpstr>Wingdings</vt:lpstr>
      <vt:lpstr>Office Theme</vt:lpstr>
      <vt:lpstr>公式</vt:lpstr>
      <vt:lpstr>Equation</vt:lpstr>
      <vt:lpstr>Equation.3</vt:lpstr>
      <vt:lpstr>Equation.DSMT4</vt:lpstr>
      <vt:lpstr>位图图像</vt:lpstr>
      <vt:lpstr>第二章 PN结机理与特性</vt:lpstr>
      <vt:lpstr>2.5 PN结击穿机理与击穿特性 2.5.1 PN结击穿机理</vt:lpstr>
      <vt:lpstr>PowerPoint 演示文稿</vt:lpstr>
      <vt:lpstr>2.5.3 影响雪崩击穿电压的主要因素</vt:lpstr>
      <vt:lpstr>2.5.4 几种不正常的击穿曲线</vt:lpstr>
      <vt:lpstr>第二章 PN结机理与特性</vt:lpstr>
      <vt:lpstr>2.6 PN结的电容特性 2.6.1 PN结的势垒电容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2.6.2 PN结的扩散电容</vt:lpstr>
      <vt:lpstr>PowerPoint 演示文稿</vt:lpstr>
      <vt:lpstr>PowerPoint 演示文稿</vt:lpstr>
      <vt:lpstr>PowerPoint 演示文稿</vt:lpstr>
      <vt:lpstr>PowerPoint 演示文稿</vt:lpstr>
      <vt:lpstr>PN结二极管的开关特性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2.7 晶体二极管特性与设计考虑 2.7.1 晶体二极管的基本结构</vt:lpstr>
      <vt:lpstr>PowerPoint 演示文稿</vt:lpstr>
      <vt:lpstr>2.7.2 晶体二极管的伏安特性与主要参数</vt:lpstr>
      <vt:lpstr>2.7.3 几种特殊二极管</vt:lpstr>
      <vt:lpstr>PowerPoint 演示文稿</vt:lpstr>
      <vt:lpstr>PowerPoint 演示文稿</vt:lpstr>
      <vt:lpstr>PowerPoint 演示文稿</vt:lpstr>
      <vt:lpstr>PowerPoint 演示文稿</vt:lpstr>
      <vt:lpstr>PowerPoint 演示文稿</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PN结构机理与特性</dc:title>
  <dc:creator>番茄花园</dc:creator>
  <cp:lastModifiedBy>陈达</cp:lastModifiedBy>
  <cp:revision>93</cp:revision>
  <dcterms:created xsi:type="dcterms:W3CDTF">2008-12-03T08:07:22Z</dcterms:created>
  <dcterms:modified xsi:type="dcterms:W3CDTF">2021-10-18T01:56:56Z</dcterms:modified>
</cp:coreProperties>
</file>